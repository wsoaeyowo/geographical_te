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66" r:id="rId4"/>
    <p:sldId id="262" r:id="rId5"/>
    <p:sldId id="263" r:id="rId6"/>
    <p:sldId id="264" r:id="rId7"/>
    <p:sldId id="265" r:id="rId8"/>
    <p:sldId id="267" r:id="rId9"/>
  </p:sldIdLst>
  <p:sldSz cx="9144000" cy="6858000" type="screen4x3"/>
  <p:notesSz cx="6858000" cy="9144000"/>
  <p:custDataLst>
    <p:tags r:id="rId1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8" userDrawn="1">
          <p15:clr>
            <a:srgbClr val="A4A3A4"/>
          </p15:clr>
        </p15:guide>
        <p15:guide id="2" pos="28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800000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 showGuides="1">
      <p:cViewPr varScale="1">
        <p:scale>
          <a:sx n="69" d="100"/>
          <a:sy n="69" d="100"/>
        </p:scale>
        <p:origin x="-594" y="-84"/>
      </p:cViewPr>
      <p:guideLst>
        <p:guide orient="horz" pos="2138"/>
        <p:guide pos="289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63D8DCB-7356-424D-8495-B263DCFD0CF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29AF9F-F011-4084-9815-9A9101DBB6E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29AF9F-F011-4084-9815-9A9101DBB6E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29AF9F-F011-4084-9815-9A9101DBB6E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29AF9F-F011-4084-9815-9A9101DBB6E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29AF9F-F011-4084-9815-9A9101DBB6E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29AF9F-F011-4084-9815-9A9101DBB6E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29AF9F-F011-4084-9815-9A9101DBB6E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29AF9F-F011-4084-9815-9A9101DBB6E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29AF9F-F011-4084-9815-9A9101DBB6E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29AF9F-F011-4084-9815-9A9101DBB6E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29AF9F-F011-4084-9815-9A9101DBB6E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29AF9F-F011-4084-9815-9A9101DBB6E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Text Box 2"/>
          <p:cNvSpPr txBox="1"/>
          <p:nvPr/>
        </p:nvSpPr>
        <p:spPr>
          <a:xfrm>
            <a:off x="481330" y="276860"/>
            <a:ext cx="8065135" cy="59639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lnSpc>
                <a:spcPct val="190000"/>
              </a:lnSpc>
            </a:pPr>
            <a:r>
              <a:rPr lang="zh-CN" sz="32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《军事理论》课程考试需知</a:t>
            </a:r>
            <a:endParaRPr lang="zh-CN" sz="28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ts val="55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一、《军事理论》课程考核由线上（慕课）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30%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、平时（论文、出勤、课堂活动）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20%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，机房考试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50%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三部分组成。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ts val="5500"/>
              </a:lnSpc>
            </a:pPr>
            <a:r>
              <a:rPr lang="zh-CN" sz="2400" b="1" dirty="0"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二、</a:t>
            </a:r>
            <a:r>
              <a:rPr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线上慕课（</a:t>
            </a:r>
            <a:r>
              <a:rPr lang="en-US" altLang="zh-CN" sz="2400" b="1" dirty="0"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30%</a:t>
            </a:r>
            <a:r>
              <a:rPr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）学习通平台同济大学张国清教授军事理论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12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课时六个专题</a:t>
            </a:r>
            <a:r>
              <a:rPr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：国防法规、中国古代军事思想、战争概述、机械化战争、综合电子信息系统、信息化杀伤武器（学习通平台有专门标注，只看这六个专题计分，详情见操作手册），视频时长总计</a:t>
            </a:r>
            <a:r>
              <a:rPr lang="en-US" altLang="zh-CN" sz="2400" b="1" dirty="0"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7.2</a:t>
            </a:r>
            <a:r>
              <a:rPr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小时和</a:t>
            </a:r>
            <a:r>
              <a:rPr lang="en-US" altLang="zh-CN" sz="2400" b="1" dirty="0"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81</a:t>
            </a:r>
            <a:r>
              <a:rPr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道测验题目。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Text Box 2"/>
          <p:cNvSpPr txBox="1"/>
          <p:nvPr/>
        </p:nvSpPr>
        <p:spPr>
          <a:xfrm>
            <a:off x="473075" y="466725"/>
            <a:ext cx="8065135" cy="5000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lnSpc>
                <a:spcPct val="190000"/>
              </a:lnSpc>
              <a:buClrTx/>
              <a:buSzTx/>
            </a:pPr>
            <a:r>
              <a:rPr lang="zh-CN" altLang="en-US" sz="2800" b="1" dirty="0"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其中观看视频时长占总时长百分比，及视频后测验完成正确情况（允许两次测验取最好结果），生成各自成绩。观看视频时长占</a:t>
            </a:r>
            <a:r>
              <a:rPr lang="en-US" altLang="zh-CN" sz="2800" b="1" dirty="0"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15%</a:t>
            </a:r>
            <a:r>
              <a:rPr lang="zh-CN" altLang="en-US" sz="2800" b="1" dirty="0"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，单元测验占</a:t>
            </a:r>
            <a:r>
              <a:rPr lang="en-US" altLang="zh-CN" sz="2800" b="1" dirty="0"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15%</a:t>
            </a:r>
            <a:r>
              <a:rPr lang="zh-CN" altLang="en-US" sz="2800" b="1" dirty="0"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。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12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月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19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日</a:t>
            </a:r>
            <a:r>
              <a:rPr lang="zh-CN" altLang="en-US" sz="2800" b="1" dirty="0"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课堂教学结束后关闭慕课学习，截止时间之后观看的慕课时长和章节测验将不再记入成绩。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lnSpc>
                <a:spcPct val="190000"/>
              </a:lnSpc>
              <a:buClrTx/>
              <a:buSzTx/>
            </a:pP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Text Box 2"/>
          <p:cNvSpPr txBox="1"/>
          <p:nvPr/>
        </p:nvSpPr>
        <p:spPr>
          <a:xfrm>
            <a:off x="139700" y="1401445"/>
            <a:ext cx="8864600" cy="5000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9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1、现代国防与国家经济建设的关系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9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2、结合孙子兵法的智慧，谈谈中美之间的博弈策略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9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3、如何理解和评价毛泽东军事思想的人民军队思想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9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4、我国应对当代新军事变革的主要挑战和对策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9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5、我国面临的传统安全威胁主要存在哪些问题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9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Times New Roman" panose="02020603050405020304" pitchFamily="18" charset="0"/>
                <a:sym typeface="宋体" panose="02010600030101010101" pitchFamily="2" charset="-122"/>
              </a:rPr>
              <a:t>6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、高校在完善国防动员机制中的作用和实现路径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098" name="Text Box 3"/>
          <p:cNvSpPr txBox="1"/>
          <p:nvPr/>
        </p:nvSpPr>
        <p:spPr>
          <a:xfrm>
            <a:off x="139383" y="404813"/>
            <a:ext cx="5080000" cy="9093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l">
              <a:lnSpc>
                <a:spcPct val="190000"/>
              </a:lnSpc>
              <a:buClrTx/>
              <a:buSzTx/>
            </a:pPr>
            <a:r>
              <a:rPr 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三、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论文课题（六选一）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Text Box 2"/>
          <p:cNvSpPr txBox="1"/>
          <p:nvPr/>
        </p:nvSpPr>
        <p:spPr>
          <a:xfrm>
            <a:off x="458470" y="440690"/>
            <a:ext cx="8049895" cy="59080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要求：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1、按照论文格式要求（含摘要、关键词、参考文献等），正文字数不少于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18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00字。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2、</a:t>
            </a:r>
            <a:r>
              <a:rPr lang="en-US" sz="2800" b="1" dirty="0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12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月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19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日前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从学习通平台的作业（附件）提交论文（详情见操作手册），</a:t>
            </a:r>
            <a:r>
              <a:rPr 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12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月</a:t>
            </a:r>
            <a:r>
              <a:rPr lang="en-US" altLang="zh-CN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19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日晚</a:t>
            </a:r>
            <a:r>
              <a:rPr lang="en-US" altLang="zh-CN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24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时关闭通道，超时将不予提交。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文件务必以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PDF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格式提交（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非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PDF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格式将视为未提交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，请同学们一定要注意！）以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“202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5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级XX学院XX专业学号和姓名”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命名。学委提前一周再提醒。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2"/>
          <p:cNvSpPr txBox="1"/>
          <p:nvPr/>
        </p:nvSpPr>
        <p:spPr>
          <a:xfrm>
            <a:off x="511175" y="762000"/>
            <a:ext cx="8048625" cy="54768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6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3.论文基本格式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（1）论文标题小一号黑体加粗、居中。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（2）注明姓名、专业、学号等项目3号楷体。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（3）摘要、关键词4号黑体，内容为小4号宋体。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（4）正文文字用4号宋体，每段首起空两个格，单倍行距。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（5）正文文中标题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一级标题：标题序号为“一、”独占行，末尾不加标点符号。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二级标题：标题序号为“（一）”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三级标题：标题序号为“ 1、 ”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四级标题：标题序号为“（1）”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Text Box 2"/>
          <p:cNvSpPr txBox="1"/>
          <p:nvPr/>
        </p:nvSpPr>
        <p:spPr>
          <a:xfrm>
            <a:off x="155575" y="188913"/>
            <a:ext cx="8864600" cy="62083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lnSpc>
                <a:spcPct val="14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如何理解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宋体" panose="02010600030101010101" pitchFamily="2" charset="-122"/>
              </a:rPr>
              <a:t>******</a:t>
            </a:r>
            <a:endParaRPr lang="zh-CN" altLang="en-US" sz="3200" b="1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宋体" panose="02010600030101010101" pitchFamily="2" charset="-122"/>
            </a:endParaRPr>
          </a:p>
          <a:p>
            <a:pPr algn="ctr">
              <a:lnSpc>
                <a:spcPct val="14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宋体" panose="02010600030101010101" pitchFamily="2" charset="-122"/>
              </a:rPr>
              <a:t>张</a:t>
            </a:r>
            <a:r>
              <a:rPr lang="en-US" altLang="zh-CN" sz="20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宋体" panose="02010600030101010101" pitchFamily="2" charset="-122"/>
              </a:rPr>
              <a:t>**   **</a:t>
            </a:r>
            <a:r>
              <a:rPr lang="zh-CN" altLang="en-US" sz="20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宋体" panose="02010600030101010101" pitchFamily="2" charset="-122"/>
              </a:rPr>
              <a:t>学院</a:t>
            </a:r>
            <a:r>
              <a:rPr lang="en-US" altLang="zh-CN" sz="20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宋体" panose="02010600030101010101" pitchFamily="2" charset="-122"/>
              </a:rPr>
              <a:t>2025</a:t>
            </a:r>
            <a:r>
              <a:rPr lang="zh-CN" altLang="en-US" sz="20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宋体" panose="02010600030101010101" pitchFamily="2" charset="-122"/>
              </a:rPr>
              <a:t>级</a:t>
            </a:r>
            <a:r>
              <a:rPr lang="en-US" altLang="zh-CN" sz="20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宋体" panose="02010600030101010101" pitchFamily="2" charset="-122"/>
              </a:rPr>
              <a:t>**</a:t>
            </a:r>
            <a:r>
              <a:rPr lang="zh-CN" altLang="en-US" sz="20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宋体" panose="02010600030101010101" pitchFamily="2" charset="-122"/>
              </a:rPr>
              <a:t>专业</a:t>
            </a:r>
            <a:r>
              <a:rPr lang="en-US" altLang="zh-CN" sz="20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宋体" panose="02010600030101010101" pitchFamily="2" charset="-122"/>
              </a:rPr>
              <a:t>学号</a:t>
            </a:r>
            <a:r>
              <a:rPr lang="en-US" altLang="zh-CN" sz="20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宋体" panose="02010600030101010101" pitchFamily="2" charset="-122"/>
              </a:rPr>
              <a:t>*****</a:t>
            </a:r>
            <a:endParaRPr lang="zh-CN" altLang="en-US" sz="2000" b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sym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摘要： 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关键词：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一、是法定的公民义务，责无旁贷 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（一）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1、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（1）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二、有利于提高全民国防意识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三、有利于加强国防后备力量建设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四、有利于德、智、体全面发展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结语：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参考文献：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Text Box 2"/>
          <p:cNvSpPr txBox="1"/>
          <p:nvPr/>
        </p:nvSpPr>
        <p:spPr>
          <a:xfrm>
            <a:off x="489585" y="682625"/>
            <a:ext cx="8065135" cy="5000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lnSpc>
                <a:spcPct val="190000"/>
              </a:lnSpc>
              <a:buClrTx/>
              <a:buSzTx/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四、线上机考（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50%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）安排在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12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月底，以教务通知为准。机考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单选</a:t>
            </a:r>
            <a:r>
              <a:rPr lang="en-US" altLang="zh-CN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40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道、多选</a:t>
            </a:r>
            <a:r>
              <a:rPr lang="en-US" altLang="zh-CN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10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道、判断</a:t>
            </a:r>
            <a:r>
              <a:rPr lang="en-US" altLang="zh-CN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40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道共</a:t>
            </a:r>
            <a:r>
              <a:rPr lang="en-US" altLang="zh-CN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90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道题，</a:t>
            </a:r>
            <a:r>
              <a:rPr lang="en-US" altLang="zh-CN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小时内完成。</a:t>
            </a:r>
            <a:r>
              <a:rPr lang="en-US" altLang="zh-CN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11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月上旬指导老师会通过学委发布机房考试注意事项，并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将在学习通平台发布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20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套模拟考试题，大家可通过手机端模拟训练，熟悉题型和考试内容。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Dg3YjNmZDRlMDBhNzgyYWRlNjEyYWZjMGFiMzNiOT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1048</Words>
  <Application>WPS 演示</Application>
  <PresentationFormat>在屏幕上显示</PresentationFormat>
  <Paragraphs>48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黑体</vt:lpstr>
      <vt:lpstr>Times New Roman</vt:lpstr>
      <vt:lpstr>楷体</vt:lpstr>
      <vt:lpstr>微软雅黑</vt:lpstr>
      <vt:lpstr>Arial Unicode MS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toshiba</dc:creator>
  <cp:lastModifiedBy>BOBO</cp:lastModifiedBy>
  <cp:revision>47</cp:revision>
  <dcterms:created xsi:type="dcterms:W3CDTF">2013-01-25T01:44:00Z</dcterms:created>
  <dcterms:modified xsi:type="dcterms:W3CDTF">2025-09-23T03:22:54Z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D1F0A3B0F431406E88659C2B24540F0F_13</vt:lpwstr>
  </property>
</Properties>
</file>