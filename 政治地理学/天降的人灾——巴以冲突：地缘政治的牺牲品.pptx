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1.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61"/>
  </p:notesMasterIdLst>
  <p:handoutMasterIdLst>
    <p:handoutMasterId r:id="rId62"/>
  </p:handoutMasterIdLst>
  <p:sldIdLst>
    <p:sldId id="259" r:id="rId3"/>
    <p:sldId id="273" r:id="rId4"/>
    <p:sldId id="266" r:id="rId5"/>
    <p:sldId id="289" r:id="rId6"/>
    <p:sldId id="310" r:id="rId7"/>
    <p:sldId id="373" r:id="rId8"/>
    <p:sldId id="374" r:id="rId9"/>
    <p:sldId id="262" r:id="rId10"/>
    <p:sldId id="261" r:id="rId11"/>
    <p:sldId id="335" r:id="rId12"/>
    <p:sldId id="268" r:id="rId13"/>
    <p:sldId id="392" r:id="rId14"/>
    <p:sldId id="375" r:id="rId15"/>
    <p:sldId id="376" r:id="rId16"/>
    <p:sldId id="377" r:id="rId17"/>
    <p:sldId id="378" r:id="rId18"/>
    <p:sldId id="380" r:id="rId19"/>
    <p:sldId id="384" r:id="rId20"/>
    <p:sldId id="381" r:id="rId21"/>
    <p:sldId id="382" r:id="rId22"/>
    <p:sldId id="379" r:id="rId23"/>
    <p:sldId id="386" r:id="rId24"/>
    <p:sldId id="383" r:id="rId25"/>
    <p:sldId id="387" r:id="rId26"/>
    <p:sldId id="385" r:id="rId27"/>
    <p:sldId id="391" r:id="rId28"/>
    <p:sldId id="390" r:id="rId29"/>
    <p:sldId id="389" r:id="rId30"/>
    <p:sldId id="388" r:id="rId31"/>
    <p:sldId id="393" r:id="rId32"/>
    <p:sldId id="394" r:id="rId33"/>
    <p:sldId id="395" r:id="rId34"/>
    <p:sldId id="396" r:id="rId35"/>
    <p:sldId id="397" r:id="rId36"/>
    <p:sldId id="398" r:id="rId37"/>
    <p:sldId id="399" r:id="rId38"/>
    <p:sldId id="400" r:id="rId39"/>
    <p:sldId id="401" r:id="rId40"/>
    <p:sldId id="404" r:id="rId41"/>
    <p:sldId id="407" r:id="rId42"/>
    <p:sldId id="405" r:id="rId43"/>
    <p:sldId id="402" r:id="rId44"/>
    <p:sldId id="403" r:id="rId45"/>
    <p:sldId id="406" r:id="rId46"/>
    <p:sldId id="408" r:id="rId47"/>
    <p:sldId id="409" r:id="rId48"/>
    <p:sldId id="410" r:id="rId49"/>
    <p:sldId id="411" r:id="rId50"/>
    <p:sldId id="412" r:id="rId51"/>
    <p:sldId id="414" r:id="rId52"/>
    <p:sldId id="413" r:id="rId53"/>
    <p:sldId id="415" r:id="rId54"/>
    <p:sldId id="416" r:id="rId55"/>
    <p:sldId id="417" r:id="rId56"/>
    <p:sldId id="418" r:id="rId57"/>
    <p:sldId id="419" r:id="rId58"/>
    <p:sldId id="420" r:id="rId59"/>
    <p:sldId id="338" r:id="rId60"/>
  </p:sldIdLst>
  <p:sldSz cx="12192000" cy="6858000"/>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840" userDrawn="1">
          <p15:clr>
            <a:srgbClr val="A4A3A4"/>
          </p15:clr>
        </p15:guide>
        <p15:guide id="3" orient="horz" pos="252" userDrawn="1">
          <p15:clr>
            <a:srgbClr val="A4A3A4"/>
          </p15:clr>
        </p15:guide>
        <p15:guide id="4" orient="horz" pos="4067" userDrawn="1">
          <p15:clr>
            <a:srgbClr val="A4A3A4"/>
          </p15:clr>
        </p15:guide>
        <p15:guide id="5" pos="7258" userDrawn="1">
          <p15:clr>
            <a:srgbClr val="A4A3A4"/>
          </p15:clr>
        </p15:guide>
        <p15:guide id="6" pos="416" userDrawn="1">
          <p15:clr>
            <a:srgbClr val="A4A3A4"/>
          </p15:clr>
        </p15:guide>
      </p15:sldGuideLst>
    </p:ext>
    <p:ext uri="{2D200454-40CA-4A62-9FC3-DE9A4176ACB9}">
      <p15:notesGuideLst xmlns:p15="http://schemas.microsoft.com/office/powerpoint/2012/main">
        <p15:guide id="1" orient="horz" pos="2886">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7" autoAdjust="0"/>
    <p:restoredTop sz="96331" autoAdjust="0"/>
  </p:normalViewPr>
  <p:slideViewPr>
    <p:cSldViewPr snapToGrid="0" showGuides="1">
      <p:cViewPr varScale="1">
        <p:scale>
          <a:sx n="91" d="100"/>
          <a:sy n="91" d="100"/>
        </p:scale>
        <p:origin x="90" y="444"/>
      </p:cViewPr>
      <p:guideLst>
        <p:guide orient="horz" pos="2164"/>
        <p:guide pos="3840"/>
        <p:guide orient="horz" pos="252"/>
        <p:guide orient="horz" pos="4067"/>
        <p:guide pos="7258"/>
        <p:guide pos="416"/>
      </p:guideLst>
    </p:cSldViewPr>
  </p:slideViewPr>
  <p:outlineViewPr>
    <p:cViewPr>
      <p:scale>
        <a:sx n="33" d="100"/>
        <a:sy n="33" d="100"/>
      </p:scale>
      <p:origin x="0" y="-1219"/>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63" d="100"/>
          <a:sy n="63" d="100"/>
        </p:scale>
        <p:origin x="2352" y="-4147"/>
      </p:cViewPr>
      <p:guideLst>
        <p:guide orient="horz" pos="2886"/>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rPr>
              <a:t>2026/10/16</a:t>
            </a:fld>
            <a:endParaRPr lang="zh-CN" altLang="en-US">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rPr>
              <a:t>‹#›</a:t>
            </a:fld>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1AC49D05-6128-4D0D-A32A-06A5E73B386C}" type="datetimeFigureOut">
              <a:rPr lang="zh-CN" altLang="en-US" smtClean="0"/>
              <a:t>2026/10/16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6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C9B6D88A-0DFD-46E3-8C6E-D3513E5446D7}" type="datetimeFigureOut">
              <a:rPr lang="zh-CN" altLang="en-US" smtClean="0"/>
              <a:t>2026/10/16</a:t>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t>‹#›</a:t>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9pPr>
          </a:lstStyle>
          <a:p>
            <a:r>
              <a:rPr lang="zh-CN" altLang="en-US"/>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2026/10/16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theme" Target="../theme/theme1.xml"/><Relationship Id="rId7" Type="http://schemas.openxmlformats.org/officeDocument/2006/relationships/tags" Target="../tags/tag5.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10" Type="http://schemas.openxmlformats.org/officeDocument/2006/relationships/image" Target="../media/image1.svg"/><Relationship Id="rId4" Type="http://schemas.openxmlformats.org/officeDocument/2006/relationships/tags" Target="../tags/tag2.xml"/><Relationship Id="rId9"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E9E1"/>
        </a:solidFill>
        <a:effectLst/>
      </p:bgPr>
    </p:bg>
    <p:spTree>
      <p:nvGrpSpPr>
        <p:cNvPr id="1" name=""/>
        <p:cNvGrpSpPr/>
        <p:nvPr/>
      </p:nvGrpSpPr>
      <p:grpSpPr>
        <a:xfrm>
          <a:off x="0" y="0"/>
          <a:ext cx="0" cy="0"/>
          <a:chOff x="0" y="0"/>
          <a:chExt cx="0" cy="0"/>
        </a:xfrm>
      </p:grpSpPr>
      <p:sp>
        <p:nvSpPr>
          <p:cNvPr id="12" name="矩形 11"/>
          <p:cNvSpPr/>
          <p:nvPr userDrawn="1"/>
        </p:nvSpPr>
        <p:spPr>
          <a:xfrm>
            <a:off x="0" y="0"/>
            <a:ext cx="12192000" cy="6858000"/>
          </a:xfrm>
          <a:prstGeom prst="rect">
            <a:avLst/>
          </a:prstGeom>
          <a:solidFill>
            <a:srgbClr val="C2C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userDrawn="1"/>
        </p:nvSpPr>
        <p:spPr>
          <a:xfrm>
            <a:off x="524193" y="408940"/>
            <a:ext cx="11143615" cy="6040120"/>
          </a:xfrm>
          <a:prstGeom prst="rect">
            <a:avLst/>
          </a:prstGeom>
          <a:solidFill>
            <a:schemeClr val="bg1"/>
          </a:solidFill>
          <a:ln>
            <a:noFill/>
          </a:ln>
          <a:effectLst>
            <a:outerShdw blurRad="101600" dist="12700" sx="101000" sy="101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custDataLst>
              <p:tags r:id="rId4"/>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a:t>单击此处编辑母版标题样式</a:t>
            </a:r>
          </a:p>
        </p:txBody>
      </p:sp>
      <p:sp>
        <p:nvSpPr>
          <p:cNvPr id="3" name="文本占位符 2"/>
          <p:cNvSpPr>
            <a:spLocks noGrp="1"/>
          </p:cNvSpPr>
          <p:nvPr>
            <p:ph type="body" idx="1"/>
            <p:custDataLst>
              <p:tags r:id="rId5"/>
            </p:custDataLst>
          </p:nvPr>
        </p:nvSpPr>
        <p:spPr>
          <a:xfrm>
            <a:off x="669882" y="1296000"/>
            <a:ext cx="10852237" cy="5040000"/>
          </a:xfrm>
          <a:prstGeom prst="rect">
            <a:avLst/>
          </a:prstGeo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6"/>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2026/10/16</a:t>
            </a:fld>
            <a:endParaRPr lang="zh-CN" altLang="en-US"/>
          </a:p>
        </p:txBody>
      </p:sp>
      <p:sp>
        <p:nvSpPr>
          <p:cNvPr id="5" name="页脚占位符 4"/>
          <p:cNvSpPr>
            <a:spLocks noGrp="1"/>
          </p:cNvSpPr>
          <p:nvPr>
            <p:ph type="ftr" sz="quarter" idx="3"/>
            <p:custDataLst>
              <p:tags r:id="rId7"/>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8"/>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7" name="KSO_TEMPLATE" hidden="1"/>
          <p:cNvSpPr/>
          <p:nvPr userDrawn="1">
            <p:custDataLst>
              <p:tags r:id="rId9"/>
            </p:custDataLst>
          </p:nvPr>
        </p:nvSpPr>
        <p:spPr>
          <a:xfrm flipH="1">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userDrawn="1"/>
        </p:nvGrpSpPr>
        <p:grpSpPr>
          <a:xfrm>
            <a:off x="248920" y="509905"/>
            <a:ext cx="1967865" cy="6036310"/>
            <a:chOff x="392" y="804"/>
            <a:chExt cx="3099" cy="9506"/>
          </a:xfrm>
        </p:grpSpPr>
        <p:sp>
          <p:nvSpPr>
            <p:cNvPr id="19" name="文本框 18"/>
            <p:cNvSpPr txBox="1"/>
            <p:nvPr/>
          </p:nvSpPr>
          <p:spPr>
            <a:xfrm>
              <a:off x="1138" y="804"/>
              <a:ext cx="2353" cy="483"/>
            </a:xfrm>
            <a:prstGeom prst="rect">
              <a:avLst/>
            </a:prstGeom>
            <a:noFill/>
          </p:spPr>
          <p:txBody>
            <a:bodyPr wrap="square" rtlCol="0" anchor="t">
              <a:spAutoFit/>
            </a:bodyPr>
            <a:lstStyle/>
            <a:p>
              <a:pPr algn="dist"/>
              <a:r>
                <a:rPr lang="zh-CN" altLang="en-US" sz="1400" i="1" cap="all" dirty="0">
                  <a:solidFill>
                    <a:schemeClr val="tx1">
                      <a:lumMod val="50000"/>
                      <a:lumOff val="50000"/>
                    </a:schemeClr>
                  </a:solidFill>
                  <a:uFillTx/>
                  <a:latin typeface="思源宋体 CN Heavy" panose="02020900000000000000" pitchFamily="18" charset="-122"/>
                  <a:ea typeface="思源宋体 CN Heavy" panose="02020900000000000000" pitchFamily="18" charset="-122"/>
                  <a:cs typeface="Strasua" panose="02000400000000000000" charset="0"/>
                </a:rPr>
                <a:t>all summer</a:t>
              </a:r>
            </a:p>
          </p:txBody>
        </p:sp>
        <p:pic>
          <p:nvPicPr>
            <p:cNvPr id="21" name="图片 20" descr="3477370"/>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92" y="9527"/>
              <a:ext cx="783" cy="783"/>
            </a:xfrm>
            <a:prstGeom prst="rect">
              <a:avLst/>
            </a:prstGeom>
          </p:spPr>
        </p:pic>
      </p:grpSp>
      <p:sp>
        <p:nvSpPr>
          <p:cNvPr id="22" name="文本框 21"/>
          <p:cNvSpPr txBox="1"/>
          <p:nvPr userDrawn="1"/>
        </p:nvSpPr>
        <p:spPr>
          <a:xfrm rot="5400000">
            <a:off x="-1387475" y="3306445"/>
            <a:ext cx="3324225" cy="245110"/>
          </a:xfrm>
          <a:prstGeom prst="rect">
            <a:avLst/>
          </a:prstGeom>
          <a:noFill/>
        </p:spPr>
        <p:txBody>
          <a:bodyPr vert="horz" wrap="square" rtlCol="0" anchor="t">
            <a:spAutoFit/>
          </a:bodyPr>
          <a:lstStyle/>
          <a:p>
            <a:pPr algn="dist"/>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Tunga" panose="020B0502040204020203" charset="0"/>
              </a:rPr>
              <a:t>this small Herculean labor</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hf sldNum="0" ftr="0" dt="0"/>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ct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ct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ct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ct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2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ags" Target="../tags/tag35.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390C584-8919-50B2-90DD-55BA3D121E85}"/>
              </a:ext>
            </a:extLst>
          </p:cNvPr>
          <p:cNvPicPr>
            <a:picLocks noChangeAspect="1"/>
          </p:cNvPicPr>
          <p:nvPr/>
        </p:nvPicPr>
        <p:blipFill>
          <a:blip r:embed="rId3">
            <a:extLst>
              <a:ext uri="{28A0092B-C50C-407E-A947-70E740481C1C}">
                <a14:useLocalDpi xmlns:a14="http://schemas.microsoft.com/office/drawing/2010/main" val="0"/>
              </a:ext>
            </a:extLst>
          </a:blip>
          <a:srcRect l="2753" t="-17" r="-2753" b="20752"/>
          <a:stretch>
            <a:fillRect/>
          </a:stretch>
        </p:blipFill>
        <p:spPr>
          <a:xfrm>
            <a:off x="515937" y="397510"/>
            <a:ext cx="11493693" cy="6060440"/>
          </a:xfrm>
          <a:prstGeom prst="rect">
            <a:avLst/>
          </a:prstGeom>
        </p:spPr>
      </p:pic>
      <p:sp>
        <p:nvSpPr>
          <p:cNvPr id="15" name="文本框 14"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1271081" y="1444545"/>
            <a:ext cx="9649835" cy="2215991"/>
          </a:xfrm>
          <a:prstGeom prst="rect">
            <a:avLst/>
          </a:prstGeom>
          <a:noFill/>
        </p:spPr>
        <p:txBody>
          <a:bodyPr wrap="square" rtlCol="0" anchor="t">
            <a:spAutoFit/>
          </a:bodyPr>
          <a:lstStyle/>
          <a:p>
            <a:pPr algn="dist"/>
            <a:r>
              <a:rPr lang="zh-CN" altLang="en-US" sz="13800" cap="all" dirty="0">
                <a:solidFill>
                  <a:schemeClr val="bg1"/>
                </a:solidFill>
                <a:latin typeface="思源宋体 CN Heavy" panose="02020900000000000000" pitchFamily="18" charset="-122"/>
                <a:ea typeface="思源宋体 CN Heavy" panose="02020900000000000000" pitchFamily="18" charset="-122"/>
              </a:rPr>
              <a:t>天降的人灾</a:t>
            </a:r>
            <a:endParaRPr sz="13800" cap="all" dirty="0">
              <a:solidFill>
                <a:schemeClr val="bg1"/>
              </a:solidFill>
              <a:uFillTx/>
              <a:latin typeface="思源宋体 CN Heavy" panose="02020900000000000000" pitchFamily="18" charset="-122"/>
              <a:ea typeface="思源宋体 CN Heavy" panose="02020900000000000000" pitchFamily="18" charset="-122"/>
            </a:endParaRPr>
          </a:p>
        </p:txBody>
      </p:sp>
      <p:sp>
        <p:nvSpPr>
          <p:cNvPr id="18" name="文本框 1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8182798" y="4289380"/>
            <a:ext cx="2611533" cy="418191"/>
          </a:xfrm>
          <a:prstGeom prst="rect">
            <a:avLst/>
          </a:prstGeom>
          <a:noFill/>
        </p:spPr>
        <p:txBody>
          <a:bodyPr wrap="square" rtlCol="0" anchor="t">
            <a:spAutoFit/>
          </a:bodyPr>
          <a:lstStyle/>
          <a:p>
            <a:pPr algn="r">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第四组 组长 </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汇报</a:t>
            </a:r>
            <a:r>
              <a:rPr lang="en-US" altLang="zh-CN" sz="1600" dirty="0">
                <a:solidFill>
                  <a:schemeClr val="bg1"/>
                </a:solidFill>
                <a:latin typeface="微软雅黑" panose="020B0503020204020204" pitchFamily="34" charset="-122"/>
                <a:ea typeface="微软雅黑" panose="020B0503020204020204" pitchFamily="34" charset="-122"/>
              </a:rPr>
              <a:t>]</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9" name="文本框 18"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7162520" y="4707571"/>
            <a:ext cx="4001656" cy="385298"/>
          </a:xfrm>
          <a:prstGeom prst="rect">
            <a:avLst/>
          </a:prstGeom>
          <a:noFill/>
        </p:spPr>
        <p:txBody>
          <a:bodyPr wrap="square" rtlCol="0" anchor="t">
            <a:spAutoFit/>
          </a:bodyPr>
          <a:lstStyle/>
          <a:p>
            <a:pPr algn="l">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组员：</a:t>
            </a: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
        <p:nvSpPr>
          <p:cNvPr id="9" name="文本框 8">
            <a:extLst>
              <a:ext uri="{FF2B5EF4-FFF2-40B4-BE49-F238E27FC236}">
                <a16:creationId xmlns:a16="http://schemas.microsoft.com/office/drawing/2014/main" id="{ADAECEF4-66D1-8CDA-3BD0-742877CCC871}"/>
              </a:ext>
            </a:extLst>
          </p:cNvPr>
          <p:cNvSpPr txBox="1"/>
          <p:nvPr/>
        </p:nvSpPr>
        <p:spPr>
          <a:xfrm>
            <a:off x="1524248" y="3473183"/>
            <a:ext cx="9143499" cy="830997"/>
          </a:xfrm>
          <a:prstGeom prst="rect">
            <a:avLst/>
          </a:prstGeom>
          <a:noFill/>
        </p:spPr>
        <p:txBody>
          <a:bodyPr wrap="square">
            <a:spAutoFit/>
          </a:bodyPr>
          <a:lstStyle/>
          <a:p>
            <a:pPr algn="dist"/>
            <a:r>
              <a:rPr lang="zh-CN" altLang="en-US" sz="4800" cap="all" dirty="0">
                <a:solidFill>
                  <a:schemeClr val="bg1"/>
                </a:solidFill>
                <a:uFillTx/>
                <a:latin typeface="思源宋体 CN Heavy" panose="02020900000000000000" pitchFamily="18" charset="-122"/>
                <a:ea typeface="思源宋体 CN Heavy" panose="02020900000000000000" pitchFamily="18" charset="-122"/>
              </a:rPr>
              <a:t>巴以冲突：地缘政治的牺牲品</a:t>
            </a:r>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矩形 2"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p:nvPr/>
        </p:nvSpPr>
        <p:spPr>
          <a:xfrm>
            <a:off x="515620" y="399415"/>
            <a:ext cx="2050935" cy="6049010"/>
          </a:xfrm>
          <a:prstGeom prst="rect">
            <a:avLst/>
          </a:prstGeom>
          <a:solidFill>
            <a:srgbClr val="C2C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GrpSpPr/>
          <p:nvPr/>
        </p:nvGrpSpPr>
        <p:grpSpPr>
          <a:xfrm>
            <a:off x="5834554" y="1488109"/>
            <a:ext cx="4109546" cy="753598"/>
            <a:chOff x="4483735" y="1514475"/>
            <a:chExt cx="4109546" cy="753598"/>
          </a:xfrm>
        </p:grpSpPr>
        <p:sp>
          <p:nvSpPr>
            <p:cNvPr id="7" name="文本框 6"/>
            <p:cNvSpPr txBox="1"/>
            <p:nvPr/>
          </p:nvSpPr>
          <p:spPr>
            <a:xfrm>
              <a:off x="4483735" y="1514475"/>
              <a:ext cx="1537970" cy="368300"/>
            </a:xfrm>
            <a:prstGeom prst="rect">
              <a:avLst/>
            </a:prstGeom>
            <a:noFill/>
          </p:spPr>
          <p:txBody>
            <a:bodyPr wrap="square" rtlCol="0" anchor="t">
              <a:spAutoFit/>
            </a:bodyPr>
            <a:lstStyle/>
            <a:p>
              <a:r>
                <a:rPr lang="en-US" altLang="zh-CN" dirty="0">
                  <a:solidFill>
                    <a:schemeClr val="tx1">
                      <a:lumMod val="85000"/>
                      <a:lumOff val="15000"/>
                    </a:schemeClr>
                  </a:solidFill>
                  <a:latin typeface="思源宋体 CN Heavy" panose="02020900000000000000" pitchFamily="18" charset="-122"/>
                  <a:ea typeface="思源宋体 CN Heavy" panose="02020900000000000000" pitchFamily="18" charset="-122"/>
                </a:rPr>
                <a:t>Part 1</a:t>
              </a:r>
              <a:endParaRPr lang="zh-CN" altLang="en-US"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8" name="文本框 7"/>
            <p:cNvSpPr txBox="1"/>
            <p:nvPr/>
          </p:nvSpPr>
          <p:spPr>
            <a:xfrm>
              <a:off x="4483735" y="1882775"/>
              <a:ext cx="4109546" cy="385298"/>
            </a:xfrm>
            <a:prstGeom prst="rect">
              <a:avLst/>
            </a:prstGeom>
            <a:noFill/>
          </p:spPr>
          <p:txBody>
            <a:bodyPr wrap="square" rtlCol="0" anchor="t">
              <a:spAutoFit/>
            </a:bodyPr>
            <a:lstStyle/>
            <a:p>
              <a:pPr algn="l">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巴以冲突：伏笔与爆发</a:t>
              </a:r>
            </a:p>
          </p:txBody>
        </p:sp>
      </p:grpSp>
      <p:grpSp>
        <p:nvGrpSpPr>
          <p:cNvPr id="19" name="组合 18"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GrpSpPr/>
          <p:nvPr/>
        </p:nvGrpSpPr>
        <p:grpSpPr>
          <a:xfrm>
            <a:off x="5834554" y="2611237"/>
            <a:ext cx="4109546" cy="753598"/>
            <a:chOff x="4483735" y="1514475"/>
            <a:chExt cx="4109546" cy="753598"/>
          </a:xfrm>
        </p:grpSpPr>
        <p:sp>
          <p:nvSpPr>
            <p:cNvPr id="20" name="文本框 19"/>
            <p:cNvSpPr txBox="1"/>
            <p:nvPr/>
          </p:nvSpPr>
          <p:spPr>
            <a:xfrm>
              <a:off x="4483735" y="1514475"/>
              <a:ext cx="1537970" cy="368300"/>
            </a:xfrm>
            <a:prstGeom prst="rect">
              <a:avLst/>
            </a:prstGeom>
            <a:noFill/>
          </p:spPr>
          <p:txBody>
            <a:bodyPr wrap="square" rtlCol="0" anchor="t">
              <a:spAutoFit/>
            </a:bodyPr>
            <a:lstStyle/>
            <a:p>
              <a:r>
                <a:rPr lang="en-US" altLang="zh-CN" dirty="0">
                  <a:solidFill>
                    <a:schemeClr val="tx1">
                      <a:lumMod val="85000"/>
                      <a:lumOff val="15000"/>
                    </a:schemeClr>
                  </a:solidFill>
                  <a:latin typeface="思源宋体 CN Heavy" panose="02020900000000000000" pitchFamily="18" charset="-122"/>
                  <a:ea typeface="思源宋体 CN Heavy" panose="02020900000000000000" pitchFamily="18" charset="-122"/>
                </a:rPr>
                <a:t>Part 2</a:t>
              </a:r>
              <a:endParaRPr lang="zh-CN" altLang="en-US"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21" name="文本框 20"/>
            <p:cNvSpPr txBox="1"/>
            <p:nvPr/>
          </p:nvSpPr>
          <p:spPr>
            <a:xfrm>
              <a:off x="4483735" y="1882775"/>
              <a:ext cx="4109546" cy="385298"/>
            </a:xfrm>
            <a:prstGeom prst="rect">
              <a:avLst/>
            </a:prstGeom>
            <a:noFill/>
          </p:spPr>
          <p:txBody>
            <a:bodyPr wrap="square" rtlCol="0" anchor="t">
              <a:spAutoFit/>
            </a:bodyPr>
            <a:lstStyle/>
            <a:p>
              <a:pPr algn="l">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巴以冲突：地缘政治的“无可奈何”</a:t>
              </a:r>
            </a:p>
          </p:txBody>
        </p:sp>
      </p:grpSp>
      <p:grpSp>
        <p:nvGrpSpPr>
          <p:cNvPr id="22" name="组合 21"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GrpSpPr/>
          <p:nvPr/>
        </p:nvGrpSpPr>
        <p:grpSpPr>
          <a:xfrm>
            <a:off x="5834554" y="3734365"/>
            <a:ext cx="4109546" cy="753598"/>
            <a:chOff x="4483735" y="1514475"/>
            <a:chExt cx="4109546" cy="753598"/>
          </a:xfrm>
        </p:grpSpPr>
        <p:sp>
          <p:nvSpPr>
            <p:cNvPr id="23" name="文本框 22"/>
            <p:cNvSpPr txBox="1"/>
            <p:nvPr/>
          </p:nvSpPr>
          <p:spPr>
            <a:xfrm>
              <a:off x="4483735" y="1514475"/>
              <a:ext cx="1537970" cy="368300"/>
            </a:xfrm>
            <a:prstGeom prst="rect">
              <a:avLst/>
            </a:prstGeom>
            <a:noFill/>
          </p:spPr>
          <p:txBody>
            <a:bodyPr wrap="square" rtlCol="0" anchor="t">
              <a:spAutoFit/>
            </a:bodyPr>
            <a:lstStyle/>
            <a:p>
              <a:r>
                <a:rPr lang="en-US" altLang="zh-CN" dirty="0">
                  <a:solidFill>
                    <a:schemeClr val="tx1">
                      <a:lumMod val="85000"/>
                      <a:lumOff val="15000"/>
                    </a:schemeClr>
                  </a:solidFill>
                  <a:latin typeface="思源宋体 CN Heavy" panose="02020900000000000000" pitchFamily="18" charset="-122"/>
                  <a:ea typeface="思源宋体 CN Heavy" panose="02020900000000000000" pitchFamily="18" charset="-122"/>
                </a:rPr>
                <a:t>Part 3</a:t>
              </a:r>
              <a:endParaRPr lang="zh-CN" altLang="en-US"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24" name="文本框 23"/>
            <p:cNvSpPr txBox="1"/>
            <p:nvPr/>
          </p:nvSpPr>
          <p:spPr>
            <a:xfrm>
              <a:off x="4483735" y="1882775"/>
              <a:ext cx="4109546" cy="385298"/>
            </a:xfrm>
            <a:prstGeom prst="rect">
              <a:avLst/>
            </a:prstGeom>
            <a:noFill/>
          </p:spPr>
          <p:txBody>
            <a:bodyPr wrap="square" rtlCol="0" anchor="t">
              <a:spAutoFit/>
            </a:bodyPr>
            <a:lstStyle/>
            <a:p>
              <a:pPr algn="l">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巴以冲突：个人影响导致的“泥潭“</a:t>
              </a:r>
            </a:p>
          </p:txBody>
        </p:sp>
      </p:grpSp>
      <p:grpSp>
        <p:nvGrpSpPr>
          <p:cNvPr id="25" name="组合 24"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GrpSpPr/>
          <p:nvPr/>
        </p:nvGrpSpPr>
        <p:grpSpPr>
          <a:xfrm>
            <a:off x="5834554" y="4857492"/>
            <a:ext cx="4109546" cy="753598"/>
            <a:chOff x="4483735" y="1514475"/>
            <a:chExt cx="4109546" cy="753598"/>
          </a:xfrm>
        </p:grpSpPr>
        <p:sp>
          <p:nvSpPr>
            <p:cNvPr id="26" name="文本框 25"/>
            <p:cNvSpPr txBox="1"/>
            <p:nvPr/>
          </p:nvSpPr>
          <p:spPr>
            <a:xfrm>
              <a:off x="4483735" y="1514475"/>
              <a:ext cx="1537970" cy="368300"/>
            </a:xfrm>
            <a:prstGeom prst="rect">
              <a:avLst/>
            </a:prstGeom>
            <a:noFill/>
          </p:spPr>
          <p:txBody>
            <a:bodyPr wrap="square" rtlCol="0" anchor="t">
              <a:spAutoFit/>
            </a:bodyPr>
            <a:lstStyle/>
            <a:p>
              <a:r>
                <a:rPr lang="en-US" altLang="zh-CN" dirty="0">
                  <a:solidFill>
                    <a:schemeClr val="tx1">
                      <a:lumMod val="85000"/>
                      <a:lumOff val="15000"/>
                    </a:schemeClr>
                  </a:solidFill>
                  <a:latin typeface="思源宋体 CN Heavy" panose="02020900000000000000" pitchFamily="18" charset="-122"/>
                  <a:ea typeface="思源宋体 CN Heavy" panose="02020900000000000000" pitchFamily="18" charset="-122"/>
                </a:rPr>
                <a:t>Part 4</a:t>
              </a:r>
              <a:endParaRPr lang="zh-CN" altLang="en-US"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27" name="文本框 26"/>
            <p:cNvSpPr txBox="1"/>
            <p:nvPr/>
          </p:nvSpPr>
          <p:spPr>
            <a:xfrm>
              <a:off x="4483735" y="1882775"/>
              <a:ext cx="4109546" cy="385298"/>
            </a:xfrm>
            <a:prstGeom prst="rect">
              <a:avLst/>
            </a:prstGeom>
            <a:noFill/>
          </p:spPr>
          <p:txBody>
            <a:bodyPr wrap="square" rtlCol="0" anchor="t">
              <a:spAutoFit/>
            </a:bodyPr>
            <a:lstStyle/>
            <a:p>
              <a:pPr algn="l">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巴以冲突：为了更美好的未来</a:t>
              </a:r>
            </a:p>
          </p:txBody>
        </p:sp>
      </p:grpSp>
      <p:sp>
        <p:nvSpPr>
          <p:cNvPr id="28" name="文本框 2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4062844" y="1652155"/>
            <a:ext cx="400110" cy="3948545"/>
          </a:xfrm>
          <a:prstGeom prst="rect">
            <a:avLst/>
          </a:prstGeom>
          <a:noFill/>
        </p:spPr>
        <p:txBody>
          <a:bodyPr vert="eaVert" wrap="square" rtlCol="0" anchor="t">
            <a:spAutoFit/>
          </a:bodyPr>
          <a:lstStyle/>
          <a:p>
            <a:pPr algn="dist"/>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真的存在不可调和的矛盾吗</a:t>
            </a: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pic>
        <p:nvPicPr>
          <p:cNvPr id="5" name="图片 4">
            <a:extLst>
              <a:ext uri="{FF2B5EF4-FFF2-40B4-BE49-F238E27FC236}">
                <a16:creationId xmlns:a16="http://schemas.microsoft.com/office/drawing/2014/main" id="{B25BB739-2A35-EB37-5A6B-BCFACF1F5E62}"/>
              </a:ext>
            </a:extLst>
          </p:cNvPr>
          <p:cNvPicPr>
            <a:picLocks noChangeAspect="1"/>
          </p:cNvPicPr>
          <p:nvPr/>
        </p:nvPicPr>
        <p:blipFill>
          <a:blip r:embed="rId3"/>
          <a:srcRect l="25824" r="20739"/>
          <a:stretch>
            <a:fillRect/>
          </a:stretch>
        </p:blipFill>
        <p:spPr>
          <a:xfrm>
            <a:off x="1452765" y="1920200"/>
            <a:ext cx="2227580" cy="3121442"/>
          </a:xfrm>
          <a:prstGeom prst="rect">
            <a:avLst/>
          </a:prstGeom>
        </p:spPr>
      </p:pic>
    </p:spTree>
    <p:custDataLst>
      <p:tags r:id="rId1"/>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文本框 2"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3444129" y="4407798"/>
            <a:ext cx="5303739" cy="1015663"/>
          </a:xfrm>
          <a:prstGeom prst="rect">
            <a:avLst/>
          </a:prstGeom>
          <a:noFill/>
        </p:spPr>
        <p:txBody>
          <a:bodyPr wrap="square" rtlCol="0" anchor="t">
            <a:spAutoFit/>
          </a:bodyPr>
          <a:lstStyle/>
          <a:p>
            <a:pPr algn="dist"/>
            <a:r>
              <a:rPr lang="en-US" sz="6000"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rPr>
              <a:t>Part one</a:t>
            </a:r>
            <a:endParaRPr sz="6000"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endParaRPr>
          </a:p>
        </p:txBody>
      </p:sp>
      <p:sp>
        <p:nvSpPr>
          <p:cNvPr id="7" name="文本框 6"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3963293" y="3940174"/>
            <a:ext cx="4265410" cy="499624"/>
          </a:xfrm>
          <a:prstGeom prst="rect">
            <a:avLst/>
          </a:prstGeom>
          <a:noFill/>
        </p:spPr>
        <p:txBody>
          <a:bodyPr wrap="square" rtlCol="0" anchor="t">
            <a:spAutoFit/>
          </a:bodyPr>
          <a:lstStyle/>
          <a:p>
            <a:pPr algn="ctr">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巴以冲突：伏笔与爆发</a:t>
            </a: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pic>
        <p:nvPicPr>
          <p:cNvPr id="5" name="图片 4">
            <a:extLst>
              <a:ext uri="{FF2B5EF4-FFF2-40B4-BE49-F238E27FC236}">
                <a16:creationId xmlns:a16="http://schemas.microsoft.com/office/drawing/2014/main" id="{98A52EAF-C78C-2417-3A66-73A052DCF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2372" y="1153767"/>
            <a:ext cx="4807255" cy="2704081"/>
          </a:xfrm>
          <a:prstGeom prst="rect">
            <a:avLst/>
          </a:prstGeom>
        </p:spPr>
      </p:pic>
    </p:spTree>
    <p:custDataLst>
      <p:tags r:id="rId1"/>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4706319" y="1261811"/>
            <a:ext cx="1948180" cy="400110"/>
          </a:xfrm>
          <a:prstGeom prst="rect">
            <a:avLst/>
          </a:prstGeom>
          <a:noFill/>
        </p:spPr>
        <p:txBody>
          <a:bodyPr wrap="square" rtlCol="0" anchor="t">
            <a:spAutoFit/>
          </a:bodyPr>
          <a:lstStyle/>
          <a:p>
            <a:r>
              <a:rPr lang="en-US" altLang="zh-CN" sz="2000" dirty="0">
                <a:solidFill>
                  <a:schemeClr val="tx1">
                    <a:lumMod val="85000"/>
                    <a:lumOff val="15000"/>
                  </a:schemeClr>
                </a:solidFill>
                <a:latin typeface="思源宋体 CN Heavy" panose="02020900000000000000" pitchFamily="18" charset="-122"/>
                <a:ea typeface="思源宋体 CN Heavy" panose="02020900000000000000" pitchFamily="18" charset="-122"/>
              </a:rPr>
              <a:t>1897</a:t>
            </a:r>
            <a:r>
              <a:rPr lang="zh-CN" altLang="en-US" sz="2000" dirty="0">
                <a:solidFill>
                  <a:schemeClr val="tx1">
                    <a:lumMod val="85000"/>
                    <a:lumOff val="15000"/>
                  </a:schemeClr>
                </a:solidFill>
                <a:latin typeface="思源宋体 CN Heavy" panose="02020900000000000000" pitchFamily="18" charset="-122"/>
                <a:ea typeface="思源宋体 CN Heavy" panose="02020900000000000000" pitchFamily="18" charset="-122"/>
              </a:rPr>
              <a:t>年</a:t>
            </a:r>
          </a:p>
        </p:txBody>
      </p:sp>
      <p:sp>
        <p:nvSpPr>
          <p:cNvPr id="9" name="文本框 8"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4706319" y="1630111"/>
            <a:ext cx="1933575" cy="3742178"/>
          </a:xfrm>
          <a:prstGeom prst="rect">
            <a:avLst/>
          </a:prstGeom>
          <a:noFill/>
        </p:spPr>
        <p:txBody>
          <a:bodyPr wrap="square" rtlCol="0" anchor="t">
            <a:spAutoFit/>
          </a:bodyPr>
          <a:lstStyle/>
          <a:p>
            <a:pPr algn="l">
              <a:lnSpc>
                <a:spcPct val="15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赫茨尔在巴塞尔召开 第一届犹太复国主义大会，成立世界犹太复国主义组织。明确提出要在巴勒斯坦建立“犹太民族家园”。   这是现代巴以冲突最常被追溯的标志性近代起点。</a:t>
            </a:r>
          </a:p>
        </p:txBody>
      </p:sp>
      <p:sp>
        <p:nvSpPr>
          <p:cNvPr id="14" name="文本框 13"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9037153" y="1261811"/>
            <a:ext cx="1948180" cy="400110"/>
          </a:xfrm>
          <a:prstGeom prst="rect">
            <a:avLst/>
          </a:prstGeom>
          <a:noFill/>
        </p:spPr>
        <p:txBody>
          <a:bodyPr wrap="square" rtlCol="0" anchor="t">
            <a:spAutoFit/>
          </a:bodyPr>
          <a:lstStyle/>
          <a:p>
            <a:r>
              <a:rPr lang="en-US" altLang="zh-CN" sz="2000" dirty="0">
                <a:solidFill>
                  <a:schemeClr val="tx1">
                    <a:lumMod val="85000"/>
                    <a:lumOff val="15000"/>
                  </a:schemeClr>
                </a:solidFill>
                <a:latin typeface="思源宋体 CN Heavy" panose="02020900000000000000" pitchFamily="18" charset="-122"/>
                <a:ea typeface="思源宋体 CN Heavy" panose="02020900000000000000" pitchFamily="18" charset="-122"/>
              </a:rPr>
              <a:t>1967</a:t>
            </a:r>
            <a:r>
              <a:rPr lang="zh-CN" altLang="en-US" sz="2000" dirty="0">
                <a:solidFill>
                  <a:schemeClr val="tx1">
                    <a:lumMod val="85000"/>
                    <a:lumOff val="15000"/>
                  </a:schemeClr>
                </a:solidFill>
                <a:latin typeface="思源宋体 CN Heavy" panose="02020900000000000000" pitchFamily="18" charset="-122"/>
                <a:ea typeface="思源宋体 CN Heavy" panose="02020900000000000000" pitchFamily="18" charset="-122"/>
              </a:rPr>
              <a:t>年</a:t>
            </a:r>
          </a:p>
        </p:txBody>
      </p:sp>
      <p:sp>
        <p:nvSpPr>
          <p:cNvPr id="15" name="文本框 14"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9037153" y="1630111"/>
            <a:ext cx="1933575" cy="4111510"/>
          </a:xfrm>
          <a:prstGeom prst="rect">
            <a:avLst/>
          </a:prstGeom>
          <a:noFill/>
        </p:spPr>
        <p:txBody>
          <a:bodyPr wrap="square" rtlCol="0" anchor="t">
            <a:spAutoFit/>
          </a:bodyPr>
          <a:lstStyle/>
          <a:p>
            <a:pPr algn="l">
              <a:lnSpc>
                <a:spcPct val="15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六日战争中，以色列占领西岸、加沙、东耶路撒冷、西奈半岛与戈兰高地。此后冲突核心从“分治”转为占领、定居点、耶路撒冷与难民回归权。联合国</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242</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号决议提出“土地换和平”原则。</a:t>
            </a:r>
          </a:p>
        </p:txBody>
      </p:sp>
      <p:sp>
        <p:nvSpPr>
          <p:cNvPr id="19" name="文本框 18"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6871736" y="1261811"/>
            <a:ext cx="1948180" cy="400110"/>
          </a:xfrm>
          <a:prstGeom prst="rect">
            <a:avLst/>
          </a:prstGeom>
          <a:noFill/>
        </p:spPr>
        <p:txBody>
          <a:bodyPr wrap="square" rtlCol="0" anchor="t">
            <a:spAutoFit/>
          </a:bodyPr>
          <a:lstStyle/>
          <a:p>
            <a:r>
              <a:rPr lang="en-US" altLang="zh-CN" sz="2000" dirty="0">
                <a:solidFill>
                  <a:schemeClr val="tx1">
                    <a:lumMod val="85000"/>
                    <a:lumOff val="15000"/>
                  </a:schemeClr>
                </a:solidFill>
                <a:latin typeface="思源宋体 CN Heavy" panose="02020900000000000000" pitchFamily="18" charset="-122"/>
                <a:ea typeface="思源宋体 CN Heavy" panose="02020900000000000000" pitchFamily="18" charset="-122"/>
              </a:rPr>
              <a:t>1915-1917</a:t>
            </a:r>
            <a:r>
              <a:rPr lang="zh-CN" altLang="en-US" sz="2000" dirty="0">
                <a:solidFill>
                  <a:schemeClr val="tx1">
                    <a:lumMod val="85000"/>
                    <a:lumOff val="15000"/>
                  </a:schemeClr>
                </a:solidFill>
                <a:latin typeface="思源宋体 CN Heavy" panose="02020900000000000000" pitchFamily="18" charset="-122"/>
                <a:ea typeface="思源宋体 CN Heavy" panose="02020900000000000000" pitchFamily="18" charset="-122"/>
              </a:rPr>
              <a:t>年</a:t>
            </a:r>
          </a:p>
        </p:txBody>
      </p:sp>
      <p:sp>
        <p:nvSpPr>
          <p:cNvPr id="20" name="文本框 1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6857131" y="1630111"/>
            <a:ext cx="1933575" cy="3742178"/>
          </a:xfrm>
          <a:prstGeom prst="rect">
            <a:avLst/>
          </a:prstGeom>
          <a:noFill/>
        </p:spPr>
        <p:txBody>
          <a:bodyPr wrap="square" rtlCol="0" anchor="t">
            <a:spAutoFit/>
          </a:bodyPr>
          <a:lstStyle/>
          <a:p>
            <a:pPr algn="l">
              <a:lnSpc>
                <a:spcPct val="150000"/>
              </a:lnSpc>
            </a:pP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1915</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年“麦克马洪</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侯赛因通信” 。</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1916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赛克斯</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皮科协定</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：英法秘密瓜分中东阿拉伯领土。</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1917</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贝尔福宣言</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：英国支持在巴勒斯坦建立“犹太民族家园”。</a:t>
            </a:r>
          </a:p>
        </p:txBody>
      </p:sp>
      <p:sp>
        <p:nvSpPr>
          <p:cNvPr id="22" name="文本框 21"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1221272" y="1987590"/>
            <a:ext cx="2978083" cy="2487412"/>
          </a:xfrm>
          <a:prstGeom prst="rect">
            <a:avLst/>
          </a:prstGeom>
          <a:noFill/>
        </p:spPr>
        <p:txBody>
          <a:bodyPr wrap="square" rtlCol="0" anchor="t">
            <a:spAutoFit/>
          </a:bodyPr>
          <a:lstStyle/>
          <a:p>
            <a:pPr algn="ctr">
              <a:lnSpc>
                <a:spcPct val="150000"/>
              </a:lnSpc>
            </a:pPr>
            <a:r>
              <a:rPr lang="zh-CN" altLang="en-US" sz="36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犹太复国主义</a:t>
            </a:r>
            <a:endParaRPr lang="en-US" altLang="zh-CN" sz="36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a:p>
            <a:pPr algn="ctr">
              <a:lnSpc>
                <a:spcPct val="150000"/>
              </a:lnSpc>
            </a:pPr>
            <a:r>
              <a:rPr lang="en-US" sz="36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X</a:t>
            </a:r>
            <a:endParaRPr lang="en-US" sz="3600" b="1"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endParaRPr>
          </a:p>
          <a:p>
            <a:pPr algn="ctr">
              <a:lnSpc>
                <a:spcPct val="150000"/>
              </a:lnSpc>
            </a:pPr>
            <a:r>
              <a:rPr lang="zh-CN" altLang="en-US" sz="36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结构性矛盾</a:t>
            </a:r>
            <a:endParaRPr sz="3600" b="1"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1128963" y="2745172"/>
            <a:ext cx="3235142"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rPr>
              <a:t>犹太复国主义</a:t>
            </a:r>
            <a:endParaRPr sz="4000" b="1"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4711700" y="1476478"/>
            <a:ext cx="6351337" cy="3905043"/>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犹太复国主义，也译“锡安主义”，是</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19</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世纪末兴起的犹太民族运动，核心目标是在犹太人历史上的故土</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巴勒斯坦</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锡安”</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建立犹太民族家园，最终建立犹太国家。“锡安”是耶路撒冷及以色列地的象征。它本质上是世俗民族主义运动，不是单纯宗教运动，但借用了犹太教中“回归锡安”的千年祈愿。</a:t>
            </a: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6F751-51FE-4141-4D68-1AA0FEBBF81A}"/>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C71CF824-2E54-0D28-C865-6846F4E1A89F}"/>
              </a:ext>
            </a:extLst>
          </p:cNvPr>
          <p:cNvSpPr txBox="1"/>
          <p:nvPr/>
        </p:nvSpPr>
        <p:spPr>
          <a:xfrm>
            <a:off x="401448" y="1788743"/>
            <a:ext cx="5018208" cy="2753574"/>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rPr>
              <a:t>演变</a:t>
            </a:r>
            <a:endParaRPr lang="en-US" altLang="zh-CN" sz="4000" b="1"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endParaRPr>
          </a:p>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a:t>
            </a:r>
            <a:endParaRPr lang="en-US" altLang="zh-CN" sz="4000" b="1"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endParaRPr>
          </a:p>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国家恐怖主义</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0BDB6F3E-E44D-3451-5935-DBC8AF5DB662}"/>
              </a:ext>
            </a:extLst>
          </p:cNvPr>
          <p:cNvSpPr txBox="1"/>
          <p:nvPr/>
        </p:nvSpPr>
        <p:spPr>
          <a:xfrm>
            <a:off x="4711700" y="1476478"/>
            <a:ext cx="6351337" cy="3351046"/>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以色列国防军（</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IDF</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）前身：</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伊尔贡（</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Irgun</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）与莱希（</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Lehi</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）在</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1948</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4</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月于代尔亚辛杀害了至少</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107</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名巴勒斯坦平民。</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部分妇女儿童是先奸后杀，尽管事后被称为是“战斗失控”的无意波及，但是无法被国际社会所认同。</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BF71C9C6-FDB8-639F-8AB3-3413FBDAD461}"/>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413278130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B405-ADFC-5E1A-418B-D4865FFF7A64}"/>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8D454BA4-8207-FCC1-694E-BBA868233588}"/>
              </a:ext>
            </a:extLst>
          </p:cNvPr>
          <p:cNvSpPr txBox="1"/>
          <p:nvPr/>
        </p:nvSpPr>
        <p:spPr>
          <a:xfrm>
            <a:off x="368076" y="2849981"/>
            <a:ext cx="5018208"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国家恐怖主义</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F70ABCCC-7C7A-9CF5-4894-AFECDF9154F2}"/>
              </a:ext>
            </a:extLst>
          </p:cNvPr>
          <p:cNvSpPr txBox="1"/>
          <p:nvPr/>
        </p:nvSpPr>
        <p:spPr>
          <a:xfrm>
            <a:off x="4798468" y="2307475"/>
            <a:ext cx="6351337" cy="2243050"/>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通常指政府系统性地使用暴力和恐吓，以实现政治和军事目标。其关键特征在于国家机器的参与，以及行为具有系统性、不成比例和滥杀滥伤的性质。</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E05A8529-8D69-5F29-FB8D-9B076E7E2436}"/>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288313813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矩形 5"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p:nvPr/>
        </p:nvSpPr>
        <p:spPr>
          <a:xfrm>
            <a:off x="6096000" y="399415"/>
            <a:ext cx="5580380" cy="6049010"/>
          </a:xfrm>
          <a:prstGeom prst="rect">
            <a:avLst/>
          </a:prstGeom>
          <a:solidFill>
            <a:srgbClr val="C2C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7983855" y="4622800"/>
            <a:ext cx="1804035" cy="368300"/>
          </a:xfrm>
          <a:prstGeom prst="rect">
            <a:avLst/>
          </a:prstGeom>
          <a:noFill/>
        </p:spPr>
        <p:txBody>
          <a:bodyPr wrap="square" rtlCol="0" anchor="t">
            <a:spAutoFit/>
          </a:bodyPr>
          <a:lstStyle/>
          <a:p>
            <a:pPr algn="ctr"/>
            <a:r>
              <a:rPr lang="zh-CN" altLang="en-US" dirty="0">
                <a:solidFill>
                  <a:schemeClr val="tx1">
                    <a:lumMod val="85000"/>
                    <a:lumOff val="15000"/>
                  </a:schemeClr>
                </a:solidFill>
                <a:latin typeface="思源宋体 CN Heavy" panose="02020900000000000000" pitchFamily="18" charset="-122"/>
                <a:ea typeface="思源宋体 CN Heavy" panose="02020900000000000000" pitchFamily="18" charset="-122"/>
              </a:rPr>
              <a:t>来源</a:t>
            </a:r>
            <a:r>
              <a:rPr lang="en-US" altLang="zh-CN" dirty="0">
                <a:solidFill>
                  <a:schemeClr val="tx1">
                    <a:lumMod val="85000"/>
                    <a:lumOff val="15000"/>
                  </a:schemeClr>
                </a:solidFill>
                <a:latin typeface="思源宋体 CN Heavy" panose="02020900000000000000" pitchFamily="18" charset="-122"/>
                <a:ea typeface="思源宋体 CN Heavy" panose="02020900000000000000" pitchFamily="18" charset="-122"/>
              </a:rPr>
              <a:t>Wiki</a:t>
            </a:r>
            <a:endParaRPr lang="zh-CN" altLang="en-US"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1253661" y="1570450"/>
            <a:ext cx="4194810" cy="3932230"/>
          </a:xfrm>
          <a:prstGeom prst="rect">
            <a:avLst/>
          </a:prstGeom>
          <a:noFill/>
        </p:spPr>
        <p:txBody>
          <a:bodyPr wrap="square" rtlCol="0" anchor="t">
            <a:spAutoFit/>
          </a:bodyPr>
          <a:lstStyle/>
          <a:p>
            <a:pPr algn="l">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当地时间</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2023</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10</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月</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7</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日清晨，哈马斯宣布对以色列采取代号 “阿克萨洪水” 的军事行动。</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火箭弹饱和攻击：哈马斯在短时间内向以色列南部和中部发射了约</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5000</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枚火箭弹，特拉维夫和耶路撒冷等主要城市均响起防空警报。</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海陆空多维突袭：数百名哈马斯武装人员炸破隔离墙，乘坐摩托车、皮卡车、快艇和动力滑翔伞，从陆海空潜入以色列南部至少</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22</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个城镇和集体农庄，发动地面袭击。</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以色列宣布战争：以色列总理内塔尼亚胡随即宣布国家进入 “战争状态” ，以军发起代号 “铁剑” 的行动，对加沙地带展开大规模空袭。</a:t>
            </a: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pic>
        <p:nvPicPr>
          <p:cNvPr id="4" name="图片 3">
            <a:extLst>
              <a:ext uri="{FF2B5EF4-FFF2-40B4-BE49-F238E27FC236}">
                <a16:creationId xmlns:a16="http://schemas.microsoft.com/office/drawing/2014/main" id="{68CB9938-8D2B-0064-4840-06F1A0E124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45747" y="1838056"/>
            <a:ext cx="4080249" cy="2671974"/>
          </a:xfrm>
          <a:prstGeom prst="rect">
            <a:avLst/>
          </a:prstGeom>
        </p:spPr>
      </p:pic>
      <p:sp>
        <p:nvSpPr>
          <p:cNvPr id="10" name="文本框 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C6345C68-6C7E-B50F-D032-CB4E2A261367}"/>
              </a:ext>
            </a:extLst>
          </p:cNvPr>
          <p:cNvSpPr txBox="1"/>
          <p:nvPr/>
        </p:nvSpPr>
        <p:spPr>
          <a:xfrm>
            <a:off x="841962" y="634256"/>
            <a:ext cx="5018208"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阿克萨洪水</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Tree>
    <p:custDataLst>
      <p:tags r:id="rId1"/>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4" name="组合 3"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GrpSpPr/>
          <p:nvPr/>
        </p:nvGrpSpPr>
        <p:grpSpPr>
          <a:xfrm>
            <a:off x="2476577" y="416401"/>
            <a:ext cx="6769828" cy="1986401"/>
            <a:chOff x="2020" y="3288"/>
            <a:chExt cx="9702" cy="2760"/>
          </a:xfrm>
        </p:grpSpPr>
        <p:sp>
          <p:nvSpPr>
            <p:cNvPr id="48" name="文本框 47"/>
            <p:cNvSpPr txBox="1"/>
            <p:nvPr/>
          </p:nvSpPr>
          <p:spPr>
            <a:xfrm>
              <a:off x="2693" y="3288"/>
              <a:ext cx="9029" cy="727"/>
            </a:xfrm>
            <a:prstGeom prst="rect">
              <a:avLst/>
            </a:prstGeom>
            <a:noFill/>
          </p:spPr>
          <p:txBody>
            <a:bodyPr wrap="square" rtlCol="0" anchor="t">
              <a:spAutoFit/>
            </a:bodyPr>
            <a:lstStyle/>
            <a:p>
              <a:pPr>
                <a:lnSpc>
                  <a:spcPct val="100000"/>
                </a:lnSpc>
              </a:pPr>
              <a:r>
                <a:rPr lang="zh-CN" altLang="en-US" sz="28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巴以冲突：联合国关于问题的历史视频</a:t>
              </a:r>
              <a:endParaRPr sz="2800" b="1"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endParaRPr>
            </a:p>
          </p:txBody>
        </p:sp>
        <p:sp>
          <p:nvSpPr>
            <p:cNvPr id="50" name="文本框 49"/>
            <p:cNvSpPr txBox="1"/>
            <p:nvPr/>
          </p:nvSpPr>
          <p:spPr>
            <a:xfrm>
              <a:off x="2020" y="5454"/>
              <a:ext cx="7250" cy="594"/>
            </a:xfrm>
            <a:prstGeom prst="rect">
              <a:avLst/>
            </a:prstGeom>
            <a:noFill/>
          </p:spPr>
          <p:txBody>
            <a:bodyPr wrap="square" rtlCol="0" anchor="t">
              <a:spAutoFit/>
            </a:bodyPr>
            <a:lstStyle/>
            <a:p>
              <a:pPr algn="l">
                <a:lnSpc>
                  <a:spcPct val="150000"/>
                </a:lnSpc>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pic>
        <p:nvPicPr>
          <p:cNvPr id="5" name="index">
            <a:extLst>
              <a:ext uri="{FF2B5EF4-FFF2-40B4-BE49-F238E27FC236}">
                <a16:creationId xmlns:a16="http://schemas.microsoft.com/office/drawing/2014/main" id="{4F1E7B25-4A5E-E9FB-6E1A-B9FECED16170}"/>
              </a:ext>
            </a:extLst>
          </p:cNvPr>
          <p:cNvPicPr>
            <a:picLocks noChangeAspect="1"/>
          </p:cNvPicPr>
          <p:nvPr/>
        </p:nvPicPr>
        <p:blipFill>
          <a:blip r:embed="rId3"/>
          <a:stretch>
            <a:fillRect/>
          </a:stretch>
        </p:blipFill>
        <p:spPr>
          <a:xfrm>
            <a:off x="1668957" y="939631"/>
            <a:ext cx="8854085" cy="4980423"/>
          </a:xfrm>
          <a:prstGeom prst="rect">
            <a:avLst/>
          </a:prstGeom>
        </p:spPr>
      </p:pic>
    </p:spTree>
    <p:custDataLst>
      <p:tags r:id="rId1"/>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21B2589C-80B2-BD23-E62C-C6FC484AC56F}"/>
              </a:ext>
            </a:extLst>
          </p:cNvPr>
          <p:cNvPicPr>
            <a:picLocks noChangeAspect="1"/>
          </p:cNvPicPr>
          <p:nvPr/>
        </p:nvPicPr>
        <p:blipFill>
          <a:blip r:embed="rId3" cstate="print">
            <a:extLst>
              <a:ext uri="{28A0092B-C50C-407E-A947-70E740481C1C}">
                <a14:useLocalDpi xmlns:a14="http://schemas.microsoft.com/office/drawing/2010/main" val="0"/>
              </a:ext>
            </a:extLst>
          </a:blip>
          <a:srcRect l="2466" t="16807"/>
          <a:stretch>
            <a:fillRect/>
          </a:stretch>
        </p:blipFill>
        <p:spPr>
          <a:xfrm>
            <a:off x="3692370" y="1153767"/>
            <a:ext cx="4807256" cy="2704080"/>
          </a:xfrm>
          <a:prstGeom prst="rect">
            <a:avLst/>
          </a:prstGeom>
        </p:spPr>
      </p:pic>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
        <p:nvSpPr>
          <p:cNvPr id="6" name="文本框 5"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0CC5E6A7-8A89-A8C8-1073-94EC779ED3CD}"/>
              </a:ext>
            </a:extLst>
          </p:cNvPr>
          <p:cNvSpPr txBox="1"/>
          <p:nvPr/>
        </p:nvSpPr>
        <p:spPr>
          <a:xfrm>
            <a:off x="3444129" y="4407798"/>
            <a:ext cx="5303739" cy="1015663"/>
          </a:xfrm>
          <a:prstGeom prst="rect">
            <a:avLst/>
          </a:prstGeom>
          <a:noFill/>
        </p:spPr>
        <p:txBody>
          <a:bodyPr wrap="square" rtlCol="0" anchor="t">
            <a:spAutoFit/>
          </a:bodyPr>
          <a:lstStyle/>
          <a:p>
            <a:pPr algn="dist"/>
            <a:r>
              <a:rPr lang="en-US" sz="6000"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rPr>
              <a:t>Part </a:t>
            </a:r>
            <a:r>
              <a:rPr lang="en-US" sz="6000"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TWO</a:t>
            </a:r>
            <a:endParaRPr sz="6000"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endParaRPr>
          </a:p>
        </p:txBody>
      </p:sp>
      <p:sp>
        <p:nvSpPr>
          <p:cNvPr id="9" name="文本框 8"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C4DB6EFC-A3D9-D81B-6BA3-698FCCC96684}"/>
              </a:ext>
            </a:extLst>
          </p:cNvPr>
          <p:cNvSpPr txBox="1"/>
          <p:nvPr/>
        </p:nvSpPr>
        <p:spPr>
          <a:xfrm>
            <a:off x="3963293" y="3940174"/>
            <a:ext cx="4265410" cy="499624"/>
          </a:xfrm>
          <a:prstGeom prst="rect">
            <a:avLst/>
          </a:prstGeom>
          <a:noFill/>
        </p:spPr>
        <p:txBody>
          <a:bodyPr wrap="square" rtlCol="0" anchor="t">
            <a:spAutoFit/>
          </a:bodyPr>
          <a:lstStyle/>
          <a:p>
            <a:pPr algn="ctr">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巴以冲突：地缘政治的“无可奈何”</a:t>
            </a:r>
          </a:p>
        </p:txBody>
      </p:sp>
    </p:spTree>
    <p:custDataLst>
      <p:tags r:id="rId1"/>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pic>
        <p:nvPicPr>
          <p:cNvPr id="6" name="图片 5">
            <a:extLst>
              <a:ext uri="{FF2B5EF4-FFF2-40B4-BE49-F238E27FC236}">
                <a16:creationId xmlns:a16="http://schemas.microsoft.com/office/drawing/2014/main" id="{381C6C0D-08BB-2E52-1B7D-7F272B5224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46919" y="1022554"/>
            <a:ext cx="7298161" cy="4812892"/>
          </a:xfrm>
          <a:prstGeom prst="rect">
            <a:avLst/>
          </a:prstGeom>
        </p:spPr>
      </p:pic>
    </p:spTree>
    <p:custDataLst>
      <p:tags r:id="rId1"/>
    </p:custData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F8AC1-F307-615B-2A31-AF7E5AB4A63E}"/>
            </a:ext>
          </a:extLst>
        </p:cNvPr>
        <p:cNvGrpSpPr/>
        <p:nvPr/>
      </p:nvGrpSpPr>
      <p:grpSpPr>
        <a:xfrm>
          <a:off x="0" y="0"/>
          <a:ext cx="0" cy="0"/>
          <a:chOff x="0" y="0"/>
          <a:chExt cx="0" cy="0"/>
        </a:xfrm>
      </p:grpSpPr>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E3D0C47C-6B50-64A8-8587-81DDCA66A959}"/>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
        <p:nvSpPr>
          <p:cNvPr id="4" name="文本框 3">
            <a:extLst>
              <a:ext uri="{FF2B5EF4-FFF2-40B4-BE49-F238E27FC236}">
                <a16:creationId xmlns:a16="http://schemas.microsoft.com/office/drawing/2014/main" id="{FAC57222-B6E6-F6C6-9F87-7B7C31AC157E}"/>
              </a:ext>
            </a:extLst>
          </p:cNvPr>
          <p:cNvSpPr txBox="1"/>
          <p:nvPr/>
        </p:nvSpPr>
        <p:spPr>
          <a:xfrm>
            <a:off x="965773" y="987306"/>
            <a:ext cx="10260453" cy="4883388"/>
          </a:xfrm>
          <a:prstGeom prst="rect">
            <a:avLst/>
          </a:prstGeom>
          <a:noFill/>
        </p:spPr>
        <p:txBody>
          <a:bodyPr wrap="square">
            <a:spAutoFit/>
          </a:bodyPr>
          <a:lstStyle/>
          <a:p>
            <a:pPr>
              <a:lnSpc>
                <a:spcPct val="100000"/>
              </a:lnSpc>
              <a:spcBef>
                <a:spcPts val="675"/>
              </a:spcBef>
              <a:spcAft>
                <a:spcPts val="675"/>
              </a:spcAft>
              <a:buNone/>
            </a:pPr>
            <a:r>
              <a:rPr lang="zh-CN" altLang="zh-CN" sz="3200" b="1" dirty="0">
                <a:solidFill>
                  <a:schemeClr val="tx1"/>
                </a:solidFill>
                <a:effectLst/>
                <a:latin typeface="+mn-lt"/>
                <a:ea typeface="宋体" panose="02010600030101010101" pitchFamily="2" charset="-122"/>
                <a:cs typeface="宋体" panose="02010600030101010101" pitchFamily="2" charset="-122"/>
              </a:rPr>
              <a:t>区位本质：</a:t>
            </a:r>
            <a:r>
              <a:rPr lang="zh-CN" altLang="zh-CN" sz="3200" dirty="0">
                <a:solidFill>
                  <a:schemeClr val="tx1"/>
                </a:solidFill>
                <a:effectLst/>
                <a:latin typeface="+mn-lt"/>
                <a:ea typeface="宋体" panose="02010600030101010101" pitchFamily="2" charset="-122"/>
                <a:cs typeface="宋体" panose="02010600030101010101" pitchFamily="2" charset="-122"/>
              </a:rPr>
              <a:t>以色列位于地中海东岸的黎凡特地区（</a:t>
            </a:r>
            <a:r>
              <a:rPr lang="en-US" altLang="zh-CN" sz="3200" dirty="0">
                <a:solidFill>
                  <a:schemeClr val="tx1"/>
                </a:solidFill>
                <a:effectLst/>
                <a:latin typeface="+mn-lt"/>
                <a:ea typeface="宋体" panose="02010600030101010101" pitchFamily="2" charset="-122"/>
                <a:cs typeface="宋体" panose="02010600030101010101" pitchFamily="2" charset="-122"/>
              </a:rPr>
              <a:t>Levant</a:t>
            </a:r>
            <a:r>
              <a:rPr lang="zh-CN" altLang="zh-CN" sz="3200" dirty="0">
                <a:solidFill>
                  <a:schemeClr val="tx1"/>
                </a:solidFill>
                <a:effectLst/>
                <a:latin typeface="+mn-lt"/>
                <a:ea typeface="宋体" panose="02010600030101010101" pitchFamily="2" charset="-122"/>
                <a:cs typeface="宋体" panose="02010600030101010101" pitchFamily="2" charset="-122"/>
              </a:rPr>
              <a:t>），地处亚、非、欧三大洲交汇点，是连接尼罗河文明与两河文明、地中海与印度洋的陆上走廊。</a:t>
            </a:r>
            <a:endParaRPr lang="zh-CN" altLang="zh-CN" sz="32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en-US" altLang="zh-CN" sz="3200" b="1" dirty="0">
                <a:solidFill>
                  <a:schemeClr val="tx1"/>
                </a:solidFill>
                <a:effectLst/>
                <a:latin typeface="+mn-lt"/>
                <a:ea typeface="Noto Serif SC" panose="02020200000000000000" pitchFamily="18" charset="-122"/>
                <a:cs typeface="宋体" panose="02010600030101010101" pitchFamily="2" charset="-122"/>
              </a:rPr>
              <a:t>"</a:t>
            </a:r>
            <a:r>
              <a:rPr lang="zh-CN" altLang="zh-CN" sz="3200" b="1" dirty="0">
                <a:solidFill>
                  <a:schemeClr val="tx1"/>
                </a:solidFill>
                <a:effectLst/>
                <a:latin typeface="+mn-lt"/>
                <a:ea typeface="宋体" panose="02010600030101010101" pitchFamily="2" charset="-122"/>
                <a:cs typeface="宋体" panose="02010600030101010101" pitchFamily="2" charset="-122"/>
              </a:rPr>
              <a:t>新月沃地</a:t>
            </a:r>
            <a:r>
              <a:rPr lang="en-US" altLang="zh-CN" sz="3200" b="1" dirty="0">
                <a:solidFill>
                  <a:schemeClr val="tx1"/>
                </a:solidFill>
                <a:effectLst/>
                <a:latin typeface="+mn-lt"/>
                <a:ea typeface="宋体" panose="02010600030101010101" pitchFamily="2" charset="-122"/>
                <a:cs typeface="宋体" panose="02010600030101010101" pitchFamily="2" charset="-122"/>
              </a:rPr>
              <a:t>"</a:t>
            </a:r>
            <a:r>
              <a:rPr lang="zh-CN" altLang="zh-CN" sz="3200" b="1" dirty="0">
                <a:solidFill>
                  <a:schemeClr val="tx1"/>
                </a:solidFill>
                <a:effectLst/>
                <a:latin typeface="+mn-lt"/>
                <a:ea typeface="宋体" panose="02010600030101010101" pitchFamily="2" charset="-122"/>
                <a:cs typeface="宋体" panose="02010600030101010101" pitchFamily="2" charset="-122"/>
              </a:rPr>
              <a:t>西端：</a:t>
            </a:r>
            <a:r>
              <a:rPr lang="zh-CN" altLang="zh-CN" sz="3200" dirty="0">
                <a:solidFill>
                  <a:schemeClr val="tx1"/>
                </a:solidFill>
                <a:effectLst/>
                <a:latin typeface="+mn-lt"/>
                <a:ea typeface="宋体" panose="02010600030101010101" pitchFamily="2" charset="-122"/>
                <a:cs typeface="宋体" panose="02010600030101010101" pitchFamily="2" charset="-122"/>
              </a:rPr>
              <a:t>这里自古就是商路与征伐的必经之地，埃及、亚述、巴比伦、波斯、罗马、奥斯曼等帝国都曾争夺过这片土地。</a:t>
            </a:r>
            <a:endParaRPr lang="zh-CN" altLang="zh-CN" sz="32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zh-CN" altLang="zh-CN" sz="3200" b="1" dirty="0">
                <a:solidFill>
                  <a:schemeClr val="tx1"/>
                </a:solidFill>
                <a:effectLst/>
                <a:latin typeface="+mn-lt"/>
                <a:ea typeface="宋体" panose="02010600030101010101" pitchFamily="2" charset="-122"/>
                <a:cs typeface="宋体" panose="02010600030101010101" pitchFamily="2" charset="-122"/>
              </a:rPr>
              <a:t>双重属性：</a:t>
            </a:r>
            <a:r>
              <a:rPr lang="zh-CN" altLang="zh-CN" sz="3200" dirty="0">
                <a:solidFill>
                  <a:schemeClr val="tx1"/>
                </a:solidFill>
                <a:effectLst/>
                <a:latin typeface="+mn-lt"/>
                <a:ea typeface="宋体" panose="02010600030101010101" pitchFamily="2" charset="-122"/>
                <a:cs typeface="宋体" panose="02010600030101010101" pitchFamily="2" charset="-122"/>
              </a:rPr>
              <a:t>优越的区位带来贸易枢纽的繁荣，也带来被大国反复争夺的命运——这正是</a:t>
            </a:r>
            <a:r>
              <a:rPr lang="en-US" altLang="zh-CN" sz="3200" dirty="0">
                <a:solidFill>
                  <a:schemeClr val="tx1"/>
                </a:solidFill>
                <a:effectLst/>
                <a:latin typeface="+mn-lt"/>
                <a:ea typeface="宋体" panose="02010600030101010101" pitchFamily="2" charset="-122"/>
                <a:cs typeface="宋体" panose="02010600030101010101" pitchFamily="2" charset="-122"/>
              </a:rPr>
              <a:t>"</a:t>
            </a:r>
            <a:r>
              <a:rPr lang="zh-CN" altLang="zh-CN" sz="3200" dirty="0">
                <a:solidFill>
                  <a:schemeClr val="tx1"/>
                </a:solidFill>
                <a:effectLst/>
                <a:latin typeface="+mn-lt"/>
                <a:ea typeface="宋体" panose="02010600030101010101" pitchFamily="2" charset="-122"/>
                <a:cs typeface="宋体" panose="02010600030101010101" pitchFamily="2" charset="-122"/>
              </a:rPr>
              <a:t>地缘政治的牺牲品</a:t>
            </a:r>
            <a:r>
              <a:rPr lang="en-US" altLang="zh-CN" sz="3200" dirty="0">
                <a:solidFill>
                  <a:schemeClr val="tx1"/>
                </a:solidFill>
                <a:effectLst/>
                <a:latin typeface="+mn-lt"/>
                <a:ea typeface="宋体" panose="02010600030101010101" pitchFamily="2" charset="-122"/>
                <a:cs typeface="宋体" panose="02010600030101010101" pitchFamily="2" charset="-122"/>
              </a:rPr>
              <a:t>"</a:t>
            </a:r>
            <a:r>
              <a:rPr lang="zh-CN" altLang="zh-CN" sz="3200" dirty="0">
                <a:solidFill>
                  <a:schemeClr val="tx1"/>
                </a:solidFill>
                <a:effectLst/>
                <a:latin typeface="+mn-lt"/>
                <a:ea typeface="宋体" panose="02010600030101010101" pitchFamily="2" charset="-122"/>
                <a:cs typeface="宋体" panose="02010600030101010101" pitchFamily="2" charset="-122"/>
              </a:rPr>
              <a:t>这一命题的地理根源。</a:t>
            </a:r>
            <a:endParaRPr lang="zh-CN" altLang="zh-CN" dirty="0">
              <a:solidFill>
                <a:srgbClr val="1A1A1A"/>
              </a:solidFill>
              <a:effectLst/>
              <a:latin typeface="Noto Serif SC" panose="02020200000000000000" pitchFamily="18" charset="-122"/>
              <a:ea typeface="Noto Serif SC" panose="02020200000000000000" pitchFamily="18"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40824359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CE07C-39A7-B1F7-8627-878D0BC333AB}"/>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FC873677-61D7-E316-7EAE-D0C3141F0F6D}"/>
              </a:ext>
            </a:extLst>
          </p:cNvPr>
          <p:cNvSpPr txBox="1"/>
          <p:nvPr/>
        </p:nvSpPr>
        <p:spPr>
          <a:xfrm>
            <a:off x="281308" y="2698543"/>
            <a:ext cx="5018208"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抵抗之弧</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1424586A-CE5C-41D6-D221-BC50DC0349EB}"/>
              </a:ext>
            </a:extLst>
          </p:cNvPr>
          <p:cNvSpPr txBox="1"/>
          <p:nvPr/>
        </p:nvSpPr>
        <p:spPr>
          <a:xfrm>
            <a:off x="4705026" y="1199479"/>
            <a:ext cx="6351337" cy="4459041"/>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抵抗之弧”是理解当前中东地缘格局，特别是以色列与巴以冲突的关键。它本质上是伊朗主导的一个跨国军事与政治网络，核心目标是反美、反以，并以此对抗美国在中东的影响力及以色列的安全诉求。它并非基于正式条约的军事同盟，而是一个围绕共同意识形态构建的网络。成员跨越了逊尼派与什叶派的教派界限，形成了“分布式威慑”。</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A8901F5B-6008-D6C4-44BA-A06714B20DB1}"/>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217014934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78F7C-01C8-6FB9-6AB3-122F8AEF9DDD}"/>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5C9D2899-F8C2-94AE-5F27-98C711A4E2C8}"/>
              </a:ext>
            </a:extLst>
          </p:cNvPr>
          <p:cNvSpPr txBox="1"/>
          <p:nvPr/>
        </p:nvSpPr>
        <p:spPr>
          <a:xfrm>
            <a:off x="287982" y="2513877"/>
            <a:ext cx="5018208" cy="183024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抵抗之弧</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主要组成</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AF42EE66-20E3-08C7-28A3-75B18681E4BA}"/>
              </a:ext>
            </a:extLst>
          </p:cNvPr>
          <p:cNvSpPr txBox="1"/>
          <p:nvPr/>
        </p:nvSpPr>
        <p:spPr>
          <a:xfrm>
            <a:off x="4685002" y="914305"/>
            <a:ext cx="6351337" cy="5029390"/>
          </a:xfrm>
          <a:prstGeom prst="rect">
            <a:avLst/>
          </a:prstGeom>
          <a:noFill/>
        </p:spPr>
        <p:txBody>
          <a:bodyPr wrap="square" rtlCol="0" anchor="t">
            <a:spAutoFit/>
          </a:bodyPr>
          <a:lstStyle/>
          <a:p>
            <a:pPr algn="l">
              <a:lnSpc>
                <a:spcPct val="150000"/>
              </a:lnSpc>
            </a:pP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伊朗：网络的核心与主导者，提供资金、武器、训练和战略指导。</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黎巴嫩真主党：军事实力最强、组织最严密的成员，被视为伊朗海外力量的重要支点。</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巴勒斯坦</a:t>
            </a:r>
            <a:r>
              <a:rPr lang="zh-CN" altLang="en-US" dirty="0">
                <a:solidFill>
                  <a:srgbClr val="FF0000"/>
                </a:solidFill>
                <a:latin typeface="微软雅黑" panose="020B0503020204020204" pitchFamily="34" charset="-122"/>
                <a:ea typeface="微软雅黑" panose="020B0503020204020204" pitchFamily="34" charset="-122"/>
              </a:rPr>
              <a:t>哈马斯</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：重要的逊尼派成员，其军事力量在</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2023</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年冲突后遭受严重打击，大规模作战能力受限。</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也门胡塞武装：在红海方向对以色列及西方目标构成威胁，拥有封锁曼德海峡的能力。</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伊拉克什叶派民兵：在伊拉克境内活动，常袭击美军目标，是网络中的重要节点。</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叙利亚（</a:t>
            </a:r>
            <a:r>
              <a:rPr lang="zh-CN" altLang="en-US" dirty="0">
                <a:solidFill>
                  <a:srgbClr val="FF0000"/>
                </a:solidFill>
                <a:latin typeface="微软雅黑" panose="020B0503020204020204" pitchFamily="34" charset="-122"/>
                <a:ea typeface="微软雅黑" panose="020B0503020204020204" pitchFamily="34" charset="-122"/>
              </a:rPr>
              <a:t>阿萨德</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政权）：曾是连接伊朗与真主党的关键“陆地桥梁”，但阿萨德政权的崩溃对该网络造成了结构性打击。</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D65193C5-5AFE-003C-1BEE-19977869B373}"/>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278139759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E5E6-153F-528C-1B53-CF57B1E6257B}"/>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1F57A649-CD43-2123-BCA5-B37DB1959BA2}"/>
              </a:ext>
            </a:extLst>
          </p:cNvPr>
          <p:cNvSpPr txBox="1"/>
          <p:nvPr/>
        </p:nvSpPr>
        <p:spPr>
          <a:xfrm>
            <a:off x="794776" y="2513877"/>
            <a:ext cx="2909081" cy="183024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黎巴嫩</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真主党</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0267DFCE-F04E-B198-5E37-2437D6EF5AC6}"/>
              </a:ext>
            </a:extLst>
          </p:cNvPr>
          <p:cNvSpPr txBox="1"/>
          <p:nvPr/>
        </p:nvSpPr>
        <p:spPr>
          <a:xfrm>
            <a:off x="3703857" y="575589"/>
            <a:ext cx="7722806" cy="5567037"/>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黎巴嫩真主党（</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Hezbollah</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）是一个兼具合法政党、社会服务提供者和武装力量三重身份的复合型组织。它既是黎巴嫩议会中的重要政治力量，也因拥有独立武装而被视为中东军力最强的非国家行为体之一。起源与历史演变真主党诞生于</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1982</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年以色列入侵黎巴嫩的背景之下。当时，黎巴嫩什叶派聚居区深受冲击，在伊朗的支持下，各什叶派武装力量整合，真主党应运而生，其初衷是抵抗以色列的占领。</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1989</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年结束内战的</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塔伊夫协议</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本要求解散所有民兵，但真主党以“继续抵抗以色列”为由，成为唯一获准保留独立武装的政治派别。</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47E570A1-AB03-D590-B335-8ABA67397838}"/>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2510991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8AB37-2D79-785F-BE6A-29A302A0E124}"/>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98CF8928-EE4D-2FBD-FA07-8A4F76D39BC9}"/>
              </a:ext>
            </a:extLst>
          </p:cNvPr>
          <p:cNvSpPr txBox="1"/>
          <p:nvPr/>
        </p:nvSpPr>
        <p:spPr>
          <a:xfrm>
            <a:off x="1308709" y="2925672"/>
            <a:ext cx="2909081"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焦土政策</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0FF309AC-EEDA-D095-B74D-02492266B6B8}"/>
              </a:ext>
            </a:extLst>
          </p:cNvPr>
          <p:cNvSpPr txBox="1"/>
          <p:nvPr/>
        </p:nvSpPr>
        <p:spPr>
          <a:xfrm>
            <a:off x="4865212" y="722427"/>
            <a:ext cx="6080890" cy="5567037"/>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“焦土政策”在黎以冲突的语境下，指的是以色列在黎巴嫩南部系统性摧毁城镇、村庄及民用基础设施，以制造“无人区”来换取自身安全的军事策略。</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以色列的核心逻辑是：如果黎南部变成一片无人居住的废墟，真主党就失去了群众基础和后勤依托，对以色列的威胁自然降低。以国防部长卡茨曾直言：“有恐怖主义和导弹的地方，就没有房屋，也没有居民。”</a:t>
            </a:r>
          </a:p>
          <a:p>
            <a:pPr algn="l">
              <a:lnSpc>
                <a:spcPct val="150000"/>
              </a:lnSpc>
            </a:pP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421C6695-6307-7A21-1DC4-F52C235B366C}"/>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375518353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A41C4-FC6E-1E9A-952E-DE45523A37F0}"/>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6A070EB4-7658-8095-0E4E-936D761ACD78}"/>
              </a:ext>
            </a:extLst>
          </p:cNvPr>
          <p:cNvSpPr txBox="1"/>
          <p:nvPr/>
        </p:nvSpPr>
        <p:spPr>
          <a:xfrm>
            <a:off x="1308709" y="2925672"/>
            <a:ext cx="2909081"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巴解组织</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C9099E5A-4C29-7D15-CDF6-1760436EDC32}"/>
              </a:ext>
            </a:extLst>
          </p:cNvPr>
          <p:cNvSpPr txBox="1"/>
          <p:nvPr/>
        </p:nvSpPr>
        <p:spPr>
          <a:xfrm>
            <a:off x="4672705" y="752506"/>
            <a:ext cx="6354235" cy="5013039"/>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巴勒斯坦解放组织（巴解）的建立，是巴勒斯坦民族意识觉醒与阿拉伯国家地缘政治博弈共同作用的结果。</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1948</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年以色列建国后，大量巴勒斯坦人流离失所，成为难民。他们被剥夺了国籍和公民权利，这种处境催生了强烈的巴勒斯坦民族意识</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即需要建立一个能代表自身、争取回归家园权利的政治实体。</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1964</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年巴解组织的成立，正是这种“民族意识”的制度化体现。</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0F17FE35-9F19-3420-F31A-3038ADE509E6}"/>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363806333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4E1A6-CC93-43EC-F32B-2A0A65298FB4}"/>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4A9B5B0B-A716-25D3-E8F3-3F80AF0AF279}"/>
              </a:ext>
            </a:extLst>
          </p:cNvPr>
          <p:cNvPicPr>
            <a:picLocks noChangeAspect="1"/>
          </p:cNvPicPr>
          <p:nvPr/>
        </p:nvPicPr>
        <p:blipFill>
          <a:blip r:embed="rId2">
            <a:extLst>
              <a:ext uri="{28A0092B-C50C-407E-A947-70E740481C1C}">
                <a14:useLocalDpi xmlns:a14="http://schemas.microsoft.com/office/drawing/2010/main" val="0"/>
              </a:ext>
            </a:extLst>
          </a:blip>
          <a:srcRect l="-365" t="-430" r="365" b="62494"/>
          <a:stretch>
            <a:fillRect/>
          </a:stretch>
        </p:blipFill>
        <p:spPr>
          <a:xfrm>
            <a:off x="710858" y="491120"/>
            <a:ext cx="10949910" cy="5875759"/>
          </a:xfrm>
          <a:prstGeom prst="rect">
            <a:avLst/>
          </a:prstGeom>
        </p:spPr>
      </p:pic>
    </p:spTree>
    <p:extLst>
      <p:ext uri="{BB962C8B-B14F-4D97-AF65-F5344CB8AC3E}">
        <p14:creationId xmlns:p14="http://schemas.microsoft.com/office/powerpoint/2010/main" val="398062175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354F6-DF3A-8C78-510D-5F879139B49A}"/>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E6154B0A-6EE8-0056-246F-B2D3AF9760C1}"/>
              </a:ext>
            </a:extLst>
          </p:cNvPr>
          <p:cNvSpPr txBox="1"/>
          <p:nvPr/>
        </p:nvSpPr>
        <p:spPr>
          <a:xfrm>
            <a:off x="281308" y="2698543"/>
            <a:ext cx="5018208"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约旦</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8C957851-8D19-6122-C169-8DF283D44A07}"/>
              </a:ext>
            </a:extLst>
          </p:cNvPr>
          <p:cNvSpPr txBox="1"/>
          <p:nvPr/>
        </p:nvSpPr>
        <p:spPr>
          <a:xfrm>
            <a:off x="4638852" y="1085179"/>
            <a:ext cx="6351337" cy="4459041"/>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约旦和以色列的地缘政治关系，核心是 “冷和平”下的深度不对称依赖：表面上维持着</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1994</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年以来的和平条约，但近年来已降至建交以来的最低点，双方在安全合作与政治对抗之间艰难摇摆。约旦在安全上需要以色列和美国的支持，但在民意和政治上又必须与以色列保持距离。随着以色列在约旦河西岸的行动加剧，这种脆弱的平衡正面临前所未有的考验。</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0AD1DB68-DB18-4CC2-2A77-B951B62E7797}"/>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109111539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8ADC8-0DF8-A756-58B6-842967C590D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CA74E6A-2C72-3C73-41E9-E4E532CB1B1C}"/>
              </a:ext>
            </a:extLst>
          </p:cNvPr>
          <p:cNvPicPr>
            <a:picLocks noChangeAspect="1"/>
          </p:cNvPicPr>
          <p:nvPr/>
        </p:nvPicPr>
        <p:blipFill>
          <a:blip r:embed="rId2">
            <a:extLst>
              <a:ext uri="{28A0092B-C50C-407E-A947-70E740481C1C}">
                <a14:useLocalDpi xmlns:a14="http://schemas.microsoft.com/office/drawing/2010/main" val="0"/>
              </a:ext>
            </a:extLst>
          </a:blip>
          <a:srcRect l="313" t="38150" r="8305" b="22279"/>
          <a:stretch>
            <a:fillRect/>
          </a:stretch>
        </p:blipFill>
        <p:spPr>
          <a:xfrm>
            <a:off x="1202484" y="431641"/>
            <a:ext cx="9787032" cy="5994717"/>
          </a:xfrm>
          <a:prstGeom prst="rect">
            <a:avLst/>
          </a:prstGeom>
        </p:spPr>
      </p:pic>
    </p:spTree>
    <p:extLst>
      <p:ext uri="{BB962C8B-B14F-4D97-AF65-F5344CB8AC3E}">
        <p14:creationId xmlns:p14="http://schemas.microsoft.com/office/powerpoint/2010/main" val="91107523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F185893-3A17-2FBA-9EC4-F7D6A07A5C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9334" y="1024198"/>
            <a:ext cx="6386262" cy="4809604"/>
          </a:xfrm>
          <a:prstGeom prst="rect">
            <a:avLst/>
          </a:prstGeom>
        </p:spPr>
      </p:pic>
      <p:sp>
        <p:nvSpPr>
          <p:cNvPr id="5" name="文本框 4"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05C84155-6ABA-7B6C-B841-8495A70FBB26}"/>
              </a:ext>
            </a:extLst>
          </p:cNvPr>
          <p:cNvSpPr txBox="1"/>
          <p:nvPr/>
        </p:nvSpPr>
        <p:spPr>
          <a:xfrm>
            <a:off x="7838643" y="2596274"/>
            <a:ext cx="3274023" cy="183024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约旦河西岸的难民</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Tree>
    <p:extLst>
      <p:ext uri="{BB962C8B-B14F-4D97-AF65-F5344CB8AC3E}">
        <p14:creationId xmlns:p14="http://schemas.microsoft.com/office/powerpoint/2010/main" val="363076423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CD544-0CFB-A329-E73E-96E5BBFC6F9B}"/>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1F523D7F-F90E-38D3-DF7E-F06FDF57E57D}"/>
              </a:ext>
            </a:extLst>
          </p:cNvPr>
          <p:cNvSpPr txBox="1"/>
          <p:nvPr/>
        </p:nvSpPr>
        <p:spPr>
          <a:xfrm>
            <a:off x="-91671" y="2710575"/>
            <a:ext cx="5018208"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埃及</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F30324CF-629C-D285-AB24-3E39AEBB79FF}"/>
              </a:ext>
            </a:extLst>
          </p:cNvPr>
          <p:cNvSpPr txBox="1"/>
          <p:nvPr/>
        </p:nvSpPr>
        <p:spPr>
          <a:xfrm>
            <a:off x="4157589" y="794084"/>
            <a:ext cx="7134048" cy="5013039"/>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埃及和以色列的关系，核心是 “冷和平”下的战略捆绑与深层互疑：</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1979</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年的和平条约是基石，但加沙战争让双方在“维持协议”与“互相指责”之间剧烈摇摆，关系降至数十年来最低点。</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埃及与以色列的关系是一种 “被迫共存”：双方都深知撕毁和平协议的代价无法承受，能源利益和美国的担保也提供了黏合剂。但加沙战争暴露了这条纽带的脆弱性，埃及在民意与安全利益之间艰难平衡，而以色列的强硬政策正不断试探开罗的底线。</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6B2A82BE-AE3E-EE87-FB02-A9B939E9BC45}"/>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33438242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11EDA-D37F-8C1E-3F65-02221E7C58E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617C1D8-FADC-09C9-C0F2-98E6F503DBAC}"/>
              </a:ext>
            </a:extLst>
          </p:cNvPr>
          <p:cNvPicPr>
            <a:picLocks noChangeAspect="1"/>
          </p:cNvPicPr>
          <p:nvPr/>
        </p:nvPicPr>
        <p:blipFill>
          <a:blip r:embed="rId2">
            <a:extLst>
              <a:ext uri="{28A0092B-C50C-407E-A947-70E740481C1C}">
                <a14:useLocalDpi xmlns:a14="http://schemas.microsoft.com/office/drawing/2010/main" val="0"/>
              </a:ext>
            </a:extLst>
          </a:blip>
          <a:srcRect l="2869" t="3613" r="12442" b="67914"/>
          <a:stretch>
            <a:fillRect/>
          </a:stretch>
        </p:blipFill>
        <p:spPr>
          <a:xfrm>
            <a:off x="772817" y="873113"/>
            <a:ext cx="10748624" cy="5111773"/>
          </a:xfrm>
          <a:prstGeom prst="rect">
            <a:avLst/>
          </a:prstGeom>
        </p:spPr>
      </p:pic>
    </p:spTree>
    <p:extLst>
      <p:ext uri="{BB962C8B-B14F-4D97-AF65-F5344CB8AC3E}">
        <p14:creationId xmlns:p14="http://schemas.microsoft.com/office/powerpoint/2010/main" val="294080134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D624D-BFCE-4AC2-4BB7-3EAF55A661D7}"/>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17626535-96D0-9E3E-4A12-B63A8747A38D}"/>
              </a:ext>
            </a:extLst>
          </p:cNvPr>
          <p:cNvSpPr txBox="1"/>
          <p:nvPr/>
        </p:nvSpPr>
        <p:spPr>
          <a:xfrm>
            <a:off x="-91671" y="2710575"/>
            <a:ext cx="5018208"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叙利亚</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AE5A6A86-BE8E-71E8-AA7E-B12FE375C1C5}"/>
              </a:ext>
            </a:extLst>
          </p:cNvPr>
          <p:cNvSpPr txBox="1"/>
          <p:nvPr/>
        </p:nvSpPr>
        <p:spPr>
          <a:xfrm>
            <a:off x="4091415" y="934511"/>
            <a:ext cx="7134048" cy="4459041"/>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叙利亚与以色列的关系，核心是 “不战不和”的长期敌对状态，围绕 戈兰高地 的占领与争夺是死结。</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2024</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年底叙利亚政局剧变后，双方在美国斡旋下开启安全谈判，但信任赤字与军事行动仍在持续。</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叙利亚与以色列的关系，正处在从“长期僵持”向“不确定谈判”过渡的节点。戈兰高地的最终地位被叙方搁置为“为时过早”的议题，但以色列的军事行动与领土野心，让任何协议都显得遥不可及。</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541E7BC7-8082-01E6-249B-CD8B47663E39}"/>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214115980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70AEC-CD6C-6747-21C6-9D9F5B7BFE7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485ED79-8D32-F6FB-88ED-34BF99171AB0}"/>
              </a:ext>
            </a:extLst>
          </p:cNvPr>
          <p:cNvPicPr>
            <a:picLocks noChangeAspect="1"/>
          </p:cNvPicPr>
          <p:nvPr/>
        </p:nvPicPr>
        <p:blipFill>
          <a:blip r:embed="rId2">
            <a:extLst>
              <a:ext uri="{28A0092B-C50C-407E-A947-70E740481C1C}">
                <a14:useLocalDpi xmlns:a14="http://schemas.microsoft.com/office/drawing/2010/main" val="0"/>
              </a:ext>
            </a:extLst>
          </a:blip>
          <a:srcRect t="37434" r="253" b="22738"/>
          <a:stretch>
            <a:fillRect/>
          </a:stretch>
        </p:blipFill>
        <p:spPr>
          <a:xfrm>
            <a:off x="886371" y="513925"/>
            <a:ext cx="10322403" cy="5830150"/>
          </a:xfrm>
          <a:prstGeom prst="rect">
            <a:avLst/>
          </a:prstGeom>
        </p:spPr>
      </p:pic>
    </p:spTree>
    <p:extLst>
      <p:ext uri="{BB962C8B-B14F-4D97-AF65-F5344CB8AC3E}">
        <p14:creationId xmlns:p14="http://schemas.microsoft.com/office/powerpoint/2010/main" val="313933265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06481-78D9-DB36-D4D4-AEB91E215395}"/>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8FCA0562-77CF-C420-453D-7E1F3594A517}"/>
              </a:ext>
            </a:extLst>
          </p:cNvPr>
          <p:cNvSpPr txBox="1"/>
          <p:nvPr/>
        </p:nvSpPr>
        <p:spPr>
          <a:xfrm>
            <a:off x="-91671" y="2710575"/>
            <a:ext cx="5018208"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阿萨德</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46A926A2-2DCA-6E22-222B-564C8C0D5ABE}"/>
              </a:ext>
            </a:extLst>
          </p:cNvPr>
          <p:cNvSpPr txBox="1"/>
          <p:nvPr/>
        </p:nvSpPr>
        <p:spPr>
          <a:xfrm>
            <a:off x="4127510" y="1082842"/>
            <a:ext cx="7134048" cy="4459041"/>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“阿萨德”在黎以冲突的语境下，通常指向叙利亚阿萨德政权与黎巴嫩真主党之间长达数十年的战略同盟关系。不过，这个同盟已在 </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2024</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12</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月 随着阿萨德政权的垮台而实质性终结。</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曾经的“抵抗轴心”基石在巴沙尔</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阿萨德执政时期，叙利亚是伊朗向真主党输送武器的关键陆路通道，也是“抵抗轴心”的重要一环。真主党曾在叙利亚内战中出兵支持阿萨德政权，帮助其稳住阵脚。</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EBEE83A7-64A3-0848-50BA-B1B4DCB7F666}"/>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159474342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A3F40-6835-9C38-C32B-603D63DD2F33}"/>
            </a:ext>
          </a:extLst>
        </p:cNvPr>
        <p:cNvGrpSpPr/>
        <p:nvPr/>
      </p:nvGrpSpPr>
      <p:grpSpPr>
        <a:xfrm>
          <a:off x="0" y="0"/>
          <a:ext cx="0" cy="0"/>
          <a:chOff x="0" y="0"/>
          <a:chExt cx="0" cy="0"/>
        </a:xfrm>
      </p:grpSpPr>
      <p:sp>
        <p:nvSpPr>
          <p:cNvPr id="48" name="文本框 47"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2FBCC72D-FC08-3933-3B4F-B66743981EAC}"/>
              </a:ext>
            </a:extLst>
          </p:cNvPr>
          <p:cNvSpPr txBox="1"/>
          <p:nvPr/>
        </p:nvSpPr>
        <p:spPr>
          <a:xfrm>
            <a:off x="-91671" y="2710575"/>
            <a:ext cx="5018208"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也门</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
        <p:nvSpPr>
          <p:cNvPr id="50" name="文本框 49"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F575297E-C1B8-FC3D-67E6-FA9E3DA29739}"/>
              </a:ext>
            </a:extLst>
          </p:cNvPr>
          <p:cNvSpPr txBox="1"/>
          <p:nvPr/>
        </p:nvSpPr>
        <p:spPr>
          <a:xfrm>
            <a:off x="4031257" y="1046747"/>
            <a:ext cx="7134048" cy="4459041"/>
          </a:xfrm>
          <a:prstGeom prst="rect">
            <a:avLst/>
          </a:prstGeom>
          <a:noFill/>
        </p:spPr>
        <p:txBody>
          <a:bodyPr wrap="square" rtlCol="0" anchor="t">
            <a:spAutoFit/>
          </a:bodyPr>
          <a:lstStyle/>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也门与以色列的关系，核心是 “非国家行为体主导的对抗”</a:t>
            </a:r>
            <a:r>
              <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双方没有正式外交关系，也门政府无力控制全局，真正与以色列交锋的是伊朗支持的胡塞武装。</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l">
              <a:lnSpc>
                <a:spcPct val="15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也门与以色列的关系本质上是伊朗与以色列代理战争的一条新战线。胡塞武装通过远程打击和扼守曼德海峡，正从“地方武装”演变为影响中东全局的战略变量。</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616A648E-5787-5870-2A2A-DBB988EBAD60}"/>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extLst>
      <p:ext uri="{BB962C8B-B14F-4D97-AF65-F5344CB8AC3E}">
        <p14:creationId xmlns:p14="http://schemas.microsoft.com/office/powerpoint/2010/main" val="202979149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6A7DB-B5B9-7E98-B585-57887E753835}"/>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3209C1E8-EAA6-0488-F039-C2F18345D2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30795" y="858356"/>
            <a:ext cx="8130409" cy="5141288"/>
          </a:xfrm>
          <a:prstGeom prst="rect">
            <a:avLst/>
          </a:prstGeom>
        </p:spPr>
      </p:pic>
    </p:spTree>
    <p:extLst>
      <p:ext uri="{BB962C8B-B14F-4D97-AF65-F5344CB8AC3E}">
        <p14:creationId xmlns:p14="http://schemas.microsoft.com/office/powerpoint/2010/main" val="168217987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57029-BE1F-54DE-6CF6-28918072408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B39CF18-4926-9D72-F50F-BC05F947FE5F}"/>
              </a:ext>
            </a:extLst>
          </p:cNvPr>
          <p:cNvSpPr txBox="1"/>
          <p:nvPr/>
        </p:nvSpPr>
        <p:spPr>
          <a:xfrm>
            <a:off x="1007315" y="875036"/>
            <a:ext cx="10284050" cy="5370701"/>
          </a:xfrm>
          <a:prstGeom prst="rect">
            <a:avLst/>
          </a:prstGeom>
          <a:noFill/>
        </p:spPr>
        <p:txBody>
          <a:bodyPr wrap="square">
            <a:spAutoFit/>
          </a:bodyPr>
          <a:lstStyle/>
          <a:p>
            <a:pPr>
              <a:lnSpc>
                <a:spcPct val="100000"/>
              </a:lnSpc>
              <a:spcBef>
                <a:spcPts val="675"/>
              </a:spcBef>
              <a:spcAft>
                <a:spcPts val="675"/>
              </a:spcAft>
              <a:buNone/>
            </a:pPr>
            <a:r>
              <a:rPr lang="zh-CN" altLang="zh-CN" sz="2800" b="1" dirty="0">
                <a:solidFill>
                  <a:schemeClr val="tx1"/>
                </a:solidFill>
                <a:effectLst/>
                <a:latin typeface="+mn-lt"/>
                <a:ea typeface="宋体" panose="02010600030101010101" pitchFamily="2" charset="-122"/>
                <a:cs typeface="宋体" panose="02010600030101010101" pitchFamily="2" charset="-122"/>
              </a:rPr>
              <a:t>边界从未定型：</a:t>
            </a:r>
            <a:r>
              <a:rPr lang="zh-CN" altLang="zh-CN" sz="2800" dirty="0">
                <a:solidFill>
                  <a:schemeClr val="tx1"/>
                </a:solidFill>
                <a:effectLst/>
                <a:latin typeface="+mn-lt"/>
                <a:ea typeface="宋体" panose="02010600030101010101" pitchFamily="2" charset="-122"/>
                <a:cs typeface="宋体" panose="02010600030101010101" pitchFamily="2" charset="-122"/>
              </a:rPr>
              <a:t>以色列是极少数</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没有宪法规定的正式国界</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的国家之一。联合国</a:t>
            </a:r>
            <a:r>
              <a:rPr lang="en-US" altLang="zh-CN" sz="2800" dirty="0">
                <a:solidFill>
                  <a:schemeClr val="tx1"/>
                </a:solidFill>
                <a:effectLst/>
                <a:latin typeface="+mn-lt"/>
                <a:ea typeface="宋体" panose="02010600030101010101" pitchFamily="2" charset="-122"/>
                <a:cs typeface="宋体" panose="02010600030101010101" pitchFamily="2" charset="-122"/>
              </a:rPr>
              <a:t> 181 </a:t>
            </a:r>
            <a:r>
              <a:rPr lang="zh-CN" altLang="zh-CN" sz="2800" dirty="0">
                <a:solidFill>
                  <a:schemeClr val="tx1"/>
                </a:solidFill>
                <a:effectLst/>
                <a:latin typeface="+mn-lt"/>
                <a:ea typeface="宋体" panose="02010600030101010101" pitchFamily="2" charset="-122"/>
                <a:cs typeface="宋体" panose="02010600030101010101" pitchFamily="2" charset="-122"/>
              </a:rPr>
              <a:t>号分治决议（</a:t>
            </a:r>
            <a:r>
              <a:rPr lang="en-US" altLang="zh-CN" sz="2800" dirty="0">
                <a:solidFill>
                  <a:schemeClr val="tx1"/>
                </a:solidFill>
                <a:effectLst/>
                <a:latin typeface="+mn-lt"/>
                <a:ea typeface="宋体" panose="02010600030101010101" pitchFamily="2" charset="-122"/>
                <a:cs typeface="宋体" panose="02010600030101010101" pitchFamily="2" charset="-122"/>
              </a:rPr>
              <a:t>1947</a:t>
            </a:r>
            <a:r>
              <a:rPr lang="zh-CN" altLang="zh-CN" sz="2800" dirty="0">
                <a:solidFill>
                  <a:schemeClr val="tx1"/>
                </a:solidFill>
                <a:effectLst/>
                <a:latin typeface="+mn-lt"/>
                <a:ea typeface="宋体" panose="02010600030101010101" pitchFamily="2" charset="-122"/>
                <a:cs typeface="宋体" panose="02010600030101010101" pitchFamily="2" charset="-122"/>
              </a:rPr>
              <a:t>）划定的边界，与</a:t>
            </a:r>
            <a:r>
              <a:rPr lang="en-US" altLang="zh-CN" sz="2800" dirty="0">
                <a:solidFill>
                  <a:schemeClr val="tx1"/>
                </a:solidFill>
                <a:effectLst/>
                <a:latin typeface="+mn-lt"/>
                <a:ea typeface="宋体" panose="02010600030101010101" pitchFamily="2" charset="-122"/>
                <a:cs typeface="宋体" panose="02010600030101010101" pitchFamily="2" charset="-122"/>
              </a:rPr>
              <a:t> 1948</a:t>
            </a:r>
            <a:r>
              <a:rPr lang="zh-CN" altLang="zh-CN" sz="2800" dirty="0">
                <a:solidFill>
                  <a:schemeClr val="tx1"/>
                </a:solidFill>
                <a:effectLst/>
                <a:latin typeface="+mn-lt"/>
                <a:ea typeface="宋体" panose="02010600030101010101" pitchFamily="2" charset="-122"/>
                <a:cs typeface="宋体" panose="02010600030101010101" pitchFamily="2" charset="-122"/>
              </a:rPr>
              <a:t>、</a:t>
            </a:r>
            <a:r>
              <a:rPr lang="en-US" altLang="zh-CN" sz="2800" dirty="0">
                <a:solidFill>
                  <a:schemeClr val="tx1"/>
                </a:solidFill>
                <a:effectLst/>
                <a:latin typeface="+mn-lt"/>
                <a:ea typeface="宋体" panose="02010600030101010101" pitchFamily="2" charset="-122"/>
                <a:cs typeface="宋体" panose="02010600030101010101" pitchFamily="2" charset="-122"/>
              </a:rPr>
              <a:t>1967 </a:t>
            </a:r>
            <a:r>
              <a:rPr lang="zh-CN" altLang="zh-CN" sz="2800" dirty="0">
                <a:solidFill>
                  <a:schemeClr val="tx1"/>
                </a:solidFill>
                <a:effectLst/>
                <a:latin typeface="+mn-lt"/>
                <a:ea typeface="宋体" panose="02010600030101010101" pitchFamily="2" charset="-122"/>
                <a:cs typeface="宋体" panose="02010600030101010101" pitchFamily="2" charset="-122"/>
              </a:rPr>
              <a:t>两次战争后的实际控制线并不重合。</a:t>
            </a:r>
            <a:endParaRPr lang="zh-CN" altLang="zh-CN" sz="28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en-US" altLang="zh-CN" sz="2800" b="1" dirty="0">
                <a:solidFill>
                  <a:schemeClr val="tx1"/>
                </a:solidFill>
                <a:effectLst/>
                <a:latin typeface="+mn-lt"/>
                <a:ea typeface="Noto Serif SC" panose="02020200000000000000" pitchFamily="18" charset="-122"/>
                <a:cs typeface="宋体" panose="02010600030101010101" pitchFamily="2" charset="-122"/>
              </a:rPr>
              <a:t>"</a:t>
            </a:r>
            <a:r>
              <a:rPr lang="zh-CN" altLang="zh-CN" sz="2800" b="1" dirty="0">
                <a:solidFill>
                  <a:schemeClr val="tx1"/>
                </a:solidFill>
                <a:effectLst/>
                <a:latin typeface="+mn-lt"/>
                <a:ea typeface="宋体" panose="02010600030101010101" pitchFamily="2" charset="-122"/>
                <a:cs typeface="宋体" panose="02010600030101010101" pitchFamily="2" charset="-122"/>
              </a:rPr>
              <a:t>绿线</a:t>
            </a:r>
            <a:r>
              <a:rPr lang="en-US" altLang="zh-CN" sz="2800" b="1" dirty="0">
                <a:solidFill>
                  <a:schemeClr val="tx1"/>
                </a:solidFill>
                <a:effectLst/>
                <a:latin typeface="+mn-lt"/>
                <a:ea typeface="宋体" panose="02010600030101010101" pitchFamily="2" charset="-122"/>
                <a:cs typeface="宋体" panose="02010600030101010101" pitchFamily="2" charset="-122"/>
              </a:rPr>
              <a:t>"</a:t>
            </a:r>
            <a:r>
              <a:rPr lang="zh-CN" altLang="zh-CN" sz="2800" b="1" dirty="0">
                <a:solidFill>
                  <a:schemeClr val="tx1"/>
                </a:solidFill>
                <a:effectLst/>
                <a:latin typeface="+mn-lt"/>
                <a:ea typeface="宋体" panose="02010600030101010101" pitchFamily="2" charset="-122"/>
                <a:cs typeface="宋体" panose="02010600030101010101" pitchFamily="2" charset="-122"/>
              </a:rPr>
              <a:t>（</a:t>
            </a:r>
            <a:r>
              <a:rPr lang="en-US" altLang="zh-CN" sz="2800" b="1" dirty="0">
                <a:solidFill>
                  <a:schemeClr val="tx1"/>
                </a:solidFill>
                <a:effectLst/>
                <a:latin typeface="+mn-lt"/>
                <a:ea typeface="宋体" panose="02010600030101010101" pitchFamily="2" charset="-122"/>
                <a:cs typeface="宋体" panose="02010600030101010101" pitchFamily="2" charset="-122"/>
              </a:rPr>
              <a:t>Green Line</a:t>
            </a:r>
            <a:r>
              <a:rPr lang="zh-CN" altLang="zh-CN" sz="2800" b="1" dirty="0">
                <a:solidFill>
                  <a:schemeClr val="tx1"/>
                </a:solidFill>
                <a:effectLst/>
                <a:latin typeface="+mn-lt"/>
                <a:ea typeface="宋体" panose="02010600030101010101" pitchFamily="2" charset="-122"/>
                <a:cs typeface="宋体" panose="02010600030101010101" pitchFamily="2" charset="-122"/>
              </a:rPr>
              <a:t>）：</a:t>
            </a:r>
            <a:r>
              <a:rPr lang="en-US" altLang="zh-CN" sz="2800" dirty="0">
                <a:solidFill>
                  <a:schemeClr val="tx1"/>
                </a:solidFill>
                <a:effectLst/>
                <a:latin typeface="+mn-lt"/>
                <a:ea typeface="Noto Serif SC" panose="02020200000000000000" pitchFamily="18" charset="-122"/>
                <a:cs typeface="宋体" panose="02010600030101010101" pitchFamily="2" charset="-122"/>
              </a:rPr>
              <a:t>1949 </a:t>
            </a:r>
            <a:r>
              <a:rPr lang="zh-CN" altLang="zh-CN" sz="2800" dirty="0">
                <a:solidFill>
                  <a:schemeClr val="tx1"/>
                </a:solidFill>
                <a:effectLst/>
                <a:latin typeface="+mn-lt"/>
                <a:ea typeface="宋体" panose="02010600030101010101" pitchFamily="2" charset="-122"/>
                <a:cs typeface="宋体" panose="02010600030101010101" pitchFamily="2" charset="-122"/>
              </a:rPr>
              <a:t>年停火线是国际社会公认的以色列边界，但以色列在</a:t>
            </a:r>
            <a:r>
              <a:rPr lang="en-US" altLang="zh-CN" sz="2800" dirty="0">
                <a:solidFill>
                  <a:schemeClr val="tx1"/>
                </a:solidFill>
                <a:effectLst/>
                <a:latin typeface="+mn-lt"/>
                <a:ea typeface="宋体" panose="02010600030101010101" pitchFamily="2" charset="-122"/>
                <a:cs typeface="宋体" panose="02010600030101010101" pitchFamily="2" charset="-122"/>
              </a:rPr>
              <a:t> 1967 </a:t>
            </a:r>
            <a:r>
              <a:rPr lang="zh-CN" altLang="zh-CN" sz="2800" dirty="0">
                <a:solidFill>
                  <a:schemeClr val="tx1"/>
                </a:solidFill>
                <a:effectLst/>
                <a:latin typeface="+mn-lt"/>
                <a:ea typeface="宋体" panose="02010600030101010101" pitchFamily="2" charset="-122"/>
                <a:cs typeface="宋体" panose="02010600030101010101" pitchFamily="2" charset="-122"/>
              </a:rPr>
              <a:t>年六日战争中越过了它，占领西岸、加沙、东耶路撒冷、戈兰高地与西奈半岛。</a:t>
            </a:r>
            <a:endParaRPr lang="zh-CN" altLang="zh-CN" sz="28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zh-CN" altLang="zh-CN" sz="2800" b="1" dirty="0">
                <a:solidFill>
                  <a:schemeClr val="tx1"/>
                </a:solidFill>
                <a:effectLst/>
                <a:latin typeface="+mn-lt"/>
                <a:ea typeface="宋体" panose="02010600030101010101" pitchFamily="2" charset="-122"/>
                <a:cs typeface="宋体" panose="02010600030101010101" pitchFamily="2" charset="-122"/>
              </a:rPr>
              <a:t>定居点与</a:t>
            </a:r>
            <a:r>
              <a:rPr lang="en-US" altLang="zh-CN" sz="2800" b="1" dirty="0">
                <a:solidFill>
                  <a:schemeClr val="tx1"/>
                </a:solidFill>
                <a:effectLst/>
                <a:latin typeface="+mn-lt"/>
                <a:ea typeface="宋体" panose="02010600030101010101" pitchFamily="2" charset="-122"/>
                <a:cs typeface="宋体" panose="02010600030101010101" pitchFamily="2" charset="-122"/>
              </a:rPr>
              <a:t>"</a:t>
            </a:r>
            <a:r>
              <a:rPr lang="zh-CN" altLang="zh-CN" sz="2800" b="1" dirty="0">
                <a:solidFill>
                  <a:schemeClr val="tx1"/>
                </a:solidFill>
                <a:effectLst/>
                <a:latin typeface="+mn-lt"/>
                <a:ea typeface="宋体" panose="02010600030101010101" pitchFamily="2" charset="-122"/>
                <a:cs typeface="宋体" panose="02010600030101010101" pitchFamily="2" charset="-122"/>
              </a:rPr>
              <a:t>既成事实</a:t>
            </a:r>
            <a:r>
              <a:rPr lang="en-US" altLang="zh-CN" sz="2800" b="1" dirty="0">
                <a:solidFill>
                  <a:schemeClr val="tx1"/>
                </a:solidFill>
                <a:effectLst/>
                <a:latin typeface="+mn-lt"/>
                <a:ea typeface="宋体" panose="02010600030101010101" pitchFamily="2" charset="-122"/>
                <a:cs typeface="宋体" panose="02010600030101010101" pitchFamily="2" charset="-122"/>
              </a:rPr>
              <a:t>"</a:t>
            </a:r>
            <a:r>
              <a:rPr lang="zh-CN" altLang="zh-CN" sz="2800" b="1" dirty="0">
                <a:solidFill>
                  <a:schemeClr val="tx1"/>
                </a:solidFill>
                <a:effectLst/>
                <a:latin typeface="+mn-lt"/>
                <a:ea typeface="宋体" panose="02010600030101010101" pitchFamily="2" charset="-122"/>
                <a:cs typeface="宋体" panose="02010600030101010101" pitchFamily="2" charset="-122"/>
              </a:rPr>
              <a:t>策略：</a:t>
            </a:r>
            <a:r>
              <a:rPr lang="zh-CN" altLang="zh-CN" sz="2800" dirty="0">
                <a:solidFill>
                  <a:schemeClr val="tx1"/>
                </a:solidFill>
                <a:effectLst/>
                <a:latin typeface="+mn-lt"/>
                <a:ea typeface="宋体" panose="02010600030101010101" pitchFamily="2" charset="-122"/>
                <a:cs typeface="宋体" panose="02010600030101010101" pitchFamily="2" charset="-122"/>
              </a:rPr>
              <a:t>以色列在西岸建立约</a:t>
            </a:r>
            <a:r>
              <a:rPr lang="en-US" altLang="zh-CN" sz="2800" dirty="0">
                <a:solidFill>
                  <a:schemeClr val="tx1"/>
                </a:solidFill>
                <a:effectLst/>
                <a:latin typeface="+mn-lt"/>
                <a:ea typeface="宋体" panose="02010600030101010101" pitchFamily="2" charset="-122"/>
                <a:cs typeface="宋体" panose="02010600030101010101" pitchFamily="2" charset="-122"/>
              </a:rPr>
              <a:t> 350 </a:t>
            </a:r>
            <a:r>
              <a:rPr lang="zh-CN" altLang="zh-CN" sz="2800" dirty="0">
                <a:solidFill>
                  <a:schemeClr val="tx1"/>
                </a:solidFill>
                <a:effectLst/>
                <a:latin typeface="+mn-lt"/>
                <a:ea typeface="宋体" panose="02010600030101010101" pitchFamily="2" charset="-122"/>
                <a:cs typeface="宋体" panose="02010600030101010101" pitchFamily="2" charset="-122"/>
              </a:rPr>
              <a:t>个定居点、安置约</a:t>
            </a:r>
            <a:r>
              <a:rPr lang="en-US" altLang="zh-CN" sz="2800" dirty="0">
                <a:solidFill>
                  <a:schemeClr val="tx1"/>
                </a:solidFill>
                <a:effectLst/>
                <a:latin typeface="+mn-lt"/>
                <a:ea typeface="宋体" panose="02010600030101010101" pitchFamily="2" charset="-122"/>
                <a:cs typeface="宋体" panose="02010600030101010101" pitchFamily="2" charset="-122"/>
              </a:rPr>
              <a:t> 70 </a:t>
            </a:r>
            <a:r>
              <a:rPr lang="zh-CN" altLang="zh-CN" sz="2800" dirty="0">
                <a:solidFill>
                  <a:schemeClr val="tx1"/>
                </a:solidFill>
                <a:effectLst/>
                <a:latin typeface="+mn-lt"/>
                <a:ea typeface="宋体" panose="02010600030101010101" pitchFamily="2" charset="-122"/>
                <a:cs typeface="宋体" panose="02010600030101010101" pitchFamily="2" charset="-122"/>
              </a:rPr>
              <a:t>万定居者，用</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人口蚕食领土</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，让</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两国方案</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的领土基础不断被侵蚀。</a:t>
            </a:r>
            <a:endParaRPr lang="zh-CN" altLang="zh-CN" sz="28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zh-CN" altLang="zh-CN" sz="2800" b="1" dirty="0">
                <a:solidFill>
                  <a:schemeClr val="tx1"/>
                </a:solidFill>
                <a:effectLst/>
                <a:latin typeface="+mn-lt"/>
                <a:ea typeface="宋体" panose="02010600030101010101" pitchFamily="2" charset="-122"/>
                <a:cs typeface="宋体" panose="02010600030101010101" pitchFamily="2" charset="-122"/>
              </a:rPr>
              <a:t>隔离墙</a:t>
            </a:r>
            <a:r>
              <a:rPr lang="en-US" altLang="zh-CN" sz="2800" b="1" dirty="0">
                <a:solidFill>
                  <a:schemeClr val="tx1"/>
                </a:solidFill>
                <a:effectLst/>
                <a:latin typeface="+mn-lt"/>
                <a:ea typeface="宋体" panose="02010600030101010101" pitchFamily="2" charset="-122"/>
                <a:cs typeface="宋体" panose="02010600030101010101" pitchFamily="2" charset="-122"/>
              </a:rPr>
              <a:t>/</a:t>
            </a:r>
            <a:r>
              <a:rPr lang="zh-CN" altLang="zh-CN" sz="2800" b="1" dirty="0">
                <a:solidFill>
                  <a:schemeClr val="tx1"/>
                </a:solidFill>
                <a:effectLst/>
                <a:latin typeface="+mn-lt"/>
                <a:ea typeface="宋体" panose="02010600030101010101" pitchFamily="2" charset="-122"/>
                <a:cs typeface="宋体" panose="02010600030101010101" pitchFamily="2" charset="-122"/>
              </a:rPr>
              <a:t>安全屏障：</a:t>
            </a:r>
            <a:r>
              <a:rPr lang="zh-CN" altLang="zh-CN" sz="2800" dirty="0">
                <a:solidFill>
                  <a:schemeClr val="tx1"/>
                </a:solidFill>
                <a:effectLst/>
                <a:latin typeface="+mn-lt"/>
                <a:ea typeface="宋体" panose="02010600030101010101" pitchFamily="2" charset="-122"/>
                <a:cs typeface="宋体" panose="02010600030101010101" pitchFamily="2" charset="-122"/>
              </a:rPr>
              <a:t>约</a:t>
            </a:r>
            <a:r>
              <a:rPr lang="en-US" altLang="zh-CN" sz="2800" dirty="0">
                <a:solidFill>
                  <a:schemeClr val="tx1"/>
                </a:solidFill>
                <a:effectLst/>
                <a:latin typeface="+mn-lt"/>
                <a:ea typeface="宋体" panose="02010600030101010101" pitchFamily="2" charset="-122"/>
                <a:cs typeface="宋体" panose="02010600030101010101" pitchFamily="2" charset="-122"/>
              </a:rPr>
              <a:t> 85% </a:t>
            </a:r>
            <a:r>
              <a:rPr lang="zh-CN" altLang="zh-CN" sz="2800" dirty="0">
                <a:solidFill>
                  <a:schemeClr val="tx1"/>
                </a:solidFill>
                <a:effectLst/>
                <a:latin typeface="+mn-lt"/>
                <a:ea typeface="宋体" panose="02010600030101010101" pitchFamily="2" charset="-122"/>
                <a:cs typeface="宋体" panose="02010600030101010101" pitchFamily="2" charset="-122"/>
              </a:rPr>
              <a:t>位于西岸境内而非边界线上，实质是单方面改写事实边界，割裂巴勒斯坦领土。</a:t>
            </a:r>
            <a:endParaRPr lang="zh-CN" altLang="zh-CN" sz="1600" dirty="0">
              <a:solidFill>
                <a:srgbClr val="1A1A1A"/>
              </a:solidFill>
              <a:effectLst/>
              <a:latin typeface="Noto Serif SC" panose="02020200000000000000" pitchFamily="18" charset="-122"/>
              <a:ea typeface="Noto Serif SC" panose="02020200000000000000" pitchFamily="18" charset="-122"/>
              <a:cs typeface="Times New Roman" panose="02020603050405020304" pitchFamily="18" charset="0"/>
            </a:endParaRPr>
          </a:p>
        </p:txBody>
      </p:sp>
    </p:spTree>
    <p:extLst>
      <p:ext uri="{BB962C8B-B14F-4D97-AF65-F5344CB8AC3E}">
        <p14:creationId xmlns:p14="http://schemas.microsoft.com/office/powerpoint/2010/main" val="316070526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2B34B1F-E777-397C-9029-2DD7EEFD6E6C}"/>
              </a:ext>
            </a:extLst>
          </p:cNvPr>
          <p:cNvPicPr>
            <a:picLocks noChangeAspect="1"/>
          </p:cNvPicPr>
          <p:nvPr/>
        </p:nvPicPr>
        <p:blipFill>
          <a:blip r:embed="rId2" cstate="print">
            <a:extLst>
              <a:ext uri="{28A0092B-C50C-407E-A947-70E740481C1C}">
                <a14:useLocalDpi xmlns:a14="http://schemas.microsoft.com/office/drawing/2010/main" val="0"/>
              </a:ext>
            </a:extLst>
          </a:blip>
          <a:srcRect t="23828"/>
          <a:stretch>
            <a:fillRect/>
          </a:stretch>
        </p:blipFill>
        <p:spPr>
          <a:xfrm>
            <a:off x="4064043" y="743425"/>
            <a:ext cx="3918857" cy="5223879"/>
          </a:xfrm>
          <a:prstGeom prst="rect">
            <a:avLst/>
          </a:prstGeom>
        </p:spPr>
      </p:pic>
    </p:spTree>
    <p:extLst>
      <p:ext uri="{BB962C8B-B14F-4D97-AF65-F5344CB8AC3E}">
        <p14:creationId xmlns:p14="http://schemas.microsoft.com/office/powerpoint/2010/main" val="413457204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CF39DCB-0177-4A3E-F5A6-04D3A66E3113}"/>
              </a:ext>
            </a:extLst>
          </p:cNvPr>
          <p:cNvSpPr txBox="1"/>
          <p:nvPr/>
        </p:nvSpPr>
        <p:spPr>
          <a:xfrm>
            <a:off x="989616" y="808865"/>
            <a:ext cx="10331245" cy="5119350"/>
          </a:xfrm>
          <a:prstGeom prst="rect">
            <a:avLst/>
          </a:prstGeom>
          <a:noFill/>
        </p:spPr>
        <p:txBody>
          <a:bodyPr wrap="square">
            <a:spAutoFit/>
          </a:bodyPr>
          <a:lstStyle/>
          <a:p>
            <a:pPr>
              <a:lnSpc>
                <a:spcPct val="100000"/>
              </a:lnSpc>
              <a:spcBef>
                <a:spcPts val="675"/>
              </a:spcBef>
              <a:spcAft>
                <a:spcPts val="675"/>
              </a:spcAft>
              <a:buNone/>
            </a:pPr>
            <a:r>
              <a:rPr lang="zh-CN" altLang="zh-CN" sz="2800" b="1" dirty="0">
                <a:solidFill>
                  <a:schemeClr val="tx1"/>
                </a:solidFill>
                <a:effectLst/>
                <a:latin typeface="+mn-lt"/>
                <a:ea typeface="宋体" panose="02010600030101010101" pitchFamily="2" charset="-122"/>
                <a:cs typeface="宋体" panose="02010600030101010101" pitchFamily="2" charset="-122"/>
              </a:rPr>
              <a:t>缺乏纵深：</a:t>
            </a:r>
            <a:r>
              <a:rPr lang="zh-CN" altLang="zh-CN" sz="2800" dirty="0">
                <a:solidFill>
                  <a:schemeClr val="tx1"/>
                </a:solidFill>
                <a:effectLst/>
                <a:latin typeface="+mn-lt"/>
                <a:ea typeface="宋体" panose="02010600030101010101" pitchFamily="2" charset="-122"/>
                <a:cs typeface="宋体" panose="02010600030101010101" pitchFamily="2" charset="-122"/>
              </a:rPr>
              <a:t>以色列国土狭长，中部最窄处仅约</a:t>
            </a:r>
            <a:r>
              <a:rPr lang="en-US" altLang="zh-CN" sz="2800" dirty="0">
                <a:solidFill>
                  <a:schemeClr val="tx1"/>
                </a:solidFill>
                <a:effectLst/>
                <a:latin typeface="+mn-lt"/>
                <a:ea typeface="宋体" panose="02010600030101010101" pitchFamily="2" charset="-122"/>
                <a:cs typeface="宋体" panose="02010600030101010101" pitchFamily="2" charset="-122"/>
              </a:rPr>
              <a:t> 15 </a:t>
            </a:r>
            <a:r>
              <a:rPr lang="zh-CN" altLang="zh-CN" sz="2800" dirty="0">
                <a:solidFill>
                  <a:schemeClr val="tx1"/>
                </a:solidFill>
                <a:effectLst/>
                <a:latin typeface="+mn-lt"/>
                <a:ea typeface="宋体" panose="02010600030101010101" pitchFamily="2" charset="-122"/>
                <a:cs typeface="宋体" panose="02010600030101010101" pitchFamily="2" charset="-122"/>
              </a:rPr>
              <a:t>公里，一次装甲突击即可将其</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拦腰切断</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，因此军事上极度缺乏战略纵深。</a:t>
            </a:r>
            <a:endParaRPr lang="zh-CN" altLang="zh-CN" sz="28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zh-CN" altLang="zh-CN" sz="2800" b="1" dirty="0">
                <a:solidFill>
                  <a:schemeClr val="tx1"/>
                </a:solidFill>
                <a:effectLst/>
                <a:latin typeface="+mn-lt"/>
                <a:ea typeface="宋体" panose="02010600030101010101" pitchFamily="2" charset="-122"/>
                <a:cs typeface="宋体" panose="02010600030101010101" pitchFamily="2" charset="-122"/>
              </a:rPr>
              <a:t>戈兰高地：</a:t>
            </a:r>
            <a:r>
              <a:rPr lang="zh-CN" altLang="zh-CN" sz="2800" dirty="0">
                <a:solidFill>
                  <a:schemeClr val="tx1"/>
                </a:solidFill>
                <a:effectLst/>
                <a:latin typeface="+mn-lt"/>
                <a:ea typeface="宋体" panose="02010600030101010101" pitchFamily="2" charset="-122"/>
                <a:cs typeface="宋体" panose="02010600030101010101" pitchFamily="2" charset="-122"/>
              </a:rPr>
              <a:t>俯瞰加利利海与北部平原的制高点，也是重要水源地，</a:t>
            </a:r>
            <a:r>
              <a:rPr lang="en-US" altLang="zh-CN" sz="2800" dirty="0">
                <a:solidFill>
                  <a:schemeClr val="tx1"/>
                </a:solidFill>
                <a:effectLst/>
                <a:latin typeface="+mn-lt"/>
                <a:ea typeface="宋体" panose="02010600030101010101" pitchFamily="2" charset="-122"/>
                <a:cs typeface="宋体" panose="02010600030101010101" pitchFamily="2" charset="-122"/>
              </a:rPr>
              <a:t>1967 </a:t>
            </a:r>
            <a:r>
              <a:rPr lang="zh-CN" altLang="zh-CN" sz="2800" dirty="0">
                <a:solidFill>
                  <a:schemeClr val="tx1"/>
                </a:solidFill>
                <a:effectLst/>
                <a:latin typeface="+mn-lt"/>
                <a:ea typeface="宋体" panose="02010600030101010101" pitchFamily="2" charset="-122"/>
                <a:cs typeface="宋体" panose="02010600030101010101" pitchFamily="2" charset="-122"/>
              </a:rPr>
              <a:t>年占领后至今未归还叙利亚，是以色列北部安全的命门。</a:t>
            </a:r>
            <a:endParaRPr lang="zh-CN" altLang="zh-CN" sz="28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zh-CN" altLang="zh-CN" sz="2800" b="1" dirty="0">
                <a:solidFill>
                  <a:schemeClr val="tx1"/>
                </a:solidFill>
                <a:effectLst/>
                <a:latin typeface="+mn-lt"/>
                <a:ea typeface="宋体" panose="02010600030101010101" pitchFamily="2" charset="-122"/>
                <a:cs typeface="宋体" panose="02010600030101010101" pitchFamily="2" charset="-122"/>
              </a:rPr>
              <a:t>西奈半岛：</a:t>
            </a:r>
            <a:r>
              <a:rPr lang="zh-CN" altLang="zh-CN" sz="2800" dirty="0">
                <a:solidFill>
                  <a:schemeClr val="tx1"/>
                </a:solidFill>
                <a:effectLst/>
                <a:latin typeface="+mn-lt"/>
                <a:ea typeface="宋体" panose="02010600030101010101" pitchFamily="2" charset="-122"/>
                <a:cs typeface="宋体" panose="02010600030101010101" pitchFamily="2" charset="-122"/>
              </a:rPr>
              <a:t>曾作为埃及方向的战略缓冲区，</a:t>
            </a:r>
            <a:r>
              <a:rPr lang="en-US" altLang="zh-CN" sz="2800" dirty="0">
                <a:solidFill>
                  <a:schemeClr val="tx1"/>
                </a:solidFill>
                <a:effectLst/>
                <a:latin typeface="+mn-lt"/>
                <a:ea typeface="宋体" panose="02010600030101010101" pitchFamily="2" charset="-122"/>
                <a:cs typeface="宋体" panose="02010600030101010101" pitchFamily="2" charset="-122"/>
              </a:rPr>
              <a:t>1979 </a:t>
            </a:r>
            <a:r>
              <a:rPr lang="zh-CN" altLang="zh-CN" sz="2800" dirty="0">
                <a:solidFill>
                  <a:schemeClr val="tx1"/>
                </a:solidFill>
                <a:effectLst/>
                <a:latin typeface="+mn-lt"/>
                <a:ea typeface="宋体" panose="02010600030101010101" pitchFamily="2" charset="-122"/>
                <a:cs typeface="宋体" panose="02010600030101010101" pitchFamily="2" charset="-122"/>
              </a:rPr>
              <a:t>年以</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土地换和平</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归还埃及，换取埃以和平。</a:t>
            </a:r>
            <a:endParaRPr lang="zh-CN" altLang="zh-CN" sz="28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zh-CN" altLang="zh-CN" sz="2800" b="1" dirty="0">
                <a:solidFill>
                  <a:schemeClr val="tx1"/>
                </a:solidFill>
                <a:effectLst/>
                <a:latin typeface="+mn-lt"/>
                <a:ea typeface="宋体" panose="02010600030101010101" pitchFamily="2" charset="-122"/>
                <a:cs typeface="宋体" panose="02010600030101010101" pitchFamily="2" charset="-122"/>
              </a:rPr>
              <a:t>黎巴嫩南部：</a:t>
            </a:r>
            <a:r>
              <a:rPr lang="en-US" altLang="zh-CN" sz="2800" dirty="0">
                <a:solidFill>
                  <a:schemeClr val="tx1"/>
                </a:solidFill>
                <a:effectLst/>
                <a:latin typeface="+mn-lt"/>
                <a:ea typeface="Noto Serif SC" panose="02020200000000000000" pitchFamily="18" charset="-122"/>
                <a:cs typeface="宋体" panose="02010600030101010101" pitchFamily="2" charset="-122"/>
              </a:rPr>
              <a:t>1982 </a:t>
            </a:r>
            <a:r>
              <a:rPr lang="zh-CN" altLang="zh-CN" sz="2800" dirty="0">
                <a:solidFill>
                  <a:schemeClr val="tx1"/>
                </a:solidFill>
                <a:effectLst/>
                <a:latin typeface="+mn-lt"/>
                <a:ea typeface="宋体" panose="02010600030101010101" pitchFamily="2" charset="-122"/>
                <a:cs typeface="宋体" panose="02010600030101010101" pitchFamily="2" charset="-122"/>
              </a:rPr>
              <a:t>年以色列入侵黎巴嫩，长期在南部建立</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安全区</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，用</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焦土政策</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制造无人区。</a:t>
            </a:r>
            <a:endParaRPr lang="zh-CN" altLang="zh-CN" sz="28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zh-CN" altLang="zh-CN" sz="2800" b="1" dirty="0">
                <a:solidFill>
                  <a:schemeClr val="tx1"/>
                </a:solidFill>
                <a:effectLst/>
                <a:latin typeface="+mn-lt"/>
                <a:ea typeface="宋体" panose="02010600030101010101" pitchFamily="2" charset="-122"/>
                <a:cs typeface="宋体" panose="02010600030101010101" pitchFamily="2" charset="-122"/>
              </a:rPr>
              <a:t>加沙：</a:t>
            </a:r>
            <a:r>
              <a:rPr lang="zh-CN" altLang="zh-CN" sz="2800" dirty="0">
                <a:solidFill>
                  <a:schemeClr val="tx1"/>
                </a:solidFill>
                <a:effectLst/>
                <a:latin typeface="+mn-lt"/>
                <a:ea typeface="宋体" panose="02010600030101010101" pitchFamily="2" charset="-122"/>
                <a:cs typeface="宋体" panose="02010600030101010101" pitchFamily="2" charset="-122"/>
              </a:rPr>
              <a:t>被封锁的</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露天监狱</a:t>
            </a:r>
            <a:r>
              <a:rPr lang="en-US" altLang="zh-CN" sz="2800" dirty="0">
                <a:solidFill>
                  <a:schemeClr val="tx1"/>
                </a:solidFill>
                <a:effectLst/>
                <a:latin typeface="+mn-lt"/>
                <a:ea typeface="宋体" panose="02010600030101010101" pitchFamily="2" charset="-122"/>
                <a:cs typeface="宋体" panose="02010600030101010101" pitchFamily="2" charset="-122"/>
              </a:rPr>
              <a:t>"</a:t>
            </a:r>
            <a:r>
              <a:rPr lang="zh-CN" altLang="zh-CN" sz="2800" dirty="0">
                <a:solidFill>
                  <a:schemeClr val="tx1"/>
                </a:solidFill>
                <a:effectLst/>
                <a:latin typeface="+mn-lt"/>
                <a:ea typeface="宋体" panose="02010600030101010101" pitchFamily="2" charset="-122"/>
                <a:cs typeface="宋体" panose="02010600030101010101" pitchFamily="2" charset="-122"/>
              </a:rPr>
              <a:t>，以色列控制其陆上边界、领空与领海。</a:t>
            </a:r>
            <a:endParaRPr lang="zh-CN" altLang="zh-CN" sz="1600" dirty="0">
              <a:solidFill>
                <a:srgbClr val="1A1A1A"/>
              </a:solidFill>
              <a:effectLst/>
              <a:latin typeface="Noto Serif SC" panose="02020200000000000000" pitchFamily="18" charset="-122"/>
              <a:ea typeface="Noto Serif SC" panose="02020200000000000000" pitchFamily="18" charset="-122"/>
              <a:cs typeface="Times New Roman" panose="02020603050405020304" pitchFamily="18" charset="0"/>
            </a:endParaRPr>
          </a:p>
        </p:txBody>
      </p:sp>
    </p:spTree>
    <p:extLst>
      <p:ext uri="{BB962C8B-B14F-4D97-AF65-F5344CB8AC3E}">
        <p14:creationId xmlns:p14="http://schemas.microsoft.com/office/powerpoint/2010/main" val="69102700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2918FC7-92E0-242E-4B17-F017F4C9C2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750" y="682846"/>
            <a:ext cx="10858500" cy="5492307"/>
          </a:xfrm>
          <a:prstGeom prst="rect">
            <a:avLst/>
          </a:prstGeom>
        </p:spPr>
      </p:pic>
    </p:spTree>
    <p:extLst>
      <p:ext uri="{BB962C8B-B14F-4D97-AF65-F5344CB8AC3E}">
        <p14:creationId xmlns:p14="http://schemas.microsoft.com/office/powerpoint/2010/main" val="9920183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35BB938-6226-A019-1147-EEA630611956}"/>
              </a:ext>
            </a:extLst>
          </p:cNvPr>
          <p:cNvSpPr txBox="1"/>
          <p:nvPr/>
        </p:nvSpPr>
        <p:spPr>
          <a:xfrm>
            <a:off x="853931" y="798915"/>
            <a:ext cx="10496427" cy="5062924"/>
          </a:xfrm>
          <a:prstGeom prst="rect">
            <a:avLst/>
          </a:prstGeom>
          <a:noFill/>
        </p:spPr>
        <p:txBody>
          <a:bodyPr wrap="square">
            <a:spAutoFit/>
          </a:bodyPr>
          <a:lstStyle/>
          <a:p>
            <a:pPr>
              <a:lnSpc>
                <a:spcPct val="100000"/>
              </a:lnSpc>
              <a:spcBef>
                <a:spcPts val="675"/>
              </a:spcBef>
              <a:spcAft>
                <a:spcPts val="675"/>
              </a:spcAft>
              <a:buNone/>
            </a:pPr>
            <a:r>
              <a:rPr lang="zh-CN" altLang="zh-CN" sz="3200" b="1" dirty="0">
                <a:solidFill>
                  <a:schemeClr val="tx1"/>
                </a:solidFill>
                <a:effectLst/>
                <a:latin typeface="+mn-lt"/>
                <a:ea typeface="宋体" panose="02010600030101010101" pitchFamily="2" charset="-122"/>
                <a:cs typeface="宋体" panose="02010600030101010101" pitchFamily="2" charset="-122"/>
              </a:rPr>
              <a:t>蒂朗海峡：</a:t>
            </a:r>
            <a:r>
              <a:rPr lang="zh-CN" altLang="zh-CN" sz="3200" dirty="0">
                <a:solidFill>
                  <a:schemeClr val="tx1"/>
                </a:solidFill>
                <a:effectLst/>
                <a:latin typeface="+mn-lt"/>
                <a:ea typeface="宋体" panose="02010600030101010101" pitchFamily="2" charset="-122"/>
                <a:cs typeface="宋体" panose="02010600030101010101" pitchFamily="2" charset="-122"/>
              </a:rPr>
              <a:t>位于红海入口，</a:t>
            </a:r>
            <a:r>
              <a:rPr lang="en-US" altLang="zh-CN" sz="3200" dirty="0">
                <a:solidFill>
                  <a:schemeClr val="tx1"/>
                </a:solidFill>
                <a:effectLst/>
                <a:latin typeface="+mn-lt"/>
                <a:ea typeface="宋体" panose="02010600030101010101" pitchFamily="2" charset="-122"/>
                <a:cs typeface="宋体" panose="02010600030101010101" pitchFamily="2" charset="-122"/>
              </a:rPr>
              <a:t>1967 </a:t>
            </a:r>
            <a:r>
              <a:rPr lang="zh-CN" altLang="zh-CN" sz="3200" dirty="0">
                <a:solidFill>
                  <a:schemeClr val="tx1"/>
                </a:solidFill>
                <a:effectLst/>
                <a:latin typeface="+mn-lt"/>
                <a:ea typeface="宋体" panose="02010600030101010101" pitchFamily="2" charset="-122"/>
                <a:cs typeface="宋体" panose="02010600030101010101" pitchFamily="2" charset="-122"/>
              </a:rPr>
              <a:t>年埃及封锁蒂朗海峡，切断以色列通往红海的航道，成为六日战争的直接导火索。</a:t>
            </a:r>
            <a:endParaRPr lang="zh-CN" altLang="zh-CN" sz="32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zh-CN" altLang="zh-CN" sz="3200" b="1" dirty="0">
                <a:solidFill>
                  <a:schemeClr val="tx1"/>
                </a:solidFill>
                <a:effectLst/>
                <a:latin typeface="+mn-lt"/>
                <a:ea typeface="宋体" panose="02010600030101010101" pitchFamily="2" charset="-122"/>
                <a:cs typeface="宋体" panose="02010600030101010101" pitchFamily="2" charset="-122"/>
              </a:rPr>
              <a:t>埃拉特港：</a:t>
            </a:r>
            <a:r>
              <a:rPr lang="zh-CN" altLang="zh-CN" sz="3200" dirty="0">
                <a:solidFill>
                  <a:schemeClr val="tx1"/>
                </a:solidFill>
                <a:effectLst/>
                <a:latin typeface="+mn-lt"/>
                <a:ea typeface="宋体" panose="02010600030101010101" pitchFamily="2" charset="-122"/>
                <a:cs typeface="宋体" panose="02010600030101010101" pitchFamily="2" charset="-122"/>
              </a:rPr>
              <a:t>以色列通往红海、印度洋的唯一出海口，其安全依赖蒂朗海峡与苏伊士运河的通行自由。</a:t>
            </a:r>
            <a:endParaRPr lang="zh-CN" altLang="zh-CN" sz="32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zh-CN" altLang="zh-CN" sz="3200" b="1" dirty="0">
                <a:solidFill>
                  <a:schemeClr val="tx1"/>
                </a:solidFill>
                <a:effectLst/>
                <a:latin typeface="+mn-lt"/>
                <a:ea typeface="宋体" panose="02010600030101010101" pitchFamily="2" charset="-122"/>
                <a:cs typeface="宋体" panose="02010600030101010101" pitchFamily="2" charset="-122"/>
              </a:rPr>
              <a:t>红海危机：</a:t>
            </a:r>
            <a:r>
              <a:rPr lang="zh-CN" altLang="zh-CN" sz="3200" dirty="0">
                <a:solidFill>
                  <a:schemeClr val="tx1"/>
                </a:solidFill>
                <a:effectLst/>
                <a:latin typeface="+mn-lt"/>
                <a:ea typeface="宋体" panose="02010600030101010101" pitchFamily="2" charset="-122"/>
                <a:cs typeface="宋体" panose="02010600030101010101" pitchFamily="2" charset="-122"/>
              </a:rPr>
              <a:t>本轮冲突中，胡塞武装袭击红海商船，迫使货轮绕行好望角——以色列的</a:t>
            </a:r>
            <a:r>
              <a:rPr lang="en-US" altLang="zh-CN" sz="3200" dirty="0">
                <a:solidFill>
                  <a:schemeClr val="tx1"/>
                </a:solidFill>
                <a:effectLst/>
                <a:latin typeface="+mn-lt"/>
                <a:ea typeface="宋体" panose="02010600030101010101" pitchFamily="2" charset="-122"/>
                <a:cs typeface="宋体" panose="02010600030101010101" pitchFamily="2" charset="-122"/>
              </a:rPr>
              <a:t>"</a:t>
            </a:r>
            <a:r>
              <a:rPr lang="zh-CN" altLang="zh-CN" sz="3200" dirty="0">
                <a:solidFill>
                  <a:schemeClr val="tx1"/>
                </a:solidFill>
                <a:effectLst/>
                <a:latin typeface="+mn-lt"/>
                <a:ea typeface="宋体" panose="02010600030101010101" pitchFamily="2" charset="-122"/>
                <a:cs typeface="宋体" panose="02010600030101010101" pitchFamily="2" charset="-122"/>
              </a:rPr>
              <a:t>海上生命线</a:t>
            </a:r>
            <a:r>
              <a:rPr lang="en-US" altLang="zh-CN" sz="3200" dirty="0">
                <a:solidFill>
                  <a:schemeClr val="tx1"/>
                </a:solidFill>
                <a:effectLst/>
                <a:latin typeface="+mn-lt"/>
                <a:ea typeface="宋体" panose="02010600030101010101" pitchFamily="2" charset="-122"/>
                <a:cs typeface="宋体" panose="02010600030101010101" pitchFamily="2" charset="-122"/>
              </a:rPr>
              <a:t>"</a:t>
            </a:r>
            <a:r>
              <a:rPr lang="zh-CN" altLang="zh-CN" sz="3200" dirty="0">
                <a:solidFill>
                  <a:schemeClr val="tx1"/>
                </a:solidFill>
                <a:effectLst/>
                <a:latin typeface="+mn-lt"/>
                <a:ea typeface="宋体" panose="02010600030101010101" pitchFamily="2" charset="-122"/>
                <a:cs typeface="宋体" panose="02010600030101010101" pitchFamily="2" charset="-122"/>
              </a:rPr>
              <a:t>与全球贸易大动脉深度绑定。</a:t>
            </a:r>
            <a:endParaRPr lang="zh-CN" altLang="zh-CN" sz="3200" dirty="0">
              <a:solidFill>
                <a:schemeClr val="tx1"/>
              </a:solidFill>
              <a:effectLst/>
              <a:latin typeface="+mn-lt"/>
              <a:ea typeface="Noto Serif SC" panose="02020200000000000000" pitchFamily="18" charset="-122"/>
              <a:cs typeface="Times New Roman" panose="02020603050405020304" pitchFamily="18" charset="0"/>
            </a:endParaRPr>
          </a:p>
          <a:p>
            <a:pPr>
              <a:lnSpc>
                <a:spcPct val="100000"/>
              </a:lnSpc>
              <a:spcBef>
                <a:spcPts val="675"/>
              </a:spcBef>
              <a:spcAft>
                <a:spcPts val="675"/>
              </a:spcAft>
              <a:buNone/>
            </a:pPr>
            <a:r>
              <a:rPr lang="zh-CN" altLang="zh-CN" sz="3200" b="1" dirty="0">
                <a:solidFill>
                  <a:schemeClr val="tx1"/>
                </a:solidFill>
                <a:effectLst/>
                <a:latin typeface="+mn-lt"/>
                <a:ea typeface="宋体" panose="02010600030101010101" pitchFamily="2" charset="-122"/>
                <a:cs typeface="宋体" panose="02010600030101010101" pitchFamily="2" charset="-122"/>
              </a:rPr>
              <a:t>地中海港口：</a:t>
            </a:r>
            <a:r>
              <a:rPr lang="zh-CN" altLang="zh-CN" sz="3200" dirty="0">
                <a:solidFill>
                  <a:schemeClr val="tx1"/>
                </a:solidFill>
                <a:effectLst/>
                <a:latin typeface="+mn-lt"/>
                <a:ea typeface="宋体" panose="02010600030101010101" pitchFamily="2" charset="-122"/>
                <a:cs typeface="宋体" panose="02010600030101010101" pitchFamily="2" charset="-122"/>
              </a:rPr>
              <a:t>海法、阿什杜德是连接欧洲与地中海的贸易门户。</a:t>
            </a:r>
            <a:endParaRPr lang="zh-CN" altLang="zh-CN" dirty="0">
              <a:solidFill>
                <a:srgbClr val="1A1A1A"/>
              </a:solidFill>
              <a:effectLst/>
              <a:latin typeface="Noto Serif SC" panose="02020200000000000000" pitchFamily="18" charset="-122"/>
              <a:ea typeface="Noto Serif SC" panose="02020200000000000000" pitchFamily="18" charset="-122"/>
              <a:cs typeface="Times New Roman" panose="02020603050405020304" pitchFamily="18" charset="0"/>
            </a:endParaRPr>
          </a:p>
        </p:txBody>
      </p:sp>
    </p:spTree>
    <p:extLst>
      <p:ext uri="{BB962C8B-B14F-4D97-AF65-F5344CB8AC3E}">
        <p14:creationId xmlns:p14="http://schemas.microsoft.com/office/powerpoint/2010/main" val="90102369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AB4456B-EF94-F1C4-EC97-FC186E7FDC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525" y="671605"/>
            <a:ext cx="10902950" cy="5514790"/>
          </a:xfrm>
          <a:prstGeom prst="rect">
            <a:avLst/>
          </a:prstGeom>
        </p:spPr>
      </p:pic>
    </p:spTree>
    <p:extLst>
      <p:ext uri="{BB962C8B-B14F-4D97-AF65-F5344CB8AC3E}">
        <p14:creationId xmlns:p14="http://schemas.microsoft.com/office/powerpoint/2010/main" val="311171478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248839C-7A1E-C3E7-360F-701F64DEE7AC}"/>
              </a:ext>
            </a:extLst>
          </p:cNvPr>
          <p:cNvSpPr txBox="1"/>
          <p:nvPr/>
        </p:nvSpPr>
        <p:spPr>
          <a:xfrm>
            <a:off x="920750" y="890887"/>
            <a:ext cx="6400800" cy="5191165"/>
          </a:xfrm>
          <a:prstGeom prst="rect">
            <a:avLst/>
          </a:prstGeom>
          <a:noFill/>
        </p:spPr>
        <p:txBody>
          <a:bodyPr wrap="square">
            <a:spAutoFit/>
          </a:bodyPr>
          <a:lstStyle/>
          <a:p>
            <a:pPr marL="0" marR="0" indent="0" algn="l">
              <a:spcBef>
                <a:spcPts val="675"/>
              </a:spcBef>
              <a:spcAft>
                <a:spcPts val="675"/>
              </a:spcAft>
              <a:buNone/>
            </a:pPr>
            <a:r>
              <a:rPr lang="zh-CN" altLang="zh-CN" sz="2800" b="1" i="0" dirty="0">
                <a:solidFill>
                  <a:schemeClr val="tx1"/>
                </a:solidFill>
                <a:effectLst/>
                <a:latin typeface="+mn-lt"/>
                <a:ea typeface="Noto Serif SC" panose="02020200000000000000" pitchFamily="18" charset="-122"/>
              </a:rPr>
              <a:t>麦金德"心脏地带论"：</a:t>
            </a:r>
            <a:r>
              <a:rPr lang="zh-CN" altLang="zh-CN" sz="2800" b="0" i="0" dirty="0">
                <a:solidFill>
                  <a:schemeClr val="tx1"/>
                </a:solidFill>
                <a:effectLst/>
                <a:latin typeface="+mn-lt"/>
                <a:ea typeface="Noto Serif SC" panose="02020200000000000000" pitchFamily="18" charset="-122"/>
              </a:rPr>
              <a:t>中东是连接欧亚大陆"心脏地带"与边缘地区的枢纽，谁控制这里，谁就掌握了通往世界岛的门户。</a:t>
            </a:r>
          </a:p>
          <a:p>
            <a:pPr marL="0" marR="0" indent="0" algn="l">
              <a:spcBef>
                <a:spcPts val="675"/>
              </a:spcBef>
              <a:spcAft>
                <a:spcPts val="675"/>
              </a:spcAft>
              <a:buNone/>
            </a:pPr>
            <a:r>
              <a:rPr lang="zh-CN" altLang="zh-CN" sz="2800" b="1" i="0" dirty="0">
                <a:solidFill>
                  <a:schemeClr val="tx1"/>
                </a:solidFill>
                <a:effectLst/>
                <a:latin typeface="+mn-lt"/>
                <a:ea typeface="Noto Serif SC" panose="02020200000000000000" pitchFamily="18" charset="-122"/>
              </a:rPr>
              <a:t>斯皮克曼"边缘地带论"：</a:t>
            </a:r>
            <a:r>
              <a:rPr lang="zh-CN" altLang="zh-CN" sz="2800" b="0" i="0" dirty="0">
                <a:solidFill>
                  <a:schemeClr val="tx1"/>
                </a:solidFill>
                <a:effectLst/>
                <a:latin typeface="+mn-lt"/>
                <a:ea typeface="Noto Serif SC" panose="02020200000000000000" pitchFamily="18" charset="-122"/>
              </a:rPr>
              <a:t>以色列正处在欧亚大陆的"边缘地带"（Rimland）——海权与陆权争夺的最前沿。美国全力支持以色列，本质是控制边缘地带的战略支点。</a:t>
            </a:r>
          </a:p>
          <a:p>
            <a:pPr marL="0" marR="0" indent="0" algn="l">
              <a:spcBef>
                <a:spcPts val="675"/>
              </a:spcBef>
              <a:spcAft>
                <a:spcPts val="675"/>
              </a:spcAft>
              <a:buNone/>
            </a:pPr>
            <a:r>
              <a:rPr lang="zh-CN" altLang="zh-CN" sz="2800" b="1" i="0" dirty="0">
                <a:solidFill>
                  <a:schemeClr val="tx1"/>
                </a:solidFill>
                <a:effectLst/>
                <a:latin typeface="+mn-lt"/>
                <a:ea typeface="Noto Serif SC" panose="02020200000000000000" pitchFamily="18" charset="-122"/>
              </a:rPr>
              <a:t>马汉"海权论"：</a:t>
            </a:r>
            <a:r>
              <a:rPr lang="zh-CN" altLang="zh-CN" sz="2800" b="0" i="0" dirty="0">
                <a:solidFill>
                  <a:schemeClr val="tx1"/>
                </a:solidFill>
                <a:effectLst/>
                <a:latin typeface="+mn-lt"/>
                <a:ea typeface="Noto Serif SC" panose="02020200000000000000" pitchFamily="18" charset="-122"/>
              </a:rPr>
              <a:t>以色列对地中海—红海航道的关注，正是海权思维的体现。</a:t>
            </a:r>
            <a:endParaRPr lang="zh-CN" altLang="zh-CN" sz="1600" b="0" i="0" dirty="0">
              <a:solidFill>
                <a:srgbClr val="1A1A1A"/>
              </a:solidFill>
              <a:effectLst/>
              <a:latin typeface="Noto Serif SC" panose="02020200000000000000" pitchFamily="18" charset="-122"/>
              <a:ea typeface="Noto Serif SC" panose="02020200000000000000" pitchFamily="18" charset="-122"/>
            </a:endParaRPr>
          </a:p>
        </p:txBody>
      </p:sp>
      <p:sp>
        <p:nvSpPr>
          <p:cNvPr id="5" name="文本框 4"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827DD32F-7DFD-8BC1-4C0E-2D6E2877C097}"/>
              </a:ext>
            </a:extLst>
          </p:cNvPr>
          <p:cNvSpPr txBox="1"/>
          <p:nvPr/>
        </p:nvSpPr>
        <p:spPr>
          <a:xfrm>
            <a:off x="6880629" y="2579554"/>
            <a:ext cx="5018208" cy="906915"/>
          </a:xfrm>
          <a:prstGeom prst="rect">
            <a:avLst/>
          </a:prstGeom>
          <a:noFill/>
        </p:spPr>
        <p:txBody>
          <a:bodyPr wrap="square" rtlCol="0" anchor="t">
            <a:spAutoFit/>
          </a:bodyPr>
          <a:lstStyle/>
          <a:p>
            <a:pPr algn="ctr">
              <a:lnSpc>
                <a:spcPct val="150000"/>
              </a:lnSpc>
            </a:pPr>
            <a:r>
              <a:rPr lang="zh-CN" altLang="en-US"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西方的重视</a:t>
            </a:r>
            <a:endParaRPr lang="en-US" altLang="zh-CN" sz="4000" b="1" cap="all" dirty="0">
              <a:solidFill>
                <a:schemeClr val="tx1">
                  <a:lumMod val="85000"/>
                  <a:lumOff val="15000"/>
                </a:schemeClr>
              </a:solidFill>
              <a:latin typeface="思源宋体 CN Heavy" panose="02020900000000000000" pitchFamily="18" charset="-122"/>
              <a:ea typeface="思源宋体 CN Heavy" panose="02020900000000000000" pitchFamily="18" charset="-122"/>
            </a:endParaRPr>
          </a:p>
        </p:txBody>
      </p:sp>
    </p:spTree>
    <p:extLst>
      <p:ext uri="{BB962C8B-B14F-4D97-AF65-F5344CB8AC3E}">
        <p14:creationId xmlns:p14="http://schemas.microsoft.com/office/powerpoint/2010/main" val="330689605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2B343-6891-DC3F-8571-629494526C40}"/>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FFDB9639-A13C-7FA7-F9E2-FAF88A4B5181}"/>
              </a:ext>
            </a:extLst>
          </p:cNvPr>
          <p:cNvPicPr>
            <a:picLocks noChangeAspect="1"/>
          </p:cNvPicPr>
          <p:nvPr/>
        </p:nvPicPr>
        <p:blipFill>
          <a:blip r:embed="rId3"/>
          <a:srcRect b="19573"/>
          <a:stretch>
            <a:fillRect/>
          </a:stretch>
        </p:blipFill>
        <p:spPr>
          <a:xfrm>
            <a:off x="3692370" y="1153767"/>
            <a:ext cx="4785773" cy="2704081"/>
          </a:xfrm>
          <a:prstGeom prst="rect">
            <a:avLst/>
          </a:prstGeom>
        </p:spPr>
      </p:pic>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CA5A4E82-46A5-1BB9-0243-9A98B8E6354E}"/>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
        <p:nvSpPr>
          <p:cNvPr id="6" name="文本框 5"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37BBD069-BFDD-0741-EEFC-DC7FB7EB781E}"/>
              </a:ext>
            </a:extLst>
          </p:cNvPr>
          <p:cNvSpPr txBox="1"/>
          <p:nvPr/>
        </p:nvSpPr>
        <p:spPr>
          <a:xfrm>
            <a:off x="3444129" y="4407798"/>
            <a:ext cx="5303739" cy="1015663"/>
          </a:xfrm>
          <a:prstGeom prst="rect">
            <a:avLst/>
          </a:prstGeom>
          <a:noFill/>
        </p:spPr>
        <p:txBody>
          <a:bodyPr wrap="square" rtlCol="0" anchor="t">
            <a:spAutoFit/>
          </a:bodyPr>
          <a:lstStyle/>
          <a:p>
            <a:pPr algn="dist"/>
            <a:r>
              <a:rPr lang="en-US" sz="6000"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rPr>
              <a:t>Part </a:t>
            </a:r>
            <a:r>
              <a:rPr lang="en-US" sz="6000"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THREE</a:t>
            </a:r>
            <a:endParaRPr sz="6000"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endParaRPr>
          </a:p>
        </p:txBody>
      </p:sp>
      <p:sp>
        <p:nvSpPr>
          <p:cNvPr id="9" name="文本框 8"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57F63D9B-82BC-4104-8690-1BDB6FC97955}"/>
              </a:ext>
            </a:extLst>
          </p:cNvPr>
          <p:cNvSpPr txBox="1"/>
          <p:nvPr/>
        </p:nvSpPr>
        <p:spPr>
          <a:xfrm>
            <a:off x="3963293" y="3940174"/>
            <a:ext cx="4265410" cy="499624"/>
          </a:xfrm>
          <a:prstGeom prst="rect">
            <a:avLst/>
          </a:prstGeom>
          <a:noFill/>
        </p:spPr>
        <p:txBody>
          <a:bodyPr wrap="square" rtlCol="0" anchor="t">
            <a:spAutoFit/>
          </a:bodyPr>
          <a:lstStyle/>
          <a:p>
            <a:pPr algn="ctr">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巴以冲突：个人影响导致的“泥潭“</a:t>
            </a:r>
          </a:p>
        </p:txBody>
      </p:sp>
    </p:spTree>
    <p:custDataLst>
      <p:tags r:id="rId1"/>
    </p:custDataLst>
    <p:extLst>
      <p:ext uri="{BB962C8B-B14F-4D97-AF65-F5344CB8AC3E}">
        <p14:creationId xmlns:p14="http://schemas.microsoft.com/office/powerpoint/2010/main" val="253146575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D8620F-497D-13FC-FF7E-7760FA088BC1}"/>
              </a:ext>
            </a:extLst>
          </p:cNvPr>
          <p:cNvSpPr txBox="1"/>
          <p:nvPr/>
        </p:nvSpPr>
        <p:spPr>
          <a:xfrm>
            <a:off x="812800" y="955586"/>
            <a:ext cx="10566400" cy="5824671"/>
          </a:xfrm>
          <a:prstGeom prst="rect">
            <a:avLst/>
          </a:prstGeom>
          <a:noFill/>
        </p:spPr>
        <p:txBody>
          <a:bodyPr wrap="square">
            <a:spAutoFit/>
          </a:bodyPr>
          <a:lstStyle/>
          <a:p>
            <a:pPr marL="342900" marR="0" lvl="0" indent="-342900" algn="l">
              <a:spcAft>
                <a:spcPts val="300"/>
              </a:spcAft>
              <a:buFont typeface="+mj-lt"/>
              <a:buAutoNum type="arabicPeriod"/>
            </a:pPr>
            <a:r>
              <a:rPr lang="zh-CN" altLang="zh-CN" sz="2400" b="1" i="0" dirty="0">
                <a:effectLst/>
                <a:latin typeface="+mn-lt"/>
              </a:rPr>
              <a:t>虐杀医护人员（15 名 + 推土机掩埋）</a:t>
            </a:r>
            <a:r>
              <a:rPr lang="zh-CN" altLang="zh-CN" sz="2400" b="0" i="0" dirty="0">
                <a:effectLst/>
                <a:latin typeface="+mn-lt"/>
              </a:rPr>
              <a:t>​：2025-03-23 拉法，以军向 5 辆救护车+消防车+联合国车开火，15 名救援人员遇难，事后推土机把车和遗体碾压倒扣覆沙埋成乱葬岗；幸存者证词遭 stripped、捆绑、虐待。</a:t>
            </a:r>
            <a:endParaRPr lang="en-US" altLang="zh-CN" sz="2400" b="0" i="0" dirty="0">
              <a:effectLst/>
              <a:latin typeface="+mn-lt"/>
            </a:endParaRPr>
          </a:p>
          <a:p>
            <a:pPr marL="342900" marR="0" lvl="0" indent="-342900" algn="l">
              <a:spcAft>
                <a:spcPts val="300"/>
              </a:spcAft>
              <a:buFont typeface="+mj-lt"/>
              <a:buAutoNum type="arabicPeriod"/>
            </a:pPr>
            <a:r>
              <a:rPr lang="en-US" altLang="zh-CN" sz="2400" b="1" i="0" dirty="0">
                <a:effectLst/>
                <a:latin typeface="-apple-system"/>
              </a:rPr>
              <a:t>IDF </a:t>
            </a:r>
            <a:r>
              <a:rPr lang="zh-CN" altLang="en-US" sz="2400" b="1" i="0" dirty="0">
                <a:effectLst/>
                <a:latin typeface="-apple-system"/>
              </a:rPr>
              <a:t>杀人竞赛 </a:t>
            </a:r>
            <a:r>
              <a:rPr lang="en-US" altLang="zh-CN" sz="2400" b="1" i="0" dirty="0">
                <a:effectLst/>
                <a:latin typeface="-apple-system"/>
              </a:rPr>
              <a:t>/ "</a:t>
            </a:r>
            <a:r>
              <a:rPr lang="zh-CN" altLang="en-US" sz="2400" b="1" i="0" dirty="0">
                <a:effectLst/>
                <a:latin typeface="-apple-system"/>
              </a:rPr>
              <a:t>尸体线</a:t>
            </a:r>
            <a:r>
              <a:rPr lang="en-US" altLang="zh-CN" sz="2400" b="1" i="0" dirty="0">
                <a:effectLst/>
                <a:latin typeface="-apple-system"/>
              </a:rPr>
              <a:t>"</a:t>
            </a:r>
            <a:r>
              <a:rPr lang="zh-CN" altLang="en-US" sz="2400" b="1" i="0" dirty="0">
                <a:effectLst/>
                <a:latin typeface="-apple-system"/>
              </a:rPr>
              <a:t>杀戮区：</a:t>
            </a:r>
            <a:r>
              <a:rPr lang="zh-CN" altLang="en-US" sz="2400" b="0" i="0" dirty="0">
                <a:effectLst/>
                <a:latin typeface="-apple-system"/>
              </a:rPr>
              <a:t>内察里姆走廊被划为</a:t>
            </a:r>
            <a:r>
              <a:rPr lang="en-US" altLang="zh-CN" sz="2400" b="0" i="0" dirty="0">
                <a:effectLst/>
                <a:latin typeface="-apple-system"/>
              </a:rPr>
              <a:t>"</a:t>
            </a:r>
            <a:r>
              <a:rPr lang="zh-CN" altLang="en-US" sz="2400" b="0" i="0" dirty="0">
                <a:effectLst/>
                <a:latin typeface="-apple-system"/>
              </a:rPr>
              <a:t>杀戮区</a:t>
            </a:r>
            <a:r>
              <a:rPr lang="en-US" altLang="zh-CN" sz="2400" b="0" i="0" dirty="0">
                <a:effectLst/>
                <a:latin typeface="-apple-system"/>
              </a:rPr>
              <a:t>"</a:t>
            </a:r>
            <a:r>
              <a:rPr lang="zh-CN" altLang="en-US" sz="2400" b="0" i="0" dirty="0">
                <a:effectLst/>
                <a:latin typeface="-apple-system"/>
              </a:rPr>
              <a:t>，狙击手视野所及皆射杀；部队间比赛谁杀得多（</a:t>
            </a:r>
            <a:r>
              <a:rPr lang="en-US" altLang="zh-CN" sz="2400" b="0" i="0" dirty="0">
                <a:effectLst/>
                <a:latin typeface="-apple-system"/>
              </a:rPr>
              <a:t>"99 </a:t>
            </a:r>
            <a:r>
              <a:rPr lang="zh-CN" altLang="en-US" sz="2400" b="0" i="0" dirty="0">
                <a:effectLst/>
                <a:latin typeface="-apple-system"/>
              </a:rPr>
              <a:t>师杀 </a:t>
            </a:r>
            <a:r>
              <a:rPr lang="en-US" altLang="zh-CN" sz="2400" b="0" i="0" dirty="0">
                <a:effectLst/>
                <a:latin typeface="-apple-system"/>
              </a:rPr>
              <a:t>150</a:t>
            </a:r>
            <a:r>
              <a:rPr lang="zh-CN" altLang="en-US" sz="2400" b="0" i="0" dirty="0">
                <a:effectLst/>
                <a:latin typeface="-apple-system"/>
              </a:rPr>
              <a:t>，下一师目标 </a:t>
            </a:r>
            <a:r>
              <a:rPr lang="en-US" altLang="zh-CN" sz="2400" b="0" i="0" dirty="0">
                <a:effectLst/>
                <a:latin typeface="-apple-system"/>
              </a:rPr>
              <a:t>200"</a:t>
            </a:r>
            <a:r>
              <a:rPr lang="zh-CN" altLang="en-US" sz="2400" b="0" i="0" dirty="0">
                <a:effectLst/>
                <a:latin typeface="-apple-system"/>
              </a:rPr>
              <a:t>），</a:t>
            </a:r>
            <a:r>
              <a:rPr lang="en-US" altLang="zh-CN" sz="2400" b="0" i="0" dirty="0">
                <a:effectLst/>
                <a:latin typeface="-apple-system"/>
              </a:rPr>
              <a:t>200+ </a:t>
            </a:r>
            <a:r>
              <a:rPr lang="zh-CN" altLang="en-US" sz="2400" b="0" i="0" dirty="0">
                <a:effectLst/>
                <a:latin typeface="-apple-system"/>
              </a:rPr>
              <a:t>死者仅约 </a:t>
            </a:r>
            <a:r>
              <a:rPr lang="en-US" altLang="zh-CN" sz="2400" b="0" i="0" dirty="0">
                <a:effectLst/>
                <a:latin typeface="-apple-system"/>
              </a:rPr>
              <a:t>10 </a:t>
            </a:r>
            <a:r>
              <a:rPr lang="zh-CN" altLang="en-US" sz="2400" b="0" i="0" dirty="0">
                <a:effectLst/>
                <a:latin typeface="-apple-system"/>
              </a:rPr>
              <a:t>人确为哈马斯。</a:t>
            </a:r>
          </a:p>
          <a:p>
            <a:pPr marL="342900" marR="0" lvl="0" indent="-342900" algn="l">
              <a:spcAft>
                <a:spcPts val="300"/>
              </a:spcAft>
              <a:buFont typeface="+mj-lt"/>
              <a:buAutoNum type="arabicPeriod"/>
            </a:pPr>
            <a:r>
              <a:rPr lang="zh-CN" altLang="en-US" sz="2400" b="1" i="0" dirty="0">
                <a:effectLst/>
                <a:latin typeface="-apple-system"/>
              </a:rPr>
              <a:t>环保少女遭精神折磨：</a:t>
            </a:r>
            <a:r>
              <a:rPr lang="en-US" altLang="zh-CN" sz="2400" b="0" i="0" dirty="0">
                <a:effectLst/>
                <a:latin typeface="-apple-system"/>
              </a:rPr>
              <a:t>2025-06-09 </a:t>
            </a:r>
            <a:r>
              <a:rPr lang="zh-CN" altLang="en-US" sz="2400" b="0" i="0" dirty="0">
                <a:effectLst/>
                <a:latin typeface="-apple-system"/>
              </a:rPr>
              <a:t>格蕾塔</a:t>
            </a:r>
            <a:r>
              <a:rPr lang="en-US" altLang="zh-CN" sz="2400" b="0" i="0" dirty="0">
                <a:effectLst/>
                <a:latin typeface="-apple-system"/>
              </a:rPr>
              <a:t>·</a:t>
            </a:r>
            <a:r>
              <a:rPr lang="zh-CN" altLang="en-US" sz="2400" b="0" i="0" dirty="0">
                <a:effectLst/>
                <a:latin typeface="-apple-system"/>
              </a:rPr>
              <a:t>桑伯格所乘</a:t>
            </a:r>
            <a:r>
              <a:rPr lang="en-US" altLang="zh-CN" sz="2400" b="0" i="0" dirty="0">
                <a:effectLst/>
                <a:latin typeface="-apple-system"/>
              </a:rPr>
              <a:t>"</a:t>
            </a:r>
            <a:r>
              <a:rPr lang="zh-CN" altLang="en-US" sz="2400" b="0" i="0" dirty="0">
                <a:effectLst/>
                <a:latin typeface="-apple-system"/>
              </a:rPr>
              <a:t>迈德兰号</a:t>
            </a:r>
            <a:r>
              <a:rPr lang="en-US" altLang="zh-CN" sz="2400" b="0" i="0" dirty="0">
                <a:effectLst/>
                <a:latin typeface="-apple-system"/>
              </a:rPr>
              <a:t>"</a:t>
            </a:r>
            <a:r>
              <a:rPr lang="zh-CN" altLang="en-US" sz="2400" b="0" i="0" dirty="0">
                <a:effectLst/>
                <a:latin typeface="-apple-system"/>
              </a:rPr>
              <a:t>在公海被拦截扣押；阿斯伯格的她被刻意剥夺睡眠致神经性痛苦，众人被强制洗脑、威胁撞墙。</a:t>
            </a:r>
            <a:endParaRPr lang="en-US" altLang="zh-CN" sz="2400" b="0" i="0" dirty="0">
              <a:effectLst/>
              <a:latin typeface="-apple-system"/>
            </a:endParaRPr>
          </a:p>
          <a:p>
            <a:pPr marL="342900" marR="0" lvl="0" indent="-342900" algn="l">
              <a:spcAft>
                <a:spcPts val="300"/>
              </a:spcAft>
              <a:buFont typeface="+mj-lt"/>
              <a:buAutoNum type="arabicPeriod"/>
            </a:pPr>
            <a:r>
              <a:rPr lang="zh-CN" altLang="en-US" sz="2400" b="1" i="0" dirty="0">
                <a:effectLst/>
                <a:latin typeface="-apple-system"/>
              </a:rPr>
              <a:t>炸国际记者 </a:t>
            </a:r>
            <a:r>
              <a:rPr lang="en-US" altLang="zh-CN" sz="2400" b="1" i="0" dirty="0">
                <a:effectLst/>
                <a:latin typeface="-apple-system"/>
              </a:rPr>
              <a:t>+ </a:t>
            </a:r>
            <a:r>
              <a:rPr lang="zh-CN" altLang="en-US" sz="2400" b="1" i="0" dirty="0">
                <a:effectLst/>
                <a:latin typeface="-apple-system"/>
              </a:rPr>
              <a:t>二次轰炸（</a:t>
            </a:r>
            <a:r>
              <a:rPr lang="en-US" altLang="zh-CN" sz="2400" b="1" i="0" dirty="0">
                <a:effectLst/>
                <a:latin typeface="-apple-system"/>
              </a:rPr>
              <a:t>Double Tap</a:t>
            </a:r>
            <a:r>
              <a:rPr lang="zh-CN" altLang="en-US" sz="2400" b="1" i="0" dirty="0">
                <a:effectLst/>
                <a:latin typeface="-apple-system"/>
              </a:rPr>
              <a:t>）​：</a:t>
            </a:r>
            <a:r>
              <a:rPr lang="en-US" altLang="zh-CN" sz="2400" b="0" i="0" dirty="0">
                <a:effectLst/>
                <a:latin typeface="-apple-system"/>
              </a:rPr>
              <a:t>2025-08-25 </a:t>
            </a:r>
            <a:r>
              <a:rPr lang="zh-CN" altLang="en-US" sz="2400" b="0" i="0" dirty="0">
                <a:effectLst/>
                <a:latin typeface="-apple-system"/>
              </a:rPr>
              <a:t>汗尤尼斯纳赛尔医院，以军先炸顶层、数分钟后在记者</a:t>
            </a:r>
            <a:r>
              <a:rPr lang="en-US" altLang="zh-CN" sz="2400" b="0" i="0" dirty="0">
                <a:effectLst/>
                <a:latin typeface="-apple-system"/>
              </a:rPr>
              <a:t>/</a:t>
            </a:r>
            <a:r>
              <a:rPr lang="zh-CN" altLang="en-US" sz="2400" b="0" i="0" dirty="0">
                <a:effectLst/>
                <a:latin typeface="-apple-system"/>
              </a:rPr>
              <a:t>救援冲上楼梯救人时补击，</a:t>
            </a:r>
            <a:r>
              <a:rPr lang="en-US" altLang="zh-CN" sz="2400" b="0" i="0" dirty="0">
                <a:effectLst/>
                <a:latin typeface="-apple-system"/>
              </a:rPr>
              <a:t>5 </a:t>
            </a:r>
            <a:r>
              <a:rPr lang="zh-CN" altLang="en-US" sz="2400" b="0" i="0" dirty="0">
                <a:effectLst/>
                <a:latin typeface="-apple-system"/>
              </a:rPr>
              <a:t>名路透</a:t>
            </a:r>
            <a:r>
              <a:rPr lang="en-US" altLang="zh-CN" sz="2400" b="0" i="0" dirty="0">
                <a:effectLst/>
                <a:latin typeface="-apple-system"/>
              </a:rPr>
              <a:t>/</a:t>
            </a:r>
            <a:r>
              <a:rPr lang="zh-CN" altLang="en-US" sz="2400" b="0" i="0" dirty="0">
                <a:effectLst/>
                <a:latin typeface="-apple-system"/>
              </a:rPr>
              <a:t>美联</a:t>
            </a:r>
            <a:r>
              <a:rPr lang="en-US" altLang="zh-CN" sz="2400" b="0" i="0" dirty="0">
                <a:effectLst/>
                <a:latin typeface="-apple-system"/>
              </a:rPr>
              <a:t>/</a:t>
            </a:r>
            <a:r>
              <a:rPr lang="zh-CN" altLang="en-US" sz="2400" b="0" i="0" dirty="0">
                <a:effectLst/>
                <a:latin typeface="-apple-system"/>
              </a:rPr>
              <a:t>半岛记者遇难；</a:t>
            </a:r>
            <a:r>
              <a:rPr lang="en-US" altLang="zh-CN" sz="2400" b="0" i="0" dirty="0">
                <a:effectLst/>
                <a:latin typeface="-apple-system"/>
              </a:rPr>
              <a:t>BBC </a:t>
            </a:r>
            <a:r>
              <a:rPr lang="zh-CN" altLang="en-US" sz="2400" b="0" i="0" dirty="0">
                <a:effectLst/>
                <a:latin typeface="-apple-system"/>
              </a:rPr>
              <a:t>复核当天至少被击中 </a:t>
            </a:r>
            <a:r>
              <a:rPr lang="en-US" altLang="zh-CN" sz="2400" b="0" i="0" dirty="0">
                <a:effectLst/>
                <a:latin typeface="-apple-system"/>
              </a:rPr>
              <a:t>4 </a:t>
            </a:r>
            <a:r>
              <a:rPr lang="zh-CN" altLang="en-US" sz="2400" b="0" i="0" dirty="0">
                <a:effectLst/>
                <a:latin typeface="-apple-system"/>
              </a:rPr>
              <a:t>次。加沙战争已成史上对记者最致命冲突（</a:t>
            </a:r>
            <a:r>
              <a:rPr lang="en-US" altLang="zh-CN" sz="2400" b="0" i="0" dirty="0">
                <a:effectLst/>
                <a:latin typeface="-apple-system"/>
              </a:rPr>
              <a:t>270+ </a:t>
            </a:r>
            <a:r>
              <a:rPr lang="zh-CN" altLang="en-US" sz="2400" b="0" i="0" dirty="0">
                <a:effectLst/>
                <a:latin typeface="-apple-system"/>
              </a:rPr>
              <a:t>身亡）。</a:t>
            </a:r>
          </a:p>
          <a:p>
            <a:pPr marR="0" lvl="0" algn="l">
              <a:spcAft>
                <a:spcPts val="300"/>
              </a:spcAft>
            </a:pPr>
            <a:endParaRPr lang="zh-CN" altLang="en-US" sz="2400" b="0" i="0" dirty="0">
              <a:effectLst/>
              <a:latin typeface="-apple-system"/>
            </a:endParaRPr>
          </a:p>
          <a:p>
            <a:pPr marL="342900" marR="0" lvl="0" indent="-342900" algn="l">
              <a:spcAft>
                <a:spcPts val="300"/>
              </a:spcAft>
              <a:buFont typeface="+mj-lt"/>
              <a:buAutoNum type="arabicPeriod"/>
            </a:pPr>
            <a:endParaRPr lang="en-US" altLang="zh-CN" sz="2400" b="0" i="0" dirty="0">
              <a:effectLst/>
              <a:latin typeface="-apple-system"/>
            </a:endParaRPr>
          </a:p>
        </p:txBody>
      </p:sp>
    </p:spTree>
    <p:extLst>
      <p:ext uri="{BB962C8B-B14F-4D97-AF65-F5344CB8AC3E}">
        <p14:creationId xmlns:p14="http://schemas.microsoft.com/office/powerpoint/2010/main" val="120420936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000008689">
            <a:extLst>
              <a:ext uri="{FF2B5EF4-FFF2-40B4-BE49-F238E27FC236}">
                <a16:creationId xmlns:a16="http://schemas.microsoft.com/office/drawing/2014/main" id="{2769FF9A-F26E-C892-1EC9-22AD3F89FD1E}"/>
              </a:ext>
            </a:extLst>
          </p:cNvPr>
          <p:cNvPicPr>
            <a:picLocks noChangeAspect="1"/>
          </p:cNvPicPr>
          <p:nvPr/>
        </p:nvPicPr>
        <p:blipFill>
          <a:blip r:embed="rId2"/>
          <a:stretch>
            <a:fillRect/>
          </a:stretch>
        </p:blipFill>
        <p:spPr>
          <a:xfrm>
            <a:off x="941916" y="1370012"/>
            <a:ext cx="10308167" cy="4638675"/>
          </a:xfrm>
          <a:prstGeom prst="rect">
            <a:avLst/>
          </a:prstGeom>
        </p:spPr>
      </p:pic>
      <p:sp>
        <p:nvSpPr>
          <p:cNvPr id="4" name="文本框 3">
            <a:extLst>
              <a:ext uri="{FF2B5EF4-FFF2-40B4-BE49-F238E27FC236}">
                <a16:creationId xmlns:a16="http://schemas.microsoft.com/office/drawing/2014/main" id="{6A131B03-A1C3-30F4-8D1A-51992415F832}"/>
              </a:ext>
            </a:extLst>
          </p:cNvPr>
          <p:cNvSpPr txBox="1"/>
          <p:nvPr/>
        </p:nvSpPr>
        <p:spPr>
          <a:xfrm>
            <a:off x="857250" y="849313"/>
            <a:ext cx="6096000" cy="461665"/>
          </a:xfrm>
          <a:prstGeom prst="rect">
            <a:avLst/>
          </a:prstGeom>
          <a:noFill/>
        </p:spPr>
        <p:txBody>
          <a:bodyPr wrap="square">
            <a:spAutoFit/>
          </a:bodyPr>
          <a:lstStyle/>
          <a:p>
            <a:r>
              <a:rPr lang="zh-CN" altLang="zh-CN" sz="2400" b="1" i="0" dirty="0">
                <a:effectLst/>
                <a:latin typeface="+mn-lt"/>
              </a:rPr>
              <a:t>虐杀医护人员（15 名 + 推土机掩埋）</a:t>
            </a:r>
            <a:endParaRPr lang="zh-CN" altLang="en-US" dirty="0"/>
          </a:p>
        </p:txBody>
      </p:sp>
    </p:spTree>
    <p:extLst>
      <p:ext uri="{BB962C8B-B14F-4D97-AF65-F5344CB8AC3E}">
        <p14:creationId xmlns:p14="http://schemas.microsoft.com/office/powerpoint/2010/main" val="89870581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301CF-4CA2-5E9F-677F-61392EF553C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C28BF73-7D76-CFA2-ECEE-4813D464ED1A}"/>
              </a:ext>
            </a:extLst>
          </p:cNvPr>
          <p:cNvSpPr txBox="1"/>
          <p:nvPr/>
        </p:nvSpPr>
        <p:spPr>
          <a:xfrm>
            <a:off x="876300" y="772468"/>
            <a:ext cx="6096000" cy="461665"/>
          </a:xfrm>
          <a:prstGeom prst="rect">
            <a:avLst/>
          </a:prstGeom>
          <a:noFill/>
        </p:spPr>
        <p:txBody>
          <a:bodyPr wrap="square">
            <a:spAutoFit/>
          </a:bodyPr>
          <a:lstStyle/>
          <a:p>
            <a:r>
              <a:rPr lang="en-US" altLang="zh-CN" sz="2400" b="1" i="0" dirty="0">
                <a:effectLst/>
                <a:latin typeface="-apple-system"/>
              </a:rPr>
              <a:t>IDF </a:t>
            </a:r>
            <a:r>
              <a:rPr lang="zh-CN" altLang="en-US" sz="2400" b="1" i="0" dirty="0">
                <a:effectLst/>
                <a:latin typeface="-apple-system"/>
              </a:rPr>
              <a:t>杀人竞赛 </a:t>
            </a:r>
            <a:r>
              <a:rPr lang="en-US" altLang="zh-CN" sz="2400" b="1" i="0" dirty="0">
                <a:effectLst/>
                <a:latin typeface="-apple-system"/>
              </a:rPr>
              <a:t>/ "</a:t>
            </a:r>
            <a:r>
              <a:rPr lang="zh-CN" altLang="en-US" sz="2400" b="1" i="0" dirty="0">
                <a:effectLst/>
                <a:latin typeface="-apple-system"/>
              </a:rPr>
              <a:t>尸体线</a:t>
            </a:r>
            <a:r>
              <a:rPr lang="en-US" altLang="zh-CN" sz="2400" b="1" i="0" dirty="0">
                <a:effectLst/>
                <a:latin typeface="-apple-system"/>
              </a:rPr>
              <a:t>"</a:t>
            </a:r>
            <a:r>
              <a:rPr lang="zh-CN" altLang="en-US" sz="2400" b="1" i="0" dirty="0">
                <a:effectLst/>
                <a:latin typeface="-apple-system"/>
              </a:rPr>
              <a:t>杀戮区</a:t>
            </a:r>
            <a:endParaRPr lang="zh-CN" altLang="en-US" dirty="0"/>
          </a:p>
        </p:txBody>
      </p:sp>
      <p:sp>
        <p:nvSpPr>
          <p:cNvPr id="5" name="文本框 4">
            <a:extLst>
              <a:ext uri="{FF2B5EF4-FFF2-40B4-BE49-F238E27FC236}">
                <a16:creationId xmlns:a16="http://schemas.microsoft.com/office/drawing/2014/main" id="{64C14C2E-D1BE-C737-10D1-BEF8B235871D}"/>
              </a:ext>
            </a:extLst>
          </p:cNvPr>
          <p:cNvSpPr txBox="1"/>
          <p:nvPr/>
        </p:nvSpPr>
        <p:spPr>
          <a:xfrm>
            <a:off x="4260850" y="1234133"/>
            <a:ext cx="7308850" cy="461665"/>
          </a:xfrm>
          <a:prstGeom prst="rect">
            <a:avLst/>
          </a:prstGeom>
          <a:noFill/>
        </p:spPr>
        <p:txBody>
          <a:bodyPr wrap="square">
            <a:spAutoFit/>
          </a:bodyPr>
          <a:lstStyle/>
          <a:p>
            <a:r>
              <a:rPr lang="en-US" altLang="zh-CN" sz="2400" b="1" i="0" dirty="0">
                <a:effectLst/>
                <a:latin typeface="-apple-system"/>
              </a:rPr>
              <a:t>——</a:t>
            </a:r>
            <a:r>
              <a:rPr lang="zh-CN" altLang="en-US" sz="2400" b="1" i="0" dirty="0">
                <a:effectLst/>
                <a:latin typeface="-apple-system"/>
              </a:rPr>
              <a:t>直升机导弹炸儿童来取乐 </a:t>
            </a:r>
            <a:r>
              <a:rPr lang="en-US" altLang="zh-CN" sz="2400" b="1" i="0" dirty="0">
                <a:effectLst/>
                <a:latin typeface="-apple-system"/>
              </a:rPr>
              <a:t>/ </a:t>
            </a:r>
            <a:r>
              <a:rPr lang="zh-CN" altLang="en-US" sz="2400" b="1" i="0" dirty="0">
                <a:effectLst/>
                <a:latin typeface="-apple-system"/>
              </a:rPr>
              <a:t>比赛谁先杀到一百个</a:t>
            </a:r>
            <a:endParaRPr lang="zh-CN" altLang="en-US" dirty="0"/>
          </a:p>
        </p:txBody>
      </p:sp>
      <p:sp>
        <p:nvSpPr>
          <p:cNvPr id="7" name="文本框 6">
            <a:extLst>
              <a:ext uri="{FF2B5EF4-FFF2-40B4-BE49-F238E27FC236}">
                <a16:creationId xmlns:a16="http://schemas.microsoft.com/office/drawing/2014/main" id="{1DDAAC73-BDC3-FE22-0314-AF446CCD4F26}"/>
              </a:ext>
            </a:extLst>
          </p:cNvPr>
          <p:cNvSpPr txBox="1"/>
          <p:nvPr/>
        </p:nvSpPr>
        <p:spPr>
          <a:xfrm>
            <a:off x="876300" y="5685422"/>
            <a:ext cx="6096000" cy="400110"/>
          </a:xfrm>
          <a:prstGeom prst="rect">
            <a:avLst/>
          </a:prstGeom>
          <a:noFill/>
        </p:spPr>
        <p:txBody>
          <a:bodyPr wrap="square">
            <a:spAutoFit/>
          </a:bodyPr>
          <a:lstStyle/>
          <a:p>
            <a:r>
              <a:rPr lang="zh-CN" altLang="en-US" sz="2000" i="0" dirty="0">
                <a:effectLst/>
                <a:latin typeface="-apple-system"/>
              </a:rPr>
              <a:t>原因：把死的平民当成哈马斯轰杀上报邀功</a:t>
            </a:r>
            <a:endParaRPr lang="zh-CN" altLang="en-US" sz="1600" dirty="0"/>
          </a:p>
        </p:txBody>
      </p:sp>
      <p:pic>
        <p:nvPicPr>
          <p:cNvPr id="9" name="图片 8">
            <a:extLst>
              <a:ext uri="{FF2B5EF4-FFF2-40B4-BE49-F238E27FC236}">
                <a16:creationId xmlns:a16="http://schemas.microsoft.com/office/drawing/2014/main" id="{A7FF6C97-65E3-DDF3-EA5F-4B16D2CE90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02000" y="1862666"/>
            <a:ext cx="8134350" cy="3655888"/>
          </a:xfrm>
          <a:prstGeom prst="rect">
            <a:avLst/>
          </a:prstGeom>
        </p:spPr>
      </p:pic>
      <p:pic>
        <p:nvPicPr>
          <p:cNvPr id="12" name="图片 11">
            <a:extLst>
              <a:ext uri="{FF2B5EF4-FFF2-40B4-BE49-F238E27FC236}">
                <a16:creationId xmlns:a16="http://schemas.microsoft.com/office/drawing/2014/main" id="{75B79ECF-0EBC-AB87-EA17-C0BF396472A6}"/>
              </a:ext>
            </a:extLst>
          </p:cNvPr>
          <p:cNvPicPr>
            <a:picLocks noChangeAspect="1"/>
          </p:cNvPicPr>
          <p:nvPr/>
        </p:nvPicPr>
        <p:blipFill>
          <a:blip r:embed="rId3">
            <a:extLst>
              <a:ext uri="{28A0092B-C50C-407E-A947-70E740481C1C}">
                <a14:useLocalDpi xmlns:a14="http://schemas.microsoft.com/office/drawing/2010/main" val="0"/>
              </a:ext>
            </a:extLst>
          </a:blip>
          <a:srcRect l="64114" t="29025" r="10469" b="18711"/>
          <a:stretch>
            <a:fillRect/>
          </a:stretch>
        </p:blipFill>
        <p:spPr>
          <a:xfrm>
            <a:off x="755650" y="2258685"/>
            <a:ext cx="3098800" cy="2863850"/>
          </a:xfrm>
          <a:prstGeom prst="rect">
            <a:avLst/>
          </a:prstGeom>
        </p:spPr>
      </p:pic>
    </p:spTree>
    <p:extLst>
      <p:ext uri="{BB962C8B-B14F-4D97-AF65-F5344CB8AC3E}">
        <p14:creationId xmlns:p14="http://schemas.microsoft.com/office/powerpoint/2010/main" val="3762240974"/>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000008686">
            <a:extLst>
              <a:ext uri="{FF2B5EF4-FFF2-40B4-BE49-F238E27FC236}">
                <a16:creationId xmlns:a16="http://schemas.microsoft.com/office/drawing/2014/main" id="{D32C8910-5499-EF85-1DCE-D2304AC642A8}"/>
              </a:ext>
            </a:extLst>
          </p:cNvPr>
          <p:cNvPicPr>
            <a:picLocks noChangeAspect="1"/>
          </p:cNvPicPr>
          <p:nvPr/>
        </p:nvPicPr>
        <p:blipFill>
          <a:blip r:embed="rId2"/>
          <a:stretch>
            <a:fillRect/>
          </a:stretch>
        </p:blipFill>
        <p:spPr>
          <a:xfrm>
            <a:off x="1347647" y="1281112"/>
            <a:ext cx="9496705" cy="4295775"/>
          </a:xfrm>
          <a:prstGeom prst="rect">
            <a:avLst/>
          </a:prstGeom>
        </p:spPr>
      </p:pic>
      <p:sp>
        <p:nvSpPr>
          <p:cNvPr id="4" name="文本框 3">
            <a:extLst>
              <a:ext uri="{FF2B5EF4-FFF2-40B4-BE49-F238E27FC236}">
                <a16:creationId xmlns:a16="http://schemas.microsoft.com/office/drawing/2014/main" id="{E789E6C1-5D8C-083C-7698-7D07870ADE35}"/>
              </a:ext>
            </a:extLst>
          </p:cNvPr>
          <p:cNvSpPr txBox="1"/>
          <p:nvPr/>
        </p:nvSpPr>
        <p:spPr>
          <a:xfrm>
            <a:off x="819150" y="804218"/>
            <a:ext cx="6096000" cy="461665"/>
          </a:xfrm>
          <a:prstGeom prst="rect">
            <a:avLst/>
          </a:prstGeom>
          <a:noFill/>
        </p:spPr>
        <p:txBody>
          <a:bodyPr wrap="square">
            <a:spAutoFit/>
          </a:bodyPr>
          <a:lstStyle/>
          <a:p>
            <a:r>
              <a:rPr lang="zh-CN" altLang="en-US" sz="2400" b="1" i="0" dirty="0">
                <a:effectLst/>
                <a:latin typeface="-apple-system"/>
              </a:rPr>
              <a:t>环保少女遭精神折磨</a:t>
            </a:r>
            <a:endParaRPr lang="zh-CN" altLang="en-US" dirty="0"/>
          </a:p>
        </p:txBody>
      </p:sp>
    </p:spTree>
    <p:extLst>
      <p:ext uri="{BB962C8B-B14F-4D97-AF65-F5344CB8AC3E}">
        <p14:creationId xmlns:p14="http://schemas.microsoft.com/office/powerpoint/2010/main" val="89286809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84264D7-A87F-C353-5E41-A144E16054ED}"/>
              </a:ext>
            </a:extLst>
          </p:cNvPr>
          <p:cNvSpPr txBox="1"/>
          <p:nvPr/>
        </p:nvSpPr>
        <p:spPr>
          <a:xfrm>
            <a:off x="819150" y="804218"/>
            <a:ext cx="6096000" cy="461665"/>
          </a:xfrm>
          <a:prstGeom prst="rect">
            <a:avLst/>
          </a:prstGeom>
          <a:noFill/>
        </p:spPr>
        <p:txBody>
          <a:bodyPr wrap="square">
            <a:spAutoFit/>
          </a:bodyPr>
          <a:lstStyle/>
          <a:p>
            <a:r>
              <a:rPr lang="zh-CN" altLang="en-US" sz="2400" b="1" i="0" dirty="0">
                <a:effectLst/>
                <a:latin typeface="-apple-system"/>
              </a:rPr>
              <a:t>环保少女遭精神折磨</a:t>
            </a:r>
            <a:endParaRPr lang="zh-CN" altLang="en-US" dirty="0"/>
          </a:p>
        </p:txBody>
      </p:sp>
      <p:pic>
        <p:nvPicPr>
          <p:cNvPr id="4" name="1000008687">
            <a:extLst>
              <a:ext uri="{FF2B5EF4-FFF2-40B4-BE49-F238E27FC236}">
                <a16:creationId xmlns:a16="http://schemas.microsoft.com/office/drawing/2014/main" id="{C03F9DA1-A01F-694C-E0CF-0D781FCE2B66}"/>
              </a:ext>
            </a:extLst>
          </p:cNvPr>
          <p:cNvPicPr>
            <a:picLocks noChangeAspect="1"/>
          </p:cNvPicPr>
          <p:nvPr/>
        </p:nvPicPr>
        <p:blipFill>
          <a:blip r:embed="rId2"/>
          <a:stretch>
            <a:fillRect/>
          </a:stretch>
        </p:blipFill>
        <p:spPr>
          <a:xfrm>
            <a:off x="1452562" y="1501776"/>
            <a:ext cx="9286875" cy="4200860"/>
          </a:xfrm>
          <a:prstGeom prst="rect">
            <a:avLst/>
          </a:prstGeom>
        </p:spPr>
      </p:pic>
    </p:spTree>
    <p:extLst>
      <p:ext uri="{BB962C8B-B14F-4D97-AF65-F5344CB8AC3E}">
        <p14:creationId xmlns:p14="http://schemas.microsoft.com/office/powerpoint/2010/main" val="295963260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6BCEF-C97C-6885-7817-3374280F54A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4A6FEEF-3B8E-F659-FABD-345367C31905}"/>
              </a:ext>
            </a:extLst>
          </p:cNvPr>
          <p:cNvSpPr txBox="1"/>
          <p:nvPr/>
        </p:nvSpPr>
        <p:spPr>
          <a:xfrm>
            <a:off x="831850" y="842318"/>
            <a:ext cx="10579100" cy="830997"/>
          </a:xfrm>
          <a:prstGeom prst="rect">
            <a:avLst/>
          </a:prstGeom>
          <a:noFill/>
        </p:spPr>
        <p:txBody>
          <a:bodyPr wrap="square">
            <a:spAutoFit/>
          </a:bodyPr>
          <a:lstStyle/>
          <a:p>
            <a:r>
              <a:rPr lang="zh-CN" altLang="en-US" sz="2400" b="1" i="0" dirty="0">
                <a:effectLst/>
                <a:latin typeface="-apple-system"/>
              </a:rPr>
              <a:t>炸国际记者 </a:t>
            </a:r>
            <a:r>
              <a:rPr lang="en-US" altLang="zh-CN" sz="2400" b="1" i="0" dirty="0">
                <a:effectLst/>
                <a:latin typeface="-apple-system"/>
              </a:rPr>
              <a:t>+ </a:t>
            </a:r>
            <a:r>
              <a:rPr lang="zh-CN" altLang="en-US" sz="2400" b="1" i="0" dirty="0">
                <a:effectLst/>
                <a:latin typeface="-apple-system"/>
              </a:rPr>
              <a:t>二次轰炸（</a:t>
            </a:r>
            <a:r>
              <a:rPr lang="en-US" altLang="zh-CN" sz="2400" b="1" i="0" dirty="0">
                <a:effectLst/>
                <a:latin typeface="-apple-system"/>
              </a:rPr>
              <a:t>Double Tap</a:t>
            </a:r>
            <a:r>
              <a:rPr lang="zh-CN" altLang="en-US" sz="2400" b="1" i="0" dirty="0">
                <a:effectLst/>
                <a:latin typeface="-apple-system"/>
              </a:rPr>
              <a:t>）</a:t>
            </a:r>
            <a:endParaRPr lang="en-US" altLang="zh-CN" sz="2400" b="1" i="0" dirty="0">
              <a:effectLst/>
              <a:latin typeface="-apple-system"/>
            </a:endParaRPr>
          </a:p>
          <a:p>
            <a:r>
              <a:rPr lang="en-US" altLang="zh-CN" sz="2400" b="1" dirty="0">
                <a:latin typeface="-apple-system"/>
              </a:rPr>
              <a:t>                                             ——</a:t>
            </a:r>
            <a:r>
              <a:rPr lang="zh-CN" altLang="en-US" sz="2400" b="1" dirty="0">
                <a:latin typeface="-apple-system"/>
              </a:rPr>
              <a:t>“如果妈妈不在了，记住妈妈的名字，记住加沙。”</a:t>
            </a:r>
            <a:endParaRPr lang="zh-CN" altLang="en-US" dirty="0"/>
          </a:p>
        </p:txBody>
      </p:sp>
      <p:sp>
        <p:nvSpPr>
          <p:cNvPr id="5" name="文本框 4">
            <a:extLst>
              <a:ext uri="{FF2B5EF4-FFF2-40B4-BE49-F238E27FC236}">
                <a16:creationId xmlns:a16="http://schemas.microsoft.com/office/drawing/2014/main" id="{82C1E3CB-6352-8C67-7DEB-54343D6E2F6D}"/>
              </a:ext>
            </a:extLst>
          </p:cNvPr>
          <p:cNvSpPr txBox="1"/>
          <p:nvPr/>
        </p:nvSpPr>
        <p:spPr>
          <a:xfrm>
            <a:off x="831850" y="5001568"/>
            <a:ext cx="6978650" cy="1200329"/>
          </a:xfrm>
          <a:prstGeom prst="rect">
            <a:avLst/>
          </a:prstGeom>
          <a:noFill/>
        </p:spPr>
        <p:txBody>
          <a:bodyPr wrap="square">
            <a:spAutoFit/>
          </a:bodyPr>
          <a:lstStyle/>
          <a:p>
            <a:r>
              <a:rPr lang="zh-CN" altLang="en-US" dirty="0"/>
              <a:t>原因是因为：以色列发现了医院旁边的摄像头，所以请求清除这个摄像头。于是发射了两颗炮弹，轰炸医院。第二次又说发现了所谓武装人员，又发射了两颗炮弹，轰击了前来救援这些记者的医护人员和平民，造成了最大化杀伤。最后发现没有一个人是哈马斯。</a:t>
            </a:r>
          </a:p>
        </p:txBody>
      </p:sp>
      <p:pic>
        <p:nvPicPr>
          <p:cNvPr id="9" name="图片 8">
            <a:extLst>
              <a:ext uri="{FF2B5EF4-FFF2-40B4-BE49-F238E27FC236}">
                <a16:creationId xmlns:a16="http://schemas.microsoft.com/office/drawing/2014/main" id="{3AB8DD3C-522A-5019-3FC1-623AC86D043C}"/>
              </a:ext>
            </a:extLst>
          </p:cNvPr>
          <p:cNvPicPr>
            <a:picLocks noChangeAspect="1"/>
          </p:cNvPicPr>
          <p:nvPr/>
        </p:nvPicPr>
        <p:blipFill>
          <a:blip r:embed="rId2">
            <a:extLst>
              <a:ext uri="{28A0092B-C50C-407E-A947-70E740481C1C}">
                <a14:useLocalDpi xmlns:a14="http://schemas.microsoft.com/office/drawing/2010/main" val="0"/>
              </a:ext>
            </a:extLst>
          </a:blip>
          <a:srcRect l="9844" t="29024" r="68698" b="17437"/>
          <a:stretch>
            <a:fillRect/>
          </a:stretch>
        </p:blipFill>
        <p:spPr>
          <a:xfrm>
            <a:off x="3013075" y="1787105"/>
            <a:ext cx="2616200" cy="2933700"/>
          </a:xfrm>
          <a:prstGeom prst="rect">
            <a:avLst/>
          </a:prstGeom>
        </p:spPr>
      </p:pic>
      <p:pic>
        <p:nvPicPr>
          <p:cNvPr id="11" name="图片 10">
            <a:extLst>
              <a:ext uri="{FF2B5EF4-FFF2-40B4-BE49-F238E27FC236}">
                <a16:creationId xmlns:a16="http://schemas.microsoft.com/office/drawing/2014/main" id="{032FEF23-913D-1313-3008-E3C6C14DF5DE}"/>
              </a:ext>
            </a:extLst>
          </p:cNvPr>
          <p:cNvPicPr>
            <a:picLocks noChangeAspect="1"/>
          </p:cNvPicPr>
          <p:nvPr/>
        </p:nvPicPr>
        <p:blipFill>
          <a:blip r:embed="rId3">
            <a:extLst>
              <a:ext uri="{28A0092B-C50C-407E-A947-70E740481C1C}">
                <a14:useLocalDpi xmlns:a14="http://schemas.microsoft.com/office/drawing/2010/main" val="0"/>
              </a:ext>
            </a:extLst>
          </a:blip>
          <a:srcRect l="66198" t="11179" r="10417" b="14886"/>
          <a:stretch>
            <a:fillRect/>
          </a:stretch>
        </p:blipFill>
        <p:spPr>
          <a:xfrm>
            <a:off x="8001000" y="1856870"/>
            <a:ext cx="2851150" cy="4051300"/>
          </a:xfrm>
          <a:prstGeom prst="rect">
            <a:avLst/>
          </a:prstGeom>
        </p:spPr>
      </p:pic>
    </p:spTree>
    <p:extLst>
      <p:ext uri="{BB962C8B-B14F-4D97-AF65-F5344CB8AC3E}">
        <p14:creationId xmlns:p14="http://schemas.microsoft.com/office/powerpoint/2010/main" val="583790431"/>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BB99F-028F-645D-277D-ACF448151C4F}"/>
            </a:ext>
          </a:extLst>
        </p:cNvPr>
        <p:cNvGrpSpPr/>
        <p:nvPr/>
      </p:nvGrpSpPr>
      <p:grpSpPr>
        <a:xfrm>
          <a:off x="0" y="0"/>
          <a:ext cx="0" cy="0"/>
          <a:chOff x="0" y="0"/>
          <a:chExt cx="0" cy="0"/>
        </a:xfrm>
      </p:grpSpPr>
      <p:pic>
        <p:nvPicPr>
          <p:cNvPr id="2" name="1000008688">
            <a:extLst>
              <a:ext uri="{FF2B5EF4-FFF2-40B4-BE49-F238E27FC236}">
                <a16:creationId xmlns:a16="http://schemas.microsoft.com/office/drawing/2014/main" id="{C0D819DE-1B79-C1A1-A93A-D30A3877D245}"/>
              </a:ext>
            </a:extLst>
          </p:cNvPr>
          <p:cNvPicPr>
            <a:picLocks noChangeAspect="1"/>
          </p:cNvPicPr>
          <p:nvPr/>
        </p:nvPicPr>
        <p:blipFill>
          <a:blip r:embed="rId2"/>
          <a:stretch>
            <a:fillRect/>
          </a:stretch>
        </p:blipFill>
        <p:spPr>
          <a:xfrm>
            <a:off x="744537" y="1319292"/>
            <a:ext cx="10702925" cy="4816316"/>
          </a:xfrm>
          <a:prstGeom prst="rect">
            <a:avLst/>
          </a:prstGeom>
        </p:spPr>
      </p:pic>
      <p:sp>
        <p:nvSpPr>
          <p:cNvPr id="4" name="文本框 3">
            <a:extLst>
              <a:ext uri="{FF2B5EF4-FFF2-40B4-BE49-F238E27FC236}">
                <a16:creationId xmlns:a16="http://schemas.microsoft.com/office/drawing/2014/main" id="{963361F2-BBBB-699C-6983-1500B8A5EF80}"/>
              </a:ext>
            </a:extLst>
          </p:cNvPr>
          <p:cNvSpPr txBox="1"/>
          <p:nvPr/>
        </p:nvSpPr>
        <p:spPr>
          <a:xfrm>
            <a:off x="744537" y="722392"/>
            <a:ext cx="6096000" cy="461665"/>
          </a:xfrm>
          <a:prstGeom prst="rect">
            <a:avLst/>
          </a:prstGeom>
          <a:noFill/>
        </p:spPr>
        <p:txBody>
          <a:bodyPr wrap="square">
            <a:spAutoFit/>
          </a:bodyPr>
          <a:lstStyle/>
          <a:p>
            <a:r>
              <a:rPr lang="zh-CN" altLang="en-US" sz="2400" b="1" i="0" dirty="0">
                <a:effectLst/>
                <a:latin typeface="-apple-system"/>
              </a:rPr>
              <a:t>炸国际记者（第一波）</a:t>
            </a:r>
            <a:endParaRPr lang="zh-CN" altLang="en-US" dirty="0"/>
          </a:p>
        </p:txBody>
      </p:sp>
    </p:spTree>
    <p:extLst>
      <p:ext uri="{BB962C8B-B14F-4D97-AF65-F5344CB8AC3E}">
        <p14:creationId xmlns:p14="http://schemas.microsoft.com/office/powerpoint/2010/main" val="2295038758"/>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E05DEB4-9119-B60A-3796-BD6FFC24FFB5}"/>
              </a:ext>
            </a:extLst>
          </p:cNvPr>
          <p:cNvSpPr txBox="1"/>
          <p:nvPr/>
        </p:nvSpPr>
        <p:spPr>
          <a:xfrm>
            <a:off x="3048000" y="708968"/>
            <a:ext cx="6096000" cy="461665"/>
          </a:xfrm>
          <a:prstGeom prst="rect">
            <a:avLst/>
          </a:prstGeom>
          <a:noFill/>
        </p:spPr>
        <p:txBody>
          <a:bodyPr wrap="square">
            <a:spAutoFit/>
          </a:bodyPr>
          <a:lstStyle/>
          <a:p>
            <a:r>
              <a:rPr lang="zh-CN" altLang="en-US" sz="2400" b="1" dirty="0">
                <a:latin typeface="-apple-system"/>
              </a:rPr>
              <a:t>延续政治生命 → 战争状态 → 战时总统 </a:t>
            </a:r>
            <a:endParaRPr lang="zh-CN" altLang="en-US" dirty="0"/>
          </a:p>
        </p:txBody>
      </p:sp>
      <p:sp>
        <p:nvSpPr>
          <p:cNvPr id="5" name="文本框 4">
            <a:extLst>
              <a:ext uri="{FF2B5EF4-FFF2-40B4-BE49-F238E27FC236}">
                <a16:creationId xmlns:a16="http://schemas.microsoft.com/office/drawing/2014/main" id="{9A0B4737-DC60-2224-10FD-1BF6ACF919CF}"/>
              </a:ext>
            </a:extLst>
          </p:cNvPr>
          <p:cNvSpPr txBox="1"/>
          <p:nvPr/>
        </p:nvSpPr>
        <p:spPr>
          <a:xfrm>
            <a:off x="857250" y="1359422"/>
            <a:ext cx="6096000" cy="4524315"/>
          </a:xfrm>
          <a:prstGeom prst="rect">
            <a:avLst/>
          </a:prstGeom>
          <a:noFill/>
        </p:spPr>
        <p:txBody>
          <a:bodyPr wrap="square">
            <a:spAutoFit/>
          </a:bodyPr>
          <a:lstStyle/>
          <a:p>
            <a:pPr>
              <a:lnSpc>
                <a:spcPct val="100000"/>
              </a:lnSpc>
              <a:spcAft>
                <a:spcPts val="900"/>
              </a:spcAft>
              <a:buNone/>
            </a:pPr>
            <a:r>
              <a:rPr lang="zh-CN" altLang="zh-CN" sz="3200" dirty="0">
                <a:solidFill>
                  <a:schemeClr val="tx1"/>
                </a:solidFill>
                <a:effectLst/>
                <a:latin typeface="+mn-lt"/>
                <a:ea typeface="微软雅黑" panose="020B0503020204020204" pitchFamily="34" charset="-122"/>
                <a:cs typeface="微软雅黑" panose="020B0503020204020204" pitchFamily="34" charset="-122"/>
              </a:rPr>
              <a:t>内塔尼亚胡（</a:t>
            </a:r>
            <a:r>
              <a:rPr lang="en-US" altLang="zh-CN" sz="3200" dirty="0">
                <a:solidFill>
                  <a:schemeClr val="tx1"/>
                </a:solidFill>
                <a:effectLst/>
                <a:latin typeface="+mn-lt"/>
                <a:ea typeface="微软雅黑" panose="020B0503020204020204" pitchFamily="34" charset="-122"/>
                <a:cs typeface="Times New Roman" panose="02020603050405020304" pitchFamily="18" charset="0"/>
              </a:rPr>
              <a:t>Benjamin Netanyahu</a:t>
            </a:r>
            <a:r>
              <a:rPr lang="zh-CN" altLang="zh-CN" sz="3200" dirty="0">
                <a:solidFill>
                  <a:schemeClr val="tx1"/>
                </a:solidFill>
                <a:effectLst/>
                <a:latin typeface="+mn-lt"/>
                <a:ea typeface="微软雅黑" panose="020B0503020204020204" pitchFamily="34" charset="-122"/>
                <a:cs typeface="微软雅黑" panose="020B0503020204020204" pitchFamily="34" charset="-122"/>
              </a:rPr>
              <a:t>）自</a:t>
            </a:r>
            <a:r>
              <a:rPr lang="en-US" altLang="zh-CN" sz="3200" dirty="0">
                <a:solidFill>
                  <a:schemeClr val="tx1"/>
                </a:solidFill>
                <a:effectLst/>
                <a:latin typeface="+mn-lt"/>
                <a:ea typeface="微软雅黑" panose="020B0503020204020204" pitchFamily="34" charset="-122"/>
                <a:cs typeface="Times New Roman" panose="02020603050405020304" pitchFamily="18" charset="0"/>
              </a:rPr>
              <a:t>1996</a:t>
            </a:r>
            <a:r>
              <a:rPr lang="zh-CN" altLang="zh-CN" sz="3200" dirty="0">
                <a:solidFill>
                  <a:schemeClr val="tx1"/>
                </a:solidFill>
                <a:effectLst/>
                <a:latin typeface="+mn-lt"/>
                <a:ea typeface="微软雅黑" panose="020B0503020204020204" pitchFamily="34" charset="-122"/>
                <a:cs typeface="微软雅黑" panose="020B0503020204020204" pitchFamily="34" charset="-122"/>
              </a:rPr>
              <a:t>年起多次担任以色列总理，是以色列执政时间最长的政治人物。</a:t>
            </a:r>
            <a:r>
              <a:rPr lang="en-US" altLang="zh-CN" sz="3200" dirty="0">
                <a:solidFill>
                  <a:schemeClr val="tx1"/>
                </a:solidFill>
                <a:effectLst/>
                <a:latin typeface="+mn-lt"/>
                <a:ea typeface="微软雅黑" panose="020B0503020204020204" pitchFamily="34" charset="-122"/>
                <a:cs typeface="Times New Roman" panose="02020603050405020304" pitchFamily="18" charset="0"/>
              </a:rPr>
              <a:t>2022</a:t>
            </a:r>
            <a:r>
              <a:rPr lang="zh-CN" altLang="zh-CN" sz="3200" dirty="0">
                <a:solidFill>
                  <a:schemeClr val="tx1"/>
                </a:solidFill>
                <a:effectLst/>
                <a:latin typeface="+mn-lt"/>
                <a:ea typeface="微软雅黑" panose="020B0503020204020204" pitchFamily="34" charset="-122"/>
                <a:cs typeface="微软雅黑" panose="020B0503020204020204" pitchFamily="34" charset="-122"/>
              </a:rPr>
              <a:t>年底他第六次组阁，领导由利库德集团、极端正统派政党（沙斯党、圣经犹太教联盟）和极右翼政党（宗教犹太复国主义党、犹太力量党、诺姆党）组成的联合政府。</a:t>
            </a:r>
            <a:endParaRPr lang="zh-CN" altLang="zh-CN" sz="1200" dirty="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descr="内塔尼亚胡，迎来劲敌！|内塔尼亚胡_新浪财经_新浪网">
            <a:extLst>
              <a:ext uri="{FF2B5EF4-FFF2-40B4-BE49-F238E27FC236}">
                <a16:creationId xmlns:a16="http://schemas.microsoft.com/office/drawing/2014/main" id="{6C8EEE5F-EEC5-A59E-87F3-CEB90D9FC129}"/>
              </a:ext>
            </a:extLst>
          </p:cNvPr>
          <p:cNvPicPr>
            <a:picLocks noChangeAspect="1"/>
          </p:cNvPicPr>
          <p:nvPr/>
        </p:nvPicPr>
        <p:blipFill>
          <a:blip r:embed="rId2"/>
          <a:srcRect l="13510" r="11491"/>
          <a:stretch>
            <a:fillRect/>
          </a:stretch>
        </p:blipFill>
        <p:spPr>
          <a:xfrm>
            <a:off x="7346950" y="1816100"/>
            <a:ext cx="3771900" cy="3352800"/>
          </a:xfrm>
          <a:prstGeom prst="rect">
            <a:avLst/>
          </a:prstGeom>
        </p:spPr>
      </p:pic>
    </p:spTree>
    <p:extLst>
      <p:ext uri="{BB962C8B-B14F-4D97-AF65-F5344CB8AC3E}">
        <p14:creationId xmlns:p14="http://schemas.microsoft.com/office/powerpoint/2010/main" val="46894064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6245EA1-51C7-DE42-8C54-FF8DA8265C70}"/>
              </a:ext>
            </a:extLst>
          </p:cNvPr>
          <p:cNvSpPr txBox="1"/>
          <p:nvPr/>
        </p:nvSpPr>
        <p:spPr>
          <a:xfrm>
            <a:off x="815975" y="845072"/>
            <a:ext cx="10560050" cy="1815882"/>
          </a:xfrm>
          <a:prstGeom prst="rect">
            <a:avLst/>
          </a:prstGeom>
          <a:noFill/>
        </p:spPr>
        <p:txBody>
          <a:bodyPr wrap="square">
            <a:spAutoFit/>
          </a:bodyPr>
          <a:lstStyle/>
          <a:p>
            <a:pPr>
              <a:lnSpc>
                <a:spcPct val="100000"/>
              </a:lnSpc>
              <a:spcAft>
                <a:spcPts val="900"/>
              </a:spcAft>
              <a:buNone/>
            </a:pPr>
            <a:r>
              <a:rPr lang="zh-CN" altLang="zh-CN" sz="2800" b="1" dirty="0">
                <a:solidFill>
                  <a:schemeClr val="tx1"/>
                </a:solidFill>
                <a:effectLst/>
                <a:latin typeface="+mn-lt"/>
                <a:ea typeface="微软雅黑" panose="020B0503020204020204" pitchFamily="34" charset="-122"/>
                <a:cs typeface="微软雅黑" panose="020B0503020204020204" pitchFamily="34" charset="-122"/>
              </a:rPr>
              <a:t>核心矛盾</a:t>
            </a:r>
            <a:r>
              <a:rPr lang="zh-CN" altLang="zh-CN" sz="2800" dirty="0">
                <a:solidFill>
                  <a:schemeClr val="tx1"/>
                </a:solidFill>
                <a:effectLst/>
                <a:latin typeface="+mn-lt"/>
                <a:ea typeface="微软雅黑" panose="020B0503020204020204" pitchFamily="34" charset="-122"/>
                <a:cs typeface="微软雅黑" panose="020B0503020204020204" pitchFamily="34" charset="-122"/>
              </a:rPr>
              <a:t>：内塔尼亚胡自</a:t>
            </a:r>
            <a:r>
              <a:rPr lang="en-US" altLang="zh-CN" sz="2800" dirty="0">
                <a:solidFill>
                  <a:schemeClr val="tx1"/>
                </a:solidFill>
                <a:effectLst/>
                <a:latin typeface="+mn-lt"/>
                <a:ea typeface="微软雅黑" panose="020B0503020204020204" pitchFamily="34" charset="-122"/>
                <a:cs typeface="Times New Roman" panose="02020603050405020304" pitchFamily="18" charset="0"/>
              </a:rPr>
              <a:t>2019</a:t>
            </a:r>
            <a:r>
              <a:rPr lang="zh-CN" altLang="zh-CN" sz="2800" dirty="0">
                <a:solidFill>
                  <a:schemeClr val="tx1"/>
                </a:solidFill>
                <a:effectLst/>
                <a:latin typeface="+mn-lt"/>
                <a:ea typeface="微软雅黑" panose="020B0503020204020204" pitchFamily="34" charset="-122"/>
                <a:cs typeface="微软雅黑" panose="020B0503020204020204" pitchFamily="34" charset="-122"/>
              </a:rPr>
              <a:t>年以来深陷腐败审判（受贿、欺诈、背信三项指控），其执政联盟的存续与其个人司法命运深度绑定。这导致一个结构性问题</a:t>
            </a:r>
            <a:r>
              <a:rPr lang="en-US" altLang="zh-CN" sz="28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2800" dirty="0">
                <a:solidFill>
                  <a:schemeClr val="tx1"/>
                </a:solidFill>
                <a:effectLst/>
                <a:latin typeface="+mn-lt"/>
                <a:ea typeface="微软雅黑" panose="020B0503020204020204" pitchFamily="34" charset="-122"/>
                <a:cs typeface="微软雅黑" panose="020B0503020204020204" pitchFamily="34" charset="-122"/>
              </a:rPr>
              <a:t>政府的政策优先级从</a:t>
            </a:r>
            <a:r>
              <a:rPr lang="en-US" altLang="zh-CN" sz="28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2800" dirty="0">
                <a:solidFill>
                  <a:schemeClr val="tx1"/>
                </a:solidFill>
                <a:effectLst/>
                <a:latin typeface="+mn-lt"/>
                <a:ea typeface="微软雅黑" panose="020B0503020204020204" pitchFamily="34" charset="-122"/>
                <a:cs typeface="微软雅黑" panose="020B0503020204020204" pitchFamily="34" charset="-122"/>
              </a:rPr>
              <a:t>国家利益最大化</a:t>
            </a:r>
            <a:r>
              <a:rPr lang="en-US" altLang="zh-CN" sz="28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2800" dirty="0">
                <a:solidFill>
                  <a:schemeClr val="tx1"/>
                </a:solidFill>
                <a:effectLst/>
                <a:latin typeface="+mn-lt"/>
                <a:ea typeface="微软雅黑" panose="020B0503020204020204" pitchFamily="34" charset="-122"/>
                <a:cs typeface="微软雅黑" panose="020B0503020204020204" pitchFamily="34" charset="-122"/>
              </a:rPr>
              <a:t>滑向</a:t>
            </a:r>
            <a:r>
              <a:rPr lang="en-US" altLang="zh-CN" sz="28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2800" dirty="0">
                <a:solidFill>
                  <a:schemeClr val="tx1"/>
                </a:solidFill>
                <a:effectLst/>
                <a:latin typeface="+mn-lt"/>
                <a:ea typeface="微软雅黑" panose="020B0503020204020204" pitchFamily="34" charset="-122"/>
                <a:cs typeface="微软雅黑" panose="020B0503020204020204" pitchFamily="34" charset="-122"/>
              </a:rPr>
              <a:t>执政联盟存续最大化</a:t>
            </a:r>
            <a:r>
              <a:rPr lang="en-US" altLang="zh-CN" sz="28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2800" dirty="0">
                <a:solidFill>
                  <a:schemeClr val="tx1"/>
                </a:solidFill>
                <a:effectLst/>
                <a:latin typeface="+mn-lt"/>
                <a:ea typeface="微软雅黑" panose="020B0503020204020204" pitchFamily="34" charset="-122"/>
                <a:cs typeface="微软雅黑" panose="020B0503020204020204" pitchFamily="34" charset="-122"/>
              </a:rPr>
              <a:t>，两者在多个领域发生背离。</a:t>
            </a:r>
            <a:endParaRPr lang="zh-CN" altLang="zh-CN" sz="1100" dirty="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FEED3D50-903A-18DF-9BEC-987E4DF68F40}"/>
              </a:ext>
            </a:extLst>
          </p:cNvPr>
          <p:cNvSpPr txBox="1"/>
          <p:nvPr/>
        </p:nvSpPr>
        <p:spPr>
          <a:xfrm>
            <a:off x="815974" y="2757441"/>
            <a:ext cx="9566275" cy="2985433"/>
          </a:xfrm>
          <a:prstGeom prst="rect">
            <a:avLst/>
          </a:prstGeom>
          <a:noFill/>
        </p:spPr>
        <p:txBody>
          <a:bodyPr wrap="square">
            <a:spAutoFit/>
          </a:bodyPr>
          <a:lstStyle/>
          <a:p>
            <a:pPr marL="342900" lvl="0" indent="-342900">
              <a:lnSpc>
                <a:spcPct val="100000"/>
              </a:lnSpc>
              <a:spcAft>
                <a:spcPts val="420"/>
              </a:spcAft>
              <a:buFont typeface="+mj-lt"/>
              <a:buAutoNum type="arabicPeriod"/>
              <a:tabLst>
                <a:tab pos="228600" algn="l"/>
              </a:tabLst>
            </a:pPr>
            <a:r>
              <a:rPr lang="zh-CN" altLang="zh-CN" sz="2400" b="1" dirty="0">
                <a:solidFill>
                  <a:schemeClr val="tx1"/>
                </a:solidFill>
                <a:effectLst/>
                <a:latin typeface="+mn-lt"/>
                <a:ea typeface="微软雅黑" panose="020B0503020204020204" pitchFamily="34" charset="-122"/>
                <a:cs typeface="微软雅黑" panose="020B0503020204020204" pitchFamily="34" charset="-122"/>
              </a:rPr>
              <a:t>领土空间</a:t>
            </a:r>
            <a:r>
              <a:rPr lang="zh-CN" altLang="zh-CN" sz="2400" dirty="0">
                <a:solidFill>
                  <a:schemeClr val="tx1"/>
                </a:solidFill>
                <a:effectLst/>
                <a:latin typeface="+mn-lt"/>
                <a:ea typeface="微软雅黑" panose="020B0503020204020204" pitchFamily="34" charset="-122"/>
                <a:cs typeface="微软雅黑" panose="020B0503020204020204" pitchFamily="34" charset="-122"/>
              </a:rPr>
              <a:t>（定居点、加沙、约旦河西岸的地理改造）</a:t>
            </a:r>
            <a:endParaRPr lang="en-US" altLang="zh-CN" sz="2400" dirty="0">
              <a:solidFill>
                <a:schemeClr val="tx1"/>
              </a:solidFill>
              <a:effectLst/>
              <a:latin typeface="+mn-lt"/>
              <a:ea typeface="微软雅黑" panose="020B0503020204020204" pitchFamily="34" charset="-122"/>
              <a:cs typeface="微软雅黑" panose="020B0503020204020204" pitchFamily="34" charset="-122"/>
            </a:endParaRPr>
          </a:p>
          <a:p>
            <a:pPr marL="342900" lvl="0" indent="-342900">
              <a:lnSpc>
                <a:spcPct val="100000"/>
              </a:lnSpc>
              <a:spcAft>
                <a:spcPts val="420"/>
              </a:spcAft>
              <a:buFont typeface="+mj-lt"/>
              <a:buAutoNum type="arabicPeriod"/>
              <a:tabLst>
                <a:tab pos="228600" algn="l"/>
              </a:tabLst>
            </a:pPr>
            <a:endParaRPr lang="zh-CN" altLang="zh-CN" sz="2400" dirty="0">
              <a:solidFill>
                <a:schemeClr val="tx1"/>
              </a:solidFill>
              <a:effectLst/>
              <a:latin typeface="+mn-lt"/>
              <a:ea typeface="微软雅黑" panose="020B0503020204020204" pitchFamily="34" charset="-122"/>
              <a:cs typeface="Times New Roman" panose="02020603050405020304" pitchFamily="18" charset="0"/>
            </a:endParaRPr>
          </a:p>
          <a:p>
            <a:pPr marL="342900" lvl="0" indent="-342900">
              <a:lnSpc>
                <a:spcPct val="100000"/>
              </a:lnSpc>
              <a:spcAft>
                <a:spcPts val="420"/>
              </a:spcAft>
              <a:buFont typeface="+mj-lt"/>
              <a:buAutoNum type="arabicPeriod"/>
              <a:tabLst>
                <a:tab pos="228600" algn="l"/>
              </a:tabLst>
            </a:pPr>
            <a:r>
              <a:rPr lang="zh-CN" altLang="zh-CN" sz="2400" b="1" dirty="0">
                <a:solidFill>
                  <a:schemeClr val="tx1"/>
                </a:solidFill>
                <a:effectLst/>
                <a:latin typeface="+mn-lt"/>
                <a:ea typeface="微软雅黑" panose="020B0503020204020204" pitchFamily="34" charset="-122"/>
                <a:cs typeface="微软雅黑" panose="020B0503020204020204" pitchFamily="34" charset="-122"/>
              </a:rPr>
              <a:t>地缘政治空间</a:t>
            </a:r>
            <a:r>
              <a:rPr lang="zh-CN" altLang="zh-CN" sz="2400" dirty="0">
                <a:solidFill>
                  <a:schemeClr val="tx1"/>
                </a:solidFill>
                <a:effectLst/>
                <a:latin typeface="+mn-lt"/>
                <a:ea typeface="微软雅黑" panose="020B0503020204020204" pitchFamily="34" charset="-122"/>
                <a:cs typeface="微软雅黑" panose="020B0503020204020204" pitchFamily="34" charset="-122"/>
              </a:rPr>
              <a:t>（与周边国家、大国关系的位置变化）</a:t>
            </a:r>
            <a:endParaRPr lang="en-US" altLang="zh-CN" sz="2400" dirty="0">
              <a:solidFill>
                <a:schemeClr val="tx1"/>
              </a:solidFill>
              <a:effectLst/>
              <a:latin typeface="+mn-lt"/>
              <a:ea typeface="微软雅黑" panose="020B0503020204020204" pitchFamily="34" charset="-122"/>
              <a:cs typeface="微软雅黑" panose="020B0503020204020204" pitchFamily="34" charset="-122"/>
            </a:endParaRPr>
          </a:p>
          <a:p>
            <a:pPr marL="342900" lvl="0" indent="-342900">
              <a:lnSpc>
                <a:spcPct val="100000"/>
              </a:lnSpc>
              <a:spcAft>
                <a:spcPts val="420"/>
              </a:spcAft>
              <a:buFont typeface="+mj-lt"/>
              <a:buAutoNum type="arabicPeriod"/>
              <a:tabLst>
                <a:tab pos="228600" algn="l"/>
              </a:tabLst>
            </a:pPr>
            <a:endParaRPr lang="zh-CN" altLang="zh-CN" sz="2400" dirty="0">
              <a:solidFill>
                <a:schemeClr val="tx1"/>
              </a:solidFill>
              <a:effectLst/>
              <a:latin typeface="+mn-lt"/>
              <a:ea typeface="微软雅黑" panose="020B0503020204020204" pitchFamily="34" charset="-122"/>
              <a:cs typeface="Times New Roman" panose="02020603050405020304" pitchFamily="18" charset="0"/>
            </a:endParaRPr>
          </a:p>
          <a:p>
            <a:pPr marL="342900" lvl="0" indent="-342900">
              <a:lnSpc>
                <a:spcPct val="100000"/>
              </a:lnSpc>
              <a:spcAft>
                <a:spcPts val="420"/>
              </a:spcAft>
              <a:buFont typeface="+mj-lt"/>
              <a:buAutoNum type="arabicPeriod"/>
              <a:tabLst>
                <a:tab pos="228600" algn="l"/>
              </a:tabLst>
            </a:pPr>
            <a:r>
              <a:rPr lang="zh-CN" altLang="zh-CN" sz="2400" b="1" dirty="0">
                <a:solidFill>
                  <a:schemeClr val="tx1"/>
                </a:solidFill>
                <a:effectLst/>
                <a:latin typeface="+mn-lt"/>
                <a:ea typeface="微软雅黑" panose="020B0503020204020204" pitchFamily="34" charset="-122"/>
                <a:cs typeface="微软雅黑" panose="020B0503020204020204" pitchFamily="34" charset="-122"/>
              </a:rPr>
              <a:t>国内政治空间</a:t>
            </a:r>
            <a:r>
              <a:rPr lang="zh-CN" altLang="zh-CN" sz="2400" dirty="0">
                <a:solidFill>
                  <a:schemeClr val="tx1"/>
                </a:solidFill>
                <a:effectLst/>
                <a:latin typeface="+mn-lt"/>
                <a:ea typeface="微软雅黑" panose="020B0503020204020204" pitchFamily="34" charset="-122"/>
                <a:cs typeface="微软雅黑" panose="020B0503020204020204" pitchFamily="34" charset="-122"/>
              </a:rPr>
              <a:t>（选举地理、社会撕裂的空间分布）</a:t>
            </a:r>
            <a:endParaRPr lang="en-US" altLang="zh-CN" sz="2400" dirty="0">
              <a:solidFill>
                <a:schemeClr val="tx1"/>
              </a:solidFill>
              <a:effectLst/>
              <a:latin typeface="+mn-lt"/>
              <a:ea typeface="微软雅黑" panose="020B0503020204020204" pitchFamily="34" charset="-122"/>
              <a:cs typeface="微软雅黑" panose="020B0503020204020204" pitchFamily="34" charset="-122"/>
            </a:endParaRPr>
          </a:p>
          <a:p>
            <a:pPr marL="342900" lvl="0" indent="-342900">
              <a:lnSpc>
                <a:spcPct val="100000"/>
              </a:lnSpc>
              <a:spcAft>
                <a:spcPts val="420"/>
              </a:spcAft>
              <a:buFont typeface="+mj-lt"/>
              <a:buAutoNum type="arabicPeriod"/>
              <a:tabLst>
                <a:tab pos="228600" algn="l"/>
              </a:tabLst>
            </a:pPr>
            <a:endParaRPr lang="zh-CN" altLang="zh-CN" sz="2400" dirty="0">
              <a:solidFill>
                <a:schemeClr val="tx1"/>
              </a:solidFill>
              <a:effectLst/>
              <a:latin typeface="+mn-lt"/>
              <a:ea typeface="微软雅黑" panose="020B0503020204020204" pitchFamily="34" charset="-122"/>
              <a:cs typeface="Times New Roman" panose="02020603050405020304" pitchFamily="18" charset="0"/>
            </a:endParaRPr>
          </a:p>
          <a:p>
            <a:pPr marL="342900" lvl="0" indent="-342900">
              <a:lnSpc>
                <a:spcPct val="100000"/>
              </a:lnSpc>
              <a:spcAft>
                <a:spcPts val="420"/>
              </a:spcAft>
              <a:buFont typeface="+mj-lt"/>
              <a:buAutoNum type="arabicPeriod"/>
              <a:tabLst>
                <a:tab pos="228600" algn="l"/>
              </a:tabLst>
            </a:pPr>
            <a:r>
              <a:rPr lang="zh-CN" altLang="zh-CN" sz="2400" b="1" dirty="0">
                <a:solidFill>
                  <a:schemeClr val="tx1"/>
                </a:solidFill>
                <a:effectLst/>
                <a:latin typeface="+mn-lt"/>
                <a:ea typeface="微软雅黑" panose="020B0503020204020204" pitchFamily="34" charset="-122"/>
                <a:cs typeface="微软雅黑" panose="020B0503020204020204" pitchFamily="34" charset="-122"/>
              </a:rPr>
              <a:t>制度空间</a:t>
            </a:r>
            <a:r>
              <a:rPr lang="zh-CN" altLang="zh-CN" sz="2400" dirty="0">
                <a:solidFill>
                  <a:schemeClr val="tx1"/>
                </a:solidFill>
                <a:effectLst/>
                <a:latin typeface="+mn-lt"/>
                <a:ea typeface="微软雅黑" panose="020B0503020204020204" pitchFamily="34" charset="-122"/>
                <a:cs typeface="微软雅黑" panose="020B0503020204020204" pitchFamily="34" charset="-122"/>
              </a:rPr>
              <a:t>（司法、民主制度的领土治理基础）</a:t>
            </a:r>
            <a:endParaRPr lang="zh-CN" altLang="zh-CN" sz="1050" dirty="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335418597"/>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4F5B73C-AC81-0250-2F77-278B4A13D994}"/>
              </a:ext>
            </a:extLst>
          </p:cNvPr>
          <p:cNvSpPr txBox="1"/>
          <p:nvPr/>
        </p:nvSpPr>
        <p:spPr>
          <a:xfrm>
            <a:off x="800100" y="784940"/>
            <a:ext cx="6096000" cy="523220"/>
          </a:xfrm>
          <a:prstGeom prst="rect">
            <a:avLst/>
          </a:prstGeom>
          <a:noFill/>
        </p:spPr>
        <p:txBody>
          <a:bodyPr wrap="square">
            <a:spAutoFit/>
          </a:bodyPr>
          <a:lstStyle/>
          <a:p>
            <a:r>
              <a:rPr lang="zh-CN" altLang="zh-CN" sz="2800" b="1" dirty="0">
                <a:solidFill>
                  <a:schemeClr val="tx1"/>
                </a:solidFill>
                <a:effectLst/>
                <a:ea typeface="微软雅黑" panose="020B0503020204020204" pitchFamily="34" charset="-122"/>
                <a:cs typeface="微软雅黑" panose="020B0503020204020204" pitchFamily="34" charset="-122"/>
              </a:rPr>
              <a:t>把国家机器抵押给极右翼</a:t>
            </a:r>
            <a:endParaRPr lang="zh-CN" altLang="en-US" sz="2800" dirty="0"/>
          </a:p>
        </p:txBody>
      </p:sp>
      <p:sp>
        <p:nvSpPr>
          <p:cNvPr id="5" name="文本框 4">
            <a:extLst>
              <a:ext uri="{FF2B5EF4-FFF2-40B4-BE49-F238E27FC236}">
                <a16:creationId xmlns:a16="http://schemas.microsoft.com/office/drawing/2014/main" id="{C671D1F1-8C54-2770-63E6-EB77A75C9131}"/>
              </a:ext>
            </a:extLst>
          </p:cNvPr>
          <p:cNvSpPr txBox="1"/>
          <p:nvPr/>
        </p:nvSpPr>
        <p:spPr>
          <a:xfrm>
            <a:off x="800100" y="1402315"/>
            <a:ext cx="10560050" cy="4626908"/>
          </a:xfrm>
          <a:prstGeom prst="rect">
            <a:avLst/>
          </a:prstGeom>
          <a:noFill/>
        </p:spPr>
        <p:txBody>
          <a:bodyPr wrap="square">
            <a:spAutoFit/>
          </a:bodyPr>
          <a:lstStyle/>
          <a:p>
            <a:pPr marL="342900" lvl="0" indent="-342900">
              <a:lnSpc>
                <a:spcPct val="100000"/>
              </a:lnSpc>
              <a:spcAft>
                <a:spcPts val="420"/>
              </a:spcAft>
              <a:buFont typeface="Symbol" panose="05050102010706020507" pitchFamily="18" charset="2"/>
              <a:buChar char=""/>
              <a:tabLst>
                <a:tab pos="228600" algn="l"/>
              </a:tabLst>
            </a:pPr>
            <a:r>
              <a:rPr lang="zh-CN" altLang="zh-CN" sz="3200" dirty="0">
                <a:solidFill>
                  <a:schemeClr val="tx1"/>
                </a:solidFill>
                <a:effectLst/>
                <a:latin typeface="+mn-lt"/>
                <a:ea typeface="微软雅黑" panose="020B0503020204020204" pitchFamily="34" charset="-122"/>
                <a:cs typeface="微软雅黑" panose="020B0503020204020204" pitchFamily="34" charset="-122"/>
              </a:rPr>
              <a:t>执政联盟中，斯莫特里奇（财政部长，掌管约旦河西岸民政管理事务）和本</a:t>
            </a:r>
            <a:r>
              <a:rPr lang="en-US" altLang="zh-CN" sz="32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3200" dirty="0">
                <a:solidFill>
                  <a:schemeClr val="tx1"/>
                </a:solidFill>
                <a:effectLst/>
                <a:latin typeface="+mn-lt"/>
                <a:ea typeface="微软雅黑" panose="020B0503020204020204" pitchFamily="34" charset="-122"/>
                <a:cs typeface="微软雅黑" panose="020B0503020204020204" pitchFamily="34" charset="-122"/>
              </a:rPr>
              <a:t>格维尔（国家安全部长）掌握着内阁关键职位。</a:t>
            </a:r>
            <a:endParaRPr lang="zh-CN" altLang="zh-CN" sz="3200" dirty="0">
              <a:solidFill>
                <a:schemeClr val="tx1"/>
              </a:solidFill>
              <a:effectLst/>
              <a:latin typeface="+mn-lt"/>
              <a:ea typeface="微软雅黑" panose="020B0503020204020204" pitchFamily="34" charset="-122"/>
              <a:cs typeface="Times New Roman" panose="02020603050405020304" pitchFamily="18" charset="0"/>
            </a:endParaRPr>
          </a:p>
          <a:p>
            <a:pPr marL="342900" lvl="0" indent="-342900">
              <a:lnSpc>
                <a:spcPct val="100000"/>
              </a:lnSpc>
              <a:spcAft>
                <a:spcPts val="420"/>
              </a:spcAft>
              <a:buFont typeface="Symbol" panose="05050102010706020507" pitchFamily="18" charset="2"/>
              <a:buChar char=""/>
              <a:tabLst>
                <a:tab pos="228600" algn="l"/>
              </a:tabLst>
            </a:pPr>
            <a:r>
              <a:rPr lang="zh-CN" altLang="zh-CN" sz="3200" dirty="0">
                <a:solidFill>
                  <a:schemeClr val="tx1"/>
                </a:solidFill>
                <a:effectLst/>
                <a:latin typeface="+mn-lt"/>
                <a:ea typeface="微软雅黑" panose="020B0503020204020204" pitchFamily="34" charset="-122"/>
                <a:cs typeface="微软雅黑" panose="020B0503020204020204" pitchFamily="34" charset="-122"/>
              </a:rPr>
              <a:t>这些政党的核心诉求是：加速定居点建设、扩大犹太人对约旦河西岸的地理控制、推动对巴勒斯坦人的强制迁移主张。</a:t>
            </a:r>
            <a:endParaRPr lang="zh-CN" altLang="zh-CN" sz="3200" dirty="0">
              <a:solidFill>
                <a:schemeClr val="tx1"/>
              </a:solidFill>
              <a:effectLst/>
              <a:latin typeface="+mn-lt"/>
              <a:ea typeface="微软雅黑" panose="020B0503020204020204" pitchFamily="34" charset="-122"/>
              <a:cs typeface="Times New Roman" panose="02020603050405020304" pitchFamily="18" charset="0"/>
            </a:endParaRPr>
          </a:p>
          <a:p>
            <a:pPr marL="342900" lvl="0" indent="-342900">
              <a:lnSpc>
                <a:spcPct val="100000"/>
              </a:lnSpc>
              <a:spcAft>
                <a:spcPts val="420"/>
              </a:spcAft>
              <a:buFont typeface="Symbol" panose="05050102010706020507" pitchFamily="18" charset="2"/>
              <a:buChar char=""/>
              <a:tabLst>
                <a:tab pos="228600" algn="l"/>
              </a:tabLst>
            </a:pPr>
            <a:r>
              <a:rPr lang="zh-CN" altLang="zh-CN" sz="3200" dirty="0">
                <a:solidFill>
                  <a:schemeClr val="tx1"/>
                </a:solidFill>
                <a:effectLst/>
                <a:latin typeface="+mn-lt"/>
                <a:ea typeface="微软雅黑" panose="020B0503020204020204" pitchFamily="34" charset="-122"/>
                <a:cs typeface="微软雅黑" panose="020B0503020204020204" pitchFamily="34" charset="-122"/>
              </a:rPr>
              <a:t>内塔尼亚胡为维持议会多数（</a:t>
            </a:r>
            <a:r>
              <a:rPr lang="en-US" altLang="zh-CN" sz="3200" b="1" dirty="0">
                <a:solidFill>
                  <a:schemeClr val="tx1"/>
                </a:solidFill>
                <a:effectLst/>
                <a:latin typeface="+mn-lt"/>
                <a:ea typeface="微软雅黑" panose="020B0503020204020204" pitchFamily="34" charset="-122"/>
                <a:cs typeface="微软雅黑" panose="020B0503020204020204" pitchFamily="34" charset="-122"/>
              </a:rPr>
              <a:t>64/120 </a:t>
            </a:r>
            <a:r>
              <a:rPr lang="zh-CN" altLang="zh-CN" sz="3200" b="1" dirty="0">
                <a:solidFill>
                  <a:schemeClr val="tx1"/>
                </a:solidFill>
                <a:effectLst/>
                <a:latin typeface="+mn-lt"/>
                <a:ea typeface="微软雅黑" panose="020B0503020204020204" pitchFamily="34" charset="-122"/>
                <a:cs typeface="微软雅黑" panose="020B0503020204020204" pitchFamily="34" charset="-122"/>
              </a:rPr>
              <a:t>席</a:t>
            </a:r>
            <a:r>
              <a:rPr lang="zh-CN" altLang="zh-CN" sz="3200" dirty="0">
                <a:solidFill>
                  <a:schemeClr val="tx1"/>
                </a:solidFill>
                <a:effectLst/>
                <a:latin typeface="+mn-lt"/>
                <a:ea typeface="微软雅黑" panose="020B0503020204020204" pitchFamily="34" charset="-122"/>
                <a:cs typeface="微软雅黑" panose="020B0503020204020204" pitchFamily="34" charset="-122"/>
              </a:rPr>
              <a:t>），在领土政策上对这些党派持续让步，使定居点政策从</a:t>
            </a:r>
            <a:r>
              <a:rPr lang="en-US" altLang="zh-CN" sz="32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3200" dirty="0">
                <a:solidFill>
                  <a:schemeClr val="tx1"/>
                </a:solidFill>
                <a:effectLst/>
                <a:latin typeface="+mn-lt"/>
                <a:ea typeface="微软雅黑" panose="020B0503020204020204" pitchFamily="34" charset="-122"/>
                <a:cs typeface="微软雅黑" panose="020B0503020204020204" pitchFamily="34" charset="-122"/>
              </a:rPr>
              <a:t>国家安全工具</a:t>
            </a:r>
            <a:r>
              <a:rPr lang="en-US" altLang="zh-CN" sz="32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3200" dirty="0">
                <a:solidFill>
                  <a:schemeClr val="tx1"/>
                </a:solidFill>
                <a:effectLst/>
                <a:latin typeface="+mn-lt"/>
                <a:ea typeface="微软雅黑" panose="020B0503020204020204" pitchFamily="34" charset="-122"/>
                <a:cs typeface="微软雅黑" panose="020B0503020204020204" pitchFamily="34" charset="-122"/>
              </a:rPr>
              <a:t>异化为</a:t>
            </a:r>
            <a:r>
              <a:rPr lang="en-US" altLang="zh-CN" sz="32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3200" dirty="0">
                <a:solidFill>
                  <a:schemeClr val="tx1"/>
                </a:solidFill>
                <a:effectLst/>
                <a:latin typeface="+mn-lt"/>
                <a:ea typeface="微软雅黑" panose="020B0503020204020204" pitchFamily="34" charset="-122"/>
                <a:cs typeface="微软雅黑" panose="020B0503020204020204" pitchFamily="34" charset="-122"/>
              </a:rPr>
              <a:t>国内政治交易筹码</a:t>
            </a:r>
            <a:r>
              <a:rPr lang="en-US" altLang="zh-CN" sz="32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3200" dirty="0">
                <a:solidFill>
                  <a:schemeClr val="tx1"/>
                </a:solidFill>
                <a:effectLst/>
                <a:latin typeface="+mn-lt"/>
                <a:ea typeface="微软雅黑" panose="020B0503020204020204" pitchFamily="34" charset="-122"/>
                <a:cs typeface="微软雅黑" panose="020B0503020204020204" pitchFamily="34" charset="-122"/>
              </a:rPr>
              <a:t>。</a:t>
            </a:r>
            <a:endParaRPr lang="zh-CN" altLang="zh-CN" sz="1200" dirty="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13239524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ACA76CA-207B-465B-DF22-6C3035C5C9F6}"/>
              </a:ext>
            </a:extLst>
          </p:cNvPr>
          <p:cNvSpPr txBox="1"/>
          <p:nvPr/>
        </p:nvSpPr>
        <p:spPr>
          <a:xfrm>
            <a:off x="1009650" y="966989"/>
            <a:ext cx="10172700" cy="5119350"/>
          </a:xfrm>
          <a:prstGeom prst="rect">
            <a:avLst/>
          </a:prstGeom>
          <a:noFill/>
        </p:spPr>
        <p:txBody>
          <a:bodyPr wrap="square">
            <a:spAutoFit/>
          </a:bodyPr>
          <a:lstStyle/>
          <a:p>
            <a:pPr marL="342900" lvl="0" indent="-342900">
              <a:lnSpc>
                <a:spcPct val="100000"/>
              </a:lnSpc>
              <a:spcAft>
                <a:spcPts val="420"/>
              </a:spcAft>
              <a:buFont typeface="Symbol" panose="05050102010706020507" pitchFamily="18" charset="2"/>
              <a:buChar char=""/>
              <a:tabLst>
                <a:tab pos="228600" algn="l"/>
              </a:tabLst>
            </a:pPr>
            <a:r>
              <a:rPr lang="en-US" altLang="zh-CN" sz="4000" dirty="0">
                <a:solidFill>
                  <a:schemeClr val="tx1"/>
                </a:solidFill>
                <a:effectLst/>
                <a:latin typeface="+mn-lt"/>
                <a:ea typeface="微软雅黑" panose="020B0503020204020204" pitchFamily="34" charset="-122"/>
                <a:cs typeface="Times New Roman" panose="02020603050405020304" pitchFamily="18" charset="0"/>
              </a:rPr>
              <a:t>2023</a:t>
            </a:r>
            <a:r>
              <a:rPr lang="zh-CN" altLang="zh-CN" sz="4000" dirty="0">
                <a:solidFill>
                  <a:schemeClr val="tx1"/>
                </a:solidFill>
                <a:effectLst/>
                <a:latin typeface="+mn-lt"/>
                <a:ea typeface="微软雅黑" panose="020B0503020204020204" pitchFamily="34" charset="-122"/>
                <a:cs typeface="微软雅黑" panose="020B0503020204020204" pitchFamily="34" charset="-122"/>
              </a:rPr>
              <a:t>年</a:t>
            </a:r>
            <a:r>
              <a:rPr lang="en-US" altLang="zh-CN" sz="4000" dirty="0">
                <a:solidFill>
                  <a:schemeClr val="tx1"/>
                </a:solidFill>
                <a:effectLst/>
                <a:latin typeface="+mn-lt"/>
                <a:ea typeface="微软雅黑" panose="020B0503020204020204" pitchFamily="34" charset="-122"/>
                <a:cs typeface="Times New Roman" panose="02020603050405020304" pitchFamily="18" charset="0"/>
              </a:rPr>
              <a:t>10</a:t>
            </a:r>
            <a:r>
              <a:rPr lang="zh-CN" altLang="zh-CN" sz="4000" dirty="0">
                <a:solidFill>
                  <a:schemeClr val="tx1"/>
                </a:solidFill>
                <a:effectLst/>
                <a:latin typeface="+mn-lt"/>
                <a:ea typeface="微软雅黑" panose="020B0503020204020204" pitchFamily="34" charset="-122"/>
                <a:cs typeface="微软雅黑" panose="020B0503020204020204" pitchFamily="34" charset="-122"/>
              </a:rPr>
              <a:t>月</a:t>
            </a:r>
            <a:r>
              <a:rPr lang="en-US" altLang="zh-CN" sz="4000" dirty="0">
                <a:solidFill>
                  <a:schemeClr val="tx1"/>
                </a:solidFill>
                <a:effectLst/>
                <a:latin typeface="+mn-lt"/>
                <a:ea typeface="微软雅黑" panose="020B0503020204020204" pitchFamily="34" charset="-122"/>
                <a:cs typeface="Times New Roman" panose="02020603050405020304" pitchFamily="18" charset="0"/>
              </a:rPr>
              <a:t>7</a:t>
            </a:r>
            <a:r>
              <a:rPr lang="zh-CN" altLang="zh-CN" sz="4000" dirty="0">
                <a:solidFill>
                  <a:schemeClr val="tx1"/>
                </a:solidFill>
                <a:effectLst/>
                <a:latin typeface="+mn-lt"/>
                <a:ea typeface="微软雅黑" panose="020B0503020204020204" pitchFamily="34" charset="-122"/>
                <a:cs typeface="微软雅黑" panose="020B0503020204020204" pitchFamily="34" charset="-122"/>
              </a:rPr>
              <a:t>日哈马斯袭击后，内塔尼亚胡拒绝成立国家调查委员会、拒绝就情报失误承担责任。</a:t>
            </a:r>
            <a:endParaRPr lang="zh-CN" altLang="zh-CN" sz="4000" dirty="0">
              <a:solidFill>
                <a:schemeClr val="tx1"/>
              </a:solidFill>
              <a:effectLst/>
              <a:latin typeface="+mn-lt"/>
              <a:ea typeface="微软雅黑" panose="020B0503020204020204" pitchFamily="34" charset="-122"/>
              <a:cs typeface="Times New Roman" panose="02020603050405020304" pitchFamily="18" charset="0"/>
            </a:endParaRPr>
          </a:p>
          <a:p>
            <a:pPr marL="342900" lvl="0" indent="-342900">
              <a:lnSpc>
                <a:spcPct val="100000"/>
              </a:lnSpc>
              <a:spcAft>
                <a:spcPts val="420"/>
              </a:spcAft>
              <a:buFont typeface="Symbol" panose="05050102010706020507" pitchFamily="18" charset="2"/>
              <a:buChar char=""/>
              <a:tabLst>
                <a:tab pos="228600" algn="l"/>
              </a:tabLst>
            </a:pPr>
            <a:r>
              <a:rPr lang="zh-CN" altLang="zh-CN" sz="4000" dirty="0">
                <a:solidFill>
                  <a:schemeClr val="tx1"/>
                </a:solidFill>
                <a:effectLst/>
                <a:latin typeface="+mn-lt"/>
                <a:ea typeface="微软雅黑" panose="020B0503020204020204" pitchFamily="34" charset="-122"/>
                <a:cs typeface="微软雅黑" panose="020B0503020204020204" pitchFamily="34" charset="-122"/>
              </a:rPr>
              <a:t>多线作战（加沙、黎巴嫩真主党、也门胡塞、伊朗）的延续，客观上</a:t>
            </a:r>
            <a:r>
              <a:rPr lang="zh-CN" altLang="zh-CN" sz="4000" b="1" dirty="0">
                <a:solidFill>
                  <a:schemeClr val="tx1"/>
                </a:solidFill>
                <a:effectLst/>
                <a:latin typeface="+mn-lt"/>
                <a:ea typeface="微软雅黑" panose="020B0503020204020204" pitchFamily="34" charset="-122"/>
                <a:cs typeface="微软雅黑" panose="020B0503020204020204" pitchFamily="34" charset="-122"/>
              </a:rPr>
              <a:t>冻结了政治时钟</a:t>
            </a:r>
            <a:r>
              <a:rPr lang="zh-CN" altLang="zh-CN" sz="4000" dirty="0">
                <a:solidFill>
                  <a:schemeClr val="tx1"/>
                </a:solidFill>
                <a:effectLst/>
                <a:latin typeface="+mn-lt"/>
                <a:ea typeface="微软雅黑" panose="020B0503020204020204" pitchFamily="34" charset="-122"/>
                <a:cs typeface="微软雅黑" panose="020B0503020204020204" pitchFamily="34" charset="-122"/>
              </a:rPr>
              <a:t>：战争状态下难以倒阁、难以举行选举、腐败审判的关注度下降。</a:t>
            </a:r>
            <a:endParaRPr lang="zh-CN" altLang="zh-CN" sz="4000" dirty="0">
              <a:solidFill>
                <a:schemeClr val="tx1"/>
              </a:solidFill>
              <a:effectLst/>
              <a:latin typeface="+mn-lt"/>
              <a:ea typeface="微软雅黑" panose="020B0503020204020204" pitchFamily="34" charset="-122"/>
              <a:cs typeface="Times New Roman" panose="02020603050405020304" pitchFamily="18" charset="0"/>
            </a:endParaRPr>
          </a:p>
          <a:p>
            <a:pPr marL="342900" lvl="0" indent="-342900">
              <a:lnSpc>
                <a:spcPct val="100000"/>
              </a:lnSpc>
              <a:spcAft>
                <a:spcPts val="420"/>
              </a:spcAft>
              <a:buFont typeface="Symbol" panose="05050102010706020507" pitchFamily="18" charset="2"/>
              <a:buChar char=""/>
              <a:tabLst>
                <a:tab pos="228600" algn="l"/>
              </a:tabLst>
            </a:pPr>
            <a:r>
              <a:rPr lang="en-US" altLang="zh-CN" sz="40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4000" dirty="0">
                <a:solidFill>
                  <a:schemeClr val="tx1"/>
                </a:solidFill>
                <a:effectLst/>
                <a:latin typeface="+mn-lt"/>
                <a:ea typeface="微软雅黑" panose="020B0503020204020204" pitchFamily="34" charset="-122"/>
                <a:cs typeface="微软雅黑" panose="020B0503020204020204" pitchFamily="34" charset="-122"/>
              </a:rPr>
              <a:t>安全</a:t>
            </a:r>
            <a:r>
              <a:rPr lang="en-US" altLang="zh-CN" sz="4000" dirty="0">
                <a:solidFill>
                  <a:schemeClr val="tx1"/>
                </a:solidFill>
                <a:effectLst/>
                <a:latin typeface="+mn-lt"/>
                <a:ea typeface="微软雅黑" panose="020B0503020204020204" pitchFamily="34" charset="-122"/>
                <a:cs typeface="Times New Roman" panose="02020603050405020304" pitchFamily="18" charset="0"/>
              </a:rPr>
              <a:t>"</a:t>
            </a:r>
            <a:r>
              <a:rPr lang="zh-CN" altLang="zh-CN" sz="4000" dirty="0">
                <a:solidFill>
                  <a:schemeClr val="tx1"/>
                </a:solidFill>
                <a:effectLst/>
                <a:latin typeface="+mn-lt"/>
                <a:ea typeface="微软雅黑" panose="020B0503020204020204" pitchFamily="34" charset="-122"/>
                <a:cs typeface="微软雅黑" panose="020B0503020204020204" pitchFamily="34" charset="-122"/>
              </a:rPr>
              <a:t>从公共品变成了</a:t>
            </a:r>
            <a:r>
              <a:rPr lang="zh-CN" altLang="zh-CN" sz="4000" b="1" dirty="0">
                <a:solidFill>
                  <a:schemeClr val="tx1"/>
                </a:solidFill>
                <a:effectLst/>
                <a:latin typeface="+mn-lt"/>
                <a:ea typeface="微软雅黑" panose="020B0503020204020204" pitchFamily="34" charset="-122"/>
                <a:cs typeface="微软雅黑" panose="020B0503020204020204" pitchFamily="34" charset="-122"/>
              </a:rPr>
              <a:t>执政的抵押物</a:t>
            </a:r>
            <a:r>
              <a:rPr lang="zh-CN" altLang="zh-CN" sz="4000" dirty="0">
                <a:solidFill>
                  <a:schemeClr val="tx1"/>
                </a:solidFill>
                <a:effectLst/>
                <a:latin typeface="+mn-lt"/>
                <a:ea typeface="微软雅黑" panose="020B0503020204020204" pitchFamily="34" charset="-122"/>
                <a:cs typeface="微软雅黑" panose="020B0503020204020204" pitchFamily="34" charset="-122"/>
              </a:rPr>
              <a:t>。</a:t>
            </a:r>
            <a:endParaRPr lang="zh-CN" altLang="zh-CN" sz="1600" dirty="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074629507"/>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内塔尼亚胡：军事行动将一直持续，直到实现以色列的“安全”_凤凰网">
            <a:extLst>
              <a:ext uri="{FF2B5EF4-FFF2-40B4-BE49-F238E27FC236}">
                <a16:creationId xmlns:a16="http://schemas.microsoft.com/office/drawing/2014/main" id="{6F965CC6-D544-2D9C-4EDF-76BE7806B7F2}"/>
              </a:ext>
            </a:extLst>
          </p:cNvPr>
          <p:cNvPicPr>
            <a:picLocks noChangeAspect="1"/>
          </p:cNvPicPr>
          <p:nvPr/>
        </p:nvPicPr>
        <p:blipFill>
          <a:blip r:embed="rId2"/>
          <a:stretch>
            <a:fillRect/>
          </a:stretch>
        </p:blipFill>
        <p:spPr>
          <a:xfrm>
            <a:off x="2210565" y="857250"/>
            <a:ext cx="7770870" cy="5143500"/>
          </a:xfrm>
          <a:prstGeom prst="rect">
            <a:avLst/>
          </a:prstGeom>
        </p:spPr>
      </p:pic>
    </p:spTree>
    <p:extLst>
      <p:ext uri="{BB962C8B-B14F-4D97-AF65-F5344CB8AC3E}">
        <p14:creationId xmlns:p14="http://schemas.microsoft.com/office/powerpoint/2010/main" val="92815046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A0D2F1E7-9BD8-8671-7D06-7C38D96952F3}"/>
              </a:ext>
            </a:extLst>
          </p:cNvPr>
          <p:cNvGraphicFramePr>
            <a:graphicFrameLocks noGrp="1"/>
          </p:cNvGraphicFramePr>
          <p:nvPr>
            <p:extLst>
              <p:ext uri="{D42A27DB-BD31-4B8C-83A1-F6EECF244321}">
                <p14:modId xmlns:p14="http://schemas.microsoft.com/office/powerpoint/2010/main" val="1552874653"/>
              </p:ext>
            </p:extLst>
          </p:nvPr>
        </p:nvGraphicFramePr>
        <p:xfrm>
          <a:off x="669925" y="952500"/>
          <a:ext cx="10852150" cy="5244678"/>
        </p:xfrm>
        <a:graphic>
          <a:graphicData uri="http://schemas.openxmlformats.org/drawingml/2006/table">
            <a:tbl>
              <a:tblPr firstRow="1" firstCol="1" bandRow="1">
                <a:tableStyleId>{5C22544A-7EE6-4342-B048-85BDC9FD1C3A}</a:tableStyleId>
              </a:tblPr>
              <a:tblGrid>
                <a:gridCol w="5426075">
                  <a:extLst>
                    <a:ext uri="{9D8B030D-6E8A-4147-A177-3AD203B41FA5}">
                      <a16:colId xmlns:a16="http://schemas.microsoft.com/office/drawing/2014/main" val="832073532"/>
                    </a:ext>
                  </a:extLst>
                </a:gridCol>
                <a:gridCol w="5426075">
                  <a:extLst>
                    <a:ext uri="{9D8B030D-6E8A-4147-A177-3AD203B41FA5}">
                      <a16:colId xmlns:a16="http://schemas.microsoft.com/office/drawing/2014/main" val="2863845186"/>
                    </a:ext>
                  </a:extLst>
                </a:gridCol>
              </a:tblGrid>
              <a:tr h="707313">
                <a:tc>
                  <a:txBody>
                    <a:bodyPr/>
                    <a:lstStyle/>
                    <a:p>
                      <a:pPr>
                        <a:lnSpc>
                          <a:spcPct val="135000"/>
                        </a:lnSpc>
                        <a:spcBef>
                          <a:spcPts val="200"/>
                        </a:spcBef>
                        <a:spcAft>
                          <a:spcPts val="200"/>
                        </a:spcAft>
                        <a:buNone/>
                      </a:pPr>
                      <a:r>
                        <a:rPr lang="en-US" sz="3200" dirty="0" err="1">
                          <a:effectLst/>
                        </a:rPr>
                        <a:t>概念</a:t>
                      </a:r>
                      <a:endParaRPr lang="zh-CN" sz="3600" dirty="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tc>
                  <a:txBody>
                    <a:bodyPr/>
                    <a:lstStyle/>
                    <a:p>
                      <a:pPr>
                        <a:lnSpc>
                          <a:spcPct val="135000"/>
                        </a:lnSpc>
                        <a:spcBef>
                          <a:spcPts val="200"/>
                        </a:spcBef>
                        <a:spcAft>
                          <a:spcPts val="200"/>
                        </a:spcAft>
                        <a:buNone/>
                      </a:pPr>
                      <a:r>
                        <a:rPr lang="en-US" sz="3200" dirty="0" err="1">
                          <a:effectLst/>
                        </a:rPr>
                        <a:t>在本案例中的体现</a:t>
                      </a:r>
                      <a:endParaRPr lang="zh-CN" sz="3600" dirty="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extLst>
                  <a:ext uri="{0D108BD9-81ED-4DB2-BD59-A6C34878D82A}">
                    <a16:rowId xmlns:a16="http://schemas.microsoft.com/office/drawing/2014/main" val="1270684663"/>
                  </a:ext>
                </a:extLst>
              </a:tr>
              <a:tr h="1116087">
                <a:tc>
                  <a:txBody>
                    <a:bodyPr/>
                    <a:lstStyle/>
                    <a:p>
                      <a:pPr>
                        <a:lnSpc>
                          <a:spcPct val="135000"/>
                        </a:lnSpc>
                        <a:spcBef>
                          <a:spcPts val="200"/>
                        </a:spcBef>
                        <a:spcAft>
                          <a:spcPts val="200"/>
                        </a:spcAft>
                        <a:buNone/>
                      </a:pPr>
                      <a:r>
                        <a:rPr lang="en-US" sz="1600">
                          <a:effectLst/>
                        </a:rPr>
                        <a:t>地缘政治（ Geopolitics ）</a:t>
                      </a:r>
                      <a:endParaRPr lang="zh-CN" sz="180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tc>
                  <a:txBody>
                    <a:bodyPr/>
                    <a:lstStyle/>
                    <a:p>
                      <a:pPr>
                        <a:lnSpc>
                          <a:spcPct val="135000"/>
                        </a:lnSpc>
                        <a:spcBef>
                          <a:spcPts val="200"/>
                        </a:spcBef>
                        <a:spcAft>
                          <a:spcPts val="200"/>
                        </a:spcAft>
                        <a:buNone/>
                      </a:pPr>
                      <a:r>
                        <a:rPr lang="zh-CN" sz="1600">
                          <a:effectLst/>
                        </a:rPr>
                        <a:t>以色列处于</a:t>
                      </a:r>
                      <a:r>
                        <a:rPr lang="en-US" sz="1600">
                          <a:effectLst/>
                        </a:rPr>
                        <a:t> " </a:t>
                      </a:r>
                      <a:r>
                        <a:rPr lang="zh-CN" sz="1600">
                          <a:effectLst/>
                        </a:rPr>
                        <a:t>破碎地带</a:t>
                      </a:r>
                      <a:r>
                        <a:rPr lang="en-US" sz="1600">
                          <a:effectLst/>
                        </a:rPr>
                        <a:t> " </a:t>
                      </a:r>
                      <a:r>
                        <a:rPr lang="zh-CN" sz="1600">
                          <a:effectLst/>
                        </a:rPr>
                        <a:t>（</a:t>
                      </a:r>
                      <a:r>
                        <a:rPr lang="en-US" sz="1600">
                          <a:effectLst/>
                        </a:rPr>
                        <a:t> shatterbelt </a:t>
                      </a:r>
                      <a:r>
                        <a:rPr lang="zh-CN" sz="1600">
                          <a:effectLst/>
                        </a:rPr>
                        <a:t>），内塔尼亚胡选择</a:t>
                      </a:r>
                      <a:r>
                        <a:rPr lang="en-US" sz="1600">
                          <a:effectLst/>
                        </a:rPr>
                        <a:t> " </a:t>
                      </a:r>
                      <a:r>
                        <a:rPr lang="zh-CN" sz="1600">
                          <a:effectLst/>
                        </a:rPr>
                        <a:t>以武力塑造地理</a:t>
                      </a:r>
                      <a:r>
                        <a:rPr lang="en-US" sz="1600">
                          <a:effectLst/>
                        </a:rPr>
                        <a:t> " </a:t>
                      </a:r>
                      <a:r>
                        <a:rPr lang="zh-CN" sz="1600">
                          <a:effectLst/>
                        </a:rPr>
                        <a:t>而非</a:t>
                      </a:r>
                      <a:r>
                        <a:rPr lang="en-US" sz="1600">
                          <a:effectLst/>
                        </a:rPr>
                        <a:t> " </a:t>
                      </a:r>
                      <a:r>
                        <a:rPr lang="zh-CN" sz="1600">
                          <a:effectLst/>
                        </a:rPr>
                        <a:t>以谈判管理地理</a:t>
                      </a:r>
                      <a:r>
                        <a:rPr lang="en-US" sz="1600">
                          <a:effectLst/>
                        </a:rPr>
                        <a:t> " </a:t>
                      </a:r>
                      <a:r>
                        <a:rPr lang="zh-CN" sz="1600">
                          <a:effectLst/>
                        </a:rPr>
                        <a:t>，加剧地区体系的不稳定</a:t>
                      </a:r>
                      <a:endParaRPr lang="zh-CN" sz="180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extLst>
                  <a:ext uri="{0D108BD9-81ED-4DB2-BD59-A6C34878D82A}">
                    <a16:rowId xmlns:a16="http://schemas.microsoft.com/office/drawing/2014/main" val="2994811610"/>
                  </a:ext>
                </a:extLst>
              </a:tr>
              <a:tr h="706838">
                <a:tc>
                  <a:txBody>
                    <a:bodyPr/>
                    <a:lstStyle/>
                    <a:p>
                      <a:pPr>
                        <a:lnSpc>
                          <a:spcPct val="135000"/>
                        </a:lnSpc>
                        <a:spcBef>
                          <a:spcPts val="200"/>
                        </a:spcBef>
                        <a:spcAft>
                          <a:spcPts val="200"/>
                        </a:spcAft>
                        <a:buNone/>
                      </a:pPr>
                      <a:r>
                        <a:rPr lang="en-US" sz="1600">
                          <a:effectLst/>
                        </a:rPr>
                        <a:t>领土性（ Territoriality ）</a:t>
                      </a:r>
                      <a:endParaRPr lang="zh-CN" sz="180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tc>
                  <a:txBody>
                    <a:bodyPr/>
                    <a:lstStyle/>
                    <a:p>
                      <a:pPr>
                        <a:lnSpc>
                          <a:spcPct val="135000"/>
                        </a:lnSpc>
                        <a:spcBef>
                          <a:spcPts val="200"/>
                        </a:spcBef>
                        <a:spcAft>
                          <a:spcPts val="200"/>
                        </a:spcAft>
                        <a:buNone/>
                      </a:pPr>
                      <a:r>
                        <a:rPr lang="zh-CN" sz="1600">
                          <a:effectLst/>
                        </a:rPr>
                        <a:t>定居点扩张是</a:t>
                      </a:r>
                      <a:r>
                        <a:rPr lang="en-US" sz="1600">
                          <a:effectLst/>
                        </a:rPr>
                        <a:t> " </a:t>
                      </a:r>
                      <a:r>
                        <a:rPr lang="zh-CN" sz="1600">
                          <a:effectLst/>
                        </a:rPr>
                        <a:t>空间控制</a:t>
                      </a:r>
                      <a:r>
                        <a:rPr lang="en-US" sz="1600">
                          <a:effectLst/>
                        </a:rPr>
                        <a:t> " </a:t>
                      </a:r>
                      <a:r>
                        <a:rPr lang="zh-CN" sz="1600">
                          <a:effectLst/>
                        </a:rPr>
                        <a:t>行为；个人政治需求通过领土政策得以表达，领土被工具化</a:t>
                      </a:r>
                      <a:endParaRPr lang="zh-CN" sz="180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extLst>
                  <a:ext uri="{0D108BD9-81ED-4DB2-BD59-A6C34878D82A}">
                    <a16:rowId xmlns:a16="http://schemas.microsoft.com/office/drawing/2014/main" val="2055127426"/>
                  </a:ext>
                </a:extLst>
              </a:tr>
              <a:tr h="707313">
                <a:tc>
                  <a:txBody>
                    <a:bodyPr/>
                    <a:lstStyle/>
                    <a:p>
                      <a:pPr>
                        <a:lnSpc>
                          <a:spcPct val="135000"/>
                        </a:lnSpc>
                        <a:spcBef>
                          <a:spcPts val="200"/>
                        </a:spcBef>
                        <a:spcAft>
                          <a:spcPts val="200"/>
                        </a:spcAft>
                        <a:buNone/>
                      </a:pPr>
                      <a:r>
                        <a:rPr lang="en-US" sz="1600">
                          <a:effectLst/>
                        </a:rPr>
                        <a:t>选举地理（ Electoral Geography ）</a:t>
                      </a:r>
                      <a:endParaRPr lang="zh-CN" sz="180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tc>
                  <a:txBody>
                    <a:bodyPr/>
                    <a:lstStyle/>
                    <a:p>
                      <a:pPr>
                        <a:lnSpc>
                          <a:spcPct val="135000"/>
                        </a:lnSpc>
                        <a:spcBef>
                          <a:spcPts val="200"/>
                        </a:spcBef>
                        <a:spcAft>
                          <a:spcPts val="200"/>
                        </a:spcAft>
                        <a:buNone/>
                      </a:pPr>
                      <a:r>
                        <a:rPr lang="zh-CN" sz="1600">
                          <a:effectLst/>
                        </a:rPr>
                        <a:t>执政联盟的选票基础（定居者、极端正统派）高度空间集中，使少数人的地理分布绑架全国政策</a:t>
                      </a:r>
                      <a:endParaRPr lang="zh-CN" sz="180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extLst>
                  <a:ext uri="{0D108BD9-81ED-4DB2-BD59-A6C34878D82A}">
                    <a16:rowId xmlns:a16="http://schemas.microsoft.com/office/drawing/2014/main" val="1154962472"/>
                  </a:ext>
                </a:extLst>
              </a:tr>
              <a:tr h="707313">
                <a:tc>
                  <a:txBody>
                    <a:bodyPr/>
                    <a:lstStyle/>
                    <a:p>
                      <a:pPr>
                        <a:lnSpc>
                          <a:spcPct val="135000"/>
                        </a:lnSpc>
                        <a:spcBef>
                          <a:spcPts val="200"/>
                        </a:spcBef>
                        <a:spcAft>
                          <a:spcPts val="200"/>
                        </a:spcAft>
                        <a:buNone/>
                      </a:pPr>
                      <a:r>
                        <a:rPr lang="en-US" sz="1600">
                          <a:effectLst/>
                        </a:rPr>
                        <a:t>空间正义（ Spatial Justice ）</a:t>
                      </a:r>
                      <a:endParaRPr lang="zh-CN" sz="180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tc>
                  <a:txBody>
                    <a:bodyPr/>
                    <a:lstStyle/>
                    <a:p>
                      <a:pPr>
                        <a:lnSpc>
                          <a:spcPct val="135000"/>
                        </a:lnSpc>
                        <a:spcBef>
                          <a:spcPts val="200"/>
                        </a:spcBef>
                        <a:spcAft>
                          <a:spcPts val="200"/>
                        </a:spcAft>
                        <a:buNone/>
                      </a:pPr>
                      <a:r>
                        <a:rPr lang="zh-CN" sz="1600">
                          <a:effectLst/>
                        </a:rPr>
                        <a:t>加沙平民、西岸巴勒斯坦人、被疏散的以色列北部居民，都承受着政策成本的空间不均衡分配</a:t>
                      </a:r>
                      <a:endParaRPr lang="zh-CN" sz="180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extLst>
                  <a:ext uri="{0D108BD9-81ED-4DB2-BD59-A6C34878D82A}">
                    <a16:rowId xmlns:a16="http://schemas.microsoft.com/office/drawing/2014/main" val="3715929577"/>
                  </a:ext>
                </a:extLst>
              </a:tr>
              <a:tr h="1116087">
                <a:tc>
                  <a:txBody>
                    <a:bodyPr/>
                    <a:lstStyle/>
                    <a:p>
                      <a:pPr>
                        <a:lnSpc>
                          <a:spcPct val="135000"/>
                        </a:lnSpc>
                        <a:spcBef>
                          <a:spcPts val="200"/>
                        </a:spcBef>
                        <a:spcAft>
                          <a:spcPts val="200"/>
                        </a:spcAft>
                        <a:buNone/>
                      </a:pPr>
                      <a:r>
                        <a:rPr lang="en-US" sz="1600">
                          <a:effectLst/>
                        </a:rPr>
                        <a:t>国家建构（ State-building ）</a:t>
                      </a:r>
                      <a:endParaRPr lang="zh-CN" sz="180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tc>
                  <a:txBody>
                    <a:bodyPr/>
                    <a:lstStyle/>
                    <a:p>
                      <a:pPr>
                        <a:lnSpc>
                          <a:spcPct val="135000"/>
                        </a:lnSpc>
                        <a:spcBef>
                          <a:spcPts val="200"/>
                        </a:spcBef>
                        <a:spcAft>
                          <a:spcPts val="200"/>
                        </a:spcAft>
                        <a:buNone/>
                      </a:pPr>
                      <a:r>
                        <a:rPr lang="en-US" sz="1600" dirty="0">
                          <a:effectLst/>
                        </a:rPr>
                        <a:t>" </a:t>
                      </a:r>
                      <a:r>
                        <a:rPr lang="zh-CN" sz="1600" dirty="0">
                          <a:effectLst/>
                        </a:rPr>
                        <a:t>犹太国家</a:t>
                      </a:r>
                      <a:r>
                        <a:rPr lang="en-US" sz="1600" dirty="0">
                          <a:effectLst/>
                        </a:rPr>
                        <a:t> " </a:t>
                      </a:r>
                      <a:r>
                        <a:rPr lang="zh-CN" sz="1600" dirty="0">
                          <a:effectLst/>
                        </a:rPr>
                        <a:t>与</a:t>
                      </a:r>
                      <a:r>
                        <a:rPr lang="en-US" sz="1600" dirty="0">
                          <a:effectLst/>
                        </a:rPr>
                        <a:t> " </a:t>
                      </a:r>
                      <a:r>
                        <a:rPr lang="zh-CN" sz="1600" dirty="0">
                          <a:effectLst/>
                        </a:rPr>
                        <a:t>民主国家</a:t>
                      </a:r>
                      <a:r>
                        <a:rPr lang="en-US" sz="1600" dirty="0">
                          <a:effectLst/>
                        </a:rPr>
                        <a:t> " </a:t>
                      </a:r>
                      <a:r>
                        <a:rPr lang="zh-CN" sz="1600" dirty="0">
                          <a:effectLst/>
                        </a:rPr>
                        <a:t>的双重承诺在人口地理现实（两个民族共享一片领土）前日益不可兼得，而现政府加速了这一困境</a:t>
                      </a:r>
                      <a:endParaRPr lang="zh-CN" sz="1800" dirty="0">
                        <a:solidFill>
                          <a:srgbClr val="21212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06680" marR="106680" marT="68580" marB="68580" anchor="ctr"/>
                </a:tc>
                <a:extLst>
                  <a:ext uri="{0D108BD9-81ED-4DB2-BD59-A6C34878D82A}">
                    <a16:rowId xmlns:a16="http://schemas.microsoft.com/office/drawing/2014/main" val="2790132919"/>
                  </a:ext>
                </a:extLst>
              </a:tr>
            </a:tbl>
          </a:graphicData>
        </a:graphic>
      </p:graphicFrame>
    </p:spTree>
    <p:extLst>
      <p:ext uri="{BB962C8B-B14F-4D97-AF65-F5344CB8AC3E}">
        <p14:creationId xmlns:p14="http://schemas.microsoft.com/office/powerpoint/2010/main" val="290938634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10EF4-8909-A312-F038-614E4B59E926}"/>
            </a:ext>
          </a:extLst>
        </p:cNvPr>
        <p:cNvGrpSpPr/>
        <p:nvPr/>
      </p:nvGrpSpPr>
      <p:grpSpPr>
        <a:xfrm>
          <a:off x="0" y="0"/>
          <a:ext cx="0" cy="0"/>
          <a:chOff x="0" y="0"/>
          <a:chExt cx="0" cy="0"/>
        </a:xfrm>
      </p:grpSpPr>
      <p:sp>
        <p:nvSpPr>
          <p:cNvPr id="2"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a:extLst>
              <a:ext uri="{FF2B5EF4-FFF2-40B4-BE49-F238E27FC236}">
                <a16:creationId xmlns:a16="http://schemas.microsoft.com/office/drawing/2014/main" id="{DE1B78A2-8065-354E-9C6C-D8504FC73BEB}"/>
              </a:ext>
            </a:extLst>
          </p:cNvPr>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
        <p:nvSpPr>
          <p:cNvPr id="6" name="文本框 5"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7B3D3BAF-6265-FE4C-DB38-64810891CE2D}"/>
              </a:ext>
            </a:extLst>
          </p:cNvPr>
          <p:cNvSpPr txBox="1"/>
          <p:nvPr/>
        </p:nvSpPr>
        <p:spPr>
          <a:xfrm>
            <a:off x="3444129" y="4407798"/>
            <a:ext cx="5303739" cy="1015663"/>
          </a:xfrm>
          <a:prstGeom prst="rect">
            <a:avLst/>
          </a:prstGeom>
          <a:noFill/>
        </p:spPr>
        <p:txBody>
          <a:bodyPr wrap="square" rtlCol="0" anchor="t">
            <a:spAutoFit/>
          </a:bodyPr>
          <a:lstStyle/>
          <a:p>
            <a:pPr algn="dist"/>
            <a:r>
              <a:rPr lang="en-US" sz="6000"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rPr>
              <a:t>Part </a:t>
            </a:r>
            <a:r>
              <a:rPr lang="en-US" sz="6000"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FOUR</a:t>
            </a:r>
            <a:endParaRPr sz="6000"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endParaRPr>
          </a:p>
        </p:txBody>
      </p:sp>
      <p:sp>
        <p:nvSpPr>
          <p:cNvPr id="9" name="文本框 8"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a:extLst>
              <a:ext uri="{FF2B5EF4-FFF2-40B4-BE49-F238E27FC236}">
                <a16:creationId xmlns:a16="http://schemas.microsoft.com/office/drawing/2014/main" id="{BA1CD43A-8D00-B9FE-4CDB-87A518F48C61}"/>
              </a:ext>
            </a:extLst>
          </p:cNvPr>
          <p:cNvSpPr txBox="1"/>
          <p:nvPr/>
        </p:nvSpPr>
        <p:spPr>
          <a:xfrm>
            <a:off x="3963293" y="3940174"/>
            <a:ext cx="4265410" cy="499624"/>
          </a:xfrm>
          <a:prstGeom prst="rect">
            <a:avLst/>
          </a:prstGeom>
          <a:noFill/>
        </p:spPr>
        <p:txBody>
          <a:bodyPr wrap="square" rtlCol="0" anchor="t">
            <a:spAutoFit/>
          </a:bodyPr>
          <a:lstStyle/>
          <a:p>
            <a:pPr algn="ctr">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巴以冲突：为了更美好的未来</a:t>
            </a:r>
          </a:p>
        </p:txBody>
      </p:sp>
      <p:pic>
        <p:nvPicPr>
          <p:cNvPr id="3" name="图片 2" descr="巴勒斯坦，为何被以色列切割成165块飞地？ - 知乎">
            <a:extLst>
              <a:ext uri="{FF2B5EF4-FFF2-40B4-BE49-F238E27FC236}">
                <a16:creationId xmlns:a16="http://schemas.microsoft.com/office/drawing/2014/main" id="{7AA80B90-217C-1002-63D6-62F1BCD9F161}"/>
              </a:ext>
            </a:extLst>
          </p:cNvPr>
          <p:cNvPicPr>
            <a:picLocks noChangeAspect="1"/>
          </p:cNvPicPr>
          <p:nvPr/>
        </p:nvPicPr>
        <p:blipFill>
          <a:blip r:embed="rId3"/>
          <a:srcRect t="10280"/>
          <a:stretch>
            <a:fillRect/>
          </a:stretch>
        </p:blipFill>
        <p:spPr>
          <a:xfrm>
            <a:off x="3793379" y="1085447"/>
            <a:ext cx="4772771" cy="2854727"/>
          </a:xfrm>
          <a:prstGeom prst="rect">
            <a:avLst/>
          </a:prstGeom>
        </p:spPr>
      </p:pic>
    </p:spTree>
    <p:custDataLst>
      <p:tags r:id="rId1"/>
    </p:custDataLst>
    <p:extLst>
      <p:ext uri="{BB962C8B-B14F-4D97-AF65-F5344CB8AC3E}">
        <p14:creationId xmlns:p14="http://schemas.microsoft.com/office/powerpoint/2010/main" val="142505423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37E8DA7-6823-7FA5-0075-A34AE2884583}"/>
              </a:ext>
            </a:extLst>
          </p:cNvPr>
          <p:cNvSpPr txBox="1"/>
          <p:nvPr/>
        </p:nvSpPr>
        <p:spPr>
          <a:xfrm>
            <a:off x="914400" y="887947"/>
            <a:ext cx="8077200" cy="1569660"/>
          </a:xfrm>
          <a:prstGeom prst="rect">
            <a:avLst/>
          </a:prstGeom>
          <a:noFill/>
        </p:spPr>
        <p:txBody>
          <a:bodyPr wrap="square">
            <a:spAutoFit/>
          </a:bodyPr>
          <a:lstStyle/>
          <a:p>
            <a:r>
              <a:rPr lang="zh-CN" altLang="zh-CN" sz="2400" b="0" i="0" dirty="0">
                <a:effectLst/>
                <a:latin typeface="+mn-lt"/>
              </a:rPr>
              <a:t>七十年多来，这片土地上换过几代人的生活。太多孩子的名字，只出现在伤亡名单上；太多家庭的门钥匙，至今没能插回原来的锁孔。冲突双方都付出了血的代价，也都被同一片土地的疼痛反复惊醒。</a:t>
            </a:r>
            <a:endParaRPr lang="zh-CN" altLang="en-US" sz="2400" dirty="0"/>
          </a:p>
        </p:txBody>
      </p:sp>
      <p:sp>
        <p:nvSpPr>
          <p:cNvPr id="5" name="文本框 4">
            <a:extLst>
              <a:ext uri="{FF2B5EF4-FFF2-40B4-BE49-F238E27FC236}">
                <a16:creationId xmlns:a16="http://schemas.microsoft.com/office/drawing/2014/main" id="{8E9E7375-C33B-EB37-E662-46646D4690D5}"/>
              </a:ext>
            </a:extLst>
          </p:cNvPr>
          <p:cNvSpPr txBox="1"/>
          <p:nvPr/>
        </p:nvSpPr>
        <p:spPr>
          <a:xfrm>
            <a:off x="4305300" y="3011185"/>
            <a:ext cx="7169150" cy="3046988"/>
          </a:xfrm>
          <a:prstGeom prst="rect">
            <a:avLst/>
          </a:prstGeom>
          <a:noFill/>
        </p:spPr>
        <p:txBody>
          <a:bodyPr wrap="square">
            <a:spAutoFit/>
          </a:bodyPr>
          <a:lstStyle/>
          <a:p>
            <a:r>
              <a:rPr lang="zh-CN" altLang="zh-CN" sz="2400" b="0" i="0" dirty="0">
                <a:effectLst/>
                <a:latin typeface="+mn-lt"/>
              </a:rPr>
              <a:t>历史证明，靠武力永远无法换来真正的安全。占领换不来安宁，火箭弹也换不来尊严。</a:t>
            </a:r>
            <a:r>
              <a:rPr lang="zh-CN" altLang="zh-CN" sz="2400" b="1" i="0" dirty="0">
                <a:effectLst/>
                <a:latin typeface="+mn-lt"/>
              </a:rPr>
              <a:t>巴以问题的根本出路，在于落实「两国方案」</a:t>
            </a:r>
            <a:r>
              <a:rPr lang="zh-CN" altLang="zh-CN" sz="2400" b="0" i="0" dirty="0">
                <a:effectLst/>
                <a:latin typeface="+mn-lt"/>
              </a:rPr>
              <a:t>——让两个民族沿着可生存、可连续的边界各自建国家，让耶路撒冷成为和平之城而非争夺之靶，让巴勒斯坦人民的合法民族权利得到实现，让以色列人民的安全关切同样得到尊重。这是国际社会的共识，也是历史的宿命式选择。</a:t>
            </a:r>
            <a:endParaRPr lang="zh-CN" altLang="en-US" sz="2400" dirty="0"/>
          </a:p>
        </p:txBody>
      </p:sp>
    </p:spTree>
    <p:extLst>
      <p:ext uri="{BB962C8B-B14F-4D97-AF65-F5344CB8AC3E}">
        <p14:creationId xmlns:p14="http://schemas.microsoft.com/office/powerpoint/2010/main" val="3147205251"/>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C2DA35D-F850-CDBE-D6F1-0D51C7899FAB}"/>
              </a:ext>
            </a:extLst>
          </p:cNvPr>
          <p:cNvSpPr txBox="1"/>
          <p:nvPr/>
        </p:nvSpPr>
        <p:spPr>
          <a:xfrm>
            <a:off x="1479550" y="1535647"/>
            <a:ext cx="9436100" cy="3539430"/>
          </a:xfrm>
          <a:prstGeom prst="rect">
            <a:avLst/>
          </a:prstGeom>
          <a:noFill/>
        </p:spPr>
        <p:txBody>
          <a:bodyPr wrap="square">
            <a:spAutoFit/>
          </a:bodyPr>
          <a:lstStyle/>
          <a:p>
            <a:r>
              <a:rPr lang="zh-CN" altLang="zh-CN" sz="3200" b="0" i="0" dirty="0">
                <a:effectLst/>
                <a:latin typeface="+mn-lt"/>
              </a:rPr>
              <a:t>和平从来不是谁对谁的恩赐，而是两个民族共同的、唯一的活路。愿有一天，加沙的海边重新有孩子放风筝，耶路撒冷的石板路上两种语言可以并肩走过，而不再需要一堵墙去分隔明天。愿这片被称作「应许之地」的土地，最终兑现它的名字——</a:t>
            </a:r>
            <a:endParaRPr lang="en-US" altLang="zh-CN" sz="3200" b="0" i="0" dirty="0">
              <a:effectLst/>
              <a:latin typeface="+mn-lt"/>
            </a:endParaRPr>
          </a:p>
          <a:p>
            <a:endParaRPr lang="en-US" altLang="zh-CN" sz="3200" dirty="0"/>
          </a:p>
          <a:p>
            <a:r>
              <a:rPr lang="zh-CN" altLang="zh-CN" sz="3200" b="1" i="0" dirty="0">
                <a:effectLst/>
                <a:latin typeface="+mn-lt"/>
              </a:rPr>
              <a:t>让所有居住于此的人，都不再流离。</a:t>
            </a:r>
            <a:endParaRPr lang="zh-CN" altLang="en-US" sz="3200" dirty="0"/>
          </a:p>
        </p:txBody>
      </p:sp>
    </p:spTree>
    <p:extLst>
      <p:ext uri="{BB962C8B-B14F-4D97-AF65-F5344CB8AC3E}">
        <p14:creationId xmlns:p14="http://schemas.microsoft.com/office/powerpoint/2010/main" val="853554372"/>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加沙：战火下的儿童|巴以冲突|战争|加沙地带_新浪新闻">
            <a:extLst>
              <a:ext uri="{FF2B5EF4-FFF2-40B4-BE49-F238E27FC236}">
                <a16:creationId xmlns:a16="http://schemas.microsoft.com/office/drawing/2014/main" id="{A340F18D-BF9C-816A-FCF1-BF48D54828B7}"/>
              </a:ext>
            </a:extLst>
          </p:cNvPr>
          <p:cNvPicPr>
            <a:picLocks noChangeAspect="1"/>
          </p:cNvPicPr>
          <p:nvPr/>
        </p:nvPicPr>
        <p:blipFill>
          <a:blip r:embed="rId2"/>
          <a:stretch>
            <a:fillRect/>
          </a:stretch>
        </p:blipFill>
        <p:spPr>
          <a:xfrm>
            <a:off x="2236441" y="857250"/>
            <a:ext cx="7719117" cy="5143500"/>
          </a:xfrm>
          <a:prstGeom prst="rect">
            <a:avLst/>
          </a:prstGeom>
        </p:spPr>
      </p:pic>
    </p:spTree>
    <p:extLst>
      <p:ext uri="{BB962C8B-B14F-4D97-AF65-F5344CB8AC3E}">
        <p14:creationId xmlns:p14="http://schemas.microsoft.com/office/powerpoint/2010/main" val="2661489969"/>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90秒｜巴以暂时停火背后：为了64万名加沙孩子的一场“赛跑”_World湃_澎湃新闻-The Paper">
            <a:extLst>
              <a:ext uri="{FF2B5EF4-FFF2-40B4-BE49-F238E27FC236}">
                <a16:creationId xmlns:a16="http://schemas.microsoft.com/office/drawing/2014/main" id="{A3D27DF7-8D22-7AD7-E7D4-E276D1BB9D27}"/>
              </a:ext>
            </a:extLst>
          </p:cNvPr>
          <p:cNvPicPr>
            <a:picLocks noChangeAspect="1"/>
          </p:cNvPicPr>
          <p:nvPr/>
        </p:nvPicPr>
        <p:blipFill>
          <a:blip r:embed="rId2"/>
          <a:stretch>
            <a:fillRect/>
          </a:stretch>
        </p:blipFill>
        <p:spPr>
          <a:xfrm>
            <a:off x="1524000" y="858078"/>
            <a:ext cx="9143999" cy="5141843"/>
          </a:xfrm>
          <a:prstGeom prst="rect">
            <a:avLst/>
          </a:prstGeom>
        </p:spPr>
      </p:pic>
    </p:spTree>
    <p:extLst>
      <p:ext uri="{BB962C8B-B14F-4D97-AF65-F5344CB8AC3E}">
        <p14:creationId xmlns:p14="http://schemas.microsoft.com/office/powerpoint/2010/main" val="3408892701"/>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巴勒斯坦：加沙孩童享受海边惬意生活">
            <a:extLst>
              <a:ext uri="{FF2B5EF4-FFF2-40B4-BE49-F238E27FC236}">
                <a16:creationId xmlns:a16="http://schemas.microsoft.com/office/drawing/2014/main" id="{3520A88D-A312-603F-C0B9-99EFB7A371B1}"/>
              </a:ext>
            </a:extLst>
          </p:cNvPr>
          <p:cNvPicPr>
            <a:picLocks noChangeAspect="1"/>
          </p:cNvPicPr>
          <p:nvPr/>
        </p:nvPicPr>
        <p:blipFill>
          <a:blip r:embed="rId2"/>
          <a:stretch>
            <a:fillRect/>
          </a:stretch>
        </p:blipFill>
        <p:spPr>
          <a:xfrm>
            <a:off x="2240257" y="857250"/>
            <a:ext cx="7711485" cy="5143500"/>
          </a:xfrm>
          <a:prstGeom prst="rect">
            <a:avLst/>
          </a:prstGeom>
        </p:spPr>
      </p:pic>
    </p:spTree>
    <p:extLst>
      <p:ext uri="{BB962C8B-B14F-4D97-AF65-F5344CB8AC3E}">
        <p14:creationId xmlns:p14="http://schemas.microsoft.com/office/powerpoint/2010/main" val="2569441567"/>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加沙儿童困境中挣扎求存肩负家庭重担：我真的希望能够像世上其他孩子一样生活#加沙 #儿童 #苦难_凤凰网视频_凤凰网">
            <a:extLst>
              <a:ext uri="{FF2B5EF4-FFF2-40B4-BE49-F238E27FC236}">
                <a16:creationId xmlns:a16="http://schemas.microsoft.com/office/drawing/2014/main" id="{747DFB4B-68F9-54BD-FEEF-703643CDF745}"/>
              </a:ext>
            </a:extLst>
          </p:cNvPr>
          <p:cNvPicPr>
            <a:picLocks noChangeAspect="1"/>
          </p:cNvPicPr>
          <p:nvPr/>
        </p:nvPicPr>
        <p:blipFill>
          <a:blip r:embed="rId2"/>
          <a:stretch>
            <a:fillRect/>
          </a:stretch>
        </p:blipFill>
        <p:spPr>
          <a:xfrm>
            <a:off x="2238375" y="857250"/>
            <a:ext cx="7715250" cy="5143500"/>
          </a:xfrm>
          <a:prstGeom prst="rect">
            <a:avLst/>
          </a:prstGeom>
        </p:spPr>
      </p:pic>
    </p:spTree>
    <p:extLst>
      <p:ext uri="{BB962C8B-B14F-4D97-AF65-F5344CB8AC3E}">
        <p14:creationId xmlns:p14="http://schemas.microsoft.com/office/powerpoint/2010/main" val="2081462635"/>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947ECAA-89C9-57E4-0382-E1A8AFDD612D}"/>
              </a:ext>
            </a:extLst>
          </p:cNvPr>
          <p:cNvPicPr>
            <a:picLocks noChangeAspect="1"/>
          </p:cNvPicPr>
          <p:nvPr/>
        </p:nvPicPr>
        <p:blipFill>
          <a:blip r:embed="rId2"/>
          <a:stretch>
            <a:fillRect/>
          </a:stretch>
        </p:blipFill>
        <p:spPr>
          <a:xfrm>
            <a:off x="1330325" y="1066883"/>
            <a:ext cx="4514850" cy="2533650"/>
          </a:xfrm>
          <a:prstGeom prst="rect">
            <a:avLst/>
          </a:prstGeom>
        </p:spPr>
      </p:pic>
      <p:pic>
        <p:nvPicPr>
          <p:cNvPr id="6" name="图片 5" descr="9岁女孩成为加沙战地记者：“我想要世界听到巴勒斯坦孩子声音”_凤凰网视频_凤凰网">
            <a:extLst>
              <a:ext uri="{FF2B5EF4-FFF2-40B4-BE49-F238E27FC236}">
                <a16:creationId xmlns:a16="http://schemas.microsoft.com/office/drawing/2014/main" id="{7980FA1A-8FBF-F0D2-2AB9-7773412F0B8B}"/>
              </a:ext>
            </a:extLst>
          </p:cNvPr>
          <p:cNvPicPr>
            <a:picLocks noChangeAspect="1"/>
          </p:cNvPicPr>
          <p:nvPr/>
        </p:nvPicPr>
        <p:blipFill>
          <a:blip r:embed="rId3"/>
          <a:stretch>
            <a:fillRect/>
          </a:stretch>
        </p:blipFill>
        <p:spPr>
          <a:xfrm>
            <a:off x="6896101" y="3324308"/>
            <a:ext cx="4030662" cy="2663742"/>
          </a:xfrm>
          <a:prstGeom prst="rect">
            <a:avLst/>
          </a:prstGeom>
        </p:spPr>
      </p:pic>
    </p:spTree>
    <p:extLst>
      <p:ext uri="{BB962C8B-B14F-4D97-AF65-F5344CB8AC3E}">
        <p14:creationId xmlns:p14="http://schemas.microsoft.com/office/powerpoint/2010/main" val="1710922819"/>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rot="16200000">
            <a:off x="3067050" y="-2158365"/>
            <a:ext cx="6071870" cy="11142980"/>
          </a:xfrm>
          <a:prstGeom prst="rect">
            <a:avLst/>
          </a:prstGeom>
        </p:spPr>
      </p:pic>
      <p:sp>
        <p:nvSpPr>
          <p:cNvPr id="5" name="矩形 4"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p:nvPr/>
        </p:nvSpPr>
        <p:spPr>
          <a:xfrm>
            <a:off x="1271083" y="1339702"/>
            <a:ext cx="9649834" cy="4178596"/>
          </a:xfrm>
          <a:prstGeom prst="rect">
            <a:avLst/>
          </a:prstGeom>
          <a:solidFill>
            <a:schemeClr val="bg1"/>
          </a:solidFill>
          <a:ln>
            <a:noFill/>
          </a:ln>
          <a:effectLst>
            <a:outerShdw blurRad="63500" sx="101000" sy="101000" algn="c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1733550" y="1885070"/>
            <a:ext cx="8648700" cy="2215991"/>
          </a:xfrm>
          <a:prstGeom prst="rect">
            <a:avLst/>
          </a:prstGeom>
          <a:noFill/>
        </p:spPr>
        <p:txBody>
          <a:bodyPr wrap="square" rtlCol="0" anchor="t">
            <a:spAutoFit/>
          </a:bodyPr>
          <a:lstStyle/>
          <a:p>
            <a:pPr algn="dist"/>
            <a:r>
              <a:rPr lang="en-US" altLang="zh-CN" sz="13800" cap="all" dirty="0">
                <a:solidFill>
                  <a:schemeClr val="tx1">
                    <a:lumMod val="85000"/>
                    <a:lumOff val="15000"/>
                  </a:schemeClr>
                </a:solidFill>
                <a:latin typeface="思源宋体 CN Heavy" panose="02020900000000000000" pitchFamily="18" charset="-122"/>
                <a:ea typeface="思源宋体 CN Heavy" panose="02020900000000000000" pitchFamily="18" charset="-122"/>
              </a:rPr>
              <a:t>The end</a:t>
            </a:r>
            <a:endParaRPr sz="13800" cap="all" dirty="0">
              <a:solidFill>
                <a:schemeClr val="tx1">
                  <a:lumMod val="85000"/>
                  <a:lumOff val="15000"/>
                </a:schemeClr>
              </a:solidFill>
              <a:uFillTx/>
              <a:latin typeface="思源宋体 CN Heavy" panose="02020900000000000000" pitchFamily="18" charset="-122"/>
              <a:ea typeface="思源宋体 CN Heavy" panose="02020900000000000000" pitchFamily="18" charset="-122"/>
            </a:endParaRPr>
          </a:p>
        </p:txBody>
      </p:sp>
      <p:sp>
        <p:nvSpPr>
          <p:cNvPr id="17" name="文本框 16"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p:cNvSpPr txBox="1"/>
          <p:nvPr/>
        </p:nvSpPr>
        <p:spPr>
          <a:xfrm>
            <a:off x="2372191" y="4150435"/>
            <a:ext cx="7447615" cy="385298"/>
          </a:xfrm>
          <a:prstGeom prst="rect">
            <a:avLst/>
          </a:prstGeom>
          <a:noFill/>
        </p:spPr>
        <p:txBody>
          <a:bodyPr wrap="square" rtlCol="0" anchor="t">
            <a:spAutoFit/>
          </a:bodyPr>
          <a:lstStyle/>
          <a:p>
            <a:pPr algn="dist">
              <a:lnSpc>
                <a:spcPct val="150000"/>
              </a:lnSpc>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We Are The World</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We Are The Children.</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6" name="e7d195523061f1c0" descr="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 hidden="1"/>
          <p:cNvSpPr txBox="1"/>
          <p:nvPr/>
        </p:nvSpPr>
        <p:spPr>
          <a:xfrm>
            <a:off x="-355600" y="1803400"/>
            <a:ext cx="1016000"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CEA2CAD812E61FAD9B09E9EDB6CB012433702154117246DEAC549C8C57EBCCADCF47AFAC04311E106458671617E7CF364668D41E13472927FC199634492F645A</a:t>
            </a:r>
            <a:endParaRPr lang="zh-CN" altLang="en-US" sz="100"/>
          </a:p>
        </p:txBody>
      </p:sp>
    </p:spTree>
    <p:custDataLst>
      <p:tags r:id="rId1"/>
    </p:custData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11.14"/>
  <p:tag name="AS_TITLE" val="Aspose.Slides for .NET 4.0 Client Profile"/>
  <p:tag name="AS_VERSION" val="22.1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187308"/>
  <p:tag name="KSO_WM_UNIT_COMPATIBLE" val="0"/>
  <p:tag name="KSO_WM_UNIT_DIAGRAM_ISNUMVISUAL" val="0"/>
  <p:tag name="KSO_WM_UNIT_DIAGRAM_ISREFERUNIT" val="0"/>
  <p:tag name="KSO_WM_UNIT_HIGHLIGHT" val="0"/>
  <p:tag name="KSO_WM_UNIT_ID" val="_0**"/>
  <p:tag name="KSO_WM_UNIT_LAYERLEVEL"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187308"/>
  <p:tag name="KSO_WM_UNIT_COMPATIBLE" val="0"/>
  <p:tag name="KSO_WM_UNIT_DIAGRAM_ISNUMVISUAL" val="0"/>
  <p:tag name="KSO_WM_UNIT_DIAGRAM_ISREFERUNIT" val="0"/>
  <p:tag name="KSO_WM_UNIT_HIGHLIGHT" val="0"/>
  <p:tag name="KSO_WM_UNIT_ID" val="_0**"/>
  <p:tag name="KSO_WM_UNIT_LAYERLEVEL" val="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187308"/>
  <p:tag name="KSO_WM_TEMPLATE_SUBCATEGORY" val="0"/>
  <p:tag name="KSO_WM_TEMPLATE_THUMBS_INDEX" val="1、2、3、6、8、10、11、12、15"/>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Arial"/>
      </a:majorFont>
      <a:minorFont>
        <a:latin typeface="Arial"/>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1175</TotalTime>
  <Words>5733</Words>
  <Application>Microsoft Office PowerPoint</Application>
  <PresentationFormat>宽屏</PresentationFormat>
  <Paragraphs>178</Paragraphs>
  <Slides>58</Slides>
  <Notes>1</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58</vt:i4>
      </vt:variant>
    </vt:vector>
  </HeadingPairs>
  <TitlesOfParts>
    <vt:vector size="66" baseType="lpstr">
      <vt:lpstr>-apple-system</vt:lpstr>
      <vt:lpstr>Noto Serif SC</vt:lpstr>
      <vt:lpstr>思源宋体 CN Heavy</vt:lpstr>
      <vt:lpstr>微软雅黑</vt:lpstr>
      <vt:lpstr>Arial</vt:lpstr>
      <vt:lpstr>Symbol</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高级配色</dc:title>
  <dc:creator>第一PPT</dc:creator>
  <cp:keywords>www.1ppt.com</cp:keywords>
  <dc:description>www.1ppt.com</dc:description>
  <cp:lastModifiedBy>华泰 蔡</cp:lastModifiedBy>
  <cp:revision>98</cp:revision>
  <dcterms:created xsi:type="dcterms:W3CDTF">2019-05-27T03:51:00Z</dcterms:created>
  <dcterms:modified xsi:type="dcterms:W3CDTF">2026-10-16T01:43:00Z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B34235A317E448ED87C840941409CE6F</vt:lpwstr>
  </property>
  <property fmtid="{D5CDD505-2E9C-101B-9397-08002B2CF9AE}" pid="3" name="KSOProductBuildVer">
    <vt:lpwstr>2052-12.1.0.28043</vt:lpwstr>
  </property>
</Properties>
</file>