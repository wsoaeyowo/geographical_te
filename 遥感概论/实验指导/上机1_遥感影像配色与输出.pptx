
<file path=[Content_Types].xml><?xml version="1.0" encoding="utf-8"?>
<Types xmlns="http://schemas.openxmlformats.org/package/2006/content-types">
  <Default Extension="png" ContentType="image/png"/>
  <Default Extension="tmp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3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4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0"/>
  </p:notesMasterIdLst>
  <p:sldIdLst>
    <p:sldId id="284" r:id="rId2"/>
    <p:sldId id="257" r:id="rId3"/>
    <p:sldId id="362" r:id="rId4"/>
    <p:sldId id="363" r:id="rId5"/>
    <p:sldId id="383" r:id="rId6"/>
    <p:sldId id="365" r:id="rId7"/>
    <p:sldId id="366" r:id="rId8"/>
    <p:sldId id="367" r:id="rId9"/>
    <p:sldId id="368" r:id="rId10"/>
    <p:sldId id="369" r:id="rId11"/>
    <p:sldId id="381" r:id="rId12"/>
    <p:sldId id="370" r:id="rId13"/>
    <p:sldId id="376" r:id="rId14"/>
    <p:sldId id="384" r:id="rId15"/>
    <p:sldId id="377" r:id="rId16"/>
    <p:sldId id="379" r:id="rId17"/>
    <p:sldId id="378" r:id="rId18"/>
    <p:sldId id="289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B71DD"/>
    <a:srgbClr val="0099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5" autoAdjust="0"/>
    <p:restoredTop sz="92986" autoAdjust="0"/>
  </p:normalViewPr>
  <p:slideViewPr>
    <p:cSldViewPr>
      <p:cViewPr varScale="1">
        <p:scale>
          <a:sx n="106" d="100"/>
          <a:sy n="106" d="100"/>
        </p:scale>
        <p:origin x="168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汪 洋" userId="e3900b88d2e2fa24" providerId="LiveId" clId="{08E35D9F-0ED0-4B74-84B9-464F39BBA6A7}"/>
    <pc:docChg chg="addSld delSld modSld sldOrd">
      <pc:chgData name="汪 洋" userId="e3900b88d2e2fa24" providerId="LiveId" clId="{08E35D9F-0ED0-4B74-84B9-464F39BBA6A7}" dt="2020-09-07T13:55:50.100" v="428"/>
      <pc:docMkLst>
        <pc:docMk/>
      </pc:docMkLst>
      <pc:sldChg chg="modSp mod ord">
        <pc:chgData name="汪 洋" userId="e3900b88d2e2fa24" providerId="LiveId" clId="{08E35D9F-0ED0-4B74-84B9-464F39BBA6A7}" dt="2020-09-07T13:51:32.158" v="413"/>
        <pc:sldMkLst>
          <pc:docMk/>
          <pc:sldMk cId="1307204450" sldId="284"/>
        </pc:sldMkLst>
        <pc:spChg chg="mod">
          <ac:chgData name="汪 洋" userId="e3900b88d2e2fa24" providerId="LiveId" clId="{08E35D9F-0ED0-4B74-84B9-464F39BBA6A7}" dt="2020-09-07T13:39:29.684" v="5" actId="20577"/>
          <ac:spMkLst>
            <pc:docMk/>
            <pc:sldMk cId="1307204450" sldId="284"/>
            <ac:spMk id="10" creationId="{00000000-0000-0000-0000-000000000000}"/>
          </ac:spMkLst>
        </pc:spChg>
      </pc:sldChg>
      <pc:sldChg chg="del">
        <pc:chgData name="汪 洋" userId="e3900b88d2e2fa24" providerId="LiveId" clId="{08E35D9F-0ED0-4B74-84B9-464F39BBA6A7}" dt="2020-09-07T13:39:50.326" v="7" actId="47"/>
        <pc:sldMkLst>
          <pc:docMk/>
          <pc:sldMk cId="2074537963" sldId="291"/>
        </pc:sldMkLst>
      </pc:sldChg>
      <pc:sldChg chg="modSp add mod">
        <pc:chgData name="汪 洋" userId="e3900b88d2e2fa24" providerId="LiveId" clId="{08E35D9F-0ED0-4B74-84B9-464F39BBA6A7}" dt="2020-09-07T13:55:50.100" v="428"/>
        <pc:sldMkLst>
          <pc:docMk/>
          <pc:sldMk cId="211448655" sldId="321"/>
        </pc:sldMkLst>
        <pc:spChg chg="mod">
          <ac:chgData name="汪 洋" userId="e3900b88d2e2fa24" providerId="LiveId" clId="{08E35D9F-0ED0-4B74-84B9-464F39BBA6A7}" dt="2020-09-07T13:55:50.100" v="428"/>
          <ac:spMkLst>
            <pc:docMk/>
            <pc:sldMk cId="211448655" sldId="321"/>
            <ac:spMk id="2" creationId="{0445E3D5-3376-48D4-83C5-8A6EC8592AFB}"/>
          </ac:spMkLst>
        </pc:spChg>
        <pc:spChg chg="mod">
          <ac:chgData name="汪 洋" userId="e3900b88d2e2fa24" providerId="LiveId" clId="{08E35D9F-0ED0-4B74-84B9-464F39BBA6A7}" dt="2020-09-07T13:40:02.249" v="18" actId="20577"/>
          <ac:spMkLst>
            <pc:docMk/>
            <pc:sldMk cId="211448655" sldId="321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EE9C6-1DBA-44A5-AEFE-F4337DC359FA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0E31C4-AB86-4844-B75B-FC06F64CF4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139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275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9pPr>
          </a:lstStyle>
          <a:p>
            <a:fld id="{E76B7CD0-CC68-45C1-96D8-2E5F29957897}" type="slidenum">
              <a:rPr lang="zh-CN" altLang="en-US" sz="1200" smtClean="0">
                <a:latin typeface="Gulim" pitchFamily="34" charset="-127"/>
              </a:rPr>
              <a:pPr/>
              <a:t>2</a:t>
            </a:fld>
            <a:endParaRPr lang="en-US" altLang="zh-CN" sz="1200">
              <a:latin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7741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187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163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3560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193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337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632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704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848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9pPr>
          </a:lstStyle>
          <a:p>
            <a:fld id="{E76B7CD0-CC68-45C1-96D8-2E5F29957897}" type="slidenum">
              <a:rPr lang="zh-CN" altLang="en-US" sz="1200" smtClean="0">
                <a:latin typeface="Gulim" pitchFamily="34" charset="-127"/>
              </a:rPr>
              <a:pPr/>
              <a:t>11</a:t>
            </a:fld>
            <a:endParaRPr lang="en-US" altLang="zh-CN" sz="1200">
              <a:latin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2077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5089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0742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9pPr>
          </a:lstStyle>
          <a:p>
            <a:fld id="{E76B7CD0-CC68-45C1-96D8-2E5F29957897}" type="slidenum">
              <a:rPr lang="zh-CN" altLang="en-US" sz="1200" smtClean="0">
                <a:latin typeface="Gulim" pitchFamily="34" charset="-127"/>
              </a:rPr>
              <a:pPr/>
              <a:t>14</a:t>
            </a:fld>
            <a:endParaRPr lang="en-US" altLang="zh-CN" sz="1200">
              <a:latin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6801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148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1473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989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2025/8/28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582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2025/8/28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405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2025/8/28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56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2025/8/28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46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2025/8/28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925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2025/8/28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49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2025/8/28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020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2025/8/28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48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2025/8/28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833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2025/8/28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939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2025/8/28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086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99592" y="95238"/>
            <a:ext cx="8136904" cy="5300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2025/8/28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4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rgbClr val="0070C0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7">
            <a:extLst>
              <a:ext uri="{FF2B5EF4-FFF2-40B4-BE49-F238E27FC236}">
                <a16:creationId xmlns:a16="http://schemas.microsoft.com/office/drawing/2014/main" id="{46FED09B-71DF-4ED6-B39F-E8A139C4DD58}"/>
              </a:ext>
            </a:extLst>
          </p:cNvPr>
          <p:cNvSpPr txBox="1"/>
          <p:nvPr/>
        </p:nvSpPr>
        <p:spPr>
          <a:xfrm>
            <a:off x="1619672" y="4869160"/>
            <a:ext cx="5376799" cy="105362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授课人：商 荣   副教授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福建师范大学 地理科学学院 地理信息科学系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08C4F7-30A2-42DA-8FBA-5C4AA0B5CBAC}"/>
              </a:ext>
            </a:extLst>
          </p:cNvPr>
          <p:cNvSpPr txBox="1"/>
          <p:nvPr/>
        </p:nvSpPr>
        <p:spPr>
          <a:xfrm>
            <a:off x="10993" y="148804"/>
            <a:ext cx="58304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遥感概论</a:t>
            </a:r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必修课 </a:t>
            </a:r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上机</a:t>
            </a: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CAA4B3B9-8416-450E-8C6C-908254C3BF99}"/>
              </a:ext>
            </a:extLst>
          </p:cNvPr>
          <p:cNvSpPr txBox="1"/>
          <p:nvPr/>
        </p:nvSpPr>
        <p:spPr>
          <a:xfrm>
            <a:off x="827584" y="2780928"/>
            <a:ext cx="7811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第一讲 遥感影像配色与输出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720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627"/>
    </mc:Choice>
    <mc:Fallback xmlns="">
      <p:transition spd="slow" advTm="4362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B2DA66D1-B71C-4CAC-A8A8-83F8BE0A79D0}"/>
              </a:ext>
            </a:extLst>
          </p:cNvPr>
          <p:cNvSpPr txBox="1"/>
          <p:nvPr/>
        </p:nvSpPr>
        <p:spPr>
          <a:xfrm>
            <a:off x="1252709" y="1916832"/>
            <a:ext cx="6336704" cy="3517438"/>
          </a:xfrm>
          <a:prstGeom prst="rect">
            <a:avLst/>
          </a:prstGeom>
          <a:solidFill>
            <a:schemeClr val="bg1"/>
          </a:solidFill>
          <a:ln w="38100">
            <a:solidFill>
              <a:srgbClr val="104780"/>
            </a:solidFill>
          </a:ln>
          <a:effectLst>
            <a:outerShdw blurRad="101600" dist="127000" dir="30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1.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遥感数据处理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ENVI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单波段影像分级设色与输出</a:t>
            </a: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3. </a:t>
            </a:r>
            <a:r>
              <a:rPr lang="zh-CN" altLang="en-US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多波段影像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配色与输出</a:t>
            </a:r>
            <a:endParaRPr lang="en-US" altLang="zh-CN" sz="3200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024E01E-165C-464E-911C-F437991B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</a:rPr>
              <a:t>                           目 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228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24"/>
    </mc:Choice>
    <mc:Fallback xmlns="">
      <p:transition spd="slow" advTm="3502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ENVI 5.X </a:t>
            </a:r>
            <a:r>
              <a:rPr lang="zh-CN" altLang="en-US" dirty="0">
                <a:solidFill>
                  <a:schemeClr val="tx1"/>
                </a:solidFill>
              </a:rPr>
              <a:t>目录结构</a:t>
            </a:r>
          </a:p>
        </p:txBody>
      </p:sp>
      <p:sp>
        <p:nvSpPr>
          <p:cNvPr id="43" name="内容占位符 2">
            <a:extLst>
              <a:ext uri="{FF2B5EF4-FFF2-40B4-BE49-F238E27FC236}">
                <a16:creationId xmlns:a16="http://schemas.microsoft.com/office/drawing/2014/main" id="{3E36A39D-A5AE-4593-BF77-A8DED109F34A}"/>
              </a:ext>
            </a:extLst>
          </p:cNvPr>
          <p:cNvSpPr txBox="1">
            <a:spLocks/>
          </p:cNvSpPr>
          <p:nvPr/>
        </p:nvSpPr>
        <p:spPr>
          <a:xfrm>
            <a:off x="467544" y="1268760"/>
            <a:ext cx="8280919" cy="485740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Bin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：相应的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运行目录。</a:t>
            </a:r>
          </a:p>
          <a:p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Classic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经典模式安装路径。</a:t>
            </a:r>
          </a:p>
          <a:p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Custom_code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：自定义代码</a:t>
            </a:r>
          </a:p>
          <a:p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Data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自带数据目录。</a:t>
            </a:r>
          </a:p>
          <a:p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Extensions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：客户自主开发的、可执行程序，比如各种补丁程序。</a:t>
            </a:r>
          </a:p>
          <a:p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Gptools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GP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工具箱文件。</a:t>
            </a:r>
          </a:p>
          <a:p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Help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的帮助文档。</a:t>
            </a:r>
          </a:p>
          <a:p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Resource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资源文件夹，包含图标文件、语言配置文件、波谱库等。</a:t>
            </a:r>
          </a:p>
          <a:p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Save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：软件框架库</a:t>
            </a:r>
          </a:p>
          <a:p>
            <a:endParaRPr lang="zh-CN" altLang="en-US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116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ENVI</a:t>
            </a:r>
            <a:r>
              <a:rPr lang="zh-CN" altLang="en-US" dirty="0">
                <a:solidFill>
                  <a:schemeClr val="tx1"/>
                </a:solidFill>
              </a:rPr>
              <a:t>数据显示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639A7DF-3FD8-4E81-86D7-8EE869CA04BC}"/>
              </a:ext>
            </a:extLst>
          </p:cNvPr>
          <p:cNvSpPr txBox="1">
            <a:spLocks/>
          </p:cNvSpPr>
          <p:nvPr/>
        </p:nvSpPr>
        <p:spPr>
          <a:xfrm>
            <a:off x="395536" y="1988840"/>
            <a:ext cx="3960440" cy="280831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三视窗显示</a:t>
            </a:r>
          </a:p>
          <a:p>
            <a:pPr lvl="1"/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当你打开一个图像文件时，会在一个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的三视窗图像显示中，其中包括主图像窗口，缩放窗口和滚动窗口（应用于大的图像），交互性强的操作在这个窗口中完成。</a:t>
            </a: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zh-CN" sz="20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E3B5DD-0ACF-4019-8CDF-2CF64C1209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23" r="11779" b="1648"/>
          <a:stretch/>
        </p:blipFill>
        <p:spPr>
          <a:xfrm>
            <a:off x="4499992" y="836712"/>
            <a:ext cx="4176464" cy="583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907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ENVI</a:t>
            </a:r>
            <a:r>
              <a:rPr lang="zh-CN" altLang="en-US" dirty="0">
                <a:solidFill>
                  <a:schemeClr val="tx1"/>
                </a:solidFill>
              </a:rPr>
              <a:t>数据显示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639A7DF-3FD8-4E81-86D7-8EE869CA04BC}"/>
              </a:ext>
            </a:extLst>
          </p:cNvPr>
          <p:cNvSpPr txBox="1">
            <a:spLocks/>
          </p:cNvSpPr>
          <p:nvPr/>
        </p:nvSpPr>
        <p:spPr>
          <a:xfrm>
            <a:off x="323528" y="1000299"/>
            <a:ext cx="8640960" cy="192464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单视窗显示</a:t>
            </a:r>
            <a:endParaRPr lang="en-US" altLang="zh-CN" sz="36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676D01-711B-40B3-82F1-EC5D27142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72" y="1753246"/>
            <a:ext cx="8744188" cy="470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057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图像显示类型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E14CE26-5EB4-4DA3-81F3-601151948530}"/>
              </a:ext>
            </a:extLst>
          </p:cNvPr>
          <p:cNvSpPr txBox="1">
            <a:spLocks/>
          </p:cNvSpPr>
          <p:nvPr/>
        </p:nvSpPr>
        <p:spPr>
          <a:xfrm>
            <a:off x="611560" y="1196752"/>
            <a:ext cx="7537622" cy="485740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灰度显示（黑白）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一个波段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RGB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合成彩色显示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RGB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三个波段合成，最常见显示类型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伪彩色（索引色）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一个波段，利用索引表显示彩色，常见的如影像分类结果</a:t>
            </a:r>
          </a:p>
        </p:txBody>
      </p:sp>
    </p:spTree>
    <p:extLst>
      <p:ext uri="{BB962C8B-B14F-4D97-AF65-F5344CB8AC3E}">
        <p14:creationId xmlns:p14="http://schemas.microsoft.com/office/powerpoint/2010/main" val="1948068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755576" y="116632"/>
            <a:ext cx="8388424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ENVI</a:t>
            </a:r>
            <a:r>
              <a:rPr lang="zh-CN" altLang="en-US" dirty="0">
                <a:solidFill>
                  <a:schemeClr val="tx1"/>
                </a:solidFill>
              </a:rPr>
              <a:t>栅格文件格式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7415562-6B20-4B20-AD37-39D05F9B8EF6}"/>
              </a:ext>
            </a:extLst>
          </p:cNvPr>
          <p:cNvSpPr txBox="1">
            <a:spLocks/>
          </p:cNvSpPr>
          <p:nvPr/>
        </p:nvSpPr>
        <p:spPr>
          <a:xfrm>
            <a:off x="395536" y="1451917"/>
            <a:ext cx="8496944" cy="485740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通用栅格数据格式，包含一个简单的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二进制文件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和一个相关的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ASCII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（文本）的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头文件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。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头文件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包含用于读取图像数据文件的信息，它通常创建于一个数据文件第一次被</a:t>
            </a:r>
            <a:r>
              <a:rPr 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读取时。单独的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头文本文件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提供关于图像尺寸、嵌入的头文件（若存在）、数据格式及其它相关信息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。所需信息通过交互式输入，或自动地用“文件吸取”创建，并且以后可以编辑修改。您可以在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之外使用一个文本编辑器生成一个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头文件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/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通用栅格数据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都会存储为二进制的字节流，通常它将以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BSQ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（按波段顺序）、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BIP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（波段按像元交叉）或者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BIL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（波段按行交叉）的方式进行存储。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680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755576" y="116632"/>
            <a:ext cx="8388424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ENVI</a:t>
            </a:r>
            <a:r>
              <a:rPr lang="zh-CN" altLang="en-US" dirty="0">
                <a:solidFill>
                  <a:schemeClr val="tx1"/>
                </a:solidFill>
              </a:rPr>
              <a:t>栅格文件格式</a:t>
            </a:r>
          </a:p>
        </p:txBody>
      </p:sp>
      <p:graphicFrame>
        <p:nvGraphicFramePr>
          <p:cNvPr id="6" name="内容占位符 3">
            <a:extLst>
              <a:ext uri="{FF2B5EF4-FFF2-40B4-BE49-F238E27FC236}">
                <a16:creationId xmlns:a16="http://schemas.microsoft.com/office/drawing/2014/main" id="{A5D2B617-A588-4D00-84CA-E6177FBDB7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1210273"/>
              </p:ext>
            </p:extLst>
          </p:nvPr>
        </p:nvGraphicFramePr>
        <p:xfrm>
          <a:off x="1259632" y="2060848"/>
          <a:ext cx="6840759" cy="4419474"/>
        </p:xfrm>
        <a:graphic>
          <a:graphicData uri="http://schemas.openxmlformats.org/drawingml/2006/table">
            <a:tbl>
              <a:tblPr/>
              <a:tblGrid>
                <a:gridCol w="2280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29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AVHRR</a:t>
                      </a:r>
                      <a:endParaRPr lang="zh-CN" sz="2000" kern="1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HDF </a:t>
                      </a:r>
                      <a:r>
                        <a:rPr lang="en-US" sz="2000" kern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SeaWiFS</a:t>
                      </a:r>
                      <a:endParaRPr lang="zh-CN" sz="2000" kern="1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MrSID</a:t>
                      </a:r>
                      <a:endParaRPr lang="zh-CN" sz="2000" kern="10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29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BMP</a:t>
                      </a:r>
                      <a:endParaRPr lang="zh-CN" sz="2000" kern="10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JPEG</a:t>
                      </a:r>
                      <a:endParaRPr lang="zh-CN" sz="2000" kern="1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NLAPS</a:t>
                      </a:r>
                      <a:endParaRPr lang="zh-CN" sz="2000" kern="1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5989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ER </a:t>
                      </a:r>
                      <a:r>
                        <a:rPr lang="en-US" sz="2000" kern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Mapper</a:t>
                      </a: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, PCI (.</a:t>
                      </a: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urier New"/>
                          <a:ea typeface="宋体"/>
                        </a:rPr>
                        <a:t>pix</a:t>
                      </a: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)</a:t>
                      </a:r>
                      <a:endParaRPr lang="zh-CN" sz="2000" kern="1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JPEG 2000</a:t>
                      </a:r>
                      <a:endParaRPr lang="zh-CN" sz="2000" kern="10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PDS</a:t>
                      </a:r>
                      <a:endParaRPr lang="zh-CN" sz="2000" kern="1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5989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ERDAS 7.x (.</a:t>
                      </a:r>
                      <a:r>
                        <a:rPr lang="en-US" sz="2000" ker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urier New"/>
                          <a:ea typeface="宋体"/>
                        </a:rPr>
                        <a:t>lan</a:t>
                      </a:r>
                      <a:r>
                        <a:rPr lang="en-US" sz="2000" ker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)</a:t>
                      </a:r>
                      <a:endParaRPr lang="zh-CN" sz="2000" kern="10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Landsat 7 Fast (.</a:t>
                      </a:r>
                      <a:r>
                        <a:rPr lang="en-US" sz="2000" ker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urier New"/>
                          <a:ea typeface="宋体"/>
                        </a:rPr>
                        <a:t>fst</a:t>
                      </a:r>
                      <a:r>
                        <a:rPr lang="en-US" sz="2000" ker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)</a:t>
                      </a:r>
                      <a:endParaRPr lang="zh-CN" sz="2000" kern="10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RADARSAT</a:t>
                      </a:r>
                      <a:endParaRPr lang="zh-CN" sz="2000" kern="1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5989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ERDAS IMAGINE 8.x (.</a:t>
                      </a:r>
                      <a:r>
                        <a:rPr lang="en-US" sz="2000" ker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urier New"/>
                          <a:ea typeface="宋体"/>
                        </a:rPr>
                        <a:t>img</a:t>
                      </a:r>
                      <a:r>
                        <a:rPr lang="en-US" sz="2000" ker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)</a:t>
                      </a:r>
                      <a:endParaRPr lang="zh-CN" sz="2000" kern="10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Landsat</a:t>
                      </a: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 7 HDF</a:t>
                      </a:r>
                      <a:endParaRPr lang="zh-CN" sz="2000" kern="1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SRF</a:t>
                      </a:r>
                      <a:endParaRPr lang="zh-CN" sz="2000" kern="1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290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GeoTIFF</a:t>
                      </a:r>
                      <a:endParaRPr lang="zh-CN" sz="2000" kern="1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MAS-50</a:t>
                      </a:r>
                      <a:endParaRPr lang="zh-CN" sz="2000" kern="10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TIFF</a:t>
                      </a:r>
                      <a:endParaRPr lang="zh-CN" sz="2000" kern="1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574"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HDF</a:t>
                      </a:r>
                      <a:endParaRPr lang="zh-CN" sz="2000" kern="1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 algn="l">
                        <a:spcAft>
                          <a:spcPts val="0"/>
                        </a:spcAft>
                        <a:buFont typeface="Wingdings"/>
                        <a:buChar char=""/>
                      </a:pP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MRLC (.</a:t>
                      </a:r>
                      <a:r>
                        <a:rPr lang="en-US" sz="2000" kern="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Courier New"/>
                          <a:ea typeface="宋体"/>
                        </a:rPr>
                        <a:t>dda</a:t>
                      </a:r>
                      <a:r>
                        <a:rPr lang="en-US" sz="2000" kern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Times New Roman"/>
                          <a:ea typeface="宋体"/>
                        </a:rPr>
                        <a:t>)</a:t>
                      </a:r>
                      <a:endParaRPr lang="zh-CN" sz="2000" kern="100" dirty="0">
                        <a:solidFill>
                          <a:schemeClr val="tx1">
                            <a:lumMod val="50000"/>
                          </a:schemeClr>
                        </a:solidFill>
                        <a:latin typeface="Times New Roman"/>
                        <a:ea typeface="宋体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sz="2000" dirty="0">
                        <a:solidFill>
                          <a:schemeClr val="tx1">
                            <a:lumMod val="50000"/>
                          </a:schemeClr>
                        </a:solidFill>
                        <a:latin typeface="Calibri"/>
                      </a:endParaRPr>
                    </a:p>
                  </a:txBody>
                  <a:tcPr marL="68716" marR="68716" marT="76191" marB="761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7">
            <a:extLst>
              <a:ext uri="{FF2B5EF4-FFF2-40B4-BE49-F238E27FC236}">
                <a16:creationId xmlns:a16="http://schemas.microsoft.com/office/drawing/2014/main" id="{C662D7CA-3E9F-49F9-B08E-39DAF6173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980728"/>
            <a:ext cx="8064898" cy="955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使用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File&gt;Open 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打开</a:t>
            </a:r>
            <a:r>
              <a:rPr 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 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图像文件或其它已知格式的二进制图像文件。</a:t>
            </a:r>
            <a:r>
              <a:rPr 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 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自动地识别和读取下列类型的文件：</a:t>
            </a:r>
          </a:p>
        </p:txBody>
      </p:sp>
    </p:spTree>
    <p:extLst>
      <p:ext uri="{BB962C8B-B14F-4D97-AF65-F5344CB8AC3E}">
        <p14:creationId xmlns:p14="http://schemas.microsoft.com/office/powerpoint/2010/main" val="3770194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826F07B-22BC-48E3-89F5-35BEF9B2CE1F}"/>
              </a:ext>
            </a:extLst>
          </p:cNvPr>
          <p:cNvSpPr txBox="1">
            <a:spLocks/>
          </p:cNvSpPr>
          <p:nvPr/>
        </p:nvSpPr>
        <p:spPr>
          <a:xfrm>
            <a:off x="0" y="1124744"/>
            <a:ext cx="4680520" cy="485740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已知文件类型：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使用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File-&gt;</a:t>
            </a:r>
            <a:r>
              <a:rPr 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Open File As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选项，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 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能够读取一些标准文件类型的若干格式，包括精选的遥感格式、军事格式、数字高程模型格式、图像处理软件格式及通用图像格式。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ENVI 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从内部头文件读取必要的参数，因此不必在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Header Information</a:t>
            </a:r>
            <a:r>
              <a:rPr lang="zh-CN" altLang="en-US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对话框中输入任何信息。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AC25CE7-012C-4F0B-B2C2-FC20D84F9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412776"/>
            <a:ext cx="4115059" cy="4320480"/>
          </a:xfrm>
          <a:prstGeom prst="rect">
            <a:avLst/>
          </a:prstGeom>
        </p:spPr>
      </p:pic>
      <p:sp>
        <p:nvSpPr>
          <p:cNvPr id="6" name="标题 3">
            <a:extLst>
              <a:ext uri="{FF2B5EF4-FFF2-40B4-BE49-F238E27FC236}">
                <a16:creationId xmlns:a16="http://schemas.microsoft.com/office/drawing/2014/main" id="{3D6A98B9-77CD-4BEF-8D75-BF869D815BF7}"/>
              </a:ext>
            </a:extLst>
          </p:cNvPr>
          <p:cNvSpPr txBox="1">
            <a:spLocks/>
          </p:cNvSpPr>
          <p:nvPr/>
        </p:nvSpPr>
        <p:spPr>
          <a:xfrm>
            <a:off x="755576" y="116632"/>
            <a:ext cx="8388424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ENVI</a:t>
            </a:r>
            <a:r>
              <a:rPr lang="zh-CN" altLang="en-US" dirty="0">
                <a:solidFill>
                  <a:schemeClr val="tx1"/>
                </a:solidFill>
              </a:rPr>
              <a:t>栅格文件格式</a:t>
            </a:r>
          </a:p>
        </p:txBody>
      </p:sp>
    </p:spTree>
    <p:extLst>
      <p:ext uri="{BB962C8B-B14F-4D97-AF65-F5344CB8AC3E}">
        <p14:creationId xmlns:p14="http://schemas.microsoft.com/office/powerpoint/2010/main" val="3932143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FBC7F2E-E280-4AFE-8C52-CDF620445E3B}"/>
              </a:ext>
            </a:extLst>
          </p:cNvPr>
          <p:cNvSpPr txBox="1">
            <a:spLocks/>
          </p:cNvSpPr>
          <p:nvPr/>
        </p:nvSpPr>
        <p:spPr>
          <a:xfrm>
            <a:off x="926757" y="1451917"/>
            <a:ext cx="7537622" cy="485740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lvl="1" indent="-177800">
              <a:spcBef>
                <a:spcPts val="300"/>
              </a:spcBef>
              <a:buFont typeface="Arial" pitchFamily="34" charset="0"/>
              <a:buChar char="•"/>
            </a:pPr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窗口菜单界面</a:t>
            </a:r>
          </a:p>
          <a:p>
            <a:pPr lvl="2"/>
            <a:r>
              <a:rPr lang="en-US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File-&gt;Save As</a:t>
            </a:r>
            <a:r>
              <a:rPr lang="zh-CN" altLang="en-US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，将影像按照需要的格式进行存储。</a:t>
            </a:r>
            <a:endParaRPr lang="en-US" altLang="zh-CN" sz="1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2"/>
            <a:endParaRPr lang="zh-CN" altLang="en-US" sz="1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177800" lvl="1" indent="-177800">
              <a:spcBef>
                <a:spcPts val="300"/>
              </a:spcBef>
              <a:buFont typeface="Arial" pitchFamily="34" charset="0"/>
              <a:buChar char="•"/>
            </a:pPr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存储为其他软件格式</a:t>
            </a:r>
            <a:endParaRPr lang="en-US" altLang="zh-CN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2"/>
            <a:r>
              <a:rPr lang="en-US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Toolbox</a:t>
            </a:r>
            <a:r>
              <a:rPr lang="zh-CN" altLang="en-US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中</a:t>
            </a:r>
            <a:r>
              <a:rPr lang="zh-CN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工具将文件另存为</a:t>
            </a:r>
            <a:r>
              <a:rPr lang="en-US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ArcView Raster</a:t>
            </a:r>
            <a:r>
              <a:rPr lang="zh-CN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、</a:t>
            </a:r>
            <a:r>
              <a:rPr lang="en-US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ASCII</a:t>
            </a:r>
            <a:r>
              <a:rPr lang="zh-CN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、</a:t>
            </a:r>
            <a:r>
              <a:rPr lang="en-US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CADRG</a:t>
            </a:r>
            <a:r>
              <a:rPr lang="zh-CN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等格式。</a:t>
            </a:r>
            <a:endParaRPr lang="en-US" altLang="zh-CN" sz="1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2"/>
            <a:endParaRPr lang="zh-CN" altLang="en-US" sz="18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177800" lvl="1" indent="-177800">
              <a:spcBef>
                <a:spcPts val="300"/>
              </a:spcBef>
              <a:buFont typeface="Arial" pitchFamily="34" charset="0"/>
              <a:buChar char="•"/>
            </a:pPr>
            <a:r>
              <a:rPr lang="zh-CN" altLang="en-US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其他窗口下的文件存储</a:t>
            </a:r>
          </a:p>
          <a:p>
            <a:pPr lvl="2"/>
            <a:r>
              <a:rPr lang="zh-CN" altLang="en-US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例如：</a:t>
            </a:r>
            <a:r>
              <a:rPr lang="en-US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Map—Mosaicking</a:t>
            </a:r>
            <a:r>
              <a:rPr lang="zh-CN" altLang="en-US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的镶嵌窗口下：</a:t>
            </a:r>
            <a:r>
              <a:rPr lang="en-US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Apply</a:t>
            </a:r>
            <a:r>
              <a:rPr lang="zh-CN" altLang="en-US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；</a:t>
            </a:r>
            <a:r>
              <a:rPr lang="en-US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Save Template</a:t>
            </a:r>
            <a:r>
              <a:rPr lang="zh-CN" altLang="en-US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等；</a:t>
            </a:r>
            <a:r>
              <a:rPr lang="en-US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Classification</a:t>
            </a:r>
            <a:r>
              <a:rPr lang="zh-CN" altLang="en-US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等功能下：</a:t>
            </a:r>
            <a:r>
              <a:rPr lang="en-US" altLang="zh-CN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Output Result to</a:t>
            </a:r>
            <a:r>
              <a:rPr lang="zh-CN" altLang="en-US" sz="18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等。</a:t>
            </a:r>
          </a:p>
          <a:p>
            <a:endParaRPr lang="zh-CN" altLang="en-US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01D3136-538B-4520-A8AE-B5C253015871}"/>
              </a:ext>
            </a:extLst>
          </p:cNvPr>
          <p:cNvSpPr txBox="1">
            <a:spLocks/>
          </p:cNvSpPr>
          <p:nvPr/>
        </p:nvSpPr>
        <p:spPr>
          <a:xfrm>
            <a:off x="755576" y="116632"/>
            <a:ext cx="8388424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ENVI</a:t>
            </a:r>
            <a:r>
              <a:rPr lang="zh-CN" altLang="en-US" dirty="0">
                <a:solidFill>
                  <a:schemeClr val="tx1"/>
                </a:solidFill>
              </a:rPr>
              <a:t>栅格文件的存储</a:t>
            </a:r>
          </a:p>
        </p:txBody>
      </p:sp>
    </p:spTree>
    <p:extLst>
      <p:ext uri="{BB962C8B-B14F-4D97-AF65-F5344CB8AC3E}">
        <p14:creationId xmlns:p14="http://schemas.microsoft.com/office/powerpoint/2010/main" val="3198076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024E01E-165C-464E-911C-F437991B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</a:rPr>
              <a:t>                           目 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4EE96E-841F-48A0-B2C0-B6BC1E8F2DD3}"/>
              </a:ext>
            </a:extLst>
          </p:cNvPr>
          <p:cNvSpPr txBox="1"/>
          <p:nvPr/>
        </p:nvSpPr>
        <p:spPr>
          <a:xfrm>
            <a:off x="1252709" y="1916832"/>
            <a:ext cx="6336704" cy="3517438"/>
          </a:xfrm>
          <a:prstGeom prst="rect">
            <a:avLst/>
          </a:prstGeom>
          <a:solidFill>
            <a:schemeClr val="bg1"/>
          </a:solidFill>
          <a:ln w="38100">
            <a:solidFill>
              <a:srgbClr val="104780"/>
            </a:solidFill>
          </a:ln>
          <a:effectLst>
            <a:outerShdw blurRad="101600" dist="127000" dir="30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遥感数据处理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ENVI</a:t>
            </a:r>
            <a:r>
              <a:rPr lang="zh-CN" altLang="en-US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2. 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单波段影像分级设色与输出</a:t>
            </a: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3. </a:t>
            </a:r>
            <a:r>
              <a:rPr lang="zh-CN" altLang="en-US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多波段影像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配色与输出</a:t>
            </a:r>
            <a:endParaRPr lang="en-US" altLang="zh-CN" sz="3200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0441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24"/>
    </mc:Choice>
    <mc:Fallback xmlns="">
      <p:transition spd="slow" advTm="3502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2D28028-56A5-4373-887D-6094BFCD4E7E}"/>
              </a:ext>
            </a:extLst>
          </p:cNvPr>
          <p:cNvSpPr txBox="1">
            <a:spLocks/>
          </p:cNvSpPr>
          <p:nvPr/>
        </p:nvSpPr>
        <p:spPr>
          <a:xfrm>
            <a:off x="251520" y="1000298"/>
            <a:ext cx="8892480" cy="485740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打开不同格式的数据</a:t>
            </a:r>
            <a:endParaRPr lang="en-US" altLang="zh-CN" dirty="0"/>
          </a:p>
          <a:p>
            <a:pPr marL="914400" lvl="1" indent="-457200">
              <a:buFont typeface="+mj-lt"/>
              <a:buAutoNum type="alphaLcParenR"/>
            </a:pPr>
            <a:r>
              <a:rPr lang="en-US" altLang="zh-CN" sz="2200" dirty="0"/>
              <a:t>…\Program Files\</a:t>
            </a:r>
            <a:r>
              <a:rPr lang="en-US" altLang="zh-CN" sz="2200" dirty="0" err="1"/>
              <a:t>Exelis</a:t>
            </a:r>
            <a:r>
              <a:rPr lang="en-US" altLang="zh-CN" sz="2200" dirty="0"/>
              <a:t>\ENVI53\data\</a:t>
            </a:r>
            <a:r>
              <a:rPr lang="en-US" altLang="zh-CN" sz="2200" dirty="0" err="1"/>
              <a:t>world_dem</a:t>
            </a:r>
            <a:r>
              <a:rPr lang="en-US" altLang="zh-CN" sz="2200" dirty="0"/>
              <a:t>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altLang="zh-CN" sz="2200" dirty="0"/>
              <a:t>…\ Program Files\</a:t>
            </a:r>
            <a:r>
              <a:rPr lang="en-US" altLang="zh-CN" sz="2200" dirty="0" err="1"/>
              <a:t>Exelis</a:t>
            </a:r>
            <a:r>
              <a:rPr lang="en-US" altLang="zh-CN" sz="2200" dirty="0"/>
              <a:t>\ENVI53\classic\data\</a:t>
            </a:r>
            <a:r>
              <a:rPr lang="en-US" altLang="zh-CN" sz="2200" dirty="0" err="1"/>
              <a:t>can_tmr.img</a:t>
            </a:r>
            <a:endParaRPr lang="en-US" altLang="zh-CN" sz="2200" dirty="0"/>
          </a:p>
          <a:p>
            <a:pPr marL="914400" lvl="1" indent="-457200">
              <a:buFont typeface="+mj-lt"/>
              <a:buAutoNum type="alphaLcParenR"/>
            </a:pPr>
            <a:r>
              <a:rPr lang="en-US" altLang="zh-CN" sz="2200" dirty="0"/>
              <a:t>…\ Program Files\</a:t>
            </a:r>
            <a:r>
              <a:rPr lang="en-US" altLang="zh-CN" sz="2200" dirty="0" err="1"/>
              <a:t>Exelis</a:t>
            </a:r>
            <a:r>
              <a:rPr lang="en-US" altLang="zh-CN" sz="2200" dirty="0"/>
              <a:t>\ENVI53\classic\data\egm96_global.dat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altLang="zh-CN" sz="2200" dirty="0"/>
              <a:t>…\ Program Files\Exelis\ENVI53\classic\data\cup95eff.int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dirty="0"/>
              <a:t>分级显示数据</a:t>
            </a:r>
            <a:endParaRPr lang="en-US" altLang="zh-CN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7854C7C4-4BDD-416D-BDDE-9535E5B64389}"/>
              </a:ext>
            </a:extLst>
          </p:cNvPr>
          <p:cNvSpPr txBox="1">
            <a:spLocks/>
          </p:cNvSpPr>
          <p:nvPr/>
        </p:nvSpPr>
        <p:spPr>
          <a:xfrm>
            <a:off x="755576" y="116632"/>
            <a:ext cx="8388424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上机练习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138AF77-7540-48DB-A01B-F749731344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225" t="12201" r="42913" b="37400"/>
          <a:stretch/>
        </p:blipFill>
        <p:spPr>
          <a:xfrm>
            <a:off x="1036350" y="4066132"/>
            <a:ext cx="2736304" cy="229085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53C21DA-DE6D-48D7-89B9-3C7410D70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4" y="3438199"/>
            <a:ext cx="3171028" cy="315968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0454B0C-54FE-462C-A27F-4455149586F6}"/>
              </a:ext>
            </a:extLst>
          </p:cNvPr>
          <p:cNvSpPr/>
          <p:nvPr/>
        </p:nvSpPr>
        <p:spPr>
          <a:xfrm>
            <a:off x="1619672" y="638132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分级显示操作</a:t>
            </a:r>
          </a:p>
        </p:txBody>
      </p:sp>
    </p:spTree>
    <p:extLst>
      <p:ext uri="{BB962C8B-B14F-4D97-AF65-F5344CB8AC3E}">
        <p14:creationId xmlns:p14="http://schemas.microsoft.com/office/powerpoint/2010/main" val="1367357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2D28028-56A5-4373-887D-6094BFCD4E7E}"/>
              </a:ext>
            </a:extLst>
          </p:cNvPr>
          <p:cNvSpPr txBox="1">
            <a:spLocks/>
          </p:cNvSpPr>
          <p:nvPr/>
        </p:nvSpPr>
        <p:spPr>
          <a:xfrm>
            <a:off x="251520" y="1000298"/>
            <a:ext cx="8892480" cy="485740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上机报告要求：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输出四个示例数据的分级设色图（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格式）；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每一步如何操作，关键步骤截图展示；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设置不同的颜色区间（下左图红色椭圆内）。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7854C7C4-4BDD-416D-BDDE-9535E5B64389}"/>
              </a:ext>
            </a:extLst>
          </p:cNvPr>
          <p:cNvSpPr txBox="1">
            <a:spLocks/>
          </p:cNvSpPr>
          <p:nvPr/>
        </p:nvSpPr>
        <p:spPr>
          <a:xfrm>
            <a:off x="755576" y="116632"/>
            <a:ext cx="8388424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 上机练习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53C21DA-DE6D-48D7-89B9-3C7410D70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280762"/>
            <a:ext cx="3473028" cy="34606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3E2C287-9E04-442A-81FA-75553BEE7A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930" t="12136" r="53861" b="53883"/>
          <a:stretch/>
        </p:blipFill>
        <p:spPr>
          <a:xfrm>
            <a:off x="5162499" y="3786512"/>
            <a:ext cx="2880000" cy="237176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B4900E5-912D-4A67-A3A7-4ED437CC0C21}"/>
              </a:ext>
            </a:extLst>
          </p:cNvPr>
          <p:cNvSpPr/>
          <p:nvPr/>
        </p:nvSpPr>
        <p:spPr>
          <a:xfrm>
            <a:off x="5940152" y="623731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输出操作</a:t>
            </a:r>
          </a:p>
        </p:txBody>
      </p:sp>
    </p:spTree>
    <p:extLst>
      <p:ext uri="{BB962C8B-B14F-4D97-AF65-F5344CB8AC3E}">
        <p14:creationId xmlns:p14="http://schemas.microsoft.com/office/powerpoint/2010/main" val="280375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BE83CB-ECB4-4720-A54D-37B33D5CC7A9}" type="slidenum">
              <a:rPr lang="en-US" altLang="ko-KR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024E01E-165C-464E-911C-F437991B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</a:rPr>
              <a:t>                           目 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4EE96E-841F-48A0-B2C0-B6BC1E8F2DD3}"/>
              </a:ext>
            </a:extLst>
          </p:cNvPr>
          <p:cNvSpPr txBox="1"/>
          <p:nvPr/>
        </p:nvSpPr>
        <p:spPr>
          <a:xfrm>
            <a:off x="1252709" y="1916832"/>
            <a:ext cx="6336704" cy="3517438"/>
          </a:xfrm>
          <a:prstGeom prst="rect">
            <a:avLst/>
          </a:prstGeom>
          <a:solidFill>
            <a:schemeClr val="bg1"/>
          </a:solidFill>
          <a:ln w="38100">
            <a:solidFill>
              <a:srgbClr val="104780"/>
            </a:solidFill>
          </a:ln>
          <a:effectLst>
            <a:outerShdw blurRad="101600" dist="127000" dir="30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遥感数据处理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ENVI</a:t>
            </a:r>
            <a:r>
              <a:rPr lang="zh-CN" altLang="en-US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</a:t>
            </a: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2. </a:t>
            </a:r>
            <a:r>
              <a:rPr lang="zh-CN" altLang="en-US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单波段影像分级设色与输出</a:t>
            </a: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多波段影像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配色与输出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30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24"/>
    </mc:Choice>
    <mc:Fallback xmlns="">
      <p:transition spd="slow" advTm="3502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2D28028-56A5-4373-887D-6094BFCD4E7E}"/>
              </a:ext>
            </a:extLst>
          </p:cNvPr>
          <p:cNvSpPr txBox="1">
            <a:spLocks/>
          </p:cNvSpPr>
          <p:nvPr/>
        </p:nvSpPr>
        <p:spPr>
          <a:xfrm>
            <a:off x="251520" y="1000298"/>
            <a:ext cx="8892480" cy="485740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打开</a:t>
            </a:r>
            <a:r>
              <a:rPr lang="en-US" altLang="zh-CN" dirty="0"/>
              <a:t>MODIS</a:t>
            </a:r>
            <a:r>
              <a:rPr lang="zh-CN" altLang="en-US" dirty="0"/>
              <a:t>和</a:t>
            </a:r>
            <a:r>
              <a:rPr lang="en-US" altLang="zh-CN" dirty="0"/>
              <a:t>Landsat</a:t>
            </a:r>
            <a:r>
              <a:rPr lang="zh-CN" altLang="en-US" dirty="0"/>
              <a:t>数据</a:t>
            </a:r>
            <a:endParaRPr lang="en-US" altLang="zh-CN" dirty="0"/>
          </a:p>
          <a:p>
            <a:pPr marL="857250" lvl="1" indent="-457200">
              <a:lnSpc>
                <a:spcPct val="150000"/>
              </a:lnSpc>
              <a:buFont typeface="+mj-lt"/>
              <a:buAutoNum type="alphaLcParenR"/>
            </a:pPr>
            <a:r>
              <a:rPr lang="en-US" altLang="zh-CN" sz="2000" dirty="0"/>
              <a:t>MOD09A1.A2020265.h28v06.006.2020280043053.hdf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lphaLcParenR"/>
            </a:pPr>
            <a:r>
              <a:rPr lang="en-US" altLang="zh-CN" sz="2000" dirty="0"/>
              <a:t>LC81270362013256LGN00.tar.gz</a:t>
            </a:r>
            <a:r>
              <a:rPr lang="zh-CN" altLang="en-US" sz="2000" dirty="0"/>
              <a:t>（数据需要解压）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dirty="0"/>
              <a:t>RGB</a:t>
            </a:r>
            <a:r>
              <a:rPr lang="zh-CN" altLang="en-US" dirty="0"/>
              <a:t>合成彩色显示</a:t>
            </a:r>
            <a:endParaRPr lang="en-US" altLang="zh-CN" dirty="0"/>
          </a:p>
          <a:p>
            <a:pPr marL="400050" lvl="1" indent="0">
              <a:lnSpc>
                <a:spcPct val="150000"/>
              </a:lnSpc>
              <a:buNone/>
            </a:pPr>
            <a:r>
              <a:rPr lang="zh-CN" altLang="en-US" sz="2400" dirty="0"/>
              <a:t>采用不同的波段组合方式</a:t>
            </a:r>
            <a:endParaRPr lang="en-US" altLang="zh-CN" sz="2400" dirty="0"/>
          </a:p>
          <a:p>
            <a:pPr lvl="1" indent="-342900">
              <a:lnSpc>
                <a:spcPct val="150000"/>
              </a:lnSpc>
            </a:pPr>
            <a:r>
              <a:rPr lang="en-US" altLang="zh-CN" sz="2400" dirty="0"/>
              <a:t>MODIS</a:t>
            </a:r>
            <a:r>
              <a:rPr lang="zh-CN" altLang="en-US" sz="2400" dirty="0"/>
              <a:t>波段</a:t>
            </a:r>
            <a:r>
              <a:rPr lang="en-US" altLang="zh-CN" sz="2400" dirty="0"/>
              <a:t>321</a:t>
            </a:r>
            <a:r>
              <a:rPr lang="zh-CN" altLang="en-US" sz="2400" dirty="0"/>
              <a:t>、</a:t>
            </a:r>
            <a:r>
              <a:rPr lang="en-US" altLang="zh-CN" sz="2400" dirty="0"/>
              <a:t>143</a:t>
            </a:r>
            <a:r>
              <a:rPr lang="zh-CN" altLang="en-US" sz="2400" dirty="0"/>
              <a:t>、</a:t>
            </a:r>
            <a:r>
              <a:rPr lang="en-US" altLang="zh-CN" sz="2400" dirty="0"/>
              <a:t>432</a:t>
            </a:r>
            <a:r>
              <a:rPr lang="zh-CN" altLang="en-US" sz="2400" dirty="0"/>
              <a:t>等</a:t>
            </a:r>
            <a:endParaRPr lang="en-US" altLang="zh-CN" sz="2400" dirty="0"/>
          </a:p>
          <a:p>
            <a:pPr lvl="1" indent="-342900">
              <a:lnSpc>
                <a:spcPct val="150000"/>
              </a:lnSpc>
            </a:pPr>
            <a:r>
              <a:rPr lang="en-US" altLang="zh-CN" sz="2400" dirty="0"/>
              <a:t>Landsat</a:t>
            </a:r>
            <a:r>
              <a:rPr lang="zh-CN" altLang="en-US" sz="2400" dirty="0"/>
              <a:t>波段</a:t>
            </a:r>
            <a:r>
              <a:rPr lang="en-US" altLang="zh-CN" sz="2400" dirty="0"/>
              <a:t>321</a:t>
            </a:r>
            <a:r>
              <a:rPr lang="zh-CN" altLang="en-US" sz="2400" dirty="0"/>
              <a:t>、</a:t>
            </a:r>
            <a:r>
              <a:rPr lang="en-US" altLang="zh-CN" sz="2400" dirty="0"/>
              <a:t>543</a:t>
            </a:r>
            <a:r>
              <a:rPr lang="zh-CN" altLang="en-US" sz="2400" dirty="0"/>
              <a:t>、</a:t>
            </a:r>
            <a:r>
              <a:rPr lang="en-US" altLang="zh-CN" sz="2400" dirty="0"/>
              <a:t>432</a:t>
            </a:r>
            <a:r>
              <a:rPr lang="zh-CN" altLang="en-US" sz="2400" dirty="0"/>
              <a:t>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7854C7C4-4BDD-416D-BDDE-9535E5B64389}"/>
              </a:ext>
            </a:extLst>
          </p:cNvPr>
          <p:cNvSpPr txBox="1">
            <a:spLocks/>
          </p:cNvSpPr>
          <p:nvPr/>
        </p:nvSpPr>
        <p:spPr>
          <a:xfrm>
            <a:off x="755576" y="116632"/>
            <a:ext cx="8388424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上机练习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F35DC9-6A18-4480-A888-9A07D7B90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3140968"/>
            <a:ext cx="3744416" cy="324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45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2D28028-56A5-4373-887D-6094BFCD4E7E}"/>
              </a:ext>
            </a:extLst>
          </p:cNvPr>
          <p:cNvSpPr txBox="1">
            <a:spLocks/>
          </p:cNvSpPr>
          <p:nvPr/>
        </p:nvSpPr>
        <p:spPr>
          <a:xfrm>
            <a:off x="251520" y="1000298"/>
            <a:ext cx="8892480" cy="485740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/>
              <a:t>选取一个小区域，将数据</a:t>
            </a:r>
            <a:r>
              <a:rPr lang="zh-CN" altLang="en-US" dirty="0">
                <a:solidFill>
                  <a:srgbClr val="FF0000"/>
                </a:solidFill>
              </a:rPr>
              <a:t>输出为</a:t>
            </a:r>
            <a:r>
              <a:rPr lang="en-US" altLang="zh-CN" dirty="0" err="1">
                <a:solidFill>
                  <a:srgbClr val="FF0000"/>
                </a:solidFill>
              </a:rPr>
              <a:t>GeoTIFF</a:t>
            </a:r>
            <a:r>
              <a:rPr lang="zh-CN" altLang="en-US" dirty="0">
                <a:solidFill>
                  <a:srgbClr val="FF0000"/>
                </a:solidFill>
              </a:rPr>
              <a:t>格式</a:t>
            </a:r>
            <a:endParaRPr lang="en-US" altLang="zh-CN" dirty="0">
              <a:solidFill>
                <a:srgbClr val="FF0000"/>
              </a:solidFill>
            </a:endParaRPr>
          </a:p>
          <a:p>
            <a:pPr marL="400050" lvl="1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  <p:sp>
        <p:nvSpPr>
          <p:cNvPr id="6" name="标题 3">
            <a:extLst>
              <a:ext uri="{FF2B5EF4-FFF2-40B4-BE49-F238E27FC236}">
                <a16:creationId xmlns:a16="http://schemas.microsoft.com/office/drawing/2014/main" id="{7854C7C4-4BDD-416D-BDDE-9535E5B64389}"/>
              </a:ext>
            </a:extLst>
          </p:cNvPr>
          <p:cNvSpPr txBox="1">
            <a:spLocks/>
          </p:cNvSpPr>
          <p:nvPr/>
        </p:nvSpPr>
        <p:spPr>
          <a:xfrm>
            <a:off x="755576" y="116632"/>
            <a:ext cx="8388424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 上机练习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9741AF4-10BC-43D8-A924-1E3C5B1D02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563" t="9401" r="37400" b="13600"/>
          <a:stretch/>
        </p:blipFill>
        <p:spPr>
          <a:xfrm>
            <a:off x="107965" y="2070746"/>
            <a:ext cx="3239899" cy="292122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C97885B-454E-4F44-8FC9-06F3187D6CF0}"/>
              </a:ext>
            </a:extLst>
          </p:cNvPr>
          <p:cNvSpPr/>
          <p:nvPr/>
        </p:nvSpPr>
        <p:spPr>
          <a:xfrm>
            <a:off x="745882" y="5055501"/>
            <a:ext cx="18726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 err="1"/>
              <a:t>GeoTIFF</a:t>
            </a:r>
            <a:r>
              <a:rPr lang="zh-CN" altLang="en-US" dirty="0"/>
              <a:t>操作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8401C58-058B-4265-84B5-85F70A124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581" y="2812102"/>
            <a:ext cx="2971582" cy="21798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2B81E55-D414-4489-AE2B-48DAF7B002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467" y="1842807"/>
            <a:ext cx="2440229" cy="313866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47738C3-1EE4-4835-811F-B0A8896678A9}"/>
              </a:ext>
            </a:extLst>
          </p:cNvPr>
          <p:cNvSpPr/>
          <p:nvPr/>
        </p:nvSpPr>
        <p:spPr>
          <a:xfrm>
            <a:off x="4049541" y="5055501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截取一个小区域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EF9922-DBAB-4D4A-9303-AF334A1561A0}"/>
              </a:ext>
            </a:extLst>
          </p:cNvPr>
          <p:cNvSpPr/>
          <p:nvPr/>
        </p:nvSpPr>
        <p:spPr>
          <a:xfrm>
            <a:off x="6804248" y="505550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确认区域范围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D34F96D-ECA9-437D-8C7F-4BBB6DF0ED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6470" y="5667734"/>
            <a:ext cx="2395555" cy="98108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5CBE1F4-905B-4DA0-96C0-85103F70400F}"/>
              </a:ext>
            </a:extLst>
          </p:cNvPr>
          <p:cNvCxnSpPr>
            <a:cxnSpLocks/>
          </p:cNvCxnSpPr>
          <p:nvPr/>
        </p:nvCxnSpPr>
        <p:spPr>
          <a:xfrm flipH="1">
            <a:off x="6372201" y="3356992"/>
            <a:ext cx="1008111" cy="22266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3E84AB58-FF3F-4434-AD03-6A157EDF83E5}"/>
              </a:ext>
            </a:extLst>
          </p:cNvPr>
          <p:cNvSpPr/>
          <p:nvPr/>
        </p:nvSpPr>
        <p:spPr>
          <a:xfrm>
            <a:off x="251520" y="5921236"/>
            <a:ext cx="4801314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遥感数据中最常用和最重要的操作</a:t>
            </a:r>
          </a:p>
        </p:txBody>
      </p:sp>
    </p:spTree>
    <p:extLst>
      <p:ext uri="{BB962C8B-B14F-4D97-AF65-F5344CB8AC3E}">
        <p14:creationId xmlns:p14="http://schemas.microsoft.com/office/powerpoint/2010/main" val="2457742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2D28028-56A5-4373-887D-6094BFCD4E7E}"/>
              </a:ext>
            </a:extLst>
          </p:cNvPr>
          <p:cNvSpPr txBox="1">
            <a:spLocks/>
          </p:cNvSpPr>
          <p:nvPr/>
        </p:nvSpPr>
        <p:spPr>
          <a:xfrm>
            <a:off x="251520" y="1000299"/>
            <a:ext cx="8892480" cy="178063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上机报告要求：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分别针对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Landsat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数据进行如下操作：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任意选取影像中无云的一块小区域；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输出三种不同的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合成彩色图（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bmp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格式）；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3E2C287-9E04-442A-81FA-75553BEE7A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930" t="12136" r="53861" b="53883"/>
          <a:stretch/>
        </p:blipFill>
        <p:spPr>
          <a:xfrm>
            <a:off x="5894090" y="3918364"/>
            <a:ext cx="2880000" cy="237176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B4900E5-912D-4A67-A3A7-4ED437CC0C21}"/>
              </a:ext>
            </a:extLst>
          </p:cNvPr>
          <p:cNvSpPr/>
          <p:nvPr/>
        </p:nvSpPr>
        <p:spPr>
          <a:xfrm>
            <a:off x="6671743" y="636916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输出操作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A5074DC-9849-44AF-A2B1-52450A824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31" y="4110263"/>
            <a:ext cx="2971582" cy="217986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57C51B3-E201-4370-AC5B-35226CD38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917" y="3140968"/>
            <a:ext cx="2440229" cy="313866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20B1FA7-6EE4-4EA1-908B-E8DD6BDF5F0C}"/>
              </a:ext>
            </a:extLst>
          </p:cNvPr>
          <p:cNvSpPr/>
          <p:nvPr/>
        </p:nvSpPr>
        <p:spPr>
          <a:xfrm>
            <a:off x="804991" y="6353662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截取一个小区域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A3F5C8-20CE-4554-9DE1-02DF6668DB4C}"/>
              </a:ext>
            </a:extLst>
          </p:cNvPr>
          <p:cNvSpPr/>
          <p:nvPr/>
        </p:nvSpPr>
        <p:spPr>
          <a:xfrm>
            <a:off x="3559698" y="6353662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确认区域范围</a:t>
            </a:r>
          </a:p>
        </p:txBody>
      </p:sp>
      <p:sp>
        <p:nvSpPr>
          <p:cNvPr id="14" name="标题 3">
            <a:extLst>
              <a:ext uri="{FF2B5EF4-FFF2-40B4-BE49-F238E27FC236}">
                <a16:creationId xmlns:a16="http://schemas.microsoft.com/office/drawing/2014/main" id="{D2EFB1B6-040E-4271-B05D-1F761BBD43D8}"/>
              </a:ext>
            </a:extLst>
          </p:cNvPr>
          <p:cNvSpPr txBox="1">
            <a:spLocks/>
          </p:cNvSpPr>
          <p:nvPr/>
        </p:nvSpPr>
        <p:spPr>
          <a:xfrm>
            <a:off x="755576" y="116632"/>
            <a:ext cx="8388424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 上机练习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838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8DA463-9EAB-43F0-B3F4-FE635B290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31" y="2047682"/>
            <a:ext cx="8335538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6283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5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7175</TotalTime>
  <Words>982</Words>
  <Application>Microsoft Office PowerPoint</Application>
  <PresentationFormat>全屏显示(4:3)</PresentationFormat>
  <Paragraphs>132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Gulim</vt:lpstr>
      <vt:lpstr>맑은 고딕</vt:lpstr>
      <vt:lpstr>黑体</vt:lpstr>
      <vt:lpstr>宋体</vt:lpstr>
      <vt:lpstr>微软雅黑</vt:lpstr>
      <vt:lpstr>Arial</vt:lpstr>
      <vt:lpstr>Calibri</vt:lpstr>
      <vt:lpstr>Courier New</vt:lpstr>
      <vt:lpstr>Times New Roman</vt:lpstr>
      <vt:lpstr>Wingdings</vt:lpstr>
      <vt:lpstr>1_Office 主题​​</vt:lpstr>
      <vt:lpstr>PowerPoint 演示文稿</vt:lpstr>
      <vt:lpstr>                           目 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               目 录</vt:lpstr>
      <vt:lpstr>PowerPoint 演示文稿</vt:lpstr>
      <vt:lpstr>PowerPoint 演示文稿</vt:lpstr>
      <vt:lpstr>                           目 录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Rong Shang</dc:creator>
  <cp:lastModifiedBy>Rong Shang</cp:lastModifiedBy>
  <cp:revision>439</cp:revision>
  <dcterms:created xsi:type="dcterms:W3CDTF">2015-11-30T10:41:40Z</dcterms:created>
  <dcterms:modified xsi:type="dcterms:W3CDTF">2025-08-28T04:56:18Z</dcterms:modified>
</cp:coreProperties>
</file>