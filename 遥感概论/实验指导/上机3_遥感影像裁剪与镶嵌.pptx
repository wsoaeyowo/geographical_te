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2"/>
  </p:notesMasterIdLst>
  <p:sldIdLst>
    <p:sldId id="284" r:id="rId2"/>
    <p:sldId id="257" r:id="rId3"/>
    <p:sldId id="364" r:id="rId4"/>
    <p:sldId id="363" r:id="rId5"/>
    <p:sldId id="371" r:id="rId6"/>
    <p:sldId id="375" r:id="rId7"/>
    <p:sldId id="372" r:id="rId8"/>
    <p:sldId id="373" r:id="rId9"/>
    <p:sldId id="374" r:id="rId10"/>
    <p:sldId id="289" r:id="rId11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4B71DD"/>
    <a:srgbClr val="0099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75" autoAdjust="0"/>
    <p:restoredTop sz="76002" autoAdjust="0"/>
  </p:normalViewPr>
  <p:slideViewPr>
    <p:cSldViewPr>
      <p:cViewPr varScale="1">
        <p:scale>
          <a:sx n="84" d="100"/>
          <a:sy n="84" d="100"/>
        </p:scale>
        <p:origin x="1604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汪 洋" userId="e3900b88d2e2fa24" providerId="LiveId" clId="{08E35D9F-0ED0-4B74-84B9-464F39BBA6A7}"/>
    <pc:docChg chg="addSld delSld modSld sldOrd">
      <pc:chgData name="汪 洋" userId="e3900b88d2e2fa24" providerId="LiveId" clId="{08E35D9F-0ED0-4B74-84B9-464F39BBA6A7}" dt="2020-09-07T13:55:50.100" v="428"/>
      <pc:docMkLst>
        <pc:docMk/>
      </pc:docMkLst>
      <pc:sldChg chg="modSp mod ord">
        <pc:chgData name="汪 洋" userId="e3900b88d2e2fa24" providerId="LiveId" clId="{08E35D9F-0ED0-4B74-84B9-464F39BBA6A7}" dt="2020-09-07T13:51:32.158" v="413"/>
        <pc:sldMkLst>
          <pc:docMk/>
          <pc:sldMk cId="1307204450" sldId="284"/>
        </pc:sldMkLst>
        <pc:spChg chg="mod">
          <ac:chgData name="汪 洋" userId="e3900b88d2e2fa24" providerId="LiveId" clId="{08E35D9F-0ED0-4B74-84B9-464F39BBA6A7}" dt="2020-09-07T13:39:29.684" v="5" actId="20577"/>
          <ac:spMkLst>
            <pc:docMk/>
            <pc:sldMk cId="1307204450" sldId="284"/>
            <ac:spMk id="10" creationId="{00000000-0000-0000-0000-000000000000}"/>
          </ac:spMkLst>
        </pc:spChg>
      </pc:sldChg>
      <pc:sldChg chg="del">
        <pc:chgData name="汪 洋" userId="e3900b88d2e2fa24" providerId="LiveId" clId="{08E35D9F-0ED0-4B74-84B9-464F39BBA6A7}" dt="2020-09-07T13:39:50.326" v="7" actId="47"/>
        <pc:sldMkLst>
          <pc:docMk/>
          <pc:sldMk cId="2074537963" sldId="291"/>
        </pc:sldMkLst>
      </pc:sldChg>
      <pc:sldChg chg="modSp add mod">
        <pc:chgData name="汪 洋" userId="e3900b88d2e2fa24" providerId="LiveId" clId="{08E35D9F-0ED0-4B74-84B9-464F39BBA6A7}" dt="2020-09-07T13:55:50.100" v="428"/>
        <pc:sldMkLst>
          <pc:docMk/>
          <pc:sldMk cId="211448655" sldId="321"/>
        </pc:sldMkLst>
        <pc:spChg chg="mod">
          <ac:chgData name="汪 洋" userId="e3900b88d2e2fa24" providerId="LiveId" clId="{08E35D9F-0ED0-4B74-84B9-464F39BBA6A7}" dt="2020-09-07T13:55:50.100" v="428"/>
          <ac:spMkLst>
            <pc:docMk/>
            <pc:sldMk cId="211448655" sldId="321"/>
            <ac:spMk id="2" creationId="{0445E3D5-3376-48D4-83C5-8A6EC8592AFB}"/>
          </ac:spMkLst>
        </pc:spChg>
        <pc:spChg chg="mod">
          <ac:chgData name="汪 洋" userId="e3900b88d2e2fa24" providerId="LiveId" clId="{08E35D9F-0ED0-4B74-84B9-464F39BBA6A7}" dt="2020-09-07T13:40:02.249" v="18" actId="20577"/>
          <ac:spMkLst>
            <pc:docMk/>
            <pc:sldMk cId="211448655" sldId="321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9EE9C6-1DBA-44A5-AEFE-F4337DC359FA}" type="datetimeFigureOut">
              <a:rPr lang="zh-CN" altLang="en-US" smtClean="0"/>
              <a:t>2026/10/8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0E31C4-AB86-4844-B75B-FC06F64CF47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139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6275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2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77416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4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71634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2818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72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dirty="0"/>
          </a:p>
        </p:txBody>
      </p:sp>
      <p:sp>
        <p:nvSpPr>
          <p:cNvPr id="972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pitchFamily="18" charset="0"/>
                <a:ea typeface="Gulim" pitchFamily="34" charset="-127"/>
              </a:defRPr>
            </a:lvl9pPr>
          </a:lstStyle>
          <a:p>
            <a:fld id="{E76B7CD0-CC68-45C1-96D8-2E5F29957897}" type="slidenum">
              <a:rPr lang="zh-CN" altLang="en-US" sz="1200" smtClean="0">
                <a:latin typeface="Gulim" pitchFamily="34" charset="-127"/>
              </a:rPr>
              <a:pPr/>
              <a:t>6</a:t>
            </a:fld>
            <a:endParaRPr lang="en-US" altLang="zh-CN" sz="1200">
              <a:latin typeface="Gulim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105723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831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137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0E31C4-AB86-4844-B75B-FC06F64CF47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469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8582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3405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560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2468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6925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549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9020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48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83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1939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50864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99592" y="95238"/>
            <a:ext cx="8136904" cy="5300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CDB213-29A1-4175-8A84-123ECF563776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2026/10/8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F9D3C-14D7-41D4-BB4C-662DDA52ED6D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8344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3200" b="1" kern="1200">
          <a:solidFill>
            <a:srgbClr val="0070C0"/>
          </a:solidFill>
          <a:latin typeface="微软雅黑" pitchFamily="34" charset="-122"/>
          <a:ea typeface="微软雅黑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619672" y="4869160"/>
            <a:ext cx="5376799" cy="1053622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defRPr/>
            </a:pP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授课</a:t>
            </a:r>
            <a:r>
              <a:rPr lang="zh-CN" altLang="en-US" sz="2400" b="1">
                <a:latin typeface="微软雅黑" pitchFamily="34" charset="-122"/>
                <a:ea typeface="微软雅黑" pitchFamily="34" charset="-122"/>
              </a:rPr>
              <a:t>人：许明珠   </a:t>
            </a:r>
            <a:r>
              <a:rPr lang="zh-CN" altLang="en-US" sz="2400" b="1" dirty="0">
                <a:latin typeface="微软雅黑" pitchFamily="34" charset="-122"/>
                <a:ea typeface="微软雅黑" pitchFamily="34" charset="-122"/>
              </a:rPr>
              <a:t>副教授</a:t>
            </a:r>
            <a:endParaRPr lang="en-US" altLang="zh-CN" sz="2400" b="1" dirty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  <a:defRPr/>
            </a:pPr>
            <a:r>
              <a:rPr lang="zh-CN" altLang="en-US" sz="2000" b="1" dirty="0">
                <a:latin typeface="微软雅黑" pitchFamily="34" charset="-122"/>
                <a:ea typeface="微软雅黑" pitchFamily="34" charset="-122"/>
              </a:rPr>
              <a:t>福建师范大学 地理科学学院 地理信息科学系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827584" y="2780928"/>
            <a:ext cx="78112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第三讲 遥感影像裁剪与镶嵌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917EF0-B6FA-4A41-AA73-F0DAE5338A9A}"/>
              </a:ext>
            </a:extLst>
          </p:cNvPr>
          <p:cNvSpPr txBox="1"/>
          <p:nvPr/>
        </p:nvSpPr>
        <p:spPr>
          <a:xfrm>
            <a:off x="10993" y="148804"/>
            <a:ext cx="48782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《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遥感概论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》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必修课</a:t>
            </a:r>
            <a:r>
              <a:rPr lang="en-US" altLang="zh-CN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32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上机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7204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627"/>
    </mc:Choice>
    <mc:Fallback xmlns="">
      <p:transition spd="slow" advTm="43627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B2DA66D1-B71C-4CAC-A8A8-83F8BE0A79D0}"/>
              </a:ext>
            </a:extLst>
          </p:cNvPr>
          <p:cNvSpPr txBox="1"/>
          <p:nvPr/>
        </p:nvSpPr>
        <p:spPr>
          <a:xfrm>
            <a:off x="1547664" y="2420888"/>
            <a:ext cx="6336704" cy="2532553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1.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遥感影像裁剪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 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遥感影像镶嵌</a:t>
            </a:r>
            <a:endParaRPr lang="en-US" altLang="zh-CN" sz="3200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2228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图像裁剪</a:t>
            </a:r>
          </a:p>
        </p:txBody>
      </p:sp>
      <p:sp>
        <p:nvSpPr>
          <p:cNvPr id="9" name="内容占位符 1">
            <a:extLst>
              <a:ext uri="{FF2B5EF4-FFF2-40B4-BE49-F238E27FC236}">
                <a16:creationId xmlns:a16="http://schemas.microsoft.com/office/drawing/2014/main" id="{E44F4B69-A11A-43B8-BBDA-938DE445BC3C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zh-CN" sz="2400" dirty="0"/>
              <a:t>图像裁剪的目的是将研究之外的区域去除。常用的方法是按照行政区划边界或者自然区划</a:t>
            </a:r>
            <a:r>
              <a:rPr lang="zh-CN" altLang="zh-CN" sz="2400"/>
              <a:t>边界进行</a:t>
            </a:r>
            <a:r>
              <a:rPr lang="zh-CN" altLang="en-US" sz="2400"/>
              <a:t>图</a:t>
            </a:r>
            <a:r>
              <a:rPr lang="zh-CN" altLang="zh-CN" sz="2400"/>
              <a:t>像</a:t>
            </a:r>
            <a:r>
              <a:rPr lang="zh-CN" altLang="zh-CN" sz="2400" dirty="0"/>
              <a:t>裁剪；在基础数据生产中个，还经常要进行标准分幅裁剪。</a:t>
            </a:r>
            <a:endParaRPr lang="en-US" altLang="zh-CN" sz="2400" dirty="0"/>
          </a:p>
          <a:p>
            <a:pPr>
              <a:spcAft>
                <a:spcPts val="600"/>
              </a:spcAft>
            </a:pPr>
            <a:r>
              <a:rPr lang="en-US" altLang="zh-CN" sz="2400" dirty="0"/>
              <a:t>ENVI</a:t>
            </a:r>
            <a:r>
              <a:rPr lang="zh-CN" altLang="zh-CN" sz="2400" dirty="0"/>
              <a:t>的图像裁剪过程，可分为规则裁剪和不规裁剪。</a:t>
            </a:r>
            <a:endParaRPr lang="en-US" altLang="zh-CN" sz="2400" dirty="0"/>
          </a:p>
          <a:p>
            <a:pPr lvl="1">
              <a:spcAft>
                <a:spcPts val="600"/>
              </a:spcAft>
            </a:pPr>
            <a:r>
              <a:rPr lang="zh-CN" altLang="zh-CN" sz="2000" dirty="0"/>
              <a:t>规则分幅裁剪，是指裁剪图像的边界范围是一个矩形，这个矩形范围获取途径包括：行列号、左上角和右下角两点坐标、图像文件、</a:t>
            </a:r>
            <a:r>
              <a:rPr lang="en-US" altLang="zh-CN" sz="2000" dirty="0"/>
              <a:t>ROI/</a:t>
            </a:r>
            <a:r>
              <a:rPr lang="zh-CN" altLang="zh-CN" sz="2000" dirty="0"/>
              <a:t>矢量文件。</a:t>
            </a:r>
            <a:endParaRPr lang="en-US" altLang="zh-CN" sz="2000" dirty="0"/>
          </a:p>
          <a:p>
            <a:pPr lvl="1">
              <a:spcAft>
                <a:spcPts val="600"/>
              </a:spcAft>
            </a:pPr>
            <a:r>
              <a:rPr lang="zh-CN" altLang="zh-CN" sz="2000" dirty="0"/>
              <a:t>不规则分幅裁剪，是指裁剪图像的边界范围是一个任意多边形。任意多边形可以是事先生成的一个完整的闭合多边形区域，可以是一个手工绘制的</a:t>
            </a:r>
            <a:r>
              <a:rPr lang="en-US" altLang="zh-CN" sz="2000" dirty="0"/>
              <a:t>ROI</a:t>
            </a:r>
            <a:r>
              <a:rPr lang="zh-CN" altLang="zh-CN" sz="2000" dirty="0"/>
              <a:t>（感兴趣区）多边形，也可以是</a:t>
            </a:r>
            <a:r>
              <a:rPr lang="en-US" altLang="zh-CN" sz="2000" dirty="0"/>
              <a:t>ENVI</a:t>
            </a:r>
            <a:r>
              <a:rPr lang="zh-CN" altLang="zh-CN" sz="2000" dirty="0"/>
              <a:t>支持的矢量文件</a:t>
            </a:r>
            <a:r>
              <a:rPr lang="zh-CN" altLang="en-US" sz="200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979738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5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内容占位符 1">
            <a:extLst>
              <a:ext uri="{FF2B5EF4-FFF2-40B4-BE49-F238E27FC236}">
                <a16:creationId xmlns:a16="http://schemas.microsoft.com/office/drawing/2014/main" id="{C1ECF5A5-BC75-438F-9920-0A6BF6D44335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数据</a:t>
            </a:r>
            <a:endParaRPr lang="en-US" altLang="zh-CN" sz="2800" dirty="0"/>
          </a:p>
          <a:p>
            <a:pPr lvl="1"/>
            <a:r>
              <a:rPr lang="en-US" altLang="zh-CN" sz="2400" dirty="0"/>
              <a:t>TM</a:t>
            </a:r>
            <a:r>
              <a:rPr lang="zh-CN" altLang="en-US" sz="2400" dirty="0"/>
              <a:t>影像数据</a:t>
            </a:r>
            <a:endParaRPr lang="en-US" altLang="zh-CN" sz="2400" dirty="0"/>
          </a:p>
          <a:p>
            <a:pPr lvl="1"/>
            <a:r>
              <a:rPr lang="en-US" altLang="zh-CN" sz="2400" dirty="0"/>
              <a:t>Shapefile </a:t>
            </a:r>
            <a:r>
              <a:rPr lang="zh-CN" altLang="en-US" sz="2400" dirty="0"/>
              <a:t>矢量数据</a:t>
            </a:r>
            <a:endParaRPr lang="en-US" altLang="zh-CN" sz="2400" dirty="0"/>
          </a:p>
          <a:p>
            <a:r>
              <a:rPr lang="zh-CN" altLang="en-US" sz="2800" dirty="0"/>
              <a:t>内容</a:t>
            </a:r>
            <a:endParaRPr lang="en-US" altLang="zh-CN" sz="2800" dirty="0"/>
          </a:p>
          <a:p>
            <a:pPr lvl="1"/>
            <a:r>
              <a:rPr lang="zh-CN" altLang="en-US" sz="2400" dirty="0"/>
              <a:t>不规则图像裁剪</a:t>
            </a:r>
            <a:endParaRPr lang="en-US" altLang="zh-CN" sz="2400" dirty="0"/>
          </a:p>
          <a:p>
            <a:pPr lvl="1"/>
            <a:r>
              <a:rPr lang="zh-CN" altLang="en-US" sz="2400" dirty="0"/>
              <a:t>手动交互绘制裁剪区域裁剪图像</a:t>
            </a:r>
            <a:endParaRPr lang="en-US" altLang="zh-CN" sz="2400" dirty="0"/>
          </a:p>
          <a:p>
            <a:pPr lvl="1"/>
            <a:r>
              <a:rPr lang="zh-CN" altLang="en-US" sz="2400" dirty="0"/>
              <a:t>外面矢量文件裁剪图像</a:t>
            </a:r>
            <a:endParaRPr lang="en-US" altLang="zh-CN" sz="2400" dirty="0"/>
          </a:p>
          <a:p>
            <a:r>
              <a:rPr lang="zh-CN" altLang="en-US" sz="2800" dirty="0"/>
              <a:t>工具</a:t>
            </a:r>
            <a:r>
              <a:rPr lang="en-US" altLang="zh-CN" sz="2800" dirty="0"/>
              <a:t> </a:t>
            </a:r>
          </a:p>
          <a:p>
            <a:pPr lvl="1"/>
            <a:r>
              <a:rPr lang="en-US" altLang="zh-CN" sz="2400" dirty="0"/>
              <a:t>/Regions of Interest/Subset Data from ROIs</a:t>
            </a:r>
          </a:p>
          <a:p>
            <a:pPr marL="0" indent="0">
              <a:buNone/>
            </a:pPr>
            <a:endParaRPr lang="zh-CN" altLang="en-US" sz="2800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9CFC79-444B-4BFD-A7FA-9B1B8CAEE00F}"/>
              </a:ext>
            </a:extLst>
          </p:cNvPr>
          <p:cNvSpPr/>
          <p:nvPr/>
        </p:nvSpPr>
        <p:spPr>
          <a:xfrm>
            <a:off x="4355976" y="1067569"/>
            <a:ext cx="4572000" cy="4603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图像裁剪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FF0000"/>
                </a:solidFill>
              </a:rPr>
              <a:t>操作手册</a:t>
            </a:r>
            <a:r>
              <a:rPr lang="en-US" altLang="zh-CN" dirty="0"/>
              <a:t>(ESRI</a:t>
            </a:r>
            <a:r>
              <a:rPr lang="zh-CN" altLang="en-US" dirty="0"/>
              <a:t>素材</a:t>
            </a:r>
            <a:r>
              <a:rPr lang="en-US" altLang="zh-CN" dirty="0"/>
              <a:t>).pdf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9E7AB7B-74D3-47C2-A530-A6059A22DC02}"/>
              </a:ext>
            </a:extLst>
          </p:cNvPr>
          <p:cNvSpPr/>
          <p:nvPr/>
        </p:nvSpPr>
        <p:spPr>
          <a:xfrm>
            <a:off x="4366418" y="2193773"/>
            <a:ext cx="4572000" cy="4603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图像裁剪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FF0000"/>
                </a:solidFill>
              </a:rPr>
              <a:t>操作视频</a:t>
            </a:r>
            <a:r>
              <a:rPr lang="en-US" altLang="zh-CN" dirty="0"/>
              <a:t>(ESRI</a:t>
            </a:r>
            <a:r>
              <a:rPr lang="zh-CN" altLang="en-US" dirty="0"/>
              <a:t>素材</a:t>
            </a:r>
            <a:r>
              <a:rPr lang="en-US" altLang="zh-CN" dirty="0"/>
              <a:t>).mp4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390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本节收获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B0EF95C4-2B5A-4374-A180-7180CE084DFF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dirty="0"/>
              <a:t>掌握图像裁剪的基本方法</a:t>
            </a:r>
            <a:endParaRPr lang="en-US" altLang="zh-CN" dirty="0"/>
          </a:p>
          <a:p>
            <a:pPr>
              <a:spcAft>
                <a:spcPts val="600"/>
              </a:spcAft>
            </a:pPr>
            <a:r>
              <a:rPr lang="zh-CN" altLang="en-US" dirty="0"/>
              <a:t>学习了规则裁剪、和不同情况下的不规则图像裁剪的流程</a:t>
            </a:r>
            <a:endParaRPr lang="en-US" altLang="zh-CN" dirty="0"/>
          </a:p>
          <a:p>
            <a:pPr>
              <a:spcAft>
                <a:spcPts val="600"/>
              </a:spcAft>
            </a:pPr>
            <a:r>
              <a:rPr lang="zh-CN" altLang="en-US" dirty="0"/>
              <a:t>学习了</a:t>
            </a:r>
            <a:r>
              <a:rPr lang="en-US" altLang="zh-CN" dirty="0"/>
              <a:t>ENVI</a:t>
            </a:r>
            <a:r>
              <a:rPr lang="zh-CN" altLang="zh-CN" dirty="0"/>
              <a:t>中</a:t>
            </a:r>
            <a:r>
              <a:rPr lang="zh-CN" altLang="en-US" dirty="0"/>
              <a:t>图像裁剪的工具</a:t>
            </a:r>
            <a:endParaRPr lang="en-US" altLang="zh-CN" dirty="0"/>
          </a:p>
          <a:p>
            <a:pPr lvl="1">
              <a:spcAft>
                <a:spcPts val="600"/>
              </a:spcAft>
            </a:pPr>
            <a:r>
              <a:rPr lang="en-US" altLang="zh-CN" dirty="0"/>
              <a:t>Open/Save As/Spatial Subset</a:t>
            </a:r>
            <a:endParaRPr lang="zh-CN" altLang="en-US" dirty="0"/>
          </a:p>
          <a:p>
            <a:pPr lvl="1">
              <a:spcAft>
                <a:spcPts val="600"/>
              </a:spcAft>
            </a:pPr>
            <a:r>
              <a:rPr lang="en-US" altLang="zh-CN" dirty="0"/>
              <a:t>Toolbox/Regions of Interest/Subset Data from ROIs</a:t>
            </a:r>
          </a:p>
        </p:txBody>
      </p:sp>
    </p:spTree>
    <p:extLst>
      <p:ext uri="{BB962C8B-B14F-4D97-AF65-F5344CB8AC3E}">
        <p14:creationId xmlns:p14="http://schemas.microsoft.com/office/powerpoint/2010/main" val="284084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文本框 29">
            <a:extLst>
              <a:ext uri="{FF2B5EF4-FFF2-40B4-BE49-F238E27FC236}">
                <a16:creationId xmlns:a16="http://schemas.microsoft.com/office/drawing/2014/main" id="{B2DA66D1-B71C-4CAC-A8A8-83F8BE0A79D0}"/>
              </a:ext>
            </a:extLst>
          </p:cNvPr>
          <p:cNvSpPr txBox="1"/>
          <p:nvPr/>
        </p:nvSpPr>
        <p:spPr>
          <a:xfrm>
            <a:off x="1547664" y="2420888"/>
            <a:ext cx="6336704" cy="2532553"/>
          </a:xfrm>
          <a:prstGeom prst="rect">
            <a:avLst/>
          </a:prstGeom>
          <a:solidFill>
            <a:schemeClr val="bg1"/>
          </a:solidFill>
          <a:ln w="38100">
            <a:solidFill>
              <a:srgbClr val="104780"/>
            </a:solidFill>
          </a:ln>
          <a:effectLst>
            <a:outerShdw blurRad="101600" dist="127000" dir="30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en-US" altLang="zh-CN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3200" b="1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遥感影像裁剪</a:t>
            </a:r>
          </a:p>
          <a:p>
            <a:pPr>
              <a:lnSpc>
                <a:spcPct val="200000"/>
              </a:lnSpc>
            </a:pP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2.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遥感影像镶嵌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b="1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5024E01E-165C-464E-911C-F437991B8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rgbClr val="002060"/>
                </a:solidFill>
              </a:rPr>
              <a:t>                           目 录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496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24"/>
    </mc:Choice>
    <mc:Fallback xmlns="">
      <p:transition spd="slow" advTm="35024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图像镶嵌</a:t>
            </a: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3F89B292-1E52-4E2A-831E-384087ADE351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Aft>
                <a:spcPts val="600"/>
              </a:spcAft>
            </a:pPr>
            <a:r>
              <a:rPr lang="zh-CN" altLang="zh-CN" sz="2800"/>
              <a:t>图像镶嵌，指在一定数学基础控制下把多景相邻遥感图像拼接成一个大范围、无缝的图像的过程。</a:t>
            </a:r>
          </a:p>
          <a:p>
            <a:pPr algn="just">
              <a:spcAft>
                <a:spcPts val="600"/>
              </a:spcAft>
            </a:pPr>
            <a:r>
              <a:rPr lang="en-US" altLang="zh-CN" sz="2800"/>
              <a:t>ENVI</a:t>
            </a:r>
            <a:r>
              <a:rPr lang="zh-CN" altLang="zh-CN" sz="2800"/>
              <a:t>的图像镶嵌功能可提供交互式的方式，将有地理坐标或没有地理坐标的多幅图像合并，生成一幅单一的合成图像。最新</a:t>
            </a:r>
            <a:r>
              <a:rPr lang="en-US" altLang="zh-CN" sz="2800"/>
              <a:t>ENVI</a:t>
            </a:r>
            <a:r>
              <a:rPr lang="zh-CN" altLang="zh-CN" sz="2800"/>
              <a:t>提供了全新的影像无缝镶嵌工具</a:t>
            </a:r>
            <a:r>
              <a:rPr lang="en-US" altLang="zh-CN" sz="2800"/>
              <a:t>Seamless Mosaic</a:t>
            </a:r>
            <a:r>
              <a:rPr lang="zh-CN" altLang="zh-CN" sz="2800"/>
              <a:t>，所有功能集成在一个流程化的界面。</a:t>
            </a:r>
            <a:endParaRPr lang="en-US" altLang="zh-CN" sz="2800"/>
          </a:p>
          <a:p>
            <a:pPr algn="just">
              <a:spcAft>
                <a:spcPts val="600"/>
              </a:spcAft>
            </a:pPr>
            <a:r>
              <a:rPr lang="zh-CN" altLang="zh-CN" sz="2800"/>
              <a:t>本课程以两幅影像，简单的学习</a:t>
            </a:r>
            <a:r>
              <a:rPr lang="en-US" altLang="zh-CN" sz="2800"/>
              <a:t>Seamless Mosaic</a:t>
            </a:r>
            <a:r>
              <a:rPr lang="zh-CN" altLang="zh-CN" sz="2800"/>
              <a:t>工具的使用。</a:t>
            </a:r>
          </a:p>
          <a:p>
            <a:pPr algn="just">
              <a:spcAft>
                <a:spcPts val="600"/>
              </a:spcAft>
            </a:pP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445070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上机练习</a:t>
            </a:r>
            <a:r>
              <a:rPr lang="en-US" altLang="zh-CN" dirty="0">
                <a:solidFill>
                  <a:schemeClr val="tx1"/>
                </a:solidFill>
              </a:rPr>
              <a:t>6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内容占位符 1">
            <a:extLst>
              <a:ext uri="{FF2B5EF4-FFF2-40B4-BE49-F238E27FC236}">
                <a16:creationId xmlns:a16="http://schemas.microsoft.com/office/drawing/2014/main" id="{30621C23-B8C0-4E33-9F79-F4D7AAFC9C05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dirty="0"/>
              <a:t>数据：</a:t>
            </a:r>
            <a:endParaRPr lang="en-US" altLang="zh-CN" sz="2800" dirty="0"/>
          </a:p>
          <a:p>
            <a:pPr lvl="1"/>
            <a:r>
              <a:rPr lang="zh-CN" altLang="en-US" sz="2400" dirty="0"/>
              <a:t>两个有地理坐标的</a:t>
            </a:r>
            <a:r>
              <a:rPr lang="en-US" altLang="zh-CN" sz="2400" dirty="0"/>
              <a:t>TM</a:t>
            </a:r>
            <a:r>
              <a:rPr lang="zh-CN" altLang="en-US" sz="2400" dirty="0"/>
              <a:t>图像文件</a:t>
            </a:r>
            <a:endParaRPr lang="en-US" altLang="zh-CN" sz="2400" dirty="0"/>
          </a:p>
          <a:p>
            <a:r>
              <a:rPr lang="zh-CN" altLang="en-US" sz="2800" dirty="0"/>
              <a:t>内容：利用</a:t>
            </a:r>
            <a:r>
              <a:rPr lang="en-US" altLang="zh-CN" sz="2800" dirty="0"/>
              <a:t>Seamless Mosaic</a:t>
            </a:r>
            <a:r>
              <a:rPr lang="zh-CN" altLang="en-US" sz="2800" dirty="0"/>
              <a:t>工具进行图像镶嵌</a:t>
            </a:r>
            <a:endParaRPr lang="en-US" altLang="zh-CN" sz="2800" dirty="0"/>
          </a:p>
          <a:p>
            <a:r>
              <a:rPr lang="zh-CN" altLang="en-US" sz="2800" dirty="0"/>
              <a:t>工具：</a:t>
            </a:r>
            <a:r>
              <a:rPr lang="en-US" altLang="zh-CN" sz="2800" dirty="0"/>
              <a:t>Mosaicking /Seamless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F0F318-4036-41D4-A837-0DA92D20822A}"/>
              </a:ext>
            </a:extLst>
          </p:cNvPr>
          <p:cNvSpPr/>
          <p:nvPr/>
        </p:nvSpPr>
        <p:spPr>
          <a:xfrm>
            <a:off x="2401318" y="3953087"/>
            <a:ext cx="4572000" cy="4603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图像镶嵌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FF0000"/>
                </a:solidFill>
              </a:rPr>
              <a:t>操作手册</a:t>
            </a:r>
            <a:r>
              <a:rPr lang="en-US" altLang="zh-CN" dirty="0"/>
              <a:t>(ESRI</a:t>
            </a:r>
            <a:r>
              <a:rPr lang="zh-CN" altLang="en-US" dirty="0"/>
              <a:t>素材</a:t>
            </a:r>
            <a:r>
              <a:rPr lang="en-US" altLang="zh-CN" dirty="0"/>
              <a:t>).pdf</a:t>
            </a:r>
            <a:endParaRPr lang="zh-CN" altLang="en-US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B7126C6-47DC-4FD2-BAF0-833CE1D1BC12}"/>
              </a:ext>
            </a:extLst>
          </p:cNvPr>
          <p:cNvSpPr/>
          <p:nvPr/>
        </p:nvSpPr>
        <p:spPr>
          <a:xfrm>
            <a:off x="2411760" y="5079291"/>
            <a:ext cx="4572000" cy="4603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dirty="0"/>
              <a:t>图像镶嵌</a:t>
            </a:r>
            <a:r>
              <a:rPr lang="en-US" altLang="zh-CN" dirty="0"/>
              <a:t>-</a:t>
            </a:r>
            <a:r>
              <a:rPr lang="zh-CN" altLang="en-US" dirty="0">
                <a:solidFill>
                  <a:srgbClr val="FF0000"/>
                </a:solidFill>
              </a:rPr>
              <a:t>操作视频</a:t>
            </a:r>
            <a:r>
              <a:rPr lang="en-US" altLang="zh-CN" dirty="0"/>
              <a:t>(ESRI</a:t>
            </a:r>
            <a:r>
              <a:rPr lang="zh-CN" altLang="en-US" dirty="0"/>
              <a:t>素材</a:t>
            </a:r>
            <a:r>
              <a:rPr lang="en-US" altLang="zh-CN" dirty="0"/>
              <a:t>).mp4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52893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3">
            <a:extLst>
              <a:ext uri="{FF2B5EF4-FFF2-40B4-BE49-F238E27FC236}">
                <a16:creationId xmlns:a16="http://schemas.microsoft.com/office/drawing/2014/main" id="{5AAA45DF-38D3-4752-92A9-0450E3C4B719}"/>
              </a:ext>
            </a:extLst>
          </p:cNvPr>
          <p:cNvSpPr txBox="1">
            <a:spLocks/>
          </p:cNvSpPr>
          <p:nvPr/>
        </p:nvSpPr>
        <p:spPr>
          <a:xfrm>
            <a:off x="683568" y="116632"/>
            <a:ext cx="8460432" cy="583092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200" b="1" kern="1200">
                <a:solidFill>
                  <a:srgbClr val="0070C0"/>
                </a:solidFill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zh-CN" altLang="en-US" dirty="0">
                <a:solidFill>
                  <a:schemeClr val="tx1"/>
                </a:solidFill>
              </a:rPr>
              <a:t>本节收获</a:t>
            </a:r>
          </a:p>
        </p:txBody>
      </p:sp>
      <p:sp>
        <p:nvSpPr>
          <p:cNvPr id="6" name="内容占位符 1">
            <a:extLst>
              <a:ext uri="{FF2B5EF4-FFF2-40B4-BE49-F238E27FC236}">
                <a16:creationId xmlns:a16="http://schemas.microsoft.com/office/drawing/2014/main" id="{5DECBAB1-CA81-4E82-85C7-5FEF5EE600D4}"/>
              </a:ext>
            </a:extLst>
          </p:cNvPr>
          <p:cNvSpPr txBox="1">
            <a:spLocks/>
          </p:cNvSpPr>
          <p:nvPr/>
        </p:nvSpPr>
        <p:spPr>
          <a:xfrm>
            <a:off x="500063" y="1340768"/>
            <a:ext cx="8104385" cy="4449663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600"/>
              </a:spcAft>
            </a:pPr>
            <a:r>
              <a:rPr lang="zh-CN" altLang="en-US" dirty="0"/>
              <a:t>掌握了图像镶嵌的基本方法</a:t>
            </a:r>
            <a:endParaRPr lang="en-US" altLang="zh-CN" dirty="0"/>
          </a:p>
          <a:p>
            <a:pPr>
              <a:spcAft>
                <a:spcPts val="600"/>
              </a:spcAft>
            </a:pPr>
            <a:r>
              <a:rPr lang="zh-CN" altLang="en-US" dirty="0"/>
              <a:t>学习了影像无缝镶嵌工具</a:t>
            </a:r>
            <a:r>
              <a:rPr lang="en-US" altLang="zh-CN" dirty="0"/>
              <a:t>Seamless Mosaic</a:t>
            </a:r>
            <a:r>
              <a:rPr lang="zh-CN" altLang="en-US" dirty="0"/>
              <a:t>的使用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741423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38DA463-9EAB-43F0-B3F4-FE635B2907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231" y="2047682"/>
            <a:ext cx="8335538" cy="276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62836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4.5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7277</TotalTime>
  <Words>780</Words>
  <Application>Microsoft Office PowerPoint</Application>
  <PresentationFormat>全屏显示(4:3)</PresentationFormat>
  <Paragraphs>56</Paragraphs>
  <Slides>10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Gulim</vt:lpstr>
      <vt:lpstr>微软雅黑</vt:lpstr>
      <vt:lpstr>Arial</vt:lpstr>
      <vt:lpstr>Calibri</vt:lpstr>
      <vt:lpstr>1_Office 主题​​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  <vt:lpstr>                           目 录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Rong Shang</dc:creator>
  <cp:lastModifiedBy>华泰 蔡</cp:lastModifiedBy>
  <cp:revision>451</cp:revision>
  <dcterms:created xsi:type="dcterms:W3CDTF">2015-11-30T10:41:40Z</dcterms:created>
  <dcterms:modified xsi:type="dcterms:W3CDTF">2026-10-08T09:24:28Z</dcterms:modified>
</cp:coreProperties>
</file>