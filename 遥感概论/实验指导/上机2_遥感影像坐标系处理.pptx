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284" r:id="rId2"/>
    <p:sldId id="257" r:id="rId3"/>
    <p:sldId id="364" r:id="rId4"/>
    <p:sldId id="365" r:id="rId5"/>
    <p:sldId id="367" r:id="rId6"/>
    <p:sldId id="368" r:id="rId7"/>
    <p:sldId id="369" r:id="rId8"/>
    <p:sldId id="370" r:id="rId9"/>
    <p:sldId id="371" r:id="rId10"/>
    <p:sldId id="362" r:id="rId11"/>
    <p:sldId id="372" r:id="rId12"/>
    <p:sldId id="289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B71DD"/>
    <a:srgbClr val="0099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5" autoAdjust="0"/>
    <p:restoredTop sz="76002" autoAdjust="0"/>
  </p:normalViewPr>
  <p:slideViewPr>
    <p:cSldViewPr>
      <p:cViewPr varScale="1">
        <p:scale>
          <a:sx n="87" d="100"/>
          <a:sy n="87" d="100"/>
        </p:scale>
        <p:origin x="7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汪 洋" userId="e3900b88d2e2fa24" providerId="LiveId" clId="{08E35D9F-0ED0-4B74-84B9-464F39BBA6A7}"/>
    <pc:docChg chg="addSld delSld modSld sldOrd">
      <pc:chgData name="汪 洋" userId="e3900b88d2e2fa24" providerId="LiveId" clId="{08E35D9F-0ED0-4B74-84B9-464F39BBA6A7}" dt="2020-09-07T13:55:50.100" v="428"/>
      <pc:docMkLst>
        <pc:docMk/>
      </pc:docMkLst>
      <pc:sldChg chg="modSp mod ord">
        <pc:chgData name="汪 洋" userId="e3900b88d2e2fa24" providerId="LiveId" clId="{08E35D9F-0ED0-4B74-84B9-464F39BBA6A7}" dt="2020-09-07T13:51:32.158" v="413"/>
        <pc:sldMkLst>
          <pc:docMk/>
          <pc:sldMk cId="1307204450" sldId="284"/>
        </pc:sldMkLst>
        <pc:spChg chg="mod">
          <ac:chgData name="汪 洋" userId="e3900b88d2e2fa24" providerId="LiveId" clId="{08E35D9F-0ED0-4B74-84B9-464F39BBA6A7}" dt="2020-09-07T13:39:29.684" v="5" actId="20577"/>
          <ac:spMkLst>
            <pc:docMk/>
            <pc:sldMk cId="1307204450" sldId="284"/>
            <ac:spMk id="10" creationId="{00000000-0000-0000-0000-000000000000}"/>
          </ac:spMkLst>
        </pc:spChg>
      </pc:sldChg>
      <pc:sldChg chg="del">
        <pc:chgData name="汪 洋" userId="e3900b88d2e2fa24" providerId="LiveId" clId="{08E35D9F-0ED0-4B74-84B9-464F39BBA6A7}" dt="2020-09-07T13:39:50.326" v="7" actId="47"/>
        <pc:sldMkLst>
          <pc:docMk/>
          <pc:sldMk cId="2074537963" sldId="291"/>
        </pc:sldMkLst>
      </pc:sldChg>
      <pc:sldChg chg="modSp add mod">
        <pc:chgData name="汪 洋" userId="e3900b88d2e2fa24" providerId="LiveId" clId="{08E35D9F-0ED0-4B74-84B9-464F39BBA6A7}" dt="2020-09-07T13:55:50.100" v="428"/>
        <pc:sldMkLst>
          <pc:docMk/>
          <pc:sldMk cId="211448655" sldId="321"/>
        </pc:sldMkLst>
        <pc:spChg chg="mod">
          <ac:chgData name="汪 洋" userId="e3900b88d2e2fa24" providerId="LiveId" clId="{08E35D9F-0ED0-4B74-84B9-464F39BBA6A7}" dt="2020-09-07T13:55:50.100" v="428"/>
          <ac:spMkLst>
            <pc:docMk/>
            <pc:sldMk cId="211448655" sldId="321"/>
            <ac:spMk id="2" creationId="{0445E3D5-3376-48D4-83C5-8A6EC8592AFB}"/>
          </ac:spMkLst>
        </pc:spChg>
        <pc:spChg chg="mod">
          <ac:chgData name="汪 洋" userId="e3900b88d2e2fa24" providerId="LiveId" clId="{08E35D9F-0ED0-4B74-84B9-464F39BBA6A7}" dt="2020-09-07T13:40:02.249" v="18" actId="20577"/>
          <ac:spMkLst>
            <pc:docMk/>
            <pc:sldMk cId="211448655" sldId="32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EE9C6-1DBA-44A5-AEFE-F4337DC359FA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E31C4-AB86-4844-B75B-FC06F64CF4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13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75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2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7741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4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069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004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108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877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169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9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572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187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750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8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40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5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46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92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9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02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4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83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93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08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99592" y="95238"/>
            <a:ext cx="8136904" cy="5300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0070C0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19672" y="4869160"/>
            <a:ext cx="5376799" cy="105362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授课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人：许明珠  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副教授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福建师范大学 地理科学学院 地理信息科学系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7584" y="2780928"/>
            <a:ext cx="7811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第二讲 遥感影像坐标系处理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917EF0-B6FA-4A41-AA73-F0DAE5338A9A}"/>
              </a:ext>
            </a:extLst>
          </p:cNvPr>
          <p:cNvSpPr txBox="1"/>
          <p:nvPr/>
        </p:nvSpPr>
        <p:spPr>
          <a:xfrm>
            <a:off x="10993" y="148804"/>
            <a:ext cx="4878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遥感概论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必修课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20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27"/>
    </mc:Choice>
    <mc:Fallback xmlns="">
      <p:transition spd="slow" advTm="436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B2DA66D1-B71C-4CAC-A8A8-83F8BE0A79D0}"/>
              </a:ext>
            </a:extLst>
          </p:cNvPr>
          <p:cNvSpPr txBox="1"/>
          <p:nvPr/>
        </p:nvSpPr>
        <p:spPr>
          <a:xfrm>
            <a:off x="1547664" y="2420888"/>
            <a:ext cx="6336704" cy="2532553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1.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自定义坐标系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坐标系转换</a:t>
            </a:r>
            <a:endParaRPr lang="en-US" altLang="zh-CN" sz="32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28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自定义坐标系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2F36695-E9BB-4A0F-A4D5-C08E25C83EBB}"/>
              </a:ext>
            </a:extLst>
          </p:cNvPr>
          <p:cNvSpPr txBox="1">
            <a:spLocks/>
          </p:cNvSpPr>
          <p:nvPr/>
        </p:nvSpPr>
        <p:spPr>
          <a:xfrm>
            <a:off x="395536" y="1196752"/>
            <a:ext cx="8352928" cy="500186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dirty="0"/>
              <a:t>常用到的地图坐标系有</a:t>
            </a:r>
            <a:r>
              <a:rPr lang="en-US" altLang="zh-CN" dirty="0"/>
              <a:t>2</a:t>
            </a:r>
            <a:r>
              <a:rPr lang="zh-CN" altLang="zh-CN" dirty="0"/>
              <a:t>种，即</a:t>
            </a:r>
            <a:r>
              <a:rPr lang="zh-CN" altLang="zh-CN" dirty="0">
                <a:solidFill>
                  <a:srgbClr val="FF0000"/>
                </a:solidFill>
              </a:rPr>
              <a:t>地理坐标系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FF0000"/>
                </a:solidFill>
              </a:rPr>
              <a:t>投影坐标系</a:t>
            </a:r>
            <a:r>
              <a:rPr lang="zh-CN" altLang="zh-CN" dirty="0"/>
              <a:t>。</a:t>
            </a:r>
            <a:endParaRPr lang="en-US" altLang="zh-CN" dirty="0"/>
          </a:p>
        </p:txBody>
      </p:sp>
      <p:pic>
        <p:nvPicPr>
          <p:cNvPr id="7" name="Picture 2" descr="Earth">
            <a:extLst>
              <a:ext uri="{FF2B5EF4-FFF2-40B4-BE49-F238E27FC236}">
                <a16:creationId xmlns:a16="http://schemas.microsoft.com/office/drawing/2014/main" id="{580EE359-CDCC-43F4-88BB-E142A5B66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636912"/>
            <a:ext cx="2436270" cy="2520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37B628-022C-4046-98EF-2F5A42A06307}"/>
              </a:ext>
            </a:extLst>
          </p:cNvPr>
          <p:cNvSpPr/>
          <p:nvPr/>
        </p:nvSpPr>
        <p:spPr>
          <a:xfrm>
            <a:off x="446058" y="2564904"/>
            <a:ext cx="562862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地理坐标系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（球面坐标系）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以经纬度为单位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的地球坐标系统，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个重要部分，即</a:t>
            </a:r>
            <a:r>
              <a:rPr lang="zh-CN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地球椭球体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spheroid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zh-CN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大地基准面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datum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hangingPunct="0">
              <a:spcBef>
                <a:spcPts val="1200"/>
              </a:spcBef>
              <a:buFont typeface="Arial" charset="0"/>
              <a:buChar char="–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大地基准面指目前参考椭球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WGS84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参考椭球间的相对位置关系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个平移，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个旋转，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个缩放），可以用其中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个或者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来描述它们之间的关系，每个椭球体都对应一个或多个大地基准面。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3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自定义坐标系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BC3EB20-D7EB-422B-AF9D-AA632BE7CD37}"/>
              </a:ext>
            </a:extLst>
          </p:cNvPr>
          <p:cNvSpPr txBox="1">
            <a:spLocks/>
          </p:cNvSpPr>
          <p:nvPr/>
        </p:nvSpPr>
        <p:spPr>
          <a:xfrm>
            <a:off x="323528" y="1196752"/>
            <a:ext cx="4464496" cy="500186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800" dirty="0">
                <a:solidFill>
                  <a:srgbClr val="FF0000"/>
                </a:solidFill>
              </a:rPr>
              <a:t>投影坐标系</a:t>
            </a:r>
            <a:r>
              <a:rPr lang="zh-CN" altLang="zh-CN" sz="2800" dirty="0"/>
              <a:t>是利用一定的数学法则把地球表面上的经纬线网表示到平面上，属于</a:t>
            </a:r>
            <a:r>
              <a:rPr lang="zh-CN" altLang="zh-CN" sz="2800" dirty="0">
                <a:solidFill>
                  <a:srgbClr val="FF0000"/>
                </a:solidFill>
              </a:rPr>
              <a:t>平面坐标系</a:t>
            </a:r>
            <a:r>
              <a:rPr lang="zh-CN" altLang="zh-CN" sz="2800" dirty="0"/>
              <a:t>。数学法则指的是投影类型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zh-CN" sz="2800" dirty="0"/>
              <a:t>目前我国普遍采用的是</a:t>
            </a:r>
            <a:r>
              <a:rPr lang="zh-CN" altLang="zh-CN" sz="2800" dirty="0">
                <a:solidFill>
                  <a:srgbClr val="FF0000"/>
                </a:solidFill>
              </a:rPr>
              <a:t>高斯——克吕格投影</a:t>
            </a:r>
            <a:r>
              <a:rPr lang="zh-CN" altLang="zh-CN" sz="2800" dirty="0"/>
              <a:t>（圆柱等角投影），在英美国家称为横轴墨卡托投影（</a:t>
            </a:r>
            <a:r>
              <a:rPr lang="en-US" altLang="zh-CN" sz="2800" dirty="0"/>
              <a:t>Transverse Mercator</a:t>
            </a:r>
            <a:r>
              <a:rPr lang="zh-CN" altLang="zh-CN" sz="2800" dirty="0"/>
              <a:t>）。</a:t>
            </a:r>
            <a:endParaRPr lang="zh-CN" altLang="en-US" sz="2800" dirty="0"/>
          </a:p>
          <a:p>
            <a:endParaRPr lang="zh-CN" altLang="en-US" sz="2800" dirty="0"/>
          </a:p>
        </p:txBody>
      </p:sp>
      <p:pic>
        <p:nvPicPr>
          <p:cNvPr id="10" name="Picture 2" descr="投影">
            <a:extLst>
              <a:ext uri="{FF2B5EF4-FFF2-40B4-BE49-F238E27FC236}">
                <a16:creationId xmlns:a16="http://schemas.microsoft.com/office/drawing/2014/main" id="{629B07FF-8C03-4DD4-8914-1D18E5D8BD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0" t="7057" r="10841" b="5968"/>
          <a:stretch/>
        </p:blipFill>
        <p:spPr bwMode="auto">
          <a:xfrm>
            <a:off x="5148064" y="956255"/>
            <a:ext cx="3744416" cy="315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 descr="高斯投影1">
            <a:extLst>
              <a:ext uri="{FF2B5EF4-FFF2-40B4-BE49-F238E27FC236}">
                <a16:creationId xmlns:a16="http://schemas.microsoft.com/office/drawing/2014/main" id="{686B32CF-AB10-4F59-A6BC-47BD2F237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155" y="4131109"/>
            <a:ext cx="37433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1A3D2A-3BE6-4B7F-8E7F-03C6EC22B971}"/>
              </a:ext>
            </a:extLst>
          </p:cNvPr>
          <p:cNvSpPr/>
          <p:nvPr/>
        </p:nvSpPr>
        <p:spPr>
          <a:xfrm>
            <a:off x="5220072" y="6112251"/>
            <a:ext cx="22317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600" b="1" dirty="0"/>
              <a:t>高斯—克吕格投影示意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7887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自定义坐标系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A743E85-A6A3-4AA1-A6F2-0B30980B6A38}"/>
              </a:ext>
            </a:extLst>
          </p:cNvPr>
          <p:cNvSpPr txBox="1">
            <a:spLocks/>
          </p:cNvSpPr>
          <p:nvPr/>
        </p:nvSpPr>
        <p:spPr>
          <a:xfrm>
            <a:off x="683568" y="1268760"/>
            <a:ext cx="8064896" cy="500186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000" dirty="0"/>
              <a:t>北京</a:t>
            </a:r>
            <a:r>
              <a:rPr lang="en-US" altLang="zh-CN" sz="2000" dirty="0"/>
              <a:t>54</a:t>
            </a:r>
            <a:r>
              <a:rPr lang="zh-CN" altLang="zh-CN" sz="2000" dirty="0"/>
              <a:t>或者西安</a:t>
            </a:r>
            <a:r>
              <a:rPr lang="en-US" altLang="zh-CN" sz="2000" dirty="0"/>
              <a:t>80</a:t>
            </a:r>
            <a:r>
              <a:rPr lang="zh-CN" altLang="zh-CN" sz="2000" dirty="0"/>
              <a:t>坐标系是投影直角坐标系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zh-CN" sz="2000" dirty="0"/>
              <a:t>北京</a:t>
            </a:r>
            <a:r>
              <a:rPr lang="en-US" altLang="zh-CN" sz="2000" dirty="0"/>
              <a:t>54</a:t>
            </a:r>
            <a:r>
              <a:rPr lang="zh-CN" altLang="zh-CN" sz="2000" dirty="0"/>
              <a:t>坐标系、西安</a:t>
            </a:r>
            <a:r>
              <a:rPr lang="en-US" altLang="zh-CN" sz="2000" dirty="0"/>
              <a:t>80</a:t>
            </a:r>
            <a:r>
              <a:rPr lang="zh-CN" altLang="zh-CN" sz="2000" dirty="0"/>
              <a:t>坐标系实际上指的是我国的两个大地基准面</a:t>
            </a:r>
            <a:endParaRPr lang="en-US" altLang="zh-CN" sz="2000" dirty="0"/>
          </a:p>
          <a:p>
            <a:endParaRPr lang="en-US" altLang="zh-CN" dirty="0"/>
          </a:p>
          <a:p>
            <a:endParaRPr lang="zh-CN" altLang="zh-CN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E35915D-63F3-40E1-99BC-350BEE335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308154"/>
              </p:ext>
            </p:extLst>
          </p:nvPr>
        </p:nvGraphicFramePr>
        <p:xfrm>
          <a:off x="971600" y="1772816"/>
          <a:ext cx="7416824" cy="1552867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1211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6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坐标名称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投影类型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椭球体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基准面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北京</a:t>
                      </a:r>
                      <a:r>
                        <a:rPr lang="en-US" sz="1600" b="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54</a:t>
                      </a:r>
                      <a:endParaRPr lang="zh-CN" sz="1600" b="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Gauss Kruger</a:t>
                      </a:r>
                      <a:r>
                        <a:rPr lang="zh-CN" sz="1600" b="0" kern="100" dirty="0">
                          <a:effectLst/>
                        </a:rPr>
                        <a:t>（</a:t>
                      </a:r>
                      <a:r>
                        <a:rPr lang="en-US" sz="1600" b="0" kern="100" dirty="0">
                          <a:effectLst/>
                        </a:rPr>
                        <a:t>Transverse Mercator</a:t>
                      </a:r>
                      <a:r>
                        <a:rPr lang="zh-CN" sz="1600" b="0" kern="100" dirty="0">
                          <a:effectLst/>
                        </a:rPr>
                        <a:t>）</a:t>
                      </a:r>
                      <a:endParaRPr lang="zh-CN" sz="1600" b="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 err="1">
                          <a:effectLst/>
                        </a:rPr>
                        <a:t>Krasovsky</a:t>
                      </a:r>
                      <a:endParaRPr lang="zh-CN" sz="1600" b="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D_Beijing_1954</a:t>
                      </a:r>
                      <a:endParaRPr lang="zh-CN" sz="1600" b="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西安</a:t>
                      </a:r>
                      <a:r>
                        <a:rPr lang="en-US" sz="1600" b="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80</a:t>
                      </a:r>
                      <a:endParaRPr lang="zh-CN" sz="1600" b="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effectLst/>
                        </a:rPr>
                        <a:t>Gauss Kruger</a:t>
                      </a:r>
                      <a:r>
                        <a:rPr lang="zh-CN" sz="1600" b="0" kern="100" dirty="0">
                          <a:effectLst/>
                        </a:rPr>
                        <a:t>（</a:t>
                      </a:r>
                      <a:r>
                        <a:rPr lang="en-US" sz="1600" b="0" kern="100" dirty="0">
                          <a:effectLst/>
                        </a:rPr>
                        <a:t>Transverse Mercator</a:t>
                      </a:r>
                      <a:r>
                        <a:rPr lang="zh-CN" sz="1600" b="0" kern="100" dirty="0">
                          <a:effectLst/>
                        </a:rPr>
                        <a:t>）</a:t>
                      </a:r>
                      <a:endParaRPr lang="zh-CN" sz="1600" b="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Xian_1980</a:t>
                      </a:r>
                      <a:endParaRPr lang="zh-CN" sz="1600" b="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D_Xian_1980</a:t>
                      </a:r>
                      <a:endParaRPr lang="zh-CN" sz="1600" b="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宋体" pitchFamily="2" charset="-122"/>
                          <a:ea typeface="宋体" pitchFamily="2" charset="-122"/>
                          <a:cs typeface="Times New Roman"/>
                        </a:rPr>
                        <a:t>2000</a:t>
                      </a:r>
                      <a:r>
                        <a:rPr lang="zh-CN" altLang="en-US" sz="1600" b="0" kern="100" dirty="0">
                          <a:effectLst/>
                          <a:latin typeface="宋体" pitchFamily="2" charset="-122"/>
                          <a:ea typeface="宋体" pitchFamily="2" charset="-122"/>
                          <a:cs typeface="Times New Roman"/>
                        </a:rPr>
                        <a:t>坐标系</a:t>
                      </a:r>
                      <a:endParaRPr lang="zh-CN" sz="1600" b="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00" dirty="0">
                          <a:effectLst/>
                        </a:rPr>
                        <a:t>Gauss Kruger</a:t>
                      </a:r>
                      <a:r>
                        <a:rPr lang="zh-CN" altLang="zh-CN" sz="1600" b="0" kern="100" dirty="0">
                          <a:effectLst/>
                        </a:rPr>
                        <a:t>（</a:t>
                      </a:r>
                      <a:r>
                        <a:rPr lang="en-US" altLang="zh-CN" sz="1600" b="0" kern="100" dirty="0">
                          <a:effectLst/>
                        </a:rPr>
                        <a:t>Transverse Mercator</a:t>
                      </a:r>
                      <a:r>
                        <a:rPr lang="zh-CN" altLang="zh-CN" sz="1600" b="0" kern="100" dirty="0">
                          <a:effectLst/>
                        </a:rPr>
                        <a:t>）</a:t>
                      </a:r>
                      <a:endParaRPr lang="zh-CN" altLang="zh-CN" sz="1600" b="0" kern="100" dirty="0">
                        <a:effectLst/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b="0" kern="1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CGCS2000</a:t>
                      </a:r>
                      <a:endParaRPr lang="zh-CN" sz="1600" b="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D_China_2000</a:t>
                      </a:r>
                      <a:endParaRPr lang="zh-CN" sz="1600" b="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97DFD78-2519-4E62-BE49-7112EB3B7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195557"/>
              </p:ext>
            </p:extLst>
          </p:nvPr>
        </p:nvGraphicFramePr>
        <p:xfrm>
          <a:off x="971600" y="4077072"/>
          <a:ext cx="7416824" cy="189021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8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0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椭球体名称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年代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长半轴（米）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短半轴（米）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扁率</a:t>
                      </a:r>
                      <a:endParaRPr lang="zh-CN" sz="1600" b="1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WGS84</a:t>
                      </a:r>
                      <a:endParaRPr lang="zh-CN" sz="16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1984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6378137.0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6356752.3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zh-CN" sz="1600" kern="100" dirty="0">
                          <a:effectLst/>
                        </a:rPr>
                        <a:t>：</a:t>
                      </a:r>
                      <a:r>
                        <a:rPr lang="en-US" sz="1600" kern="100" dirty="0">
                          <a:effectLst/>
                        </a:rPr>
                        <a:t>298.257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克拉索夫斯基（</a:t>
                      </a:r>
                      <a:r>
                        <a:rPr lang="en-US" sz="1600" kern="100" dirty="0" err="1">
                          <a:effectLst/>
                          <a:latin typeface="宋体" pitchFamily="2" charset="-122"/>
                          <a:ea typeface="宋体" pitchFamily="2" charset="-122"/>
                        </a:rPr>
                        <a:t>Krasovsky</a:t>
                      </a:r>
                      <a:r>
                        <a:rPr lang="zh-CN" sz="1600" kern="100" dirty="0">
                          <a:effectLst/>
                          <a:latin typeface="宋体" pitchFamily="2" charset="-122"/>
                          <a:ea typeface="宋体" pitchFamily="2" charset="-122"/>
                        </a:rPr>
                        <a:t>）</a:t>
                      </a:r>
                      <a:endParaRPr lang="zh-CN" sz="16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1940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6378245.0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6356863.0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zh-CN" sz="1600" kern="100" dirty="0">
                          <a:effectLst/>
                        </a:rPr>
                        <a:t>：</a:t>
                      </a:r>
                      <a:r>
                        <a:rPr lang="en-US" sz="1600" kern="100" dirty="0">
                          <a:effectLst/>
                        </a:rPr>
                        <a:t>298.3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Xian_1980</a:t>
                      </a:r>
                      <a:endParaRPr lang="zh-CN" sz="1600" kern="100" dirty="0">
                        <a:effectLst/>
                        <a:latin typeface="宋体" pitchFamily="2" charset="-122"/>
                        <a:ea typeface="宋体" pitchFamily="2" charset="-122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1980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600" kern="100" dirty="0">
                          <a:effectLst/>
                        </a:rPr>
                        <a:t>6378140.0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de-DE" sz="1600" kern="100" dirty="0">
                          <a:effectLst/>
                        </a:rPr>
                        <a:t>6356755.3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</a:t>
                      </a:r>
                      <a:r>
                        <a:rPr lang="zh-CN" sz="1600" kern="100" dirty="0">
                          <a:effectLst/>
                        </a:rPr>
                        <a:t>：</a:t>
                      </a:r>
                      <a:r>
                        <a:rPr lang="en-US" sz="1600" kern="100" dirty="0">
                          <a:effectLst/>
                        </a:rPr>
                        <a:t>298.257</a:t>
                      </a:r>
                      <a:endParaRPr lang="zh-CN" sz="1600" kern="100" dirty="0"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chemeClr val="lt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+mn-cs"/>
                        </a:rPr>
                        <a:t>CGCS2000(CRS80)</a:t>
                      </a:r>
                      <a:endParaRPr lang="zh-CN" sz="1600" b="1" kern="100" dirty="0">
                        <a:solidFill>
                          <a:schemeClr val="lt1"/>
                        </a:solidFill>
                        <a:effectLst/>
                        <a:latin typeface="宋体" pitchFamily="2" charset="-122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2008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6378137.0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6356752.3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298.257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2F897011-B0A5-4409-8A06-19F78F4FEEC7}"/>
              </a:ext>
            </a:extLst>
          </p:cNvPr>
          <p:cNvSpPr txBox="1"/>
          <p:nvPr/>
        </p:nvSpPr>
        <p:spPr>
          <a:xfrm>
            <a:off x="2051720" y="6253020"/>
            <a:ext cx="4958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注：西安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坐标系椭球体由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IAG-75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Xian_1980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846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自定义坐标系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A5D4AC2-E1E7-4492-B317-DBDE79AD6CC4}"/>
              </a:ext>
            </a:extLst>
          </p:cNvPr>
          <p:cNvSpPr txBox="1">
            <a:spLocks/>
          </p:cNvSpPr>
          <p:nvPr/>
        </p:nvSpPr>
        <p:spPr>
          <a:xfrm>
            <a:off x="683568" y="1268760"/>
            <a:ext cx="8064896" cy="500186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>
                <a:solidFill>
                  <a:srgbClr val="FF0000"/>
                </a:solidFill>
              </a:rPr>
              <a:t>2000</a:t>
            </a:r>
            <a:r>
              <a:rPr lang="zh-CN" altLang="zh-CN" sz="2200" dirty="0">
                <a:solidFill>
                  <a:srgbClr val="FF0000"/>
                </a:solidFill>
              </a:rPr>
              <a:t>国家大地坐标系</a:t>
            </a:r>
            <a:r>
              <a:rPr lang="zh-CN" altLang="en-US" sz="2200" dirty="0">
                <a:solidFill>
                  <a:srgbClr val="FF0000"/>
                </a:solidFill>
              </a:rPr>
              <a:t>（</a:t>
            </a:r>
            <a:r>
              <a:rPr lang="en-US" altLang="zh-CN" sz="2200" dirty="0">
                <a:solidFill>
                  <a:srgbClr val="FF0000"/>
                </a:solidFill>
              </a:rPr>
              <a:t>CGCS2000</a:t>
            </a:r>
            <a:r>
              <a:rPr lang="zh-CN" altLang="en-US" sz="2200" dirty="0">
                <a:solidFill>
                  <a:srgbClr val="FF0000"/>
                </a:solidFill>
              </a:rPr>
              <a:t>）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China Geodetic Coordinate System 2000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200" dirty="0"/>
              <a:t>CGCS2000</a:t>
            </a:r>
            <a:r>
              <a:rPr lang="zh-CN" altLang="zh-CN" sz="2200" dirty="0"/>
              <a:t>是全球地心坐标系在我国的具体体现，其原点为包括海洋和大气的整个地球的质量中心，</a:t>
            </a:r>
            <a:r>
              <a:rPr lang="en-US" altLang="zh-CN" sz="2200" dirty="0">
                <a:solidFill>
                  <a:srgbClr val="FF0000"/>
                </a:solidFill>
              </a:rPr>
              <a:t>CGCS2000</a:t>
            </a:r>
            <a:r>
              <a:rPr lang="zh-CN" altLang="zh-CN" sz="2200" dirty="0">
                <a:solidFill>
                  <a:srgbClr val="FF0000"/>
                </a:solidFill>
              </a:rPr>
              <a:t>是我国当前最新的国家大地坐标系</a:t>
            </a:r>
            <a:r>
              <a:rPr lang="zh-CN" altLang="zh-CN" sz="2200" dirty="0"/>
              <a:t>。</a:t>
            </a:r>
            <a:endParaRPr lang="en-US" altLang="zh-CN" sz="2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200" dirty="0"/>
              <a:t>采用的椭球体参数：</a:t>
            </a:r>
            <a:endParaRPr lang="en-US" altLang="zh-CN" sz="22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长半轴</a:t>
            </a:r>
            <a:r>
              <a:rPr lang="en-US" altLang="zh-CN" sz="2000" dirty="0"/>
              <a:t>		a=6378137m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扁率</a:t>
            </a:r>
            <a:r>
              <a:rPr lang="en-US" altLang="zh-CN" sz="2000" dirty="0"/>
              <a:t>		f=1/298.257222101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地心引力常数</a:t>
            </a:r>
            <a:r>
              <a:rPr lang="en-US" altLang="zh-CN" sz="2000" dirty="0"/>
              <a:t>	GM=3.986004418×1014m3s-2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自转角速度</a:t>
            </a:r>
            <a:r>
              <a:rPr lang="en-US" altLang="zh-CN" sz="2000" dirty="0"/>
              <a:t>	</a:t>
            </a:r>
            <a:r>
              <a:rPr lang="el-GR" altLang="zh-CN" sz="2000" dirty="0"/>
              <a:t>ω=7.292</a:t>
            </a:r>
            <a:r>
              <a:rPr lang="en-US" altLang="zh-CN" sz="2000" dirty="0"/>
              <a:t>l15×10-5rad s-1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2319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5EADA1CC-CB3E-4FA1-9C50-B3B08CE28966}"/>
              </a:ext>
            </a:extLst>
          </p:cNvPr>
          <p:cNvSpPr txBox="1">
            <a:spLocks/>
          </p:cNvSpPr>
          <p:nvPr/>
        </p:nvSpPr>
        <p:spPr>
          <a:xfrm>
            <a:off x="683568" y="1268760"/>
            <a:ext cx="8064896" cy="500186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zh-CN" sz="2200"/>
              <a:t>坐标定义文件</a:t>
            </a:r>
            <a:r>
              <a:rPr lang="zh-CN" altLang="en-US" sz="2200"/>
              <a:t>：</a:t>
            </a:r>
            <a:endParaRPr lang="en-US" altLang="zh-CN" sz="220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…\Exelis\ENVIXX\classic\map_proj</a:t>
            </a:r>
            <a:r>
              <a:rPr lang="zh-CN" altLang="zh-CN"/>
              <a:t>文件夹下</a:t>
            </a:r>
            <a:endParaRPr lang="en-US" altLang="zh-CN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zh-CN"/>
              <a:t>三个文件记录了坐标信息：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ellipse.txt    </a:t>
            </a:r>
            <a:r>
              <a:rPr lang="zh-CN" altLang="zh-CN"/>
              <a:t>椭球体参数文件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datum.txt      </a:t>
            </a:r>
            <a:r>
              <a:rPr lang="zh-CN" altLang="zh-CN"/>
              <a:t>基准面参数文件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altLang="zh-CN"/>
              <a:t>map_proj.txt   </a:t>
            </a:r>
            <a:r>
              <a:rPr lang="zh-CN" altLang="zh-CN"/>
              <a:t>坐标系参数文件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197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CBDD2D4-14AB-4A48-9250-07D80791E0DF}"/>
              </a:ext>
            </a:extLst>
          </p:cNvPr>
          <p:cNvSpPr txBox="1">
            <a:spLocks/>
          </p:cNvSpPr>
          <p:nvPr/>
        </p:nvSpPr>
        <p:spPr>
          <a:xfrm>
            <a:off x="683568" y="1268760"/>
            <a:ext cx="8064896" cy="500186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200"/>
              <a:t>添加椭球体</a:t>
            </a:r>
            <a:endParaRPr lang="en-US" altLang="zh-CN" sz="220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200"/>
              <a:t>添加基准面</a:t>
            </a:r>
            <a:endParaRPr lang="en-US" altLang="zh-CN" sz="220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200"/>
              <a:t>定义坐标系</a:t>
            </a:r>
            <a:endParaRPr lang="en-US" altLang="zh-CN" sz="220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200"/>
              <a:t>使用坐标系</a:t>
            </a:r>
            <a:endParaRPr lang="en-US" altLang="zh-CN" sz="220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200"/>
              <a:t>使用</a:t>
            </a:r>
            <a:r>
              <a:rPr lang="en-US" altLang="zh-CN" sz="2200"/>
              <a:t>ArcGIS</a:t>
            </a:r>
            <a:r>
              <a:rPr lang="zh-CN" altLang="en-US" sz="2200"/>
              <a:t>国内坐标系</a:t>
            </a:r>
            <a:endParaRPr lang="en-US" altLang="zh-CN" sz="2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9285F6-A87A-4E97-A5EB-77858664408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80012" y="908720"/>
            <a:ext cx="4176464" cy="42995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C66233-C837-4750-9233-7ADD2E02C5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95936" y="2920090"/>
            <a:ext cx="4257275" cy="391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34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B2DA66D1-B71C-4CAC-A8A8-83F8BE0A79D0}"/>
              </a:ext>
            </a:extLst>
          </p:cNvPr>
          <p:cNvSpPr txBox="1"/>
          <p:nvPr/>
        </p:nvSpPr>
        <p:spPr>
          <a:xfrm>
            <a:off x="1547664" y="2420888"/>
            <a:ext cx="6336704" cy="2532553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自定义坐标系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2.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坐标系转换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049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1A5309-EAB5-42F3-BA4E-CAFB29A8F3BA}"/>
              </a:ext>
            </a:extLst>
          </p:cNvPr>
          <p:cNvSpPr txBox="1">
            <a:spLocks/>
          </p:cNvSpPr>
          <p:nvPr/>
        </p:nvSpPr>
        <p:spPr>
          <a:xfrm>
            <a:off x="251520" y="1000298"/>
            <a:ext cx="8892480" cy="53905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打开</a:t>
            </a:r>
            <a:r>
              <a:rPr lang="en-US" altLang="zh-CN" dirty="0"/>
              <a:t>MODIS</a:t>
            </a:r>
            <a:r>
              <a:rPr lang="zh-CN" altLang="en-US" dirty="0"/>
              <a:t>数据（上机</a:t>
            </a:r>
            <a:r>
              <a:rPr lang="en-US" altLang="zh-CN" dirty="0"/>
              <a:t>1</a:t>
            </a:r>
            <a:r>
              <a:rPr lang="zh-CN" altLang="en-US" dirty="0"/>
              <a:t>提供的数据）</a:t>
            </a:r>
            <a:endParaRPr lang="en-US" altLang="zh-CN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000" dirty="0"/>
              <a:t>MOD09A1.A2020265.h28v06.006.2020280043053.hdf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RGB</a:t>
            </a:r>
            <a:r>
              <a:rPr lang="zh-CN" altLang="en-US" dirty="0"/>
              <a:t>配色后转换投影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en-US" altLang="zh-CN" sz="2400" dirty="0"/>
              <a:t>WGS84</a:t>
            </a:r>
            <a:r>
              <a:rPr lang="zh-CN" altLang="en-US" sz="2400" dirty="0"/>
              <a:t>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zh-CN" altLang="en-US" sz="2400" dirty="0"/>
              <a:t>北京</a:t>
            </a:r>
            <a:r>
              <a:rPr lang="en-US" altLang="zh-CN" sz="2400" dirty="0"/>
              <a:t>54</a:t>
            </a:r>
            <a:r>
              <a:rPr lang="zh-CN" altLang="en-US" sz="2400" dirty="0"/>
              <a:t>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zh-CN" altLang="en-US" sz="2400" dirty="0"/>
              <a:t>西安</a:t>
            </a:r>
            <a:r>
              <a:rPr lang="en-US" altLang="zh-CN" sz="2400" dirty="0"/>
              <a:t>80</a:t>
            </a:r>
            <a:r>
              <a:rPr lang="zh-CN" altLang="en-US" sz="2400" dirty="0"/>
              <a:t>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zh-CN" altLang="en-US" sz="2400" dirty="0"/>
              <a:t>大地</a:t>
            </a:r>
            <a:r>
              <a:rPr lang="en-US" altLang="zh-CN" sz="2400" dirty="0"/>
              <a:t>2000</a:t>
            </a:r>
            <a:r>
              <a:rPr lang="zh-CN" altLang="en-US" sz="2400" dirty="0"/>
              <a:t>投影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CB2107-B28C-4D1C-BF94-0170266E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362" y="2852936"/>
            <a:ext cx="3744416" cy="32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16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1A5309-EAB5-42F3-BA4E-CAFB29A8F3BA}"/>
              </a:ext>
            </a:extLst>
          </p:cNvPr>
          <p:cNvSpPr txBox="1">
            <a:spLocks/>
          </p:cNvSpPr>
          <p:nvPr/>
        </p:nvSpPr>
        <p:spPr>
          <a:xfrm>
            <a:off x="251520" y="1000298"/>
            <a:ext cx="8892480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打开</a:t>
            </a:r>
            <a:r>
              <a:rPr lang="en-US" altLang="zh-CN" dirty="0"/>
              <a:t>Landsat</a:t>
            </a:r>
            <a:r>
              <a:rPr lang="zh-CN" altLang="en-US" dirty="0"/>
              <a:t>数据（上机</a:t>
            </a:r>
            <a:r>
              <a:rPr lang="en-US" altLang="zh-CN" dirty="0"/>
              <a:t>1</a:t>
            </a:r>
            <a:r>
              <a:rPr lang="zh-CN" altLang="en-US" dirty="0"/>
              <a:t>提供的数据）</a:t>
            </a:r>
            <a:endParaRPr lang="en-US" altLang="zh-CN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en-US" altLang="zh-CN" sz="2000" dirty="0"/>
              <a:t>LC81270362013256LGN00.tar.gz</a:t>
            </a:r>
            <a:r>
              <a:rPr lang="zh-CN" altLang="en-US" sz="2000" dirty="0"/>
              <a:t>（数据需要解压）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dirty="0"/>
              <a:t>RGB</a:t>
            </a:r>
            <a:r>
              <a:rPr lang="zh-CN" altLang="en-US" dirty="0"/>
              <a:t>配色后转换投影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en-US" altLang="zh-CN" sz="2400" dirty="0"/>
              <a:t>MODIS</a:t>
            </a:r>
            <a:r>
              <a:rPr lang="zh-CN" altLang="en-US" sz="2400" dirty="0"/>
              <a:t>正弦投影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zh-CN" altLang="en-US" sz="2400" dirty="0"/>
              <a:t>北京</a:t>
            </a:r>
            <a:r>
              <a:rPr lang="en-US" altLang="zh-CN" sz="2400" dirty="0"/>
              <a:t>54</a:t>
            </a:r>
            <a:r>
              <a:rPr lang="zh-CN" altLang="en-US" sz="2400" dirty="0"/>
              <a:t>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zh-CN" altLang="en-US" sz="2400" dirty="0"/>
              <a:t>西安</a:t>
            </a:r>
            <a:r>
              <a:rPr lang="en-US" altLang="zh-CN" sz="2400" dirty="0"/>
              <a:t>80</a:t>
            </a:r>
            <a:r>
              <a:rPr lang="zh-CN" altLang="en-US" sz="2400" dirty="0"/>
              <a:t>投影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zh-CN" altLang="en-US" sz="2400" dirty="0"/>
              <a:t>大地</a:t>
            </a:r>
            <a:r>
              <a:rPr lang="en-US" altLang="zh-CN" sz="2400" dirty="0"/>
              <a:t>2000</a:t>
            </a:r>
            <a:r>
              <a:rPr lang="zh-CN" altLang="en-US" sz="2400" dirty="0"/>
              <a:t>投影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CB2107-B28C-4D1C-BF94-0170266E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140968"/>
            <a:ext cx="3744416" cy="32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87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DA463-9EAB-43F0-B3F4-FE635B290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31" y="2047682"/>
            <a:ext cx="833553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28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7203</TotalTime>
  <Words>586</Words>
  <Application>Microsoft Office PowerPoint</Application>
  <PresentationFormat>全屏显示(4:3)</PresentationFormat>
  <Paragraphs>116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Gulim</vt:lpstr>
      <vt:lpstr>宋体</vt:lpstr>
      <vt:lpstr>宋体</vt:lpstr>
      <vt:lpstr>微软雅黑</vt:lpstr>
      <vt:lpstr>Arial</vt:lpstr>
      <vt:lpstr>Calibri</vt:lpstr>
      <vt:lpstr>Times New Roman</vt:lpstr>
      <vt:lpstr>1_Office 主题​​</vt:lpstr>
      <vt:lpstr>PowerPoint 演示文稿</vt:lpstr>
      <vt:lpstr>                           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         目 录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Rong Shang</dc:creator>
  <cp:lastModifiedBy>XuM</cp:lastModifiedBy>
  <cp:revision>441</cp:revision>
  <dcterms:created xsi:type="dcterms:W3CDTF">2015-11-30T10:41:40Z</dcterms:created>
  <dcterms:modified xsi:type="dcterms:W3CDTF">2026-09-22T01:28:57Z</dcterms:modified>
</cp:coreProperties>
</file>