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8"/>
  </p:notesMasterIdLst>
  <p:sldIdLst>
    <p:sldId id="284" r:id="rId2"/>
    <p:sldId id="257" r:id="rId3"/>
    <p:sldId id="372" r:id="rId4"/>
    <p:sldId id="376" r:id="rId5"/>
    <p:sldId id="373" r:id="rId6"/>
    <p:sldId id="377" r:id="rId7"/>
    <p:sldId id="374" r:id="rId8"/>
    <p:sldId id="371" r:id="rId9"/>
    <p:sldId id="375" r:id="rId10"/>
    <p:sldId id="378" r:id="rId11"/>
    <p:sldId id="379" r:id="rId12"/>
    <p:sldId id="380" r:id="rId13"/>
    <p:sldId id="381" r:id="rId14"/>
    <p:sldId id="382" r:id="rId15"/>
    <p:sldId id="383" r:id="rId16"/>
    <p:sldId id="289"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B71DD"/>
    <a:srgbClr val="0099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5" autoAdjust="0"/>
    <p:restoredTop sz="76002" autoAdjust="0"/>
  </p:normalViewPr>
  <p:slideViewPr>
    <p:cSldViewPr>
      <p:cViewPr varScale="1">
        <p:scale>
          <a:sx n="55" d="100"/>
          <a:sy n="55" d="100"/>
        </p:scale>
        <p:origin x="74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汪 洋" userId="e3900b88d2e2fa24" providerId="LiveId" clId="{08E35D9F-0ED0-4B74-84B9-464F39BBA6A7}"/>
    <pc:docChg chg="addSld delSld modSld sldOrd">
      <pc:chgData name="汪 洋" userId="e3900b88d2e2fa24" providerId="LiveId" clId="{08E35D9F-0ED0-4B74-84B9-464F39BBA6A7}" dt="2020-09-07T13:55:50.100" v="428"/>
      <pc:docMkLst>
        <pc:docMk/>
      </pc:docMkLst>
      <pc:sldChg chg="modSp mod ord">
        <pc:chgData name="汪 洋" userId="e3900b88d2e2fa24" providerId="LiveId" clId="{08E35D9F-0ED0-4B74-84B9-464F39BBA6A7}" dt="2020-09-07T13:51:32.158" v="413"/>
        <pc:sldMkLst>
          <pc:docMk/>
          <pc:sldMk cId="1307204450" sldId="284"/>
        </pc:sldMkLst>
        <pc:spChg chg="mod">
          <ac:chgData name="汪 洋" userId="e3900b88d2e2fa24" providerId="LiveId" clId="{08E35D9F-0ED0-4B74-84B9-464F39BBA6A7}" dt="2020-09-07T13:39:29.684" v="5" actId="20577"/>
          <ac:spMkLst>
            <pc:docMk/>
            <pc:sldMk cId="1307204450" sldId="284"/>
            <ac:spMk id="10" creationId="{00000000-0000-0000-0000-000000000000}"/>
          </ac:spMkLst>
        </pc:spChg>
      </pc:sldChg>
      <pc:sldChg chg="del">
        <pc:chgData name="汪 洋" userId="e3900b88d2e2fa24" providerId="LiveId" clId="{08E35D9F-0ED0-4B74-84B9-464F39BBA6A7}" dt="2020-09-07T13:39:50.326" v="7" actId="47"/>
        <pc:sldMkLst>
          <pc:docMk/>
          <pc:sldMk cId="2074537963" sldId="291"/>
        </pc:sldMkLst>
      </pc:sldChg>
      <pc:sldChg chg="modSp add mod">
        <pc:chgData name="汪 洋" userId="e3900b88d2e2fa24" providerId="LiveId" clId="{08E35D9F-0ED0-4B74-84B9-464F39BBA6A7}" dt="2020-09-07T13:55:50.100" v="428"/>
        <pc:sldMkLst>
          <pc:docMk/>
          <pc:sldMk cId="211448655" sldId="321"/>
        </pc:sldMkLst>
        <pc:spChg chg="mod">
          <ac:chgData name="汪 洋" userId="e3900b88d2e2fa24" providerId="LiveId" clId="{08E35D9F-0ED0-4B74-84B9-464F39BBA6A7}" dt="2020-09-07T13:55:50.100" v="428"/>
          <ac:spMkLst>
            <pc:docMk/>
            <pc:sldMk cId="211448655" sldId="321"/>
            <ac:spMk id="2" creationId="{0445E3D5-3376-48D4-83C5-8A6EC8592AFB}"/>
          </ac:spMkLst>
        </pc:spChg>
        <pc:spChg chg="mod">
          <ac:chgData name="汪 洋" userId="e3900b88d2e2fa24" providerId="LiveId" clId="{08E35D9F-0ED0-4B74-84B9-464F39BBA6A7}" dt="2020-09-07T13:40:02.249" v="18" actId="20577"/>
          <ac:spMkLst>
            <pc:docMk/>
            <pc:sldMk cId="211448655" sldId="32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9EE9C6-1DBA-44A5-AEFE-F4337DC359FA}" type="datetimeFigureOut">
              <a:rPr lang="zh-CN" altLang="en-US" smtClean="0"/>
              <a:t>2026/10/15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0E31C4-AB86-4844-B75B-FC06F64CF47B}" type="slidenum">
              <a:rPr lang="zh-CN" altLang="en-US" smtClean="0"/>
              <a:t>‹#›</a:t>
            </a:fld>
            <a:endParaRPr lang="zh-CN" altLang="en-US"/>
          </a:p>
        </p:txBody>
      </p:sp>
    </p:spTree>
    <p:extLst>
      <p:ext uri="{BB962C8B-B14F-4D97-AF65-F5344CB8AC3E}">
        <p14:creationId xmlns:p14="http://schemas.microsoft.com/office/powerpoint/2010/main" val="2867139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FB0E31C4-AB86-4844-B75B-FC06F64CF47B}" type="slidenum">
              <a:rPr lang="zh-CN" altLang="en-US" smtClean="0"/>
              <a:t>1</a:t>
            </a:fld>
            <a:endParaRPr lang="zh-CN" altLang="en-US"/>
          </a:p>
        </p:txBody>
      </p:sp>
    </p:spTree>
    <p:extLst>
      <p:ext uri="{BB962C8B-B14F-4D97-AF65-F5344CB8AC3E}">
        <p14:creationId xmlns:p14="http://schemas.microsoft.com/office/powerpoint/2010/main" val="946275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p:spPr>
        <p:txBody>
          <a:bodyPr/>
          <a:lstStyle/>
          <a:p>
            <a:endParaRPr lang="zh-CN" altLang="en-US" dirty="0"/>
          </a:p>
        </p:txBody>
      </p:sp>
      <p:sp>
        <p:nvSpPr>
          <p:cNvPr id="97284" name="灯片编号占位符 3"/>
          <p:cNvSpPr>
            <a:spLocks noGrp="1"/>
          </p:cNvSpPr>
          <p:nvPr>
            <p:ph type="sldNum" sz="quarter" idx="5"/>
          </p:nvPr>
        </p:nvSpPr>
        <p:spPr>
          <a:noFill/>
        </p:spPr>
        <p:txBody>
          <a:bodyPr/>
          <a:lstStyle>
            <a:lvl1pPr>
              <a:defRPr sz="1600">
                <a:solidFill>
                  <a:schemeClr val="tx1"/>
                </a:solidFill>
                <a:latin typeface="Times New Roman" pitchFamily="18" charset="0"/>
                <a:ea typeface="Gulim" pitchFamily="34" charset="-127"/>
              </a:defRPr>
            </a:lvl1pPr>
            <a:lvl2pPr marL="742950" indent="-285750">
              <a:defRPr sz="1600">
                <a:solidFill>
                  <a:schemeClr val="tx1"/>
                </a:solidFill>
                <a:latin typeface="Times New Roman" pitchFamily="18" charset="0"/>
                <a:ea typeface="Gulim" pitchFamily="34" charset="-127"/>
              </a:defRPr>
            </a:lvl2pPr>
            <a:lvl3pPr marL="1143000" indent="-228600">
              <a:defRPr sz="1600">
                <a:solidFill>
                  <a:schemeClr val="tx1"/>
                </a:solidFill>
                <a:latin typeface="Times New Roman" pitchFamily="18" charset="0"/>
                <a:ea typeface="Gulim" pitchFamily="34" charset="-127"/>
              </a:defRPr>
            </a:lvl3pPr>
            <a:lvl4pPr marL="1600200" indent="-228600">
              <a:defRPr sz="1600">
                <a:solidFill>
                  <a:schemeClr val="tx1"/>
                </a:solidFill>
                <a:latin typeface="Times New Roman" pitchFamily="18" charset="0"/>
                <a:ea typeface="Gulim" pitchFamily="34" charset="-127"/>
              </a:defRPr>
            </a:lvl4pPr>
            <a:lvl5pPr marL="2057400" indent="-228600">
              <a:defRPr sz="1600">
                <a:solidFill>
                  <a:schemeClr val="tx1"/>
                </a:solidFill>
                <a:latin typeface="Times New Roman" pitchFamily="18" charset="0"/>
                <a:ea typeface="Gulim" pitchFamily="34" charset="-127"/>
              </a:defRPr>
            </a:lvl5pPr>
            <a:lvl6pPr marL="2514600" indent="-228600" eaLnBrk="0" fontAlgn="base" hangingPunct="0">
              <a:spcBef>
                <a:spcPct val="0"/>
              </a:spcBef>
              <a:spcAft>
                <a:spcPct val="0"/>
              </a:spcAft>
              <a:defRPr sz="1600">
                <a:solidFill>
                  <a:schemeClr val="tx1"/>
                </a:solidFill>
                <a:latin typeface="Times New Roman" pitchFamily="18" charset="0"/>
                <a:ea typeface="Gulim" pitchFamily="34" charset="-127"/>
              </a:defRPr>
            </a:lvl6pPr>
            <a:lvl7pPr marL="2971800" indent="-228600" eaLnBrk="0" fontAlgn="base" hangingPunct="0">
              <a:spcBef>
                <a:spcPct val="0"/>
              </a:spcBef>
              <a:spcAft>
                <a:spcPct val="0"/>
              </a:spcAft>
              <a:defRPr sz="1600">
                <a:solidFill>
                  <a:schemeClr val="tx1"/>
                </a:solidFill>
                <a:latin typeface="Times New Roman" pitchFamily="18" charset="0"/>
                <a:ea typeface="Gulim" pitchFamily="34" charset="-127"/>
              </a:defRPr>
            </a:lvl7pPr>
            <a:lvl8pPr marL="3429000" indent="-228600" eaLnBrk="0" fontAlgn="base" hangingPunct="0">
              <a:spcBef>
                <a:spcPct val="0"/>
              </a:spcBef>
              <a:spcAft>
                <a:spcPct val="0"/>
              </a:spcAft>
              <a:defRPr sz="1600">
                <a:solidFill>
                  <a:schemeClr val="tx1"/>
                </a:solidFill>
                <a:latin typeface="Times New Roman" pitchFamily="18" charset="0"/>
                <a:ea typeface="Gulim" pitchFamily="34" charset="-127"/>
              </a:defRPr>
            </a:lvl8pPr>
            <a:lvl9pPr marL="3886200" indent="-228600" eaLnBrk="0" fontAlgn="base" hangingPunct="0">
              <a:spcBef>
                <a:spcPct val="0"/>
              </a:spcBef>
              <a:spcAft>
                <a:spcPct val="0"/>
              </a:spcAft>
              <a:defRPr sz="1600">
                <a:solidFill>
                  <a:schemeClr val="tx1"/>
                </a:solidFill>
                <a:latin typeface="Times New Roman" pitchFamily="18" charset="0"/>
                <a:ea typeface="Gulim" pitchFamily="34" charset="-127"/>
              </a:defRPr>
            </a:lvl9pPr>
          </a:lstStyle>
          <a:p>
            <a:fld id="{E76B7CD0-CC68-45C1-96D8-2E5F29957897}" type="slidenum">
              <a:rPr lang="zh-CN" altLang="en-US" sz="1200" smtClean="0">
                <a:latin typeface="Gulim" pitchFamily="34" charset="-127"/>
              </a:rPr>
              <a:pPr/>
              <a:t>2</a:t>
            </a:fld>
            <a:endParaRPr lang="en-US" altLang="zh-CN" sz="1200">
              <a:latin typeface="Gulim" pitchFamily="34" charset="-127"/>
            </a:endParaRPr>
          </a:p>
        </p:txBody>
      </p:sp>
    </p:spTree>
    <p:extLst>
      <p:ext uri="{BB962C8B-B14F-4D97-AF65-F5344CB8AC3E}">
        <p14:creationId xmlns:p14="http://schemas.microsoft.com/office/powerpoint/2010/main" val="2337741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3</a:t>
            </a:fld>
            <a:endParaRPr lang="zh-CN" altLang="en-US"/>
          </a:p>
        </p:txBody>
      </p:sp>
    </p:spTree>
    <p:extLst>
      <p:ext uri="{BB962C8B-B14F-4D97-AF65-F5344CB8AC3E}">
        <p14:creationId xmlns:p14="http://schemas.microsoft.com/office/powerpoint/2010/main" val="4048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4</a:t>
            </a:fld>
            <a:endParaRPr lang="zh-CN" altLang="en-US"/>
          </a:p>
        </p:txBody>
      </p:sp>
    </p:spTree>
    <p:extLst>
      <p:ext uri="{BB962C8B-B14F-4D97-AF65-F5344CB8AC3E}">
        <p14:creationId xmlns:p14="http://schemas.microsoft.com/office/powerpoint/2010/main" val="220207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5</a:t>
            </a:fld>
            <a:endParaRPr lang="zh-CN" altLang="en-US"/>
          </a:p>
        </p:txBody>
      </p:sp>
    </p:spTree>
    <p:extLst>
      <p:ext uri="{BB962C8B-B14F-4D97-AF65-F5344CB8AC3E}">
        <p14:creationId xmlns:p14="http://schemas.microsoft.com/office/powerpoint/2010/main" val="19078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6</a:t>
            </a:fld>
            <a:endParaRPr lang="zh-CN" altLang="en-US"/>
          </a:p>
        </p:txBody>
      </p:sp>
    </p:spTree>
    <p:extLst>
      <p:ext uri="{BB962C8B-B14F-4D97-AF65-F5344CB8AC3E}">
        <p14:creationId xmlns:p14="http://schemas.microsoft.com/office/powerpoint/2010/main" val="136395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7</a:t>
            </a:fld>
            <a:endParaRPr lang="zh-CN" altLang="en-US"/>
          </a:p>
        </p:txBody>
      </p:sp>
    </p:spTree>
    <p:extLst>
      <p:ext uri="{BB962C8B-B14F-4D97-AF65-F5344CB8AC3E}">
        <p14:creationId xmlns:p14="http://schemas.microsoft.com/office/powerpoint/2010/main" val="30246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p:spPr>
        <p:txBody>
          <a:bodyPr/>
          <a:lstStyle/>
          <a:p>
            <a:endParaRPr lang="zh-CN" altLang="en-US" dirty="0"/>
          </a:p>
        </p:txBody>
      </p:sp>
      <p:sp>
        <p:nvSpPr>
          <p:cNvPr id="97284" name="灯片编号占位符 3"/>
          <p:cNvSpPr>
            <a:spLocks noGrp="1"/>
          </p:cNvSpPr>
          <p:nvPr>
            <p:ph type="sldNum" sz="quarter" idx="5"/>
          </p:nvPr>
        </p:nvSpPr>
        <p:spPr>
          <a:noFill/>
        </p:spPr>
        <p:txBody>
          <a:bodyPr/>
          <a:lstStyle>
            <a:lvl1pPr>
              <a:defRPr sz="1600">
                <a:solidFill>
                  <a:schemeClr val="tx1"/>
                </a:solidFill>
                <a:latin typeface="Times New Roman" pitchFamily="18" charset="0"/>
                <a:ea typeface="Gulim" pitchFamily="34" charset="-127"/>
              </a:defRPr>
            </a:lvl1pPr>
            <a:lvl2pPr marL="742950" indent="-285750">
              <a:defRPr sz="1600">
                <a:solidFill>
                  <a:schemeClr val="tx1"/>
                </a:solidFill>
                <a:latin typeface="Times New Roman" pitchFamily="18" charset="0"/>
                <a:ea typeface="Gulim" pitchFamily="34" charset="-127"/>
              </a:defRPr>
            </a:lvl2pPr>
            <a:lvl3pPr marL="1143000" indent="-228600">
              <a:defRPr sz="1600">
                <a:solidFill>
                  <a:schemeClr val="tx1"/>
                </a:solidFill>
                <a:latin typeface="Times New Roman" pitchFamily="18" charset="0"/>
                <a:ea typeface="Gulim" pitchFamily="34" charset="-127"/>
              </a:defRPr>
            </a:lvl3pPr>
            <a:lvl4pPr marL="1600200" indent="-228600">
              <a:defRPr sz="1600">
                <a:solidFill>
                  <a:schemeClr val="tx1"/>
                </a:solidFill>
                <a:latin typeface="Times New Roman" pitchFamily="18" charset="0"/>
                <a:ea typeface="Gulim" pitchFamily="34" charset="-127"/>
              </a:defRPr>
            </a:lvl4pPr>
            <a:lvl5pPr marL="2057400" indent="-228600">
              <a:defRPr sz="1600">
                <a:solidFill>
                  <a:schemeClr val="tx1"/>
                </a:solidFill>
                <a:latin typeface="Times New Roman" pitchFamily="18" charset="0"/>
                <a:ea typeface="Gulim" pitchFamily="34" charset="-127"/>
              </a:defRPr>
            </a:lvl5pPr>
            <a:lvl6pPr marL="2514600" indent="-228600" eaLnBrk="0" fontAlgn="base" hangingPunct="0">
              <a:spcBef>
                <a:spcPct val="0"/>
              </a:spcBef>
              <a:spcAft>
                <a:spcPct val="0"/>
              </a:spcAft>
              <a:defRPr sz="1600">
                <a:solidFill>
                  <a:schemeClr val="tx1"/>
                </a:solidFill>
                <a:latin typeface="Times New Roman" pitchFamily="18" charset="0"/>
                <a:ea typeface="Gulim" pitchFamily="34" charset="-127"/>
              </a:defRPr>
            </a:lvl6pPr>
            <a:lvl7pPr marL="2971800" indent="-228600" eaLnBrk="0" fontAlgn="base" hangingPunct="0">
              <a:spcBef>
                <a:spcPct val="0"/>
              </a:spcBef>
              <a:spcAft>
                <a:spcPct val="0"/>
              </a:spcAft>
              <a:defRPr sz="1600">
                <a:solidFill>
                  <a:schemeClr val="tx1"/>
                </a:solidFill>
                <a:latin typeface="Times New Roman" pitchFamily="18" charset="0"/>
                <a:ea typeface="Gulim" pitchFamily="34" charset="-127"/>
              </a:defRPr>
            </a:lvl7pPr>
            <a:lvl8pPr marL="3429000" indent="-228600" eaLnBrk="0" fontAlgn="base" hangingPunct="0">
              <a:spcBef>
                <a:spcPct val="0"/>
              </a:spcBef>
              <a:spcAft>
                <a:spcPct val="0"/>
              </a:spcAft>
              <a:defRPr sz="1600">
                <a:solidFill>
                  <a:schemeClr val="tx1"/>
                </a:solidFill>
                <a:latin typeface="Times New Roman" pitchFamily="18" charset="0"/>
                <a:ea typeface="Gulim" pitchFamily="34" charset="-127"/>
              </a:defRPr>
            </a:lvl8pPr>
            <a:lvl9pPr marL="3886200" indent="-228600" eaLnBrk="0" fontAlgn="base" hangingPunct="0">
              <a:spcBef>
                <a:spcPct val="0"/>
              </a:spcBef>
              <a:spcAft>
                <a:spcPct val="0"/>
              </a:spcAft>
              <a:defRPr sz="1600">
                <a:solidFill>
                  <a:schemeClr val="tx1"/>
                </a:solidFill>
                <a:latin typeface="Times New Roman" pitchFamily="18" charset="0"/>
                <a:ea typeface="Gulim" pitchFamily="34" charset="-127"/>
              </a:defRPr>
            </a:lvl9pPr>
          </a:lstStyle>
          <a:p>
            <a:fld id="{E76B7CD0-CC68-45C1-96D8-2E5F29957897}" type="slidenum">
              <a:rPr lang="zh-CN" altLang="en-US" sz="1200" smtClean="0">
                <a:latin typeface="Gulim" pitchFamily="34" charset="-127"/>
              </a:rPr>
              <a:pPr/>
              <a:t>8</a:t>
            </a:fld>
            <a:endParaRPr lang="en-US" altLang="zh-CN" sz="1200">
              <a:latin typeface="Gulim" pitchFamily="34" charset="-127"/>
            </a:endParaRPr>
          </a:p>
        </p:txBody>
      </p:sp>
    </p:spTree>
    <p:extLst>
      <p:ext uri="{BB962C8B-B14F-4D97-AF65-F5344CB8AC3E}">
        <p14:creationId xmlns:p14="http://schemas.microsoft.com/office/powerpoint/2010/main" val="3210572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9</a:t>
            </a:fld>
            <a:endParaRPr lang="zh-CN" altLang="en-US"/>
          </a:p>
        </p:txBody>
      </p:sp>
    </p:spTree>
    <p:extLst>
      <p:ext uri="{BB962C8B-B14F-4D97-AF65-F5344CB8AC3E}">
        <p14:creationId xmlns:p14="http://schemas.microsoft.com/office/powerpoint/2010/main" val="4051525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10</a:t>
            </a:fld>
            <a:endParaRPr lang="zh-CN" altLang="en-US"/>
          </a:p>
        </p:txBody>
      </p:sp>
    </p:spTree>
    <p:extLst>
      <p:ext uri="{BB962C8B-B14F-4D97-AF65-F5344CB8AC3E}">
        <p14:creationId xmlns:p14="http://schemas.microsoft.com/office/powerpoint/2010/main" val="404831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11</a:t>
            </a:fld>
            <a:endParaRPr lang="zh-CN" altLang="en-US"/>
          </a:p>
        </p:txBody>
      </p:sp>
    </p:spTree>
    <p:extLst>
      <p:ext uri="{BB962C8B-B14F-4D97-AF65-F5344CB8AC3E}">
        <p14:creationId xmlns:p14="http://schemas.microsoft.com/office/powerpoint/2010/main" val="190781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12</a:t>
            </a:fld>
            <a:endParaRPr lang="zh-CN" altLang="en-US"/>
          </a:p>
        </p:txBody>
      </p:sp>
    </p:spTree>
    <p:extLst>
      <p:ext uri="{BB962C8B-B14F-4D97-AF65-F5344CB8AC3E}">
        <p14:creationId xmlns:p14="http://schemas.microsoft.com/office/powerpoint/2010/main" val="42520711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13</a:t>
            </a:fld>
            <a:endParaRPr lang="zh-CN" altLang="en-US"/>
          </a:p>
        </p:txBody>
      </p:sp>
    </p:spTree>
    <p:extLst>
      <p:ext uri="{BB962C8B-B14F-4D97-AF65-F5344CB8AC3E}">
        <p14:creationId xmlns:p14="http://schemas.microsoft.com/office/powerpoint/2010/main" val="2801077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14</a:t>
            </a:fld>
            <a:endParaRPr lang="zh-CN" altLang="en-US"/>
          </a:p>
        </p:txBody>
      </p:sp>
    </p:spTree>
    <p:extLst>
      <p:ext uri="{BB962C8B-B14F-4D97-AF65-F5344CB8AC3E}">
        <p14:creationId xmlns:p14="http://schemas.microsoft.com/office/powerpoint/2010/main" val="990842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B0E31C4-AB86-4844-B75B-FC06F64CF47B}" type="slidenum">
              <a:rPr lang="zh-CN" altLang="en-US" smtClean="0"/>
              <a:t>15</a:t>
            </a:fld>
            <a:endParaRPr lang="zh-CN" altLang="en-US"/>
          </a:p>
        </p:txBody>
      </p:sp>
    </p:spTree>
    <p:extLst>
      <p:ext uri="{BB962C8B-B14F-4D97-AF65-F5344CB8AC3E}">
        <p14:creationId xmlns:p14="http://schemas.microsoft.com/office/powerpoint/2010/main" val="302469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28582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53405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856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1246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9692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3549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9020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534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03833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71939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35086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99592" y="95238"/>
            <a:ext cx="8136904" cy="530077"/>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CDB213-29A1-4175-8A84-123ECF563776}" type="datetimeFigureOut">
              <a:rPr lang="zh-CN" altLang="en-US" smtClean="0">
                <a:solidFill>
                  <a:prstClr val="black">
                    <a:tint val="75000"/>
                  </a:prstClr>
                </a:solidFill>
              </a:rPr>
              <a:pPr/>
              <a:t>2026/10/15</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83441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619672" y="4869160"/>
            <a:ext cx="5376799" cy="1053622"/>
          </a:xfrm>
          <a:prstGeom prst="rect">
            <a:avLst/>
          </a:prstGeom>
          <a:noFill/>
          <a:effectLst/>
        </p:spPr>
        <p:txBody>
          <a:bodyPr wrap="square">
            <a:spAutoFit/>
          </a:bodyPr>
          <a:lstStyle/>
          <a:p>
            <a:pPr algn="ctr">
              <a:lnSpc>
                <a:spcPct val="150000"/>
              </a:lnSpc>
              <a:defRPr/>
            </a:pPr>
            <a:r>
              <a:rPr lang="zh-CN" altLang="en-US" sz="2400" b="1" dirty="0">
                <a:latin typeface="微软雅黑" pitchFamily="34" charset="-122"/>
                <a:ea typeface="微软雅黑" pitchFamily="34" charset="-122"/>
              </a:rPr>
              <a:t>授课人：许明珠 副教授</a:t>
            </a:r>
            <a:endParaRPr lang="en-US" altLang="zh-CN" sz="2400" b="1" dirty="0">
              <a:latin typeface="微软雅黑" pitchFamily="34" charset="-122"/>
              <a:ea typeface="微软雅黑" pitchFamily="34" charset="-122"/>
            </a:endParaRPr>
          </a:p>
          <a:p>
            <a:pPr algn="ctr">
              <a:lnSpc>
                <a:spcPct val="150000"/>
              </a:lnSpc>
              <a:defRPr/>
            </a:pPr>
            <a:r>
              <a:rPr lang="zh-CN" altLang="en-US" sz="2000" b="1" dirty="0">
                <a:latin typeface="微软雅黑" pitchFamily="34" charset="-122"/>
                <a:ea typeface="微软雅黑" pitchFamily="34" charset="-122"/>
              </a:rPr>
              <a:t>福建师范大学 地理科学学院 地理信息科学系</a:t>
            </a:r>
          </a:p>
        </p:txBody>
      </p:sp>
      <p:sp>
        <p:nvSpPr>
          <p:cNvPr id="2" name="TextBox 1"/>
          <p:cNvSpPr txBox="1"/>
          <p:nvPr/>
        </p:nvSpPr>
        <p:spPr>
          <a:xfrm>
            <a:off x="827584" y="2780928"/>
            <a:ext cx="7811268" cy="830997"/>
          </a:xfrm>
          <a:prstGeom prst="rect">
            <a:avLst/>
          </a:prstGeom>
          <a:noFill/>
        </p:spPr>
        <p:txBody>
          <a:bodyPr wrap="squar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第四讲 数据融合与几何校正</a:t>
            </a:r>
          </a:p>
        </p:txBody>
      </p:sp>
      <p:sp>
        <p:nvSpPr>
          <p:cNvPr id="3" name="文本框 2">
            <a:extLst>
              <a:ext uri="{FF2B5EF4-FFF2-40B4-BE49-F238E27FC236}">
                <a16:creationId xmlns:a16="http://schemas.microsoft.com/office/drawing/2014/main" id="{B8917EF0-B6FA-4A41-AA73-F0DAE5338A9A}"/>
              </a:ext>
            </a:extLst>
          </p:cNvPr>
          <p:cNvSpPr txBox="1"/>
          <p:nvPr/>
        </p:nvSpPr>
        <p:spPr>
          <a:xfrm>
            <a:off x="10993" y="148804"/>
            <a:ext cx="4878259" cy="584775"/>
          </a:xfrm>
          <a:prstGeom prst="rect">
            <a:avLst/>
          </a:prstGeom>
          <a:noFill/>
        </p:spPr>
        <p:txBody>
          <a:bodyPr wrap="non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遥感概论</a:t>
            </a:r>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必修课</a:t>
            </a:r>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上机</a:t>
            </a:r>
          </a:p>
        </p:txBody>
      </p:sp>
    </p:spTree>
    <p:custDataLst>
      <p:tags r:id="rId1"/>
    </p:custDataLst>
    <p:extLst>
      <p:ext uri="{BB962C8B-B14F-4D97-AF65-F5344CB8AC3E}">
        <p14:creationId xmlns:p14="http://schemas.microsoft.com/office/powerpoint/2010/main" val="1307204450"/>
      </p:ext>
    </p:extLst>
  </p:cSld>
  <p:clrMapOvr>
    <a:masterClrMapping/>
  </p:clrMapOvr>
  <mc:AlternateContent xmlns:mc="http://schemas.openxmlformats.org/markup-compatibility/2006" xmlns:p14="http://schemas.microsoft.com/office/powerpoint/2010/main">
    <mc:Choice Requires="p14">
      <p:transition spd="slow" p14:dur="2000" advTm="43627"/>
    </mc:Choice>
    <mc:Fallback xmlns="">
      <p:transition spd="slow" advTm="436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2DA66D1-B71C-4CAC-A8A8-83F8BE0A79D0}"/>
              </a:ext>
            </a:extLst>
          </p:cNvPr>
          <p:cNvSpPr txBox="1"/>
          <p:nvPr/>
        </p:nvSpPr>
        <p:spPr>
          <a:xfrm>
            <a:off x="1547664" y="2420888"/>
            <a:ext cx="6336704" cy="2532553"/>
          </a:xfrm>
          <a:prstGeom prst="rect">
            <a:avLst/>
          </a:prstGeom>
          <a:solidFill>
            <a:schemeClr val="bg1"/>
          </a:solidFill>
          <a:ln w="38100">
            <a:solidFill>
              <a:srgbClr val="104780"/>
            </a:solidFill>
          </a:ln>
          <a:effectLst>
            <a:outerShdw blurRad="101600" dist="127000" dir="3000000" algn="tl" rotWithShape="0">
              <a:prstClr val="black">
                <a:alpha val="40000"/>
              </a:prstClr>
            </a:outerShdw>
          </a:effectLst>
        </p:spPr>
        <p:txBody>
          <a:bodyPr wrap="square" rtlCol="0">
            <a:spAutoFit/>
          </a:bodyPr>
          <a:lstStyle/>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数据融合</a:t>
            </a:r>
          </a:p>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2. </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几何校正</a:t>
            </a:r>
            <a:endParaRPr lang="en-US" altLang="zh-CN" sz="3200" b="1" dirty="0">
              <a:solidFill>
                <a:schemeClr val="bg1">
                  <a:lumMod val="65000"/>
                </a:schemeClr>
              </a:solidFill>
              <a:latin typeface="微软雅黑" panose="020B0503020204020204" pitchFamily="34" charset="-122"/>
              <a:ea typeface="微软雅黑" panose="020B0503020204020204" pitchFamily="34" charset="-122"/>
            </a:endParaRPr>
          </a:p>
          <a:p>
            <a:pPr>
              <a:lnSpc>
                <a:spcPct val="200000"/>
              </a:lnSpc>
            </a:pPr>
            <a:endParaRPr lang="zh-CN" altLang="en-US"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024E01E-165C-464E-911C-F437991B8797}"/>
              </a:ext>
            </a:extLst>
          </p:cNvPr>
          <p:cNvSpPr>
            <a:spLocks noGrp="1"/>
          </p:cNvSpPr>
          <p:nvPr>
            <p:ph type="title"/>
          </p:nvPr>
        </p:nvSpPr>
        <p:spPr/>
        <p:txBody>
          <a:bodyPr/>
          <a:lstStyle/>
          <a:p>
            <a:r>
              <a:rPr lang="zh-CN" altLang="en-US" dirty="0">
                <a:solidFill>
                  <a:srgbClr val="002060"/>
                </a:solidFill>
              </a:rPr>
              <a:t>                           目 录</a:t>
            </a:r>
          </a:p>
        </p:txBody>
      </p:sp>
    </p:spTree>
    <p:custDataLst>
      <p:tags r:id="rId1"/>
    </p:custDataLst>
    <p:extLst>
      <p:ext uri="{BB962C8B-B14F-4D97-AF65-F5344CB8AC3E}">
        <p14:creationId xmlns:p14="http://schemas.microsoft.com/office/powerpoint/2010/main" val="2122288530"/>
      </p:ext>
    </p:extLst>
  </p:cSld>
  <p:clrMapOvr>
    <a:masterClrMapping/>
  </p:clrMapOvr>
  <mc:AlternateContent xmlns:mc="http://schemas.openxmlformats.org/markup-compatibility/2006" xmlns:p14="http://schemas.microsoft.com/office/powerpoint/2010/main">
    <mc:Choice Requires="p14">
      <p:transition spd="slow" p14:dur="2000" advTm="35024"/>
    </mc:Choice>
    <mc:Fallback xmlns="">
      <p:transition spd="slow" advTm="3502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图像融合</a:t>
            </a:r>
          </a:p>
        </p:txBody>
      </p:sp>
      <p:sp>
        <p:nvSpPr>
          <p:cNvPr id="6" name="内容占位符 1">
            <a:extLst>
              <a:ext uri="{FF2B5EF4-FFF2-40B4-BE49-F238E27FC236}">
                <a16:creationId xmlns:a16="http://schemas.microsoft.com/office/drawing/2014/main" id="{8AC01429-09FF-469C-9280-62725C13851B}"/>
              </a:ext>
            </a:extLst>
          </p:cNvPr>
          <p:cNvSpPr txBox="1">
            <a:spLocks/>
          </p:cNvSpPr>
          <p:nvPr/>
        </p:nvSpPr>
        <p:spPr>
          <a:xfrm>
            <a:off x="500063" y="1340768"/>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zh-CN" altLang="zh-CN" sz="2800" dirty="0"/>
              <a:t>图像融合，是将</a:t>
            </a:r>
            <a:r>
              <a:rPr lang="zh-CN" altLang="zh-CN" sz="2800" dirty="0">
                <a:solidFill>
                  <a:srgbClr val="FF0000"/>
                </a:solidFill>
              </a:rPr>
              <a:t>低分辨率</a:t>
            </a:r>
            <a:r>
              <a:rPr lang="zh-CN" altLang="zh-CN" sz="2800" dirty="0"/>
              <a:t>的多光谱影像与</a:t>
            </a:r>
            <a:r>
              <a:rPr lang="zh-CN" altLang="zh-CN" sz="2800" dirty="0">
                <a:solidFill>
                  <a:srgbClr val="FF0000"/>
                </a:solidFill>
              </a:rPr>
              <a:t>高分辨率</a:t>
            </a:r>
            <a:r>
              <a:rPr lang="zh-CN" altLang="zh-CN" sz="2800" dirty="0"/>
              <a:t>的单波段影像重采样生成一副高分辨率多光谱影像遥感的图像处理技术，使得处理后的影像</a:t>
            </a:r>
            <a:r>
              <a:rPr lang="zh-CN" altLang="zh-CN" sz="2800" dirty="0">
                <a:solidFill>
                  <a:srgbClr val="FF0000"/>
                </a:solidFill>
              </a:rPr>
              <a:t>既有较高的空间分辨率，又具有多光谱特征</a:t>
            </a:r>
            <a:r>
              <a:rPr lang="zh-CN" altLang="zh-CN" sz="2800" dirty="0"/>
              <a:t>。</a:t>
            </a:r>
            <a:endParaRPr lang="en-US" altLang="zh-CN" sz="2800" dirty="0"/>
          </a:p>
          <a:p>
            <a:pPr>
              <a:spcAft>
                <a:spcPts val="600"/>
              </a:spcAft>
            </a:pPr>
            <a:r>
              <a:rPr lang="zh-CN" altLang="zh-CN" sz="2800" dirty="0"/>
              <a:t>图像融合除了要求</a:t>
            </a:r>
            <a:r>
              <a:rPr lang="zh-CN" altLang="zh-CN" sz="2800" dirty="0">
                <a:solidFill>
                  <a:srgbClr val="FF0000"/>
                </a:solidFill>
              </a:rPr>
              <a:t>融合图像精确配准</a:t>
            </a:r>
            <a:r>
              <a:rPr lang="zh-CN" altLang="zh-CN" sz="2800" dirty="0"/>
              <a:t>外，</a:t>
            </a:r>
            <a:r>
              <a:rPr lang="zh-CN" altLang="zh-CN" sz="2800" dirty="0">
                <a:solidFill>
                  <a:srgbClr val="FF0000"/>
                </a:solidFill>
              </a:rPr>
              <a:t>融合方法</a:t>
            </a:r>
            <a:r>
              <a:rPr lang="zh-CN" altLang="zh-CN" sz="2800" dirty="0"/>
              <a:t>的选择也非常重要，同样的融合方法在用在不同影像中，得到的结果往往会不一样。</a:t>
            </a:r>
          </a:p>
        </p:txBody>
      </p:sp>
    </p:spTree>
    <p:extLst>
      <p:ext uri="{BB962C8B-B14F-4D97-AF65-F5344CB8AC3E}">
        <p14:creationId xmlns:p14="http://schemas.microsoft.com/office/powerpoint/2010/main" val="3445070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图像融合</a:t>
            </a:r>
          </a:p>
        </p:txBody>
      </p:sp>
      <p:graphicFrame>
        <p:nvGraphicFramePr>
          <p:cNvPr id="4" name="内容占位符 4">
            <a:extLst>
              <a:ext uri="{FF2B5EF4-FFF2-40B4-BE49-F238E27FC236}">
                <a16:creationId xmlns:a16="http://schemas.microsoft.com/office/drawing/2014/main" id="{751D98C8-0019-4155-8E0F-85139804B0E7}"/>
              </a:ext>
            </a:extLst>
          </p:cNvPr>
          <p:cNvGraphicFramePr>
            <a:graphicFrameLocks/>
          </p:cNvGraphicFramePr>
          <p:nvPr>
            <p:extLst>
              <p:ext uri="{D42A27DB-BD31-4B8C-83A1-F6EECF244321}">
                <p14:modId xmlns:p14="http://schemas.microsoft.com/office/powerpoint/2010/main" val="1448000228"/>
              </p:ext>
            </p:extLst>
          </p:nvPr>
        </p:nvGraphicFramePr>
        <p:xfrm>
          <a:off x="107504" y="1052736"/>
          <a:ext cx="8928992" cy="5516880"/>
        </p:xfrm>
        <a:graphic>
          <a:graphicData uri="http://schemas.openxmlformats.org/drawingml/2006/table">
            <a:tbl>
              <a:tblPr>
                <a:tableStyleId>{22838BEF-8BB2-4498-84A7-C5851F593DF1}</a:tableStyleId>
              </a:tblPr>
              <a:tblGrid>
                <a:gridCol w="2091293">
                  <a:extLst>
                    <a:ext uri="{9D8B030D-6E8A-4147-A177-3AD203B41FA5}">
                      <a16:colId xmlns:a16="http://schemas.microsoft.com/office/drawing/2014/main" val="20000"/>
                    </a:ext>
                  </a:extLst>
                </a:gridCol>
                <a:gridCol w="6837699">
                  <a:extLst>
                    <a:ext uri="{9D8B030D-6E8A-4147-A177-3AD203B41FA5}">
                      <a16:colId xmlns:a16="http://schemas.microsoft.com/office/drawing/2014/main" val="20001"/>
                    </a:ext>
                  </a:extLst>
                </a:gridCol>
              </a:tblGrid>
              <a:tr h="282575">
                <a:tc>
                  <a:txBody>
                    <a:bodyPr/>
                    <a:lstStyle/>
                    <a:p>
                      <a:pPr indent="127000" algn="ctr">
                        <a:lnSpc>
                          <a:spcPct val="150000"/>
                        </a:lnSpc>
                        <a:spcAft>
                          <a:spcPts val="0"/>
                        </a:spcAft>
                      </a:pPr>
                      <a:r>
                        <a:rPr lang="zh-CN" sz="1800" b="1" kern="100" dirty="0">
                          <a:effectLst/>
                        </a:rPr>
                        <a:t>融合方法</a:t>
                      </a:r>
                      <a:endParaRPr lang="zh-CN" sz="1800" b="1" kern="100" dirty="0">
                        <a:effectLst/>
                        <a:latin typeface="Calibri"/>
                        <a:ea typeface="宋体"/>
                        <a:cs typeface="Times New Roman"/>
                      </a:endParaRPr>
                    </a:p>
                  </a:txBody>
                  <a:tcPr marL="76425" marR="76425" marT="0" marB="0"/>
                </a:tc>
                <a:tc>
                  <a:txBody>
                    <a:bodyPr/>
                    <a:lstStyle/>
                    <a:p>
                      <a:pPr indent="127000" algn="ctr">
                        <a:lnSpc>
                          <a:spcPct val="150000"/>
                        </a:lnSpc>
                        <a:spcAft>
                          <a:spcPts val="0"/>
                        </a:spcAft>
                      </a:pPr>
                      <a:r>
                        <a:rPr lang="zh-CN" sz="1800" b="1" kern="100" dirty="0">
                          <a:effectLst/>
                        </a:rPr>
                        <a:t>适用范围</a:t>
                      </a:r>
                      <a:endParaRPr lang="zh-CN" sz="1800" b="1"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0"/>
                  </a:ext>
                </a:extLst>
              </a:tr>
              <a:tr h="407035">
                <a:tc>
                  <a:txBody>
                    <a:bodyPr/>
                    <a:lstStyle/>
                    <a:p>
                      <a:pPr indent="0" algn="ctr">
                        <a:lnSpc>
                          <a:spcPct val="150000"/>
                        </a:lnSpc>
                        <a:spcAft>
                          <a:spcPts val="0"/>
                        </a:spcAft>
                      </a:pPr>
                      <a:r>
                        <a:rPr lang="en-US" sz="1800" kern="100" dirty="0">
                          <a:effectLst/>
                        </a:rPr>
                        <a:t>IHS</a:t>
                      </a:r>
                      <a:r>
                        <a:rPr lang="zh-CN" sz="1800" kern="100" dirty="0">
                          <a:effectLst/>
                        </a:rPr>
                        <a:t>变换 </a:t>
                      </a:r>
                      <a:endParaRPr lang="zh-CN" sz="1800" kern="100" dirty="0">
                        <a:effectLst/>
                        <a:latin typeface="Calibri"/>
                        <a:ea typeface="宋体"/>
                        <a:cs typeface="Times New Roman"/>
                      </a:endParaRPr>
                    </a:p>
                  </a:txBody>
                  <a:tcPr marL="76425" marR="76425" marT="0" marB="0" anchor="ctr"/>
                </a:tc>
                <a:tc>
                  <a:txBody>
                    <a:bodyPr/>
                    <a:lstStyle/>
                    <a:p>
                      <a:pPr indent="127000" algn="l">
                        <a:lnSpc>
                          <a:spcPct val="150000"/>
                        </a:lnSpc>
                        <a:spcAft>
                          <a:spcPts val="0"/>
                        </a:spcAft>
                      </a:pPr>
                      <a:r>
                        <a:rPr lang="zh-CN" sz="1800" kern="100" dirty="0">
                          <a:effectLst/>
                        </a:rPr>
                        <a:t>纹理改善，</a:t>
                      </a:r>
                      <a:r>
                        <a:rPr lang="zh-CN" sz="1800" kern="100" dirty="0">
                          <a:solidFill>
                            <a:srgbClr val="FF0000"/>
                          </a:solidFill>
                          <a:effectLst/>
                        </a:rPr>
                        <a:t>空间保持较好</a:t>
                      </a:r>
                      <a:r>
                        <a:rPr lang="zh-CN" sz="1800" kern="100" dirty="0">
                          <a:effectLst/>
                        </a:rPr>
                        <a:t>。</a:t>
                      </a:r>
                      <a:r>
                        <a:rPr lang="zh-CN" sz="1800" kern="100" dirty="0">
                          <a:solidFill>
                            <a:srgbClr val="FF0000"/>
                          </a:solidFill>
                          <a:effectLst/>
                        </a:rPr>
                        <a:t>光谱信息损失较大大</a:t>
                      </a:r>
                      <a:r>
                        <a:rPr lang="zh-CN" sz="1800" kern="100" dirty="0">
                          <a:effectLst/>
                        </a:rPr>
                        <a:t>，</a:t>
                      </a:r>
                      <a:r>
                        <a:rPr lang="zh-CN" sz="1800" kern="100" dirty="0">
                          <a:solidFill>
                            <a:srgbClr val="FF0000"/>
                          </a:solidFill>
                          <a:effectLst/>
                        </a:rPr>
                        <a:t>受波段限制</a:t>
                      </a:r>
                      <a:r>
                        <a:rPr lang="zh-CN" sz="1800" kern="100" dirty="0">
                          <a:effectLst/>
                        </a:rPr>
                        <a:t>。</a:t>
                      </a:r>
                      <a:endParaRPr lang="zh-CN" sz="1800"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1"/>
                  </a:ext>
                </a:extLst>
              </a:tr>
              <a:tr h="407035">
                <a:tc>
                  <a:txBody>
                    <a:bodyPr/>
                    <a:lstStyle/>
                    <a:p>
                      <a:pPr indent="0" algn="ctr">
                        <a:lnSpc>
                          <a:spcPct val="150000"/>
                        </a:lnSpc>
                        <a:spcAft>
                          <a:spcPts val="0"/>
                        </a:spcAft>
                      </a:pPr>
                      <a:r>
                        <a:rPr lang="en-US" sz="1800" kern="100" dirty="0" err="1">
                          <a:effectLst/>
                        </a:rPr>
                        <a:t>Brovey</a:t>
                      </a:r>
                      <a:r>
                        <a:rPr lang="zh-CN" sz="1800" kern="100" dirty="0">
                          <a:effectLst/>
                        </a:rPr>
                        <a:t>变换</a:t>
                      </a:r>
                      <a:endParaRPr lang="zh-CN" sz="1800" kern="100" dirty="0">
                        <a:effectLst/>
                        <a:latin typeface="Calibri"/>
                        <a:ea typeface="宋体"/>
                        <a:cs typeface="Times New Roman"/>
                      </a:endParaRPr>
                    </a:p>
                  </a:txBody>
                  <a:tcPr marL="76425" marR="76425" marT="0" marB="0" anchor="ctr"/>
                </a:tc>
                <a:tc>
                  <a:txBody>
                    <a:bodyPr/>
                    <a:lstStyle/>
                    <a:p>
                      <a:pPr indent="127000" algn="l">
                        <a:lnSpc>
                          <a:spcPct val="150000"/>
                        </a:lnSpc>
                        <a:spcAft>
                          <a:spcPts val="0"/>
                        </a:spcAft>
                      </a:pPr>
                      <a:r>
                        <a:rPr lang="zh-CN" sz="1800" kern="100" dirty="0">
                          <a:effectLst/>
                        </a:rPr>
                        <a:t>光谱信息保持较好，</a:t>
                      </a:r>
                      <a:r>
                        <a:rPr lang="zh-CN" sz="1800" kern="100" dirty="0">
                          <a:solidFill>
                            <a:srgbClr val="FF0000"/>
                          </a:solidFill>
                          <a:effectLst/>
                        </a:rPr>
                        <a:t>受波段限制</a:t>
                      </a:r>
                      <a:r>
                        <a:rPr lang="zh-CN" sz="1800" kern="100" dirty="0">
                          <a:effectLst/>
                        </a:rPr>
                        <a:t>。</a:t>
                      </a:r>
                      <a:endParaRPr lang="zh-CN" sz="1800"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2"/>
                  </a:ext>
                </a:extLst>
              </a:tr>
              <a:tr h="300355">
                <a:tc>
                  <a:txBody>
                    <a:bodyPr/>
                    <a:lstStyle/>
                    <a:p>
                      <a:pPr indent="0" algn="ctr">
                        <a:lnSpc>
                          <a:spcPct val="150000"/>
                        </a:lnSpc>
                        <a:spcAft>
                          <a:spcPts val="0"/>
                        </a:spcAft>
                      </a:pPr>
                      <a:r>
                        <a:rPr lang="zh-CN" sz="1800" kern="100" dirty="0">
                          <a:effectLst/>
                        </a:rPr>
                        <a:t>乘积运算（</a:t>
                      </a:r>
                      <a:r>
                        <a:rPr lang="en-US" sz="1800" kern="100" dirty="0">
                          <a:effectLst/>
                        </a:rPr>
                        <a:t>CN</a:t>
                      </a:r>
                      <a:r>
                        <a:rPr lang="zh-CN" sz="1800" kern="100" dirty="0">
                          <a:effectLst/>
                        </a:rPr>
                        <a:t>）</a:t>
                      </a:r>
                      <a:endParaRPr lang="zh-CN" sz="1800" kern="100" dirty="0">
                        <a:effectLst/>
                        <a:latin typeface="Calibri"/>
                        <a:ea typeface="宋体"/>
                        <a:cs typeface="Times New Roman"/>
                      </a:endParaRPr>
                    </a:p>
                  </a:txBody>
                  <a:tcPr marL="76425" marR="76425" marT="0" marB="0" anchor="ctr"/>
                </a:tc>
                <a:tc>
                  <a:txBody>
                    <a:bodyPr/>
                    <a:lstStyle/>
                    <a:p>
                      <a:pPr indent="127000" algn="l">
                        <a:lnSpc>
                          <a:spcPct val="150000"/>
                        </a:lnSpc>
                        <a:spcAft>
                          <a:spcPts val="0"/>
                        </a:spcAft>
                      </a:pPr>
                      <a:r>
                        <a:rPr lang="zh-CN" sz="1800" kern="100" dirty="0">
                          <a:solidFill>
                            <a:srgbClr val="FF0000"/>
                          </a:solidFill>
                          <a:effectLst/>
                        </a:rPr>
                        <a:t>对大的地貌类型效果好</a:t>
                      </a:r>
                      <a:r>
                        <a:rPr lang="zh-CN" sz="1800" kern="100" dirty="0">
                          <a:effectLst/>
                        </a:rPr>
                        <a:t>，同时可用于多光谱与高光谱的融合。</a:t>
                      </a:r>
                      <a:endParaRPr lang="zh-CN" sz="1800"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3"/>
                  </a:ext>
                </a:extLst>
              </a:tr>
              <a:tr h="315595">
                <a:tc>
                  <a:txBody>
                    <a:bodyPr/>
                    <a:lstStyle/>
                    <a:p>
                      <a:pPr indent="0" algn="ctr">
                        <a:lnSpc>
                          <a:spcPct val="150000"/>
                        </a:lnSpc>
                        <a:spcAft>
                          <a:spcPts val="0"/>
                        </a:spcAft>
                      </a:pPr>
                      <a:r>
                        <a:rPr lang="en-US" sz="1800" kern="100" dirty="0">
                          <a:effectLst/>
                        </a:rPr>
                        <a:t>PCA</a:t>
                      </a:r>
                      <a:r>
                        <a:rPr lang="zh-CN" sz="1800" kern="100" dirty="0">
                          <a:effectLst/>
                        </a:rPr>
                        <a:t>变换</a:t>
                      </a:r>
                      <a:endParaRPr lang="zh-CN" sz="1800" kern="100" dirty="0">
                        <a:effectLst/>
                        <a:latin typeface="Calibri"/>
                        <a:ea typeface="宋体"/>
                        <a:cs typeface="Times New Roman"/>
                      </a:endParaRPr>
                    </a:p>
                  </a:txBody>
                  <a:tcPr marL="76425" marR="76425" marT="0" marB="0" anchor="ctr"/>
                </a:tc>
                <a:tc>
                  <a:txBody>
                    <a:bodyPr/>
                    <a:lstStyle/>
                    <a:p>
                      <a:pPr indent="127000" algn="l">
                        <a:lnSpc>
                          <a:spcPct val="150000"/>
                        </a:lnSpc>
                        <a:spcAft>
                          <a:spcPts val="0"/>
                        </a:spcAft>
                      </a:pPr>
                      <a:r>
                        <a:rPr lang="zh-CN" sz="1800" kern="100" dirty="0">
                          <a:effectLst/>
                        </a:rPr>
                        <a:t>无波段限制，光谱保持好。第一主成分信息高度集中，</a:t>
                      </a:r>
                      <a:r>
                        <a:rPr lang="zh-CN" sz="1800" kern="100" dirty="0">
                          <a:solidFill>
                            <a:srgbClr val="FF0000"/>
                          </a:solidFill>
                          <a:effectLst/>
                        </a:rPr>
                        <a:t>色调发生较大变化</a:t>
                      </a:r>
                      <a:r>
                        <a:rPr lang="zh-CN" sz="1800" kern="100" dirty="0">
                          <a:effectLst/>
                        </a:rPr>
                        <a:t>。</a:t>
                      </a:r>
                      <a:endParaRPr lang="zh-CN" sz="1800"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4"/>
                  </a:ext>
                </a:extLst>
              </a:tr>
              <a:tr h="447675">
                <a:tc>
                  <a:txBody>
                    <a:bodyPr/>
                    <a:lstStyle/>
                    <a:p>
                      <a:pPr indent="0" algn="ctr">
                        <a:lnSpc>
                          <a:spcPct val="150000"/>
                        </a:lnSpc>
                        <a:spcAft>
                          <a:spcPts val="0"/>
                        </a:spcAft>
                      </a:pPr>
                      <a:r>
                        <a:rPr lang="en-US" altLang="zh-CN" sz="1800" kern="1200" dirty="0">
                          <a:effectLst/>
                        </a:rPr>
                        <a:t>Gram-</a:t>
                      </a:r>
                      <a:r>
                        <a:rPr lang="en-US" altLang="zh-CN" sz="1800" kern="1200" dirty="0" err="1">
                          <a:effectLst/>
                        </a:rPr>
                        <a:t>schmidt</a:t>
                      </a:r>
                      <a:r>
                        <a:rPr lang="en-US" altLang="zh-CN" sz="1800" kern="1200" dirty="0">
                          <a:effectLst/>
                        </a:rPr>
                        <a:t> Pan Sharpening</a:t>
                      </a:r>
                      <a:r>
                        <a:rPr lang="zh-CN" altLang="zh-CN" sz="1800" kern="1200" dirty="0">
                          <a:effectLst/>
                        </a:rPr>
                        <a:t>（</a:t>
                      </a:r>
                      <a:r>
                        <a:rPr lang="en-US" altLang="zh-CN" sz="1800" kern="1200" dirty="0">
                          <a:effectLst/>
                        </a:rPr>
                        <a:t>GS</a:t>
                      </a:r>
                      <a:r>
                        <a:rPr lang="zh-CN" altLang="zh-CN" sz="1800" kern="1200" dirty="0">
                          <a:effectLst/>
                        </a:rPr>
                        <a:t>）</a:t>
                      </a:r>
                      <a:endParaRPr lang="zh-CN" sz="1800" kern="100" dirty="0">
                        <a:effectLst/>
                        <a:latin typeface="Calibri"/>
                        <a:ea typeface="宋体"/>
                        <a:cs typeface="Times New Roman"/>
                      </a:endParaRPr>
                    </a:p>
                  </a:txBody>
                  <a:tcPr marL="76425" marR="76425" marT="0" marB="0" anchor="ctr"/>
                </a:tc>
                <a:tc>
                  <a:txBody>
                    <a:bodyPr/>
                    <a:lstStyle/>
                    <a:p>
                      <a:pPr indent="127000" algn="l">
                        <a:lnSpc>
                          <a:spcPct val="150000"/>
                        </a:lnSpc>
                        <a:spcAft>
                          <a:spcPts val="0"/>
                        </a:spcAft>
                      </a:pPr>
                      <a:r>
                        <a:rPr lang="zh-CN" sz="1800" kern="100" dirty="0">
                          <a:effectLst/>
                        </a:rPr>
                        <a:t>改进了</a:t>
                      </a:r>
                      <a:r>
                        <a:rPr lang="en-US" sz="1800" kern="100" dirty="0">
                          <a:effectLst/>
                        </a:rPr>
                        <a:t>PCA</a:t>
                      </a:r>
                      <a:r>
                        <a:rPr lang="zh-CN" sz="1800" kern="100" dirty="0">
                          <a:effectLst/>
                        </a:rPr>
                        <a:t>中信息过分集中的问题，不受波段限制，较好的保持空间纹理信息，尤其</a:t>
                      </a:r>
                      <a:r>
                        <a:rPr lang="zh-CN" sz="1800" kern="100" dirty="0">
                          <a:solidFill>
                            <a:srgbClr val="FF0000"/>
                          </a:solidFill>
                          <a:effectLst/>
                        </a:rPr>
                        <a:t>能高保真保持光谱特征</a:t>
                      </a:r>
                      <a:r>
                        <a:rPr lang="zh-CN" sz="1800" kern="100" dirty="0">
                          <a:effectLst/>
                        </a:rPr>
                        <a:t>。专为最新高空间分辨率影像设计，能较好保持影像的纹理和光谱信息。</a:t>
                      </a:r>
                      <a:endParaRPr lang="zh-CN" sz="1800" kern="100" dirty="0">
                        <a:effectLst/>
                        <a:latin typeface="Calibri"/>
                        <a:ea typeface="宋体"/>
                        <a:cs typeface="Times New Roman"/>
                      </a:endParaRPr>
                    </a:p>
                  </a:txBody>
                  <a:tcPr marL="76425" marR="76425" marT="0" marB="0"/>
                </a:tc>
                <a:extLst>
                  <a:ext uri="{0D108BD9-81ED-4DB2-BD59-A6C34878D82A}">
                    <a16:rowId xmlns:a16="http://schemas.microsoft.com/office/drawing/2014/main" val="10005"/>
                  </a:ext>
                </a:extLst>
              </a:tr>
              <a:tr h="447675">
                <a:tc>
                  <a:txBody>
                    <a:bodyPr/>
                    <a:lstStyle/>
                    <a:p>
                      <a:pPr indent="0" algn="ctr">
                        <a:lnSpc>
                          <a:spcPct val="150000"/>
                        </a:lnSpc>
                        <a:spcAft>
                          <a:spcPts val="0"/>
                        </a:spcAft>
                      </a:pPr>
                      <a:r>
                        <a:rPr lang="en-US" sz="1800" kern="100" dirty="0" err="1">
                          <a:effectLst/>
                        </a:rPr>
                        <a:t>NNDiffuse</a:t>
                      </a:r>
                      <a:r>
                        <a:rPr lang="en-US" sz="1800" kern="100" dirty="0">
                          <a:effectLst/>
                        </a:rPr>
                        <a:t> pan sharpening</a:t>
                      </a:r>
                      <a:r>
                        <a:rPr lang="zh-CN" sz="1800" kern="100" dirty="0">
                          <a:effectLst/>
                        </a:rPr>
                        <a:t>（</a:t>
                      </a:r>
                      <a:r>
                        <a:rPr lang="en-US" sz="1800" kern="100" dirty="0">
                          <a:effectLst/>
                        </a:rPr>
                        <a:t>NND</a:t>
                      </a:r>
                      <a:r>
                        <a:rPr lang="zh-CN" sz="1800" kern="100" dirty="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indent="304800" algn="just">
                        <a:lnSpc>
                          <a:spcPct val="150000"/>
                        </a:lnSpc>
                        <a:spcAft>
                          <a:spcPts val="0"/>
                        </a:spcAft>
                      </a:pPr>
                      <a:r>
                        <a:rPr lang="en-US" sz="1800" kern="100" dirty="0">
                          <a:effectLst/>
                        </a:rPr>
                        <a:t>Nearest Neighbor Diffusion (</a:t>
                      </a:r>
                      <a:r>
                        <a:rPr lang="en-US" sz="1800" kern="100" dirty="0" err="1">
                          <a:effectLst/>
                        </a:rPr>
                        <a:t>NNDiffuse</a:t>
                      </a:r>
                      <a:r>
                        <a:rPr lang="en-US" sz="1800" kern="100" dirty="0">
                          <a:effectLst/>
                        </a:rPr>
                        <a:t>) pan sharpening</a:t>
                      </a:r>
                      <a:r>
                        <a:rPr lang="zh-CN" sz="1800" kern="100" dirty="0">
                          <a:effectLst/>
                        </a:rPr>
                        <a:t>算法，输入图像支持标准地理和投影坐标系统、具备</a:t>
                      </a:r>
                      <a:r>
                        <a:rPr lang="en-US" sz="1800" kern="100" dirty="0">
                          <a:effectLst/>
                        </a:rPr>
                        <a:t>RPC</a:t>
                      </a:r>
                      <a:r>
                        <a:rPr lang="zh-CN" sz="1800" kern="100" dirty="0">
                          <a:effectLst/>
                        </a:rPr>
                        <a:t>信息和基于像元位置（无空间坐标系）几种地理信息元数据类型；支持多线程计算，能进行高性能处理。</a:t>
                      </a:r>
                      <a:r>
                        <a:rPr lang="zh-CN" sz="1800" kern="100" dirty="0">
                          <a:solidFill>
                            <a:srgbClr val="FF0000"/>
                          </a:solidFill>
                          <a:effectLst/>
                        </a:rPr>
                        <a:t>融合结果对于色彩、纹理和光谱信息，均能得到很好保留</a:t>
                      </a:r>
                      <a:r>
                        <a:rPr lang="zh-CN" sz="1800" kern="100" dirty="0">
                          <a:effectLst/>
                        </a:rPr>
                        <a:t>。</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11416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7</a:t>
            </a:r>
            <a:endParaRPr lang="zh-CN" altLang="en-US" dirty="0">
              <a:solidFill>
                <a:schemeClr val="tx1"/>
              </a:solidFill>
            </a:endParaRPr>
          </a:p>
        </p:txBody>
      </p:sp>
      <p:sp>
        <p:nvSpPr>
          <p:cNvPr id="4" name="内容占位符 1">
            <a:extLst>
              <a:ext uri="{FF2B5EF4-FFF2-40B4-BE49-F238E27FC236}">
                <a16:creationId xmlns:a16="http://schemas.microsoft.com/office/drawing/2014/main" id="{30621C23-B8C0-4E33-9F79-F4D7AAFC9C05}"/>
              </a:ext>
            </a:extLst>
          </p:cNvPr>
          <p:cNvSpPr txBox="1">
            <a:spLocks/>
          </p:cNvSpPr>
          <p:nvPr/>
        </p:nvSpPr>
        <p:spPr>
          <a:xfrm>
            <a:off x="539552" y="1772816"/>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2400" dirty="0"/>
              <a:t>数据：</a:t>
            </a:r>
            <a:endParaRPr lang="en-US" altLang="zh-CN" sz="2400" dirty="0"/>
          </a:p>
          <a:p>
            <a:pPr lvl="1">
              <a:lnSpc>
                <a:spcPct val="150000"/>
              </a:lnSpc>
            </a:pPr>
            <a:r>
              <a:rPr lang="da-DK" altLang="zh-CN" sz="2400" dirty="0"/>
              <a:t>SPOT4 </a:t>
            </a:r>
            <a:r>
              <a:rPr lang="zh-CN" altLang="da-DK" sz="2400" dirty="0"/>
              <a:t>的</a:t>
            </a:r>
            <a:r>
              <a:rPr lang="da-DK" altLang="zh-CN" sz="2400" dirty="0"/>
              <a:t>10</a:t>
            </a:r>
            <a:r>
              <a:rPr lang="zh-CN" altLang="da-DK" sz="2400" dirty="0"/>
              <a:t>米全色波段</a:t>
            </a:r>
            <a:endParaRPr lang="en-US" altLang="zh-CN" sz="2400" dirty="0"/>
          </a:p>
          <a:p>
            <a:pPr lvl="1">
              <a:lnSpc>
                <a:spcPct val="150000"/>
              </a:lnSpc>
            </a:pPr>
            <a:r>
              <a:rPr lang="da-DK" altLang="zh-CN" sz="2400" dirty="0"/>
              <a:t>Landsat TM 30m</a:t>
            </a:r>
            <a:r>
              <a:rPr lang="zh-CN" altLang="en-US" sz="2400" dirty="0"/>
              <a:t>多光谱波段</a:t>
            </a:r>
            <a:endParaRPr lang="da-DK" altLang="zh-CN" sz="2400" dirty="0"/>
          </a:p>
          <a:p>
            <a:pPr>
              <a:lnSpc>
                <a:spcPct val="150000"/>
              </a:lnSpc>
            </a:pPr>
            <a:r>
              <a:rPr lang="zh-CN" altLang="en-US" sz="2400" dirty="0"/>
              <a:t>内容：图像融合处理</a:t>
            </a:r>
            <a:endParaRPr lang="en-US" altLang="zh-CN" sz="2400" dirty="0"/>
          </a:p>
          <a:p>
            <a:pPr>
              <a:lnSpc>
                <a:spcPct val="150000"/>
              </a:lnSpc>
            </a:pPr>
            <a:r>
              <a:rPr lang="zh-CN" altLang="en-US" sz="2400" dirty="0"/>
              <a:t>工具：</a:t>
            </a:r>
            <a:r>
              <a:rPr lang="en-US" altLang="zh-CN" sz="2400" dirty="0"/>
              <a:t>/ Image Sharpening /Gram-Schmidt Pan Sharpening</a:t>
            </a:r>
          </a:p>
        </p:txBody>
      </p:sp>
      <p:sp>
        <p:nvSpPr>
          <p:cNvPr id="9" name="矩形 8">
            <a:extLst>
              <a:ext uri="{FF2B5EF4-FFF2-40B4-BE49-F238E27FC236}">
                <a16:creationId xmlns:a16="http://schemas.microsoft.com/office/drawing/2014/main" id="{41F0F318-4036-41D4-A837-0DA92D20822A}"/>
              </a:ext>
            </a:extLst>
          </p:cNvPr>
          <p:cNvSpPr/>
          <p:nvPr/>
        </p:nvSpPr>
        <p:spPr>
          <a:xfrm>
            <a:off x="510916" y="5275274"/>
            <a:ext cx="3728780" cy="460382"/>
          </a:xfrm>
          <a:prstGeom prst="rect">
            <a:avLst/>
          </a:prstGeom>
          <a:solidFill>
            <a:schemeClr val="bg1">
              <a:lumMod val="95000"/>
            </a:schemeClr>
          </a:solidFill>
        </p:spPr>
        <p:txBody>
          <a:bodyPr wrap="square">
            <a:spAutoFit/>
          </a:bodyPr>
          <a:lstStyle/>
          <a:p>
            <a:pPr algn="ctr">
              <a:lnSpc>
                <a:spcPct val="150000"/>
              </a:lnSpc>
            </a:pPr>
            <a:r>
              <a:rPr lang="zh-CN" altLang="en-US" dirty="0"/>
              <a:t>图像融合</a:t>
            </a:r>
            <a:r>
              <a:rPr lang="en-US" altLang="zh-CN" dirty="0"/>
              <a:t>-</a:t>
            </a:r>
            <a:r>
              <a:rPr lang="zh-CN" altLang="en-US" dirty="0">
                <a:solidFill>
                  <a:srgbClr val="FF0000"/>
                </a:solidFill>
              </a:rPr>
              <a:t>操作手册</a:t>
            </a:r>
            <a:r>
              <a:rPr lang="en-US" altLang="zh-CN" dirty="0"/>
              <a:t>(ESRI</a:t>
            </a:r>
            <a:r>
              <a:rPr lang="zh-CN" altLang="en-US" dirty="0"/>
              <a:t>素材</a:t>
            </a:r>
            <a:r>
              <a:rPr lang="en-US" altLang="zh-CN" dirty="0"/>
              <a:t>).pdf</a:t>
            </a:r>
            <a:endParaRPr lang="zh-CN" altLang="en-US" dirty="0"/>
          </a:p>
        </p:txBody>
      </p:sp>
      <p:sp>
        <p:nvSpPr>
          <p:cNvPr id="10" name="矩形 9">
            <a:extLst>
              <a:ext uri="{FF2B5EF4-FFF2-40B4-BE49-F238E27FC236}">
                <a16:creationId xmlns:a16="http://schemas.microsoft.com/office/drawing/2014/main" id="{EB7126C6-47DC-4FD2-BAF0-833CE1D1BC12}"/>
              </a:ext>
            </a:extLst>
          </p:cNvPr>
          <p:cNvSpPr/>
          <p:nvPr/>
        </p:nvSpPr>
        <p:spPr>
          <a:xfrm>
            <a:off x="5006443" y="5275274"/>
            <a:ext cx="3696261" cy="460382"/>
          </a:xfrm>
          <a:prstGeom prst="rect">
            <a:avLst/>
          </a:prstGeom>
          <a:solidFill>
            <a:schemeClr val="bg1">
              <a:lumMod val="95000"/>
            </a:schemeClr>
          </a:solidFill>
        </p:spPr>
        <p:txBody>
          <a:bodyPr wrap="square">
            <a:spAutoFit/>
          </a:bodyPr>
          <a:lstStyle/>
          <a:p>
            <a:pPr algn="ctr">
              <a:lnSpc>
                <a:spcPct val="150000"/>
              </a:lnSpc>
            </a:pPr>
            <a:r>
              <a:rPr lang="zh-CN" altLang="en-US" dirty="0"/>
              <a:t>图像融合</a:t>
            </a:r>
            <a:r>
              <a:rPr lang="en-US" altLang="zh-CN" dirty="0"/>
              <a:t>-</a:t>
            </a:r>
            <a:r>
              <a:rPr lang="zh-CN" altLang="en-US" dirty="0">
                <a:solidFill>
                  <a:srgbClr val="FF0000"/>
                </a:solidFill>
              </a:rPr>
              <a:t>操作视频</a:t>
            </a:r>
            <a:r>
              <a:rPr lang="en-US" altLang="zh-CN" dirty="0"/>
              <a:t>(ESRI</a:t>
            </a:r>
            <a:r>
              <a:rPr lang="zh-CN" altLang="en-US" dirty="0"/>
              <a:t>素材</a:t>
            </a:r>
            <a:r>
              <a:rPr lang="en-US" altLang="zh-CN" dirty="0"/>
              <a:t>).</a:t>
            </a:r>
            <a:r>
              <a:rPr lang="en-US" altLang="zh-CN" dirty="0" err="1"/>
              <a:t>wmv</a:t>
            </a:r>
            <a:endParaRPr lang="zh-CN" altLang="en-US" dirty="0"/>
          </a:p>
        </p:txBody>
      </p:sp>
      <p:sp>
        <p:nvSpPr>
          <p:cNvPr id="2" name="矩形 1">
            <a:extLst>
              <a:ext uri="{FF2B5EF4-FFF2-40B4-BE49-F238E27FC236}">
                <a16:creationId xmlns:a16="http://schemas.microsoft.com/office/drawing/2014/main" id="{9A9B8670-7D09-454E-96A8-B7FB40BC5D4D}"/>
              </a:ext>
            </a:extLst>
          </p:cNvPr>
          <p:cNvSpPr/>
          <p:nvPr/>
        </p:nvSpPr>
        <p:spPr>
          <a:xfrm>
            <a:off x="251520" y="1061675"/>
            <a:ext cx="4572000" cy="523220"/>
          </a:xfrm>
          <a:prstGeom prst="rect">
            <a:avLst/>
          </a:prstGeom>
        </p:spPr>
        <p:txBody>
          <a:bodyPr>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不同传感器的融合</a:t>
            </a:r>
            <a:endParaRPr lang="en-US" altLang="zh-CN" sz="28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852893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a:extLst>
              <a:ext uri="{FF2B5EF4-FFF2-40B4-BE49-F238E27FC236}">
                <a16:creationId xmlns:a16="http://schemas.microsoft.com/office/drawing/2014/main" id="{30621C23-B8C0-4E33-9F79-F4D7AAFC9C05}"/>
              </a:ext>
            </a:extLst>
          </p:cNvPr>
          <p:cNvSpPr txBox="1">
            <a:spLocks/>
          </p:cNvSpPr>
          <p:nvPr/>
        </p:nvSpPr>
        <p:spPr>
          <a:xfrm>
            <a:off x="539552" y="1772816"/>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2400" dirty="0"/>
              <a:t>数据：</a:t>
            </a:r>
            <a:endParaRPr lang="en-US" altLang="zh-CN" sz="2400" dirty="0"/>
          </a:p>
          <a:p>
            <a:pPr lvl="1">
              <a:lnSpc>
                <a:spcPct val="150000"/>
              </a:lnSpc>
            </a:pPr>
            <a:r>
              <a:rPr lang="en-US" altLang="zh-CN" sz="2400" dirty="0" err="1"/>
              <a:t>QuickBird</a:t>
            </a:r>
            <a:r>
              <a:rPr lang="zh-CN" altLang="en-US" sz="2400" dirty="0"/>
              <a:t>全色图像</a:t>
            </a:r>
          </a:p>
          <a:p>
            <a:pPr lvl="1">
              <a:lnSpc>
                <a:spcPct val="150000"/>
              </a:lnSpc>
            </a:pPr>
            <a:r>
              <a:rPr lang="en-US" altLang="zh-CN" sz="2400" dirty="0" err="1"/>
              <a:t>QuickBird</a:t>
            </a:r>
            <a:r>
              <a:rPr lang="zh-CN" altLang="en-US" sz="2400" dirty="0"/>
              <a:t>多光谱图像</a:t>
            </a:r>
            <a:endParaRPr lang="da-DK" altLang="zh-CN" sz="2400" dirty="0"/>
          </a:p>
          <a:p>
            <a:pPr>
              <a:lnSpc>
                <a:spcPct val="150000"/>
              </a:lnSpc>
            </a:pPr>
            <a:r>
              <a:rPr lang="zh-CN" altLang="en-US" sz="2400" dirty="0"/>
              <a:t>内容：图像融合处理</a:t>
            </a:r>
            <a:endParaRPr lang="en-US" altLang="zh-CN" sz="2400" dirty="0"/>
          </a:p>
          <a:p>
            <a:pPr>
              <a:lnSpc>
                <a:spcPct val="150000"/>
              </a:lnSpc>
            </a:pPr>
            <a:r>
              <a:rPr lang="zh-CN" altLang="en-US" sz="2400" dirty="0"/>
              <a:t>工具：</a:t>
            </a:r>
            <a:r>
              <a:rPr lang="en-US" altLang="zh-CN" sz="2400" dirty="0"/>
              <a:t>/ Image Sharpening / </a:t>
            </a:r>
            <a:r>
              <a:rPr lang="en-US" altLang="zh-CN" sz="2400" dirty="0" err="1"/>
              <a:t>NNDiffuse</a:t>
            </a:r>
            <a:r>
              <a:rPr lang="en-US" altLang="zh-CN" sz="2400" dirty="0"/>
              <a:t> Pan Sharpening</a:t>
            </a:r>
          </a:p>
        </p:txBody>
      </p:sp>
      <p:sp>
        <p:nvSpPr>
          <p:cNvPr id="9" name="矩形 8">
            <a:extLst>
              <a:ext uri="{FF2B5EF4-FFF2-40B4-BE49-F238E27FC236}">
                <a16:creationId xmlns:a16="http://schemas.microsoft.com/office/drawing/2014/main" id="{41F0F318-4036-41D4-A837-0DA92D20822A}"/>
              </a:ext>
            </a:extLst>
          </p:cNvPr>
          <p:cNvSpPr/>
          <p:nvPr/>
        </p:nvSpPr>
        <p:spPr>
          <a:xfrm>
            <a:off x="510916" y="5275274"/>
            <a:ext cx="3728780" cy="460382"/>
          </a:xfrm>
          <a:prstGeom prst="rect">
            <a:avLst/>
          </a:prstGeom>
          <a:solidFill>
            <a:schemeClr val="bg1">
              <a:lumMod val="95000"/>
            </a:schemeClr>
          </a:solidFill>
        </p:spPr>
        <p:txBody>
          <a:bodyPr wrap="square">
            <a:spAutoFit/>
          </a:bodyPr>
          <a:lstStyle/>
          <a:p>
            <a:pPr algn="ctr">
              <a:lnSpc>
                <a:spcPct val="150000"/>
              </a:lnSpc>
            </a:pPr>
            <a:r>
              <a:rPr lang="zh-CN" altLang="en-US" dirty="0"/>
              <a:t>图像融合</a:t>
            </a:r>
            <a:r>
              <a:rPr lang="en-US" altLang="zh-CN" dirty="0"/>
              <a:t>-</a:t>
            </a:r>
            <a:r>
              <a:rPr lang="zh-CN" altLang="en-US" dirty="0">
                <a:solidFill>
                  <a:srgbClr val="FF0000"/>
                </a:solidFill>
              </a:rPr>
              <a:t>操作手册</a:t>
            </a:r>
            <a:r>
              <a:rPr lang="en-US" altLang="zh-CN" dirty="0"/>
              <a:t>(ESRI</a:t>
            </a:r>
            <a:r>
              <a:rPr lang="zh-CN" altLang="en-US" dirty="0"/>
              <a:t>素材</a:t>
            </a:r>
            <a:r>
              <a:rPr lang="en-US" altLang="zh-CN" dirty="0"/>
              <a:t>).pdf</a:t>
            </a:r>
            <a:endParaRPr lang="zh-CN" altLang="en-US" dirty="0"/>
          </a:p>
        </p:txBody>
      </p:sp>
      <p:sp>
        <p:nvSpPr>
          <p:cNvPr id="10" name="矩形 9">
            <a:extLst>
              <a:ext uri="{FF2B5EF4-FFF2-40B4-BE49-F238E27FC236}">
                <a16:creationId xmlns:a16="http://schemas.microsoft.com/office/drawing/2014/main" id="{EB7126C6-47DC-4FD2-BAF0-833CE1D1BC12}"/>
              </a:ext>
            </a:extLst>
          </p:cNvPr>
          <p:cNvSpPr/>
          <p:nvPr/>
        </p:nvSpPr>
        <p:spPr>
          <a:xfrm>
            <a:off x="5006443" y="5275274"/>
            <a:ext cx="3696261" cy="460382"/>
          </a:xfrm>
          <a:prstGeom prst="rect">
            <a:avLst/>
          </a:prstGeom>
          <a:solidFill>
            <a:schemeClr val="bg1">
              <a:lumMod val="95000"/>
            </a:schemeClr>
          </a:solidFill>
        </p:spPr>
        <p:txBody>
          <a:bodyPr wrap="square">
            <a:spAutoFit/>
          </a:bodyPr>
          <a:lstStyle/>
          <a:p>
            <a:pPr algn="ctr">
              <a:lnSpc>
                <a:spcPct val="150000"/>
              </a:lnSpc>
            </a:pPr>
            <a:r>
              <a:rPr lang="zh-CN" altLang="en-US" dirty="0"/>
              <a:t>图像融合</a:t>
            </a:r>
            <a:r>
              <a:rPr lang="en-US" altLang="zh-CN" dirty="0"/>
              <a:t>-</a:t>
            </a:r>
            <a:r>
              <a:rPr lang="zh-CN" altLang="en-US" dirty="0">
                <a:solidFill>
                  <a:srgbClr val="FF0000"/>
                </a:solidFill>
              </a:rPr>
              <a:t>操作视频</a:t>
            </a:r>
            <a:r>
              <a:rPr lang="en-US" altLang="zh-CN" dirty="0"/>
              <a:t>(ESRI</a:t>
            </a:r>
            <a:r>
              <a:rPr lang="zh-CN" altLang="en-US" dirty="0"/>
              <a:t>素材</a:t>
            </a:r>
            <a:r>
              <a:rPr lang="en-US" altLang="zh-CN" dirty="0"/>
              <a:t>).</a:t>
            </a:r>
            <a:r>
              <a:rPr lang="en-US" altLang="zh-CN" dirty="0" err="1"/>
              <a:t>wmv</a:t>
            </a:r>
            <a:endParaRPr lang="zh-CN" altLang="en-US" dirty="0"/>
          </a:p>
        </p:txBody>
      </p:sp>
      <p:sp>
        <p:nvSpPr>
          <p:cNvPr id="2" name="矩形 1">
            <a:extLst>
              <a:ext uri="{FF2B5EF4-FFF2-40B4-BE49-F238E27FC236}">
                <a16:creationId xmlns:a16="http://schemas.microsoft.com/office/drawing/2014/main" id="{9A9B8670-7D09-454E-96A8-B7FB40BC5D4D}"/>
              </a:ext>
            </a:extLst>
          </p:cNvPr>
          <p:cNvSpPr/>
          <p:nvPr/>
        </p:nvSpPr>
        <p:spPr>
          <a:xfrm>
            <a:off x="251520" y="1061675"/>
            <a:ext cx="4572000" cy="523220"/>
          </a:xfrm>
          <a:prstGeom prst="rect">
            <a:avLst/>
          </a:prstGeom>
        </p:spPr>
        <p:txBody>
          <a:bodyPr>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相同传感器的融合</a:t>
            </a:r>
            <a:endParaRPr lang="en-US" altLang="zh-CN" sz="2800" dirty="0">
              <a:latin typeface="黑体" panose="02010609060101010101" pitchFamily="49" charset="-122"/>
              <a:ea typeface="黑体" panose="02010609060101010101" pitchFamily="49" charset="-122"/>
            </a:endParaRPr>
          </a:p>
        </p:txBody>
      </p:sp>
      <p:sp>
        <p:nvSpPr>
          <p:cNvPr id="7" name="标题 3">
            <a:extLst>
              <a:ext uri="{FF2B5EF4-FFF2-40B4-BE49-F238E27FC236}">
                <a16:creationId xmlns:a16="http://schemas.microsoft.com/office/drawing/2014/main" id="{7435E801-FB2D-44FA-8026-B5C313160983}"/>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7</a:t>
            </a:r>
            <a:endParaRPr lang="zh-CN" altLang="en-US" dirty="0">
              <a:solidFill>
                <a:schemeClr val="tx1"/>
              </a:solidFill>
            </a:endParaRPr>
          </a:p>
        </p:txBody>
      </p:sp>
    </p:spTree>
    <p:extLst>
      <p:ext uri="{BB962C8B-B14F-4D97-AF65-F5344CB8AC3E}">
        <p14:creationId xmlns:p14="http://schemas.microsoft.com/office/powerpoint/2010/main" val="185260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本节收获</a:t>
            </a:r>
          </a:p>
        </p:txBody>
      </p:sp>
      <p:sp>
        <p:nvSpPr>
          <p:cNvPr id="4" name="内容占位符 1">
            <a:extLst>
              <a:ext uri="{FF2B5EF4-FFF2-40B4-BE49-F238E27FC236}">
                <a16:creationId xmlns:a16="http://schemas.microsoft.com/office/drawing/2014/main" id="{06DC213F-A727-4FC8-9987-DF580E67909A}"/>
              </a:ext>
            </a:extLst>
          </p:cNvPr>
          <p:cNvSpPr txBox="1">
            <a:spLocks/>
          </p:cNvSpPr>
          <p:nvPr/>
        </p:nvSpPr>
        <p:spPr>
          <a:xfrm>
            <a:off x="500063" y="1340768"/>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zh-CN" altLang="en-US" sz="2800" dirty="0"/>
              <a:t>掌握图像融合的基本方法和流程</a:t>
            </a:r>
            <a:endParaRPr lang="en-US" altLang="zh-CN" sz="2800" dirty="0"/>
          </a:p>
          <a:p>
            <a:pPr>
              <a:spcAft>
                <a:spcPts val="600"/>
              </a:spcAft>
            </a:pPr>
            <a:r>
              <a:rPr lang="zh-CN" altLang="en-US" sz="2800" dirty="0"/>
              <a:t>学习了</a:t>
            </a:r>
            <a:r>
              <a:rPr lang="en-US" altLang="zh-CN" sz="2800" dirty="0"/>
              <a:t>Gram-Schmidt Pan Sharpening</a:t>
            </a:r>
            <a:r>
              <a:rPr lang="zh-CN" altLang="zh-CN" sz="2800" dirty="0"/>
              <a:t>融合方法</a:t>
            </a:r>
            <a:endParaRPr lang="en-US" altLang="zh-CN" sz="2800" dirty="0"/>
          </a:p>
          <a:p>
            <a:pPr>
              <a:spcAft>
                <a:spcPts val="600"/>
              </a:spcAft>
            </a:pPr>
            <a:r>
              <a:rPr lang="zh-CN" altLang="en-US" sz="2800" dirty="0"/>
              <a:t>学习了</a:t>
            </a:r>
            <a:r>
              <a:rPr lang="en-US" altLang="zh-CN" sz="2800" dirty="0" err="1"/>
              <a:t>NNDiffuse</a:t>
            </a:r>
            <a:r>
              <a:rPr lang="en-US" altLang="zh-CN" sz="2800" dirty="0"/>
              <a:t> </a:t>
            </a:r>
            <a:r>
              <a:rPr lang="zh-CN" altLang="zh-CN" sz="2800" dirty="0"/>
              <a:t>图像融合工具</a:t>
            </a:r>
            <a:endParaRPr lang="en-US" altLang="zh-CN" sz="2800" dirty="0"/>
          </a:p>
          <a:p>
            <a:pPr>
              <a:spcAft>
                <a:spcPts val="600"/>
              </a:spcAft>
            </a:pPr>
            <a:r>
              <a:rPr lang="zh-CN" altLang="en-US" sz="2800" dirty="0"/>
              <a:t>学习了不同传感器、相同传感器图像的融合</a:t>
            </a:r>
          </a:p>
        </p:txBody>
      </p:sp>
    </p:spTree>
    <p:extLst>
      <p:ext uri="{BB962C8B-B14F-4D97-AF65-F5344CB8AC3E}">
        <p14:creationId xmlns:p14="http://schemas.microsoft.com/office/powerpoint/2010/main" val="674142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2DA66D1-B71C-4CAC-A8A8-83F8BE0A79D0}"/>
              </a:ext>
            </a:extLst>
          </p:cNvPr>
          <p:cNvSpPr txBox="1"/>
          <p:nvPr/>
        </p:nvSpPr>
        <p:spPr>
          <a:xfrm>
            <a:off x="1547664" y="2420888"/>
            <a:ext cx="6336704" cy="2532553"/>
          </a:xfrm>
          <a:prstGeom prst="rect">
            <a:avLst/>
          </a:prstGeom>
          <a:solidFill>
            <a:schemeClr val="bg1"/>
          </a:solidFill>
          <a:ln w="38100">
            <a:solidFill>
              <a:srgbClr val="104780"/>
            </a:solidFill>
          </a:ln>
          <a:effectLst>
            <a:outerShdw blurRad="101600" dist="127000" dir="3000000" algn="tl" rotWithShape="0">
              <a:prstClr val="black">
                <a:alpha val="40000"/>
              </a:prstClr>
            </a:outerShdw>
          </a:effectLst>
        </p:spPr>
        <p:txBody>
          <a:bodyPr wrap="square" rtlCol="0">
            <a:spAutoFit/>
          </a:bodyPr>
          <a:lstStyle/>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1.</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 数据融合</a:t>
            </a:r>
          </a:p>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a:t>
            </a:r>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几何校正</a:t>
            </a:r>
            <a:endPar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200000"/>
              </a:lnSpc>
            </a:pPr>
            <a:endParaRPr lang="zh-CN" altLang="en-US"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024E01E-165C-464E-911C-F437991B8797}"/>
              </a:ext>
            </a:extLst>
          </p:cNvPr>
          <p:cNvSpPr>
            <a:spLocks noGrp="1"/>
          </p:cNvSpPr>
          <p:nvPr>
            <p:ph type="title"/>
          </p:nvPr>
        </p:nvSpPr>
        <p:spPr/>
        <p:txBody>
          <a:bodyPr/>
          <a:lstStyle/>
          <a:p>
            <a:r>
              <a:rPr lang="zh-CN" altLang="en-US" dirty="0">
                <a:solidFill>
                  <a:srgbClr val="002060"/>
                </a:solidFill>
              </a:rPr>
              <a:t>                           目 录</a:t>
            </a:r>
          </a:p>
        </p:txBody>
      </p:sp>
    </p:spTree>
    <p:custDataLst>
      <p:tags r:id="rId1"/>
    </p:custDataLst>
    <p:extLst>
      <p:ext uri="{BB962C8B-B14F-4D97-AF65-F5344CB8AC3E}">
        <p14:creationId xmlns:p14="http://schemas.microsoft.com/office/powerpoint/2010/main" val="3150496834"/>
      </p:ext>
    </p:extLst>
  </p:cSld>
  <p:clrMapOvr>
    <a:masterClrMapping/>
  </p:clrMapOvr>
  <mc:AlternateContent xmlns:mc="http://schemas.openxmlformats.org/markup-compatibility/2006" xmlns:p14="http://schemas.microsoft.com/office/powerpoint/2010/main">
    <mc:Choice Requires="p14">
      <p:transition spd="slow" p14:dur="2000" advTm="35024"/>
    </mc:Choice>
    <mc:Fallback xmlns="">
      <p:transition spd="slow" advTm="3502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几何校正</a:t>
            </a:r>
          </a:p>
        </p:txBody>
      </p:sp>
      <p:sp>
        <p:nvSpPr>
          <p:cNvPr id="6" name="内容占位符 1">
            <a:extLst>
              <a:ext uri="{FF2B5EF4-FFF2-40B4-BE49-F238E27FC236}">
                <a16:creationId xmlns:a16="http://schemas.microsoft.com/office/drawing/2014/main" id="{8AC01429-09FF-469C-9280-62725C13851B}"/>
              </a:ext>
            </a:extLst>
          </p:cNvPr>
          <p:cNvSpPr txBox="1">
            <a:spLocks/>
          </p:cNvSpPr>
          <p:nvPr/>
        </p:nvSpPr>
        <p:spPr>
          <a:xfrm>
            <a:off x="233772" y="1124744"/>
            <a:ext cx="8676456" cy="525196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spcAft>
                <a:spcPts val="600"/>
              </a:spcAft>
            </a:pPr>
            <a:r>
              <a:rPr lang="zh-CN" altLang="en-US" sz="2400" dirty="0"/>
              <a:t>图像的几何形变一般分为两大类：</a:t>
            </a:r>
            <a:r>
              <a:rPr lang="zh-CN" altLang="en-US" sz="2400" dirty="0">
                <a:solidFill>
                  <a:srgbClr val="FF0000"/>
                </a:solidFill>
              </a:rPr>
              <a:t>系统性</a:t>
            </a:r>
            <a:r>
              <a:rPr lang="zh-CN" altLang="en-US" sz="2400" dirty="0"/>
              <a:t>和</a:t>
            </a:r>
            <a:r>
              <a:rPr lang="zh-CN" altLang="en-US" sz="2400" dirty="0">
                <a:solidFill>
                  <a:srgbClr val="FF0000"/>
                </a:solidFill>
              </a:rPr>
              <a:t>非系统性</a:t>
            </a:r>
            <a:r>
              <a:rPr lang="zh-CN" altLang="en-US" sz="2400" dirty="0"/>
              <a:t>。系统性几何形变一般是由传感器本身引起的，</a:t>
            </a:r>
            <a:r>
              <a:rPr lang="zh-CN" altLang="en-US" sz="2400" dirty="0">
                <a:solidFill>
                  <a:srgbClr val="FF0000"/>
                </a:solidFill>
              </a:rPr>
              <a:t>有规律可循、具有可预测性</a:t>
            </a:r>
            <a:r>
              <a:rPr lang="zh-CN" altLang="en-US" sz="2400" dirty="0"/>
              <a:t>，可以用传感器模型来校正，卫星地面接收站已经完成了这项工作；非系统性几何形变是</a:t>
            </a:r>
            <a:r>
              <a:rPr lang="zh-CN" altLang="en-US" sz="2400" dirty="0">
                <a:solidFill>
                  <a:srgbClr val="FF0000"/>
                </a:solidFill>
              </a:rPr>
              <a:t>不规律的</a:t>
            </a:r>
            <a:r>
              <a:rPr lang="zh-CN" altLang="en-US" sz="2400" dirty="0"/>
              <a:t>，引起它的缘由可以是传感器平台本身的高度、姿势等，也可以是地球曲率及空气折射的变化、地形变化等。</a:t>
            </a:r>
          </a:p>
          <a:p>
            <a:pPr>
              <a:lnSpc>
                <a:spcPct val="150000"/>
              </a:lnSpc>
              <a:spcAft>
                <a:spcPts val="600"/>
              </a:spcAft>
            </a:pPr>
            <a:r>
              <a:rPr lang="zh-CN" altLang="en-US" sz="2400" dirty="0"/>
              <a:t>几何校正，是利用地面控制点和几何校正数学模型来矫正非系统性因素产生的误差，将图像投影到平面上使其符合地图投影系统的过程。</a:t>
            </a:r>
          </a:p>
        </p:txBody>
      </p:sp>
    </p:spTree>
    <p:extLst>
      <p:ext uri="{BB962C8B-B14F-4D97-AF65-F5344CB8AC3E}">
        <p14:creationId xmlns:p14="http://schemas.microsoft.com/office/powerpoint/2010/main" val="1953657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几何校正</a:t>
            </a:r>
          </a:p>
        </p:txBody>
      </p:sp>
      <p:sp>
        <p:nvSpPr>
          <p:cNvPr id="6" name="内容占位符 1">
            <a:extLst>
              <a:ext uri="{FF2B5EF4-FFF2-40B4-BE49-F238E27FC236}">
                <a16:creationId xmlns:a16="http://schemas.microsoft.com/office/drawing/2014/main" id="{8AC01429-09FF-469C-9280-62725C13851B}"/>
              </a:ext>
            </a:extLst>
          </p:cNvPr>
          <p:cNvSpPr txBox="1">
            <a:spLocks/>
          </p:cNvSpPr>
          <p:nvPr/>
        </p:nvSpPr>
        <p:spPr>
          <a:xfrm>
            <a:off x="519807" y="1830242"/>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zh-CN" altLang="en-US" sz="2800" dirty="0"/>
              <a:t>不同的数据需要使用</a:t>
            </a:r>
            <a:r>
              <a:rPr lang="zh-CN" altLang="en-US" sz="2800" dirty="0">
                <a:solidFill>
                  <a:srgbClr val="FF0000"/>
                </a:solidFill>
              </a:rPr>
              <a:t>不同的几何校正方法</a:t>
            </a:r>
            <a:r>
              <a:rPr lang="zh-CN" altLang="en-US" sz="2800" dirty="0"/>
              <a:t>，对于重返周期短、空间分辨率较低的卫星数据，如</a:t>
            </a:r>
            <a:r>
              <a:rPr lang="en-US" altLang="zh-CN" sz="2800" dirty="0"/>
              <a:t>AVHRR</a:t>
            </a:r>
            <a:r>
              <a:rPr lang="zh-CN" altLang="en-US" sz="2800" dirty="0"/>
              <a:t>、</a:t>
            </a:r>
            <a:r>
              <a:rPr lang="en-US" altLang="zh-CN" sz="2800" dirty="0"/>
              <a:t>MODIS</a:t>
            </a:r>
            <a:r>
              <a:rPr lang="zh-CN" altLang="en-US" sz="2800" dirty="0"/>
              <a:t>、</a:t>
            </a:r>
            <a:r>
              <a:rPr lang="en-US" altLang="zh-CN" sz="2800" dirty="0" err="1"/>
              <a:t>SeaWiFS</a:t>
            </a:r>
            <a:r>
              <a:rPr lang="zh-CN" altLang="en-US" sz="2800" dirty="0"/>
              <a:t>等，地面控制点的选择有相当的难度。这时，可以利用卫星传感器</a:t>
            </a:r>
            <a:r>
              <a:rPr lang="zh-CN" altLang="en-US" sz="2800" dirty="0">
                <a:solidFill>
                  <a:srgbClr val="FF0000"/>
                </a:solidFill>
              </a:rPr>
              <a:t>自带的地理定位文件进行几何校正</a:t>
            </a:r>
            <a:r>
              <a:rPr lang="zh-CN" altLang="en-US" sz="2800" dirty="0"/>
              <a:t>，校正精度主要受地理定位文件的影响。</a:t>
            </a:r>
          </a:p>
        </p:txBody>
      </p:sp>
      <p:sp>
        <p:nvSpPr>
          <p:cNvPr id="2" name="矩形 1">
            <a:extLst>
              <a:ext uri="{FF2B5EF4-FFF2-40B4-BE49-F238E27FC236}">
                <a16:creationId xmlns:a16="http://schemas.microsoft.com/office/drawing/2014/main" id="{8869FFEC-D398-46F1-844C-DA29E509BCD0}"/>
              </a:ext>
            </a:extLst>
          </p:cNvPr>
          <p:cNvSpPr/>
          <p:nvPr/>
        </p:nvSpPr>
        <p:spPr>
          <a:xfrm>
            <a:off x="251520" y="1124744"/>
            <a:ext cx="5314275" cy="523220"/>
          </a:xfrm>
          <a:prstGeom prst="rect">
            <a:avLst/>
          </a:prstGeom>
        </p:spPr>
        <p:txBody>
          <a:bodyPr wrap="none">
            <a:spAutoFit/>
          </a:bodyPr>
          <a:lstStyle/>
          <a:p>
            <a:pPr marL="457200" indent="-4572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基于自带定位信息的几何校正</a:t>
            </a:r>
          </a:p>
        </p:txBody>
      </p:sp>
    </p:spTree>
    <p:extLst>
      <p:ext uri="{BB962C8B-B14F-4D97-AF65-F5344CB8AC3E}">
        <p14:creationId xmlns:p14="http://schemas.microsoft.com/office/powerpoint/2010/main" val="4241201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8</a:t>
            </a:r>
            <a:endParaRPr lang="zh-CN" altLang="en-US" dirty="0">
              <a:solidFill>
                <a:schemeClr val="tx1"/>
              </a:solidFill>
            </a:endParaRPr>
          </a:p>
        </p:txBody>
      </p:sp>
      <p:sp>
        <p:nvSpPr>
          <p:cNvPr id="4" name="内容占位符 1">
            <a:extLst>
              <a:ext uri="{FF2B5EF4-FFF2-40B4-BE49-F238E27FC236}">
                <a16:creationId xmlns:a16="http://schemas.microsoft.com/office/drawing/2014/main" id="{30621C23-B8C0-4E33-9F79-F4D7AAFC9C05}"/>
              </a:ext>
            </a:extLst>
          </p:cNvPr>
          <p:cNvSpPr txBox="1">
            <a:spLocks/>
          </p:cNvSpPr>
          <p:nvPr/>
        </p:nvSpPr>
        <p:spPr>
          <a:xfrm>
            <a:off x="539552" y="1772816"/>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2400" dirty="0"/>
              <a:t>数据：</a:t>
            </a:r>
            <a:endParaRPr lang="en-US" altLang="zh-CN" sz="2400" dirty="0"/>
          </a:p>
          <a:p>
            <a:pPr lvl="1">
              <a:lnSpc>
                <a:spcPct val="150000"/>
              </a:lnSpc>
            </a:pPr>
            <a:r>
              <a:rPr lang="en-US" altLang="zh-CN" sz="2400" dirty="0"/>
              <a:t>MODIS Level 1B</a:t>
            </a:r>
            <a:r>
              <a:rPr lang="zh-CN" altLang="en-US" sz="2400" dirty="0"/>
              <a:t>级数据</a:t>
            </a:r>
          </a:p>
          <a:p>
            <a:pPr lvl="1">
              <a:lnSpc>
                <a:spcPct val="150000"/>
              </a:lnSpc>
            </a:pPr>
            <a:r>
              <a:rPr lang="en-US" altLang="zh-CN" sz="2400" dirty="0"/>
              <a:t>ENVISAT</a:t>
            </a:r>
            <a:r>
              <a:rPr lang="zh-CN" altLang="en-US" sz="2400" dirty="0"/>
              <a:t>的</a:t>
            </a:r>
            <a:r>
              <a:rPr lang="en-US" altLang="zh-CN" sz="2400" dirty="0"/>
              <a:t>ASAR</a:t>
            </a:r>
            <a:r>
              <a:rPr lang="zh-CN" altLang="en-US" sz="2400" dirty="0"/>
              <a:t>数据</a:t>
            </a:r>
          </a:p>
          <a:p>
            <a:pPr lvl="1">
              <a:lnSpc>
                <a:spcPct val="150000"/>
              </a:lnSpc>
            </a:pPr>
            <a:r>
              <a:rPr lang="zh-CN" altLang="en-US" sz="2400" dirty="0"/>
              <a:t>风云三号</a:t>
            </a:r>
            <a:r>
              <a:rPr lang="en-US" altLang="zh-CN" sz="2400" dirty="0"/>
              <a:t>VIRR</a:t>
            </a:r>
            <a:r>
              <a:rPr lang="zh-CN" altLang="en-US" sz="2400" dirty="0"/>
              <a:t>数据</a:t>
            </a:r>
          </a:p>
          <a:p>
            <a:pPr>
              <a:lnSpc>
                <a:spcPct val="150000"/>
              </a:lnSpc>
            </a:pPr>
            <a:r>
              <a:rPr lang="zh-CN" altLang="en-US" sz="2400" dirty="0"/>
              <a:t>内容：基于自带定位信息的几何校正</a:t>
            </a:r>
            <a:endParaRPr lang="en-US" altLang="zh-CN" sz="2400" dirty="0"/>
          </a:p>
          <a:p>
            <a:pPr>
              <a:lnSpc>
                <a:spcPct val="150000"/>
              </a:lnSpc>
            </a:pPr>
            <a:r>
              <a:rPr lang="zh-CN" altLang="en-US" sz="2400" dirty="0"/>
              <a:t>工具：</a:t>
            </a:r>
            <a:endParaRPr lang="en-US" altLang="zh-CN" sz="2400" dirty="0"/>
          </a:p>
          <a:p>
            <a:pPr lvl="1">
              <a:lnSpc>
                <a:spcPct val="150000"/>
              </a:lnSpc>
            </a:pPr>
            <a:r>
              <a:rPr lang="en-US" altLang="zh-CN" sz="2000" dirty="0"/>
              <a:t>Geometric Correction /</a:t>
            </a:r>
            <a:r>
              <a:rPr lang="en-US" altLang="zh-CN" sz="2000" dirty="0" err="1"/>
              <a:t>Georeference</a:t>
            </a:r>
            <a:r>
              <a:rPr lang="en-US" altLang="zh-CN" sz="2000" dirty="0"/>
              <a:t> by Sensor/</a:t>
            </a:r>
          </a:p>
          <a:p>
            <a:pPr lvl="1">
              <a:lnSpc>
                <a:spcPct val="150000"/>
              </a:lnSpc>
            </a:pPr>
            <a:r>
              <a:rPr lang="en-US" altLang="zh-CN" sz="2000" dirty="0"/>
              <a:t>/Geometric Correction/</a:t>
            </a:r>
            <a:r>
              <a:rPr lang="en-US" altLang="zh-CN" sz="2000" dirty="0" err="1"/>
              <a:t>Georeference</a:t>
            </a:r>
            <a:r>
              <a:rPr lang="en-US" altLang="zh-CN" sz="2000" dirty="0"/>
              <a:t> from GLT</a:t>
            </a:r>
          </a:p>
          <a:p>
            <a:pPr>
              <a:lnSpc>
                <a:spcPct val="150000"/>
              </a:lnSpc>
            </a:pPr>
            <a:endParaRPr lang="en-US" altLang="zh-CN" sz="2400" dirty="0"/>
          </a:p>
        </p:txBody>
      </p:sp>
      <p:sp>
        <p:nvSpPr>
          <p:cNvPr id="2" name="矩形 1">
            <a:extLst>
              <a:ext uri="{FF2B5EF4-FFF2-40B4-BE49-F238E27FC236}">
                <a16:creationId xmlns:a16="http://schemas.microsoft.com/office/drawing/2014/main" id="{9A9B8670-7D09-454E-96A8-B7FB40BC5D4D}"/>
              </a:ext>
            </a:extLst>
          </p:cNvPr>
          <p:cNvSpPr/>
          <p:nvPr/>
        </p:nvSpPr>
        <p:spPr>
          <a:xfrm>
            <a:off x="251520" y="1061675"/>
            <a:ext cx="5760640" cy="523220"/>
          </a:xfrm>
          <a:prstGeom prst="rect">
            <a:avLst/>
          </a:prstGeom>
        </p:spPr>
        <p:txBody>
          <a:bodyPr wrap="square">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基于自带定位信息的几何校正</a:t>
            </a:r>
          </a:p>
        </p:txBody>
      </p:sp>
    </p:spTree>
    <p:extLst>
      <p:ext uri="{BB962C8B-B14F-4D97-AF65-F5344CB8AC3E}">
        <p14:creationId xmlns:p14="http://schemas.microsoft.com/office/powerpoint/2010/main" val="2317315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8</a:t>
            </a:r>
            <a:endParaRPr lang="zh-CN" altLang="en-US" dirty="0">
              <a:solidFill>
                <a:schemeClr val="tx1"/>
              </a:solidFill>
            </a:endParaRPr>
          </a:p>
        </p:txBody>
      </p:sp>
      <p:sp>
        <p:nvSpPr>
          <p:cNvPr id="2" name="矩形 1">
            <a:extLst>
              <a:ext uri="{FF2B5EF4-FFF2-40B4-BE49-F238E27FC236}">
                <a16:creationId xmlns:a16="http://schemas.microsoft.com/office/drawing/2014/main" id="{9A9B8670-7D09-454E-96A8-B7FB40BC5D4D}"/>
              </a:ext>
            </a:extLst>
          </p:cNvPr>
          <p:cNvSpPr/>
          <p:nvPr/>
        </p:nvSpPr>
        <p:spPr>
          <a:xfrm>
            <a:off x="251520" y="1061675"/>
            <a:ext cx="5760640" cy="954107"/>
          </a:xfrm>
          <a:prstGeom prst="rect">
            <a:avLst/>
          </a:prstGeom>
        </p:spPr>
        <p:txBody>
          <a:bodyPr wrap="square">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MODIS </a:t>
            </a:r>
            <a:r>
              <a:rPr lang="zh-CN" altLang="en-US" sz="2800" dirty="0">
                <a:latin typeface="黑体" panose="02010609060101010101" pitchFamily="49" charset="-122"/>
                <a:ea typeface="黑体" panose="02010609060101010101" pitchFamily="49" charset="-122"/>
              </a:rPr>
              <a:t>数据几何校正</a:t>
            </a:r>
          </a:p>
          <a:p>
            <a:pPr marL="342900" indent="-342900">
              <a:buFont typeface="Wingdings" panose="05000000000000000000" pitchFamily="2" charset="2"/>
              <a:buChar char="Ø"/>
            </a:pPr>
            <a:endParaRPr lang="zh-CN" altLang="en-US" sz="2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AE2AAC64-1EE6-4FBD-8034-315C447DEC8F}"/>
              </a:ext>
            </a:extLst>
          </p:cNvPr>
          <p:cNvSpPr/>
          <p:nvPr/>
        </p:nvSpPr>
        <p:spPr>
          <a:xfrm>
            <a:off x="611560" y="1916832"/>
            <a:ext cx="7992888" cy="235295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000" dirty="0"/>
              <a:t>打开数据：主 菜 单 </a:t>
            </a:r>
            <a:r>
              <a:rPr lang="en-US" altLang="zh-CN" sz="2000" dirty="0"/>
              <a:t>File &gt; Open AS &gt; EOS &gt; MODIS </a:t>
            </a:r>
            <a:r>
              <a:rPr lang="zh-CN" altLang="en-US" sz="2000" dirty="0"/>
              <a:t>， 选 择 “</a:t>
            </a:r>
            <a:r>
              <a:rPr lang="en-US" altLang="zh-CN" sz="2000" dirty="0"/>
              <a:t>MOD021KM.A2013185.0245.005.2013185094144.hdf </a:t>
            </a:r>
            <a:r>
              <a:rPr lang="zh-CN" altLang="en-US" sz="2000" dirty="0"/>
              <a:t>”；</a:t>
            </a:r>
            <a:endParaRPr lang="en-US" altLang="zh-CN" sz="2000" dirty="0"/>
          </a:p>
          <a:p>
            <a:pPr marL="285750" indent="-285750">
              <a:lnSpc>
                <a:spcPct val="150000"/>
              </a:lnSpc>
              <a:buFont typeface="Arial" panose="020B0604020202020204" pitchFamily="34" charset="0"/>
              <a:buChar char="•"/>
            </a:pPr>
            <a:r>
              <a:rPr lang="zh-CN" altLang="en-US" sz="2000" dirty="0"/>
              <a:t>选择校正模型：在 </a:t>
            </a:r>
            <a:r>
              <a:rPr lang="en-US" altLang="zh-CN" sz="2000" dirty="0"/>
              <a:t>Toolbox </a:t>
            </a:r>
            <a:r>
              <a:rPr lang="zh-CN" altLang="en-US" sz="2000" dirty="0"/>
              <a:t>中，打开 </a:t>
            </a:r>
            <a:r>
              <a:rPr lang="en-US" altLang="zh-CN" sz="2000" dirty="0"/>
              <a:t>Geometric Correction /</a:t>
            </a:r>
            <a:r>
              <a:rPr lang="en-US" altLang="zh-CN" sz="2000" dirty="0" err="1"/>
              <a:t>Georeference</a:t>
            </a:r>
            <a:r>
              <a:rPr lang="en-US" altLang="zh-CN" sz="2000" dirty="0"/>
              <a:t> by Sensor/ </a:t>
            </a:r>
            <a:r>
              <a:rPr lang="en-US" altLang="zh-CN" sz="2000" dirty="0" err="1"/>
              <a:t>Georeference</a:t>
            </a:r>
            <a:r>
              <a:rPr lang="en-US" altLang="zh-CN" sz="2000" dirty="0"/>
              <a:t> MODIS</a:t>
            </a:r>
            <a:endParaRPr lang="zh-CN" altLang="en-US" sz="2000" dirty="0"/>
          </a:p>
          <a:p>
            <a:pPr>
              <a:lnSpc>
                <a:spcPct val="150000"/>
              </a:lnSpc>
            </a:pPr>
            <a:endParaRPr lang="zh-CN" altLang="en-US" sz="2000" dirty="0"/>
          </a:p>
        </p:txBody>
      </p:sp>
      <p:pic>
        <p:nvPicPr>
          <p:cNvPr id="7" name="图片 6">
            <a:extLst>
              <a:ext uri="{FF2B5EF4-FFF2-40B4-BE49-F238E27FC236}">
                <a16:creationId xmlns:a16="http://schemas.microsoft.com/office/drawing/2014/main" id="{4F22E4B0-9F5E-4AC1-8A30-ACBA06EEA24D}"/>
              </a:ext>
            </a:extLst>
          </p:cNvPr>
          <p:cNvPicPr>
            <a:picLocks noChangeAspect="1"/>
          </p:cNvPicPr>
          <p:nvPr/>
        </p:nvPicPr>
        <p:blipFill>
          <a:blip r:embed="rId3"/>
          <a:stretch>
            <a:fillRect/>
          </a:stretch>
        </p:blipFill>
        <p:spPr>
          <a:xfrm>
            <a:off x="971600" y="4077072"/>
            <a:ext cx="3257371" cy="2389510"/>
          </a:xfrm>
          <a:prstGeom prst="rect">
            <a:avLst/>
          </a:prstGeom>
        </p:spPr>
      </p:pic>
      <p:pic>
        <p:nvPicPr>
          <p:cNvPr id="8" name="图片 7">
            <a:extLst>
              <a:ext uri="{FF2B5EF4-FFF2-40B4-BE49-F238E27FC236}">
                <a16:creationId xmlns:a16="http://schemas.microsoft.com/office/drawing/2014/main" id="{A60780FD-665F-4083-A1DE-6B0015DBC24B}"/>
              </a:ext>
            </a:extLst>
          </p:cNvPr>
          <p:cNvPicPr>
            <a:picLocks noChangeAspect="1"/>
          </p:cNvPicPr>
          <p:nvPr/>
        </p:nvPicPr>
        <p:blipFill>
          <a:blip r:embed="rId4"/>
          <a:stretch>
            <a:fillRect/>
          </a:stretch>
        </p:blipFill>
        <p:spPr>
          <a:xfrm>
            <a:off x="6300192" y="3386884"/>
            <a:ext cx="2163698" cy="3354484"/>
          </a:xfrm>
          <a:prstGeom prst="rect">
            <a:avLst/>
          </a:prstGeom>
        </p:spPr>
      </p:pic>
      <p:sp>
        <p:nvSpPr>
          <p:cNvPr id="9" name="椭圆 8">
            <a:extLst>
              <a:ext uri="{FF2B5EF4-FFF2-40B4-BE49-F238E27FC236}">
                <a16:creationId xmlns:a16="http://schemas.microsoft.com/office/drawing/2014/main" id="{0A969A52-B34E-4BB6-98E2-28C039B8B5BB}"/>
              </a:ext>
            </a:extLst>
          </p:cNvPr>
          <p:cNvSpPr/>
          <p:nvPr/>
        </p:nvSpPr>
        <p:spPr>
          <a:xfrm>
            <a:off x="6300192" y="4005064"/>
            <a:ext cx="576064" cy="21602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6DFBC5EE-B842-4B7B-96E8-D240B0C74A20}"/>
              </a:ext>
            </a:extLst>
          </p:cNvPr>
          <p:cNvSpPr/>
          <p:nvPr/>
        </p:nvSpPr>
        <p:spPr>
          <a:xfrm>
            <a:off x="6440368" y="4650873"/>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4CA74EA-0C35-48F6-A22B-91A4B9C8AAEB}"/>
              </a:ext>
            </a:extLst>
          </p:cNvPr>
          <p:cNvSpPr/>
          <p:nvPr/>
        </p:nvSpPr>
        <p:spPr>
          <a:xfrm>
            <a:off x="6228184" y="6093296"/>
            <a:ext cx="2011298"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30839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E7BBF7AE-4C88-4F31-826A-D3EAD52DD138}"/>
              </a:ext>
            </a:extLst>
          </p:cNvPr>
          <p:cNvPicPr>
            <a:picLocks noChangeAspect="1"/>
          </p:cNvPicPr>
          <p:nvPr/>
        </p:nvPicPr>
        <p:blipFill>
          <a:blip r:embed="rId3"/>
          <a:stretch>
            <a:fillRect/>
          </a:stretch>
        </p:blipFill>
        <p:spPr>
          <a:xfrm>
            <a:off x="4320706" y="3808119"/>
            <a:ext cx="3918776" cy="3011118"/>
          </a:xfrm>
          <a:prstGeom prst="rect">
            <a:avLst/>
          </a:prstGeom>
        </p:spPr>
      </p:pic>
      <p:pic>
        <p:nvPicPr>
          <p:cNvPr id="15" name="图片 14">
            <a:extLst>
              <a:ext uri="{FF2B5EF4-FFF2-40B4-BE49-F238E27FC236}">
                <a16:creationId xmlns:a16="http://schemas.microsoft.com/office/drawing/2014/main" id="{AAF8BBCA-6D66-4E85-8BD0-82DDE25136C0}"/>
              </a:ext>
            </a:extLst>
          </p:cNvPr>
          <p:cNvPicPr>
            <a:picLocks noChangeAspect="1"/>
          </p:cNvPicPr>
          <p:nvPr/>
        </p:nvPicPr>
        <p:blipFill>
          <a:blip r:embed="rId4"/>
          <a:stretch>
            <a:fillRect/>
          </a:stretch>
        </p:blipFill>
        <p:spPr>
          <a:xfrm>
            <a:off x="539552" y="3763478"/>
            <a:ext cx="2192685" cy="3044520"/>
          </a:xfrm>
          <a:prstGeom prst="rect">
            <a:avLst/>
          </a:prstGeom>
        </p:spPr>
      </p:pic>
      <p:sp>
        <p:nvSpPr>
          <p:cNvPr id="2" name="矩形 1">
            <a:extLst>
              <a:ext uri="{FF2B5EF4-FFF2-40B4-BE49-F238E27FC236}">
                <a16:creationId xmlns:a16="http://schemas.microsoft.com/office/drawing/2014/main" id="{9A9B8670-7D09-454E-96A8-B7FB40BC5D4D}"/>
              </a:ext>
            </a:extLst>
          </p:cNvPr>
          <p:cNvSpPr/>
          <p:nvPr/>
        </p:nvSpPr>
        <p:spPr>
          <a:xfrm>
            <a:off x="251520" y="1061675"/>
            <a:ext cx="5760640" cy="954107"/>
          </a:xfrm>
          <a:prstGeom prst="rect">
            <a:avLst/>
          </a:prstGeom>
        </p:spPr>
        <p:txBody>
          <a:bodyPr wrap="square">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2</a:t>
            </a: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ASAR </a:t>
            </a:r>
            <a:r>
              <a:rPr lang="zh-CN" altLang="en-US" sz="2800" dirty="0">
                <a:latin typeface="黑体" panose="02010609060101010101" pitchFamily="49" charset="-122"/>
                <a:ea typeface="黑体" panose="02010609060101010101" pitchFamily="49" charset="-122"/>
              </a:rPr>
              <a:t>数据几何校正</a:t>
            </a:r>
          </a:p>
          <a:p>
            <a:pPr marL="342900" indent="-342900">
              <a:buFont typeface="Wingdings" panose="05000000000000000000" pitchFamily="2" charset="2"/>
              <a:buChar char="Ø"/>
            </a:pPr>
            <a:endParaRPr lang="zh-CN" altLang="en-US" sz="2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AE2AAC64-1EE6-4FBD-8034-315C447DEC8F}"/>
              </a:ext>
            </a:extLst>
          </p:cNvPr>
          <p:cNvSpPr/>
          <p:nvPr/>
        </p:nvSpPr>
        <p:spPr>
          <a:xfrm>
            <a:off x="611560" y="1695786"/>
            <a:ext cx="7992888" cy="1891287"/>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000" dirty="0"/>
              <a:t>打开数据：主 菜 单 </a:t>
            </a:r>
            <a:r>
              <a:rPr lang="en-US" altLang="zh-CN" sz="2000" dirty="0"/>
              <a:t>File &gt; Open As&gt; ENVISAT &gt; ASAR</a:t>
            </a:r>
            <a:r>
              <a:rPr lang="zh-CN" altLang="en-US" sz="2000" dirty="0"/>
              <a:t>， 选 择 “</a:t>
            </a:r>
            <a:r>
              <a:rPr lang="en-US" altLang="zh-CN" sz="2000" dirty="0"/>
              <a:t>ASA_IMP_1PNDPA20040429_..._0457.N1</a:t>
            </a:r>
            <a:r>
              <a:rPr lang="zh-CN" altLang="en-US" sz="2000" dirty="0"/>
              <a:t>”；</a:t>
            </a:r>
            <a:endParaRPr lang="en-US" altLang="zh-CN" sz="2000" dirty="0"/>
          </a:p>
          <a:p>
            <a:pPr marL="285750" indent="-285750">
              <a:lnSpc>
                <a:spcPct val="150000"/>
              </a:lnSpc>
              <a:buFont typeface="Arial" panose="020B0604020202020204" pitchFamily="34" charset="0"/>
              <a:buChar char="•"/>
            </a:pPr>
            <a:r>
              <a:rPr lang="zh-CN" altLang="en-US" sz="2000" dirty="0"/>
              <a:t>选择校正模型：在 </a:t>
            </a:r>
            <a:r>
              <a:rPr lang="en-US" altLang="zh-CN" sz="2000" dirty="0"/>
              <a:t>Toolbox </a:t>
            </a:r>
            <a:r>
              <a:rPr lang="zh-CN" altLang="en-US" sz="2000" dirty="0"/>
              <a:t>中，打开 </a:t>
            </a:r>
            <a:r>
              <a:rPr lang="en-US" altLang="zh-CN" sz="2000" dirty="0"/>
              <a:t>Geometric Correction &gt; </a:t>
            </a:r>
            <a:r>
              <a:rPr lang="en-US" altLang="zh-CN" sz="2000" dirty="0" err="1"/>
              <a:t>Georeference</a:t>
            </a:r>
            <a:r>
              <a:rPr lang="en-US" altLang="zh-CN" sz="2000" dirty="0"/>
              <a:t> by Sensor &gt; </a:t>
            </a:r>
            <a:r>
              <a:rPr lang="en-US" altLang="zh-CN" sz="2000" dirty="0" err="1"/>
              <a:t>Georeference</a:t>
            </a:r>
            <a:r>
              <a:rPr lang="en-US" altLang="zh-CN" sz="2000" dirty="0"/>
              <a:t> ASAR</a:t>
            </a:r>
            <a:endParaRPr lang="zh-CN" altLang="en-US" sz="2000" dirty="0"/>
          </a:p>
        </p:txBody>
      </p:sp>
      <p:sp>
        <p:nvSpPr>
          <p:cNvPr id="9" name="椭圆 8">
            <a:extLst>
              <a:ext uri="{FF2B5EF4-FFF2-40B4-BE49-F238E27FC236}">
                <a16:creationId xmlns:a16="http://schemas.microsoft.com/office/drawing/2014/main" id="{0A969A52-B34E-4BB6-98E2-28C039B8B5BB}"/>
              </a:ext>
            </a:extLst>
          </p:cNvPr>
          <p:cNvSpPr/>
          <p:nvPr/>
        </p:nvSpPr>
        <p:spPr>
          <a:xfrm>
            <a:off x="6376802" y="4137200"/>
            <a:ext cx="931502" cy="2279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4CA74EA-0C35-48F6-A22B-91A4B9C8AAEB}"/>
              </a:ext>
            </a:extLst>
          </p:cNvPr>
          <p:cNvSpPr/>
          <p:nvPr/>
        </p:nvSpPr>
        <p:spPr>
          <a:xfrm>
            <a:off x="6084168" y="4406153"/>
            <a:ext cx="2011298" cy="28803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884DC8BA-8356-4590-A409-A8FBDD97B620}"/>
              </a:ext>
            </a:extLst>
          </p:cNvPr>
          <p:cNvSpPr/>
          <p:nvPr/>
        </p:nvSpPr>
        <p:spPr>
          <a:xfrm>
            <a:off x="539552" y="4321679"/>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42555B1-0F3A-4471-A2D3-E437F022E8A3}"/>
              </a:ext>
            </a:extLst>
          </p:cNvPr>
          <p:cNvSpPr/>
          <p:nvPr/>
        </p:nvSpPr>
        <p:spPr>
          <a:xfrm>
            <a:off x="611560" y="4862883"/>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DBE3AC88-F930-4AE0-951F-A03DBA6643AB}"/>
              </a:ext>
            </a:extLst>
          </p:cNvPr>
          <p:cNvSpPr/>
          <p:nvPr/>
        </p:nvSpPr>
        <p:spPr>
          <a:xfrm>
            <a:off x="1631421" y="5741242"/>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标题 3">
            <a:extLst>
              <a:ext uri="{FF2B5EF4-FFF2-40B4-BE49-F238E27FC236}">
                <a16:creationId xmlns:a16="http://schemas.microsoft.com/office/drawing/2014/main" id="{1BC79412-0946-4313-8E9C-7A8B8D445F0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8</a:t>
            </a:r>
            <a:endParaRPr lang="zh-CN" altLang="en-US" dirty="0">
              <a:solidFill>
                <a:schemeClr val="tx1"/>
              </a:solidFill>
            </a:endParaRPr>
          </a:p>
        </p:txBody>
      </p:sp>
    </p:spTree>
    <p:extLst>
      <p:ext uri="{BB962C8B-B14F-4D97-AF65-F5344CB8AC3E}">
        <p14:creationId xmlns:p14="http://schemas.microsoft.com/office/powerpoint/2010/main" val="3099278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A9B8670-7D09-454E-96A8-B7FB40BC5D4D}"/>
              </a:ext>
            </a:extLst>
          </p:cNvPr>
          <p:cNvSpPr/>
          <p:nvPr/>
        </p:nvSpPr>
        <p:spPr>
          <a:xfrm>
            <a:off x="251520" y="1061675"/>
            <a:ext cx="8568952" cy="954107"/>
          </a:xfrm>
          <a:prstGeom prst="rect">
            <a:avLst/>
          </a:prstGeom>
        </p:spPr>
        <p:txBody>
          <a:bodyPr wrap="square">
            <a:spAutoFit/>
          </a:bodyPr>
          <a:lstStyle/>
          <a:p>
            <a:pPr marL="342900" indent="-342900">
              <a:buFont typeface="Wingdings" panose="05000000000000000000" pitchFamily="2" charset="2"/>
              <a:buChar char="Ø"/>
            </a:pPr>
            <a:r>
              <a:rPr lang="zh-CN" altLang="en-US"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3</a:t>
            </a:r>
            <a:r>
              <a:rPr lang="zh-CN" altLang="en-US" sz="2800" dirty="0">
                <a:latin typeface="黑体" panose="02010609060101010101" pitchFamily="49" charset="-122"/>
                <a:ea typeface="黑体" panose="02010609060101010101" pitchFamily="49" charset="-122"/>
              </a:rPr>
              <a:t>）基于 </a:t>
            </a:r>
            <a:r>
              <a:rPr lang="en-US" altLang="zh-CN" sz="2800" dirty="0">
                <a:latin typeface="黑体" panose="02010609060101010101" pitchFamily="49" charset="-122"/>
                <a:ea typeface="黑体" panose="02010609060101010101" pitchFamily="49" charset="-122"/>
              </a:rPr>
              <a:t>GLT </a:t>
            </a:r>
            <a:r>
              <a:rPr lang="zh-CN" altLang="en-US" sz="2800" dirty="0">
                <a:latin typeface="黑体" panose="02010609060101010101" pitchFamily="49" charset="-122"/>
                <a:ea typeface="黑体" panose="02010609060101010101" pitchFamily="49" charset="-122"/>
              </a:rPr>
              <a:t>方法的国产卫星影像几何校正</a:t>
            </a:r>
          </a:p>
          <a:p>
            <a:pPr marL="342900" indent="-342900">
              <a:buFont typeface="Wingdings" panose="05000000000000000000" pitchFamily="2" charset="2"/>
              <a:buChar char="Ø"/>
            </a:pPr>
            <a:endParaRPr lang="zh-CN" altLang="en-US" sz="2800" dirty="0">
              <a:latin typeface="黑体" panose="02010609060101010101" pitchFamily="49" charset="-122"/>
              <a:ea typeface="黑体" panose="02010609060101010101" pitchFamily="49" charset="-122"/>
            </a:endParaRPr>
          </a:p>
        </p:txBody>
      </p:sp>
      <p:sp>
        <p:nvSpPr>
          <p:cNvPr id="6" name="矩形 5">
            <a:extLst>
              <a:ext uri="{FF2B5EF4-FFF2-40B4-BE49-F238E27FC236}">
                <a16:creationId xmlns:a16="http://schemas.microsoft.com/office/drawing/2014/main" id="{AE2AAC64-1EE6-4FBD-8034-315C447DEC8F}"/>
              </a:ext>
            </a:extLst>
          </p:cNvPr>
          <p:cNvSpPr/>
          <p:nvPr/>
        </p:nvSpPr>
        <p:spPr>
          <a:xfrm>
            <a:off x="611560" y="1916832"/>
            <a:ext cx="8208912" cy="188628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000" dirty="0"/>
              <a:t>打开数据：</a:t>
            </a:r>
            <a:r>
              <a:rPr lang="en-US" altLang="zh-CN" sz="2000" dirty="0"/>
              <a:t>File &gt; Open</a:t>
            </a:r>
            <a:r>
              <a:rPr lang="zh-CN" altLang="en-US" sz="2000" dirty="0"/>
              <a:t>，选择文件后缀是</a:t>
            </a:r>
            <a:r>
              <a:rPr lang="en-US" altLang="zh-CN" sz="2000" dirty="0"/>
              <a:t>.he5 </a:t>
            </a:r>
            <a:r>
              <a:rPr lang="zh-CN" altLang="en-US" sz="2000" dirty="0"/>
              <a:t>的文件， 进入 </a:t>
            </a:r>
            <a:r>
              <a:rPr lang="en-US" altLang="zh-CN" sz="2000" dirty="0"/>
              <a:t>Select HDF5 Datasets </a:t>
            </a:r>
            <a:r>
              <a:rPr lang="zh-CN" altLang="en-US" sz="2000" dirty="0"/>
              <a:t>面板；依次选择</a:t>
            </a:r>
            <a:r>
              <a:rPr lang="en-US" altLang="zh-CN" sz="2000" dirty="0" err="1"/>
              <a:t>EV_RefSB</a:t>
            </a:r>
            <a:r>
              <a:rPr lang="zh-CN" altLang="en-US" sz="2000" dirty="0"/>
              <a:t>、</a:t>
            </a:r>
            <a:r>
              <a:rPr lang="en-US" altLang="zh-CN" sz="2000" dirty="0"/>
              <a:t>Latitude </a:t>
            </a:r>
            <a:r>
              <a:rPr lang="zh-CN" altLang="en-US" sz="2000" dirty="0"/>
              <a:t>和 </a:t>
            </a:r>
            <a:r>
              <a:rPr lang="en-US" altLang="zh-CN" sz="2000" dirty="0"/>
              <a:t>Longitude</a:t>
            </a:r>
            <a:r>
              <a:rPr lang="zh-CN" altLang="en-US" sz="2000" dirty="0"/>
              <a:t>。</a:t>
            </a:r>
            <a:endParaRPr lang="en-US" altLang="zh-CN" sz="2000" dirty="0"/>
          </a:p>
          <a:p>
            <a:pPr marL="285750" indent="-285750">
              <a:lnSpc>
                <a:spcPct val="150000"/>
              </a:lnSpc>
              <a:buFont typeface="Arial" panose="020B0604020202020204" pitchFamily="34" charset="0"/>
              <a:buChar char="•"/>
            </a:pPr>
            <a:r>
              <a:rPr lang="zh-CN" altLang="en-US" sz="2000" dirty="0"/>
              <a:t>生成 </a:t>
            </a:r>
            <a:r>
              <a:rPr lang="en-US" altLang="zh-CN" sz="2000" dirty="0"/>
              <a:t>GLT </a:t>
            </a:r>
            <a:r>
              <a:rPr lang="zh-CN" altLang="en-US" sz="2000" dirty="0"/>
              <a:t>文件：</a:t>
            </a:r>
            <a:r>
              <a:rPr lang="en-US" altLang="zh-CN" sz="2000" dirty="0"/>
              <a:t>/Geometric Correction/Build GLT</a:t>
            </a:r>
            <a:r>
              <a:rPr lang="zh-CN" altLang="en-US" sz="2000" dirty="0"/>
              <a:t>中</a:t>
            </a:r>
            <a:r>
              <a:rPr lang="en-US" altLang="zh-CN" sz="2000" dirty="0"/>
              <a:t>X </a:t>
            </a:r>
            <a:r>
              <a:rPr lang="zh-CN" altLang="en-US" sz="2000" dirty="0"/>
              <a:t>选 </a:t>
            </a:r>
            <a:r>
              <a:rPr lang="en-US" altLang="zh-CN" sz="2000" dirty="0"/>
              <a:t>longitude</a:t>
            </a:r>
            <a:r>
              <a:rPr lang="zh-CN" altLang="en-US" sz="2000" dirty="0"/>
              <a:t>， </a:t>
            </a:r>
            <a:r>
              <a:rPr lang="en-US" altLang="zh-CN" sz="2000" dirty="0"/>
              <a:t>Y </a:t>
            </a:r>
            <a:r>
              <a:rPr lang="zh-CN" altLang="en-US" sz="2000" dirty="0"/>
              <a:t>选</a:t>
            </a:r>
            <a:r>
              <a:rPr lang="en-US" altLang="zh-CN" sz="2000" dirty="0"/>
              <a:t>latitude </a:t>
            </a:r>
            <a:r>
              <a:rPr lang="zh-CN" altLang="en-US" sz="2000" dirty="0"/>
              <a:t>；选择 </a:t>
            </a:r>
            <a:r>
              <a:rPr lang="en-US" altLang="zh-CN" sz="2000" dirty="0"/>
              <a:t>Geographic Lat/Lon</a:t>
            </a:r>
            <a:r>
              <a:rPr lang="zh-CN" altLang="en-US" sz="2000" dirty="0"/>
              <a:t>， </a:t>
            </a:r>
            <a:r>
              <a:rPr lang="en-US" altLang="zh-CN" sz="2000" dirty="0"/>
              <a:t>WGS-84</a:t>
            </a:r>
            <a:r>
              <a:rPr lang="zh-CN" altLang="en-US" sz="2000" dirty="0"/>
              <a:t>；旋转角度为 </a:t>
            </a:r>
            <a:r>
              <a:rPr lang="en-US" altLang="zh-CN" sz="2000" dirty="0"/>
              <a:t>0</a:t>
            </a:r>
            <a:r>
              <a:rPr lang="zh-CN" altLang="en-US" sz="2000" dirty="0"/>
              <a:t>。</a:t>
            </a:r>
          </a:p>
        </p:txBody>
      </p:sp>
      <p:pic>
        <p:nvPicPr>
          <p:cNvPr id="18" name="图片 17">
            <a:extLst>
              <a:ext uri="{FF2B5EF4-FFF2-40B4-BE49-F238E27FC236}">
                <a16:creationId xmlns:a16="http://schemas.microsoft.com/office/drawing/2014/main" id="{B921BB54-FFAD-4670-B156-EE66731981FD}"/>
              </a:ext>
            </a:extLst>
          </p:cNvPr>
          <p:cNvPicPr>
            <a:picLocks noChangeAspect="1"/>
          </p:cNvPicPr>
          <p:nvPr/>
        </p:nvPicPr>
        <p:blipFill>
          <a:blip r:embed="rId3"/>
          <a:stretch>
            <a:fillRect/>
          </a:stretch>
        </p:blipFill>
        <p:spPr>
          <a:xfrm>
            <a:off x="3844140" y="3861048"/>
            <a:ext cx="1591956" cy="2950424"/>
          </a:xfrm>
          <a:prstGeom prst="rect">
            <a:avLst/>
          </a:prstGeom>
        </p:spPr>
      </p:pic>
      <p:pic>
        <p:nvPicPr>
          <p:cNvPr id="19" name="图片 18">
            <a:extLst>
              <a:ext uri="{FF2B5EF4-FFF2-40B4-BE49-F238E27FC236}">
                <a16:creationId xmlns:a16="http://schemas.microsoft.com/office/drawing/2014/main" id="{FF786F8E-43C1-4CD7-B74F-E2A0D671627D}"/>
              </a:ext>
            </a:extLst>
          </p:cNvPr>
          <p:cNvPicPr>
            <a:picLocks noChangeAspect="1"/>
          </p:cNvPicPr>
          <p:nvPr/>
        </p:nvPicPr>
        <p:blipFill>
          <a:blip r:embed="rId4"/>
          <a:stretch>
            <a:fillRect/>
          </a:stretch>
        </p:blipFill>
        <p:spPr>
          <a:xfrm>
            <a:off x="107504" y="3912437"/>
            <a:ext cx="3384376" cy="2945563"/>
          </a:xfrm>
          <a:prstGeom prst="rect">
            <a:avLst/>
          </a:prstGeom>
        </p:spPr>
      </p:pic>
      <p:pic>
        <p:nvPicPr>
          <p:cNvPr id="3" name="图片 2">
            <a:extLst>
              <a:ext uri="{FF2B5EF4-FFF2-40B4-BE49-F238E27FC236}">
                <a16:creationId xmlns:a16="http://schemas.microsoft.com/office/drawing/2014/main" id="{EA5FFA2B-3001-4DA7-9916-AFFA8DBEE456}"/>
              </a:ext>
            </a:extLst>
          </p:cNvPr>
          <p:cNvPicPr>
            <a:picLocks noChangeAspect="1"/>
          </p:cNvPicPr>
          <p:nvPr/>
        </p:nvPicPr>
        <p:blipFill>
          <a:blip r:embed="rId5"/>
          <a:stretch>
            <a:fillRect/>
          </a:stretch>
        </p:blipFill>
        <p:spPr>
          <a:xfrm>
            <a:off x="5868144" y="4121491"/>
            <a:ext cx="2754293" cy="2478863"/>
          </a:xfrm>
          <a:prstGeom prst="rect">
            <a:avLst/>
          </a:prstGeom>
        </p:spPr>
      </p:pic>
      <p:sp>
        <p:nvSpPr>
          <p:cNvPr id="8" name="椭圆 7">
            <a:extLst>
              <a:ext uri="{FF2B5EF4-FFF2-40B4-BE49-F238E27FC236}">
                <a16:creationId xmlns:a16="http://schemas.microsoft.com/office/drawing/2014/main" id="{958CF930-5E30-4D83-B085-D12DECC6D2E8}"/>
              </a:ext>
            </a:extLst>
          </p:cNvPr>
          <p:cNvSpPr/>
          <p:nvPr/>
        </p:nvSpPr>
        <p:spPr>
          <a:xfrm>
            <a:off x="102924" y="4581128"/>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DC0A117C-AAC6-41FA-A53D-8212BAE4ADBE}"/>
              </a:ext>
            </a:extLst>
          </p:cNvPr>
          <p:cNvSpPr/>
          <p:nvPr/>
        </p:nvSpPr>
        <p:spPr>
          <a:xfrm>
            <a:off x="1631421" y="4176709"/>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AA3FF6D8-400F-4A3C-90D9-492B12E34007}"/>
              </a:ext>
            </a:extLst>
          </p:cNvPr>
          <p:cNvSpPr/>
          <p:nvPr/>
        </p:nvSpPr>
        <p:spPr>
          <a:xfrm>
            <a:off x="3632056" y="5400845"/>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A3ADE81C-EE5E-46F9-A803-97DEDC10BF76}"/>
              </a:ext>
            </a:extLst>
          </p:cNvPr>
          <p:cNvSpPr/>
          <p:nvPr/>
        </p:nvSpPr>
        <p:spPr>
          <a:xfrm>
            <a:off x="3635896" y="4221088"/>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5B12169-D819-4386-B535-40AB1FB4564C}"/>
              </a:ext>
            </a:extLst>
          </p:cNvPr>
          <p:cNvSpPr/>
          <p:nvPr/>
        </p:nvSpPr>
        <p:spPr>
          <a:xfrm>
            <a:off x="6224344" y="4896789"/>
            <a:ext cx="1299984" cy="1883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3">
            <a:extLst>
              <a:ext uri="{FF2B5EF4-FFF2-40B4-BE49-F238E27FC236}">
                <a16:creationId xmlns:a16="http://schemas.microsoft.com/office/drawing/2014/main" id="{F9D0E2ED-FAE4-4BED-A901-306F4CF2D666}"/>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8</a:t>
            </a:r>
            <a:endParaRPr lang="zh-CN" altLang="en-US" dirty="0">
              <a:solidFill>
                <a:schemeClr val="tx1"/>
              </a:solidFill>
            </a:endParaRPr>
          </a:p>
        </p:txBody>
      </p:sp>
    </p:spTree>
    <p:extLst>
      <p:ext uri="{BB962C8B-B14F-4D97-AF65-F5344CB8AC3E}">
        <p14:creationId xmlns:p14="http://schemas.microsoft.com/office/powerpoint/2010/main" val="367634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本节收获</a:t>
            </a:r>
          </a:p>
        </p:txBody>
      </p:sp>
      <p:sp>
        <p:nvSpPr>
          <p:cNvPr id="4" name="内容占位符 1">
            <a:extLst>
              <a:ext uri="{FF2B5EF4-FFF2-40B4-BE49-F238E27FC236}">
                <a16:creationId xmlns:a16="http://schemas.microsoft.com/office/drawing/2014/main" id="{06DC213F-A727-4FC8-9987-DF580E67909A}"/>
              </a:ext>
            </a:extLst>
          </p:cNvPr>
          <p:cNvSpPr txBox="1">
            <a:spLocks/>
          </p:cNvSpPr>
          <p:nvPr/>
        </p:nvSpPr>
        <p:spPr>
          <a:xfrm>
            <a:off x="500063" y="1340768"/>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pPr>
            <a:r>
              <a:rPr lang="zh-CN" altLang="en-US" sz="2800" dirty="0"/>
              <a:t>了解低分辨率卫星影像技术校正方法</a:t>
            </a:r>
          </a:p>
          <a:p>
            <a:pPr>
              <a:spcAft>
                <a:spcPts val="600"/>
              </a:spcAft>
            </a:pPr>
            <a:r>
              <a:rPr lang="zh-CN" altLang="en-US" sz="2800" dirty="0"/>
              <a:t>学习了</a:t>
            </a:r>
            <a:r>
              <a:rPr lang="en-US" altLang="zh-CN" sz="2800" dirty="0"/>
              <a:t>MODIS</a:t>
            </a:r>
            <a:r>
              <a:rPr lang="zh-CN" altLang="en-US" sz="2800" dirty="0"/>
              <a:t>、</a:t>
            </a:r>
            <a:r>
              <a:rPr lang="en-US" altLang="zh-CN" sz="2800" dirty="0"/>
              <a:t>ENVISAT</a:t>
            </a:r>
            <a:r>
              <a:rPr lang="zh-CN" altLang="en-US" sz="2800" dirty="0"/>
              <a:t>等中低分辨率数据的几何校正</a:t>
            </a:r>
          </a:p>
          <a:p>
            <a:pPr>
              <a:spcAft>
                <a:spcPts val="600"/>
              </a:spcAft>
            </a:pPr>
            <a:r>
              <a:rPr lang="zh-CN" altLang="en-US" sz="2800" dirty="0"/>
              <a:t>学习了基于</a:t>
            </a:r>
            <a:r>
              <a:rPr lang="en-US" altLang="zh-CN" sz="2800" dirty="0"/>
              <a:t>GLT</a:t>
            </a:r>
            <a:r>
              <a:rPr lang="zh-CN" altLang="en-US" sz="2800" dirty="0"/>
              <a:t>几何校正方法。</a:t>
            </a:r>
          </a:p>
        </p:txBody>
      </p:sp>
    </p:spTree>
    <p:extLst>
      <p:ext uri="{BB962C8B-B14F-4D97-AF65-F5344CB8AC3E}">
        <p14:creationId xmlns:p14="http://schemas.microsoft.com/office/powerpoint/2010/main" val="3680679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38DA463-9EAB-43F0-B3F4-FE635B290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231" y="2047682"/>
            <a:ext cx="8335538" cy="2762636"/>
          </a:xfrm>
          <a:prstGeom prst="rect">
            <a:avLst/>
          </a:prstGeom>
        </p:spPr>
      </p:pic>
    </p:spTree>
    <p:extLst>
      <p:ext uri="{BB962C8B-B14F-4D97-AF65-F5344CB8AC3E}">
        <p14:creationId xmlns:p14="http://schemas.microsoft.com/office/powerpoint/2010/main" val="39456283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3.1"/>
</p:tagLst>
</file>

<file path=ppt/tags/tag2.xml><?xml version="1.0" encoding="utf-8"?>
<p:tagLst xmlns:a="http://schemas.openxmlformats.org/drawingml/2006/main" xmlns:r="http://schemas.openxmlformats.org/officeDocument/2006/relationships" xmlns:p="http://schemas.openxmlformats.org/presentationml/2006/main">
  <p:tag name="TIMING" val="|34.5"/>
</p:tagLst>
</file>

<file path=ppt/tags/tag3.xml><?xml version="1.0" encoding="utf-8"?>
<p:tagLst xmlns:a="http://schemas.openxmlformats.org/drawingml/2006/main" xmlns:r="http://schemas.openxmlformats.org/officeDocument/2006/relationships" xmlns:p="http://schemas.openxmlformats.org/presentationml/2006/main">
  <p:tag name="TIMING" val="|34.5"/>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8399</TotalTime>
  <Words>961</Words>
  <Application>Microsoft Office PowerPoint</Application>
  <PresentationFormat>全屏显示(4:3)</PresentationFormat>
  <Paragraphs>98</Paragraphs>
  <Slides>16</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Gulim</vt:lpstr>
      <vt:lpstr>黑体</vt:lpstr>
      <vt:lpstr>微软雅黑</vt:lpstr>
      <vt:lpstr>Arial</vt:lpstr>
      <vt:lpstr>Calibri</vt:lpstr>
      <vt:lpstr>Wingdings</vt:lpstr>
      <vt:lpstr>1_Office 主题​​</vt:lpstr>
      <vt:lpstr>PowerPoint 演示文稿</vt:lpstr>
      <vt:lpstr>                           目 录</vt:lpstr>
      <vt:lpstr>PowerPoint 演示文稿</vt:lpstr>
      <vt:lpstr>PowerPoint 演示文稿</vt:lpstr>
      <vt:lpstr>PowerPoint 演示文稿</vt:lpstr>
      <vt:lpstr>PowerPoint 演示文稿</vt:lpstr>
      <vt:lpstr>PowerPoint 演示文稿</vt:lpstr>
      <vt:lpstr>                           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Rong Shang</dc:creator>
  <cp:lastModifiedBy>Administrator</cp:lastModifiedBy>
  <cp:revision>480</cp:revision>
  <dcterms:created xsi:type="dcterms:W3CDTF">2015-11-30T10:41:40Z</dcterms:created>
  <dcterms:modified xsi:type="dcterms:W3CDTF">2026-10-15T05:12:44Z</dcterms:modified>
</cp:coreProperties>
</file>