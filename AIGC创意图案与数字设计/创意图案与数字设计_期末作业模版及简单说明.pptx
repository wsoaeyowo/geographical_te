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648" r:id="rId3"/>
    <p:sldId id="2587" r:id="rId5"/>
    <p:sldId id="2588" r:id="rId6"/>
    <p:sldId id="2437" r:id="rId7"/>
    <p:sldId id="2438" r:id="rId8"/>
    <p:sldId id="2600" r:id="rId9"/>
    <p:sldId id="2601" r:id="rId10"/>
    <p:sldId id="2603" r:id="rId11"/>
    <p:sldId id="2602" r:id="rId12"/>
    <p:sldId id="2604" r:id="rId13"/>
    <p:sldId id="2606" r:id="rId14"/>
    <p:sldId id="2607" r:id="rId15"/>
    <p:sldId id="2608" r:id="rId16"/>
    <p:sldId id="2609" r:id="rId17"/>
    <p:sldId id="2610" r:id="rId18"/>
    <p:sldId id="2611" r:id="rId19"/>
    <p:sldId id="2612" r:id="rId20"/>
    <p:sldId id="2614" r:id="rId21"/>
  </p:sldIdLst>
  <p:sldSz cx="12192000" cy="6858000"/>
  <p:notesSz cx="7103745" cy="10234295"/>
  <p:embeddedFontLst>
    <p:embeddedFont>
      <p:font typeface="Calibri" panose="020F0702030404030204" charset="0"/>
      <p:regular r:id="rId26"/>
    </p:embeddedFont>
    <p:embeddedFont>
      <p:font typeface="MiSans" panose="00000500000000000000" charset="-122"/>
      <p:regular r:id="rId27"/>
    </p:embeddedFont>
  </p:embeddedFontLst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8E63"/>
    <a:srgbClr val="DDD2C1"/>
    <a:srgbClr val="FF8D41"/>
    <a:srgbClr val="F6D148"/>
    <a:srgbClr val="202020"/>
    <a:srgbClr val="BDDD91"/>
    <a:srgbClr val="525152"/>
    <a:srgbClr val="505050"/>
    <a:srgbClr val="16130F"/>
    <a:srgbClr val="5449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86395"/>
  </p:normalViewPr>
  <p:slideViewPr>
    <p:cSldViewPr snapToGrid="0" showGuides="1">
      <p:cViewPr varScale="1">
        <p:scale>
          <a:sx n="107" d="100"/>
          <a:sy n="107" d="100"/>
        </p:scale>
        <p:origin x="176" y="224"/>
      </p:cViewPr>
      <p:guideLst>
        <p:guide orient="horz" pos="19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7.xml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现在就是大家最关心的期末作业</a:t>
            </a:r>
            <a:r>
              <a:rPr lang="zh-CN" altLang="en-US" dirty="0"/>
              <a:t>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这个题目不局限中国，强调历史依据和</a:t>
            </a:r>
            <a:r>
              <a:rPr lang="en-US" altLang="zh-CN" dirty="0"/>
              <a:t>AIGC</a:t>
            </a:r>
            <a:r>
              <a:rPr lang="zh-CN" altLang="en-US" dirty="0"/>
              <a:t>协作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2BB17-DE4E-4339-B59E-9728E93D4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- M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eltext"/>
          <p:cNvSpPr txBox="1"/>
          <p:nvPr>
            <p:ph type="title" hasCustomPrompt="1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 lIns="25400" tIns="25400" rIns="25400" bIns="25400"/>
          <a:lstStyle>
            <a:lvl1pPr algn="ctr" defTabSz="412750">
              <a:lnSpc>
                <a:spcPct val="100000"/>
              </a:lnSpc>
              <a:defRPr sz="5600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1pPr>
          </a:lstStyle>
          <a:p>
            <a:r>
              <a:t>Titeltext</a:t>
            </a:r>
          </a:p>
        </p:txBody>
      </p:sp>
      <p:sp>
        <p:nvSpPr>
          <p:cNvPr id="93" name="Foliennummer"/>
          <p:cNvSpPr txBox="1"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</p:spPr>
        <p:txBody>
          <a:bodyPr lIns="25400" tIns="25400" rIns="25400" bIns="25400" anchor="t"/>
          <a:lstStyle>
            <a:lvl1pPr algn="ctr" defTabSz="412750">
              <a:defRPr>
                <a:solidFill>
                  <a:srgbClr val="000000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360_F_598425278_mvfufKVMVYrP4ilBEyJ7wEY6xBjuP24N"/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0" y="0"/>
            <a:ext cx="12247245" cy="68580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6845300" y="5314950"/>
            <a:ext cx="5022850" cy="1169035"/>
            <a:chOff x="10832" y="8614"/>
            <a:chExt cx="7910" cy="1841"/>
          </a:xfrm>
        </p:grpSpPr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10832" y="8614"/>
              <a:ext cx="791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400" b="1" dirty="0">
                  <a:solidFill>
                    <a:schemeClr val="bg1"/>
                  </a:solidFill>
                  <a:latin typeface="Calibri" panose="020F0702030404030204" charset="0"/>
                  <a:ea typeface="MiSans" panose="00000500000000000000" charset="-122"/>
                  <a:cs typeface="MiSans" panose="00000500000000000000" charset="-122"/>
                  <a:sym typeface="+mn-ea"/>
                </a:rPr>
                <a:t>2025-2026</a:t>
              </a:r>
              <a:r>
                <a:rPr lang="zh-CN" altLang="en-US" sz="2400" b="1" dirty="0">
                  <a:solidFill>
                    <a:schemeClr val="bg1"/>
                  </a:solidFill>
                  <a:latin typeface="Calibri" panose="020F0702030404030204" charset="0"/>
                  <a:ea typeface="MiSans" panose="00000500000000000000" charset="-122"/>
                  <a:cs typeface="MiSans" panose="00000500000000000000" charset="-122"/>
                  <a:sym typeface="+mn-ea"/>
                </a:rPr>
                <a:t>第二学期</a:t>
              </a:r>
              <a:r>
                <a:rPr lang="zh-CN" altLang="de-DE" sz="2400" b="1" dirty="0">
                  <a:solidFill>
                    <a:schemeClr val="bg1"/>
                  </a:solidFill>
                  <a:latin typeface="Calibri" panose="020F0702030404030204" charset="0"/>
                  <a:ea typeface="MiSans" panose="00000500000000000000" charset="-122"/>
                  <a:cs typeface="MiSans" panose="00000500000000000000" charset="-122"/>
                  <a:sym typeface="+mn-ea"/>
                </a:rPr>
                <a:t>通识教育选修课</a:t>
              </a:r>
              <a:endParaRPr lang="zh-CN" altLang="de-DE" sz="2400" b="1" dirty="0">
                <a:solidFill>
                  <a:schemeClr val="bg1"/>
                </a:solidFill>
                <a:latin typeface="Calibri" panose="020F0702030404030204" charset="0"/>
                <a:ea typeface="MiSans" panose="00000500000000000000" charset="-122"/>
                <a:cs typeface="MiSans" panose="00000500000000000000" charset="-122"/>
                <a:sym typeface="+mn-ea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3"/>
              </p:custDataLst>
            </p:nvPr>
          </p:nvSpPr>
          <p:spPr>
            <a:xfrm>
              <a:off x="13476" y="9959"/>
              <a:ext cx="5266" cy="496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 fontAlgn="ctr">
                <a:lnSpc>
                  <a:spcPct val="100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</a:rPr>
                <a:t>主讲人：李成思</a:t>
              </a:r>
              <a:endParaRPr lang="zh-CN" altLang="en-US" sz="140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4"/>
              </p:custDataLst>
            </p:nvPr>
          </p:nvSpPr>
          <p:spPr bwMode="auto">
            <a:xfrm>
              <a:off x="12569" y="9601"/>
              <a:ext cx="6173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0" tIns="0" rIns="0" bIns="0" numCol="1" rtlCol="0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lvl="0" algn="r">
                <a:buClrTx/>
                <a:buSzTx/>
                <a:buFontTx/>
              </a:pPr>
              <a:r>
                <a:rPr lang="zh-CN" altLang="en-US" sz="1200" dirty="0">
                  <a:ln>
                    <a:noFill/>
                  </a:ln>
                  <a:solidFill>
                    <a:schemeClr val="bg1"/>
                  </a:solidFill>
                  <a:effectLst/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+mn-ea"/>
                </a:rPr>
                <a:t>【福建师范大学美术学院】</a:t>
              </a:r>
              <a:endParaRPr lang="zh-CN" altLang="en-US" sz="1200" dirty="0">
                <a:ln>
                  <a:noFill/>
                </a:ln>
                <a:solidFill>
                  <a:schemeClr val="bg1"/>
                </a:solidFill>
                <a:effectLst/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362585" y="525145"/>
            <a:ext cx="5540375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6600" b="1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AIGC</a:t>
            </a:r>
            <a:r>
              <a:rPr lang="zh-CN" altLang="en-US" sz="6600" b="1" dirty="0">
                <a:solidFill>
                  <a:schemeClr val="bg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创意图案与数字设计</a:t>
            </a:r>
            <a:endParaRPr lang="zh-CN" altLang="en-US" sz="6600" b="1" dirty="0">
              <a:solidFill>
                <a:schemeClr val="bg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388620" y="441960"/>
            <a:ext cx="11415395" cy="59201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02814" y="3075610"/>
            <a:ext cx="6786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期末作业提交方式及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时间节点</a:t>
            </a:r>
            <a:endParaRPr lang="zh-CN" altLang="en-US" sz="40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0055" y="428625"/>
            <a:ext cx="11311890" cy="600075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文件名</a:t>
            </a:r>
            <a:r>
              <a:rPr lang="en-US" altLang="zh-CN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</a:t>
            </a:r>
            <a:r>
              <a:rPr lang="zh-CN" altLang="en-US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张某某</a:t>
            </a:r>
            <a:r>
              <a:rPr lang="en-US" altLang="zh-CN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_1309475763_</a:t>
            </a:r>
            <a:r>
              <a:rPr lang="zh-CN" altLang="en-US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美术学院</a:t>
            </a:r>
            <a:endParaRPr lang="zh-CN" altLang="en-US" sz="24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文件格式</a:t>
            </a:r>
            <a:r>
              <a:rPr lang="en-US" altLang="zh-CN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：PPT</a:t>
            </a:r>
            <a:endParaRPr lang="en-US" altLang="zh-CN" sz="24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文件发送至邮箱</a:t>
            </a:r>
            <a:r>
              <a:rPr lang="en-US" altLang="zh-CN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</a:t>
            </a:r>
            <a:r>
              <a:rPr lang="en-US" altLang="zh-CN" sz="2400">
                <a:solidFill>
                  <a:schemeClr val="accent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chengsi.li.design@qq.com</a:t>
            </a:r>
            <a:endParaRPr lang="en-US" altLang="zh-CN" sz="24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en-US" altLang="zh-CN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特别注意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</a:t>
            </a:r>
            <a:endParaRPr lang="en-US" altLang="zh-CN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文件名一定要命名清楚</a:t>
            </a:r>
            <a:endParaRPr lang="zh-CN" altLang="en-US" sz="24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不要重复开新邮件发送</a:t>
            </a:r>
            <a:r>
              <a:rPr lang="en-US" altLang="zh-CN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如果有修改的内容</a:t>
            </a:r>
            <a:r>
              <a:rPr lang="en-US" altLang="zh-CN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请在已发送里面寻找</a:t>
            </a:r>
            <a:r>
              <a:rPr lang="en-US" altLang="zh-CN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然后通过</a:t>
            </a:r>
            <a:r>
              <a:rPr lang="zh-CN" altLang="en-US" sz="3200" b="1">
                <a:solidFill>
                  <a:srgbClr val="C00000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回复给邮件里所有的收件人</a:t>
            </a:r>
            <a:r>
              <a:rPr lang="zh-CN" altLang="en-US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再次发送</a:t>
            </a:r>
            <a:r>
              <a:rPr lang="en-US" altLang="zh-CN" sz="24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。</a:t>
            </a:r>
            <a:endParaRPr lang="zh-CN" altLang="en-US" sz="24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截止日期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：2026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年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6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月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6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日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23:59:59。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为了保证大家的公平性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均以邮箱上显示的时间为准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除非有特别重要的理由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否则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6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月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7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日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零点起的邮件老师有权拒收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！</a:t>
            </a:r>
            <a:endParaRPr lang="en-US" altLang="zh-CN" sz="2400" b="1">
              <a:solidFill>
                <a:schemeClr val="tx1"/>
              </a:solidFill>
              <a:highlight>
                <a:srgbClr val="FFFF00"/>
              </a:highlight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388620" y="441960"/>
            <a:ext cx="11415395" cy="59201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10814" y="3075610"/>
            <a:ext cx="577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期末作业简易模版及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说明</a:t>
            </a:r>
            <a:endParaRPr lang="zh-CN" altLang="en-US" sz="40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8565" y="1162685"/>
            <a:ext cx="9295130" cy="526224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主标题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个人期末作业的题目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自行命名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副标题</a:t>
            </a:r>
            <a:r>
              <a:rPr lang="en-US" altLang="zh-CN" sz="28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：《AIGC</a:t>
            </a:r>
            <a:r>
              <a:rPr lang="zh-CN" altLang="en-US" sz="28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创意图案与数字设计</a:t>
            </a:r>
            <a:r>
              <a:rPr lang="en-US" altLang="zh-CN" sz="28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》</a:t>
            </a:r>
            <a:r>
              <a:rPr lang="zh-CN" altLang="en-US" sz="28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课程期末作业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个人姓名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学号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学院的全名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（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不要写专业名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）</a:t>
            </a:r>
            <a:endParaRPr lang="en-US" altLang="zh-CN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可以自己设计封面背景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这个不做限制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字体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、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字号大小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、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以及排版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等效果自己决定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但是要让人看的清楚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74" y="261290"/>
            <a:ext cx="343535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1、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封面要求</a:t>
            </a:r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：</a:t>
            </a:r>
            <a:endParaRPr lang="en-US" altLang="zh-CN" sz="40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1884045" y="1769110"/>
            <a:ext cx="8423910" cy="4139565"/>
            <a:chOff x="2967" y="2513"/>
            <a:chExt cx="13266" cy="6519"/>
          </a:xfrm>
        </p:grpSpPr>
        <p:sp>
          <p:nvSpPr>
            <p:cNvPr id="3" name="文本框 2"/>
            <p:cNvSpPr txBox="1"/>
            <p:nvPr/>
          </p:nvSpPr>
          <p:spPr>
            <a:xfrm>
              <a:off x="2967" y="2513"/>
              <a:ext cx="13266" cy="14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indent="0" algn="ctr">
                <a:lnSpc>
                  <a:spcPct val="150000"/>
                </a:lnSpc>
                <a:buFont typeface="+mj-ea"/>
                <a:buNone/>
              </a:pPr>
              <a:r>
                <a:rPr lang="zh-CN" altLang="en-US" sz="3600" b="1">
                  <a:latin typeface="宋体" charset="0"/>
                  <a:ea typeface="宋体" charset="0"/>
                  <a:cs typeface="MiSans" panose="00000500000000000000" charset="-122"/>
                  <a:sym typeface="+mn-ea"/>
                </a:rPr>
                <a:t>纹样的第二次生命：未来纹样档案馆计划</a:t>
              </a:r>
              <a:endParaRPr lang="en-US" altLang="zh-CN" sz="3600" b="1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8497" y="5400"/>
              <a:ext cx="2208" cy="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indent="0" algn="ctr">
                <a:lnSpc>
                  <a:spcPct val="200000"/>
                </a:lnSpc>
                <a:buFont typeface="+mj-ea"/>
                <a:buNone/>
              </a:pPr>
              <a:r>
                <a:rPr lang="zh-CN" altLang="en-US" sz="2400" b="1">
                  <a:latin typeface="宋体" charset="0"/>
                  <a:ea typeface="宋体" charset="0"/>
                  <a:cs typeface="MiSans" panose="00000500000000000000" charset="-122"/>
                  <a:sym typeface="+mn-ea"/>
                </a:rPr>
                <a:t>李成思</a:t>
              </a:r>
              <a:endParaRPr lang="zh-CN" altLang="en-US" sz="2400" b="1">
                <a:latin typeface="宋体" charset="0"/>
                <a:ea typeface="宋体" charset="0"/>
                <a:cs typeface="MiSans" panose="00000500000000000000" charset="-122"/>
                <a:sym typeface="+mn-ea"/>
              </a:endParaRPr>
            </a:p>
            <a:p>
              <a:pPr indent="0" algn="ctr">
                <a:lnSpc>
                  <a:spcPct val="200000"/>
                </a:lnSpc>
                <a:buFont typeface="+mj-ea"/>
                <a:buNone/>
              </a:pPr>
              <a:r>
                <a:rPr lang="en-US" altLang="zh-CN" sz="2400">
                  <a:latin typeface="宋体" charset="0"/>
                  <a:ea typeface="宋体" charset="0"/>
                  <a:cs typeface="MiSans" panose="00000500000000000000" charset="-122"/>
                  <a:sym typeface="+mn-ea"/>
                </a:rPr>
                <a:t>20240145</a:t>
              </a:r>
              <a:endParaRPr lang="en-US" altLang="zh-CN" sz="2400">
                <a:latin typeface="宋体" charset="0"/>
                <a:ea typeface="宋体" charset="0"/>
                <a:cs typeface="MiSans" panose="00000500000000000000" charset="-122"/>
                <a:sym typeface="+mn-ea"/>
              </a:endParaRPr>
            </a:p>
            <a:p>
              <a:pPr indent="0" algn="ctr">
                <a:lnSpc>
                  <a:spcPct val="200000"/>
                </a:lnSpc>
                <a:buFont typeface="+mj-ea"/>
                <a:buNone/>
              </a:pPr>
              <a:r>
                <a:rPr lang="zh-CN" altLang="en-US" sz="2400">
                  <a:latin typeface="宋体" charset="0"/>
                  <a:ea typeface="宋体" charset="0"/>
                  <a:cs typeface="MiSans" panose="00000500000000000000" charset="-122"/>
                  <a:sym typeface="+mn-ea"/>
                </a:rPr>
                <a:t>美术学院</a:t>
              </a:r>
              <a:endParaRPr lang="en-US" altLang="zh-CN" sz="2400">
                <a:latin typeface="宋体" charset="0"/>
                <a:ea typeface="宋体" charset="0"/>
                <a:cs typeface="MiSans" panose="00000500000000000000" charset="-122"/>
                <a:sym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603" y="3804"/>
              <a:ext cx="7997" cy="1113"/>
            </a:xfrm>
            <a:prstGeom prst="rect">
              <a:avLst/>
            </a:prstGeom>
            <a:noFill/>
          </p:spPr>
          <p:txBody>
            <a:bodyPr wrap="none" rtlCol="0" anchor="t" anchorCtr="0">
              <a:spAutoFit/>
            </a:bodyPr>
            <a:lstStyle/>
            <a:p>
              <a:pPr indent="0" algn="ctr">
                <a:lnSpc>
                  <a:spcPct val="200000"/>
                </a:lnSpc>
                <a:buFont typeface="+mj-ea"/>
                <a:buNone/>
              </a:pPr>
              <a:r>
                <a:rPr lang="en-US" altLang="zh-CN" sz="2000">
                  <a:latin typeface="宋体" charset="0"/>
                  <a:ea typeface="宋体" charset="0"/>
                  <a:cs typeface="MiSans" panose="00000500000000000000" charset="-122"/>
                  <a:sym typeface="+mn-ea"/>
                </a:rPr>
                <a:t>《AIGC</a:t>
              </a:r>
              <a:r>
                <a:rPr lang="zh-CN" altLang="en-US" sz="2000">
                  <a:latin typeface="宋体" charset="0"/>
                  <a:ea typeface="宋体" charset="0"/>
                  <a:cs typeface="MiSans" panose="00000500000000000000" charset="-122"/>
                  <a:sym typeface="+mn-ea"/>
                </a:rPr>
                <a:t>创意图案与数字设计</a:t>
              </a:r>
              <a:r>
                <a:rPr lang="en-US" altLang="zh-CN" sz="2000">
                  <a:latin typeface="宋体" charset="0"/>
                  <a:ea typeface="宋体" charset="0"/>
                  <a:cs typeface="MiSans" panose="00000500000000000000" charset="-122"/>
                  <a:sym typeface="+mn-ea"/>
                </a:rPr>
                <a:t>》</a:t>
              </a:r>
              <a:r>
                <a:rPr lang="zh-CN" altLang="en-US" sz="2000">
                  <a:latin typeface="宋体" charset="0"/>
                  <a:ea typeface="宋体" charset="0"/>
                  <a:cs typeface="MiSans" panose="00000500000000000000" charset="-122"/>
                  <a:sym typeface="+mn-ea"/>
                </a:rPr>
                <a:t>课程</a:t>
              </a:r>
              <a:r>
                <a:rPr lang="zh-CN" altLang="en-US" sz="2000">
                  <a:latin typeface="宋体" charset="0"/>
                  <a:ea typeface="宋体" charset="0"/>
                  <a:cs typeface="MiSans" panose="00000500000000000000" charset="-122"/>
                  <a:sym typeface="+mn-ea"/>
                </a:rPr>
                <a:t>期末作业</a:t>
              </a:r>
              <a:endParaRPr lang="zh-CN" altLang="en-US" sz="2000">
                <a:latin typeface="宋体" charset="0"/>
                <a:ea typeface="宋体" charset="0"/>
                <a:cs typeface="MiSans" panose="00000500000000000000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8565" y="1388110"/>
            <a:ext cx="9295130" cy="332295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我选择的纹样来自哪里？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它属于哪个历史时期、地区、文化或视觉系统？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我为什么对它感兴趣？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（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我与纹样之间的关联性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）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我希望它呈现什么气质？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我希望它未来可以用在哪里？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74" y="261290"/>
            <a:ext cx="605853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2、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我的故事与方向选择</a:t>
            </a:r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：</a:t>
            </a:r>
            <a:endParaRPr lang="en-US" altLang="zh-CN" sz="40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8565" y="4946650"/>
            <a:ext cx="9295130" cy="175323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PS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：内容一页放不下就根据自身情况增加页数进行表达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不要强行塞在一页里面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这样很影响阅读观感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。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有需要配图的也是可以自行决定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这里不做任何限制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！</a:t>
            </a:r>
            <a:endParaRPr lang="en-US" altLang="zh-CN" sz="2400" b="1">
              <a:solidFill>
                <a:schemeClr val="tx1"/>
              </a:solidFill>
              <a:highlight>
                <a:srgbClr val="FFFF00"/>
              </a:highlight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8565" y="1162685"/>
            <a:ext cx="6664325" cy="526224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方向名称	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文化 / 风格来源	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核心纹样元素	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视觉气质关键词	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推荐色彩	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可能应用场景	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完成层级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（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基础版 / 进阶版 / 专业版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）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搜索关键词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74" y="261290"/>
            <a:ext cx="45478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3、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方向卡的诞生</a:t>
            </a:r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：</a:t>
            </a:r>
            <a:endParaRPr lang="en-US" altLang="zh-CN" sz="40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50100" y="1998028"/>
            <a:ext cx="5041900" cy="28613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PS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：内容一页放不下就根据自身情况增加页数进行表达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不要强行塞在一页里面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这样很影响阅读观感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。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有需要配图的也是可以自行决定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这里不做任何限制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！</a:t>
            </a:r>
            <a:endParaRPr lang="en-US" altLang="zh-CN" sz="2400" b="1">
              <a:solidFill>
                <a:schemeClr val="tx1"/>
              </a:solidFill>
              <a:highlight>
                <a:srgbClr val="FFFF00"/>
              </a:highlight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92823" y="2275840"/>
            <a:ext cx="10206355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zh-CN" altLang="en-US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与</a:t>
            </a:r>
            <a:r>
              <a:rPr lang="en-US" altLang="zh-CN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AIGC</a:t>
            </a:r>
            <a:r>
              <a:rPr lang="zh-CN" altLang="en-US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的聊天内容</a:t>
            </a:r>
            <a:r>
              <a:rPr lang="en-US" altLang="zh-CN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可以通过截图完整的放上来</a:t>
            </a:r>
            <a:r>
              <a:rPr lang="en-US" altLang="zh-CN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endParaRPr lang="en-US" altLang="zh-CN" sz="3200"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zh-CN" altLang="en-US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也可以直接在附上一个分享链接</a:t>
            </a:r>
            <a:r>
              <a:rPr lang="en-US" altLang="zh-CN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但是要确保在</a:t>
            </a:r>
            <a:r>
              <a:rPr lang="en-US" altLang="zh-CN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PPT</a:t>
            </a:r>
            <a:r>
              <a:rPr lang="zh-CN" altLang="en-US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里面</a:t>
            </a:r>
            <a:endParaRPr lang="zh-CN" altLang="en-US" sz="3200"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zh-CN" altLang="en-US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这条链接是能够被激活并且进入</a:t>
            </a:r>
            <a:r>
              <a:rPr lang="en-US" altLang="zh-CN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AIGC</a:t>
            </a:r>
            <a:r>
              <a:rPr lang="zh-CN" altLang="en-US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聊天页面的</a:t>
            </a:r>
            <a:r>
              <a:rPr lang="en-US" altLang="zh-CN" sz="32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！</a:t>
            </a:r>
            <a:endParaRPr lang="en-US" altLang="zh-CN" sz="3200"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7b0a202020202262756c6c6574223a20227b5c2263617465676f727949645c223a5c225c222c5c2274656d706c61746549645c223a32303233313731337d220a7d0a"/>
          <p:cNvSpPr txBox="1"/>
          <p:nvPr/>
        </p:nvSpPr>
        <p:spPr>
          <a:xfrm>
            <a:off x="388620" y="1767840"/>
            <a:ext cx="4547235" cy="332295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不少于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3-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5张参考图。</a:t>
            </a:r>
            <a:endParaRPr lang="en-US" altLang="zh-CN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每张图下面标注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</a:t>
            </a:r>
            <a:endParaRPr lang="en-US" altLang="zh-CN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971550" lvl="1" indent="-514350" algn="just">
              <a:lnSpc>
                <a:spcPct val="150000"/>
              </a:lnSpc>
              <a:buFont typeface="Arial" panose="020B0604020202090204" pitchFamily="34" charset="0"/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图像来源 / 生成方式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971550" lvl="1" indent="-514350" algn="just">
              <a:lnSpc>
                <a:spcPct val="150000"/>
              </a:lnSpc>
              <a:buFont typeface="Arial" panose="020B0604020202090204" pitchFamily="34" charset="0"/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图像用途类型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971550" lvl="1" indent="-514350" algn="just">
              <a:lnSpc>
                <a:spcPct val="150000"/>
              </a:lnSpc>
              <a:buFont typeface="Arial" panose="020B0604020202090204" pitchFamily="34" charset="0"/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保留理由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74" y="261290"/>
            <a:ext cx="454723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4、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参考图的整理</a:t>
            </a:r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：</a:t>
            </a:r>
            <a:endParaRPr lang="en-US" altLang="zh-CN" sz="40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  <p:sp>
        <p:nvSpPr>
          <p:cNvPr id="4" name="文本框 3" descr="7b0a202020202262756c6c6574223a20227b5c2263617465676f727949645c223a5c225c222c5c2274656d706c61746549645c223a32303233313731337d220a7d0a"/>
          <p:cNvSpPr txBox="1"/>
          <p:nvPr/>
        </p:nvSpPr>
        <p:spPr>
          <a:xfrm>
            <a:off x="6614160" y="1121410"/>
            <a:ext cx="4547235" cy="461581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图像用途类型可从以下类型中选择：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文化依据图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核心元素图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视觉风格图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结构转化参考图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应用参考图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72335" y="5935980"/>
            <a:ext cx="7847965" cy="6451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PS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：每张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参考图都要说清楚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 —— 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它为什么值得留下？</a:t>
            </a:r>
            <a:endParaRPr lang="zh-CN" altLang="en-US" sz="2400" b="1">
              <a:solidFill>
                <a:schemeClr val="tx1"/>
              </a:solidFill>
              <a:highlight>
                <a:srgbClr val="FFFF00"/>
              </a:highlight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8620" y="1782445"/>
            <a:ext cx="5933440" cy="332295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它们是否有共同文化 / 风格来源？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它们是否有共同核心纹样元素？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它们是否有相近视觉气质？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它们是否有未来发展成四方连续纹样的潜力？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74" y="261290"/>
            <a:ext cx="506158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5、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对参考图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的判断</a:t>
            </a:r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：</a:t>
            </a:r>
            <a:endParaRPr lang="en-US" altLang="zh-CN" sz="40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60210" y="2151698"/>
            <a:ext cx="5352415" cy="258445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b="1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例如</a:t>
            </a:r>
            <a:r>
              <a:rPr lang="en-US" altLang="zh-CN" b="1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</a:t>
            </a:r>
            <a:r>
              <a:rPr lang="zh-CN" altLang="en-US" b="1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我认为这些参考图可以 / 不完全可以支撑同一个方向</a:t>
            </a:r>
            <a:r>
              <a:rPr lang="en-US" altLang="zh-CN" b="1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endParaRPr lang="zh-CN" altLang="en-US" b="1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原因是：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。。。。。。</a:t>
            </a:r>
            <a:endParaRPr lang="zh-CN" altLang="en-US">
              <a:solidFill>
                <a:schemeClr val="tx1"/>
              </a:solidFill>
              <a:highlight>
                <a:srgbClr val="FFFF00"/>
              </a:highlight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它们共同具有：。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。。。。。</a:t>
            </a:r>
            <a:endParaRPr lang="zh-CN" altLang="en-US">
              <a:solidFill>
                <a:schemeClr val="tx1"/>
              </a:solidFill>
              <a:highlight>
                <a:srgbClr val="FFFF00"/>
              </a:highlight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其中最适合继续发展的图是：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。。。。。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highlight>
                <a:srgbClr val="FFFF00"/>
              </a:highlight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需要淘汰或仅作参考的图是：</a:t>
            </a:r>
            <a:r>
              <a:rPr lang="en-US" altLang="zh-CN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。。。。。</a:t>
            </a:r>
            <a:r>
              <a:rPr lang="zh-CN" altLang="en-US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highlight>
                <a:srgbClr val="FFFF00"/>
              </a:highlight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8620" y="5513388"/>
            <a:ext cx="11724640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PS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</a:t>
            </a:r>
            <a:r>
              <a:rPr lang="zh-CN" altLang="en-US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这里需要附上与</a:t>
            </a:r>
            <a:r>
              <a:rPr lang="en-US" altLang="zh-CN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AIGC</a:t>
            </a:r>
            <a:r>
              <a:rPr lang="zh-CN" altLang="en-US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的沟通过程</a:t>
            </a:r>
            <a:r>
              <a:rPr lang="en-US" altLang="zh-CN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也可以上链接</a:t>
            </a:r>
            <a:r>
              <a:rPr lang="en-US" altLang="zh-CN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。</a:t>
            </a:r>
            <a:r>
              <a:rPr lang="zh-CN" altLang="en-US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需要体现</a:t>
            </a:r>
            <a:r>
              <a:rPr lang="en-US" altLang="zh-CN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AI</a:t>
            </a:r>
            <a:r>
              <a:rPr lang="zh-CN" altLang="en-US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判断 + 人的判断</a:t>
            </a:r>
            <a:r>
              <a:rPr lang="en-US" altLang="zh-CN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 </a:t>
            </a:r>
            <a:r>
              <a:rPr lang="zh-CN" altLang="en-US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——</a:t>
            </a:r>
            <a:r>
              <a:rPr lang="en-US" altLang="zh-CN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 </a:t>
            </a:r>
            <a:r>
              <a:rPr lang="zh-CN" altLang="en-US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即人机协作的过程</a:t>
            </a:r>
            <a:r>
              <a:rPr lang="en-US" altLang="zh-CN" sz="24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。</a:t>
            </a:r>
            <a:endParaRPr lang="en-US" altLang="zh-CN" sz="2400" b="1">
              <a:highlight>
                <a:srgbClr val="FFFF00"/>
              </a:highlight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9920" y="1459230"/>
            <a:ext cx="10932160" cy="39693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展示最终整理出的图池缩略图，建议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15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–30张左右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</a:t>
            </a:r>
            <a:endParaRPr lang="en-US" altLang="zh-CN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图池中的图共同点是什么？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哪些图是通过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AI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扩展生成的？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哪些图被淘汰了？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为什么保留这些图？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这些图是否适合后续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LoRA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训练？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74" y="261290"/>
            <a:ext cx="404685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6、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图池的构建</a:t>
            </a:r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：</a:t>
            </a:r>
            <a:endParaRPr lang="en-US" altLang="zh-CN" sz="40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51785" y="1459230"/>
            <a:ext cx="6488430" cy="39693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上传图池截图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LoRA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训练界面截图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模型名称截图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初步生成结果截图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训练结果是否符合我的方向？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如果结果不理想，我做了什么调整？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74" y="261290"/>
            <a:ext cx="77482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7、PAI ArtLab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的</a:t>
            </a:r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LoRA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训练过程</a:t>
            </a:r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：</a:t>
            </a:r>
            <a:endParaRPr lang="en-US" altLang="zh-CN" sz="40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18565" y="5919788"/>
            <a:ext cx="9295130" cy="6451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indent="0" algn="ctr">
              <a:lnSpc>
                <a:spcPct val="150000"/>
              </a:lnSpc>
              <a:buNone/>
            </a:pPr>
            <a:r>
              <a:rPr lang="en-US" altLang="zh-CN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PS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：内容根据自身情况增加页数进行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展示</a:t>
            </a:r>
            <a:endParaRPr lang="zh-CN" altLang="en-US" sz="2400" b="1">
              <a:solidFill>
                <a:schemeClr val="tx1"/>
              </a:solidFill>
              <a:highlight>
                <a:srgbClr val="FFFF00"/>
              </a:highlight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56410" y="1664335"/>
            <a:ext cx="8679815" cy="39693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至少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6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张最终四方连续纹样图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每张图配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简要说明：</a:t>
            </a:r>
            <a:endParaRPr lang="en-US" altLang="zh-CN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它保留了哪些核心元素？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它是否符合方向卡？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它的视觉气质是什么？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它是否具有重复、延展、连续的图案特征？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可能被运用的场景有哪些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endParaRPr lang="en-US" altLang="zh-CN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74" y="261290"/>
            <a:ext cx="88087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8、AIGC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协助下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的四方连续纹样结果</a:t>
            </a:r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：</a:t>
            </a:r>
            <a:endParaRPr lang="en-US" altLang="zh-CN" sz="40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56410" y="1163955"/>
            <a:ext cx="8679815" cy="526224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3张最终四方连续纹样图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每张图配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简要说明：</a:t>
            </a:r>
            <a:endParaRPr lang="en-US" altLang="zh-CN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我为什么选择这3张作为最终结果？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它们和方向卡是否一致？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它们保留了哪些历史纹样特征？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AI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在哪一步帮到了我？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AI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在哪一步不够准确？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我是如何修正、追问或重新判断的？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可能被运用的场景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endParaRPr lang="en-US" altLang="zh-CN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74" y="261290"/>
            <a:ext cx="72694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9、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结果判断与</a:t>
            </a:r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AIGC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协作反思</a:t>
            </a:r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：</a:t>
            </a:r>
            <a:endParaRPr lang="en-US" altLang="zh-CN" sz="40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56410" y="3060065"/>
            <a:ext cx="8679815" cy="73723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不少于</a:t>
            </a:r>
            <a:r>
              <a:rPr lang="en-US" altLang="zh-CN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3</a:t>
            </a:r>
            <a:r>
              <a:rPr lang="zh-CN" altLang="en-US" sz="28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张应用效果图</a:t>
            </a:r>
            <a:endParaRPr lang="zh-CN" altLang="en-US" sz="28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74" y="261290"/>
            <a:ext cx="68052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10、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进阶版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的应用场景展示</a:t>
            </a:r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：</a:t>
            </a:r>
            <a:endParaRPr lang="en-US" altLang="zh-CN" sz="40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63595" y="967740"/>
            <a:ext cx="5464810" cy="56311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514350" indent="-514350" algn="l">
              <a:lnSpc>
                <a:spcPct val="150000"/>
              </a:lnSpc>
              <a:buFont typeface="+mj-ea"/>
              <a:buAutoNum type="ea1JpnChsDbPeriod"/>
            </a:pPr>
            <a:r>
              <a:rPr lang="zh-CN" altLang="en-US" sz="2000" b="1">
                <a:solidFill>
                  <a:schemeClr val="tx1"/>
                </a:solidFill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我从原始纹样中拆出了什么？</a:t>
            </a:r>
            <a:endParaRPr lang="zh-CN" altLang="en-US" sz="2000" b="1">
              <a:solidFill>
                <a:schemeClr val="tx1"/>
              </a:solidFill>
              <a:highlight>
                <a:srgbClr val="FFFF00"/>
              </a:highlight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必须包含</a:t>
            </a:r>
            <a:r>
              <a:rPr lang="en-US" altLang="zh-CN" sz="20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：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主纹样元素</a:t>
            </a:r>
            <a:r>
              <a:rPr lang="en-US" altLang="zh-CN" sz="20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r>
              <a:rPr lang="zh-CN" altLang="en-US" sz="20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辅助纹样元素</a:t>
            </a:r>
            <a:r>
              <a:rPr lang="en-US" altLang="zh-CN" sz="20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色彩系统</a:t>
            </a:r>
            <a:r>
              <a:rPr lang="en-US" altLang="zh-CN" sz="20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线条 / 结构特征</a:t>
            </a:r>
            <a:r>
              <a:rPr lang="en-US" altLang="zh-CN" sz="20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可重复、可延展、可重组的部分</a:t>
            </a:r>
            <a:r>
              <a:rPr lang="en-US" altLang="zh-CN" sz="2000"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l">
              <a:lnSpc>
                <a:spcPct val="150000"/>
              </a:lnSpc>
              <a:buFont typeface="+mj-ea"/>
              <a:buAutoNum type="ea1JpnChsDbPeriod"/>
            </a:pPr>
            <a:endParaRPr lang="zh-CN" altLang="en-US" sz="2000" b="1">
              <a:solidFill>
                <a:schemeClr val="tx1"/>
              </a:solidFill>
              <a:highlight>
                <a:srgbClr val="FFFF00"/>
              </a:highlight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l">
              <a:lnSpc>
                <a:spcPct val="150000"/>
              </a:lnSpc>
              <a:buFont typeface="+mj-ea"/>
              <a:buAutoNum type="ea1JpnChsDbPeriod"/>
            </a:pPr>
            <a:r>
              <a:rPr lang="zh-CN" altLang="en-US" sz="20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我如何把元素重新组织成新图案</a:t>
            </a:r>
            <a:r>
              <a:rPr lang="en-US" altLang="zh-CN" sz="2000" b="1">
                <a:highlight>
                  <a:srgbClr val="FFFF00"/>
                </a:highlight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endParaRPr lang="zh-CN" altLang="en-US" sz="2000" b="1">
              <a:solidFill>
                <a:schemeClr val="tx1"/>
              </a:solidFill>
              <a:highlight>
                <a:srgbClr val="FFFF00"/>
              </a:highlight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保留了什么？简化了什么？重组了什么？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哪些元素变成主角？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哪些元素变成辅助？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为什么这样重组仍然成立？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74" y="261290"/>
            <a:ext cx="56718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11、</a:t>
            </a:r>
            <a:r>
              <a:rPr lang="zh-CN" altLang="en-US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专业版的增加页面</a:t>
            </a:r>
            <a:r>
              <a:rPr lang="en-US" altLang="zh-CN" sz="40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：</a:t>
            </a:r>
            <a:endParaRPr lang="en-US" altLang="zh-CN" sz="4000">
              <a:solidFill>
                <a:schemeClr val="tx1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7b0a202020202262756c6c6574223a20227b5c2263617465676f727949645c223a5c225c222c5c2274656d706c61746549645c223a32303233313731337d220a7d0a"/>
          <p:cNvSpPr txBox="1"/>
          <p:nvPr/>
        </p:nvSpPr>
        <p:spPr>
          <a:xfrm>
            <a:off x="553085" y="1342073"/>
            <a:ext cx="11086465" cy="47078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这份</a:t>
            </a:r>
            <a:r>
              <a:rPr lang="en-US" altLang="zh-CN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PPT</a:t>
            </a: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不是作品集，也不是图片合集</a:t>
            </a:r>
            <a:r>
              <a:rPr lang="en-US" altLang="zh-CN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它是一份</a:t>
            </a:r>
            <a:r>
              <a:rPr lang="en-US" altLang="zh-CN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AIGC</a:t>
            </a: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协作过程说明。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老师看的不是你有没有碰巧生成一张好看的图，而是：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90204" pitchFamily="34" charset="0"/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你的方向是否清楚</a:t>
            </a:r>
            <a:r>
              <a:rPr lang="en-US" altLang="zh-CN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90204" pitchFamily="34" charset="0"/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你的参考图是否有判断</a:t>
            </a:r>
            <a:r>
              <a:rPr lang="en-US" altLang="zh-CN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90204" pitchFamily="34" charset="0"/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你的图池是否统一</a:t>
            </a:r>
            <a:r>
              <a:rPr lang="en-US" altLang="zh-CN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90204" pitchFamily="34" charset="0"/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你是否完成了</a:t>
            </a:r>
            <a:r>
              <a:rPr lang="en-US" altLang="zh-CN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PAI ArtLab</a:t>
            </a: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的</a:t>
            </a:r>
            <a:r>
              <a:rPr lang="en-US" altLang="zh-CN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LoRA</a:t>
            </a: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训练</a:t>
            </a:r>
            <a:r>
              <a:rPr lang="en-US" altLang="zh-CN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90204" pitchFamily="34" charset="0"/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你的最终四方连续纹样是否成立</a:t>
            </a:r>
            <a:r>
              <a:rPr lang="en-US" altLang="zh-CN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90204" pitchFamily="34" charset="0"/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你能不能说明为什么这样做</a:t>
            </a:r>
            <a:r>
              <a:rPr lang="en-US" altLang="zh-CN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？</a:t>
            </a:r>
            <a:endParaRPr lang="zh-CN" altLang="en-US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marL="514350" indent="-514350" algn="l">
              <a:lnSpc>
                <a:spcPct val="150000"/>
              </a:lnSpc>
              <a:buFont typeface="+mj-ea"/>
              <a:buAutoNum type="ea1JpnChsDbPeriod"/>
            </a:pPr>
            <a:endParaRPr lang="en-US" altLang="zh-CN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  <a:p>
            <a:pPr indent="0" algn="l">
              <a:lnSpc>
                <a:spcPct val="150000"/>
              </a:lnSpc>
              <a:buFont typeface="+mj-ea"/>
              <a:buNone/>
            </a:pP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这门课不是只比谁更会出图，而是更看中当遇到问题的时候</a:t>
            </a:r>
            <a:r>
              <a:rPr lang="en-US" altLang="zh-CN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，</a:t>
            </a:r>
            <a:r>
              <a:rPr lang="zh-CN" altLang="en-US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谁更会思考、提问、判断和修正</a:t>
            </a:r>
            <a:r>
              <a:rPr lang="en-US" altLang="zh-CN" sz="2000">
                <a:solidFill>
                  <a:schemeClr val="tx1"/>
                </a:solidFill>
                <a:latin typeface="宋体" charset="0"/>
                <a:ea typeface="宋体" charset="0"/>
                <a:cs typeface="MiSans" panose="00000500000000000000" charset="-122"/>
                <a:sym typeface="+mn-ea"/>
              </a:rPr>
              <a:t>！</a:t>
            </a:r>
            <a:endParaRPr lang="en-US" altLang="zh-CN" sz="2000">
              <a:solidFill>
                <a:schemeClr val="tx1"/>
              </a:solidFill>
              <a:latin typeface="宋体" charset="0"/>
              <a:ea typeface="宋体" charset="0"/>
              <a:cs typeface="MiSans" panose="00000500000000000000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874" y="261290"/>
            <a:ext cx="372300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>
                <a:solidFill>
                  <a:schemeClr val="tx1"/>
                </a:solidFill>
                <a:highlight>
                  <a:srgbClr val="FFFF00"/>
                </a:highlight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12、</a:t>
            </a:r>
            <a:r>
              <a:rPr lang="zh-CN" altLang="en-US" sz="4000">
                <a:solidFill>
                  <a:schemeClr val="tx1"/>
                </a:solidFill>
                <a:highlight>
                  <a:srgbClr val="FFFF00"/>
                </a:highlight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重要提醒</a:t>
            </a:r>
            <a:r>
              <a:rPr lang="en-US" altLang="zh-CN" sz="4000">
                <a:solidFill>
                  <a:schemeClr val="tx1"/>
                </a:solidFill>
                <a:highlight>
                  <a:srgbClr val="FFFF00"/>
                </a:highlight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+mn-ea"/>
              </a:rPr>
              <a:t>：</a:t>
            </a:r>
            <a:endParaRPr lang="en-US" altLang="zh-CN" sz="4000">
              <a:solidFill>
                <a:schemeClr val="tx1"/>
              </a:solidFill>
              <a:highlight>
                <a:srgbClr val="FFFF00"/>
              </a:highlight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YWI3YTQ1Yzg4NDk3ODhiNjAzMjFkOTc1MjA0NzdhMz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1939</Words>
  <Application>WPS 演示</Application>
  <PresentationFormat>Breitbild</PresentationFormat>
  <Paragraphs>170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Helvetica Neue Medium</vt:lpstr>
      <vt:lpstr>Helvetica Neue Light</vt:lpstr>
      <vt:lpstr>Calibri</vt:lpstr>
      <vt:lpstr>MiSans</vt:lpstr>
      <vt:lpstr>宋体</vt:lpstr>
      <vt:lpstr>汉仪书宋二KW</vt:lpstr>
      <vt:lpstr>微软雅黑</vt:lpstr>
      <vt:lpstr>汉仪旗黑</vt:lpstr>
      <vt:lpstr>Arial Unicode MS</vt:lpstr>
      <vt:lpstr>Helvetica Neue Light</vt:lpstr>
      <vt:lpstr>Helvetica Neue Medium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jing</dc:creator>
  <cp:lastModifiedBy>体验の人生</cp:lastModifiedBy>
  <cp:revision>357</cp:revision>
  <dcterms:created xsi:type="dcterms:W3CDTF">2026-05-17T13:02:20Z</dcterms:created>
  <dcterms:modified xsi:type="dcterms:W3CDTF">2026-05-17T13:02:20Z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BCD2A163A5170DCF09AD096AA881657A_43</vt:lpwstr>
  </property>
</Properties>
</file>