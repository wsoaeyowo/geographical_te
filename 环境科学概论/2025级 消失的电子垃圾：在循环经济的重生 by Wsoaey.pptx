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7"/>
  </p:notesMasterIdLst>
  <p:sldIdLst>
    <p:sldId id="256" r:id="rId3"/>
    <p:sldId id="257" r:id="rId4"/>
    <p:sldId id="258" r:id="rId5"/>
    <p:sldId id="260" r:id="rId6"/>
    <p:sldId id="259" r:id="rId7"/>
    <p:sldId id="263" r:id="rId8"/>
    <p:sldId id="278" r:id="rId9"/>
    <p:sldId id="262" r:id="rId10"/>
    <p:sldId id="283" r:id="rId11"/>
    <p:sldId id="264" r:id="rId12"/>
    <p:sldId id="284" r:id="rId13"/>
    <p:sldId id="267" r:id="rId14"/>
    <p:sldId id="281" r:id="rId15"/>
    <p:sldId id="279" r:id="rId16"/>
    <p:sldId id="280" r:id="rId17"/>
    <p:sldId id="268" r:id="rId18"/>
    <p:sldId id="271" r:id="rId19"/>
    <p:sldId id="270" r:id="rId20"/>
    <p:sldId id="285" r:id="rId21"/>
    <p:sldId id="272" r:id="rId22"/>
    <p:sldId id="286" r:id="rId23"/>
    <p:sldId id="287" r:id="rId24"/>
    <p:sldId id="288" r:id="rId25"/>
    <p:sldId id="282"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331" autoAdjust="0"/>
  </p:normalViewPr>
  <p:slideViewPr>
    <p:cSldViewPr showGuides="1">
      <p:cViewPr varScale="1">
        <p:scale>
          <a:sx n="93" d="100"/>
          <a:sy n="93" d="100"/>
        </p:scale>
        <p:origin x="114" y="3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5C8773-5643-4172-88FF-6C80338EC7F9}" type="datetimeFigureOut">
              <a:rPr lang="zh-CN" altLang="en-US" smtClean="0"/>
              <a:t>2026/10/23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35282F-DBF9-454B-B95A-4A735D75DCE5}" type="slidenum">
              <a:rPr lang="zh-CN" altLang="en-US" smtClean="0"/>
              <a:t>‹#›</a:t>
            </a:fld>
            <a:endParaRPr lang="zh-CN" altLang="en-US"/>
          </a:p>
        </p:txBody>
      </p:sp>
    </p:spTree>
    <p:extLst>
      <p:ext uri="{BB962C8B-B14F-4D97-AF65-F5344CB8AC3E}">
        <p14:creationId xmlns:p14="http://schemas.microsoft.com/office/powerpoint/2010/main" val="1177829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模板来自于：第一</a:t>
            </a:r>
            <a:r>
              <a:rPr lang="en-US" altLang="zh-CN" sz="1200" dirty="0">
                <a:latin typeface="微软雅黑" panose="020B0503020204020204" pitchFamily="34" charset="-122"/>
                <a:ea typeface="微软雅黑" panose="020B0503020204020204" pitchFamily="34" charset="-122"/>
              </a:rPr>
              <a:t>PPT</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https://www.1ppt.com/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F035282F-DBF9-454B-B95A-4A735D75DCE5}" type="slidenum">
              <a:rPr lang="zh-CN" altLang="en-US" smtClean="0"/>
              <a:t>3</a:t>
            </a:fld>
            <a:endParaRPr lang="zh-CN" altLang="en-US"/>
          </a:p>
        </p:txBody>
      </p:sp>
    </p:spTree>
    <p:extLst>
      <p:ext uri="{BB962C8B-B14F-4D97-AF65-F5344CB8AC3E}">
        <p14:creationId xmlns:p14="http://schemas.microsoft.com/office/powerpoint/2010/main" val="37273497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035282F-DBF9-454B-B95A-4A735D75DCE5}" type="slidenum">
              <a:rPr lang="zh-CN" altLang="en-US" smtClean="0"/>
              <a:t>5</a:t>
            </a:fld>
            <a:endParaRPr lang="zh-CN" altLang="en-US"/>
          </a:p>
        </p:txBody>
      </p:sp>
    </p:spTree>
    <p:extLst>
      <p:ext uri="{BB962C8B-B14F-4D97-AF65-F5344CB8AC3E}">
        <p14:creationId xmlns:p14="http://schemas.microsoft.com/office/powerpoint/2010/main" val="4090488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www.1ppt.com/moban/"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F7184F-C1A5-4C11-B21B-4E898C49785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D7934EF-34BB-442A-8992-CD9A4BE826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18C886B-3D84-4EB8-B74F-6332E2A1FDD6}"/>
              </a:ext>
            </a:extLst>
          </p:cNvPr>
          <p:cNvSpPr>
            <a:spLocks noGrp="1"/>
          </p:cNvSpPr>
          <p:nvPr>
            <p:ph type="dt" sz="half" idx="10"/>
          </p:nvPr>
        </p:nvSpPr>
        <p:spPr/>
        <p:txBody>
          <a:bodyPr/>
          <a:lstStyle/>
          <a:p>
            <a:fld id="{7B8FAFCA-50C1-495D-93E6-0E9EC893FDCD}" type="datetimeFigureOut">
              <a:rPr lang="zh-CN" altLang="en-US" smtClean="0"/>
              <a:t>2026/10/23</a:t>
            </a:fld>
            <a:endParaRPr lang="zh-CN" altLang="en-US"/>
          </a:p>
        </p:txBody>
      </p:sp>
      <p:sp>
        <p:nvSpPr>
          <p:cNvPr id="5" name="页脚占位符 4">
            <a:extLst>
              <a:ext uri="{FF2B5EF4-FFF2-40B4-BE49-F238E27FC236}">
                <a16:creationId xmlns:a16="http://schemas.microsoft.com/office/drawing/2014/main" id="{2FAA3669-B597-4FFB-ACA7-0043175F731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E9375F1-31A7-4F71-8B82-C645D3492987}"/>
              </a:ext>
            </a:extLst>
          </p:cNvPr>
          <p:cNvSpPr>
            <a:spLocks noGrp="1"/>
          </p:cNvSpPr>
          <p:nvPr>
            <p:ph type="sldNum" sz="quarter" idx="12"/>
          </p:nvPr>
        </p:nvSpPr>
        <p:spPr/>
        <p:txBody>
          <a:bodyPr/>
          <a:lstStyle/>
          <a:p>
            <a:fld id="{55C1AF91-5341-4E9D-ABFC-98AA39C54780}" type="slidenum">
              <a:rPr lang="zh-CN" altLang="en-US" smtClean="0"/>
              <a:t>‹#›</a:t>
            </a:fld>
            <a:endParaRPr lang="zh-CN" altLang="en-US"/>
          </a:p>
        </p:txBody>
      </p:sp>
    </p:spTree>
    <p:extLst>
      <p:ext uri="{BB962C8B-B14F-4D97-AF65-F5344CB8AC3E}">
        <p14:creationId xmlns:p14="http://schemas.microsoft.com/office/powerpoint/2010/main" val="20701563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3FC8C3-2E28-4B36-A438-3BAC83DA146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0428B6B-AD45-4266-AD87-8CF01E4E735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5A454B0-EDFB-4B43-9A4C-EFFF8C687143}"/>
              </a:ext>
            </a:extLst>
          </p:cNvPr>
          <p:cNvSpPr>
            <a:spLocks noGrp="1"/>
          </p:cNvSpPr>
          <p:nvPr>
            <p:ph type="dt" sz="half" idx="10"/>
          </p:nvPr>
        </p:nvSpPr>
        <p:spPr/>
        <p:txBody>
          <a:bodyPr/>
          <a:lstStyle/>
          <a:p>
            <a:fld id="{7B8FAFCA-50C1-495D-93E6-0E9EC893FDCD}" type="datetimeFigureOut">
              <a:rPr lang="zh-CN" altLang="en-US" smtClean="0"/>
              <a:t>2026/10/23</a:t>
            </a:fld>
            <a:endParaRPr lang="zh-CN" altLang="en-US"/>
          </a:p>
        </p:txBody>
      </p:sp>
      <p:sp>
        <p:nvSpPr>
          <p:cNvPr id="5" name="页脚占位符 4">
            <a:extLst>
              <a:ext uri="{FF2B5EF4-FFF2-40B4-BE49-F238E27FC236}">
                <a16:creationId xmlns:a16="http://schemas.microsoft.com/office/drawing/2014/main" id="{45BEEE68-ECDD-499E-A642-136EFCACD03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104AB3C-9026-4F50-A858-94A8C2AB478F}"/>
              </a:ext>
            </a:extLst>
          </p:cNvPr>
          <p:cNvSpPr>
            <a:spLocks noGrp="1"/>
          </p:cNvSpPr>
          <p:nvPr>
            <p:ph type="sldNum" sz="quarter" idx="12"/>
          </p:nvPr>
        </p:nvSpPr>
        <p:spPr/>
        <p:txBody>
          <a:bodyPr/>
          <a:lstStyle/>
          <a:p>
            <a:fld id="{55C1AF91-5341-4E9D-ABFC-98AA39C54780}" type="slidenum">
              <a:rPr lang="zh-CN" altLang="en-US" smtClean="0"/>
              <a:t>‹#›</a:t>
            </a:fld>
            <a:endParaRPr lang="zh-CN" altLang="en-US"/>
          </a:p>
        </p:txBody>
      </p:sp>
    </p:spTree>
    <p:extLst>
      <p:ext uri="{BB962C8B-B14F-4D97-AF65-F5344CB8AC3E}">
        <p14:creationId xmlns:p14="http://schemas.microsoft.com/office/powerpoint/2010/main" val="391311647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481925-2D60-4640-B197-90C370A5B60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5968E88-848F-499F-88C6-89454C7819A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55D4772-CAB9-412C-A738-5B9A30C24879}"/>
              </a:ext>
            </a:extLst>
          </p:cNvPr>
          <p:cNvSpPr>
            <a:spLocks noGrp="1"/>
          </p:cNvSpPr>
          <p:nvPr>
            <p:ph type="dt" sz="half" idx="10"/>
          </p:nvPr>
        </p:nvSpPr>
        <p:spPr/>
        <p:txBody>
          <a:bodyPr/>
          <a:lstStyle/>
          <a:p>
            <a:fld id="{7B8FAFCA-50C1-495D-93E6-0E9EC893FDCD}" type="datetimeFigureOut">
              <a:rPr lang="zh-CN" altLang="en-US" smtClean="0"/>
              <a:t>2026/10/23</a:t>
            </a:fld>
            <a:endParaRPr lang="zh-CN" altLang="en-US"/>
          </a:p>
        </p:txBody>
      </p:sp>
      <p:sp>
        <p:nvSpPr>
          <p:cNvPr id="5" name="页脚占位符 4">
            <a:extLst>
              <a:ext uri="{FF2B5EF4-FFF2-40B4-BE49-F238E27FC236}">
                <a16:creationId xmlns:a16="http://schemas.microsoft.com/office/drawing/2014/main" id="{3EDA3CB5-985B-4FDE-B7DA-F1CBEFB8F69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E98AB94-2AB1-4BDE-8467-D1808EEFB0C4}"/>
              </a:ext>
            </a:extLst>
          </p:cNvPr>
          <p:cNvSpPr>
            <a:spLocks noGrp="1"/>
          </p:cNvSpPr>
          <p:nvPr>
            <p:ph type="sldNum" sz="quarter" idx="12"/>
          </p:nvPr>
        </p:nvSpPr>
        <p:spPr/>
        <p:txBody>
          <a:bodyPr/>
          <a:lstStyle/>
          <a:p>
            <a:fld id="{55C1AF91-5341-4E9D-ABFC-98AA39C54780}" type="slidenum">
              <a:rPr lang="zh-CN" altLang="en-US" smtClean="0"/>
              <a:t>‹#›</a:t>
            </a:fld>
            <a:endParaRPr lang="zh-CN" altLang="en-US"/>
          </a:p>
        </p:txBody>
      </p:sp>
    </p:spTree>
    <p:extLst>
      <p:ext uri="{BB962C8B-B14F-4D97-AF65-F5344CB8AC3E}">
        <p14:creationId xmlns:p14="http://schemas.microsoft.com/office/powerpoint/2010/main" val="345153957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2CE054-49AE-4691-8188-C0CA30068F9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8B36E4A-4B64-44B1-A7D8-B5B59A0D55D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6147777-E3DE-4FE3-9155-DB01B178060F}"/>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6620A3E-37C2-4307-8E79-956475302945}"/>
              </a:ext>
            </a:extLst>
          </p:cNvPr>
          <p:cNvSpPr>
            <a:spLocks noGrp="1"/>
          </p:cNvSpPr>
          <p:nvPr>
            <p:ph type="dt" sz="half" idx="10"/>
          </p:nvPr>
        </p:nvSpPr>
        <p:spPr/>
        <p:txBody>
          <a:bodyPr/>
          <a:lstStyle/>
          <a:p>
            <a:fld id="{7B8FAFCA-50C1-495D-93E6-0E9EC893FDCD}" type="datetimeFigureOut">
              <a:rPr lang="zh-CN" altLang="en-US" smtClean="0"/>
              <a:t>2026/10/23</a:t>
            </a:fld>
            <a:endParaRPr lang="zh-CN" altLang="en-US"/>
          </a:p>
        </p:txBody>
      </p:sp>
      <p:sp>
        <p:nvSpPr>
          <p:cNvPr id="6" name="页脚占位符 5">
            <a:extLst>
              <a:ext uri="{FF2B5EF4-FFF2-40B4-BE49-F238E27FC236}">
                <a16:creationId xmlns:a16="http://schemas.microsoft.com/office/drawing/2014/main" id="{3394D790-2E18-44BB-AB59-6E1B8FA4779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3B8875A-026C-4AD1-AC20-8A37297951FD}"/>
              </a:ext>
            </a:extLst>
          </p:cNvPr>
          <p:cNvSpPr>
            <a:spLocks noGrp="1"/>
          </p:cNvSpPr>
          <p:nvPr>
            <p:ph type="sldNum" sz="quarter" idx="12"/>
          </p:nvPr>
        </p:nvSpPr>
        <p:spPr/>
        <p:txBody>
          <a:bodyPr/>
          <a:lstStyle/>
          <a:p>
            <a:fld id="{55C1AF91-5341-4E9D-ABFC-98AA39C54780}" type="slidenum">
              <a:rPr lang="zh-CN" altLang="en-US" smtClean="0"/>
              <a:t>‹#›</a:t>
            </a:fld>
            <a:endParaRPr lang="zh-CN" altLang="en-US"/>
          </a:p>
        </p:txBody>
      </p:sp>
    </p:spTree>
    <p:extLst>
      <p:ext uri="{BB962C8B-B14F-4D97-AF65-F5344CB8AC3E}">
        <p14:creationId xmlns:p14="http://schemas.microsoft.com/office/powerpoint/2010/main" val="195187881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E07504-3130-4A85-976C-7CBFFA6B1DE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05D0EFF9-ED84-41C6-8087-376B901883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BC9CEB2-FDCD-42B5-BFB6-73ADB3F5A884}"/>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E5FCD56-C135-4A29-90F9-36103D9EC2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35E8111-44E6-4FA2-A100-55517451BDD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A1BF158-1D94-4238-A8C4-ABD2DF8D973F}"/>
              </a:ext>
            </a:extLst>
          </p:cNvPr>
          <p:cNvSpPr>
            <a:spLocks noGrp="1"/>
          </p:cNvSpPr>
          <p:nvPr>
            <p:ph type="dt" sz="half" idx="10"/>
          </p:nvPr>
        </p:nvSpPr>
        <p:spPr/>
        <p:txBody>
          <a:bodyPr/>
          <a:lstStyle/>
          <a:p>
            <a:fld id="{7B8FAFCA-50C1-495D-93E6-0E9EC893FDCD}" type="datetimeFigureOut">
              <a:rPr lang="zh-CN" altLang="en-US" smtClean="0"/>
              <a:t>2026/10/23</a:t>
            </a:fld>
            <a:endParaRPr lang="zh-CN" altLang="en-US"/>
          </a:p>
        </p:txBody>
      </p:sp>
      <p:sp>
        <p:nvSpPr>
          <p:cNvPr id="8" name="页脚占位符 7">
            <a:extLst>
              <a:ext uri="{FF2B5EF4-FFF2-40B4-BE49-F238E27FC236}">
                <a16:creationId xmlns:a16="http://schemas.microsoft.com/office/drawing/2014/main" id="{C87B34DC-A5FB-422A-97F0-3AFEB6B290D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D7E9235-767D-4613-BD96-AC0DF9866866}"/>
              </a:ext>
            </a:extLst>
          </p:cNvPr>
          <p:cNvSpPr>
            <a:spLocks noGrp="1"/>
          </p:cNvSpPr>
          <p:nvPr>
            <p:ph type="sldNum" sz="quarter" idx="12"/>
          </p:nvPr>
        </p:nvSpPr>
        <p:spPr/>
        <p:txBody>
          <a:bodyPr/>
          <a:lstStyle/>
          <a:p>
            <a:fld id="{55C1AF91-5341-4E9D-ABFC-98AA39C54780}" type="slidenum">
              <a:rPr lang="zh-CN" altLang="en-US" smtClean="0"/>
              <a:t>‹#›</a:t>
            </a:fld>
            <a:endParaRPr lang="zh-CN" altLang="en-US"/>
          </a:p>
        </p:txBody>
      </p:sp>
    </p:spTree>
    <p:extLst>
      <p:ext uri="{BB962C8B-B14F-4D97-AF65-F5344CB8AC3E}">
        <p14:creationId xmlns:p14="http://schemas.microsoft.com/office/powerpoint/2010/main" val="237097870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83E9BC-BF4B-4611-AEF8-48071F35AF1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9E2D6B8-ED2A-4432-AB05-02CDC4EE2484}"/>
              </a:ext>
            </a:extLst>
          </p:cNvPr>
          <p:cNvSpPr>
            <a:spLocks noGrp="1"/>
          </p:cNvSpPr>
          <p:nvPr>
            <p:ph type="dt" sz="half" idx="10"/>
          </p:nvPr>
        </p:nvSpPr>
        <p:spPr/>
        <p:txBody>
          <a:bodyPr/>
          <a:lstStyle/>
          <a:p>
            <a:fld id="{7B8FAFCA-50C1-495D-93E6-0E9EC893FDCD}" type="datetimeFigureOut">
              <a:rPr lang="zh-CN" altLang="en-US" smtClean="0"/>
              <a:t>2026/10/23</a:t>
            </a:fld>
            <a:endParaRPr lang="zh-CN" altLang="en-US"/>
          </a:p>
        </p:txBody>
      </p:sp>
      <p:sp>
        <p:nvSpPr>
          <p:cNvPr id="4" name="页脚占位符 3">
            <a:extLst>
              <a:ext uri="{FF2B5EF4-FFF2-40B4-BE49-F238E27FC236}">
                <a16:creationId xmlns:a16="http://schemas.microsoft.com/office/drawing/2014/main" id="{1F262C24-0644-4687-AB79-3BD7D56BBB8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41FFE68-2A7F-4840-A72D-ABE3D29E1479}"/>
              </a:ext>
            </a:extLst>
          </p:cNvPr>
          <p:cNvSpPr>
            <a:spLocks noGrp="1"/>
          </p:cNvSpPr>
          <p:nvPr>
            <p:ph type="sldNum" sz="quarter" idx="12"/>
          </p:nvPr>
        </p:nvSpPr>
        <p:spPr/>
        <p:txBody>
          <a:bodyPr/>
          <a:lstStyle/>
          <a:p>
            <a:fld id="{55C1AF91-5341-4E9D-ABFC-98AA39C54780}" type="slidenum">
              <a:rPr lang="zh-CN" altLang="en-US" smtClean="0"/>
              <a:t>‹#›</a:t>
            </a:fld>
            <a:endParaRPr lang="zh-CN" altLang="en-US"/>
          </a:p>
        </p:txBody>
      </p:sp>
    </p:spTree>
    <p:extLst>
      <p:ext uri="{BB962C8B-B14F-4D97-AF65-F5344CB8AC3E}">
        <p14:creationId xmlns:p14="http://schemas.microsoft.com/office/powerpoint/2010/main" val="412879824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02A60E5-0CD6-4DA1-806B-BA3E97BBBAE4}"/>
              </a:ext>
            </a:extLst>
          </p:cNvPr>
          <p:cNvSpPr>
            <a:spLocks noGrp="1"/>
          </p:cNvSpPr>
          <p:nvPr>
            <p:ph type="dt" sz="half" idx="10"/>
          </p:nvPr>
        </p:nvSpPr>
        <p:spPr/>
        <p:txBody>
          <a:bodyPr/>
          <a:lstStyle/>
          <a:p>
            <a:fld id="{7B8FAFCA-50C1-495D-93E6-0E9EC893FDCD}" type="datetimeFigureOut">
              <a:rPr lang="zh-CN" altLang="en-US" smtClean="0"/>
              <a:t>2026/10/23</a:t>
            </a:fld>
            <a:endParaRPr lang="zh-CN" altLang="en-US"/>
          </a:p>
        </p:txBody>
      </p:sp>
      <p:sp>
        <p:nvSpPr>
          <p:cNvPr id="3" name="页脚占位符 2">
            <a:extLst>
              <a:ext uri="{FF2B5EF4-FFF2-40B4-BE49-F238E27FC236}">
                <a16:creationId xmlns:a16="http://schemas.microsoft.com/office/drawing/2014/main" id="{DB84C91D-D408-4B7A-975D-D6E7343EC5B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5E8BA61-CF2C-4A7E-BC34-CFFC1159AE55}"/>
              </a:ext>
            </a:extLst>
          </p:cNvPr>
          <p:cNvSpPr>
            <a:spLocks noGrp="1"/>
          </p:cNvSpPr>
          <p:nvPr>
            <p:ph type="sldNum" sz="quarter" idx="12"/>
          </p:nvPr>
        </p:nvSpPr>
        <p:spPr/>
        <p:txBody>
          <a:bodyPr/>
          <a:lstStyle/>
          <a:p>
            <a:fld id="{55C1AF91-5341-4E9D-ABFC-98AA39C54780}" type="slidenum">
              <a:rPr lang="zh-CN" altLang="en-US" smtClean="0"/>
              <a:t>‹#›</a:t>
            </a:fld>
            <a:endParaRPr lang="zh-CN" altLang="en-US"/>
          </a:p>
        </p:txBody>
      </p:sp>
    </p:spTree>
    <p:extLst>
      <p:ext uri="{BB962C8B-B14F-4D97-AF65-F5344CB8AC3E}">
        <p14:creationId xmlns:p14="http://schemas.microsoft.com/office/powerpoint/2010/main" val="218780407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0F3002-0C23-4DB2-9997-488D0A3CB3B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CDC0094-A94A-471C-86B2-449049A3BB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ECB2F1CB-98CB-46EA-8E05-5C3AB7596E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62B3A46-D301-4DA2-89D1-1EB2A144AA71}"/>
              </a:ext>
            </a:extLst>
          </p:cNvPr>
          <p:cNvSpPr>
            <a:spLocks noGrp="1"/>
          </p:cNvSpPr>
          <p:nvPr>
            <p:ph type="dt" sz="half" idx="10"/>
          </p:nvPr>
        </p:nvSpPr>
        <p:spPr/>
        <p:txBody>
          <a:bodyPr/>
          <a:lstStyle/>
          <a:p>
            <a:fld id="{7B8FAFCA-50C1-495D-93E6-0E9EC893FDCD}" type="datetimeFigureOut">
              <a:rPr lang="zh-CN" altLang="en-US" smtClean="0"/>
              <a:t>2026/10/23</a:t>
            </a:fld>
            <a:endParaRPr lang="zh-CN" altLang="en-US"/>
          </a:p>
        </p:txBody>
      </p:sp>
      <p:sp>
        <p:nvSpPr>
          <p:cNvPr id="6" name="页脚占位符 5">
            <a:extLst>
              <a:ext uri="{FF2B5EF4-FFF2-40B4-BE49-F238E27FC236}">
                <a16:creationId xmlns:a16="http://schemas.microsoft.com/office/drawing/2014/main" id="{90B07BE2-20F7-48F0-9E78-238633C8CB3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62BD31D-ED39-414A-8CEA-1523558FF396}"/>
              </a:ext>
            </a:extLst>
          </p:cNvPr>
          <p:cNvSpPr>
            <a:spLocks noGrp="1"/>
          </p:cNvSpPr>
          <p:nvPr>
            <p:ph type="sldNum" sz="quarter" idx="12"/>
          </p:nvPr>
        </p:nvSpPr>
        <p:spPr/>
        <p:txBody>
          <a:bodyPr/>
          <a:lstStyle/>
          <a:p>
            <a:fld id="{55C1AF91-5341-4E9D-ABFC-98AA39C54780}" type="slidenum">
              <a:rPr lang="zh-CN" altLang="en-US" smtClean="0"/>
              <a:t>‹#›</a:t>
            </a:fld>
            <a:endParaRPr lang="zh-CN" altLang="en-US"/>
          </a:p>
        </p:txBody>
      </p:sp>
    </p:spTree>
    <p:extLst>
      <p:ext uri="{BB962C8B-B14F-4D97-AF65-F5344CB8AC3E}">
        <p14:creationId xmlns:p14="http://schemas.microsoft.com/office/powerpoint/2010/main" val="2888179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97CF62-8255-4A42-8AE9-E3EC1881FCF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2563BEB-CA00-44A1-A441-9119D0CDB6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90F6C4A-17D7-4380-ADF4-96E9F2D8FD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3E29604-CF52-4E96-8546-97605AB955B3}"/>
              </a:ext>
            </a:extLst>
          </p:cNvPr>
          <p:cNvSpPr>
            <a:spLocks noGrp="1"/>
          </p:cNvSpPr>
          <p:nvPr>
            <p:ph type="dt" sz="half" idx="10"/>
          </p:nvPr>
        </p:nvSpPr>
        <p:spPr/>
        <p:txBody>
          <a:bodyPr/>
          <a:lstStyle/>
          <a:p>
            <a:fld id="{7B8FAFCA-50C1-495D-93E6-0E9EC893FDCD}" type="datetimeFigureOut">
              <a:rPr lang="zh-CN" altLang="en-US" smtClean="0"/>
              <a:t>2026/10/23</a:t>
            </a:fld>
            <a:endParaRPr lang="zh-CN" altLang="en-US"/>
          </a:p>
        </p:txBody>
      </p:sp>
      <p:sp>
        <p:nvSpPr>
          <p:cNvPr id="6" name="页脚占位符 5">
            <a:extLst>
              <a:ext uri="{FF2B5EF4-FFF2-40B4-BE49-F238E27FC236}">
                <a16:creationId xmlns:a16="http://schemas.microsoft.com/office/drawing/2014/main" id="{47FC97C2-E26D-4837-8242-0C84D32F421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F6B7BF0-0A96-44A7-92E0-4E7AE5A1EEB0}"/>
              </a:ext>
            </a:extLst>
          </p:cNvPr>
          <p:cNvSpPr>
            <a:spLocks noGrp="1"/>
          </p:cNvSpPr>
          <p:nvPr>
            <p:ph type="sldNum" sz="quarter" idx="12"/>
          </p:nvPr>
        </p:nvSpPr>
        <p:spPr/>
        <p:txBody>
          <a:bodyPr/>
          <a:lstStyle/>
          <a:p>
            <a:fld id="{55C1AF91-5341-4E9D-ABFC-98AA39C54780}" type="slidenum">
              <a:rPr lang="zh-CN" altLang="en-US" smtClean="0"/>
              <a:t>‹#›</a:t>
            </a:fld>
            <a:endParaRPr lang="zh-CN" altLang="en-US"/>
          </a:p>
        </p:txBody>
      </p:sp>
    </p:spTree>
    <p:extLst>
      <p:ext uri="{BB962C8B-B14F-4D97-AF65-F5344CB8AC3E}">
        <p14:creationId xmlns:p14="http://schemas.microsoft.com/office/powerpoint/2010/main" val="7348168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B90EED-2216-467D-9071-2E0604BCF53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0CA1C2E-79D8-410E-9738-6F02E8FD529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67AEF8C-29DE-481B-B51E-2CDA3713B3A0}"/>
              </a:ext>
            </a:extLst>
          </p:cNvPr>
          <p:cNvSpPr>
            <a:spLocks noGrp="1"/>
          </p:cNvSpPr>
          <p:nvPr>
            <p:ph type="dt" sz="half" idx="10"/>
          </p:nvPr>
        </p:nvSpPr>
        <p:spPr/>
        <p:txBody>
          <a:bodyPr/>
          <a:lstStyle/>
          <a:p>
            <a:fld id="{7B8FAFCA-50C1-495D-93E6-0E9EC893FDCD}" type="datetimeFigureOut">
              <a:rPr lang="zh-CN" altLang="en-US" smtClean="0"/>
              <a:t>2026/10/23</a:t>
            </a:fld>
            <a:endParaRPr lang="zh-CN" altLang="en-US"/>
          </a:p>
        </p:txBody>
      </p:sp>
      <p:sp>
        <p:nvSpPr>
          <p:cNvPr id="5" name="页脚占位符 4">
            <a:extLst>
              <a:ext uri="{FF2B5EF4-FFF2-40B4-BE49-F238E27FC236}">
                <a16:creationId xmlns:a16="http://schemas.microsoft.com/office/drawing/2014/main" id="{A0E79245-0DFF-4247-AB6C-14BFBDC3D5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F183220-7B6F-4914-A0DA-B5EA3DBEA4F2}"/>
              </a:ext>
            </a:extLst>
          </p:cNvPr>
          <p:cNvSpPr>
            <a:spLocks noGrp="1"/>
          </p:cNvSpPr>
          <p:nvPr>
            <p:ph type="sldNum" sz="quarter" idx="12"/>
          </p:nvPr>
        </p:nvSpPr>
        <p:spPr/>
        <p:txBody>
          <a:bodyPr/>
          <a:lstStyle/>
          <a:p>
            <a:fld id="{55C1AF91-5341-4E9D-ABFC-98AA39C54780}" type="slidenum">
              <a:rPr lang="zh-CN" altLang="en-US" smtClean="0"/>
              <a:t>‹#›</a:t>
            </a:fld>
            <a:endParaRPr lang="zh-CN" altLang="en-US"/>
          </a:p>
        </p:txBody>
      </p:sp>
    </p:spTree>
    <p:extLst>
      <p:ext uri="{BB962C8B-B14F-4D97-AF65-F5344CB8AC3E}">
        <p14:creationId xmlns:p14="http://schemas.microsoft.com/office/powerpoint/2010/main" val="75238281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0B407EE-3784-463D-B8D3-D7E1E7923E0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AB2A14E-2C1B-4F8D-87E8-74049E70191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54DD277-83EF-413D-8FEA-DCDD9865D881}"/>
              </a:ext>
            </a:extLst>
          </p:cNvPr>
          <p:cNvSpPr>
            <a:spLocks noGrp="1"/>
          </p:cNvSpPr>
          <p:nvPr>
            <p:ph type="dt" sz="half" idx="10"/>
          </p:nvPr>
        </p:nvSpPr>
        <p:spPr/>
        <p:txBody>
          <a:bodyPr/>
          <a:lstStyle/>
          <a:p>
            <a:fld id="{7B8FAFCA-50C1-495D-93E6-0E9EC893FDCD}" type="datetimeFigureOut">
              <a:rPr lang="zh-CN" altLang="en-US" smtClean="0"/>
              <a:t>2026/10/23</a:t>
            </a:fld>
            <a:endParaRPr lang="zh-CN" altLang="en-US"/>
          </a:p>
        </p:txBody>
      </p:sp>
      <p:sp>
        <p:nvSpPr>
          <p:cNvPr id="5" name="页脚占位符 4">
            <a:extLst>
              <a:ext uri="{FF2B5EF4-FFF2-40B4-BE49-F238E27FC236}">
                <a16:creationId xmlns:a16="http://schemas.microsoft.com/office/drawing/2014/main" id="{EC04350A-5D5B-4D63-940F-05265CD708E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A93CF6B-2790-468D-95DF-DFC4DA17F56B}"/>
              </a:ext>
            </a:extLst>
          </p:cNvPr>
          <p:cNvSpPr>
            <a:spLocks noGrp="1"/>
          </p:cNvSpPr>
          <p:nvPr>
            <p:ph type="sldNum" sz="quarter" idx="12"/>
          </p:nvPr>
        </p:nvSpPr>
        <p:spPr/>
        <p:txBody>
          <a:bodyPr/>
          <a:lstStyle/>
          <a:p>
            <a:fld id="{55C1AF91-5341-4E9D-ABFC-98AA39C54780}" type="slidenum">
              <a:rPr lang="zh-CN" altLang="en-US" smtClean="0"/>
              <a:t>‹#›</a:t>
            </a:fld>
            <a:endParaRPr lang="zh-CN" altLang="en-US"/>
          </a:p>
        </p:txBody>
      </p:sp>
    </p:spTree>
    <p:extLst>
      <p:ext uri="{BB962C8B-B14F-4D97-AF65-F5344CB8AC3E}">
        <p14:creationId xmlns:p14="http://schemas.microsoft.com/office/powerpoint/2010/main" val="37261242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1_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0B407EE-3784-463D-B8D3-D7E1E7923E0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AB2A14E-2C1B-4F8D-87E8-74049E70191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54DD277-83EF-413D-8FEA-DCDD9865D881}"/>
              </a:ext>
            </a:extLst>
          </p:cNvPr>
          <p:cNvSpPr>
            <a:spLocks noGrp="1"/>
          </p:cNvSpPr>
          <p:nvPr>
            <p:ph type="dt" sz="half" idx="10"/>
          </p:nvPr>
        </p:nvSpPr>
        <p:spPr/>
        <p:txBody>
          <a:bodyPr/>
          <a:lstStyle/>
          <a:p>
            <a:fld id="{7B8FAFCA-50C1-495D-93E6-0E9EC893FDCD}" type="datetimeFigureOut">
              <a:rPr lang="zh-CN" altLang="en-US" smtClean="0"/>
              <a:t>2026/10/23</a:t>
            </a:fld>
            <a:endParaRPr lang="zh-CN" altLang="en-US"/>
          </a:p>
        </p:txBody>
      </p:sp>
      <p:sp>
        <p:nvSpPr>
          <p:cNvPr id="5" name="页脚占位符 4">
            <a:extLst>
              <a:ext uri="{FF2B5EF4-FFF2-40B4-BE49-F238E27FC236}">
                <a16:creationId xmlns:a16="http://schemas.microsoft.com/office/drawing/2014/main" id="{EC04350A-5D5B-4D63-940F-05265CD708E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A93CF6B-2790-468D-95DF-DFC4DA17F56B}"/>
              </a:ext>
            </a:extLst>
          </p:cNvPr>
          <p:cNvSpPr>
            <a:spLocks noGrp="1"/>
          </p:cNvSpPr>
          <p:nvPr>
            <p:ph type="sldNum" sz="quarter" idx="12"/>
          </p:nvPr>
        </p:nvSpPr>
        <p:spPr/>
        <p:txBody>
          <a:bodyPr/>
          <a:lstStyle/>
          <a:p>
            <a:fld id="{55C1AF91-5341-4E9D-ABFC-98AA39C54780}" type="slidenum">
              <a:rPr lang="zh-CN" altLang="en-US" smtClean="0"/>
              <a:t>‹#›</a:t>
            </a:fld>
            <a:endParaRPr lang="zh-CN" altLang="en-US"/>
          </a:p>
        </p:txBody>
      </p:sp>
      <p:sp>
        <p:nvSpPr>
          <p:cNvPr id="8" name="TextBox 3">
            <a:extLst>
              <a:ext uri="{FF2B5EF4-FFF2-40B4-BE49-F238E27FC236}">
                <a16:creationId xmlns:a16="http://schemas.microsoft.com/office/drawing/2014/main" id="{6682D446-620D-3669-F1AD-2B1EB8925E24}"/>
              </a:ext>
            </a:extLst>
          </p:cNvPr>
          <p:cNvSpPr txBox="1"/>
          <p:nvPr userDrawn="1"/>
        </p:nvSpPr>
        <p:spPr>
          <a:xfrm>
            <a:off x="11674994" y="0"/>
            <a:ext cx="540060" cy="118430"/>
          </a:xfrm>
          <a:prstGeom prst="rect">
            <a:avLst/>
          </a:prstGeom>
          <a:noFill/>
        </p:spPr>
        <p:txBody>
          <a:bodyPr wrap="square" rtlCol="0">
            <a:spAutoFit/>
          </a:bodyPr>
          <a:lstStyle/>
          <a:p>
            <a:pPr>
              <a:lnSpc>
                <a:spcPct val="200000"/>
              </a:lnSpc>
            </a:pPr>
            <a:r>
              <a:rPr lang="en-US" altLang="zh-CN" sz="100" dirty="0">
                <a:solidFill>
                  <a:prstClr val="black"/>
                </a:solidFill>
                <a:latin typeface="微软雅黑" panose="020B0503020204020204" pitchFamily="34" charset="-122"/>
                <a:ea typeface="微软雅黑" panose="020B0503020204020204" pitchFamily="34" charset="-122"/>
                <a:hlinkClick r:id="rId2"/>
              </a:rPr>
              <a:t>PPT</a:t>
            </a:r>
            <a:r>
              <a:rPr lang="zh-CN" altLang="en-US" sz="100" dirty="0">
                <a:solidFill>
                  <a:prstClr val="black"/>
                </a:solidFill>
                <a:latin typeface="微软雅黑" panose="020B0503020204020204" pitchFamily="34" charset="-122"/>
                <a:ea typeface="微软雅黑" panose="020B0503020204020204" pitchFamily="34" charset="-122"/>
                <a:hlinkClick r:id="rId2"/>
              </a:rPr>
              <a:t>模板</a:t>
            </a:r>
            <a:r>
              <a:rPr lang="zh-CN" altLang="en-US" sz="100" dirty="0">
                <a:solidFill>
                  <a:prstClr val="black"/>
                </a:solidFill>
                <a:latin typeface="微软雅黑" panose="020B0503020204020204" pitchFamily="34" charset="-122"/>
                <a:ea typeface="微软雅黑" panose="020B0503020204020204" pitchFamily="34" charset="-122"/>
              </a:rPr>
              <a:t> </a:t>
            </a:r>
            <a:r>
              <a:rPr lang="en-US" altLang="zh-CN" sz="100" dirty="0">
                <a:solidFill>
                  <a:prstClr val="black"/>
                </a:solidFill>
                <a:latin typeface="微软雅黑" panose="020B0503020204020204" pitchFamily="34" charset="-122"/>
                <a:ea typeface="微软雅黑" panose="020B0503020204020204" pitchFamily="34" charset="-122"/>
              </a:rPr>
              <a:t>http://www.1ppt.com/moban/</a:t>
            </a:r>
            <a:r>
              <a:rPr lang="zh-CN" altLang="en-US" sz="100" dirty="0">
                <a:solidFill>
                  <a:prstClr val="black"/>
                </a:solidFill>
                <a:latin typeface="微软雅黑" panose="020B0503020204020204" pitchFamily="34" charset="-122"/>
                <a:ea typeface="微软雅黑" panose="020B0503020204020204" pitchFamily="34" charset="-122"/>
              </a:rPr>
              <a:t> </a:t>
            </a:r>
            <a:endParaRPr lang="en-US" altLang="zh-CN" sz="100"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089171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2026/10/23</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527493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2026/10/23</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14148790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28744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9F5C668-E9E2-4574-8ABF-46FA786847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E195F176-DE0D-4F14-B892-B18780882F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D937FEB-A8DE-4126-AFA8-7744BD5BFA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8FAFCA-50C1-495D-93E6-0E9EC893FDCD}" type="datetimeFigureOut">
              <a:rPr lang="zh-CN" altLang="en-US" smtClean="0"/>
              <a:t>2026/10/23</a:t>
            </a:fld>
            <a:endParaRPr lang="zh-CN" altLang="en-US"/>
          </a:p>
        </p:txBody>
      </p:sp>
      <p:sp>
        <p:nvSpPr>
          <p:cNvPr id="5" name="页脚占位符 4">
            <a:extLst>
              <a:ext uri="{FF2B5EF4-FFF2-40B4-BE49-F238E27FC236}">
                <a16:creationId xmlns:a16="http://schemas.microsoft.com/office/drawing/2014/main" id="{AB1FD908-08F8-45E6-80C3-FCE5A61294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3DC10F60-BE0F-4C8D-8FC3-5673A952B3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C1AF91-5341-4E9D-ABFC-98AA39C54780}" type="slidenum">
              <a:rPr lang="zh-CN" altLang="en-US" smtClean="0"/>
              <a:t>‹#›</a:t>
            </a:fld>
            <a:endParaRPr lang="zh-CN" altLang="en-US"/>
          </a:p>
        </p:txBody>
      </p:sp>
    </p:spTree>
    <p:extLst>
      <p:ext uri="{BB962C8B-B14F-4D97-AF65-F5344CB8AC3E}">
        <p14:creationId xmlns:p14="http://schemas.microsoft.com/office/powerpoint/2010/main" val="6622231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4" r:id="rId12"/>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15909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ags" Target="../tags/tag1.xml"/><Relationship Id="rId5" Type="http://schemas.openxmlformats.org/officeDocument/2006/relationships/image" Target="../media/image3.emf"/><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3.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7.xml"/><Relationship Id="rId1" Type="http://schemas.openxmlformats.org/officeDocument/2006/relationships/tags" Target="../tags/tag4.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5.xml"/><Relationship Id="rId5" Type="http://schemas.openxmlformats.org/officeDocument/2006/relationships/image" Target="../media/image10.jpe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7.xml"/><Relationship Id="rId1" Type="http://schemas.openxmlformats.org/officeDocument/2006/relationships/tags" Target="../tags/tag7.xml"/><Relationship Id="rId5" Type="http://schemas.openxmlformats.org/officeDocument/2006/relationships/image" Target="../media/image12.jpeg"/><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7.xml"/><Relationship Id="rId1" Type="http://schemas.openxmlformats.org/officeDocument/2006/relationships/tags" Target="../tags/tag11.xml"/><Relationship Id="rId4" Type="http://schemas.openxmlformats.org/officeDocument/2006/relationships/image" Target="../media/image16.jpeg"/></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7.xml"/><Relationship Id="rId1" Type="http://schemas.openxmlformats.org/officeDocument/2006/relationships/tags" Target="../tags/tag13.xml"/><Relationship Id="rId5" Type="http://schemas.openxmlformats.org/officeDocument/2006/relationships/image" Target="../media/image18.png"/><Relationship Id="rId4" Type="http://schemas.openxmlformats.org/officeDocument/2006/relationships/image" Target="../media/image17.jpe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7.xml"/><Relationship Id="rId1" Type="http://schemas.openxmlformats.org/officeDocument/2006/relationships/tags" Target="../tags/tag14.xml"/><Relationship Id="rId5" Type="http://schemas.openxmlformats.org/officeDocument/2006/relationships/image" Target="../media/image20.png"/><Relationship Id="rId4" Type="http://schemas.openxmlformats.org/officeDocument/2006/relationships/image" Target="../media/image19.jpe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7.xml"/><Relationship Id="rId1" Type="http://schemas.openxmlformats.org/officeDocument/2006/relationships/tags" Target="../tags/tag16.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7.xml"/><Relationship Id="rId1" Type="http://schemas.openxmlformats.org/officeDocument/2006/relationships/tags" Target="../tags/tag17.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7.xml"/><Relationship Id="rId1" Type="http://schemas.openxmlformats.org/officeDocument/2006/relationships/tags" Target="../tags/tag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61422285-D6CB-41D0-8AA2-A28B90EC4DA4}"/>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5400000">
            <a:off x="2667000" y="-2667000"/>
            <a:ext cx="6858000" cy="12192001"/>
          </a:xfrm>
          <a:prstGeom prst="rect">
            <a:avLst/>
          </a:prstGeom>
        </p:spPr>
      </p:pic>
      <p:grpSp>
        <p:nvGrpSpPr>
          <p:cNvPr id="6" name="组合 5">
            <a:extLst>
              <a:ext uri="{FF2B5EF4-FFF2-40B4-BE49-F238E27FC236}">
                <a16:creationId xmlns:a16="http://schemas.microsoft.com/office/drawing/2014/main" id="{9CCFABA9-441D-43B7-A7D3-F843C46B72F4}"/>
              </a:ext>
            </a:extLst>
          </p:cNvPr>
          <p:cNvGrpSpPr/>
          <p:nvPr/>
        </p:nvGrpSpPr>
        <p:grpSpPr>
          <a:xfrm>
            <a:off x="288486" y="218147"/>
            <a:ext cx="1540792" cy="369332"/>
            <a:chOff x="379717" y="372035"/>
            <a:chExt cx="1503417" cy="369332"/>
          </a:xfrm>
        </p:grpSpPr>
        <p:sp>
          <p:nvSpPr>
            <p:cNvPr id="7" name="椭圆 6">
              <a:extLst>
                <a:ext uri="{FF2B5EF4-FFF2-40B4-BE49-F238E27FC236}">
                  <a16:creationId xmlns:a16="http://schemas.microsoft.com/office/drawing/2014/main" id="{C3B76BC4-E8BE-4A60-8DF6-0663A4D9742E}"/>
                </a:ext>
              </a:extLst>
            </p:cNvPr>
            <p:cNvSpPr/>
            <p:nvPr/>
          </p:nvSpPr>
          <p:spPr>
            <a:xfrm>
              <a:off x="379717" y="404664"/>
              <a:ext cx="304075" cy="304075"/>
            </a:xfrm>
            <a:prstGeom prst="ellipse">
              <a:avLst/>
            </a:prstGeom>
            <a:solidFill>
              <a:schemeClr val="tx1">
                <a:lumMod val="85000"/>
                <a:lumOff val="15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C5F149EF-18A7-45C5-8433-637D01E44A4A}"/>
                </a:ext>
              </a:extLst>
            </p:cNvPr>
            <p:cNvSpPr txBox="1"/>
            <p:nvPr/>
          </p:nvSpPr>
          <p:spPr>
            <a:xfrm>
              <a:off x="683791" y="372035"/>
              <a:ext cx="1199343" cy="369332"/>
            </a:xfrm>
            <a:prstGeom prst="rect">
              <a:avLst/>
            </a:prstGeom>
            <a:noFill/>
          </p:spPr>
          <p:txBody>
            <a:bodyPr wrap="square" rtlCol="0">
              <a:spAutoFit/>
            </a:bodyPr>
            <a:lstStyle/>
            <a:p>
              <a:r>
                <a:rPr lang="en-US" altLang="zh-CN"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WSOAEY</a:t>
              </a:r>
              <a:endParaRPr lang="zh-CN" altLang="en-US"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endParaRPr>
            </a:p>
          </p:txBody>
        </p:sp>
      </p:grpSp>
      <p:sp>
        <p:nvSpPr>
          <p:cNvPr id="10" name="文本框 9">
            <a:extLst>
              <a:ext uri="{FF2B5EF4-FFF2-40B4-BE49-F238E27FC236}">
                <a16:creationId xmlns:a16="http://schemas.microsoft.com/office/drawing/2014/main" id="{485B9306-0EA2-44F2-9B62-D5D1674A1868}"/>
              </a:ext>
            </a:extLst>
          </p:cNvPr>
          <p:cNvSpPr txBox="1"/>
          <p:nvPr/>
        </p:nvSpPr>
        <p:spPr>
          <a:xfrm>
            <a:off x="732160" y="3055638"/>
            <a:ext cx="7775268" cy="1107996"/>
          </a:xfrm>
          <a:prstGeom prst="rect">
            <a:avLst/>
          </a:prstGeom>
          <a:noFill/>
        </p:spPr>
        <p:txBody>
          <a:bodyPr wrap="square" rtlCol="0">
            <a:spAutoFit/>
          </a:bodyPr>
          <a:lstStyle/>
          <a:p>
            <a:pPr algn="dist"/>
            <a:r>
              <a:rPr lang="zh-CN" altLang="en-US" sz="6600" dirty="0">
                <a:effectLst>
                  <a:outerShdw blurRad="38100" dist="38100" dir="2700000" algn="tl">
                    <a:srgbClr val="000000">
                      <a:alpha val="43137"/>
                    </a:srgbClr>
                  </a:outerShdw>
                </a:effectLst>
                <a:latin typeface="字魂35号-经典雅黑" panose="00000500000000000000" pitchFamily="2" charset="-122"/>
                <a:ea typeface="字魂35号-经典雅黑" panose="00000500000000000000" pitchFamily="2" charset="-122"/>
              </a:rPr>
              <a:t>在循环经济中的重生</a:t>
            </a:r>
          </a:p>
        </p:txBody>
      </p:sp>
      <p:grpSp>
        <p:nvGrpSpPr>
          <p:cNvPr id="20" name="组合 19">
            <a:extLst>
              <a:ext uri="{FF2B5EF4-FFF2-40B4-BE49-F238E27FC236}">
                <a16:creationId xmlns:a16="http://schemas.microsoft.com/office/drawing/2014/main" id="{3ED2C7F5-EE0C-41C8-88F0-13CAF2502C5C}"/>
              </a:ext>
            </a:extLst>
          </p:cNvPr>
          <p:cNvGrpSpPr/>
          <p:nvPr/>
        </p:nvGrpSpPr>
        <p:grpSpPr>
          <a:xfrm>
            <a:off x="870705" y="4249361"/>
            <a:ext cx="2169356" cy="359554"/>
            <a:chOff x="1274589" y="5747290"/>
            <a:chExt cx="2169356" cy="359554"/>
          </a:xfrm>
        </p:grpSpPr>
        <p:grpSp>
          <p:nvGrpSpPr>
            <p:cNvPr id="21" name="组合 20">
              <a:extLst>
                <a:ext uri="{FF2B5EF4-FFF2-40B4-BE49-F238E27FC236}">
                  <a16:creationId xmlns:a16="http://schemas.microsoft.com/office/drawing/2014/main" id="{BA9007CA-3A90-4927-9A99-C3ECA9D17A94}"/>
                </a:ext>
              </a:extLst>
            </p:cNvPr>
            <p:cNvGrpSpPr/>
            <p:nvPr/>
          </p:nvGrpSpPr>
          <p:grpSpPr>
            <a:xfrm>
              <a:off x="1274589" y="5747290"/>
              <a:ext cx="359554" cy="359554"/>
              <a:chOff x="1274589" y="5761324"/>
              <a:chExt cx="359554" cy="359554"/>
            </a:xfrm>
          </p:grpSpPr>
          <p:sp>
            <p:nvSpPr>
              <p:cNvPr id="23" name="椭圆 22">
                <a:extLst>
                  <a:ext uri="{FF2B5EF4-FFF2-40B4-BE49-F238E27FC236}">
                    <a16:creationId xmlns:a16="http://schemas.microsoft.com/office/drawing/2014/main" id="{0BA68C82-FF89-4ABC-ADD3-89F34371987C}"/>
                  </a:ext>
                </a:extLst>
              </p:cNvPr>
              <p:cNvSpPr/>
              <p:nvPr/>
            </p:nvSpPr>
            <p:spPr>
              <a:xfrm>
                <a:off x="1274589" y="5761324"/>
                <a:ext cx="359554" cy="359554"/>
              </a:xfrm>
              <a:prstGeom prst="ellipse">
                <a:avLst/>
              </a:prstGeom>
              <a:solidFill>
                <a:schemeClr val="tx1">
                  <a:lumMod val="65000"/>
                  <a:lumOff val="35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4" name="图片 23">
                <a:extLst>
                  <a:ext uri="{FF2B5EF4-FFF2-40B4-BE49-F238E27FC236}">
                    <a16:creationId xmlns:a16="http://schemas.microsoft.com/office/drawing/2014/main" id="{727751D9-242B-4268-B0DC-F82225ED3187}"/>
                  </a:ext>
                </a:extLst>
              </p:cNvPr>
              <p:cNvPicPr>
                <a:picLocks noChangeAspect="1"/>
              </p:cNvPicPr>
              <p:nvPr/>
            </p:nvPicPr>
            <p:blipFill>
              <a:blip r:embed="rId4"/>
              <a:stretch>
                <a:fillRect/>
              </a:stretch>
            </p:blipFill>
            <p:spPr>
              <a:xfrm>
                <a:off x="1346354" y="5837653"/>
                <a:ext cx="216024" cy="206896"/>
              </a:xfrm>
              <a:prstGeom prst="rect">
                <a:avLst/>
              </a:prstGeom>
            </p:spPr>
          </p:pic>
        </p:grpSp>
        <p:sp>
          <p:nvSpPr>
            <p:cNvPr id="22" name="文本框 21">
              <a:extLst>
                <a:ext uri="{FF2B5EF4-FFF2-40B4-BE49-F238E27FC236}">
                  <a16:creationId xmlns:a16="http://schemas.microsoft.com/office/drawing/2014/main" id="{91B49C90-4392-40ED-A2B8-BA328FBEFDBD}"/>
                </a:ext>
              </a:extLst>
            </p:cNvPr>
            <p:cNvSpPr txBox="1"/>
            <p:nvPr/>
          </p:nvSpPr>
          <p:spPr>
            <a:xfrm>
              <a:off x="1634142" y="5757790"/>
              <a:ext cx="1809803" cy="338554"/>
            </a:xfrm>
            <a:prstGeom prst="rect">
              <a:avLst/>
            </a:prstGeom>
            <a:noFill/>
          </p:spPr>
          <p:txBody>
            <a:bodyPr wrap="square" rtlCol="0">
              <a:spAutoFit/>
            </a:bodyPr>
            <a:lstStyle/>
            <a:p>
              <a:r>
                <a:rPr lang="zh-CN" altLang="en-US" sz="1600" dirty="0">
                  <a:solidFill>
                    <a:schemeClr val="tx1">
                      <a:lumMod val="65000"/>
                      <a:lumOff val="35000"/>
                    </a:schemeClr>
                  </a:solidFill>
                  <a:latin typeface="字魂59号-创粗黑" panose="00000500000000000000" pitchFamily="2" charset="-122"/>
                  <a:ea typeface="字魂59号-创粗黑" panose="00000500000000000000" pitchFamily="2" charset="-122"/>
                </a:rPr>
                <a:t>汇报组：第十组</a:t>
              </a:r>
            </a:p>
          </p:txBody>
        </p:sp>
      </p:grpSp>
      <p:grpSp>
        <p:nvGrpSpPr>
          <p:cNvPr id="25" name="组合 24">
            <a:extLst>
              <a:ext uri="{FF2B5EF4-FFF2-40B4-BE49-F238E27FC236}">
                <a16:creationId xmlns:a16="http://schemas.microsoft.com/office/drawing/2014/main" id="{2F53058F-AD9C-44E4-92F2-4900829CC412}"/>
              </a:ext>
            </a:extLst>
          </p:cNvPr>
          <p:cNvGrpSpPr/>
          <p:nvPr/>
        </p:nvGrpSpPr>
        <p:grpSpPr>
          <a:xfrm>
            <a:off x="3503712" y="4249361"/>
            <a:ext cx="2448272" cy="359554"/>
            <a:chOff x="3420779" y="5755866"/>
            <a:chExt cx="2448272" cy="359554"/>
          </a:xfrm>
        </p:grpSpPr>
        <p:sp>
          <p:nvSpPr>
            <p:cNvPr id="26" name="文本框 25">
              <a:extLst>
                <a:ext uri="{FF2B5EF4-FFF2-40B4-BE49-F238E27FC236}">
                  <a16:creationId xmlns:a16="http://schemas.microsoft.com/office/drawing/2014/main" id="{39C2B6B2-BAD2-4A38-B3FC-58046A58C785}"/>
                </a:ext>
              </a:extLst>
            </p:cNvPr>
            <p:cNvSpPr txBox="1"/>
            <p:nvPr/>
          </p:nvSpPr>
          <p:spPr>
            <a:xfrm>
              <a:off x="3780333" y="5766366"/>
              <a:ext cx="2088718" cy="338554"/>
            </a:xfrm>
            <a:prstGeom prst="rect">
              <a:avLst/>
            </a:prstGeom>
            <a:noFill/>
          </p:spPr>
          <p:txBody>
            <a:bodyPr wrap="square" rtlCol="0">
              <a:spAutoFit/>
            </a:bodyPr>
            <a:lstStyle/>
            <a:p>
              <a:r>
                <a:rPr lang="zh-CN" altLang="en-US" sz="1600" dirty="0">
                  <a:solidFill>
                    <a:schemeClr val="tx1">
                      <a:lumMod val="65000"/>
                      <a:lumOff val="35000"/>
                    </a:schemeClr>
                  </a:solidFill>
                  <a:latin typeface="字魂59号-创粗黑" panose="00000500000000000000" pitchFamily="2" charset="-122"/>
                  <a:ea typeface="字魂59号-创粗黑" panose="00000500000000000000" pitchFamily="2" charset="-122"/>
                </a:rPr>
                <a:t>汇报人：</a:t>
              </a:r>
              <a:r>
                <a:rPr lang="en-US" altLang="zh-CN" sz="1600" dirty="0">
                  <a:solidFill>
                    <a:schemeClr val="tx1">
                      <a:lumMod val="65000"/>
                      <a:lumOff val="35000"/>
                    </a:schemeClr>
                  </a:solidFill>
                  <a:latin typeface="字魂59号-创粗黑" panose="00000500000000000000" pitchFamily="2" charset="-122"/>
                  <a:ea typeface="字魂59号-创粗黑" panose="00000500000000000000" pitchFamily="2" charset="-122"/>
                </a:rPr>
                <a:t>Wsoaey</a:t>
              </a:r>
              <a:endParaRPr lang="zh-CN" altLang="en-US" sz="1600" dirty="0">
                <a:solidFill>
                  <a:schemeClr val="tx1">
                    <a:lumMod val="65000"/>
                    <a:lumOff val="35000"/>
                  </a:schemeClr>
                </a:solidFill>
                <a:latin typeface="字魂59号-创粗黑" panose="00000500000000000000" pitchFamily="2" charset="-122"/>
                <a:ea typeface="字魂59号-创粗黑" panose="00000500000000000000" pitchFamily="2" charset="-122"/>
              </a:endParaRPr>
            </a:p>
          </p:txBody>
        </p:sp>
        <p:grpSp>
          <p:nvGrpSpPr>
            <p:cNvPr id="27" name="组合 26">
              <a:extLst>
                <a:ext uri="{FF2B5EF4-FFF2-40B4-BE49-F238E27FC236}">
                  <a16:creationId xmlns:a16="http://schemas.microsoft.com/office/drawing/2014/main" id="{F26A8393-AD6D-4E95-BCCE-6F9647649BBC}"/>
                </a:ext>
              </a:extLst>
            </p:cNvPr>
            <p:cNvGrpSpPr/>
            <p:nvPr/>
          </p:nvGrpSpPr>
          <p:grpSpPr>
            <a:xfrm>
              <a:off x="3420779" y="5755866"/>
              <a:ext cx="359554" cy="359554"/>
              <a:chOff x="3420779" y="5755866"/>
              <a:chExt cx="359554" cy="359554"/>
            </a:xfrm>
          </p:grpSpPr>
          <p:sp>
            <p:nvSpPr>
              <p:cNvPr id="28" name="椭圆 27">
                <a:extLst>
                  <a:ext uri="{FF2B5EF4-FFF2-40B4-BE49-F238E27FC236}">
                    <a16:creationId xmlns:a16="http://schemas.microsoft.com/office/drawing/2014/main" id="{A3BD828E-FC7E-43A9-8E8C-8E4740B8685C}"/>
                  </a:ext>
                </a:extLst>
              </p:cNvPr>
              <p:cNvSpPr/>
              <p:nvPr/>
            </p:nvSpPr>
            <p:spPr>
              <a:xfrm>
                <a:off x="3420779" y="5755866"/>
                <a:ext cx="359554" cy="359554"/>
              </a:xfrm>
              <a:prstGeom prst="ellipse">
                <a:avLst/>
              </a:prstGeom>
              <a:solidFill>
                <a:schemeClr val="tx1">
                  <a:lumMod val="65000"/>
                  <a:lumOff val="35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a:extLst>
                  <a:ext uri="{FF2B5EF4-FFF2-40B4-BE49-F238E27FC236}">
                    <a16:creationId xmlns:a16="http://schemas.microsoft.com/office/drawing/2014/main" id="{770A7954-9E2F-436F-AD5D-0D97AC65BA2A}"/>
                  </a:ext>
                </a:extLst>
              </p:cNvPr>
              <p:cNvPicPr>
                <a:picLocks noChangeAspect="1"/>
              </p:cNvPicPr>
              <p:nvPr/>
            </p:nvPicPr>
            <p:blipFill>
              <a:blip r:embed="rId5"/>
              <a:stretch>
                <a:fillRect/>
              </a:stretch>
            </p:blipFill>
            <p:spPr>
              <a:xfrm>
                <a:off x="3496053" y="5839283"/>
                <a:ext cx="209006" cy="192720"/>
              </a:xfrm>
              <a:prstGeom prst="rect">
                <a:avLst/>
              </a:prstGeom>
            </p:spPr>
          </p:pic>
        </p:grpSp>
      </p:grpSp>
      <p:sp>
        <p:nvSpPr>
          <p:cNvPr id="30" name="文本框 29">
            <a:extLst>
              <a:ext uri="{FF2B5EF4-FFF2-40B4-BE49-F238E27FC236}">
                <a16:creationId xmlns:a16="http://schemas.microsoft.com/office/drawing/2014/main" id="{F217B1AC-60A4-4BC3-BC4C-C02FDEB73DEB}"/>
              </a:ext>
            </a:extLst>
          </p:cNvPr>
          <p:cNvSpPr txBox="1"/>
          <p:nvPr/>
        </p:nvSpPr>
        <p:spPr>
          <a:xfrm>
            <a:off x="732160" y="2224641"/>
            <a:ext cx="4571751" cy="830997"/>
          </a:xfrm>
          <a:prstGeom prst="rect">
            <a:avLst/>
          </a:prstGeom>
          <a:noFill/>
        </p:spPr>
        <p:txBody>
          <a:bodyPr wrap="square" rtlCol="0">
            <a:spAutoFit/>
          </a:bodyPr>
          <a:lstStyle/>
          <a:p>
            <a:r>
              <a:rPr lang="zh-CN" altLang="en-US" sz="4800" dirty="0">
                <a:solidFill>
                  <a:schemeClr val="tx1">
                    <a:lumMod val="75000"/>
                    <a:lumOff val="25000"/>
                  </a:schemeClr>
                </a:solidFill>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消失的电子垃圾</a:t>
            </a:r>
          </a:p>
        </p:txBody>
      </p:sp>
    </p:spTree>
    <p:custDataLst>
      <p:tags r:id="rId1"/>
    </p:custDataLst>
    <p:extLst>
      <p:ext uri="{BB962C8B-B14F-4D97-AF65-F5344CB8AC3E}">
        <p14:creationId xmlns:p14="http://schemas.microsoft.com/office/powerpoint/2010/main" val="86809204"/>
      </p:ext>
    </p:extLst>
  </p:cSld>
  <p:clrMapOvr>
    <a:masterClrMapping/>
  </p:clrMapOvr>
  <mc:AlternateContent xmlns:mc="http://schemas.openxmlformats.org/markup-compatibility/2006" xmlns:p14="http://schemas.microsoft.com/office/powerpoint/2010/main">
    <mc:Choice Requires="p14">
      <p:transition spd="slow" p14:dur="1500" advTm="3225">
        <p:random/>
      </p:transition>
    </mc:Choice>
    <mc:Fallback xmlns="">
      <p:transition spd="slow" advTm="3225">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left)">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1000"/>
                                        <p:tgtEl>
                                          <p:spTgt spid="20"/>
                                        </p:tgtEl>
                                      </p:cBhvr>
                                    </p:animEffect>
                                    <p:anim calcmode="lin" valueType="num">
                                      <p:cBhvr>
                                        <p:cTn id="20" dur="1000" fill="hold"/>
                                        <p:tgtEl>
                                          <p:spTgt spid="20"/>
                                        </p:tgtEl>
                                        <p:attrNameLst>
                                          <p:attrName>ppt_x</p:attrName>
                                        </p:attrNameLst>
                                      </p:cBhvr>
                                      <p:tavLst>
                                        <p:tav tm="0">
                                          <p:val>
                                            <p:strVal val="#ppt_x"/>
                                          </p:val>
                                        </p:tav>
                                        <p:tav tm="100000">
                                          <p:val>
                                            <p:strVal val="#ppt_x"/>
                                          </p:val>
                                        </p:tav>
                                      </p:tavLst>
                                    </p:anim>
                                    <p:anim calcmode="lin" valueType="num">
                                      <p:cBhvr>
                                        <p:cTn id="21"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1000"/>
                                        <p:tgtEl>
                                          <p:spTgt spid="25"/>
                                        </p:tgtEl>
                                      </p:cBhvr>
                                    </p:animEffect>
                                    <p:anim calcmode="lin" valueType="num">
                                      <p:cBhvr>
                                        <p:cTn id="27" dur="1000" fill="hold"/>
                                        <p:tgtEl>
                                          <p:spTgt spid="25"/>
                                        </p:tgtEl>
                                        <p:attrNameLst>
                                          <p:attrName>ppt_x</p:attrName>
                                        </p:attrNameLst>
                                      </p:cBhvr>
                                      <p:tavLst>
                                        <p:tav tm="0">
                                          <p:val>
                                            <p:strVal val="#ppt_x"/>
                                          </p:val>
                                        </p:tav>
                                        <p:tav tm="100000">
                                          <p:val>
                                            <p:strVal val="#ppt_x"/>
                                          </p:val>
                                        </p:tav>
                                      </p:tavLst>
                                    </p:anim>
                                    <p:anim calcmode="lin" valueType="num">
                                      <p:cBhvr>
                                        <p:cTn id="28"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30"/>
                                        </p:tgtEl>
                                        <p:attrNameLst>
                                          <p:attrName>style.visibility</p:attrName>
                                        </p:attrNameLst>
                                      </p:cBhvr>
                                      <p:to>
                                        <p:strVal val="visible"/>
                                      </p:to>
                                    </p:set>
                                    <p:anim calcmode="lin" valueType="num">
                                      <p:cBhvr>
                                        <p:cTn id="33" dur="500" fill="hold"/>
                                        <p:tgtEl>
                                          <p:spTgt spid="30"/>
                                        </p:tgtEl>
                                        <p:attrNameLst>
                                          <p:attrName>ppt_w</p:attrName>
                                        </p:attrNameLst>
                                      </p:cBhvr>
                                      <p:tavLst>
                                        <p:tav tm="0">
                                          <p:val>
                                            <p:fltVal val="0"/>
                                          </p:val>
                                        </p:tav>
                                        <p:tav tm="100000">
                                          <p:val>
                                            <p:strVal val="#ppt_w"/>
                                          </p:val>
                                        </p:tav>
                                      </p:tavLst>
                                    </p:anim>
                                    <p:anim calcmode="lin" valueType="num">
                                      <p:cBhvr>
                                        <p:cTn id="34" dur="500" fill="hold"/>
                                        <p:tgtEl>
                                          <p:spTgt spid="30"/>
                                        </p:tgtEl>
                                        <p:attrNameLst>
                                          <p:attrName>ppt_h</p:attrName>
                                        </p:attrNameLst>
                                      </p:cBhvr>
                                      <p:tavLst>
                                        <p:tav tm="0">
                                          <p:val>
                                            <p:fltVal val="0"/>
                                          </p:val>
                                        </p:tav>
                                        <p:tav tm="100000">
                                          <p:val>
                                            <p:strVal val="#ppt_h"/>
                                          </p:val>
                                        </p:tav>
                                      </p:tavLst>
                                    </p:anim>
                                    <p:animEffect transition="in" filter="fade">
                                      <p:cBhvr>
                                        <p:cTn id="3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EF70B4B-DFA6-4581-9E38-CB9F16C1919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5400000">
            <a:off x="2667000" y="-2667000"/>
            <a:ext cx="6858000" cy="12192001"/>
          </a:xfrm>
          <a:prstGeom prst="rect">
            <a:avLst/>
          </a:prstGeom>
        </p:spPr>
      </p:pic>
      <p:grpSp>
        <p:nvGrpSpPr>
          <p:cNvPr id="3" name="组合 2">
            <a:extLst>
              <a:ext uri="{FF2B5EF4-FFF2-40B4-BE49-F238E27FC236}">
                <a16:creationId xmlns:a16="http://schemas.microsoft.com/office/drawing/2014/main" id="{1BE73335-6148-4FD6-A1C2-91769A2B41C7}"/>
              </a:ext>
            </a:extLst>
          </p:cNvPr>
          <p:cNvGrpSpPr/>
          <p:nvPr/>
        </p:nvGrpSpPr>
        <p:grpSpPr>
          <a:xfrm>
            <a:off x="288486" y="218147"/>
            <a:ext cx="1991089" cy="369332"/>
            <a:chOff x="379717" y="372035"/>
            <a:chExt cx="1991089" cy="369332"/>
          </a:xfrm>
        </p:grpSpPr>
        <p:sp>
          <p:nvSpPr>
            <p:cNvPr id="4" name="椭圆 3">
              <a:extLst>
                <a:ext uri="{FF2B5EF4-FFF2-40B4-BE49-F238E27FC236}">
                  <a16:creationId xmlns:a16="http://schemas.microsoft.com/office/drawing/2014/main" id="{2CD19F89-102C-402F-8189-F85C75152216}"/>
                </a:ext>
              </a:extLst>
            </p:cNvPr>
            <p:cNvSpPr/>
            <p:nvPr/>
          </p:nvSpPr>
          <p:spPr>
            <a:xfrm>
              <a:off x="379717" y="404664"/>
              <a:ext cx="304075" cy="304075"/>
            </a:xfrm>
            <a:prstGeom prst="ellipse">
              <a:avLst/>
            </a:prstGeom>
            <a:solidFill>
              <a:schemeClr val="tx1">
                <a:lumMod val="85000"/>
                <a:lumOff val="15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EC9B1829-A23B-4E33-92AA-713448C29FF2}"/>
                </a:ext>
              </a:extLst>
            </p:cNvPr>
            <p:cNvSpPr txBox="1"/>
            <p:nvPr/>
          </p:nvSpPr>
          <p:spPr>
            <a:xfrm>
              <a:off x="683791" y="372035"/>
              <a:ext cx="1687015" cy="369332"/>
            </a:xfrm>
            <a:prstGeom prst="rect">
              <a:avLst/>
            </a:prstGeom>
            <a:noFill/>
          </p:spPr>
          <p:txBody>
            <a:bodyPr wrap="square" rtlCol="0">
              <a:spAutoFit/>
            </a:bodyPr>
            <a:lstStyle/>
            <a:p>
              <a:r>
                <a:rPr lang="en-US" altLang="zh-CN"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WSOAEY</a:t>
              </a:r>
              <a:endParaRPr lang="zh-CN" altLang="en-US"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endParaRPr>
            </a:p>
          </p:txBody>
        </p:sp>
      </p:grpSp>
      <p:grpSp>
        <p:nvGrpSpPr>
          <p:cNvPr id="6" name="组合 5">
            <a:extLst>
              <a:ext uri="{FF2B5EF4-FFF2-40B4-BE49-F238E27FC236}">
                <a16:creationId xmlns:a16="http://schemas.microsoft.com/office/drawing/2014/main" id="{C82528E7-BDAF-43CF-871E-9980983211B4}"/>
              </a:ext>
            </a:extLst>
          </p:cNvPr>
          <p:cNvGrpSpPr/>
          <p:nvPr/>
        </p:nvGrpSpPr>
        <p:grpSpPr>
          <a:xfrm>
            <a:off x="2063552" y="3003515"/>
            <a:ext cx="1859086" cy="1169551"/>
            <a:chOff x="1094315" y="3890571"/>
            <a:chExt cx="1859086" cy="1169551"/>
          </a:xfrm>
        </p:grpSpPr>
        <p:sp>
          <p:nvSpPr>
            <p:cNvPr id="7" name="文本框 6">
              <a:extLst>
                <a:ext uri="{FF2B5EF4-FFF2-40B4-BE49-F238E27FC236}">
                  <a16:creationId xmlns:a16="http://schemas.microsoft.com/office/drawing/2014/main" id="{FEC11717-6D2B-4D2E-856D-1FEF649F9E64}"/>
                </a:ext>
              </a:extLst>
            </p:cNvPr>
            <p:cNvSpPr txBox="1"/>
            <p:nvPr/>
          </p:nvSpPr>
          <p:spPr>
            <a:xfrm>
              <a:off x="1094315" y="3890571"/>
              <a:ext cx="1859086" cy="1015663"/>
            </a:xfrm>
            <a:prstGeom prst="rect">
              <a:avLst/>
            </a:prstGeom>
            <a:noFill/>
          </p:spPr>
          <p:txBody>
            <a:bodyPr wrap="square" rtlCol="0">
              <a:spAutoFit/>
            </a:bodyPr>
            <a:lstStyle/>
            <a:p>
              <a:pPr algn="dist"/>
              <a:r>
                <a:rPr lang="zh-CN" altLang="en-US" sz="60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目录</a:t>
              </a:r>
            </a:p>
          </p:txBody>
        </p:sp>
        <p:sp>
          <p:nvSpPr>
            <p:cNvPr id="8" name="文本框 7">
              <a:extLst>
                <a:ext uri="{FF2B5EF4-FFF2-40B4-BE49-F238E27FC236}">
                  <a16:creationId xmlns:a16="http://schemas.microsoft.com/office/drawing/2014/main" id="{4B6F0651-39C2-4ED5-9997-DE5249EC273E}"/>
                </a:ext>
              </a:extLst>
            </p:cNvPr>
            <p:cNvSpPr txBox="1"/>
            <p:nvPr/>
          </p:nvSpPr>
          <p:spPr>
            <a:xfrm>
              <a:off x="1146131" y="4752345"/>
              <a:ext cx="1755454" cy="307777"/>
            </a:xfrm>
            <a:prstGeom prst="rect">
              <a:avLst/>
            </a:prstGeom>
            <a:noFill/>
          </p:spPr>
          <p:txBody>
            <a:bodyPr wrap="square" rtlCol="0">
              <a:spAutoFit/>
            </a:bodyPr>
            <a:lstStyle/>
            <a:p>
              <a:pPr algn="dist"/>
              <a:r>
                <a:rPr lang="en-US" altLang="zh-CN" sz="1400" dirty="0">
                  <a:solidFill>
                    <a:schemeClr val="tx1">
                      <a:lumMod val="65000"/>
                      <a:lumOff val="35000"/>
                    </a:schemeClr>
                  </a:solidFill>
                  <a:effectLst>
                    <a:outerShdw blurRad="38100" dist="38100" dir="2700000" algn="tl">
                      <a:srgbClr val="000000">
                        <a:alpha val="43137"/>
                      </a:srgbClr>
                    </a:outerShdw>
                  </a:effectLst>
                  <a:latin typeface="思源黑体 CN Normal" panose="020B0400000000000000" pitchFamily="34" charset="-122"/>
                  <a:ea typeface="思源黑体 CN Normal" panose="020B0400000000000000" pitchFamily="34" charset="-122"/>
                </a:rPr>
                <a:t>CONTENTES</a:t>
              </a:r>
              <a:endParaRPr lang="zh-CN" altLang="en-US" sz="1400" dirty="0">
                <a:solidFill>
                  <a:schemeClr val="tx1">
                    <a:lumMod val="65000"/>
                    <a:lumOff val="35000"/>
                  </a:schemeClr>
                </a:solidFill>
                <a:effectLst>
                  <a:outerShdw blurRad="38100" dist="38100" dir="2700000" algn="tl">
                    <a:srgbClr val="000000">
                      <a:alpha val="43137"/>
                    </a:srgbClr>
                  </a:outerShdw>
                </a:effectLst>
                <a:latin typeface="思源黑体 CN Normal" panose="020B0400000000000000" pitchFamily="34" charset="-122"/>
                <a:ea typeface="思源黑体 CN Normal" panose="020B0400000000000000" pitchFamily="34" charset="-122"/>
              </a:endParaRPr>
            </a:p>
          </p:txBody>
        </p:sp>
      </p:grpSp>
      <p:grpSp>
        <p:nvGrpSpPr>
          <p:cNvPr id="9" name="组合 8">
            <a:extLst>
              <a:ext uri="{FF2B5EF4-FFF2-40B4-BE49-F238E27FC236}">
                <a16:creationId xmlns:a16="http://schemas.microsoft.com/office/drawing/2014/main" id="{07DCA849-43F0-4209-A061-E11B5F9E6FB0}"/>
              </a:ext>
            </a:extLst>
          </p:cNvPr>
          <p:cNvGrpSpPr/>
          <p:nvPr/>
        </p:nvGrpSpPr>
        <p:grpSpPr>
          <a:xfrm>
            <a:off x="5717278" y="1632049"/>
            <a:ext cx="4721683" cy="707886"/>
            <a:chOff x="5543147" y="1044179"/>
            <a:chExt cx="4721683" cy="707886"/>
          </a:xfrm>
        </p:grpSpPr>
        <p:sp>
          <p:nvSpPr>
            <p:cNvPr id="10" name="文本框 9">
              <a:extLst>
                <a:ext uri="{FF2B5EF4-FFF2-40B4-BE49-F238E27FC236}">
                  <a16:creationId xmlns:a16="http://schemas.microsoft.com/office/drawing/2014/main" id="{FC18DCE6-8B02-4A81-9748-A016C991E168}"/>
                </a:ext>
              </a:extLst>
            </p:cNvPr>
            <p:cNvSpPr txBox="1"/>
            <p:nvPr/>
          </p:nvSpPr>
          <p:spPr>
            <a:xfrm>
              <a:off x="5543147" y="1044179"/>
              <a:ext cx="1105705" cy="707886"/>
            </a:xfrm>
            <a:prstGeom prst="rect">
              <a:avLst/>
            </a:prstGeom>
            <a:noFill/>
          </p:spPr>
          <p:txBody>
            <a:bodyPr wrap="square" rtlCol="0">
              <a:spAutoFit/>
            </a:bodyPr>
            <a:lstStyle/>
            <a:p>
              <a:r>
                <a:rPr lang="en-US" altLang="zh-CN" sz="4000"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01</a:t>
              </a:r>
              <a:r>
                <a:rPr lang="en-US" altLang="zh-CN" sz="3600"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a:t>
              </a:r>
              <a:endParaRPr lang="zh-CN" altLang="en-US" sz="3600"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endParaRPr>
            </a:p>
          </p:txBody>
        </p:sp>
        <p:sp>
          <p:nvSpPr>
            <p:cNvPr id="12" name="文本框 11">
              <a:extLst>
                <a:ext uri="{FF2B5EF4-FFF2-40B4-BE49-F238E27FC236}">
                  <a16:creationId xmlns:a16="http://schemas.microsoft.com/office/drawing/2014/main" id="{E0F84E3A-60B1-48FA-984C-09D83400473E}"/>
                </a:ext>
              </a:extLst>
            </p:cNvPr>
            <p:cNvSpPr txBox="1"/>
            <p:nvPr/>
          </p:nvSpPr>
          <p:spPr>
            <a:xfrm>
              <a:off x="6467932" y="1199897"/>
              <a:ext cx="3796898" cy="400110"/>
            </a:xfrm>
            <a:prstGeom prst="rect">
              <a:avLst/>
            </a:prstGeom>
            <a:noFill/>
          </p:spPr>
          <p:txBody>
            <a:bodyPr wrap="square" rtlCol="0">
              <a:spAutoFit/>
            </a:bodyPr>
            <a:lstStyle/>
            <a:p>
              <a:pPr algn="dist"/>
              <a:r>
                <a:rPr lang="zh-CN" altLang="en-US" sz="2000" b="1" dirty="0">
                  <a:latin typeface="微软雅黑" panose="020B0503020204020204" pitchFamily="34" charset="-122"/>
                  <a:ea typeface="微软雅黑" panose="020B0503020204020204" pitchFamily="34" charset="-122"/>
                </a:rPr>
                <a:t>引入：电子垃圾基础概念</a:t>
              </a:r>
            </a:p>
          </p:txBody>
        </p:sp>
      </p:grpSp>
      <p:grpSp>
        <p:nvGrpSpPr>
          <p:cNvPr id="14" name="组合 13">
            <a:extLst>
              <a:ext uri="{FF2B5EF4-FFF2-40B4-BE49-F238E27FC236}">
                <a16:creationId xmlns:a16="http://schemas.microsoft.com/office/drawing/2014/main" id="{AF8A8499-39FE-4880-9B64-822DFFE683EF}"/>
              </a:ext>
            </a:extLst>
          </p:cNvPr>
          <p:cNvGrpSpPr/>
          <p:nvPr/>
        </p:nvGrpSpPr>
        <p:grpSpPr>
          <a:xfrm>
            <a:off x="5717278" y="2854560"/>
            <a:ext cx="4721683" cy="707886"/>
            <a:chOff x="5543147" y="1044179"/>
            <a:chExt cx="4721683" cy="707886"/>
          </a:xfrm>
        </p:grpSpPr>
        <p:sp>
          <p:nvSpPr>
            <p:cNvPr id="15" name="文本框 14">
              <a:extLst>
                <a:ext uri="{FF2B5EF4-FFF2-40B4-BE49-F238E27FC236}">
                  <a16:creationId xmlns:a16="http://schemas.microsoft.com/office/drawing/2014/main" id="{B29C8FD5-B181-4CA1-B0E7-8AA30B0B9E70}"/>
                </a:ext>
              </a:extLst>
            </p:cNvPr>
            <p:cNvSpPr txBox="1"/>
            <p:nvPr/>
          </p:nvSpPr>
          <p:spPr>
            <a:xfrm>
              <a:off x="5543147" y="1044179"/>
              <a:ext cx="1105705" cy="707886"/>
            </a:xfrm>
            <a:prstGeom prst="rect">
              <a:avLst/>
            </a:prstGeom>
            <a:noFill/>
          </p:spPr>
          <p:txBody>
            <a:bodyPr wrap="square" rtlCol="0">
              <a:spAutoFit/>
            </a:bodyPr>
            <a:lstStyle/>
            <a:p>
              <a:r>
                <a:rPr lang="en-US" altLang="zh-CN" sz="4000"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02</a:t>
              </a:r>
              <a:r>
                <a:rPr lang="en-US" altLang="zh-CN" sz="3600"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a:t>
              </a:r>
              <a:endParaRPr lang="zh-CN" altLang="en-US" sz="3600"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endParaRPr>
            </a:p>
          </p:txBody>
        </p:sp>
        <p:sp>
          <p:nvSpPr>
            <p:cNvPr id="17" name="文本框 16">
              <a:extLst>
                <a:ext uri="{FF2B5EF4-FFF2-40B4-BE49-F238E27FC236}">
                  <a16:creationId xmlns:a16="http://schemas.microsoft.com/office/drawing/2014/main" id="{FD2018DB-A036-48F9-B012-94191FA687D2}"/>
                </a:ext>
              </a:extLst>
            </p:cNvPr>
            <p:cNvSpPr txBox="1"/>
            <p:nvPr/>
          </p:nvSpPr>
          <p:spPr>
            <a:xfrm>
              <a:off x="6467932" y="1198067"/>
              <a:ext cx="3796898" cy="400110"/>
            </a:xfrm>
            <a:prstGeom prst="rect">
              <a:avLst/>
            </a:prstGeom>
            <a:noFill/>
          </p:spPr>
          <p:txBody>
            <a:bodyPr wrap="square" rtlCol="0">
              <a:spAutoFit/>
            </a:bodyPr>
            <a:lstStyle>
              <a:defPPr>
                <a:defRPr lang="zh-CN"/>
              </a:defPPr>
              <a:lvl1pPr algn="dist">
                <a:defRPr sz="2000" b="1">
                  <a:latin typeface="微软雅黑" panose="020B0503020204020204" pitchFamily="34" charset="-122"/>
                  <a:ea typeface="微软雅黑" panose="020B0503020204020204" pitchFamily="34" charset="-122"/>
                </a:defRPr>
              </a:lvl1pPr>
            </a:lstStyle>
            <a:p>
              <a:r>
                <a:rPr lang="zh-CN" altLang="en-US" dirty="0"/>
                <a:t>循环：电子垃圾的再流通</a:t>
              </a:r>
            </a:p>
          </p:txBody>
        </p:sp>
      </p:grpSp>
      <p:grpSp>
        <p:nvGrpSpPr>
          <p:cNvPr id="19" name="组合 18">
            <a:extLst>
              <a:ext uri="{FF2B5EF4-FFF2-40B4-BE49-F238E27FC236}">
                <a16:creationId xmlns:a16="http://schemas.microsoft.com/office/drawing/2014/main" id="{71979B40-9089-4584-AC77-E2281FF1890A}"/>
              </a:ext>
            </a:extLst>
          </p:cNvPr>
          <p:cNvGrpSpPr/>
          <p:nvPr/>
        </p:nvGrpSpPr>
        <p:grpSpPr>
          <a:xfrm>
            <a:off x="5717278" y="4077072"/>
            <a:ext cx="4721683" cy="707886"/>
            <a:chOff x="5543147" y="1044179"/>
            <a:chExt cx="4721683" cy="707886"/>
          </a:xfrm>
        </p:grpSpPr>
        <p:sp>
          <p:nvSpPr>
            <p:cNvPr id="20" name="文本框 19">
              <a:extLst>
                <a:ext uri="{FF2B5EF4-FFF2-40B4-BE49-F238E27FC236}">
                  <a16:creationId xmlns:a16="http://schemas.microsoft.com/office/drawing/2014/main" id="{711FE8E8-8AC9-4B8E-A517-99DBFA0F8474}"/>
                </a:ext>
              </a:extLst>
            </p:cNvPr>
            <p:cNvSpPr txBox="1"/>
            <p:nvPr/>
          </p:nvSpPr>
          <p:spPr>
            <a:xfrm>
              <a:off x="5543147" y="1044179"/>
              <a:ext cx="1105705" cy="707886"/>
            </a:xfrm>
            <a:prstGeom prst="rect">
              <a:avLst/>
            </a:prstGeom>
            <a:noFill/>
          </p:spPr>
          <p:txBody>
            <a:bodyPr wrap="square" rtlCol="0">
              <a:spAutoFit/>
            </a:bodyPr>
            <a:lstStyle/>
            <a:p>
              <a:r>
                <a:rPr lang="en-US" altLang="zh-CN" sz="4000"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03</a:t>
              </a:r>
              <a:r>
                <a:rPr lang="en-US" altLang="zh-CN" sz="3600"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a:t>
              </a:r>
              <a:endParaRPr lang="zh-CN" altLang="en-US" sz="3600"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endParaRPr>
            </a:p>
          </p:txBody>
        </p:sp>
        <p:sp>
          <p:nvSpPr>
            <p:cNvPr id="22" name="文本框 21">
              <a:extLst>
                <a:ext uri="{FF2B5EF4-FFF2-40B4-BE49-F238E27FC236}">
                  <a16:creationId xmlns:a16="http://schemas.microsoft.com/office/drawing/2014/main" id="{73BFEB00-14F3-4B6D-8F98-748A2224B437}"/>
                </a:ext>
              </a:extLst>
            </p:cNvPr>
            <p:cNvSpPr txBox="1"/>
            <p:nvPr/>
          </p:nvSpPr>
          <p:spPr>
            <a:xfrm>
              <a:off x="6467932" y="1198067"/>
              <a:ext cx="3796898" cy="400110"/>
            </a:xfrm>
            <a:prstGeom prst="rect">
              <a:avLst/>
            </a:prstGeom>
            <a:noFill/>
          </p:spPr>
          <p:txBody>
            <a:bodyPr wrap="square" rtlCol="0">
              <a:spAutoFit/>
            </a:bodyPr>
            <a:lstStyle>
              <a:defPPr>
                <a:defRPr lang="zh-CN"/>
              </a:defPPr>
              <a:lvl1pPr algn="dist">
                <a:defRPr sz="2000" b="1">
                  <a:latin typeface="微软雅黑" panose="020B0503020204020204" pitchFamily="34" charset="-122"/>
                  <a:ea typeface="微软雅黑" panose="020B0503020204020204" pitchFamily="34" charset="-122"/>
                </a:defRPr>
              </a:lvl1pPr>
            </a:lstStyle>
            <a:p>
              <a:r>
                <a:rPr lang="zh-CN" altLang="en-US" dirty="0"/>
                <a:t>转换：电子垃圾的再利用</a:t>
              </a:r>
            </a:p>
          </p:txBody>
        </p:sp>
      </p:grpSp>
      <p:grpSp>
        <p:nvGrpSpPr>
          <p:cNvPr id="24" name="组合 23">
            <a:extLst>
              <a:ext uri="{FF2B5EF4-FFF2-40B4-BE49-F238E27FC236}">
                <a16:creationId xmlns:a16="http://schemas.microsoft.com/office/drawing/2014/main" id="{A8845EE8-EF41-4D5D-86B7-22437A998165}"/>
              </a:ext>
            </a:extLst>
          </p:cNvPr>
          <p:cNvGrpSpPr/>
          <p:nvPr/>
        </p:nvGrpSpPr>
        <p:grpSpPr>
          <a:xfrm>
            <a:off x="5717278" y="5299585"/>
            <a:ext cx="4721683" cy="707886"/>
            <a:chOff x="5543147" y="1044179"/>
            <a:chExt cx="4721683" cy="707886"/>
          </a:xfrm>
        </p:grpSpPr>
        <p:sp>
          <p:nvSpPr>
            <p:cNvPr id="25" name="文本框 24">
              <a:extLst>
                <a:ext uri="{FF2B5EF4-FFF2-40B4-BE49-F238E27FC236}">
                  <a16:creationId xmlns:a16="http://schemas.microsoft.com/office/drawing/2014/main" id="{2A5311C7-4E8F-4354-837D-7A51B2652F99}"/>
                </a:ext>
              </a:extLst>
            </p:cNvPr>
            <p:cNvSpPr txBox="1"/>
            <p:nvPr/>
          </p:nvSpPr>
          <p:spPr>
            <a:xfrm>
              <a:off x="5543147" y="1044179"/>
              <a:ext cx="1105705" cy="707886"/>
            </a:xfrm>
            <a:prstGeom prst="rect">
              <a:avLst/>
            </a:prstGeom>
            <a:noFill/>
          </p:spPr>
          <p:txBody>
            <a:bodyPr wrap="square" rtlCol="0">
              <a:spAutoFit/>
            </a:bodyPr>
            <a:lstStyle/>
            <a:p>
              <a:r>
                <a:rPr lang="en-US" altLang="zh-CN" sz="4000"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04</a:t>
              </a:r>
              <a:r>
                <a:rPr lang="en-US" altLang="zh-CN" sz="3600"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a:t>
              </a:r>
              <a:endParaRPr lang="zh-CN" altLang="en-US" sz="3600"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endParaRPr>
            </a:p>
          </p:txBody>
        </p:sp>
        <p:sp>
          <p:nvSpPr>
            <p:cNvPr id="27" name="文本框 26">
              <a:extLst>
                <a:ext uri="{FF2B5EF4-FFF2-40B4-BE49-F238E27FC236}">
                  <a16:creationId xmlns:a16="http://schemas.microsoft.com/office/drawing/2014/main" id="{5F28A1EC-EEB3-4A5B-90C2-F3D4CFAFF1F4}"/>
                </a:ext>
              </a:extLst>
            </p:cNvPr>
            <p:cNvSpPr txBox="1"/>
            <p:nvPr/>
          </p:nvSpPr>
          <p:spPr>
            <a:xfrm>
              <a:off x="6467932" y="1198066"/>
              <a:ext cx="3796898" cy="400110"/>
            </a:xfrm>
            <a:prstGeom prst="rect">
              <a:avLst/>
            </a:prstGeom>
            <a:noFill/>
          </p:spPr>
          <p:txBody>
            <a:bodyPr wrap="square" rtlCol="0">
              <a:spAutoFit/>
            </a:bodyPr>
            <a:lstStyle>
              <a:defPPr>
                <a:defRPr lang="zh-CN"/>
              </a:defPPr>
              <a:lvl1pPr algn="dist">
                <a:defRPr sz="2000" b="1">
                  <a:latin typeface="微软雅黑" panose="020B0503020204020204" pitchFamily="34" charset="-122"/>
                  <a:ea typeface="微软雅黑" panose="020B0503020204020204" pitchFamily="34" charset="-122"/>
                </a:defRPr>
              </a:lvl1pPr>
            </a:lstStyle>
            <a:p>
              <a:r>
                <a:rPr lang="zh-CN" altLang="en-US" dirty="0"/>
                <a:t>电子垃圾循环的成果与展望</a:t>
              </a:r>
            </a:p>
          </p:txBody>
        </p:sp>
      </p:grpSp>
      <p:sp>
        <p:nvSpPr>
          <p:cNvPr id="41" name="TextBox 3">
            <a:extLst>
              <a:ext uri="{FF2B5EF4-FFF2-40B4-BE49-F238E27FC236}">
                <a16:creationId xmlns:a16="http://schemas.microsoft.com/office/drawing/2014/main" id="{C7B5FD9B-962D-6E08-F2CB-0C2A02CA9966}"/>
              </a:ext>
            </a:extLst>
          </p:cNvPr>
          <p:cNvSpPr txBox="1"/>
          <p:nvPr/>
        </p:nvSpPr>
        <p:spPr>
          <a:xfrm>
            <a:off x="47328" y="44624"/>
            <a:ext cx="540060" cy="118430"/>
          </a:xfrm>
          <a:prstGeom prst="rect">
            <a:avLst/>
          </a:prstGeom>
          <a:noFill/>
        </p:spPr>
        <p:txBody>
          <a:bodyPr wrap="square" rtlCol="0">
            <a:spAutoFit/>
          </a:bodyPr>
          <a:lstStyle/>
          <a:p>
            <a:pPr>
              <a:lnSpc>
                <a:spcPct val="200000"/>
              </a:lnSpc>
            </a:pP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模板 </a:t>
            </a:r>
            <a:r>
              <a:rPr lang="en-US" altLang="zh-CN" sz="100" dirty="0">
                <a:noFill/>
                <a:latin typeface="微软雅黑" panose="020B0503020204020204" pitchFamily="34" charset="-122"/>
                <a:ea typeface="微软雅黑" panose="020B0503020204020204" pitchFamily="34" charset="-122"/>
              </a:rPr>
              <a:t>http://www.1ppt.com/moban/</a:t>
            </a:r>
            <a:r>
              <a:rPr lang="zh-CN" altLang="en-US" sz="100" dirty="0">
                <a:noFill/>
                <a:latin typeface="微软雅黑" panose="020B0503020204020204" pitchFamily="34" charset="-122"/>
                <a:ea typeface="微软雅黑" panose="020B0503020204020204" pitchFamily="34" charset="-122"/>
              </a:rPr>
              <a:t> </a:t>
            </a:r>
            <a:endParaRPr lang="en-US" altLang="zh-CN" sz="100" dirty="0">
              <a:noFill/>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2509253524"/>
      </p:ext>
    </p:extLst>
  </p:cSld>
  <p:clrMapOvr>
    <a:masterClrMapping/>
  </p:clrMapOvr>
  <mc:AlternateContent xmlns:mc="http://schemas.openxmlformats.org/markup-compatibility/2006" xmlns:p14="http://schemas.microsoft.com/office/powerpoint/2010/main">
    <mc:Choice Requires="p14">
      <p:transition spd="slow" p14:dur="1500" advTm="1243">
        <p:random/>
      </p:transition>
    </mc:Choice>
    <mc:Fallback xmlns="">
      <p:transition spd="slow" advTm="1243">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1+#ppt_w/2"/>
                                          </p:val>
                                        </p:tav>
                                        <p:tav tm="100000">
                                          <p:val>
                                            <p:strVal val="#ppt_x"/>
                                          </p:val>
                                        </p:tav>
                                      </p:tavLst>
                                    </p:anim>
                                    <p:anim calcmode="lin" valueType="num">
                                      <p:cBhvr additive="base">
                                        <p:cTn id="22" dur="500" fill="hold"/>
                                        <p:tgtEl>
                                          <p:spTgt spid="9"/>
                                        </p:tgtEl>
                                        <p:attrNameLst>
                                          <p:attrName>ppt_y</p:attrName>
                                        </p:attrNameLst>
                                      </p:cBhvr>
                                      <p:tavLst>
                                        <p:tav tm="0">
                                          <p:val>
                                            <p:strVal val="#ppt_y"/>
                                          </p:val>
                                        </p:tav>
                                        <p:tav tm="100000">
                                          <p:val>
                                            <p:strVal val="#ppt_y"/>
                                          </p:val>
                                        </p:tav>
                                      </p:tavLst>
                                    </p:anim>
                                  </p:childTnLst>
                                </p:cTn>
                              </p:par>
                              <p:par>
                                <p:cTn id="23" presetID="2" presetClass="entr" presetSubtype="2"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750" fill="hold"/>
                                        <p:tgtEl>
                                          <p:spTgt spid="14"/>
                                        </p:tgtEl>
                                        <p:attrNameLst>
                                          <p:attrName>ppt_x</p:attrName>
                                        </p:attrNameLst>
                                      </p:cBhvr>
                                      <p:tavLst>
                                        <p:tav tm="0">
                                          <p:val>
                                            <p:strVal val="1+#ppt_w/2"/>
                                          </p:val>
                                        </p:tav>
                                        <p:tav tm="100000">
                                          <p:val>
                                            <p:strVal val="#ppt_x"/>
                                          </p:val>
                                        </p:tav>
                                      </p:tavLst>
                                    </p:anim>
                                    <p:anim calcmode="lin" valueType="num">
                                      <p:cBhvr additive="base">
                                        <p:cTn id="26" dur="750" fill="hold"/>
                                        <p:tgtEl>
                                          <p:spTgt spid="14"/>
                                        </p:tgtEl>
                                        <p:attrNameLst>
                                          <p:attrName>ppt_y</p:attrName>
                                        </p:attrNameLst>
                                      </p:cBhvr>
                                      <p:tavLst>
                                        <p:tav tm="0">
                                          <p:val>
                                            <p:strVal val="#ppt_y"/>
                                          </p:val>
                                        </p:tav>
                                        <p:tav tm="100000">
                                          <p:val>
                                            <p:strVal val="#ppt_y"/>
                                          </p:val>
                                        </p:tav>
                                      </p:tavLst>
                                    </p:anim>
                                  </p:childTnLst>
                                </p:cTn>
                              </p:par>
                              <p:par>
                                <p:cTn id="27" presetID="2" presetClass="entr" presetSubtype="2"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additive="base">
                                        <p:cTn id="29" dur="1000" fill="hold"/>
                                        <p:tgtEl>
                                          <p:spTgt spid="19"/>
                                        </p:tgtEl>
                                        <p:attrNameLst>
                                          <p:attrName>ppt_x</p:attrName>
                                        </p:attrNameLst>
                                      </p:cBhvr>
                                      <p:tavLst>
                                        <p:tav tm="0">
                                          <p:val>
                                            <p:strVal val="1+#ppt_w/2"/>
                                          </p:val>
                                        </p:tav>
                                        <p:tav tm="100000">
                                          <p:val>
                                            <p:strVal val="#ppt_x"/>
                                          </p:val>
                                        </p:tav>
                                      </p:tavLst>
                                    </p:anim>
                                    <p:anim calcmode="lin" valueType="num">
                                      <p:cBhvr additive="base">
                                        <p:cTn id="30" dur="1000" fill="hold"/>
                                        <p:tgtEl>
                                          <p:spTgt spid="19"/>
                                        </p:tgtEl>
                                        <p:attrNameLst>
                                          <p:attrName>ppt_y</p:attrName>
                                        </p:attrNameLst>
                                      </p:cBhvr>
                                      <p:tavLst>
                                        <p:tav tm="0">
                                          <p:val>
                                            <p:strVal val="#ppt_y"/>
                                          </p:val>
                                        </p:tav>
                                        <p:tav tm="100000">
                                          <p:val>
                                            <p:strVal val="#ppt_y"/>
                                          </p:val>
                                        </p:tav>
                                      </p:tavLst>
                                    </p:anim>
                                  </p:childTnLst>
                                </p:cTn>
                              </p:par>
                              <p:par>
                                <p:cTn id="31" presetID="2" presetClass="entr" presetSubtype="2"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additive="base">
                                        <p:cTn id="33" dur="1250" fill="hold"/>
                                        <p:tgtEl>
                                          <p:spTgt spid="24"/>
                                        </p:tgtEl>
                                        <p:attrNameLst>
                                          <p:attrName>ppt_x</p:attrName>
                                        </p:attrNameLst>
                                      </p:cBhvr>
                                      <p:tavLst>
                                        <p:tav tm="0">
                                          <p:val>
                                            <p:strVal val="1+#ppt_w/2"/>
                                          </p:val>
                                        </p:tav>
                                        <p:tav tm="100000">
                                          <p:val>
                                            <p:strVal val="#ppt_x"/>
                                          </p:val>
                                        </p:tav>
                                      </p:tavLst>
                                    </p:anim>
                                    <p:anim calcmode="lin" valueType="num">
                                      <p:cBhvr additive="base">
                                        <p:cTn id="34" dur="125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3D4FE47-6176-42DF-AF6A-E65BA002F037}"/>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5400000">
            <a:off x="2661432" y="-2672567"/>
            <a:ext cx="6858001" cy="12203137"/>
          </a:xfrm>
          <a:prstGeom prst="rect">
            <a:avLst/>
          </a:prstGeom>
        </p:spPr>
      </p:pic>
      <p:grpSp>
        <p:nvGrpSpPr>
          <p:cNvPr id="4" name="组合 3">
            <a:extLst>
              <a:ext uri="{FF2B5EF4-FFF2-40B4-BE49-F238E27FC236}">
                <a16:creationId xmlns:a16="http://schemas.microsoft.com/office/drawing/2014/main" id="{42E080B4-AE44-4D2B-AC2F-135C48CEF4DC}"/>
              </a:ext>
            </a:extLst>
          </p:cNvPr>
          <p:cNvGrpSpPr/>
          <p:nvPr/>
        </p:nvGrpSpPr>
        <p:grpSpPr>
          <a:xfrm>
            <a:off x="288486" y="218147"/>
            <a:ext cx="1559041" cy="369332"/>
            <a:chOff x="379717" y="372035"/>
            <a:chExt cx="1559041" cy="369332"/>
          </a:xfrm>
        </p:grpSpPr>
        <p:sp>
          <p:nvSpPr>
            <p:cNvPr id="5" name="椭圆 4">
              <a:extLst>
                <a:ext uri="{FF2B5EF4-FFF2-40B4-BE49-F238E27FC236}">
                  <a16:creationId xmlns:a16="http://schemas.microsoft.com/office/drawing/2014/main" id="{330731AF-D13F-47F2-BC31-09BE5E9B7209}"/>
                </a:ext>
              </a:extLst>
            </p:cNvPr>
            <p:cNvSpPr/>
            <p:nvPr/>
          </p:nvSpPr>
          <p:spPr>
            <a:xfrm>
              <a:off x="379717" y="404664"/>
              <a:ext cx="304075" cy="304075"/>
            </a:xfrm>
            <a:prstGeom prst="ellipse">
              <a:avLst/>
            </a:prstGeom>
            <a:solidFill>
              <a:schemeClr val="tx1">
                <a:lumMod val="85000"/>
                <a:lumOff val="15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0E1CCB0D-3E73-4E3E-B588-63370728320A}"/>
                </a:ext>
              </a:extLst>
            </p:cNvPr>
            <p:cNvSpPr txBox="1"/>
            <p:nvPr/>
          </p:nvSpPr>
          <p:spPr>
            <a:xfrm>
              <a:off x="683791" y="372035"/>
              <a:ext cx="1254967" cy="369332"/>
            </a:xfrm>
            <a:prstGeom prst="rect">
              <a:avLst/>
            </a:prstGeom>
            <a:noFill/>
          </p:spPr>
          <p:txBody>
            <a:bodyPr wrap="square" rtlCol="0">
              <a:spAutoFit/>
            </a:bodyPr>
            <a:lstStyle/>
            <a:p>
              <a:r>
                <a:rPr lang="en-US" altLang="zh-CN"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WSOAEY</a:t>
              </a:r>
              <a:endParaRPr lang="zh-CN" altLang="en-US"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endParaRPr>
            </a:p>
          </p:txBody>
        </p:sp>
      </p:grpSp>
      <p:grpSp>
        <p:nvGrpSpPr>
          <p:cNvPr id="21" name="组合 20">
            <a:extLst>
              <a:ext uri="{FF2B5EF4-FFF2-40B4-BE49-F238E27FC236}">
                <a16:creationId xmlns:a16="http://schemas.microsoft.com/office/drawing/2014/main" id="{09A43C20-71D5-4CA6-83D7-C6D033211DCE}"/>
              </a:ext>
            </a:extLst>
          </p:cNvPr>
          <p:cNvGrpSpPr/>
          <p:nvPr/>
        </p:nvGrpSpPr>
        <p:grpSpPr>
          <a:xfrm>
            <a:off x="2745907" y="2204864"/>
            <a:ext cx="6700184" cy="2074054"/>
            <a:chOff x="2745907" y="1929985"/>
            <a:chExt cx="6700184" cy="2074054"/>
          </a:xfrm>
        </p:grpSpPr>
        <p:sp>
          <p:nvSpPr>
            <p:cNvPr id="22" name="文本框 21">
              <a:extLst>
                <a:ext uri="{FF2B5EF4-FFF2-40B4-BE49-F238E27FC236}">
                  <a16:creationId xmlns:a16="http://schemas.microsoft.com/office/drawing/2014/main" id="{1E4AEDF9-F15C-49D7-A83C-1405DB53D2EC}"/>
                </a:ext>
              </a:extLst>
            </p:cNvPr>
            <p:cNvSpPr txBox="1"/>
            <p:nvPr/>
          </p:nvSpPr>
          <p:spPr>
            <a:xfrm>
              <a:off x="3843564" y="1929985"/>
              <a:ext cx="4504871" cy="1323439"/>
            </a:xfrm>
            <a:prstGeom prst="rect">
              <a:avLst/>
            </a:prstGeom>
            <a:noFill/>
          </p:spPr>
          <p:txBody>
            <a:bodyPr wrap="square" rtlCol="0">
              <a:spAutoFit/>
            </a:bodyPr>
            <a:lstStyle/>
            <a:p>
              <a:pPr algn="ctr"/>
              <a:r>
                <a:rPr lang="en-US" altLang="zh-CN" sz="8000"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PART 01</a:t>
              </a:r>
              <a:endParaRPr lang="zh-CN" altLang="en-US" sz="8000"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endParaRPr>
            </a:p>
          </p:txBody>
        </p:sp>
        <p:sp>
          <p:nvSpPr>
            <p:cNvPr id="24" name="文本框 23">
              <a:extLst>
                <a:ext uri="{FF2B5EF4-FFF2-40B4-BE49-F238E27FC236}">
                  <a16:creationId xmlns:a16="http://schemas.microsoft.com/office/drawing/2014/main" id="{B53FF4EC-1094-46B4-BF89-94570156A98A}"/>
                </a:ext>
              </a:extLst>
            </p:cNvPr>
            <p:cNvSpPr txBox="1"/>
            <p:nvPr/>
          </p:nvSpPr>
          <p:spPr>
            <a:xfrm>
              <a:off x="2745907" y="3173042"/>
              <a:ext cx="6700184" cy="830997"/>
            </a:xfrm>
            <a:prstGeom prst="rect">
              <a:avLst/>
            </a:prstGeom>
            <a:noFill/>
          </p:spPr>
          <p:txBody>
            <a:bodyPr wrap="square" rtlCol="0">
              <a:spAutoFit/>
            </a:bodyPr>
            <a:lstStyle/>
            <a:p>
              <a:pPr algn="dist"/>
              <a:r>
                <a:rPr lang="zh-CN" altLang="en-US" sz="48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引入：电子垃圾</a:t>
              </a:r>
            </a:p>
          </p:txBody>
        </p:sp>
      </p:grpSp>
    </p:spTree>
    <p:custDataLst>
      <p:tags r:id="rId1"/>
    </p:custDataLst>
    <p:extLst>
      <p:ext uri="{BB962C8B-B14F-4D97-AF65-F5344CB8AC3E}">
        <p14:creationId xmlns:p14="http://schemas.microsoft.com/office/powerpoint/2010/main" val="3080121651"/>
      </p:ext>
    </p:extLst>
  </p:cSld>
  <p:clrMapOvr>
    <a:masterClrMapping/>
  </p:clrMapOvr>
  <mc:AlternateContent xmlns:mc="http://schemas.openxmlformats.org/markup-compatibility/2006" xmlns:p14="http://schemas.microsoft.com/office/powerpoint/2010/main">
    <mc:Choice Requires="p14">
      <p:transition spd="slow" p14:dur="1500" advTm="1302">
        <p:random/>
      </p:transition>
    </mc:Choice>
    <mc:Fallback xmlns="">
      <p:transition spd="slow" advTm="1302">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1"/>
                                        </p:tgtEl>
                                        <p:attrNameLst>
                                          <p:attrName>style.visibility</p:attrName>
                                        </p:attrNameLst>
                                      </p:cBhvr>
                                      <p:to>
                                        <p:strVal val="visible"/>
                                      </p:to>
                                    </p:set>
                                    <p:anim calcmode="lin" valueType="num">
                                      <p:cBhvr>
                                        <p:cTn id="14" dur="500" fill="hold"/>
                                        <p:tgtEl>
                                          <p:spTgt spid="21"/>
                                        </p:tgtEl>
                                        <p:attrNameLst>
                                          <p:attrName>ppt_w</p:attrName>
                                        </p:attrNameLst>
                                      </p:cBhvr>
                                      <p:tavLst>
                                        <p:tav tm="0">
                                          <p:val>
                                            <p:fltVal val="0"/>
                                          </p:val>
                                        </p:tav>
                                        <p:tav tm="100000">
                                          <p:val>
                                            <p:strVal val="#ppt_w"/>
                                          </p:val>
                                        </p:tav>
                                      </p:tavLst>
                                    </p:anim>
                                    <p:anim calcmode="lin" valueType="num">
                                      <p:cBhvr>
                                        <p:cTn id="15" dur="500" fill="hold"/>
                                        <p:tgtEl>
                                          <p:spTgt spid="21"/>
                                        </p:tgtEl>
                                        <p:attrNameLst>
                                          <p:attrName>ppt_h</p:attrName>
                                        </p:attrNameLst>
                                      </p:cBhvr>
                                      <p:tavLst>
                                        <p:tav tm="0">
                                          <p:val>
                                            <p:fltVal val="0"/>
                                          </p:val>
                                        </p:tav>
                                        <p:tav tm="100000">
                                          <p:val>
                                            <p:strVal val="#ppt_h"/>
                                          </p:val>
                                        </p:tav>
                                      </p:tavLst>
                                    </p:anim>
                                    <p:animEffect transition="in" filter="fade">
                                      <p:cBhvr>
                                        <p:cTn id="1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图片 29">
            <a:extLst>
              <a:ext uri="{FF2B5EF4-FFF2-40B4-BE49-F238E27FC236}">
                <a16:creationId xmlns:a16="http://schemas.microsoft.com/office/drawing/2014/main" id="{B94E40ED-F6CE-7FCE-8EF5-9F5135E4BB6A}"/>
              </a:ext>
            </a:extLst>
          </p:cNvPr>
          <p:cNvPicPr>
            <a:picLocks noChangeAspect="1"/>
          </p:cNvPicPr>
          <p:nvPr/>
        </p:nvPicPr>
        <p:blipFill>
          <a:blip r:embed="rId3"/>
          <a:stretch>
            <a:fillRect/>
          </a:stretch>
        </p:blipFill>
        <p:spPr>
          <a:xfrm>
            <a:off x="6401020" y="495622"/>
            <a:ext cx="3266971" cy="2302833"/>
          </a:xfrm>
          <a:prstGeom prst="rect">
            <a:avLst/>
          </a:prstGeom>
          <a:ln>
            <a:noFill/>
          </a:ln>
          <a:effectLst>
            <a:softEdge rad="112500"/>
          </a:effectLst>
        </p:spPr>
      </p:pic>
      <p:pic>
        <p:nvPicPr>
          <p:cNvPr id="31" name="图片 30">
            <a:extLst>
              <a:ext uri="{FF2B5EF4-FFF2-40B4-BE49-F238E27FC236}">
                <a16:creationId xmlns:a16="http://schemas.microsoft.com/office/drawing/2014/main" id="{1E22BD58-3373-1949-565E-97B64F95E6D1}"/>
              </a:ext>
            </a:extLst>
          </p:cNvPr>
          <p:cNvPicPr>
            <a:picLocks noChangeAspect="1"/>
          </p:cNvPicPr>
          <p:nvPr/>
        </p:nvPicPr>
        <p:blipFill>
          <a:blip r:embed="rId4"/>
          <a:stretch>
            <a:fillRect/>
          </a:stretch>
        </p:blipFill>
        <p:spPr>
          <a:xfrm>
            <a:off x="8748875" y="2276872"/>
            <a:ext cx="3063153" cy="2376264"/>
          </a:xfrm>
          <a:prstGeom prst="rect">
            <a:avLst/>
          </a:prstGeom>
          <a:ln>
            <a:noFill/>
          </a:ln>
          <a:effectLst>
            <a:softEdge rad="112500"/>
          </a:effectLst>
        </p:spPr>
      </p:pic>
      <p:pic>
        <p:nvPicPr>
          <p:cNvPr id="3" name="图片 2">
            <a:extLst>
              <a:ext uri="{FF2B5EF4-FFF2-40B4-BE49-F238E27FC236}">
                <a16:creationId xmlns:a16="http://schemas.microsoft.com/office/drawing/2014/main" id="{39C1DF7B-F67C-4802-98BA-9E663611A929}"/>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0" y="0"/>
            <a:ext cx="1055440" cy="1100206"/>
          </a:xfrm>
          <a:prstGeom prst="rect">
            <a:avLst/>
          </a:prstGeom>
        </p:spPr>
      </p:pic>
      <p:sp>
        <p:nvSpPr>
          <p:cNvPr id="4" name="文本框 3">
            <a:extLst>
              <a:ext uri="{FF2B5EF4-FFF2-40B4-BE49-F238E27FC236}">
                <a16:creationId xmlns:a16="http://schemas.microsoft.com/office/drawing/2014/main" id="{D458A61D-D60E-4F90-9EB3-028E91FA2A8B}"/>
              </a:ext>
            </a:extLst>
          </p:cNvPr>
          <p:cNvSpPr txBox="1"/>
          <p:nvPr/>
        </p:nvSpPr>
        <p:spPr>
          <a:xfrm>
            <a:off x="1055440" y="188640"/>
            <a:ext cx="4464496" cy="584775"/>
          </a:xfrm>
          <a:prstGeom prst="rect">
            <a:avLst/>
          </a:prstGeom>
          <a:noFill/>
        </p:spPr>
        <p:txBody>
          <a:bodyPr wrap="square" rtlCol="0">
            <a:spAutoFit/>
          </a:bodyPr>
          <a:lstStyle/>
          <a:p>
            <a:pPr algn="dist"/>
            <a:r>
              <a:rPr lang="zh-CN" altLang="en-US" sz="3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电子垃圾的概念</a:t>
            </a:r>
          </a:p>
        </p:txBody>
      </p:sp>
      <p:sp>
        <p:nvSpPr>
          <p:cNvPr id="29" name="文本框 28">
            <a:extLst>
              <a:ext uri="{FF2B5EF4-FFF2-40B4-BE49-F238E27FC236}">
                <a16:creationId xmlns:a16="http://schemas.microsoft.com/office/drawing/2014/main" id="{31D485C5-B3BF-C3F5-3D56-3C081C90DF7A}"/>
              </a:ext>
            </a:extLst>
          </p:cNvPr>
          <p:cNvSpPr txBox="1"/>
          <p:nvPr/>
        </p:nvSpPr>
        <p:spPr>
          <a:xfrm>
            <a:off x="695398" y="1166842"/>
            <a:ext cx="5400602" cy="4893647"/>
          </a:xfrm>
          <a:prstGeom prst="rect">
            <a:avLst/>
          </a:prstGeom>
          <a:noFill/>
        </p:spPr>
        <p:txBody>
          <a:bodyPr wrap="square" rtlCol="0">
            <a:spAutoFit/>
          </a:bodyPr>
          <a:lstStyle/>
          <a:p>
            <a:r>
              <a:rPr lang="zh-CN" altLang="en-US" sz="2400" dirty="0">
                <a:solidFill>
                  <a:schemeClr val="tx1">
                    <a:lumMod val="85000"/>
                    <a:lumOff val="15000"/>
                  </a:schemeClr>
                </a:solidFill>
                <a:latin typeface="字魂59号-创粗黑" panose="00000500000000000000" pitchFamily="2" charset="-122"/>
                <a:ea typeface="字魂59号-创粗黑" panose="00000500000000000000" pitchFamily="2" charset="-122"/>
              </a:rPr>
              <a:t>      电子废物，是指废弃的电子电器产品、电子电气设备</a:t>
            </a:r>
            <a:r>
              <a:rPr lang="en-US" altLang="zh-CN" sz="2400" dirty="0">
                <a:solidFill>
                  <a:schemeClr val="tx1">
                    <a:lumMod val="85000"/>
                    <a:lumOff val="15000"/>
                  </a:schemeClr>
                </a:solidFill>
                <a:latin typeface="字魂59号-创粗黑" panose="00000500000000000000" pitchFamily="2" charset="-122"/>
                <a:ea typeface="字魂59号-创粗黑" panose="00000500000000000000" pitchFamily="2" charset="-122"/>
              </a:rPr>
              <a:t>(</a:t>
            </a:r>
            <a:r>
              <a:rPr lang="zh-CN" altLang="en-US" sz="2400" dirty="0">
                <a:solidFill>
                  <a:schemeClr val="tx1">
                    <a:lumMod val="85000"/>
                    <a:lumOff val="15000"/>
                  </a:schemeClr>
                </a:solidFill>
                <a:latin typeface="字魂59号-创粗黑" panose="00000500000000000000" pitchFamily="2" charset="-122"/>
                <a:ea typeface="字魂59号-创粗黑" panose="00000500000000000000" pitchFamily="2" charset="-122"/>
              </a:rPr>
              <a:t>以下简称产品或者设备</a:t>
            </a:r>
            <a:r>
              <a:rPr lang="en-US" altLang="zh-CN" sz="2400" dirty="0">
                <a:solidFill>
                  <a:schemeClr val="tx1">
                    <a:lumMod val="85000"/>
                    <a:lumOff val="15000"/>
                  </a:schemeClr>
                </a:solidFill>
                <a:latin typeface="字魂59号-创粗黑" panose="00000500000000000000" pitchFamily="2" charset="-122"/>
                <a:ea typeface="字魂59号-创粗黑" panose="00000500000000000000" pitchFamily="2" charset="-122"/>
              </a:rPr>
              <a:t>)</a:t>
            </a:r>
            <a:r>
              <a:rPr lang="zh-CN" altLang="en-US" sz="2400" dirty="0">
                <a:solidFill>
                  <a:schemeClr val="tx1">
                    <a:lumMod val="85000"/>
                    <a:lumOff val="15000"/>
                  </a:schemeClr>
                </a:solidFill>
                <a:latin typeface="字魂59号-创粗黑" panose="00000500000000000000" pitchFamily="2" charset="-122"/>
                <a:ea typeface="字魂59号-创粗黑" panose="00000500000000000000" pitchFamily="2" charset="-122"/>
              </a:rPr>
              <a:t>及其废弃零部件、元器件和原国家环境保护总局会同有关部门规定纳入电子废物管理的物品、物质。</a:t>
            </a:r>
            <a:endParaRPr lang="en-US" altLang="zh-CN" sz="2400" dirty="0">
              <a:solidFill>
                <a:schemeClr val="tx1">
                  <a:lumMod val="85000"/>
                  <a:lumOff val="15000"/>
                </a:schemeClr>
              </a:solidFill>
              <a:latin typeface="字魂59号-创粗黑" panose="00000500000000000000" pitchFamily="2" charset="-122"/>
              <a:ea typeface="字魂59号-创粗黑" panose="00000500000000000000" pitchFamily="2" charset="-122"/>
            </a:endParaRPr>
          </a:p>
          <a:p>
            <a:endParaRPr lang="en-US" altLang="zh-CN" sz="2400" dirty="0">
              <a:solidFill>
                <a:schemeClr val="tx1">
                  <a:lumMod val="85000"/>
                  <a:lumOff val="15000"/>
                </a:schemeClr>
              </a:solidFill>
              <a:latin typeface="字魂59号-创粗黑" panose="00000500000000000000" pitchFamily="2" charset="-122"/>
              <a:ea typeface="字魂59号-创粗黑" panose="00000500000000000000" pitchFamily="2" charset="-122"/>
            </a:endParaRPr>
          </a:p>
          <a:p>
            <a:r>
              <a:rPr lang="zh-CN" altLang="en-US" sz="2400" dirty="0">
                <a:solidFill>
                  <a:schemeClr val="tx1">
                    <a:lumMod val="85000"/>
                    <a:lumOff val="15000"/>
                  </a:schemeClr>
                </a:solidFill>
                <a:latin typeface="字魂59号-创粗黑" panose="00000500000000000000" pitchFamily="2" charset="-122"/>
                <a:ea typeface="字魂59号-创粗黑" panose="00000500000000000000" pitchFamily="2" charset="-122"/>
              </a:rPr>
              <a:t>      包括工业生产活动中产生的报废产品或者设备、报废的半成品和下脚料，产品或者设备维修、翻新、再制造过程产生的报废品，日常生活或者为日常生活提供服务的活动中废弃的产品或者设备，以及法律法规禁止生产或者进口的产品或者设备。</a:t>
            </a:r>
          </a:p>
        </p:txBody>
      </p:sp>
      <p:pic>
        <p:nvPicPr>
          <p:cNvPr id="33" name="图片 32">
            <a:extLst>
              <a:ext uri="{FF2B5EF4-FFF2-40B4-BE49-F238E27FC236}">
                <a16:creationId xmlns:a16="http://schemas.microsoft.com/office/drawing/2014/main" id="{AC1F34A3-D1F9-1457-B5D0-03297441C808}"/>
              </a:ext>
            </a:extLst>
          </p:cNvPr>
          <p:cNvPicPr>
            <a:picLocks noChangeAspect="1"/>
          </p:cNvPicPr>
          <p:nvPr/>
        </p:nvPicPr>
        <p:blipFill>
          <a:blip r:embed="rId6"/>
          <a:srcRect t="21198" r="25771"/>
          <a:stretch>
            <a:fillRect/>
          </a:stretch>
        </p:blipFill>
        <p:spPr>
          <a:xfrm>
            <a:off x="7320136" y="3429000"/>
            <a:ext cx="1571023" cy="2855857"/>
          </a:xfrm>
          <a:prstGeom prst="rect">
            <a:avLst/>
          </a:prstGeom>
          <a:ln>
            <a:noFill/>
          </a:ln>
          <a:effectLst>
            <a:softEdge rad="112500"/>
          </a:effectLst>
        </p:spPr>
      </p:pic>
    </p:spTree>
    <p:custDataLst>
      <p:tags r:id="rId1"/>
    </p:custDataLst>
    <p:extLst>
      <p:ext uri="{BB962C8B-B14F-4D97-AF65-F5344CB8AC3E}">
        <p14:creationId xmlns:p14="http://schemas.microsoft.com/office/powerpoint/2010/main" val="1406039833"/>
      </p:ext>
    </p:extLst>
  </p:cSld>
  <p:clrMapOvr>
    <a:masterClrMapping/>
  </p:clrMapOvr>
  <mc:AlternateContent xmlns:mc="http://schemas.openxmlformats.org/markup-compatibility/2006" xmlns:p14="http://schemas.microsoft.com/office/powerpoint/2010/main">
    <mc:Choice Requires="p14">
      <p:transition spd="slow" p14:dur="1500" advTm="2744">
        <p:random/>
      </p:transition>
    </mc:Choice>
    <mc:Fallback xmlns="">
      <p:transition spd="slow" advTm="2744">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39C1DF7B-F67C-4802-98BA-9E663611A929}"/>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0" y="0"/>
            <a:ext cx="1055440" cy="1100206"/>
          </a:xfrm>
          <a:prstGeom prst="rect">
            <a:avLst/>
          </a:prstGeom>
        </p:spPr>
      </p:pic>
      <p:sp>
        <p:nvSpPr>
          <p:cNvPr id="4" name="文本框 3">
            <a:extLst>
              <a:ext uri="{FF2B5EF4-FFF2-40B4-BE49-F238E27FC236}">
                <a16:creationId xmlns:a16="http://schemas.microsoft.com/office/drawing/2014/main" id="{D458A61D-D60E-4F90-9EB3-028E91FA2A8B}"/>
              </a:ext>
            </a:extLst>
          </p:cNvPr>
          <p:cNvSpPr txBox="1"/>
          <p:nvPr/>
        </p:nvSpPr>
        <p:spPr>
          <a:xfrm>
            <a:off x="911424" y="260648"/>
            <a:ext cx="4464496" cy="584775"/>
          </a:xfrm>
          <a:prstGeom prst="rect">
            <a:avLst/>
          </a:prstGeom>
          <a:noFill/>
        </p:spPr>
        <p:txBody>
          <a:bodyPr wrap="square" rtlCol="0">
            <a:spAutoFit/>
          </a:bodyPr>
          <a:lstStyle>
            <a:defPPr>
              <a:defRPr lang="zh-CN"/>
            </a:defPPr>
            <a:lvl1pPr algn="dist">
              <a:defRPr sz="32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电子垃圾的回收</a:t>
            </a:r>
          </a:p>
        </p:txBody>
      </p:sp>
      <p:sp>
        <p:nvSpPr>
          <p:cNvPr id="23" name="文本框 22">
            <a:extLst>
              <a:ext uri="{FF2B5EF4-FFF2-40B4-BE49-F238E27FC236}">
                <a16:creationId xmlns:a16="http://schemas.microsoft.com/office/drawing/2014/main" id="{119CB702-3508-4390-8F4C-4AC0A9E113ED}"/>
              </a:ext>
            </a:extLst>
          </p:cNvPr>
          <p:cNvSpPr txBox="1"/>
          <p:nvPr/>
        </p:nvSpPr>
        <p:spPr>
          <a:xfrm>
            <a:off x="1271464" y="1786557"/>
            <a:ext cx="3744416" cy="3539430"/>
          </a:xfrm>
          <a:prstGeom prst="rect">
            <a:avLst/>
          </a:prstGeom>
          <a:noFill/>
        </p:spPr>
        <p:txBody>
          <a:bodyPr wrap="square" rtlCol="0">
            <a:spAutoFit/>
          </a:bodyPr>
          <a:lstStyle/>
          <a:p>
            <a:r>
              <a:rPr lang="zh-CN" altLang="zh-CN" sz="3200" dirty="0"/>
              <a:t>电子废弃物回收是指对电子设备及其部件进行再利用或资源化处理的行为。处理方法包括拆解分选、物理化学处理和贵金属提炼</a:t>
            </a:r>
            <a:r>
              <a:rPr lang="zh-CN" altLang="en-US" sz="3200" dirty="0"/>
              <a:t>。</a:t>
            </a:r>
            <a:endParaRPr lang="zh-CN" altLang="en-US" sz="3200" dirty="0">
              <a:solidFill>
                <a:schemeClr val="tx1">
                  <a:lumMod val="85000"/>
                  <a:lumOff val="15000"/>
                </a:schemeClr>
              </a:solidFill>
              <a:latin typeface="字魂59号-创粗黑" panose="00000500000000000000" pitchFamily="2" charset="-122"/>
              <a:ea typeface="字魂59号-创粗黑" panose="00000500000000000000" pitchFamily="2" charset="-122"/>
            </a:endParaRPr>
          </a:p>
        </p:txBody>
      </p:sp>
      <p:pic>
        <p:nvPicPr>
          <p:cNvPr id="25" name="图片 24">
            <a:extLst>
              <a:ext uri="{FF2B5EF4-FFF2-40B4-BE49-F238E27FC236}">
                <a16:creationId xmlns:a16="http://schemas.microsoft.com/office/drawing/2014/main" id="{213B5325-A1A8-2973-CF40-79C651AB5A59}"/>
              </a:ext>
            </a:extLst>
          </p:cNvPr>
          <p:cNvPicPr>
            <a:picLocks noChangeAspect="1"/>
          </p:cNvPicPr>
          <p:nvPr/>
        </p:nvPicPr>
        <p:blipFill>
          <a:blip r:embed="rId5"/>
          <a:stretch>
            <a:fillRect/>
          </a:stretch>
        </p:blipFill>
        <p:spPr>
          <a:xfrm>
            <a:off x="5735960" y="1996849"/>
            <a:ext cx="5544616" cy="3118846"/>
          </a:xfrm>
          <a:prstGeom prst="rect">
            <a:avLst/>
          </a:prstGeom>
        </p:spPr>
      </p:pic>
    </p:spTree>
    <p:custDataLst>
      <p:tags r:id="rId1"/>
    </p:custDataLst>
    <p:extLst>
      <p:ext uri="{BB962C8B-B14F-4D97-AF65-F5344CB8AC3E}">
        <p14:creationId xmlns:p14="http://schemas.microsoft.com/office/powerpoint/2010/main" val="971773933"/>
      </p:ext>
    </p:extLst>
  </p:cSld>
  <p:clrMapOvr>
    <a:masterClrMapping/>
  </p:clrMapOvr>
  <mc:AlternateContent xmlns:mc="http://schemas.openxmlformats.org/markup-compatibility/2006" xmlns:p14="http://schemas.microsoft.com/office/powerpoint/2010/main">
    <mc:Choice Requires="p14">
      <p:transition spd="slow" p14:dur="1500" advTm="2341">
        <p:random/>
      </p:transition>
    </mc:Choice>
    <mc:Fallback xmlns="">
      <p:transition spd="slow" advTm="2341">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3D4FE47-6176-42DF-AF6A-E65BA002F037}"/>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5400000">
            <a:off x="2661432" y="-2672567"/>
            <a:ext cx="6858001" cy="12203137"/>
          </a:xfrm>
          <a:prstGeom prst="rect">
            <a:avLst/>
          </a:prstGeom>
        </p:spPr>
      </p:pic>
      <p:grpSp>
        <p:nvGrpSpPr>
          <p:cNvPr id="4" name="组合 3">
            <a:extLst>
              <a:ext uri="{FF2B5EF4-FFF2-40B4-BE49-F238E27FC236}">
                <a16:creationId xmlns:a16="http://schemas.microsoft.com/office/drawing/2014/main" id="{42E080B4-AE44-4D2B-AC2F-135C48CEF4DC}"/>
              </a:ext>
            </a:extLst>
          </p:cNvPr>
          <p:cNvGrpSpPr/>
          <p:nvPr/>
        </p:nvGrpSpPr>
        <p:grpSpPr>
          <a:xfrm>
            <a:off x="288486" y="218147"/>
            <a:ext cx="1559041" cy="369332"/>
            <a:chOff x="379717" y="372035"/>
            <a:chExt cx="1559041" cy="369332"/>
          </a:xfrm>
        </p:grpSpPr>
        <p:sp>
          <p:nvSpPr>
            <p:cNvPr id="5" name="椭圆 4">
              <a:extLst>
                <a:ext uri="{FF2B5EF4-FFF2-40B4-BE49-F238E27FC236}">
                  <a16:creationId xmlns:a16="http://schemas.microsoft.com/office/drawing/2014/main" id="{330731AF-D13F-47F2-BC31-09BE5E9B7209}"/>
                </a:ext>
              </a:extLst>
            </p:cNvPr>
            <p:cNvSpPr/>
            <p:nvPr/>
          </p:nvSpPr>
          <p:spPr>
            <a:xfrm>
              <a:off x="379717" y="404664"/>
              <a:ext cx="304075" cy="304075"/>
            </a:xfrm>
            <a:prstGeom prst="ellipse">
              <a:avLst/>
            </a:prstGeom>
            <a:solidFill>
              <a:schemeClr val="tx1">
                <a:lumMod val="85000"/>
                <a:lumOff val="15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0E1CCB0D-3E73-4E3E-B588-63370728320A}"/>
                </a:ext>
              </a:extLst>
            </p:cNvPr>
            <p:cNvSpPr txBox="1"/>
            <p:nvPr/>
          </p:nvSpPr>
          <p:spPr>
            <a:xfrm>
              <a:off x="683791" y="372035"/>
              <a:ext cx="1254967" cy="369332"/>
            </a:xfrm>
            <a:prstGeom prst="rect">
              <a:avLst/>
            </a:prstGeom>
            <a:noFill/>
          </p:spPr>
          <p:txBody>
            <a:bodyPr wrap="square" rtlCol="0">
              <a:spAutoFit/>
            </a:bodyPr>
            <a:lstStyle/>
            <a:p>
              <a:r>
                <a:rPr lang="en-US" altLang="zh-CN"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WSOAEY</a:t>
              </a:r>
              <a:endParaRPr lang="zh-CN" altLang="en-US"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endParaRPr>
            </a:p>
          </p:txBody>
        </p:sp>
      </p:grpSp>
      <p:grpSp>
        <p:nvGrpSpPr>
          <p:cNvPr id="21" name="组合 20">
            <a:extLst>
              <a:ext uri="{FF2B5EF4-FFF2-40B4-BE49-F238E27FC236}">
                <a16:creationId xmlns:a16="http://schemas.microsoft.com/office/drawing/2014/main" id="{09A43C20-71D5-4CA6-83D7-C6D033211DCE}"/>
              </a:ext>
            </a:extLst>
          </p:cNvPr>
          <p:cNvGrpSpPr/>
          <p:nvPr/>
        </p:nvGrpSpPr>
        <p:grpSpPr>
          <a:xfrm>
            <a:off x="2745907" y="2204864"/>
            <a:ext cx="6700184" cy="2074054"/>
            <a:chOff x="2745907" y="1929985"/>
            <a:chExt cx="6700184" cy="2074054"/>
          </a:xfrm>
        </p:grpSpPr>
        <p:sp>
          <p:nvSpPr>
            <p:cNvPr id="22" name="文本框 21">
              <a:extLst>
                <a:ext uri="{FF2B5EF4-FFF2-40B4-BE49-F238E27FC236}">
                  <a16:creationId xmlns:a16="http://schemas.microsoft.com/office/drawing/2014/main" id="{1E4AEDF9-F15C-49D7-A83C-1405DB53D2EC}"/>
                </a:ext>
              </a:extLst>
            </p:cNvPr>
            <p:cNvSpPr txBox="1"/>
            <p:nvPr/>
          </p:nvSpPr>
          <p:spPr>
            <a:xfrm>
              <a:off x="3843564" y="1929985"/>
              <a:ext cx="4504871" cy="1323439"/>
            </a:xfrm>
            <a:prstGeom prst="rect">
              <a:avLst/>
            </a:prstGeom>
            <a:noFill/>
          </p:spPr>
          <p:txBody>
            <a:bodyPr wrap="square" rtlCol="0">
              <a:spAutoFit/>
            </a:bodyPr>
            <a:lstStyle/>
            <a:p>
              <a:pPr algn="ctr"/>
              <a:r>
                <a:rPr lang="en-US" altLang="zh-CN" sz="8000"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PART 02</a:t>
              </a:r>
              <a:endParaRPr lang="zh-CN" altLang="en-US" sz="8000"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endParaRPr>
            </a:p>
          </p:txBody>
        </p:sp>
        <p:sp>
          <p:nvSpPr>
            <p:cNvPr id="24" name="文本框 23">
              <a:extLst>
                <a:ext uri="{FF2B5EF4-FFF2-40B4-BE49-F238E27FC236}">
                  <a16:creationId xmlns:a16="http://schemas.microsoft.com/office/drawing/2014/main" id="{B53FF4EC-1094-46B4-BF89-94570156A98A}"/>
                </a:ext>
              </a:extLst>
            </p:cNvPr>
            <p:cNvSpPr txBox="1"/>
            <p:nvPr/>
          </p:nvSpPr>
          <p:spPr>
            <a:xfrm>
              <a:off x="2745907" y="3173042"/>
              <a:ext cx="6700184" cy="830997"/>
            </a:xfrm>
            <a:prstGeom prst="rect">
              <a:avLst/>
            </a:prstGeom>
            <a:noFill/>
          </p:spPr>
          <p:txBody>
            <a:bodyPr wrap="square" rtlCol="0">
              <a:spAutoFit/>
            </a:bodyPr>
            <a:lstStyle>
              <a:defPPr>
                <a:defRPr lang="zh-CN"/>
              </a:defPPr>
              <a:lvl1pPr algn="dist">
                <a:defRPr sz="48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循环：电子垃圾再流通</a:t>
              </a:r>
            </a:p>
          </p:txBody>
        </p:sp>
      </p:grpSp>
    </p:spTree>
    <p:custDataLst>
      <p:tags r:id="rId1"/>
    </p:custDataLst>
    <p:extLst>
      <p:ext uri="{BB962C8B-B14F-4D97-AF65-F5344CB8AC3E}">
        <p14:creationId xmlns:p14="http://schemas.microsoft.com/office/powerpoint/2010/main" val="3684246779"/>
      </p:ext>
    </p:extLst>
  </p:cSld>
  <p:clrMapOvr>
    <a:masterClrMapping/>
  </p:clrMapOvr>
  <mc:AlternateContent xmlns:mc="http://schemas.openxmlformats.org/markup-compatibility/2006" xmlns:p14="http://schemas.microsoft.com/office/powerpoint/2010/main">
    <mc:Choice Requires="p14">
      <p:transition spd="slow" p14:dur="1500" advTm="1308">
        <p:random/>
      </p:transition>
    </mc:Choice>
    <mc:Fallback xmlns="">
      <p:transition spd="slow" advTm="1308">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1"/>
                                        </p:tgtEl>
                                        <p:attrNameLst>
                                          <p:attrName>style.visibility</p:attrName>
                                        </p:attrNameLst>
                                      </p:cBhvr>
                                      <p:to>
                                        <p:strVal val="visible"/>
                                      </p:to>
                                    </p:set>
                                    <p:anim calcmode="lin" valueType="num">
                                      <p:cBhvr>
                                        <p:cTn id="14" dur="500" fill="hold"/>
                                        <p:tgtEl>
                                          <p:spTgt spid="21"/>
                                        </p:tgtEl>
                                        <p:attrNameLst>
                                          <p:attrName>ppt_w</p:attrName>
                                        </p:attrNameLst>
                                      </p:cBhvr>
                                      <p:tavLst>
                                        <p:tav tm="0">
                                          <p:val>
                                            <p:fltVal val="0"/>
                                          </p:val>
                                        </p:tav>
                                        <p:tav tm="100000">
                                          <p:val>
                                            <p:strVal val="#ppt_w"/>
                                          </p:val>
                                        </p:tav>
                                      </p:tavLst>
                                    </p:anim>
                                    <p:anim calcmode="lin" valueType="num">
                                      <p:cBhvr>
                                        <p:cTn id="15" dur="500" fill="hold"/>
                                        <p:tgtEl>
                                          <p:spTgt spid="21"/>
                                        </p:tgtEl>
                                        <p:attrNameLst>
                                          <p:attrName>ppt_h</p:attrName>
                                        </p:attrNameLst>
                                      </p:cBhvr>
                                      <p:tavLst>
                                        <p:tav tm="0">
                                          <p:val>
                                            <p:fltVal val="0"/>
                                          </p:val>
                                        </p:tav>
                                        <p:tav tm="100000">
                                          <p:val>
                                            <p:strVal val="#ppt_h"/>
                                          </p:val>
                                        </p:tav>
                                      </p:tavLst>
                                    </p:anim>
                                    <p:animEffect transition="in" filter="fade">
                                      <p:cBhvr>
                                        <p:cTn id="1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p:cNvSpPr/>
          <p:nvPr/>
        </p:nvSpPr>
        <p:spPr>
          <a:xfrm>
            <a:off x="0" y="-12700"/>
            <a:ext cx="12192000" cy="6858000"/>
          </a:xfrm>
          <a:prstGeom prst="rect">
            <a:avLst/>
          </a:prstGeom>
          <a:solidFill>
            <a:srgbClr val="F7F9F6"/>
          </a:solidFill>
          <a:ln>
            <a:noFill/>
          </a:ln>
        </p:spPr>
        <p:txBody>
          <a:bodyPr/>
          <a:lstStyle/>
          <a:p>
            <a:endParaRPr lang="en-US" sz="1200" dirty="0"/>
          </a:p>
        </p:txBody>
      </p:sp>
      <p:sp>
        <p:nvSpPr>
          <p:cNvPr id="4" name="TextBox"/>
          <p:cNvSpPr txBox="1"/>
          <p:nvPr/>
        </p:nvSpPr>
        <p:spPr>
          <a:xfrm>
            <a:off x="762000" y="863600"/>
            <a:ext cx="3886200" cy="622300"/>
          </a:xfrm>
          <a:prstGeom prst="rect">
            <a:avLst/>
          </a:prstGeom>
          <a:noFill/>
          <a:ln>
            <a:noFill/>
          </a:ln>
        </p:spPr>
        <p:txBody>
          <a:bodyPr wrap="none" lIns="0" tIns="0" rIns="0" bIns="0"/>
          <a:lstStyle/>
          <a:p>
            <a:r>
              <a:rPr lang="zh-CN" altLang="en-US" sz="3400">
                <a:solidFill>
                  <a:srgbClr val="10190F"/>
                </a:solidFill>
                <a:latin typeface="Noto Sans SC Bold"/>
                <a:ea typeface="Noto Sans SC Bold"/>
                <a:cs typeface="Noto Sans SC Bold"/>
              </a:rPr>
              <a:t>“洋垃圾”</a:t>
            </a:r>
          </a:p>
        </p:txBody>
      </p:sp>
      <p:sp>
        <p:nvSpPr>
          <p:cNvPr id="5" name="TextBox"/>
          <p:cNvSpPr txBox="1"/>
          <p:nvPr/>
        </p:nvSpPr>
        <p:spPr>
          <a:xfrm>
            <a:off x="762000" y="1905000"/>
            <a:ext cx="3378200" cy="349250"/>
          </a:xfrm>
          <a:prstGeom prst="rect">
            <a:avLst/>
          </a:prstGeom>
          <a:noFill/>
          <a:ln>
            <a:noFill/>
          </a:ln>
        </p:spPr>
        <p:txBody>
          <a:bodyPr wrap="none" lIns="0" tIns="0" rIns="0" bIns="0"/>
          <a:lstStyle/>
          <a:p>
            <a:r>
              <a:rPr lang="zh-CN" altLang="en-US" sz="1900">
                <a:solidFill>
                  <a:srgbClr val="10190F"/>
                </a:solidFill>
                <a:latin typeface="Noto Sans SC Bold"/>
                <a:ea typeface="Noto Sans SC Bold"/>
                <a:cs typeface="Noto Sans SC Bold"/>
              </a:rPr>
              <a:t>广义：所有入境的进口固体废物</a:t>
            </a:r>
          </a:p>
        </p:txBody>
      </p:sp>
      <p:sp>
        <p:nvSpPr>
          <p:cNvPr id="6" name="TextBox"/>
          <p:cNvSpPr txBox="1"/>
          <p:nvPr/>
        </p:nvSpPr>
        <p:spPr>
          <a:xfrm>
            <a:off x="762000" y="2317750"/>
            <a:ext cx="4942510" cy="571500"/>
          </a:xfrm>
          <a:prstGeom prst="rect">
            <a:avLst/>
          </a:prstGeom>
          <a:noFill/>
          <a:ln>
            <a:noFill/>
          </a:ln>
        </p:spPr>
        <p:txBody>
          <a:bodyPr wrap="square" lIns="0" tIns="0" rIns="0" bIns="0"/>
          <a:lstStyle/>
          <a:p>
            <a:r>
              <a:rPr lang="en-US" altLang="zh-CN" sz="1550" dirty="0">
                <a:solidFill>
                  <a:srgbClr val="5A6660"/>
                </a:solidFill>
                <a:latin typeface="Noto Sans SC"/>
                <a:ea typeface="Noto Sans SC"/>
                <a:cs typeface="Noto Sans SC"/>
              </a:rPr>
              <a:t>1980 </a:t>
            </a:r>
            <a:r>
              <a:rPr lang="zh-CN" altLang="en-US" sz="1550" dirty="0">
                <a:solidFill>
                  <a:srgbClr val="5A6660"/>
                </a:solidFill>
                <a:latin typeface="Noto Sans SC"/>
                <a:ea typeface="Noto Sans SC"/>
                <a:cs typeface="Noto Sans SC"/>
              </a:rPr>
              <a:t>年代起为缓解原料不足而进口；</a:t>
            </a:r>
            <a:r>
              <a:rPr lang="en-US" altLang="zh-CN" sz="1550" dirty="0">
                <a:solidFill>
                  <a:srgbClr val="5A6660"/>
                </a:solidFill>
                <a:latin typeface="Noto Sans SC"/>
                <a:ea typeface="Noto Sans SC"/>
                <a:cs typeface="Noto Sans SC"/>
              </a:rPr>
              <a:t>1995→2016 </a:t>
            </a:r>
            <a:r>
              <a:rPr lang="zh-CN" altLang="en-US" sz="1550" dirty="0">
                <a:solidFill>
                  <a:srgbClr val="5A6660"/>
                </a:solidFill>
                <a:latin typeface="Noto Sans SC"/>
                <a:ea typeface="Noto Sans SC"/>
                <a:cs typeface="Noto Sans SC"/>
              </a:rPr>
              <a:t>年进口量从 </a:t>
            </a:r>
            <a:r>
              <a:rPr lang="en-US" altLang="zh-CN" sz="1550" dirty="0">
                <a:solidFill>
                  <a:srgbClr val="5A6660"/>
                </a:solidFill>
                <a:latin typeface="Noto Sans SC"/>
                <a:ea typeface="Noto Sans SC"/>
                <a:cs typeface="Noto Sans SC"/>
              </a:rPr>
              <a:t>450 </a:t>
            </a:r>
            <a:r>
              <a:rPr lang="zh-CN" altLang="en-US" sz="1550" dirty="0">
                <a:solidFill>
                  <a:srgbClr val="5A6660"/>
                </a:solidFill>
                <a:latin typeface="Noto Sans SC"/>
                <a:ea typeface="Noto Sans SC"/>
                <a:cs typeface="Noto Sans SC"/>
              </a:rPr>
              <a:t>万吨涨至 </a:t>
            </a:r>
            <a:r>
              <a:rPr lang="en-US" altLang="zh-CN" sz="1550" dirty="0">
                <a:solidFill>
                  <a:srgbClr val="5A6660"/>
                </a:solidFill>
                <a:latin typeface="Noto Sans SC"/>
                <a:ea typeface="Noto Sans SC"/>
                <a:cs typeface="Noto Sans SC"/>
              </a:rPr>
              <a:t>4500 </a:t>
            </a:r>
            <a:r>
              <a:rPr lang="zh-CN" altLang="en-US" sz="1550" dirty="0">
                <a:solidFill>
                  <a:srgbClr val="5A6660"/>
                </a:solidFill>
                <a:latin typeface="Noto Sans SC"/>
                <a:ea typeface="Noto Sans SC"/>
                <a:cs typeface="Noto Sans SC"/>
              </a:rPr>
              <a:t>。</a:t>
            </a:r>
            <a:endParaRPr lang="en-US" altLang="zh-CN" sz="1550" dirty="0">
              <a:solidFill>
                <a:srgbClr val="5A6660"/>
              </a:solidFill>
              <a:latin typeface="Noto Sans SC"/>
              <a:ea typeface="Noto Sans SC"/>
              <a:cs typeface="Noto Sans SC"/>
            </a:endParaRPr>
          </a:p>
        </p:txBody>
      </p:sp>
      <p:sp>
        <p:nvSpPr>
          <p:cNvPr id="7" name="TextBox"/>
          <p:cNvSpPr txBox="1"/>
          <p:nvPr/>
        </p:nvSpPr>
        <p:spPr>
          <a:xfrm>
            <a:off x="762000" y="3067050"/>
            <a:ext cx="4584700" cy="349250"/>
          </a:xfrm>
          <a:prstGeom prst="rect">
            <a:avLst/>
          </a:prstGeom>
          <a:noFill/>
          <a:ln>
            <a:noFill/>
          </a:ln>
        </p:spPr>
        <p:txBody>
          <a:bodyPr wrap="none" lIns="0" tIns="0" rIns="0" bIns="0"/>
          <a:lstStyle/>
          <a:p>
            <a:r>
              <a:rPr lang="zh-CN" altLang="en-US" sz="1900">
                <a:solidFill>
                  <a:srgbClr val="10190F"/>
                </a:solidFill>
                <a:latin typeface="Noto Sans SC Bold"/>
                <a:ea typeface="Noto Sans SC Bold"/>
                <a:cs typeface="Noto Sans SC Bold"/>
              </a:rPr>
              <a:t>狭义：以走私、夹带、瞒报方式进口的禁废</a:t>
            </a:r>
          </a:p>
        </p:txBody>
      </p:sp>
      <p:sp>
        <p:nvSpPr>
          <p:cNvPr id="8" name="TextBox"/>
          <p:cNvSpPr txBox="1"/>
          <p:nvPr/>
        </p:nvSpPr>
        <p:spPr>
          <a:xfrm>
            <a:off x="762000" y="3479800"/>
            <a:ext cx="4921250" cy="571500"/>
          </a:xfrm>
          <a:prstGeom prst="rect">
            <a:avLst/>
          </a:prstGeom>
          <a:noFill/>
          <a:ln>
            <a:noFill/>
          </a:ln>
        </p:spPr>
        <p:txBody>
          <a:bodyPr wrap="square" lIns="0" tIns="0" rIns="0" bIns="0"/>
          <a:lstStyle/>
          <a:p>
            <a:r>
              <a:rPr lang="zh-CN" altLang="en-US" sz="1550" dirty="0">
                <a:solidFill>
                  <a:srgbClr val="5A6660"/>
                </a:solidFill>
                <a:latin typeface="Noto Sans SC"/>
                <a:ea typeface="Noto Sans SC"/>
                <a:cs typeface="Noto Sans SC"/>
              </a:rPr>
              <a:t>以“二手电子产品转售”“金属废料”的名义进口；检查相关企业中超 </a:t>
            </a:r>
            <a:r>
              <a:rPr lang="en-US" altLang="zh-CN" sz="1550" dirty="0">
                <a:solidFill>
                  <a:srgbClr val="5A6660"/>
                </a:solidFill>
                <a:latin typeface="Noto Sans SC"/>
                <a:ea typeface="Noto Sans SC"/>
                <a:cs typeface="Noto Sans SC"/>
              </a:rPr>
              <a:t>60% </a:t>
            </a:r>
            <a:r>
              <a:rPr lang="zh-CN" altLang="en-US" sz="1550" dirty="0">
                <a:solidFill>
                  <a:srgbClr val="5A6660"/>
                </a:solidFill>
                <a:latin typeface="Noto Sans SC"/>
                <a:ea typeface="Noto Sans SC"/>
                <a:cs typeface="Noto Sans SC"/>
              </a:rPr>
              <a:t>存在这种问题。</a:t>
            </a:r>
            <a:endParaRPr lang="en-US" altLang="zh-CN" sz="1550" dirty="0">
              <a:solidFill>
                <a:srgbClr val="5A6660"/>
              </a:solidFill>
              <a:latin typeface="Noto Sans SC"/>
              <a:ea typeface="Noto Sans SC"/>
              <a:cs typeface="Noto Sans SC"/>
            </a:endParaRPr>
          </a:p>
        </p:txBody>
      </p:sp>
      <p:sp>
        <p:nvSpPr>
          <p:cNvPr id="9" name="TextBox"/>
          <p:cNvSpPr txBox="1"/>
          <p:nvPr/>
        </p:nvSpPr>
        <p:spPr>
          <a:xfrm>
            <a:off x="762000" y="4229100"/>
            <a:ext cx="3619500" cy="349250"/>
          </a:xfrm>
          <a:prstGeom prst="rect">
            <a:avLst/>
          </a:prstGeom>
          <a:noFill/>
          <a:ln>
            <a:noFill/>
          </a:ln>
        </p:spPr>
        <p:txBody>
          <a:bodyPr wrap="none" lIns="0" tIns="0" rIns="0" bIns="0"/>
          <a:lstStyle/>
          <a:p>
            <a:r>
              <a:rPr lang="zh-CN" altLang="en-US" sz="1900">
                <a:solidFill>
                  <a:srgbClr val="10190F"/>
                </a:solidFill>
                <a:latin typeface="Noto Sans SC Bold"/>
                <a:ea typeface="Noto Sans SC Bold"/>
                <a:cs typeface="Noto Sans SC Bold"/>
              </a:rPr>
              <a:t>分类依据：</a:t>
            </a:r>
            <a:r>
              <a:rPr lang="en-US" altLang="zh-CN" sz="1900">
                <a:solidFill>
                  <a:srgbClr val="10190F"/>
                </a:solidFill>
                <a:latin typeface="Noto Sans SC Bold"/>
                <a:ea typeface="Noto Sans SC Bold"/>
                <a:cs typeface="Noto Sans SC Bold"/>
              </a:rPr>
              <a:t>《</a:t>
            </a:r>
            <a:r>
              <a:rPr lang="zh-CN" altLang="en-US" sz="1900">
                <a:solidFill>
                  <a:srgbClr val="10190F"/>
                </a:solidFill>
                <a:latin typeface="Noto Sans SC Bold"/>
                <a:ea typeface="Noto Sans SC Bold"/>
                <a:cs typeface="Noto Sans SC Bold"/>
              </a:rPr>
              <a:t>进口废物管理目录</a:t>
            </a:r>
            <a:r>
              <a:rPr lang="en-US" altLang="zh-CN" sz="1900">
                <a:solidFill>
                  <a:srgbClr val="10190F"/>
                </a:solidFill>
                <a:latin typeface="Noto Sans SC Bold"/>
                <a:ea typeface="Noto Sans SC Bold"/>
                <a:cs typeface="Noto Sans SC Bold"/>
              </a:rPr>
              <a:t>》</a:t>
            </a:r>
          </a:p>
        </p:txBody>
      </p:sp>
      <p:sp>
        <p:nvSpPr>
          <p:cNvPr id="10" name="TextBox"/>
          <p:cNvSpPr txBox="1"/>
          <p:nvPr/>
        </p:nvSpPr>
        <p:spPr>
          <a:xfrm>
            <a:off x="762000" y="4641850"/>
            <a:ext cx="5048414" cy="571500"/>
          </a:xfrm>
          <a:prstGeom prst="rect">
            <a:avLst/>
          </a:prstGeom>
          <a:noFill/>
          <a:ln>
            <a:noFill/>
          </a:ln>
        </p:spPr>
        <p:txBody>
          <a:bodyPr wrap="square" lIns="0" tIns="0" rIns="0" bIns="0"/>
          <a:lstStyle/>
          <a:p>
            <a:r>
              <a:rPr lang="zh-CN" altLang="en-US" sz="1550" dirty="0">
                <a:solidFill>
                  <a:srgbClr val="5A6660"/>
                </a:solidFill>
                <a:latin typeface="Noto Sans SC"/>
                <a:ea typeface="Noto Sans SC"/>
                <a:cs typeface="Noto Sans SC"/>
              </a:rPr>
              <a:t>依据法规（</a:t>
            </a:r>
            <a:r>
              <a:rPr lang="en-US" altLang="zh-CN" sz="1550" dirty="0">
                <a:solidFill>
                  <a:srgbClr val="5A6660"/>
                </a:solidFill>
                <a:latin typeface="Noto Sans SC"/>
                <a:ea typeface="Noto Sans SC"/>
                <a:cs typeface="Noto Sans SC"/>
              </a:rPr>
              <a:t>HS Code</a:t>
            </a:r>
            <a:r>
              <a:rPr lang="zh-CN" altLang="en-US" sz="1550" dirty="0">
                <a:solidFill>
                  <a:srgbClr val="5A6660"/>
                </a:solidFill>
                <a:latin typeface="Noto Sans SC"/>
                <a:ea typeface="Noto Sans SC"/>
                <a:cs typeface="Noto Sans SC"/>
              </a:rPr>
              <a:t>）将固废分为禁止进口 </a:t>
            </a:r>
            <a:r>
              <a:rPr lang="en-US" altLang="zh-CN" sz="1550" dirty="0">
                <a:solidFill>
                  <a:srgbClr val="5A6660"/>
                </a:solidFill>
                <a:latin typeface="Noto Sans SC"/>
                <a:ea typeface="Noto Sans SC"/>
                <a:cs typeface="Noto Sans SC"/>
              </a:rPr>
              <a:t>/ </a:t>
            </a:r>
            <a:r>
              <a:rPr lang="zh-CN" altLang="en-US" sz="1550" dirty="0">
                <a:solidFill>
                  <a:srgbClr val="5A6660"/>
                </a:solidFill>
                <a:latin typeface="Noto Sans SC"/>
                <a:ea typeface="Noto Sans SC"/>
                <a:cs typeface="Noto Sans SC"/>
              </a:rPr>
              <a:t>限制进口 </a:t>
            </a:r>
            <a:r>
              <a:rPr lang="en-US" altLang="zh-CN" sz="1550" dirty="0">
                <a:solidFill>
                  <a:srgbClr val="5A6660"/>
                </a:solidFill>
                <a:latin typeface="Noto Sans SC"/>
                <a:ea typeface="Noto Sans SC"/>
                <a:cs typeface="Noto Sans SC"/>
              </a:rPr>
              <a:t>/ </a:t>
            </a:r>
            <a:r>
              <a:rPr lang="zh-CN" altLang="en-US" sz="1550" dirty="0">
                <a:solidFill>
                  <a:srgbClr val="5A6660"/>
                </a:solidFill>
                <a:latin typeface="Noto Sans SC"/>
                <a:ea typeface="Noto Sans SC"/>
                <a:cs typeface="Noto Sans SC"/>
              </a:rPr>
              <a:t>自动许可类（</a:t>
            </a:r>
            <a:r>
              <a:rPr lang="en-US" altLang="zh-CN" sz="1550" dirty="0">
                <a:solidFill>
                  <a:srgbClr val="5A6660"/>
                </a:solidFill>
                <a:latin typeface="Noto Sans SC"/>
                <a:ea typeface="Noto Sans SC"/>
                <a:cs typeface="Noto Sans SC"/>
              </a:rPr>
              <a:t>2017 </a:t>
            </a:r>
            <a:r>
              <a:rPr lang="zh-CN" altLang="en-US" sz="1550" dirty="0">
                <a:solidFill>
                  <a:srgbClr val="5A6660"/>
                </a:solidFill>
                <a:latin typeface="Noto Sans SC"/>
                <a:ea typeface="Noto Sans SC"/>
                <a:cs typeface="Noto Sans SC"/>
              </a:rPr>
              <a:t>）。</a:t>
            </a:r>
            <a:endParaRPr lang="en-US" altLang="zh-CN" sz="1550" dirty="0">
              <a:solidFill>
                <a:srgbClr val="5A6660"/>
              </a:solidFill>
              <a:latin typeface="Noto Sans SC"/>
              <a:ea typeface="Noto Sans SC"/>
              <a:cs typeface="Noto Sans SC"/>
            </a:endParaRPr>
          </a:p>
        </p:txBody>
      </p:sp>
      <p:sp>
        <p:nvSpPr>
          <p:cNvPr id="11" name="Rectangle"/>
          <p:cNvSpPr/>
          <p:nvPr/>
        </p:nvSpPr>
        <p:spPr>
          <a:xfrm>
            <a:off x="6223000" y="1841500"/>
            <a:ext cx="5207000" cy="3937000"/>
          </a:xfrm>
          <a:prstGeom prst="roundRect">
            <a:avLst>
              <a:gd name="adj" fmla="val 3225"/>
            </a:avLst>
          </a:prstGeom>
          <a:solidFill>
            <a:srgbClr val="0F1E17"/>
          </a:solidFill>
          <a:ln>
            <a:noFill/>
          </a:ln>
        </p:spPr>
        <p:txBody>
          <a:bodyPr/>
          <a:lstStyle/>
          <a:p>
            <a:endParaRPr lang="en-US" sz="1200"/>
          </a:p>
        </p:txBody>
      </p:sp>
      <p:sp>
        <p:nvSpPr>
          <p:cNvPr id="12" name="Rectangle"/>
          <p:cNvSpPr/>
          <p:nvPr/>
        </p:nvSpPr>
        <p:spPr>
          <a:xfrm>
            <a:off x="6667500" y="2254250"/>
            <a:ext cx="1524000" cy="698500"/>
          </a:xfrm>
          <a:prstGeom prst="roundRect">
            <a:avLst>
              <a:gd name="adj" fmla="val 10909"/>
            </a:avLst>
          </a:prstGeom>
          <a:solidFill>
            <a:srgbClr val="232326"/>
          </a:solidFill>
          <a:ln>
            <a:noFill/>
          </a:ln>
        </p:spPr>
        <p:txBody>
          <a:bodyPr/>
          <a:lstStyle/>
          <a:p>
            <a:endParaRPr lang="en-US" sz="1200"/>
          </a:p>
        </p:txBody>
      </p:sp>
      <p:sp>
        <p:nvSpPr>
          <p:cNvPr id="13" name="Rectangle"/>
          <p:cNvSpPr/>
          <p:nvPr/>
        </p:nvSpPr>
        <p:spPr>
          <a:xfrm>
            <a:off x="6667500" y="2222500"/>
            <a:ext cx="1524000" cy="698500"/>
          </a:xfrm>
          <a:prstGeom prst="roundRect">
            <a:avLst>
              <a:gd name="adj" fmla="val 10909"/>
            </a:avLst>
          </a:prstGeom>
          <a:noFill/>
          <a:ln w="9525">
            <a:solidFill>
              <a:srgbClr val="3F3F46"/>
            </a:solidFill>
            <a:miter lim="400000"/>
          </a:ln>
        </p:spPr>
        <p:txBody>
          <a:bodyPr/>
          <a:lstStyle/>
          <a:p>
            <a:endParaRPr lang="en-US" sz="1200"/>
          </a:p>
        </p:txBody>
      </p:sp>
      <p:sp>
        <p:nvSpPr>
          <p:cNvPr id="14" name="TextBox"/>
          <p:cNvSpPr txBox="1"/>
          <p:nvPr/>
        </p:nvSpPr>
        <p:spPr>
          <a:xfrm>
            <a:off x="7175499" y="2502395"/>
            <a:ext cx="711200" cy="215900"/>
          </a:xfrm>
          <a:prstGeom prst="rect">
            <a:avLst/>
          </a:prstGeom>
          <a:noFill/>
          <a:ln>
            <a:noFill/>
          </a:ln>
        </p:spPr>
        <p:txBody>
          <a:bodyPr wrap="none" lIns="0" tIns="0" rIns="0" bIns="0"/>
          <a:lstStyle/>
          <a:p>
            <a:r>
              <a:rPr lang="zh-CN" altLang="en-US" sz="1400" dirty="0">
                <a:solidFill>
                  <a:srgbClr val="FFFFFF"/>
                </a:solidFill>
                <a:latin typeface="Sarasa Gothic SC Bold"/>
                <a:ea typeface="Sarasa Gothic SC Bold"/>
                <a:cs typeface="Sarasa Gothic SC Bold"/>
              </a:rPr>
              <a:t>发达国家</a:t>
            </a:r>
          </a:p>
        </p:txBody>
      </p:sp>
      <p:sp>
        <p:nvSpPr>
          <p:cNvPr id="16" name="Rectangle"/>
          <p:cNvSpPr/>
          <p:nvPr/>
        </p:nvSpPr>
        <p:spPr>
          <a:xfrm>
            <a:off x="8064500" y="3556000"/>
            <a:ext cx="1524000" cy="698500"/>
          </a:xfrm>
          <a:prstGeom prst="roundRect">
            <a:avLst>
              <a:gd name="adj" fmla="val 10909"/>
            </a:avLst>
          </a:prstGeom>
          <a:solidFill>
            <a:srgbClr val="3A2A12"/>
          </a:solidFill>
          <a:ln>
            <a:noFill/>
          </a:ln>
        </p:spPr>
        <p:txBody>
          <a:bodyPr/>
          <a:lstStyle/>
          <a:p>
            <a:endParaRPr lang="en-US" sz="1200"/>
          </a:p>
        </p:txBody>
      </p:sp>
      <p:sp>
        <p:nvSpPr>
          <p:cNvPr id="17" name="Rectangle"/>
          <p:cNvSpPr/>
          <p:nvPr/>
        </p:nvSpPr>
        <p:spPr>
          <a:xfrm>
            <a:off x="8064500" y="3556000"/>
            <a:ext cx="1524000" cy="698500"/>
          </a:xfrm>
          <a:prstGeom prst="roundRect">
            <a:avLst>
              <a:gd name="adj" fmla="val 10909"/>
            </a:avLst>
          </a:prstGeom>
          <a:noFill/>
          <a:ln w="9525">
            <a:solidFill>
              <a:srgbClr val="D4A017"/>
            </a:solidFill>
            <a:miter lim="400000"/>
          </a:ln>
        </p:spPr>
        <p:txBody>
          <a:bodyPr/>
          <a:lstStyle/>
          <a:p>
            <a:endParaRPr lang="en-US" sz="1200"/>
          </a:p>
        </p:txBody>
      </p:sp>
      <p:sp>
        <p:nvSpPr>
          <p:cNvPr id="18" name="TextBox"/>
          <p:cNvSpPr txBox="1"/>
          <p:nvPr/>
        </p:nvSpPr>
        <p:spPr>
          <a:xfrm>
            <a:off x="8413105" y="3689350"/>
            <a:ext cx="711200" cy="215900"/>
          </a:xfrm>
          <a:prstGeom prst="rect">
            <a:avLst/>
          </a:prstGeom>
          <a:noFill/>
          <a:ln>
            <a:noFill/>
          </a:ln>
        </p:spPr>
        <p:txBody>
          <a:bodyPr wrap="none" lIns="0" tIns="0" rIns="0" bIns="0"/>
          <a:lstStyle/>
          <a:p>
            <a:r>
              <a:rPr lang="zh-CN" altLang="en-US" sz="1400" dirty="0">
                <a:solidFill>
                  <a:srgbClr val="FFB454"/>
                </a:solidFill>
                <a:latin typeface="Sarasa Gothic SC Bold"/>
                <a:ea typeface="Sarasa Gothic SC Bold"/>
                <a:cs typeface="Sarasa Gothic SC Bold"/>
              </a:rPr>
              <a:t>越境转移</a:t>
            </a:r>
          </a:p>
        </p:txBody>
      </p:sp>
      <p:sp>
        <p:nvSpPr>
          <p:cNvPr id="19" name="TextBox"/>
          <p:cNvSpPr txBox="1"/>
          <p:nvPr/>
        </p:nvSpPr>
        <p:spPr>
          <a:xfrm>
            <a:off x="8495655" y="3952875"/>
            <a:ext cx="1257300" cy="171450"/>
          </a:xfrm>
          <a:prstGeom prst="rect">
            <a:avLst/>
          </a:prstGeom>
          <a:noFill/>
          <a:ln>
            <a:noFill/>
          </a:ln>
        </p:spPr>
        <p:txBody>
          <a:bodyPr wrap="none" lIns="0" tIns="0" rIns="0" bIns="0"/>
          <a:lstStyle/>
          <a:p>
            <a:r>
              <a:rPr lang="zh-CN" altLang="en-US" sz="1100" dirty="0">
                <a:solidFill>
                  <a:srgbClr val="D4C9A8"/>
                </a:solidFill>
                <a:latin typeface="Sarasa Gothic SC"/>
                <a:ea typeface="Sarasa Gothic SC"/>
                <a:cs typeface="Sarasa Gothic SC"/>
              </a:rPr>
              <a:t>“二手商品”</a:t>
            </a:r>
          </a:p>
        </p:txBody>
      </p:sp>
      <p:sp>
        <p:nvSpPr>
          <p:cNvPr id="20" name="Rectangle"/>
          <p:cNvSpPr/>
          <p:nvPr/>
        </p:nvSpPr>
        <p:spPr>
          <a:xfrm>
            <a:off x="9461500" y="4826000"/>
            <a:ext cx="1524000" cy="698500"/>
          </a:xfrm>
          <a:prstGeom prst="roundRect">
            <a:avLst>
              <a:gd name="adj" fmla="val 10909"/>
            </a:avLst>
          </a:prstGeom>
          <a:solidFill>
            <a:srgbClr val="3A1518"/>
          </a:solidFill>
          <a:ln>
            <a:noFill/>
          </a:ln>
        </p:spPr>
        <p:txBody>
          <a:bodyPr/>
          <a:lstStyle/>
          <a:p>
            <a:endParaRPr lang="en-US" sz="1200"/>
          </a:p>
        </p:txBody>
      </p:sp>
      <p:sp>
        <p:nvSpPr>
          <p:cNvPr id="21" name="Rectangle"/>
          <p:cNvSpPr/>
          <p:nvPr/>
        </p:nvSpPr>
        <p:spPr>
          <a:xfrm>
            <a:off x="9461500" y="4826000"/>
            <a:ext cx="1524000" cy="698500"/>
          </a:xfrm>
          <a:prstGeom prst="roundRect">
            <a:avLst>
              <a:gd name="adj" fmla="val 10909"/>
            </a:avLst>
          </a:prstGeom>
          <a:noFill/>
          <a:ln w="9525">
            <a:solidFill>
              <a:srgbClr val="F23F43"/>
            </a:solidFill>
            <a:miter lim="400000"/>
          </a:ln>
        </p:spPr>
        <p:txBody>
          <a:bodyPr/>
          <a:lstStyle/>
          <a:p>
            <a:endParaRPr lang="en-US" sz="1200"/>
          </a:p>
        </p:txBody>
      </p:sp>
      <p:sp>
        <p:nvSpPr>
          <p:cNvPr id="22" name="TextBox"/>
          <p:cNvSpPr txBox="1"/>
          <p:nvPr/>
        </p:nvSpPr>
        <p:spPr>
          <a:xfrm>
            <a:off x="9874250" y="5111750"/>
            <a:ext cx="889000" cy="215900"/>
          </a:xfrm>
          <a:prstGeom prst="rect">
            <a:avLst/>
          </a:prstGeom>
          <a:noFill/>
          <a:ln>
            <a:noFill/>
          </a:ln>
        </p:spPr>
        <p:txBody>
          <a:bodyPr wrap="none" lIns="0" tIns="0" rIns="0" bIns="0"/>
          <a:lstStyle/>
          <a:p>
            <a:r>
              <a:rPr lang="zh-CN" altLang="en-US" sz="1400" dirty="0">
                <a:solidFill>
                  <a:srgbClr val="F23F43"/>
                </a:solidFill>
                <a:latin typeface="Sarasa Gothic SC Bold"/>
                <a:ea typeface="Sarasa Gothic SC Bold"/>
                <a:cs typeface="Sarasa Gothic SC Bold"/>
              </a:rPr>
              <a:t>发展中国家</a:t>
            </a:r>
          </a:p>
        </p:txBody>
      </p:sp>
      <p:sp>
        <p:nvSpPr>
          <p:cNvPr id="23" name="TextBox"/>
          <p:cNvSpPr txBox="1"/>
          <p:nvPr/>
        </p:nvSpPr>
        <p:spPr>
          <a:xfrm>
            <a:off x="6647295" y="5219700"/>
            <a:ext cx="1056411" cy="342900"/>
          </a:xfrm>
          <a:prstGeom prst="rect">
            <a:avLst/>
          </a:prstGeom>
          <a:noFill/>
          <a:ln>
            <a:noFill/>
          </a:ln>
        </p:spPr>
        <p:txBody>
          <a:bodyPr wrap="square" lIns="0" tIns="0" rIns="0" bIns="0"/>
          <a:lstStyle/>
          <a:p>
            <a:r>
              <a:rPr lang="en-US" sz="1100">
                <a:solidFill>
                  <a:srgbClr val="D6A9AB"/>
                </a:solidFill>
                <a:latin typeface="Sarasa Gothic SC"/>
                <a:ea typeface="Sarasa Gothic SC"/>
                <a:cs typeface="Sarasa Gothic SC"/>
              </a:rPr>
              <a:t> · </a:t>
            </a:r>
          </a:p>
        </p:txBody>
      </p:sp>
      <p:sp>
        <p:nvSpPr>
          <p:cNvPr id="24" name="Path"/>
          <p:cNvSpPr/>
          <p:nvPr/>
        </p:nvSpPr>
        <p:spPr>
          <a:xfrm>
            <a:off x="7679991" y="2908795"/>
            <a:ext cx="1088715" cy="613399"/>
          </a:xfrm>
          <a:custGeom>
            <a:avLst/>
            <a:gdLst/>
            <a:ahLst/>
            <a:cxnLst/>
            <a:rect l="0" t="0" r="r" b="b"/>
            <a:pathLst>
              <a:path w="1633072" h="920098">
                <a:moveTo>
                  <a:pt x="10527" y="0"/>
                </a:moveTo>
                <a:lnTo>
                  <a:pt x="59151" y="13979"/>
                </a:lnTo>
                <a:lnTo>
                  <a:pt x="106643" y="27807"/>
                </a:lnTo>
                <a:lnTo>
                  <a:pt x="95992" y="64388"/>
                </a:lnTo>
                <a:lnTo>
                  <a:pt x="48624" y="50596"/>
                </a:lnTo>
                <a:lnTo>
                  <a:pt x="0" y="36617"/>
                </a:lnTo>
                <a:lnTo>
                  <a:pt x="10527" y="0"/>
                </a:lnTo>
                <a:close/>
                <a:moveTo>
                  <a:pt x="183291" y="50518"/>
                </a:moveTo>
                <a:lnTo>
                  <a:pt x="231925" y="65204"/>
                </a:lnTo>
                <a:lnTo>
                  <a:pt x="279284" y="79731"/>
                </a:lnTo>
                <a:lnTo>
                  <a:pt x="268112" y="116156"/>
                </a:lnTo>
                <a:lnTo>
                  <a:pt x="220911" y="101678"/>
                </a:lnTo>
                <a:lnTo>
                  <a:pt x="172277" y="86991"/>
                </a:lnTo>
                <a:lnTo>
                  <a:pt x="183291" y="50518"/>
                </a:lnTo>
                <a:close/>
                <a:moveTo>
                  <a:pt x="356899" y="104064"/>
                </a:moveTo>
                <a:lnTo>
                  <a:pt x="403362" y="118976"/>
                </a:lnTo>
                <a:lnTo>
                  <a:pt x="448499" y="133736"/>
                </a:lnTo>
                <a:lnTo>
                  <a:pt x="436657" y="169949"/>
                </a:lnTo>
                <a:lnTo>
                  <a:pt x="391719" y="155254"/>
                </a:lnTo>
                <a:lnTo>
                  <a:pt x="345256" y="140341"/>
                </a:lnTo>
                <a:lnTo>
                  <a:pt x="356899" y="104064"/>
                </a:lnTo>
                <a:close/>
                <a:moveTo>
                  <a:pt x="526752" y="160036"/>
                </a:moveTo>
                <a:lnTo>
                  <a:pt x="573497" y="176225"/>
                </a:lnTo>
                <a:lnTo>
                  <a:pt x="618686" y="192259"/>
                </a:lnTo>
                <a:lnTo>
                  <a:pt x="605945" y="228166"/>
                </a:lnTo>
                <a:lnTo>
                  <a:pt x="561028" y="212227"/>
                </a:lnTo>
                <a:lnTo>
                  <a:pt x="514283" y="196037"/>
                </a:lnTo>
                <a:lnTo>
                  <a:pt x="526752" y="160036"/>
                </a:lnTo>
                <a:close/>
                <a:moveTo>
                  <a:pt x="695264" y="220402"/>
                </a:moveTo>
                <a:quadBezTo>
                  <a:pt x="742328" y="238109"/>
                  <a:pt x="785988" y="255607"/>
                </a:quadBezTo>
                <a:lnTo>
                  <a:pt x="771814" y="290972"/>
                </a:lnTo>
                <a:quadBezTo>
                  <a:pt x="728530" y="273625"/>
                  <a:pt x="681848" y="256061"/>
                </a:quadBezTo>
                <a:lnTo>
                  <a:pt x="695264" y="220402"/>
                </a:lnTo>
                <a:close/>
                <a:moveTo>
                  <a:pt x="861902" y="286966"/>
                </a:moveTo>
                <a:quadBezTo>
                  <a:pt x="909200" y="307127"/>
                  <a:pt x="952434" y="327221"/>
                </a:quadBezTo>
                <a:lnTo>
                  <a:pt x="936375" y="361772"/>
                </a:lnTo>
                <a:quadBezTo>
                  <a:pt x="893697" y="341935"/>
                  <a:pt x="846963" y="322014"/>
                </a:quadBezTo>
                <a:lnTo>
                  <a:pt x="861902" y="286966"/>
                </a:lnTo>
                <a:close/>
                <a:moveTo>
                  <a:pt x="1024062" y="361864"/>
                </a:moveTo>
                <a:quadBezTo>
                  <a:pt x="1070804" y="385423"/>
                  <a:pt x="1112862" y="409317"/>
                </a:quadBezTo>
                <a:lnTo>
                  <a:pt x="1094042" y="442444"/>
                </a:lnTo>
                <a:quadBezTo>
                  <a:pt x="1052808" y="419018"/>
                  <a:pt x="1006914" y="395887"/>
                </a:quadBezTo>
                <a:lnTo>
                  <a:pt x="1024062" y="361864"/>
                </a:lnTo>
                <a:close/>
                <a:moveTo>
                  <a:pt x="1181834" y="450696"/>
                </a:moveTo>
                <a:quadBezTo>
                  <a:pt x="1225449" y="478377"/>
                  <a:pt x="1264634" y="507454"/>
                </a:quadBezTo>
                <a:lnTo>
                  <a:pt x="1241930" y="538050"/>
                </a:lnTo>
                <a:quadBezTo>
                  <a:pt x="1203861" y="509802"/>
                  <a:pt x="1161418" y="482864"/>
                </a:quadBezTo>
                <a:lnTo>
                  <a:pt x="1181834" y="450696"/>
                </a:lnTo>
                <a:close/>
                <a:moveTo>
                  <a:pt x="1327612" y="557430"/>
                </a:moveTo>
                <a:quadBezTo>
                  <a:pt x="1365600" y="589679"/>
                  <a:pt x="1401952" y="626056"/>
                </a:quadBezTo>
                <a:lnTo>
                  <a:pt x="1375002" y="652988"/>
                </a:lnTo>
                <a:quadBezTo>
                  <a:pt x="1339753" y="617714"/>
                  <a:pt x="1302955" y="586476"/>
                </a:quadBezTo>
                <a:lnTo>
                  <a:pt x="1327612" y="557430"/>
                </a:lnTo>
                <a:close/>
                <a:moveTo>
                  <a:pt x="1456852" y="684161"/>
                </a:moveTo>
                <a:quadBezTo>
                  <a:pt x="1485344" y="715896"/>
                  <a:pt x="1521023" y="758980"/>
                </a:quadBezTo>
                <a:lnTo>
                  <a:pt x="1491678" y="783280"/>
                </a:lnTo>
                <a:quadBezTo>
                  <a:pt x="1456486" y="740784"/>
                  <a:pt x="1428502" y="709614"/>
                </a:quadBezTo>
                <a:lnTo>
                  <a:pt x="1456852" y="684161"/>
                </a:lnTo>
                <a:close/>
                <a:moveTo>
                  <a:pt x="1572139" y="821476"/>
                </a:moveTo>
                <a:quadBezTo>
                  <a:pt x="1610718" y="868900"/>
                  <a:pt x="1633072" y="895686"/>
                </a:quadBezTo>
                <a:lnTo>
                  <a:pt x="1603820" y="920098"/>
                </a:lnTo>
                <a:quadBezTo>
                  <a:pt x="1581311" y="893125"/>
                  <a:pt x="1542584" y="845519"/>
                </a:quadBezTo>
                <a:lnTo>
                  <a:pt x="1572139" y="821476"/>
                </a:lnTo>
                <a:close/>
              </a:path>
            </a:pathLst>
          </a:custGeom>
          <a:solidFill>
            <a:srgbClr val="D4A017"/>
          </a:solidFill>
          <a:ln>
            <a:noFill/>
          </a:ln>
        </p:spPr>
        <p:txBody>
          <a:bodyPr/>
          <a:lstStyle/>
          <a:p>
            <a:endParaRPr lang="en-US" sz="1200"/>
          </a:p>
        </p:txBody>
      </p:sp>
      <p:sp>
        <p:nvSpPr>
          <p:cNvPr id="25" name="Path"/>
          <p:cNvSpPr/>
          <p:nvPr/>
        </p:nvSpPr>
        <p:spPr>
          <a:xfrm>
            <a:off x="9073456" y="4243933"/>
            <a:ext cx="871765" cy="592338"/>
          </a:xfrm>
          <a:custGeom>
            <a:avLst/>
            <a:gdLst/>
            <a:ahLst/>
            <a:cxnLst/>
            <a:rect l="0" t="0" r="r" b="b"/>
            <a:pathLst>
              <a:path w="1307647" h="888507">
                <a:moveTo>
                  <a:pt x="21134" y="0"/>
                </a:moveTo>
                <a:quadBezTo>
                  <a:pt x="160253" y="92746"/>
                  <a:pt x="301470" y="184274"/>
                </a:quadBezTo>
                <a:quadBezTo>
                  <a:pt x="385039" y="238438"/>
                  <a:pt x="531424" y="332077"/>
                </a:quadBezTo>
                <a:quadBezTo>
                  <a:pt x="765337" y="481704"/>
                  <a:pt x="887161" y="563268"/>
                </a:quadBezTo>
                <a:quadBezTo>
                  <a:pt x="1084220" y="695202"/>
                  <a:pt x="1307647" y="857694"/>
                </a:quadBezTo>
                <a:lnTo>
                  <a:pt x="1285237" y="888507"/>
                </a:lnTo>
                <a:quadBezTo>
                  <a:pt x="1062409" y="726450"/>
                  <a:pt x="865964" y="594927"/>
                </a:quadBezTo>
                <a:quadBezTo>
                  <a:pt x="744470" y="513584"/>
                  <a:pt x="510894" y="364172"/>
                </a:quadBezTo>
                <a:quadBezTo>
                  <a:pt x="364409" y="270469"/>
                  <a:pt x="280748" y="216246"/>
                </a:quadBezTo>
                <a:quadBezTo>
                  <a:pt x="139325" y="124584"/>
                  <a:pt x="0" y="31701"/>
                </a:quadBezTo>
                <a:lnTo>
                  <a:pt x="21134" y="0"/>
                </a:lnTo>
                <a:close/>
              </a:path>
            </a:pathLst>
          </a:custGeom>
          <a:solidFill>
            <a:srgbClr val="F23F43"/>
          </a:solidFill>
          <a:ln>
            <a:noFill/>
          </a:ln>
        </p:spPr>
        <p:txBody>
          <a:bodyPr/>
          <a:lstStyle/>
          <a:p>
            <a:endParaRPr lang="en-US" sz="120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39C1DF7B-F67C-4802-98BA-9E663611A929}"/>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0"/>
            <a:ext cx="1055440" cy="1100206"/>
          </a:xfrm>
          <a:prstGeom prst="rect">
            <a:avLst/>
          </a:prstGeom>
        </p:spPr>
      </p:pic>
      <p:sp>
        <p:nvSpPr>
          <p:cNvPr id="4" name="文本框 3">
            <a:extLst>
              <a:ext uri="{FF2B5EF4-FFF2-40B4-BE49-F238E27FC236}">
                <a16:creationId xmlns:a16="http://schemas.microsoft.com/office/drawing/2014/main" id="{D458A61D-D60E-4F90-9EB3-028E91FA2A8B}"/>
              </a:ext>
            </a:extLst>
          </p:cNvPr>
          <p:cNvSpPr txBox="1"/>
          <p:nvPr/>
        </p:nvSpPr>
        <p:spPr>
          <a:xfrm>
            <a:off x="911424" y="260648"/>
            <a:ext cx="4464496" cy="584775"/>
          </a:xfrm>
          <a:prstGeom prst="rect">
            <a:avLst/>
          </a:prstGeom>
          <a:noFill/>
        </p:spPr>
        <p:txBody>
          <a:bodyPr wrap="square" rtlCol="0">
            <a:spAutoFit/>
          </a:bodyPr>
          <a:lstStyle>
            <a:defPPr>
              <a:defRPr lang="zh-CN"/>
            </a:defPPr>
            <a:lvl1pPr algn="dist">
              <a:defRPr sz="32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例子：</a:t>
            </a:r>
            <a:r>
              <a:rPr lang="en-US" altLang="zh-CN" dirty="0"/>
              <a:t>Intel-</a:t>
            </a:r>
            <a:r>
              <a:rPr lang="zh-CN" altLang="en-US" dirty="0"/>
              <a:t>至强</a:t>
            </a:r>
            <a:r>
              <a:rPr lang="en-US" altLang="zh-CN" dirty="0"/>
              <a:t>CPU</a:t>
            </a:r>
            <a:endParaRPr lang="zh-CN" altLang="en-US" dirty="0"/>
          </a:p>
        </p:txBody>
      </p:sp>
      <p:pic>
        <p:nvPicPr>
          <p:cNvPr id="22" name="图片 21">
            <a:extLst>
              <a:ext uri="{FF2B5EF4-FFF2-40B4-BE49-F238E27FC236}">
                <a16:creationId xmlns:a16="http://schemas.microsoft.com/office/drawing/2014/main" id="{E4442571-759D-5490-C1E2-56128621B86E}"/>
              </a:ext>
            </a:extLst>
          </p:cNvPr>
          <p:cNvPicPr>
            <a:picLocks noChangeAspect="1"/>
          </p:cNvPicPr>
          <p:nvPr/>
        </p:nvPicPr>
        <p:blipFill>
          <a:blip r:embed="rId4">
            <a:extLst>
              <a:ext uri="{28A0092B-C50C-407E-A947-70E740481C1C}">
                <a14:useLocalDpi xmlns:a14="http://schemas.microsoft.com/office/drawing/2010/main" val="0"/>
              </a:ext>
            </a:extLst>
          </a:blip>
          <a:srcRect b="28592"/>
          <a:stretch>
            <a:fillRect/>
          </a:stretch>
        </p:blipFill>
        <p:spPr>
          <a:xfrm>
            <a:off x="8760296" y="1281461"/>
            <a:ext cx="2955520" cy="4695816"/>
          </a:xfrm>
          <a:prstGeom prst="rect">
            <a:avLst/>
          </a:prstGeom>
        </p:spPr>
      </p:pic>
      <p:pic>
        <p:nvPicPr>
          <p:cNvPr id="24" name="图片 23">
            <a:extLst>
              <a:ext uri="{FF2B5EF4-FFF2-40B4-BE49-F238E27FC236}">
                <a16:creationId xmlns:a16="http://schemas.microsoft.com/office/drawing/2014/main" id="{E47153F3-FDA8-9864-2C7C-35B01E95CFE3}"/>
              </a:ext>
            </a:extLst>
          </p:cNvPr>
          <p:cNvPicPr>
            <a:picLocks noChangeAspect="1"/>
          </p:cNvPicPr>
          <p:nvPr/>
        </p:nvPicPr>
        <p:blipFill>
          <a:blip r:embed="rId5">
            <a:extLst>
              <a:ext uri="{28A0092B-C50C-407E-A947-70E740481C1C}">
                <a14:useLocalDpi xmlns:a14="http://schemas.microsoft.com/office/drawing/2010/main" val="0"/>
              </a:ext>
            </a:extLst>
          </a:blip>
          <a:srcRect b="25850"/>
          <a:stretch>
            <a:fillRect/>
          </a:stretch>
        </p:blipFill>
        <p:spPr>
          <a:xfrm>
            <a:off x="5663952" y="1296757"/>
            <a:ext cx="2836971" cy="4680520"/>
          </a:xfrm>
          <a:prstGeom prst="rect">
            <a:avLst/>
          </a:prstGeom>
        </p:spPr>
      </p:pic>
      <p:sp>
        <p:nvSpPr>
          <p:cNvPr id="26" name="文本框 25">
            <a:extLst>
              <a:ext uri="{FF2B5EF4-FFF2-40B4-BE49-F238E27FC236}">
                <a16:creationId xmlns:a16="http://schemas.microsoft.com/office/drawing/2014/main" id="{A7ECBACA-D73F-3E94-FE57-6DC1D589C057}"/>
              </a:ext>
            </a:extLst>
          </p:cNvPr>
          <p:cNvSpPr txBox="1"/>
          <p:nvPr/>
        </p:nvSpPr>
        <p:spPr>
          <a:xfrm>
            <a:off x="767408" y="1213323"/>
            <a:ext cx="4608512" cy="4832092"/>
          </a:xfrm>
          <a:prstGeom prst="rect">
            <a:avLst/>
          </a:prstGeom>
          <a:noFill/>
        </p:spPr>
        <p:txBody>
          <a:bodyPr wrap="square">
            <a:spAutoFit/>
          </a:bodyPr>
          <a:lstStyle/>
          <a:p>
            <a:r>
              <a:rPr lang="zh-CN" altLang="zh-CN" sz="2800" b="0" i="0" dirty="0">
                <a:solidFill>
                  <a:schemeClr val="tx1"/>
                </a:solidFill>
                <a:effectLst/>
                <a:latin typeface="+mn-lt"/>
              </a:rPr>
              <a:t>市面上流通的二手至强，尤其是E5系列，绝大部分是</a:t>
            </a:r>
            <a:r>
              <a:rPr lang="zh-CN" altLang="zh-CN" sz="2800" b="1" i="0" dirty="0">
                <a:solidFill>
                  <a:schemeClr val="tx1"/>
                </a:solidFill>
                <a:effectLst/>
                <a:latin typeface="+mn-lt"/>
              </a:rPr>
              <a:t>从海外数据中心批量淘汰的服务器上拆解下来的</a:t>
            </a:r>
            <a:r>
              <a:rPr lang="zh-CN" altLang="zh-CN" sz="2800" b="0" i="0" dirty="0">
                <a:solidFill>
                  <a:schemeClr val="tx1"/>
                </a:solidFill>
                <a:effectLst/>
                <a:latin typeface="+mn-lt"/>
              </a:rPr>
              <a:t>。它们在企业机房中通常已</a:t>
            </a:r>
            <a:r>
              <a:rPr lang="zh-CN" altLang="zh-CN" sz="2800" b="1" i="0" dirty="0">
                <a:solidFill>
                  <a:schemeClr val="tx1"/>
                </a:solidFill>
                <a:effectLst/>
                <a:latin typeface="+mn-lt"/>
              </a:rPr>
              <a:t>7×24小时不间断运行了5年以上</a:t>
            </a:r>
            <a:r>
              <a:rPr lang="zh-CN" altLang="zh-CN" sz="2800" b="0" i="0" dirty="0">
                <a:solidFill>
                  <a:schemeClr val="tx1"/>
                </a:solidFill>
                <a:effectLst/>
                <a:latin typeface="+mn-lt"/>
              </a:rPr>
              <a:t>，核心体质存在不同程度的物理损耗。这些芯片以“回收机、二手件”的形式大规模流入市场，其</a:t>
            </a:r>
            <a:r>
              <a:rPr lang="zh-CN" altLang="en-US" sz="2800" b="0" i="0" dirty="0">
                <a:solidFill>
                  <a:schemeClr val="tx1"/>
                </a:solidFill>
                <a:effectLst/>
                <a:latin typeface="+mn-lt"/>
              </a:rPr>
              <a:t>本就是</a:t>
            </a:r>
            <a:r>
              <a:rPr lang="zh-CN" altLang="zh-CN" sz="2800" b="0" i="0" dirty="0">
                <a:solidFill>
                  <a:schemeClr val="tx1"/>
                </a:solidFill>
                <a:effectLst/>
                <a:latin typeface="+mn-lt"/>
              </a:rPr>
              <a:t>“洋垃圾”（进口电子废弃物）的身份</a:t>
            </a:r>
            <a:r>
              <a:rPr lang="zh-CN" altLang="en-US" sz="2800" dirty="0"/>
              <a:t>。</a:t>
            </a:r>
          </a:p>
        </p:txBody>
      </p:sp>
    </p:spTree>
    <p:custDataLst>
      <p:tags r:id="rId1"/>
    </p:custDataLst>
    <p:extLst>
      <p:ext uri="{BB962C8B-B14F-4D97-AF65-F5344CB8AC3E}">
        <p14:creationId xmlns:p14="http://schemas.microsoft.com/office/powerpoint/2010/main" val="599329676"/>
      </p:ext>
    </p:extLst>
  </p:cSld>
  <p:clrMapOvr>
    <a:masterClrMapping/>
  </p:clrMapOvr>
  <mc:AlternateContent xmlns:mc="http://schemas.openxmlformats.org/markup-compatibility/2006" xmlns:p14="http://schemas.microsoft.com/office/powerpoint/2010/main">
    <mc:Choice Requires="p14">
      <p:transition spd="slow" p14:dur="1500" advTm="2574">
        <p:random/>
      </p:transition>
    </mc:Choice>
    <mc:Fallback xmlns="">
      <p:transition spd="slow" advTm="2574">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7BE0D81-A1AD-9491-C418-E6CC30CBEDF8}"/>
              </a:ext>
            </a:extLst>
          </p:cNvPr>
          <p:cNvSpPr txBox="1"/>
          <p:nvPr/>
        </p:nvSpPr>
        <p:spPr>
          <a:xfrm>
            <a:off x="911424" y="1268760"/>
            <a:ext cx="4392488" cy="4524315"/>
          </a:xfrm>
          <a:prstGeom prst="rect">
            <a:avLst/>
          </a:prstGeom>
          <a:noFill/>
        </p:spPr>
        <p:txBody>
          <a:bodyPr wrap="square">
            <a:spAutoFit/>
          </a:bodyPr>
          <a:lstStyle/>
          <a:p>
            <a:r>
              <a:rPr lang="zh-CN" altLang="zh-CN" sz="2400" b="0" i="0" dirty="0">
                <a:solidFill>
                  <a:schemeClr val="tx1"/>
                </a:solidFill>
                <a:effectLst/>
                <a:latin typeface="+mn-lt"/>
              </a:rPr>
              <a:t>它们的共性在于</a:t>
            </a:r>
            <a:r>
              <a:rPr lang="zh-CN" altLang="zh-CN" sz="2400" b="1" i="0" dirty="0">
                <a:solidFill>
                  <a:schemeClr val="tx1"/>
                </a:solidFill>
                <a:effectLst/>
                <a:latin typeface="+mn-lt"/>
              </a:rPr>
              <a:t>风险源于“非正规渠道的再利用”</a:t>
            </a:r>
            <a:r>
              <a:rPr lang="zh-CN" altLang="zh-CN" sz="2400" b="0" i="0" dirty="0">
                <a:solidFill>
                  <a:schemeClr val="tx1"/>
                </a:solidFill>
                <a:effectLst/>
                <a:latin typeface="+mn-lt"/>
              </a:rPr>
              <a:t>。而索尼手机的风险则来自跨境水货的混乱、拼装翻新以及特定硬件的自然老化。两者都要求购买者具备远超普通消费者的鉴别能力。</a:t>
            </a:r>
            <a:r>
              <a:rPr lang="zh-CN" altLang="zh-CN" sz="2400" dirty="0"/>
              <a:t>索尼手机，特别是老旧型号，也常被归类为“洋垃圾”。索尼手机，尤其是二手 Xperia 系列，确实是二手市场里一个</a:t>
            </a:r>
            <a:r>
              <a:rPr lang="zh-CN" altLang="zh-CN" sz="2400" b="1" dirty="0"/>
              <a:t>信息高度不对称、翻新与造假混杂的“深水区”</a:t>
            </a:r>
            <a:r>
              <a:rPr lang="zh-CN" altLang="zh-CN" sz="2400" dirty="0"/>
              <a:t>。</a:t>
            </a:r>
            <a:endParaRPr lang="zh-CN" altLang="en-US" sz="2400" dirty="0"/>
          </a:p>
        </p:txBody>
      </p:sp>
      <p:sp>
        <p:nvSpPr>
          <p:cNvPr id="5" name="文本框 4">
            <a:extLst>
              <a:ext uri="{FF2B5EF4-FFF2-40B4-BE49-F238E27FC236}">
                <a16:creationId xmlns:a16="http://schemas.microsoft.com/office/drawing/2014/main" id="{33FE7E68-61D7-7605-1132-B8840D833602}"/>
              </a:ext>
            </a:extLst>
          </p:cNvPr>
          <p:cNvSpPr txBox="1"/>
          <p:nvPr/>
        </p:nvSpPr>
        <p:spPr>
          <a:xfrm>
            <a:off x="335360" y="413966"/>
            <a:ext cx="6048672" cy="584775"/>
          </a:xfrm>
          <a:prstGeom prst="rect">
            <a:avLst/>
          </a:prstGeom>
          <a:noFill/>
        </p:spPr>
        <p:txBody>
          <a:bodyPr wrap="square" rtlCol="0">
            <a:spAutoFit/>
          </a:bodyPr>
          <a:lstStyle>
            <a:defPPr>
              <a:defRPr lang="zh-CN"/>
            </a:defPPr>
            <a:lvl1pPr algn="dist">
              <a:defRPr sz="32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例子：</a:t>
            </a:r>
            <a:r>
              <a:rPr lang="en-US" altLang="zh-CN" dirty="0"/>
              <a:t>SNOY</a:t>
            </a:r>
            <a:r>
              <a:rPr lang="zh-CN" altLang="en-US" dirty="0"/>
              <a:t>手机</a:t>
            </a:r>
            <a:r>
              <a:rPr lang="en-US" altLang="zh-CN" dirty="0"/>
              <a:t>-Xperia</a:t>
            </a:r>
            <a:r>
              <a:rPr lang="zh-CN" altLang="en-US" dirty="0"/>
              <a:t>系列</a:t>
            </a:r>
          </a:p>
        </p:txBody>
      </p:sp>
      <p:pic>
        <p:nvPicPr>
          <p:cNvPr id="7" name="图片 6">
            <a:extLst>
              <a:ext uri="{FF2B5EF4-FFF2-40B4-BE49-F238E27FC236}">
                <a16:creationId xmlns:a16="http://schemas.microsoft.com/office/drawing/2014/main" id="{C5925116-9EB4-C8AA-5E1C-8DECB48B2979}"/>
              </a:ext>
            </a:extLst>
          </p:cNvPr>
          <p:cNvPicPr>
            <a:picLocks noChangeAspect="1"/>
          </p:cNvPicPr>
          <p:nvPr/>
        </p:nvPicPr>
        <p:blipFill>
          <a:blip r:embed="rId2">
            <a:extLst>
              <a:ext uri="{28A0092B-C50C-407E-A947-70E740481C1C}">
                <a14:useLocalDpi xmlns:a14="http://schemas.microsoft.com/office/drawing/2010/main" val="0"/>
              </a:ext>
            </a:extLst>
          </a:blip>
          <a:srcRect b="35951"/>
          <a:stretch>
            <a:fillRect/>
          </a:stretch>
        </p:blipFill>
        <p:spPr>
          <a:xfrm>
            <a:off x="5663952" y="1398378"/>
            <a:ext cx="2952328" cy="4207341"/>
          </a:xfrm>
          <a:prstGeom prst="rect">
            <a:avLst/>
          </a:prstGeom>
        </p:spPr>
      </p:pic>
      <p:pic>
        <p:nvPicPr>
          <p:cNvPr id="9" name="图片 8">
            <a:extLst>
              <a:ext uri="{FF2B5EF4-FFF2-40B4-BE49-F238E27FC236}">
                <a16:creationId xmlns:a16="http://schemas.microsoft.com/office/drawing/2014/main" id="{4BBC9D70-7B68-8805-EAE5-AF0382B32F17}"/>
              </a:ext>
            </a:extLst>
          </p:cNvPr>
          <p:cNvPicPr>
            <a:picLocks noChangeAspect="1"/>
          </p:cNvPicPr>
          <p:nvPr/>
        </p:nvPicPr>
        <p:blipFill>
          <a:blip r:embed="rId3">
            <a:extLst>
              <a:ext uri="{28A0092B-C50C-407E-A947-70E740481C1C}">
                <a14:useLocalDpi xmlns:a14="http://schemas.microsoft.com/office/drawing/2010/main" val="0"/>
              </a:ext>
            </a:extLst>
          </a:blip>
          <a:srcRect b="35951"/>
          <a:stretch>
            <a:fillRect/>
          </a:stretch>
        </p:blipFill>
        <p:spPr>
          <a:xfrm>
            <a:off x="8832304" y="1419404"/>
            <a:ext cx="2890235" cy="4118854"/>
          </a:xfrm>
          <a:prstGeom prst="rect">
            <a:avLst/>
          </a:prstGeom>
        </p:spPr>
      </p:pic>
    </p:spTree>
    <p:extLst>
      <p:ext uri="{BB962C8B-B14F-4D97-AF65-F5344CB8AC3E}">
        <p14:creationId xmlns:p14="http://schemas.microsoft.com/office/powerpoint/2010/main" val="1207308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39C1DF7B-F67C-4802-98BA-9E663611A929}"/>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0"/>
            <a:ext cx="1055440" cy="1100206"/>
          </a:xfrm>
          <a:prstGeom prst="rect">
            <a:avLst/>
          </a:prstGeom>
        </p:spPr>
      </p:pic>
      <p:sp>
        <p:nvSpPr>
          <p:cNvPr id="4" name="文本框 3">
            <a:extLst>
              <a:ext uri="{FF2B5EF4-FFF2-40B4-BE49-F238E27FC236}">
                <a16:creationId xmlns:a16="http://schemas.microsoft.com/office/drawing/2014/main" id="{D458A61D-D60E-4F90-9EB3-028E91FA2A8B}"/>
              </a:ext>
            </a:extLst>
          </p:cNvPr>
          <p:cNvSpPr txBox="1"/>
          <p:nvPr/>
        </p:nvSpPr>
        <p:spPr>
          <a:xfrm>
            <a:off x="911424" y="260648"/>
            <a:ext cx="4464496" cy="584775"/>
          </a:xfrm>
          <a:prstGeom prst="rect">
            <a:avLst/>
          </a:prstGeom>
          <a:noFill/>
        </p:spPr>
        <p:txBody>
          <a:bodyPr wrap="square" rtlCol="0">
            <a:spAutoFit/>
          </a:bodyPr>
          <a:lstStyle>
            <a:defPPr>
              <a:defRPr lang="zh-CN"/>
            </a:defPPr>
            <a:lvl1pPr algn="dist">
              <a:defRPr sz="32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好中有坏</a:t>
            </a:r>
          </a:p>
        </p:txBody>
      </p:sp>
      <p:sp>
        <p:nvSpPr>
          <p:cNvPr id="37" name="文本框 36">
            <a:extLst>
              <a:ext uri="{FF2B5EF4-FFF2-40B4-BE49-F238E27FC236}">
                <a16:creationId xmlns:a16="http://schemas.microsoft.com/office/drawing/2014/main" id="{DCBEAE64-3498-7E7C-CE60-ABC38BAE91E8}"/>
              </a:ext>
            </a:extLst>
          </p:cNvPr>
          <p:cNvSpPr txBox="1"/>
          <p:nvPr/>
        </p:nvSpPr>
        <p:spPr>
          <a:xfrm>
            <a:off x="695400" y="1100206"/>
            <a:ext cx="11037172" cy="5144998"/>
          </a:xfrm>
          <a:prstGeom prst="rect">
            <a:avLst/>
          </a:prstGeom>
          <a:noFill/>
        </p:spPr>
        <p:txBody>
          <a:bodyPr wrap="square">
            <a:spAutoFit/>
          </a:bodyPr>
          <a:lstStyle/>
          <a:p>
            <a:pPr marL="0" marR="0" indent="0" algn="l">
              <a:lnSpc>
                <a:spcPct val="100000"/>
              </a:lnSpc>
              <a:spcBef>
                <a:spcPts val="2400"/>
              </a:spcBef>
              <a:spcAft>
                <a:spcPts val="1200"/>
              </a:spcAft>
              <a:buNone/>
            </a:pPr>
            <a:r>
              <a:rPr lang="zh-CN" altLang="zh-CN" sz="2800" b="1" dirty="0">
                <a:solidFill>
                  <a:schemeClr val="tx1"/>
                </a:solidFill>
                <a:effectLst/>
                <a:latin typeface="+mn-lt"/>
              </a:rPr>
              <a:t>♻️ 理论上的“好处”：真实的资源与环境红利</a:t>
            </a:r>
          </a:p>
          <a:p>
            <a:pPr marL="0" marR="0" indent="0" algn="l">
              <a:spcBef>
                <a:spcPts val="1200"/>
              </a:spcBef>
              <a:spcAft>
                <a:spcPts val="1200"/>
              </a:spcAft>
              <a:buNone/>
            </a:pPr>
            <a:r>
              <a:rPr lang="zh-CN" altLang="zh-CN" sz="2800" b="0" i="0" dirty="0">
                <a:solidFill>
                  <a:schemeClr val="tx1"/>
                </a:solidFill>
                <a:effectLst/>
                <a:latin typeface="+mn-lt"/>
              </a:rPr>
              <a:t>如果二手电子产品能在</a:t>
            </a:r>
            <a:r>
              <a:rPr lang="zh-CN" altLang="zh-CN" sz="2800" b="1" i="0" dirty="0">
                <a:solidFill>
                  <a:schemeClr val="tx1"/>
                </a:solidFill>
                <a:effectLst/>
                <a:latin typeface="+mn-lt"/>
              </a:rPr>
              <a:t>相对透明、可追溯的框架内</a:t>
            </a:r>
            <a:r>
              <a:rPr lang="zh-CN" altLang="zh-CN" sz="2800" b="0" i="0" dirty="0">
                <a:solidFill>
                  <a:schemeClr val="tx1"/>
                </a:solidFill>
                <a:effectLst/>
                <a:latin typeface="+mn-lt"/>
              </a:rPr>
              <a:t>流通，其循环经济价值是实实在在的。</a:t>
            </a:r>
          </a:p>
          <a:p>
            <a:pPr marL="0" marR="0" lvl="0" indent="-342900" algn="l">
              <a:spcBef>
                <a:spcPts val="450"/>
              </a:spcBef>
              <a:spcAft>
                <a:spcPts val="1200"/>
              </a:spcAft>
              <a:buFont typeface="Arial" panose="020B0604020202020204" pitchFamily="34" charset="0"/>
              <a:buChar char="•"/>
            </a:pPr>
            <a:r>
              <a:rPr lang="zh-CN" altLang="zh-CN" sz="2800" b="1" i="0" dirty="0">
                <a:solidFill>
                  <a:schemeClr val="tx1"/>
                </a:solidFill>
                <a:effectLst/>
                <a:latin typeface="+mn-lt"/>
              </a:rPr>
              <a:t>可量化的碳减排</a:t>
            </a:r>
            <a:r>
              <a:rPr lang="zh-CN" altLang="zh-CN" sz="2800" b="0" i="0" dirty="0">
                <a:solidFill>
                  <a:schemeClr val="tx1"/>
                </a:solidFill>
                <a:effectLst/>
                <a:latin typeface="+mn-lt"/>
              </a:rPr>
              <a:t>：延长电子产品的使用寿命，避免了制造新机所带来的巨大碳排放。每完成一单二手手机交易，可实现约</a:t>
            </a:r>
            <a:r>
              <a:rPr lang="zh-CN" altLang="zh-CN" sz="2800" b="1" i="0" dirty="0">
                <a:solidFill>
                  <a:schemeClr val="tx1"/>
                </a:solidFill>
                <a:effectLst/>
                <a:latin typeface="+mn-lt"/>
              </a:rPr>
              <a:t>25公斤的碳减排</a:t>
            </a:r>
            <a:r>
              <a:rPr lang="zh-CN" altLang="zh-CN" sz="2800" b="0" i="0" dirty="0">
                <a:solidFill>
                  <a:schemeClr val="tx1"/>
                </a:solidFill>
                <a:effectLst/>
                <a:latin typeface="+mn-lt"/>
              </a:rPr>
              <a:t>，相当于一棵树一年多的固碳量。每回收1吨废旧家电，拆解出的再生资源可减少约</a:t>
            </a:r>
            <a:r>
              <a:rPr lang="zh-CN" altLang="zh-CN" sz="2800" b="1" i="0" dirty="0">
                <a:solidFill>
                  <a:schemeClr val="tx1"/>
                </a:solidFill>
                <a:effectLst/>
                <a:latin typeface="+mn-lt"/>
              </a:rPr>
              <a:t>4.7吨</a:t>
            </a:r>
            <a:r>
              <a:rPr lang="zh-CN" altLang="zh-CN" sz="2800" b="0" i="0" dirty="0">
                <a:solidFill>
                  <a:schemeClr val="tx1"/>
                </a:solidFill>
                <a:effectLst/>
                <a:latin typeface="+mn-lt"/>
              </a:rPr>
              <a:t>温室气体排放。</a:t>
            </a:r>
          </a:p>
          <a:p>
            <a:pPr marL="0" marR="0" lvl="0" indent="-342900" algn="l">
              <a:spcBef>
                <a:spcPts val="450"/>
              </a:spcBef>
              <a:spcAft>
                <a:spcPts val="1200"/>
              </a:spcAft>
              <a:buFont typeface="Arial" panose="020B0604020202020204" pitchFamily="34" charset="0"/>
              <a:buChar char="•"/>
            </a:pPr>
            <a:r>
              <a:rPr lang="zh-CN" altLang="zh-CN" sz="2800" b="1" i="0" dirty="0">
                <a:solidFill>
                  <a:schemeClr val="tx1"/>
                </a:solidFill>
                <a:effectLst/>
                <a:latin typeface="+mn-lt"/>
              </a:rPr>
              <a:t>满足低预算生产力需求</a:t>
            </a:r>
            <a:r>
              <a:rPr lang="zh-CN" altLang="zh-CN" sz="2800" b="0" i="0" dirty="0">
                <a:solidFill>
                  <a:schemeClr val="tx1"/>
                </a:solidFill>
                <a:effectLst/>
                <a:latin typeface="+mn-lt"/>
              </a:rPr>
              <a:t>：二手至强CPU在虚拟机多开、软路由等</a:t>
            </a:r>
            <a:r>
              <a:rPr lang="zh-CN" altLang="zh-CN" sz="2800" b="1" i="0" dirty="0">
                <a:solidFill>
                  <a:schemeClr val="tx1"/>
                </a:solidFill>
                <a:effectLst/>
                <a:latin typeface="+mn-lt"/>
              </a:rPr>
              <a:t>纯多核吞吐</a:t>
            </a:r>
            <a:r>
              <a:rPr lang="zh-CN" altLang="zh-CN" sz="2800" b="0" i="0" dirty="0">
                <a:solidFill>
                  <a:schemeClr val="tx1"/>
                </a:solidFill>
                <a:effectLst/>
                <a:latin typeface="+mn-lt"/>
              </a:rPr>
              <a:t>场景中，以极低成本提供了可观算力；二手手机则为预算敏感群体提供了使用功能尚可的设备。这本身是“再利用”原则的体现。</a:t>
            </a:r>
            <a:endParaRPr lang="zh-CN" altLang="zh-CN" b="0" i="0" dirty="0">
              <a:solidFill>
                <a:srgbClr val="0F1115"/>
              </a:solidFill>
              <a:effectLst/>
              <a:latin typeface="quote-cjk-patch"/>
            </a:endParaRPr>
          </a:p>
        </p:txBody>
      </p:sp>
    </p:spTree>
    <p:custDataLst>
      <p:tags r:id="rId1"/>
    </p:custDataLst>
    <p:extLst>
      <p:ext uri="{BB962C8B-B14F-4D97-AF65-F5344CB8AC3E}">
        <p14:creationId xmlns:p14="http://schemas.microsoft.com/office/powerpoint/2010/main" val="3896375847"/>
      </p:ext>
    </p:extLst>
  </p:cSld>
  <p:clrMapOvr>
    <a:masterClrMapping/>
  </p:clrMapOvr>
  <mc:AlternateContent xmlns:mc="http://schemas.openxmlformats.org/markup-compatibility/2006" xmlns:p14="http://schemas.microsoft.com/office/powerpoint/2010/main">
    <mc:Choice Requires="p14">
      <p:transition spd="slow" p14:dur="1500" advTm="1073">
        <p:random/>
      </p:transition>
    </mc:Choice>
    <mc:Fallback xmlns="">
      <p:transition spd="slow" advTm="1073">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C8631-3B33-72F1-46E4-998495999FD9}"/>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EAD7909C-504B-A154-3F13-DFF18E484D9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0"/>
            <a:ext cx="1055440" cy="1100206"/>
          </a:xfrm>
          <a:prstGeom prst="rect">
            <a:avLst/>
          </a:prstGeom>
        </p:spPr>
      </p:pic>
      <p:sp>
        <p:nvSpPr>
          <p:cNvPr id="4" name="文本框 3">
            <a:extLst>
              <a:ext uri="{FF2B5EF4-FFF2-40B4-BE49-F238E27FC236}">
                <a16:creationId xmlns:a16="http://schemas.microsoft.com/office/drawing/2014/main" id="{1DF90F39-4D37-71A4-7560-D2E572694E18}"/>
              </a:ext>
            </a:extLst>
          </p:cNvPr>
          <p:cNvSpPr txBox="1"/>
          <p:nvPr/>
        </p:nvSpPr>
        <p:spPr>
          <a:xfrm>
            <a:off x="911424" y="260648"/>
            <a:ext cx="4464496" cy="584775"/>
          </a:xfrm>
          <a:prstGeom prst="rect">
            <a:avLst/>
          </a:prstGeom>
          <a:noFill/>
        </p:spPr>
        <p:txBody>
          <a:bodyPr wrap="square" rtlCol="0">
            <a:spAutoFit/>
          </a:bodyPr>
          <a:lstStyle>
            <a:defPPr>
              <a:defRPr lang="zh-CN"/>
            </a:defPPr>
            <a:lvl1pPr algn="dist">
              <a:defRPr sz="32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好中有坏</a:t>
            </a:r>
          </a:p>
        </p:txBody>
      </p:sp>
      <p:sp>
        <p:nvSpPr>
          <p:cNvPr id="5" name="文本框 4">
            <a:extLst>
              <a:ext uri="{FF2B5EF4-FFF2-40B4-BE49-F238E27FC236}">
                <a16:creationId xmlns:a16="http://schemas.microsoft.com/office/drawing/2014/main" id="{AFD00B81-34CD-5365-5796-F52493870993}"/>
              </a:ext>
            </a:extLst>
          </p:cNvPr>
          <p:cNvSpPr txBox="1"/>
          <p:nvPr/>
        </p:nvSpPr>
        <p:spPr>
          <a:xfrm>
            <a:off x="695400" y="1196752"/>
            <a:ext cx="10801200" cy="4770537"/>
          </a:xfrm>
          <a:prstGeom prst="rect">
            <a:avLst/>
          </a:prstGeom>
          <a:noFill/>
        </p:spPr>
        <p:txBody>
          <a:bodyPr wrap="square">
            <a:spAutoFit/>
          </a:bodyPr>
          <a:lstStyle/>
          <a:p>
            <a:pPr marL="0" marR="0" indent="0" algn="l">
              <a:lnSpc>
                <a:spcPct val="100000"/>
              </a:lnSpc>
              <a:spcBef>
                <a:spcPts val="2400"/>
              </a:spcBef>
              <a:spcAft>
                <a:spcPts val="1200"/>
              </a:spcAft>
              <a:buNone/>
            </a:pPr>
            <a:r>
              <a:rPr lang="zh-CN" altLang="zh-CN" sz="2400" b="1" dirty="0">
                <a:solidFill>
                  <a:schemeClr val="tx1"/>
                </a:solidFill>
                <a:effectLst/>
                <a:latin typeface="+mn-lt"/>
              </a:rPr>
              <a:t>☠️ 实践中的“坏处”：被转嫁的代价与异化的循环</a:t>
            </a:r>
          </a:p>
          <a:p>
            <a:pPr marL="0" marR="0" indent="0" algn="l">
              <a:spcBef>
                <a:spcPts val="1200"/>
              </a:spcBef>
              <a:spcAft>
                <a:spcPts val="1200"/>
              </a:spcAft>
              <a:buNone/>
            </a:pPr>
            <a:r>
              <a:rPr lang="zh-CN" altLang="zh-CN" sz="2400" b="1" i="0" dirty="0">
                <a:solidFill>
                  <a:schemeClr val="tx1"/>
                </a:solidFill>
                <a:effectLst/>
                <a:latin typeface="+mn-lt"/>
              </a:rPr>
              <a:t>非正规流通将循环经济的“再利用”异化成了“污染转移”与“欺诈性循环”</a:t>
            </a:r>
            <a:r>
              <a:rPr lang="zh-CN" altLang="zh-CN" sz="2400" b="0" i="0" dirty="0">
                <a:solidFill>
                  <a:schemeClr val="tx1"/>
                </a:solidFill>
                <a:effectLst/>
                <a:latin typeface="+mn-lt"/>
              </a:rPr>
              <a:t>。</a:t>
            </a:r>
          </a:p>
          <a:p>
            <a:pPr marL="0" marR="0" indent="0" algn="l">
              <a:spcBef>
                <a:spcPts val="1200"/>
              </a:spcBef>
              <a:spcAft>
                <a:spcPts val="1200"/>
              </a:spcAft>
              <a:buNone/>
            </a:pPr>
            <a:r>
              <a:rPr lang="zh-CN" altLang="zh-CN" sz="2400" b="1" i="0" dirty="0">
                <a:solidFill>
                  <a:schemeClr val="tx1"/>
                </a:solidFill>
                <a:effectLst/>
                <a:latin typeface="+mn-lt"/>
              </a:rPr>
              <a:t>市场代价：“恶性循环”对正规循环经济的侵蚀</a:t>
            </a:r>
            <a:br>
              <a:rPr lang="zh-CN" altLang="zh-CN" sz="2400" b="0" i="0" dirty="0">
                <a:solidFill>
                  <a:schemeClr val="tx1"/>
                </a:solidFill>
                <a:effectLst/>
                <a:latin typeface="+mn-lt"/>
              </a:rPr>
            </a:br>
            <a:r>
              <a:rPr lang="zh-CN" altLang="zh-CN" sz="2400" b="0" i="0" dirty="0">
                <a:solidFill>
                  <a:schemeClr val="tx1"/>
                </a:solidFill>
                <a:effectLst/>
                <a:latin typeface="+mn-lt"/>
              </a:rPr>
              <a:t>更隐蔽的坏处在于，灰色流通本身会</a:t>
            </a:r>
            <a:r>
              <a:rPr lang="zh-CN" altLang="zh-CN" sz="2400" b="1" i="0" dirty="0">
                <a:solidFill>
                  <a:schemeClr val="tx1"/>
                </a:solidFill>
                <a:effectLst/>
                <a:latin typeface="+mn-lt"/>
              </a:rPr>
              <a:t>挤压正规循环经济的生存空间</a:t>
            </a:r>
            <a:r>
              <a:rPr lang="zh-CN" altLang="zh-CN" sz="2400" b="0" i="0" dirty="0">
                <a:solidFill>
                  <a:schemeClr val="tx1"/>
                </a:solidFill>
                <a:effectLst/>
                <a:latin typeface="+mn-lt"/>
              </a:rPr>
              <a:t>。正规拆解企业的成本比非正规拆解高出约</a:t>
            </a:r>
            <a:r>
              <a:rPr lang="zh-CN" altLang="zh-CN" sz="2400" b="1" i="0" dirty="0">
                <a:solidFill>
                  <a:schemeClr val="tx1"/>
                </a:solidFill>
                <a:effectLst/>
                <a:latin typeface="+mn-lt"/>
              </a:rPr>
              <a:t>30元/台</a:t>
            </a:r>
            <a:r>
              <a:rPr lang="zh-CN" altLang="zh-CN" sz="2400" b="0" i="0" dirty="0">
                <a:solidFill>
                  <a:schemeClr val="tx1"/>
                </a:solidFill>
                <a:effectLst/>
                <a:latin typeface="+mn-lt"/>
              </a:rPr>
              <a:t>，而灰色渠道能以更高价格截流废旧设备，导致正规企业“吃不饱”、产能闲置。与此同时，翻新造假行为——如将低端至强CPU打磨后冒充高端型号、用旧部件拼装手机冒充全新机——构成了学术界所称的</a:t>
            </a:r>
            <a:r>
              <a:rPr lang="zh-CN" altLang="zh-CN" sz="2400" b="1" i="0" dirty="0">
                <a:solidFill>
                  <a:schemeClr val="tx1"/>
                </a:solidFill>
                <a:effectLst/>
                <a:latin typeface="+mn-lt"/>
              </a:rPr>
              <a:t>“循环经济恶性循环”（malignant circle of circular economy）</a:t>
            </a:r>
            <a:r>
              <a:rPr lang="zh-CN" altLang="zh-CN" sz="2400" b="0" i="0" dirty="0">
                <a:solidFill>
                  <a:schemeClr val="tx1"/>
                </a:solidFill>
                <a:effectLst/>
                <a:latin typeface="+mn-lt"/>
              </a:rPr>
              <a:t>：翻新、回收、转售等本应服务于可持续性的实践，被逐利者扭曲为欺诈和非法获利的手段。这不仅直接损害消费者，更从根本上</a:t>
            </a:r>
            <a:r>
              <a:rPr lang="zh-CN" altLang="zh-CN" sz="2400" b="1" i="0" dirty="0">
                <a:solidFill>
                  <a:schemeClr val="tx1"/>
                </a:solidFill>
                <a:effectLst/>
                <a:latin typeface="+mn-lt"/>
              </a:rPr>
              <a:t>侵蚀了公众对“二手”与“翻新”的信任</a:t>
            </a:r>
            <a:r>
              <a:rPr lang="zh-CN" altLang="zh-CN" sz="2400" b="0" i="0" dirty="0">
                <a:solidFill>
                  <a:schemeClr val="tx1"/>
                </a:solidFill>
                <a:effectLst/>
                <a:latin typeface="+mn-lt"/>
              </a:rPr>
              <a:t>，使得真正合规的再利用产品也难以获得市场认可。</a:t>
            </a:r>
            <a:endParaRPr lang="zh-CN" altLang="zh-CN" sz="1600" b="0" i="0" dirty="0">
              <a:solidFill>
                <a:srgbClr val="0F1115"/>
              </a:solidFill>
              <a:effectLst/>
              <a:latin typeface="quote-cjk-patch"/>
            </a:endParaRPr>
          </a:p>
        </p:txBody>
      </p:sp>
    </p:spTree>
    <p:custDataLst>
      <p:tags r:id="rId1"/>
    </p:custDataLst>
    <p:extLst>
      <p:ext uri="{BB962C8B-B14F-4D97-AF65-F5344CB8AC3E}">
        <p14:creationId xmlns:p14="http://schemas.microsoft.com/office/powerpoint/2010/main" val="3529868560"/>
      </p:ext>
    </p:extLst>
  </p:cSld>
  <p:clrMapOvr>
    <a:masterClrMapping/>
  </p:clrMapOvr>
  <mc:AlternateContent xmlns:mc="http://schemas.openxmlformats.org/markup-compatibility/2006" xmlns:p14="http://schemas.microsoft.com/office/powerpoint/2010/main">
    <mc:Choice Requires="p14">
      <p:transition spd="slow" p14:dur="1500" advTm="1073">
        <p:random/>
      </p:transition>
    </mc:Choice>
    <mc:Fallback xmlns="">
      <p:transition spd="slow" advTm="1073">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3D4FE47-6176-42DF-AF6A-E65BA002F037}"/>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5400000">
            <a:off x="2661432" y="-2672567"/>
            <a:ext cx="6858001" cy="12203137"/>
          </a:xfrm>
          <a:prstGeom prst="rect">
            <a:avLst/>
          </a:prstGeom>
        </p:spPr>
      </p:pic>
      <p:grpSp>
        <p:nvGrpSpPr>
          <p:cNvPr id="4" name="组合 3">
            <a:extLst>
              <a:ext uri="{FF2B5EF4-FFF2-40B4-BE49-F238E27FC236}">
                <a16:creationId xmlns:a16="http://schemas.microsoft.com/office/drawing/2014/main" id="{42E080B4-AE44-4D2B-AC2F-135C48CEF4DC}"/>
              </a:ext>
            </a:extLst>
          </p:cNvPr>
          <p:cNvGrpSpPr/>
          <p:nvPr/>
        </p:nvGrpSpPr>
        <p:grpSpPr>
          <a:xfrm>
            <a:off x="288486" y="218147"/>
            <a:ext cx="1559041" cy="369332"/>
            <a:chOff x="379717" y="372035"/>
            <a:chExt cx="1559041" cy="369332"/>
          </a:xfrm>
        </p:grpSpPr>
        <p:sp>
          <p:nvSpPr>
            <p:cNvPr id="5" name="椭圆 4">
              <a:extLst>
                <a:ext uri="{FF2B5EF4-FFF2-40B4-BE49-F238E27FC236}">
                  <a16:creationId xmlns:a16="http://schemas.microsoft.com/office/drawing/2014/main" id="{330731AF-D13F-47F2-BC31-09BE5E9B7209}"/>
                </a:ext>
              </a:extLst>
            </p:cNvPr>
            <p:cNvSpPr/>
            <p:nvPr/>
          </p:nvSpPr>
          <p:spPr>
            <a:xfrm>
              <a:off x="379717" y="404664"/>
              <a:ext cx="304075" cy="304075"/>
            </a:xfrm>
            <a:prstGeom prst="ellipse">
              <a:avLst/>
            </a:prstGeom>
            <a:solidFill>
              <a:schemeClr val="tx1">
                <a:lumMod val="85000"/>
                <a:lumOff val="15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0E1CCB0D-3E73-4E3E-B588-63370728320A}"/>
                </a:ext>
              </a:extLst>
            </p:cNvPr>
            <p:cNvSpPr txBox="1"/>
            <p:nvPr/>
          </p:nvSpPr>
          <p:spPr>
            <a:xfrm>
              <a:off x="683791" y="372035"/>
              <a:ext cx="1254967" cy="369332"/>
            </a:xfrm>
            <a:prstGeom prst="rect">
              <a:avLst/>
            </a:prstGeom>
            <a:noFill/>
          </p:spPr>
          <p:txBody>
            <a:bodyPr wrap="square" rtlCol="0">
              <a:spAutoFit/>
            </a:bodyPr>
            <a:lstStyle/>
            <a:p>
              <a:r>
                <a:rPr lang="en-US" altLang="zh-CN"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WSOAEY</a:t>
              </a:r>
              <a:endParaRPr lang="zh-CN" altLang="en-US"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endParaRPr>
            </a:p>
          </p:txBody>
        </p:sp>
      </p:grpSp>
      <p:grpSp>
        <p:nvGrpSpPr>
          <p:cNvPr id="21" name="组合 20">
            <a:extLst>
              <a:ext uri="{FF2B5EF4-FFF2-40B4-BE49-F238E27FC236}">
                <a16:creationId xmlns:a16="http://schemas.microsoft.com/office/drawing/2014/main" id="{09A43C20-71D5-4CA6-83D7-C6D033211DCE}"/>
              </a:ext>
            </a:extLst>
          </p:cNvPr>
          <p:cNvGrpSpPr/>
          <p:nvPr/>
        </p:nvGrpSpPr>
        <p:grpSpPr>
          <a:xfrm>
            <a:off x="2745907" y="2204864"/>
            <a:ext cx="6700184" cy="2074054"/>
            <a:chOff x="2745907" y="1929985"/>
            <a:chExt cx="6700184" cy="2074054"/>
          </a:xfrm>
        </p:grpSpPr>
        <p:sp>
          <p:nvSpPr>
            <p:cNvPr id="22" name="文本框 21">
              <a:extLst>
                <a:ext uri="{FF2B5EF4-FFF2-40B4-BE49-F238E27FC236}">
                  <a16:creationId xmlns:a16="http://schemas.microsoft.com/office/drawing/2014/main" id="{1E4AEDF9-F15C-49D7-A83C-1405DB53D2EC}"/>
                </a:ext>
              </a:extLst>
            </p:cNvPr>
            <p:cNvSpPr txBox="1"/>
            <p:nvPr/>
          </p:nvSpPr>
          <p:spPr>
            <a:xfrm>
              <a:off x="3843564" y="1929985"/>
              <a:ext cx="4504871" cy="1323439"/>
            </a:xfrm>
            <a:prstGeom prst="rect">
              <a:avLst/>
            </a:prstGeom>
            <a:noFill/>
          </p:spPr>
          <p:txBody>
            <a:bodyPr wrap="square" rtlCol="0">
              <a:spAutoFit/>
            </a:bodyPr>
            <a:lstStyle/>
            <a:p>
              <a:pPr algn="ctr"/>
              <a:r>
                <a:rPr lang="en-US" altLang="zh-CN" sz="8000"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PART 03</a:t>
              </a:r>
              <a:endParaRPr lang="zh-CN" altLang="en-US" sz="8000"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endParaRPr>
            </a:p>
          </p:txBody>
        </p:sp>
        <p:sp>
          <p:nvSpPr>
            <p:cNvPr id="24" name="文本框 23">
              <a:extLst>
                <a:ext uri="{FF2B5EF4-FFF2-40B4-BE49-F238E27FC236}">
                  <a16:creationId xmlns:a16="http://schemas.microsoft.com/office/drawing/2014/main" id="{B53FF4EC-1094-46B4-BF89-94570156A98A}"/>
                </a:ext>
              </a:extLst>
            </p:cNvPr>
            <p:cNvSpPr txBox="1"/>
            <p:nvPr/>
          </p:nvSpPr>
          <p:spPr>
            <a:xfrm>
              <a:off x="2745907" y="3173042"/>
              <a:ext cx="6700184" cy="830997"/>
            </a:xfrm>
            <a:prstGeom prst="rect">
              <a:avLst/>
            </a:prstGeom>
            <a:noFill/>
          </p:spPr>
          <p:txBody>
            <a:bodyPr wrap="square" rtlCol="0">
              <a:spAutoFit/>
            </a:bodyPr>
            <a:lstStyle>
              <a:defPPr>
                <a:defRPr lang="zh-CN"/>
              </a:defPPr>
              <a:lvl1pPr algn="dist">
                <a:defRPr sz="48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转换：电子垃圾再利用</a:t>
              </a:r>
            </a:p>
          </p:txBody>
        </p:sp>
      </p:grpSp>
    </p:spTree>
    <p:custDataLst>
      <p:tags r:id="rId1"/>
    </p:custDataLst>
    <p:extLst>
      <p:ext uri="{BB962C8B-B14F-4D97-AF65-F5344CB8AC3E}">
        <p14:creationId xmlns:p14="http://schemas.microsoft.com/office/powerpoint/2010/main" val="1751276202"/>
      </p:ext>
    </p:extLst>
  </p:cSld>
  <p:clrMapOvr>
    <a:masterClrMapping/>
  </p:clrMapOvr>
  <mc:AlternateContent xmlns:mc="http://schemas.openxmlformats.org/markup-compatibility/2006" xmlns:p14="http://schemas.microsoft.com/office/powerpoint/2010/main">
    <mc:Choice Requires="p14">
      <p:transition spd="slow" p14:dur="1500" advTm="1604">
        <p:random/>
      </p:transition>
    </mc:Choice>
    <mc:Fallback xmlns="">
      <p:transition spd="slow" advTm="1604">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1"/>
                                        </p:tgtEl>
                                        <p:attrNameLst>
                                          <p:attrName>style.visibility</p:attrName>
                                        </p:attrNameLst>
                                      </p:cBhvr>
                                      <p:to>
                                        <p:strVal val="visible"/>
                                      </p:to>
                                    </p:set>
                                    <p:anim calcmode="lin" valueType="num">
                                      <p:cBhvr>
                                        <p:cTn id="14" dur="500" fill="hold"/>
                                        <p:tgtEl>
                                          <p:spTgt spid="21"/>
                                        </p:tgtEl>
                                        <p:attrNameLst>
                                          <p:attrName>ppt_w</p:attrName>
                                        </p:attrNameLst>
                                      </p:cBhvr>
                                      <p:tavLst>
                                        <p:tav tm="0">
                                          <p:val>
                                            <p:fltVal val="0"/>
                                          </p:val>
                                        </p:tav>
                                        <p:tav tm="100000">
                                          <p:val>
                                            <p:strVal val="#ppt_w"/>
                                          </p:val>
                                        </p:tav>
                                      </p:tavLst>
                                    </p:anim>
                                    <p:anim calcmode="lin" valueType="num">
                                      <p:cBhvr>
                                        <p:cTn id="15" dur="500" fill="hold"/>
                                        <p:tgtEl>
                                          <p:spTgt spid="21"/>
                                        </p:tgtEl>
                                        <p:attrNameLst>
                                          <p:attrName>ppt_h</p:attrName>
                                        </p:attrNameLst>
                                      </p:cBhvr>
                                      <p:tavLst>
                                        <p:tav tm="0">
                                          <p:val>
                                            <p:fltVal val="0"/>
                                          </p:val>
                                        </p:tav>
                                        <p:tav tm="100000">
                                          <p:val>
                                            <p:strVal val="#ppt_h"/>
                                          </p:val>
                                        </p:tav>
                                      </p:tavLst>
                                    </p:anim>
                                    <p:animEffect transition="in" filter="fade">
                                      <p:cBhvr>
                                        <p:cTn id="1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p:cNvSpPr/>
          <p:nvPr/>
        </p:nvSpPr>
        <p:spPr>
          <a:xfrm>
            <a:off x="0" y="0"/>
            <a:ext cx="12192000" cy="6858000"/>
          </a:xfrm>
          <a:prstGeom prst="rect">
            <a:avLst/>
          </a:prstGeom>
          <a:solidFill>
            <a:srgbClr val="F7F9F6"/>
          </a:solidFill>
          <a:ln>
            <a:noFill/>
          </a:ln>
        </p:spPr>
        <p:txBody>
          <a:bodyPr/>
          <a:lstStyle/>
          <a:p>
            <a:endParaRPr lang="en-US" sz="1200"/>
          </a:p>
        </p:txBody>
      </p:sp>
      <p:sp>
        <p:nvSpPr>
          <p:cNvPr id="4" name="TextBox"/>
          <p:cNvSpPr txBox="1"/>
          <p:nvPr/>
        </p:nvSpPr>
        <p:spPr>
          <a:xfrm>
            <a:off x="762000" y="863600"/>
            <a:ext cx="6045200" cy="622300"/>
          </a:xfrm>
          <a:prstGeom prst="rect">
            <a:avLst/>
          </a:prstGeom>
          <a:noFill/>
          <a:ln>
            <a:noFill/>
          </a:ln>
        </p:spPr>
        <p:txBody>
          <a:bodyPr wrap="none" lIns="0" tIns="0" rIns="0" bIns="0"/>
          <a:lstStyle/>
          <a:p>
            <a:r>
              <a:rPr lang="zh-CN" altLang="en-US" sz="3400">
                <a:solidFill>
                  <a:srgbClr val="10190F"/>
                </a:solidFill>
                <a:latin typeface="Noto Sans SC Bold"/>
                <a:ea typeface="Noto Sans SC Bold"/>
                <a:cs typeface="Noto Sans SC Bold"/>
              </a:rPr>
              <a:t>“用完即弃”到“循环再生”</a:t>
            </a:r>
          </a:p>
        </p:txBody>
      </p:sp>
      <p:sp>
        <p:nvSpPr>
          <p:cNvPr id="5" name="Rectangle"/>
          <p:cNvSpPr/>
          <p:nvPr/>
        </p:nvSpPr>
        <p:spPr>
          <a:xfrm>
            <a:off x="762000" y="1905000"/>
            <a:ext cx="4826000" cy="3937000"/>
          </a:xfrm>
          <a:prstGeom prst="roundRect">
            <a:avLst>
              <a:gd name="adj" fmla="val 3225"/>
            </a:avLst>
          </a:prstGeom>
          <a:solidFill>
            <a:srgbClr val="FFFFFF"/>
          </a:solidFill>
          <a:ln>
            <a:noFill/>
          </a:ln>
        </p:spPr>
        <p:txBody>
          <a:bodyPr/>
          <a:lstStyle/>
          <a:p>
            <a:endParaRPr lang="en-US" sz="1200"/>
          </a:p>
        </p:txBody>
      </p:sp>
      <p:sp>
        <p:nvSpPr>
          <p:cNvPr id="6" name="TextBox"/>
          <p:cNvSpPr txBox="1"/>
          <p:nvPr/>
        </p:nvSpPr>
        <p:spPr>
          <a:xfrm>
            <a:off x="1041400" y="2184400"/>
            <a:ext cx="2514600" cy="406400"/>
          </a:xfrm>
          <a:prstGeom prst="rect">
            <a:avLst/>
          </a:prstGeom>
          <a:noFill/>
          <a:ln>
            <a:noFill/>
          </a:ln>
        </p:spPr>
        <p:txBody>
          <a:bodyPr wrap="none" lIns="0" tIns="0" rIns="0" bIns="0"/>
          <a:lstStyle/>
          <a:p>
            <a:r>
              <a:rPr lang="zh-CN" altLang="en-US" sz="2200">
                <a:solidFill>
                  <a:srgbClr val="8A968F"/>
                </a:solidFill>
                <a:latin typeface="Noto Sans SC Bold"/>
                <a:ea typeface="Noto Sans SC Bold"/>
                <a:cs typeface="Noto Sans SC Bold"/>
              </a:rPr>
              <a:t>线性经济（旧模式）</a:t>
            </a:r>
          </a:p>
        </p:txBody>
      </p:sp>
      <p:sp>
        <p:nvSpPr>
          <p:cNvPr id="7" name="Rectangle"/>
          <p:cNvSpPr/>
          <p:nvPr/>
        </p:nvSpPr>
        <p:spPr>
          <a:xfrm>
            <a:off x="1104900" y="2908300"/>
            <a:ext cx="889000" cy="381000"/>
          </a:xfrm>
          <a:prstGeom prst="roundRect">
            <a:avLst>
              <a:gd name="adj" fmla="val 16666"/>
            </a:avLst>
          </a:prstGeom>
          <a:solidFill>
            <a:srgbClr val="F1F4F1"/>
          </a:solidFill>
          <a:ln>
            <a:noFill/>
          </a:ln>
        </p:spPr>
        <p:txBody>
          <a:bodyPr/>
          <a:lstStyle/>
          <a:p>
            <a:endParaRPr lang="en-US" sz="1200"/>
          </a:p>
        </p:txBody>
      </p:sp>
      <p:sp>
        <p:nvSpPr>
          <p:cNvPr id="8" name="Rectangle"/>
          <p:cNvSpPr/>
          <p:nvPr/>
        </p:nvSpPr>
        <p:spPr>
          <a:xfrm>
            <a:off x="2628900" y="2908300"/>
            <a:ext cx="889000" cy="381000"/>
          </a:xfrm>
          <a:prstGeom prst="roundRect">
            <a:avLst>
              <a:gd name="adj" fmla="val 16666"/>
            </a:avLst>
          </a:prstGeom>
          <a:solidFill>
            <a:srgbClr val="F1F4F1"/>
          </a:solidFill>
          <a:ln>
            <a:noFill/>
          </a:ln>
        </p:spPr>
        <p:txBody>
          <a:bodyPr/>
          <a:lstStyle/>
          <a:p>
            <a:endParaRPr lang="en-US" sz="1200"/>
          </a:p>
        </p:txBody>
      </p:sp>
      <p:sp>
        <p:nvSpPr>
          <p:cNvPr id="9" name="Rectangle"/>
          <p:cNvSpPr/>
          <p:nvPr/>
        </p:nvSpPr>
        <p:spPr>
          <a:xfrm>
            <a:off x="4152900" y="2908300"/>
            <a:ext cx="889000" cy="381000"/>
          </a:xfrm>
          <a:prstGeom prst="roundRect">
            <a:avLst>
              <a:gd name="adj" fmla="val 16666"/>
            </a:avLst>
          </a:prstGeom>
          <a:solidFill>
            <a:srgbClr val="F9E9E9"/>
          </a:solidFill>
          <a:ln>
            <a:noFill/>
          </a:ln>
        </p:spPr>
        <p:txBody>
          <a:bodyPr/>
          <a:lstStyle/>
          <a:p>
            <a:endParaRPr lang="en-US" sz="1200"/>
          </a:p>
        </p:txBody>
      </p:sp>
      <p:sp>
        <p:nvSpPr>
          <p:cNvPr id="10" name="TextBox"/>
          <p:cNvSpPr txBox="1"/>
          <p:nvPr/>
        </p:nvSpPr>
        <p:spPr>
          <a:xfrm>
            <a:off x="1358900" y="2984500"/>
            <a:ext cx="381000" cy="228600"/>
          </a:xfrm>
          <a:prstGeom prst="rect">
            <a:avLst/>
          </a:prstGeom>
          <a:noFill/>
          <a:ln>
            <a:noFill/>
          </a:ln>
        </p:spPr>
        <p:txBody>
          <a:bodyPr wrap="none" lIns="0" tIns="0" rIns="0" bIns="0"/>
          <a:lstStyle/>
          <a:p>
            <a:r>
              <a:rPr lang="zh-CN" altLang="en-US" sz="1500" dirty="0">
                <a:solidFill>
                  <a:srgbClr val="5A6660"/>
                </a:solidFill>
                <a:latin typeface="Sarasa Gothic SC Bold"/>
                <a:ea typeface="Sarasa Gothic SC Bold"/>
                <a:cs typeface="Sarasa Gothic SC Bold"/>
              </a:rPr>
              <a:t>取用</a:t>
            </a:r>
          </a:p>
        </p:txBody>
      </p:sp>
      <p:sp>
        <p:nvSpPr>
          <p:cNvPr id="11" name="TextBox"/>
          <p:cNvSpPr txBox="1"/>
          <p:nvPr/>
        </p:nvSpPr>
        <p:spPr>
          <a:xfrm>
            <a:off x="2905455" y="2984500"/>
            <a:ext cx="381000" cy="228600"/>
          </a:xfrm>
          <a:prstGeom prst="rect">
            <a:avLst/>
          </a:prstGeom>
          <a:noFill/>
          <a:ln>
            <a:noFill/>
          </a:ln>
        </p:spPr>
        <p:txBody>
          <a:bodyPr wrap="none" lIns="0" tIns="0" rIns="0" bIns="0"/>
          <a:lstStyle/>
          <a:p>
            <a:r>
              <a:rPr lang="zh-CN" altLang="en-US" sz="1500" dirty="0">
                <a:solidFill>
                  <a:srgbClr val="5A6660"/>
                </a:solidFill>
                <a:latin typeface="Sarasa Gothic SC Bold"/>
                <a:ea typeface="Sarasa Gothic SC Bold"/>
                <a:cs typeface="Sarasa Gothic SC Bold"/>
              </a:rPr>
              <a:t>制造</a:t>
            </a:r>
          </a:p>
        </p:txBody>
      </p:sp>
      <p:sp>
        <p:nvSpPr>
          <p:cNvPr id="12" name="TextBox"/>
          <p:cNvSpPr txBox="1"/>
          <p:nvPr/>
        </p:nvSpPr>
        <p:spPr>
          <a:xfrm>
            <a:off x="4406900" y="2984500"/>
            <a:ext cx="381000" cy="228600"/>
          </a:xfrm>
          <a:prstGeom prst="rect">
            <a:avLst/>
          </a:prstGeom>
          <a:noFill/>
          <a:ln>
            <a:noFill/>
          </a:ln>
        </p:spPr>
        <p:txBody>
          <a:bodyPr wrap="none" lIns="0" tIns="0" rIns="0" bIns="0"/>
          <a:lstStyle/>
          <a:p>
            <a:r>
              <a:rPr lang="zh-CN" altLang="en-US" sz="1500" dirty="0">
                <a:solidFill>
                  <a:srgbClr val="C23A3F"/>
                </a:solidFill>
                <a:latin typeface="Sarasa Gothic SC Bold"/>
                <a:ea typeface="Sarasa Gothic SC Bold"/>
                <a:cs typeface="Sarasa Gothic SC Bold"/>
              </a:rPr>
              <a:t>废弃</a:t>
            </a:r>
          </a:p>
        </p:txBody>
      </p:sp>
      <p:sp>
        <p:nvSpPr>
          <p:cNvPr id="13" name="Path"/>
          <p:cNvSpPr/>
          <p:nvPr/>
        </p:nvSpPr>
        <p:spPr>
          <a:xfrm>
            <a:off x="2025650" y="3086100"/>
            <a:ext cx="571500" cy="25400"/>
          </a:xfrm>
          <a:custGeom>
            <a:avLst/>
            <a:gdLst/>
            <a:ahLst/>
            <a:cxnLst/>
            <a:rect l="0" t="0" r="r" b="b"/>
            <a:pathLst>
              <a:path w="857250" h="38100">
                <a:moveTo>
                  <a:pt x="857250" y="0"/>
                </a:moveTo>
                <a:lnTo>
                  <a:pt x="857250" y="38100"/>
                </a:lnTo>
                <a:lnTo>
                  <a:pt x="0" y="38100"/>
                </a:lnTo>
                <a:lnTo>
                  <a:pt x="0" y="0"/>
                </a:lnTo>
                <a:lnTo>
                  <a:pt x="857250" y="0"/>
                </a:lnTo>
                <a:close/>
              </a:path>
            </a:pathLst>
          </a:custGeom>
          <a:solidFill>
            <a:srgbClr val="8A968F"/>
          </a:solidFill>
          <a:ln>
            <a:noFill/>
          </a:ln>
        </p:spPr>
        <p:txBody>
          <a:bodyPr/>
          <a:lstStyle/>
          <a:p>
            <a:endParaRPr lang="en-US" sz="1200"/>
          </a:p>
        </p:txBody>
      </p:sp>
      <p:sp>
        <p:nvSpPr>
          <p:cNvPr id="14" name="Path"/>
          <p:cNvSpPr/>
          <p:nvPr/>
        </p:nvSpPr>
        <p:spPr>
          <a:xfrm>
            <a:off x="3549650" y="3086100"/>
            <a:ext cx="571500" cy="25400"/>
          </a:xfrm>
          <a:custGeom>
            <a:avLst/>
            <a:gdLst/>
            <a:ahLst/>
            <a:cxnLst/>
            <a:rect l="0" t="0" r="r" b="b"/>
            <a:pathLst>
              <a:path w="857250" h="38100">
                <a:moveTo>
                  <a:pt x="857250" y="0"/>
                </a:moveTo>
                <a:lnTo>
                  <a:pt x="857250" y="38100"/>
                </a:lnTo>
                <a:lnTo>
                  <a:pt x="0" y="38100"/>
                </a:lnTo>
                <a:lnTo>
                  <a:pt x="0" y="0"/>
                </a:lnTo>
                <a:lnTo>
                  <a:pt x="857250" y="0"/>
                </a:lnTo>
                <a:close/>
              </a:path>
            </a:pathLst>
          </a:custGeom>
          <a:solidFill>
            <a:srgbClr val="8A968F"/>
          </a:solidFill>
          <a:ln>
            <a:noFill/>
          </a:ln>
        </p:spPr>
        <p:txBody>
          <a:bodyPr/>
          <a:lstStyle/>
          <a:p>
            <a:endParaRPr lang="en-US" sz="1200"/>
          </a:p>
        </p:txBody>
      </p:sp>
      <p:sp>
        <p:nvSpPr>
          <p:cNvPr id="15" name="TextBox"/>
          <p:cNvSpPr txBox="1"/>
          <p:nvPr/>
        </p:nvSpPr>
        <p:spPr>
          <a:xfrm>
            <a:off x="1041400" y="3606800"/>
            <a:ext cx="4133850" cy="1190352"/>
          </a:xfrm>
          <a:prstGeom prst="rect">
            <a:avLst/>
          </a:prstGeom>
          <a:noFill/>
          <a:ln>
            <a:noFill/>
          </a:ln>
        </p:spPr>
        <p:txBody>
          <a:bodyPr wrap="square" lIns="0" tIns="0" rIns="0" bIns="0"/>
          <a:lstStyle/>
          <a:p>
            <a:r>
              <a:rPr lang="zh-CN" altLang="en-US" sz="1550" dirty="0">
                <a:solidFill>
                  <a:srgbClr val="5A6660"/>
                </a:solidFill>
                <a:latin typeface="Noto Sans SC"/>
                <a:ea typeface="Noto Sans SC"/>
                <a:cs typeface="Noto Sans SC"/>
              </a:rPr>
              <a:t>生产 → 消费 → 填埋</a:t>
            </a:r>
            <a:r>
              <a:rPr lang="en-US" altLang="zh-CN" sz="1550" dirty="0">
                <a:solidFill>
                  <a:srgbClr val="5A6660"/>
                </a:solidFill>
                <a:latin typeface="Noto Sans SC"/>
                <a:ea typeface="Noto Sans SC"/>
                <a:cs typeface="Noto Sans SC"/>
              </a:rPr>
              <a:t>/</a:t>
            </a:r>
            <a:r>
              <a:rPr lang="zh-CN" altLang="en-US" sz="1550" dirty="0">
                <a:solidFill>
                  <a:srgbClr val="5A6660"/>
                </a:solidFill>
                <a:latin typeface="Noto Sans SC"/>
                <a:ea typeface="Noto Sans SC"/>
                <a:cs typeface="Noto Sans SC"/>
              </a:rPr>
              <a:t>焚烧。</a:t>
            </a:r>
            <a:endParaRPr lang="en-US" altLang="zh-CN" sz="1550" dirty="0">
              <a:solidFill>
                <a:srgbClr val="5A6660"/>
              </a:solidFill>
              <a:latin typeface="Noto Sans SC"/>
              <a:ea typeface="Noto Sans SC"/>
              <a:cs typeface="Noto Sans SC"/>
            </a:endParaRPr>
          </a:p>
          <a:p>
            <a:endParaRPr lang="en-US" altLang="zh-CN" sz="1550" dirty="0">
              <a:solidFill>
                <a:srgbClr val="5A6660"/>
              </a:solidFill>
              <a:latin typeface="Noto Sans SC"/>
              <a:ea typeface="Noto Sans SC"/>
              <a:cs typeface="Noto Sans SC"/>
            </a:endParaRPr>
          </a:p>
          <a:p>
            <a:endParaRPr lang="en-US" altLang="zh-CN" sz="1550" dirty="0">
              <a:solidFill>
                <a:srgbClr val="5A6660"/>
              </a:solidFill>
              <a:latin typeface="Noto Sans SC"/>
              <a:ea typeface="Noto Sans SC"/>
              <a:cs typeface="Noto Sans SC"/>
            </a:endParaRPr>
          </a:p>
          <a:p>
            <a:r>
              <a:rPr lang="zh-CN" altLang="en-US" sz="1550" dirty="0">
                <a:solidFill>
                  <a:srgbClr val="5A6660"/>
                </a:solidFill>
                <a:latin typeface="Noto Sans SC"/>
                <a:ea typeface="Noto Sans SC"/>
                <a:cs typeface="Noto Sans SC"/>
              </a:rPr>
              <a:t>资源单向流动，价值随垃圾一起“消失”</a:t>
            </a:r>
          </a:p>
        </p:txBody>
      </p:sp>
      <p:sp>
        <p:nvSpPr>
          <p:cNvPr id="16" name="Rectangle"/>
          <p:cNvSpPr/>
          <p:nvPr/>
        </p:nvSpPr>
        <p:spPr>
          <a:xfrm>
            <a:off x="765176" y="1908176"/>
            <a:ext cx="4819650" cy="3930650"/>
          </a:xfrm>
          <a:prstGeom prst="roundRect">
            <a:avLst>
              <a:gd name="adj" fmla="val 3150"/>
            </a:avLst>
          </a:prstGeom>
          <a:noFill/>
          <a:ln w="9525">
            <a:solidFill>
              <a:srgbClr val="D8E2DC"/>
            </a:solidFill>
            <a:miter lim="400000"/>
          </a:ln>
        </p:spPr>
        <p:txBody>
          <a:bodyPr/>
          <a:lstStyle/>
          <a:p>
            <a:endParaRPr lang="en-US" sz="1200"/>
          </a:p>
        </p:txBody>
      </p:sp>
      <p:sp>
        <p:nvSpPr>
          <p:cNvPr id="17" name="Rectangle"/>
          <p:cNvSpPr/>
          <p:nvPr/>
        </p:nvSpPr>
        <p:spPr>
          <a:xfrm>
            <a:off x="6604000" y="1905000"/>
            <a:ext cx="4826000" cy="3937000"/>
          </a:xfrm>
          <a:prstGeom prst="roundRect">
            <a:avLst>
              <a:gd name="adj" fmla="val 3225"/>
            </a:avLst>
          </a:prstGeom>
          <a:solidFill>
            <a:srgbClr val="0F1E17"/>
          </a:solidFill>
          <a:ln>
            <a:noFill/>
          </a:ln>
        </p:spPr>
        <p:txBody>
          <a:bodyPr/>
          <a:lstStyle/>
          <a:p>
            <a:endParaRPr lang="en-US" sz="1200"/>
          </a:p>
        </p:txBody>
      </p:sp>
      <p:sp>
        <p:nvSpPr>
          <p:cNvPr id="18" name="TextBox"/>
          <p:cNvSpPr txBox="1"/>
          <p:nvPr/>
        </p:nvSpPr>
        <p:spPr>
          <a:xfrm>
            <a:off x="6883400" y="2184400"/>
            <a:ext cx="2514600" cy="406400"/>
          </a:xfrm>
          <a:prstGeom prst="rect">
            <a:avLst/>
          </a:prstGeom>
          <a:noFill/>
          <a:ln>
            <a:noFill/>
          </a:ln>
        </p:spPr>
        <p:txBody>
          <a:bodyPr wrap="none" lIns="0" tIns="0" rIns="0" bIns="0"/>
          <a:lstStyle/>
          <a:p>
            <a:r>
              <a:rPr lang="zh-CN" altLang="en-US" sz="2200">
                <a:solidFill>
                  <a:srgbClr val="10B981"/>
                </a:solidFill>
                <a:latin typeface="Noto Sans SC Bold"/>
                <a:ea typeface="Noto Sans SC Bold"/>
                <a:cs typeface="Noto Sans SC Bold"/>
              </a:rPr>
              <a:t>循环经济（新模式）</a:t>
            </a:r>
          </a:p>
        </p:txBody>
      </p:sp>
      <p:sp>
        <p:nvSpPr>
          <p:cNvPr id="19" name="TextBox"/>
          <p:cNvSpPr txBox="1"/>
          <p:nvPr/>
        </p:nvSpPr>
        <p:spPr>
          <a:xfrm>
            <a:off x="6883400" y="2717800"/>
            <a:ext cx="4092905" cy="571500"/>
          </a:xfrm>
          <a:prstGeom prst="rect">
            <a:avLst/>
          </a:prstGeom>
          <a:noFill/>
          <a:ln>
            <a:noFill/>
          </a:ln>
        </p:spPr>
        <p:txBody>
          <a:bodyPr wrap="square" lIns="0" tIns="0" rIns="0" bIns="0"/>
          <a:lstStyle/>
          <a:p>
            <a:r>
              <a:rPr lang="zh-CN" altLang="en-US" sz="1550" dirty="0">
                <a:solidFill>
                  <a:srgbClr val="D9EDE3"/>
                </a:solidFill>
                <a:latin typeface="Noto Sans SC"/>
                <a:ea typeface="Noto Sans SC"/>
                <a:cs typeface="Noto Sans SC"/>
              </a:rPr>
              <a:t>使用 → 回收 → 再生原料 → 新产品。</a:t>
            </a:r>
            <a:endParaRPr lang="en-US" altLang="zh-CN" sz="1550" dirty="0">
              <a:solidFill>
                <a:srgbClr val="D9EDE3"/>
              </a:solidFill>
              <a:latin typeface="Noto Sans SC"/>
              <a:ea typeface="Noto Sans SC"/>
              <a:cs typeface="Noto Sans SC"/>
            </a:endParaRPr>
          </a:p>
          <a:p>
            <a:endParaRPr lang="en-US" altLang="zh-CN" sz="1550" dirty="0">
              <a:solidFill>
                <a:srgbClr val="D9EDE3"/>
              </a:solidFill>
              <a:latin typeface="Noto Sans SC"/>
              <a:ea typeface="Noto Sans SC"/>
              <a:cs typeface="Noto Sans SC"/>
            </a:endParaRPr>
          </a:p>
          <a:p>
            <a:r>
              <a:rPr lang="zh-CN" altLang="en-US" sz="1550" dirty="0">
                <a:solidFill>
                  <a:srgbClr val="D9EDE3"/>
                </a:solidFill>
                <a:latin typeface="Noto Sans SC"/>
                <a:ea typeface="Noto Sans SC"/>
                <a:cs typeface="Noto Sans SC"/>
              </a:rPr>
              <a:t>资源闭环流动，把“垃圾”利用起来。</a:t>
            </a:r>
          </a:p>
        </p:txBody>
      </p:sp>
      <p:sp>
        <p:nvSpPr>
          <p:cNvPr id="20" name="Rectangle"/>
          <p:cNvSpPr/>
          <p:nvPr/>
        </p:nvSpPr>
        <p:spPr>
          <a:xfrm>
            <a:off x="6946900" y="3543300"/>
            <a:ext cx="889000" cy="381000"/>
          </a:xfrm>
          <a:prstGeom prst="roundRect">
            <a:avLst>
              <a:gd name="adj" fmla="val 16666"/>
            </a:avLst>
          </a:prstGeom>
          <a:solidFill>
            <a:srgbClr val="17332A"/>
          </a:solidFill>
          <a:ln>
            <a:noFill/>
          </a:ln>
        </p:spPr>
        <p:txBody>
          <a:bodyPr/>
          <a:lstStyle/>
          <a:p>
            <a:endParaRPr lang="en-US" sz="1200"/>
          </a:p>
        </p:txBody>
      </p:sp>
      <p:sp>
        <p:nvSpPr>
          <p:cNvPr id="21" name="Rectangle"/>
          <p:cNvSpPr/>
          <p:nvPr/>
        </p:nvSpPr>
        <p:spPr>
          <a:xfrm>
            <a:off x="8470900" y="3543300"/>
            <a:ext cx="889000" cy="381000"/>
          </a:xfrm>
          <a:prstGeom prst="roundRect">
            <a:avLst>
              <a:gd name="adj" fmla="val 16666"/>
            </a:avLst>
          </a:prstGeom>
          <a:solidFill>
            <a:srgbClr val="17332A"/>
          </a:solidFill>
          <a:ln>
            <a:noFill/>
          </a:ln>
        </p:spPr>
        <p:txBody>
          <a:bodyPr/>
          <a:lstStyle/>
          <a:p>
            <a:endParaRPr lang="en-US" sz="1200"/>
          </a:p>
        </p:txBody>
      </p:sp>
      <p:sp>
        <p:nvSpPr>
          <p:cNvPr id="22" name="Rectangle"/>
          <p:cNvSpPr/>
          <p:nvPr/>
        </p:nvSpPr>
        <p:spPr>
          <a:xfrm>
            <a:off x="9994900" y="3543300"/>
            <a:ext cx="889000" cy="381000"/>
          </a:xfrm>
          <a:prstGeom prst="roundRect">
            <a:avLst>
              <a:gd name="adj" fmla="val 16666"/>
            </a:avLst>
          </a:prstGeom>
          <a:solidFill>
            <a:srgbClr val="17332A"/>
          </a:solidFill>
          <a:ln>
            <a:noFill/>
          </a:ln>
        </p:spPr>
        <p:txBody>
          <a:bodyPr/>
          <a:lstStyle/>
          <a:p>
            <a:endParaRPr lang="en-US" sz="1200"/>
          </a:p>
        </p:txBody>
      </p:sp>
      <p:sp>
        <p:nvSpPr>
          <p:cNvPr id="23" name="TextBox"/>
          <p:cNvSpPr txBox="1"/>
          <p:nvPr/>
        </p:nvSpPr>
        <p:spPr>
          <a:xfrm>
            <a:off x="7209575" y="3619500"/>
            <a:ext cx="425450" cy="228600"/>
          </a:xfrm>
          <a:prstGeom prst="rect">
            <a:avLst/>
          </a:prstGeom>
          <a:noFill/>
          <a:ln>
            <a:noFill/>
          </a:ln>
        </p:spPr>
        <p:txBody>
          <a:bodyPr wrap="none" lIns="0" tIns="0" rIns="0" bIns="0"/>
          <a:lstStyle/>
          <a:p>
            <a:r>
              <a:rPr lang="zh-CN" altLang="en-US" sz="1500" dirty="0">
                <a:solidFill>
                  <a:srgbClr val="10B981"/>
                </a:solidFill>
                <a:latin typeface="Sarasa Gothic SC Bold"/>
                <a:ea typeface="Sarasa Gothic SC Bold"/>
                <a:cs typeface="Sarasa Gothic SC Bold"/>
              </a:rPr>
              <a:t>制造</a:t>
            </a:r>
          </a:p>
        </p:txBody>
      </p:sp>
      <p:sp>
        <p:nvSpPr>
          <p:cNvPr id="24" name="TextBox"/>
          <p:cNvSpPr txBox="1"/>
          <p:nvPr/>
        </p:nvSpPr>
        <p:spPr>
          <a:xfrm>
            <a:off x="8747312" y="3619500"/>
            <a:ext cx="381000" cy="228600"/>
          </a:xfrm>
          <a:prstGeom prst="rect">
            <a:avLst/>
          </a:prstGeom>
          <a:noFill/>
          <a:ln>
            <a:noFill/>
          </a:ln>
        </p:spPr>
        <p:txBody>
          <a:bodyPr wrap="none" lIns="0" tIns="0" rIns="0" bIns="0"/>
          <a:lstStyle/>
          <a:p>
            <a:r>
              <a:rPr lang="zh-CN" altLang="en-US" sz="1500" dirty="0">
                <a:solidFill>
                  <a:srgbClr val="10B981"/>
                </a:solidFill>
                <a:latin typeface="Sarasa Gothic SC Bold"/>
                <a:ea typeface="Sarasa Gothic SC Bold"/>
                <a:cs typeface="Sarasa Gothic SC Bold"/>
              </a:rPr>
              <a:t>使用</a:t>
            </a:r>
          </a:p>
        </p:txBody>
      </p:sp>
      <p:sp>
        <p:nvSpPr>
          <p:cNvPr id="25" name="TextBox"/>
          <p:cNvSpPr txBox="1"/>
          <p:nvPr/>
        </p:nvSpPr>
        <p:spPr>
          <a:xfrm>
            <a:off x="10256521" y="3619500"/>
            <a:ext cx="381000" cy="228600"/>
          </a:xfrm>
          <a:prstGeom prst="rect">
            <a:avLst/>
          </a:prstGeom>
          <a:noFill/>
          <a:ln>
            <a:noFill/>
          </a:ln>
        </p:spPr>
        <p:txBody>
          <a:bodyPr wrap="none" lIns="0" tIns="0" rIns="0" bIns="0"/>
          <a:lstStyle/>
          <a:p>
            <a:r>
              <a:rPr lang="zh-CN" altLang="en-US" sz="1500" dirty="0">
                <a:solidFill>
                  <a:srgbClr val="D4A017"/>
                </a:solidFill>
                <a:latin typeface="Sarasa Gothic SC Bold"/>
                <a:ea typeface="Sarasa Gothic SC Bold"/>
                <a:cs typeface="Sarasa Gothic SC Bold"/>
              </a:rPr>
              <a:t>再生</a:t>
            </a:r>
          </a:p>
        </p:txBody>
      </p:sp>
      <p:sp>
        <p:nvSpPr>
          <p:cNvPr id="26" name="Path"/>
          <p:cNvSpPr/>
          <p:nvPr/>
        </p:nvSpPr>
        <p:spPr>
          <a:xfrm>
            <a:off x="7867650" y="3721100"/>
            <a:ext cx="571500" cy="25400"/>
          </a:xfrm>
          <a:custGeom>
            <a:avLst/>
            <a:gdLst/>
            <a:ahLst/>
            <a:cxnLst/>
            <a:rect l="0" t="0" r="r" b="b"/>
            <a:pathLst>
              <a:path w="857250" h="38100">
                <a:moveTo>
                  <a:pt x="857250" y="0"/>
                </a:moveTo>
                <a:lnTo>
                  <a:pt x="857250" y="38100"/>
                </a:lnTo>
                <a:lnTo>
                  <a:pt x="0" y="38100"/>
                </a:lnTo>
                <a:lnTo>
                  <a:pt x="0" y="0"/>
                </a:lnTo>
                <a:lnTo>
                  <a:pt x="857250" y="0"/>
                </a:lnTo>
                <a:close/>
              </a:path>
            </a:pathLst>
          </a:custGeom>
          <a:solidFill>
            <a:srgbClr val="10B981"/>
          </a:solidFill>
          <a:ln>
            <a:noFill/>
          </a:ln>
        </p:spPr>
        <p:txBody>
          <a:bodyPr/>
          <a:lstStyle/>
          <a:p>
            <a:endParaRPr lang="en-US" sz="1200"/>
          </a:p>
        </p:txBody>
      </p:sp>
      <p:sp>
        <p:nvSpPr>
          <p:cNvPr id="27" name="Path"/>
          <p:cNvSpPr/>
          <p:nvPr/>
        </p:nvSpPr>
        <p:spPr>
          <a:xfrm>
            <a:off x="9391650" y="3721100"/>
            <a:ext cx="571500" cy="25400"/>
          </a:xfrm>
          <a:custGeom>
            <a:avLst/>
            <a:gdLst/>
            <a:ahLst/>
            <a:cxnLst/>
            <a:rect l="0" t="0" r="r" b="b"/>
            <a:pathLst>
              <a:path w="857250" h="38100">
                <a:moveTo>
                  <a:pt x="857250" y="0"/>
                </a:moveTo>
                <a:lnTo>
                  <a:pt x="857250" y="38100"/>
                </a:lnTo>
                <a:lnTo>
                  <a:pt x="0" y="38100"/>
                </a:lnTo>
                <a:lnTo>
                  <a:pt x="0" y="0"/>
                </a:lnTo>
                <a:lnTo>
                  <a:pt x="857250" y="0"/>
                </a:lnTo>
                <a:close/>
              </a:path>
            </a:pathLst>
          </a:custGeom>
          <a:solidFill>
            <a:srgbClr val="10B981"/>
          </a:solidFill>
          <a:ln>
            <a:noFill/>
          </a:ln>
        </p:spPr>
        <p:txBody>
          <a:bodyPr/>
          <a:lstStyle/>
          <a:p>
            <a:endParaRPr lang="en-US" sz="1200"/>
          </a:p>
        </p:txBody>
      </p:sp>
      <p:sp>
        <p:nvSpPr>
          <p:cNvPr id="28" name="Path"/>
          <p:cNvSpPr/>
          <p:nvPr/>
        </p:nvSpPr>
        <p:spPr>
          <a:xfrm>
            <a:off x="7428603" y="3945890"/>
            <a:ext cx="3018418" cy="237170"/>
          </a:xfrm>
          <a:custGeom>
            <a:avLst/>
            <a:gdLst/>
            <a:ahLst/>
            <a:cxnLst/>
            <a:rect l="0" t="0" r="r" b="b"/>
            <a:pathLst>
              <a:path w="4527627" h="355755">
                <a:moveTo>
                  <a:pt x="4527627" y="30480"/>
                </a:moveTo>
                <a:quadBezTo>
                  <a:pt x="4492680" y="56690"/>
                  <a:pt x="4443787" y="81156"/>
                </a:quadBezTo>
                <a:lnTo>
                  <a:pt x="4426737" y="47084"/>
                </a:lnTo>
                <a:quadBezTo>
                  <a:pt x="4472564" y="24152"/>
                  <a:pt x="4504767" y="0"/>
                </a:quadBezTo>
                <a:lnTo>
                  <a:pt x="4527627" y="30480"/>
                </a:lnTo>
                <a:close/>
                <a:moveTo>
                  <a:pt x="88532" y="113219"/>
                </a:moveTo>
                <a:quadBezTo>
                  <a:pt x="39286" y="93525"/>
                  <a:pt x="0" y="72582"/>
                </a:quadBezTo>
                <a:lnTo>
                  <a:pt x="17923" y="38961"/>
                </a:lnTo>
                <a:quadBezTo>
                  <a:pt x="55369" y="58923"/>
                  <a:pt x="102679" y="77843"/>
                </a:quadBezTo>
                <a:lnTo>
                  <a:pt x="88532" y="113219"/>
                </a:lnTo>
                <a:close/>
                <a:moveTo>
                  <a:pt x="4371861" y="113220"/>
                </a:moveTo>
                <a:quadBezTo>
                  <a:pt x="4329658" y="130097"/>
                  <a:pt x="4280213" y="146028"/>
                </a:quadBezTo>
                <a:lnTo>
                  <a:pt x="4268529" y="109764"/>
                </a:lnTo>
                <a:quadBezTo>
                  <a:pt x="4316727" y="94235"/>
                  <a:pt x="4357713" y="77844"/>
                </a:quadBezTo>
                <a:lnTo>
                  <a:pt x="4371861" y="113220"/>
                </a:lnTo>
                <a:close/>
                <a:moveTo>
                  <a:pt x="253973" y="168149"/>
                </a:moveTo>
                <a:quadBezTo>
                  <a:pt x="205045" y="154477"/>
                  <a:pt x="161869" y="140012"/>
                </a:quadBezTo>
                <a:lnTo>
                  <a:pt x="173972" y="103886"/>
                </a:lnTo>
                <a:quadBezTo>
                  <a:pt x="216231" y="118043"/>
                  <a:pt x="264227" y="131455"/>
                </a:quadBezTo>
                <a:lnTo>
                  <a:pt x="253973" y="168149"/>
                </a:lnTo>
                <a:close/>
                <a:moveTo>
                  <a:pt x="4206419" y="168150"/>
                </a:moveTo>
                <a:quadBezTo>
                  <a:pt x="4162160" y="180518"/>
                  <a:pt x="4113302" y="192208"/>
                </a:quadBezTo>
                <a:lnTo>
                  <a:pt x="4104436" y="155154"/>
                </a:lnTo>
                <a:quadBezTo>
                  <a:pt x="4152599" y="143630"/>
                  <a:pt x="4196165" y="131456"/>
                </a:quadBezTo>
                <a:lnTo>
                  <a:pt x="4206419" y="168150"/>
                </a:lnTo>
                <a:close/>
                <a:moveTo>
                  <a:pt x="422757" y="209316"/>
                </a:moveTo>
                <a:quadBezTo>
                  <a:pt x="373517" y="198790"/>
                  <a:pt x="328286" y="187641"/>
                </a:quadBezTo>
                <a:lnTo>
                  <a:pt x="337404" y="150648"/>
                </a:lnTo>
                <a:quadBezTo>
                  <a:pt x="382062" y="161655"/>
                  <a:pt x="430722" y="172058"/>
                </a:quadBezTo>
                <a:lnTo>
                  <a:pt x="422757" y="209316"/>
                </a:lnTo>
                <a:close/>
                <a:moveTo>
                  <a:pt x="4037635" y="209317"/>
                </a:moveTo>
                <a:quadBezTo>
                  <a:pt x="3991803" y="219115"/>
                  <a:pt x="3942615" y="228350"/>
                </a:quadBezTo>
                <a:lnTo>
                  <a:pt x="3935585" y="190904"/>
                </a:lnTo>
                <a:quadBezTo>
                  <a:pt x="3984304" y="181757"/>
                  <a:pt x="4029670" y="172059"/>
                </a:quadBezTo>
                <a:lnTo>
                  <a:pt x="4037635" y="209317"/>
                </a:lnTo>
                <a:close/>
                <a:moveTo>
                  <a:pt x="592688" y="241754"/>
                </a:moveTo>
                <a:quadBezTo>
                  <a:pt x="544052" y="233459"/>
                  <a:pt x="498325" y="224650"/>
                </a:quadBezTo>
                <a:lnTo>
                  <a:pt x="505532" y="187238"/>
                </a:lnTo>
                <a:quadBezTo>
                  <a:pt x="550860" y="195970"/>
                  <a:pt x="599094" y="204197"/>
                </a:quadBezTo>
                <a:lnTo>
                  <a:pt x="592688" y="241754"/>
                </a:lnTo>
                <a:close/>
                <a:moveTo>
                  <a:pt x="3867614" y="241770"/>
                </a:moveTo>
                <a:lnTo>
                  <a:pt x="3820521" y="249571"/>
                </a:lnTo>
                <a:lnTo>
                  <a:pt x="3772196" y="257122"/>
                </a:lnTo>
                <a:lnTo>
                  <a:pt x="3766314" y="219479"/>
                </a:lnTo>
                <a:lnTo>
                  <a:pt x="3814295" y="211983"/>
                </a:lnTo>
                <a:lnTo>
                  <a:pt x="3861388" y="204182"/>
                </a:lnTo>
                <a:lnTo>
                  <a:pt x="3867614" y="241770"/>
                </a:lnTo>
                <a:close/>
                <a:moveTo>
                  <a:pt x="763915" y="268111"/>
                </a:moveTo>
                <a:lnTo>
                  <a:pt x="716475" y="261342"/>
                </a:lnTo>
                <a:lnTo>
                  <a:pt x="669795" y="254298"/>
                </a:lnTo>
                <a:lnTo>
                  <a:pt x="675480" y="216625"/>
                </a:lnTo>
                <a:lnTo>
                  <a:pt x="721857" y="223624"/>
                </a:lnTo>
                <a:lnTo>
                  <a:pt x="769297" y="230393"/>
                </a:lnTo>
                <a:lnTo>
                  <a:pt x="763915" y="268111"/>
                </a:lnTo>
                <a:close/>
                <a:moveTo>
                  <a:pt x="3696335" y="268131"/>
                </a:moveTo>
                <a:lnTo>
                  <a:pt x="3649130" y="274501"/>
                </a:lnTo>
                <a:lnTo>
                  <a:pt x="3600983" y="280649"/>
                </a:lnTo>
                <a:lnTo>
                  <a:pt x="3596158" y="242856"/>
                </a:lnTo>
                <a:lnTo>
                  <a:pt x="3644034" y="236744"/>
                </a:lnTo>
                <a:lnTo>
                  <a:pt x="3691240" y="230373"/>
                </a:lnTo>
                <a:lnTo>
                  <a:pt x="3696335" y="268131"/>
                </a:lnTo>
                <a:close/>
                <a:moveTo>
                  <a:pt x="935813" y="289729"/>
                </a:moveTo>
                <a:lnTo>
                  <a:pt x="887973" y="284138"/>
                </a:lnTo>
                <a:lnTo>
                  <a:pt x="840726" y="278304"/>
                </a:lnTo>
                <a:lnTo>
                  <a:pt x="845395" y="240491"/>
                </a:lnTo>
                <a:lnTo>
                  <a:pt x="892396" y="246295"/>
                </a:lnTo>
                <a:lnTo>
                  <a:pt x="940236" y="251886"/>
                </a:lnTo>
                <a:lnTo>
                  <a:pt x="935813" y="289729"/>
                </a:lnTo>
                <a:close/>
                <a:moveTo>
                  <a:pt x="3524463" y="289742"/>
                </a:moveTo>
                <a:lnTo>
                  <a:pt x="3477161" y="294974"/>
                </a:lnTo>
                <a:lnTo>
                  <a:pt x="3429121" y="300001"/>
                </a:lnTo>
                <a:lnTo>
                  <a:pt x="3425155" y="262108"/>
                </a:lnTo>
                <a:lnTo>
                  <a:pt x="3472972" y="257105"/>
                </a:lnTo>
                <a:lnTo>
                  <a:pt x="3520274" y="251873"/>
                </a:lnTo>
                <a:lnTo>
                  <a:pt x="3524463" y="289742"/>
                </a:lnTo>
                <a:close/>
                <a:moveTo>
                  <a:pt x="1107984" y="307465"/>
                </a:moveTo>
                <a:lnTo>
                  <a:pt x="1059977" y="302873"/>
                </a:lnTo>
                <a:lnTo>
                  <a:pt x="1012430" y="298063"/>
                </a:lnTo>
                <a:lnTo>
                  <a:pt x="1016265" y="260156"/>
                </a:lnTo>
                <a:lnTo>
                  <a:pt x="1063604" y="264947"/>
                </a:lnTo>
                <a:lnTo>
                  <a:pt x="1111612" y="269538"/>
                </a:lnTo>
                <a:lnTo>
                  <a:pt x="1107984" y="307465"/>
                </a:lnTo>
                <a:close/>
                <a:moveTo>
                  <a:pt x="3352310" y="307474"/>
                </a:moveTo>
                <a:lnTo>
                  <a:pt x="3305339" y="311719"/>
                </a:lnTo>
                <a:lnTo>
                  <a:pt x="3257790" y="315776"/>
                </a:lnTo>
                <a:lnTo>
                  <a:pt x="3254552" y="277814"/>
                </a:lnTo>
                <a:lnTo>
                  <a:pt x="3301910" y="273773"/>
                </a:lnTo>
                <a:lnTo>
                  <a:pt x="3348881" y="269529"/>
                </a:lnTo>
                <a:lnTo>
                  <a:pt x="3352310" y="307474"/>
                </a:lnTo>
                <a:close/>
                <a:moveTo>
                  <a:pt x="1278290" y="321759"/>
                </a:moveTo>
                <a:lnTo>
                  <a:pt x="1230948" y="318084"/>
                </a:lnTo>
                <a:lnTo>
                  <a:pt x="1183947" y="314212"/>
                </a:lnTo>
                <a:lnTo>
                  <a:pt x="1187075" y="276241"/>
                </a:lnTo>
                <a:lnTo>
                  <a:pt x="1233897" y="280098"/>
                </a:lnTo>
                <a:lnTo>
                  <a:pt x="1281239" y="283773"/>
                </a:lnTo>
                <a:lnTo>
                  <a:pt x="1278290" y="321759"/>
                </a:lnTo>
                <a:close/>
                <a:moveTo>
                  <a:pt x="3182016" y="321766"/>
                </a:moveTo>
                <a:lnTo>
                  <a:pt x="3134265" y="325252"/>
                </a:lnTo>
                <a:lnTo>
                  <a:pt x="3086040" y="328556"/>
                </a:lnTo>
                <a:lnTo>
                  <a:pt x="3083436" y="290545"/>
                </a:lnTo>
                <a:lnTo>
                  <a:pt x="3131491" y="287253"/>
                </a:lnTo>
                <a:lnTo>
                  <a:pt x="3179242" y="283767"/>
                </a:lnTo>
                <a:lnTo>
                  <a:pt x="3182016" y="321766"/>
                </a:lnTo>
                <a:close/>
                <a:moveTo>
                  <a:pt x="1452262" y="333448"/>
                </a:moveTo>
                <a:lnTo>
                  <a:pt x="1403547" y="330452"/>
                </a:lnTo>
                <a:lnTo>
                  <a:pt x="1355103" y="327263"/>
                </a:lnTo>
                <a:lnTo>
                  <a:pt x="1357606" y="289245"/>
                </a:lnTo>
                <a:lnTo>
                  <a:pt x="1405885" y="292424"/>
                </a:lnTo>
                <a:lnTo>
                  <a:pt x="1454600" y="295420"/>
                </a:lnTo>
                <a:lnTo>
                  <a:pt x="1452262" y="333448"/>
                </a:lnTo>
                <a:close/>
                <a:moveTo>
                  <a:pt x="3008053" y="333453"/>
                </a:moveTo>
                <a:lnTo>
                  <a:pt x="2960342" y="336185"/>
                </a:lnTo>
                <a:lnTo>
                  <a:pt x="2912260" y="338744"/>
                </a:lnTo>
                <a:lnTo>
                  <a:pt x="2910235" y="300698"/>
                </a:lnTo>
                <a:lnTo>
                  <a:pt x="2958163" y="298148"/>
                </a:lnTo>
                <a:lnTo>
                  <a:pt x="3005874" y="295415"/>
                </a:lnTo>
                <a:lnTo>
                  <a:pt x="3008053" y="333453"/>
                </a:lnTo>
                <a:close/>
                <a:moveTo>
                  <a:pt x="1624263" y="342403"/>
                </a:moveTo>
                <a:lnTo>
                  <a:pt x="1576683" y="340172"/>
                </a:lnTo>
                <a:lnTo>
                  <a:pt x="1529281" y="337764"/>
                </a:lnTo>
                <a:lnTo>
                  <a:pt x="1531214" y="299713"/>
                </a:lnTo>
                <a:lnTo>
                  <a:pt x="1578468" y="302113"/>
                </a:lnTo>
                <a:lnTo>
                  <a:pt x="1626048" y="304345"/>
                </a:lnTo>
                <a:lnTo>
                  <a:pt x="1624263" y="342403"/>
                </a:lnTo>
                <a:close/>
                <a:moveTo>
                  <a:pt x="2836059" y="342406"/>
                </a:moveTo>
                <a:lnTo>
                  <a:pt x="2788244" y="344466"/>
                </a:lnTo>
                <a:lnTo>
                  <a:pt x="2740141" y="346355"/>
                </a:lnTo>
                <a:lnTo>
                  <a:pt x="2738646" y="308284"/>
                </a:lnTo>
                <a:lnTo>
                  <a:pt x="2786604" y="306401"/>
                </a:lnTo>
                <a:lnTo>
                  <a:pt x="2834419" y="304342"/>
                </a:lnTo>
                <a:lnTo>
                  <a:pt x="2836059" y="342406"/>
                </a:lnTo>
                <a:close/>
                <a:moveTo>
                  <a:pt x="1797616" y="349019"/>
                </a:moveTo>
                <a:lnTo>
                  <a:pt x="1749280" y="347408"/>
                </a:lnTo>
                <a:lnTo>
                  <a:pt x="1701059" y="345623"/>
                </a:lnTo>
                <a:lnTo>
                  <a:pt x="1702469" y="307549"/>
                </a:lnTo>
                <a:lnTo>
                  <a:pt x="1750549" y="309329"/>
                </a:lnTo>
                <a:lnTo>
                  <a:pt x="1798884" y="310940"/>
                </a:lnTo>
                <a:lnTo>
                  <a:pt x="1797616" y="349019"/>
                </a:lnTo>
                <a:close/>
                <a:moveTo>
                  <a:pt x="2662709" y="349021"/>
                </a:moveTo>
                <a:lnTo>
                  <a:pt x="2614627" y="350447"/>
                </a:lnTo>
                <a:lnTo>
                  <a:pt x="2566331" y="351705"/>
                </a:lnTo>
                <a:lnTo>
                  <a:pt x="2565338" y="313618"/>
                </a:lnTo>
                <a:lnTo>
                  <a:pt x="2613497" y="312364"/>
                </a:lnTo>
                <a:lnTo>
                  <a:pt x="2661580" y="310938"/>
                </a:lnTo>
                <a:lnTo>
                  <a:pt x="2662709" y="349021"/>
                </a:lnTo>
                <a:close/>
                <a:moveTo>
                  <a:pt x="1970573" y="353346"/>
                </a:moveTo>
                <a:lnTo>
                  <a:pt x="1922789" y="352372"/>
                </a:lnTo>
                <a:lnTo>
                  <a:pt x="1875050" y="351231"/>
                </a:lnTo>
                <a:lnTo>
                  <a:pt x="1875961" y="313141"/>
                </a:lnTo>
                <a:lnTo>
                  <a:pt x="1923566" y="314280"/>
                </a:lnTo>
                <a:lnTo>
                  <a:pt x="1971350" y="315254"/>
                </a:lnTo>
                <a:lnTo>
                  <a:pt x="1970573" y="353346"/>
                </a:lnTo>
                <a:close/>
                <a:moveTo>
                  <a:pt x="2489755" y="353348"/>
                </a:moveTo>
                <a:lnTo>
                  <a:pt x="2441875" y="354157"/>
                </a:lnTo>
                <a:lnTo>
                  <a:pt x="2393852" y="354802"/>
                </a:lnTo>
                <a:lnTo>
                  <a:pt x="2393340" y="316706"/>
                </a:lnTo>
                <a:lnTo>
                  <a:pt x="2441231" y="316062"/>
                </a:lnTo>
                <a:lnTo>
                  <a:pt x="2489111" y="315253"/>
                </a:lnTo>
                <a:lnTo>
                  <a:pt x="2489755" y="353348"/>
                </a:lnTo>
                <a:close/>
                <a:moveTo>
                  <a:pt x="2143498" y="355491"/>
                </a:moveTo>
                <a:lnTo>
                  <a:pt x="2095453" y="355111"/>
                </a:lnTo>
                <a:lnTo>
                  <a:pt x="2047392" y="354565"/>
                </a:lnTo>
                <a:lnTo>
                  <a:pt x="2047824" y="316467"/>
                </a:lnTo>
                <a:lnTo>
                  <a:pt x="2095754" y="317012"/>
                </a:lnTo>
                <a:lnTo>
                  <a:pt x="2143799" y="317392"/>
                </a:lnTo>
                <a:lnTo>
                  <a:pt x="2143498" y="355491"/>
                </a:lnTo>
                <a:close/>
                <a:moveTo>
                  <a:pt x="2316832" y="355491"/>
                </a:moveTo>
                <a:lnTo>
                  <a:pt x="2268755" y="355706"/>
                </a:lnTo>
                <a:lnTo>
                  <a:pt x="2220599" y="355755"/>
                </a:lnTo>
                <a:lnTo>
                  <a:pt x="2220560" y="317655"/>
                </a:lnTo>
                <a:lnTo>
                  <a:pt x="2268585" y="317606"/>
                </a:lnTo>
                <a:lnTo>
                  <a:pt x="2316662" y="317391"/>
                </a:lnTo>
                <a:lnTo>
                  <a:pt x="2316832" y="355491"/>
                </a:lnTo>
                <a:close/>
              </a:path>
            </a:pathLst>
          </a:custGeom>
          <a:solidFill>
            <a:srgbClr val="D4A017"/>
          </a:solidFill>
          <a:ln>
            <a:noFill/>
          </a:ln>
        </p:spPr>
        <p:txBody>
          <a:bodyPr/>
          <a:lstStyle/>
          <a:p>
            <a:endParaRPr lang="en-US" sz="120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p:cNvSpPr/>
          <p:nvPr/>
        </p:nvSpPr>
        <p:spPr>
          <a:xfrm>
            <a:off x="0" y="0"/>
            <a:ext cx="12192000" cy="6858000"/>
          </a:xfrm>
          <a:prstGeom prst="rect">
            <a:avLst/>
          </a:prstGeom>
          <a:solidFill>
            <a:srgbClr val="F7F9F6"/>
          </a:solidFill>
          <a:ln>
            <a:noFill/>
          </a:ln>
        </p:spPr>
        <p:txBody>
          <a:bodyPr/>
          <a:lstStyle/>
          <a:p>
            <a:endParaRPr lang="en-US" sz="1200"/>
          </a:p>
        </p:txBody>
      </p:sp>
      <p:sp>
        <p:nvSpPr>
          <p:cNvPr id="4" name="Rectangle"/>
          <p:cNvSpPr/>
          <p:nvPr/>
        </p:nvSpPr>
        <p:spPr>
          <a:xfrm>
            <a:off x="6731000" y="508000"/>
            <a:ext cx="4826000" cy="5842000"/>
          </a:xfrm>
          <a:prstGeom prst="roundRect">
            <a:avLst>
              <a:gd name="adj" fmla="val 2631"/>
            </a:avLst>
          </a:prstGeom>
          <a:solidFill>
            <a:srgbClr val="FFFFFF"/>
          </a:solidFill>
          <a:ln>
            <a:noFill/>
          </a:ln>
        </p:spPr>
        <p:txBody>
          <a:bodyPr/>
          <a:lstStyle/>
          <a:p>
            <a:endParaRPr lang="en-US" sz="1200"/>
          </a:p>
        </p:txBody>
      </p:sp>
      <p:sp>
        <p:nvSpPr>
          <p:cNvPr id="5" name="TextBox"/>
          <p:cNvSpPr txBox="1"/>
          <p:nvPr/>
        </p:nvSpPr>
        <p:spPr>
          <a:xfrm>
            <a:off x="7010400" y="953062"/>
            <a:ext cx="3810000" cy="457200"/>
          </a:xfrm>
          <a:prstGeom prst="rect">
            <a:avLst/>
          </a:prstGeom>
          <a:noFill/>
          <a:ln>
            <a:noFill/>
          </a:ln>
        </p:spPr>
        <p:txBody>
          <a:bodyPr wrap="none" lIns="0" tIns="0" rIns="0" bIns="0"/>
          <a:lstStyle/>
          <a:p>
            <a:r>
              <a:rPr lang="zh-CN" altLang="en-US" sz="2500" dirty="0">
                <a:solidFill>
                  <a:srgbClr val="14342A"/>
                </a:solidFill>
                <a:latin typeface="Noto Sans SC"/>
                <a:ea typeface="Noto Sans SC"/>
                <a:cs typeface="Noto Sans SC"/>
              </a:rPr>
              <a:t>贵屿：世界电子垃圾拆解场</a:t>
            </a:r>
          </a:p>
        </p:txBody>
      </p:sp>
      <p:sp>
        <p:nvSpPr>
          <p:cNvPr id="7" name="TextBox"/>
          <p:cNvSpPr txBox="1"/>
          <p:nvPr/>
        </p:nvSpPr>
        <p:spPr>
          <a:xfrm>
            <a:off x="7016394" y="1664262"/>
            <a:ext cx="4176980" cy="584200"/>
          </a:xfrm>
          <a:prstGeom prst="rect">
            <a:avLst/>
          </a:prstGeom>
          <a:noFill/>
          <a:ln>
            <a:noFill/>
          </a:ln>
        </p:spPr>
        <p:txBody>
          <a:bodyPr wrap="square" lIns="0" tIns="0" rIns="0" bIns="0"/>
          <a:lstStyle/>
          <a:p>
            <a:r>
              <a:rPr lang="zh-CN" altLang="en-US" sz="1600" dirty="0">
                <a:solidFill>
                  <a:srgbClr val="3D4F47"/>
                </a:solidFill>
                <a:latin typeface="Noto Sans SC"/>
                <a:ea typeface="Noto Sans SC"/>
                <a:cs typeface="Noto Sans SC"/>
              </a:rPr>
              <a:t>自</a:t>
            </a:r>
            <a:r>
              <a:rPr lang="en-US" altLang="zh-CN" sz="1600" dirty="0">
                <a:solidFill>
                  <a:srgbClr val="3D4F47"/>
                </a:solidFill>
                <a:latin typeface="Noto Sans SC"/>
                <a:ea typeface="Noto Sans SC"/>
                <a:cs typeface="Noto Sans SC"/>
              </a:rPr>
              <a:t>1990</a:t>
            </a:r>
            <a:r>
              <a:rPr lang="zh-CN" altLang="en-US" sz="1600" dirty="0">
                <a:solidFill>
                  <a:srgbClr val="3D4F47"/>
                </a:solidFill>
                <a:latin typeface="Noto Sans SC"/>
                <a:ea typeface="Noto Sans SC"/>
                <a:cs typeface="Noto Sans SC"/>
              </a:rPr>
              <a:t>年起，</a:t>
            </a:r>
            <a:r>
              <a:rPr lang="en-US" altLang="zh-CN" sz="1600" dirty="0">
                <a:solidFill>
                  <a:srgbClr val="3D4F47"/>
                </a:solidFill>
                <a:latin typeface="Noto Sans SC"/>
                <a:ea typeface="Noto Sans SC"/>
                <a:cs typeface="Noto Sans SC"/>
              </a:rPr>
              <a:t>5169 </a:t>
            </a:r>
            <a:r>
              <a:rPr lang="zh-CN" altLang="en-US" sz="1600" dirty="0">
                <a:solidFill>
                  <a:srgbClr val="3D4F47"/>
                </a:solidFill>
                <a:latin typeface="Noto Sans SC"/>
                <a:ea typeface="Noto Sans SC"/>
                <a:cs typeface="Noto Sans SC"/>
              </a:rPr>
              <a:t>家 拆解经营单位（</a:t>
            </a:r>
            <a:r>
              <a:rPr lang="en-US" altLang="zh-CN" sz="1600" dirty="0">
                <a:solidFill>
                  <a:srgbClr val="3D4F47"/>
                </a:solidFill>
                <a:latin typeface="Noto Sans SC"/>
                <a:ea typeface="Noto Sans SC"/>
                <a:cs typeface="Noto Sans SC"/>
              </a:rPr>
              <a:t>2012 </a:t>
            </a:r>
            <a:r>
              <a:rPr lang="zh-CN" altLang="en-US" sz="1600" dirty="0">
                <a:solidFill>
                  <a:srgbClr val="3D4F47"/>
                </a:solidFill>
                <a:latin typeface="Noto Sans SC"/>
                <a:ea typeface="Noto Sans SC"/>
                <a:cs typeface="Noto Sans SC"/>
              </a:rPr>
              <a:t>年），从业 </a:t>
            </a:r>
            <a:r>
              <a:rPr lang="en-US" altLang="zh-CN" sz="1600" dirty="0">
                <a:solidFill>
                  <a:srgbClr val="3D4F47"/>
                </a:solidFill>
                <a:latin typeface="Noto Sans SC"/>
                <a:ea typeface="Noto Sans SC"/>
                <a:cs typeface="Noto Sans SC"/>
              </a:rPr>
              <a:t>17282 </a:t>
            </a:r>
            <a:r>
              <a:rPr lang="zh-CN" altLang="en-US" sz="1600" dirty="0">
                <a:solidFill>
                  <a:srgbClr val="3D4F47"/>
                </a:solidFill>
                <a:latin typeface="Noto Sans SC"/>
                <a:ea typeface="Noto Sans SC"/>
                <a:cs typeface="Noto Sans SC"/>
              </a:rPr>
              <a:t>人，年处理 </a:t>
            </a:r>
            <a:r>
              <a:rPr lang="en-US" altLang="zh-CN" sz="1600" dirty="0">
                <a:solidFill>
                  <a:srgbClr val="3D4F47"/>
                </a:solidFill>
                <a:latin typeface="Noto Sans SC"/>
                <a:ea typeface="Noto Sans SC"/>
                <a:cs typeface="Noto Sans SC"/>
              </a:rPr>
              <a:t>107.8 </a:t>
            </a:r>
            <a:r>
              <a:rPr lang="zh-CN" altLang="en-US" sz="1600" dirty="0">
                <a:solidFill>
                  <a:srgbClr val="3D4F47"/>
                </a:solidFill>
                <a:latin typeface="Noto Sans SC"/>
                <a:ea typeface="Noto Sans SC"/>
                <a:cs typeface="Noto Sans SC"/>
              </a:rPr>
              <a:t>万吨，超 </a:t>
            </a:r>
            <a:r>
              <a:rPr lang="en-US" altLang="zh-CN" sz="1600" dirty="0">
                <a:solidFill>
                  <a:srgbClr val="3D4F47"/>
                </a:solidFill>
                <a:latin typeface="Noto Sans SC"/>
                <a:ea typeface="Noto Sans SC"/>
                <a:cs typeface="Noto Sans SC"/>
              </a:rPr>
              <a:t>80% </a:t>
            </a:r>
            <a:r>
              <a:rPr lang="zh-CN" altLang="en-US" sz="1600" dirty="0">
                <a:solidFill>
                  <a:srgbClr val="3D4F47"/>
                </a:solidFill>
                <a:latin typeface="Noto Sans SC"/>
                <a:ea typeface="Noto Sans SC"/>
                <a:cs typeface="Noto Sans SC"/>
              </a:rPr>
              <a:t>电子垃圾在这里处理。</a:t>
            </a:r>
            <a:endParaRPr lang="en-US" altLang="zh-CN" sz="1600" dirty="0">
              <a:solidFill>
                <a:srgbClr val="3D4F47"/>
              </a:solidFill>
              <a:latin typeface="Noto Sans SC"/>
              <a:ea typeface="Noto Sans SC"/>
              <a:cs typeface="Noto Sans SC"/>
            </a:endParaRPr>
          </a:p>
        </p:txBody>
      </p:sp>
      <p:sp>
        <p:nvSpPr>
          <p:cNvPr id="8" name="TextBox"/>
          <p:cNvSpPr txBox="1"/>
          <p:nvPr/>
        </p:nvSpPr>
        <p:spPr>
          <a:xfrm>
            <a:off x="7010400" y="2555594"/>
            <a:ext cx="4111549" cy="876300"/>
          </a:xfrm>
          <a:prstGeom prst="rect">
            <a:avLst/>
          </a:prstGeom>
          <a:noFill/>
          <a:ln>
            <a:noFill/>
          </a:ln>
        </p:spPr>
        <p:txBody>
          <a:bodyPr wrap="square" lIns="0" tIns="0" rIns="0" bIns="0"/>
          <a:lstStyle/>
          <a:p>
            <a:r>
              <a:rPr lang="zh-CN" altLang="en-US" sz="1600" dirty="0">
                <a:solidFill>
                  <a:srgbClr val="3D4F47"/>
                </a:solidFill>
                <a:latin typeface="Noto Sans SC"/>
                <a:ea typeface="Noto Sans SC"/>
                <a:cs typeface="Noto Sans SC"/>
              </a:rPr>
              <a:t>“家家拆解，户户冒烟；酸液排河，黑云蔽天”，造成了很大的环境污染。</a:t>
            </a:r>
            <a:endParaRPr lang="en-US" altLang="zh-CN" sz="1600" dirty="0">
              <a:solidFill>
                <a:srgbClr val="3D4F47"/>
              </a:solidFill>
              <a:latin typeface="Noto Sans SC"/>
              <a:ea typeface="Noto Sans SC"/>
              <a:cs typeface="Noto Sans SC"/>
            </a:endParaRPr>
          </a:p>
        </p:txBody>
      </p:sp>
      <p:sp>
        <p:nvSpPr>
          <p:cNvPr id="9" name="TextBox"/>
          <p:cNvSpPr txBox="1"/>
          <p:nvPr/>
        </p:nvSpPr>
        <p:spPr>
          <a:xfrm>
            <a:off x="7010400" y="3193488"/>
            <a:ext cx="4064407" cy="876300"/>
          </a:xfrm>
          <a:prstGeom prst="rect">
            <a:avLst/>
          </a:prstGeom>
          <a:noFill/>
          <a:ln>
            <a:noFill/>
          </a:ln>
        </p:spPr>
        <p:txBody>
          <a:bodyPr wrap="square" lIns="0" tIns="0" rIns="0" bIns="0"/>
          <a:lstStyle/>
          <a:p>
            <a:r>
              <a:rPr lang="en-US" altLang="zh-CN" sz="1600" dirty="0">
                <a:solidFill>
                  <a:srgbClr val="3D4F47"/>
                </a:solidFill>
                <a:latin typeface="Noto Sans SC"/>
                <a:ea typeface="Noto Sans SC"/>
                <a:cs typeface="Noto Sans SC"/>
              </a:rPr>
              <a:t>2012 </a:t>
            </a:r>
            <a:r>
              <a:rPr lang="zh-CN" altLang="en-US" sz="1600" dirty="0">
                <a:solidFill>
                  <a:srgbClr val="3D4F47"/>
                </a:solidFill>
                <a:latin typeface="Noto Sans SC"/>
                <a:ea typeface="Noto Sans SC"/>
                <a:cs typeface="Noto Sans SC"/>
              </a:rPr>
              <a:t>年启动整治，</a:t>
            </a:r>
            <a:r>
              <a:rPr lang="en-US" altLang="zh-CN" sz="1600" dirty="0">
                <a:solidFill>
                  <a:srgbClr val="3D4F47"/>
                </a:solidFill>
                <a:latin typeface="Noto Sans SC"/>
                <a:ea typeface="Noto Sans SC"/>
                <a:cs typeface="Noto Sans SC"/>
              </a:rPr>
              <a:t>2015 </a:t>
            </a:r>
            <a:r>
              <a:rPr lang="zh-CN" altLang="en-US" sz="1600" dirty="0">
                <a:solidFill>
                  <a:srgbClr val="3D4F47"/>
                </a:solidFill>
                <a:latin typeface="Noto Sans SC"/>
                <a:ea typeface="Noto Sans SC"/>
                <a:cs typeface="Noto Sans SC"/>
              </a:rPr>
              <a:t>年循环经济产业园建成。</a:t>
            </a:r>
            <a:endParaRPr lang="en-US" altLang="zh-CN" sz="1600" dirty="0">
              <a:solidFill>
                <a:srgbClr val="3D4F47"/>
              </a:solidFill>
              <a:latin typeface="Noto Sans SC"/>
              <a:ea typeface="Noto Sans SC"/>
              <a:cs typeface="Noto Sans SC"/>
            </a:endParaRPr>
          </a:p>
        </p:txBody>
      </p:sp>
      <p:sp>
        <p:nvSpPr>
          <p:cNvPr id="10" name="TextBox"/>
          <p:cNvSpPr txBox="1"/>
          <p:nvPr/>
        </p:nvSpPr>
        <p:spPr>
          <a:xfrm>
            <a:off x="7010400" y="3831382"/>
            <a:ext cx="4188969" cy="876300"/>
          </a:xfrm>
          <a:prstGeom prst="rect">
            <a:avLst/>
          </a:prstGeom>
          <a:noFill/>
          <a:ln>
            <a:noFill/>
          </a:ln>
        </p:spPr>
        <p:txBody>
          <a:bodyPr wrap="square" lIns="0" tIns="0" rIns="0" bIns="0"/>
          <a:lstStyle/>
          <a:p>
            <a:r>
              <a:rPr lang="en-US" altLang="zh-CN" sz="1600" dirty="0">
                <a:solidFill>
                  <a:srgbClr val="3D4F47"/>
                </a:solidFill>
                <a:latin typeface="Noto Sans SC"/>
                <a:ea typeface="Noto Sans SC"/>
                <a:cs typeface="Noto Sans SC"/>
              </a:rPr>
              <a:t>2025 </a:t>
            </a:r>
            <a:r>
              <a:rPr lang="zh-CN" altLang="en-US" sz="1600" dirty="0">
                <a:solidFill>
                  <a:srgbClr val="3D4F47"/>
                </a:solidFill>
                <a:latin typeface="Noto Sans SC"/>
                <a:ea typeface="Noto Sans SC"/>
                <a:cs typeface="Noto Sans SC"/>
              </a:rPr>
              <a:t>年全国首个手机安全回收示范项目落地：年处理废电路板 </a:t>
            </a:r>
            <a:r>
              <a:rPr lang="en-US" altLang="zh-CN" sz="1600" dirty="0">
                <a:solidFill>
                  <a:srgbClr val="3D4F47"/>
                </a:solidFill>
                <a:latin typeface="Noto Sans SC"/>
                <a:ea typeface="Noto Sans SC"/>
                <a:cs typeface="Noto Sans SC"/>
              </a:rPr>
              <a:t>1.2 </a:t>
            </a:r>
            <a:r>
              <a:rPr lang="zh-CN" altLang="en-US" sz="1600" dirty="0">
                <a:solidFill>
                  <a:srgbClr val="3D4F47"/>
                </a:solidFill>
                <a:latin typeface="Noto Sans SC"/>
                <a:ea typeface="Noto Sans SC"/>
                <a:cs typeface="Noto Sans SC"/>
              </a:rPr>
              <a:t>万吨，金属综合回收率超 </a:t>
            </a:r>
            <a:r>
              <a:rPr lang="en-US" altLang="zh-CN" sz="1600" dirty="0">
                <a:solidFill>
                  <a:srgbClr val="3D4F47"/>
                </a:solidFill>
                <a:latin typeface="Noto Sans SC"/>
                <a:ea typeface="Noto Sans SC"/>
                <a:cs typeface="Noto Sans SC"/>
              </a:rPr>
              <a:t>98%</a:t>
            </a:r>
            <a:r>
              <a:rPr lang="zh-CN" altLang="en-US" sz="1600" dirty="0">
                <a:solidFill>
                  <a:srgbClr val="3D4F47"/>
                </a:solidFill>
                <a:latin typeface="Noto Sans SC"/>
                <a:ea typeface="Noto Sans SC"/>
                <a:cs typeface="Noto Sans SC"/>
              </a:rPr>
              <a:t>。</a:t>
            </a:r>
            <a:endParaRPr lang="en-US" altLang="zh-CN" sz="1600" dirty="0">
              <a:solidFill>
                <a:srgbClr val="3D4F47"/>
              </a:solidFill>
              <a:latin typeface="Noto Sans SC"/>
              <a:ea typeface="Noto Sans SC"/>
              <a:cs typeface="Noto Sans SC"/>
            </a:endParaRPr>
          </a:p>
          <a:p>
            <a:endParaRPr lang="en-US" altLang="zh-CN" sz="1600" dirty="0">
              <a:solidFill>
                <a:srgbClr val="3D4F47"/>
              </a:solidFill>
              <a:latin typeface="Noto Sans SC"/>
              <a:ea typeface="Noto Sans SC"/>
              <a:cs typeface="Noto Sans SC"/>
            </a:endParaRPr>
          </a:p>
          <a:p>
            <a:r>
              <a:rPr lang="zh-CN" altLang="en-US" sz="1600" dirty="0">
                <a:solidFill>
                  <a:srgbClr val="3D4F47"/>
                </a:solidFill>
                <a:latin typeface="Noto Sans SC"/>
                <a:ea typeface="Noto Sans SC"/>
                <a:cs typeface="Noto Sans SC"/>
              </a:rPr>
              <a:t>广东汕头贵屿循环经济产业园项目打造了一个实践样本。据了解，</a:t>
            </a:r>
            <a:r>
              <a:rPr lang="en-US" altLang="zh-CN" sz="1600" dirty="0">
                <a:solidFill>
                  <a:srgbClr val="3D4F47"/>
                </a:solidFill>
                <a:latin typeface="Noto Sans SC"/>
                <a:ea typeface="Noto Sans SC"/>
                <a:cs typeface="Noto Sans SC"/>
              </a:rPr>
              <a:t>2026</a:t>
            </a:r>
            <a:r>
              <a:rPr lang="zh-CN" altLang="en-US" sz="1600" dirty="0">
                <a:solidFill>
                  <a:srgbClr val="3D4F47"/>
                </a:solidFill>
                <a:latin typeface="Noto Sans SC"/>
                <a:ea typeface="Noto Sans SC"/>
                <a:cs typeface="Noto Sans SC"/>
              </a:rPr>
              <a:t>年</a:t>
            </a:r>
            <a:r>
              <a:rPr lang="en-US" altLang="zh-CN" sz="1600" dirty="0">
                <a:solidFill>
                  <a:srgbClr val="3D4F47"/>
                </a:solidFill>
                <a:latin typeface="Noto Sans SC"/>
                <a:ea typeface="Noto Sans SC"/>
                <a:cs typeface="Noto Sans SC"/>
              </a:rPr>
              <a:t>1</a:t>
            </a:r>
            <a:r>
              <a:rPr lang="zh-CN" altLang="en-US" sz="1600" dirty="0">
                <a:solidFill>
                  <a:srgbClr val="3D4F47"/>
                </a:solidFill>
                <a:latin typeface="Noto Sans SC"/>
                <a:ea typeface="Noto Sans SC"/>
                <a:cs typeface="Noto Sans SC"/>
              </a:rPr>
              <a:t>月，汕头市生态环境局启动“汕头市潮阳区贵屿循环经济产业园区‘无废园区’标准化管理体系建设”，目标指向强园区工业固废全过程可溯源管理。</a:t>
            </a:r>
            <a:endParaRPr lang="en-US" altLang="zh-CN" sz="1600" dirty="0">
              <a:solidFill>
                <a:srgbClr val="3D4F47"/>
              </a:solidFill>
              <a:latin typeface="Noto Sans SC"/>
              <a:ea typeface="Noto Sans SC"/>
              <a:cs typeface="Noto Sans SC"/>
            </a:endParaRPr>
          </a:p>
        </p:txBody>
      </p:sp>
      <p:pic>
        <p:nvPicPr>
          <p:cNvPr id="12" name="图片 11">
            <a:extLst>
              <a:ext uri="{FF2B5EF4-FFF2-40B4-BE49-F238E27FC236}">
                <a16:creationId xmlns:a16="http://schemas.microsoft.com/office/drawing/2014/main" id="{4907935C-895E-A8F7-F8FE-FB5775E871BF}"/>
              </a:ext>
            </a:extLst>
          </p:cNvPr>
          <p:cNvPicPr>
            <a:picLocks noChangeAspect="1"/>
          </p:cNvPicPr>
          <p:nvPr/>
        </p:nvPicPr>
        <p:blipFill>
          <a:blip r:embed="rId2"/>
          <a:stretch>
            <a:fillRect/>
          </a:stretch>
        </p:blipFill>
        <p:spPr>
          <a:xfrm>
            <a:off x="317500" y="1949181"/>
            <a:ext cx="6096000" cy="316088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p:cNvSpPr/>
          <p:nvPr/>
        </p:nvSpPr>
        <p:spPr>
          <a:xfrm>
            <a:off x="0" y="0"/>
            <a:ext cx="12192000" cy="6858000"/>
          </a:xfrm>
          <a:prstGeom prst="rect">
            <a:avLst/>
          </a:prstGeom>
          <a:solidFill>
            <a:srgbClr val="F7F9F6"/>
          </a:solidFill>
          <a:ln>
            <a:noFill/>
          </a:ln>
        </p:spPr>
        <p:txBody>
          <a:bodyPr/>
          <a:lstStyle/>
          <a:p>
            <a:endParaRPr lang="en-US" sz="1200"/>
          </a:p>
        </p:txBody>
      </p:sp>
      <p:sp>
        <p:nvSpPr>
          <p:cNvPr id="4" name="TextBox"/>
          <p:cNvSpPr txBox="1"/>
          <p:nvPr/>
        </p:nvSpPr>
        <p:spPr>
          <a:xfrm>
            <a:off x="762000" y="863600"/>
            <a:ext cx="6045200" cy="622300"/>
          </a:xfrm>
          <a:prstGeom prst="rect">
            <a:avLst/>
          </a:prstGeom>
          <a:noFill/>
          <a:ln>
            <a:noFill/>
          </a:ln>
        </p:spPr>
        <p:txBody>
          <a:bodyPr wrap="none" lIns="0" tIns="0" rIns="0" bIns="0"/>
          <a:lstStyle/>
          <a:p>
            <a:r>
              <a:rPr lang="zh-CN" altLang="en-US" sz="3400">
                <a:solidFill>
                  <a:srgbClr val="10190F"/>
                </a:solidFill>
                <a:latin typeface="Noto Sans SC Bold"/>
                <a:ea typeface="Noto Sans SC Bold"/>
                <a:cs typeface="Noto Sans SC Bold"/>
              </a:rPr>
              <a:t>回收工艺全流程：从废板到金锭</a:t>
            </a:r>
          </a:p>
        </p:txBody>
      </p:sp>
      <p:sp>
        <p:nvSpPr>
          <p:cNvPr id="5" name="Rectangle"/>
          <p:cNvSpPr/>
          <p:nvPr/>
        </p:nvSpPr>
        <p:spPr>
          <a:xfrm>
            <a:off x="762000" y="2184400"/>
            <a:ext cx="2032000" cy="1098550"/>
          </a:xfrm>
          <a:prstGeom prst="roundRect">
            <a:avLst>
              <a:gd name="adj" fmla="val 9248"/>
            </a:avLst>
          </a:prstGeom>
          <a:solidFill>
            <a:srgbClr val="FFFFFF"/>
          </a:solidFill>
          <a:ln>
            <a:noFill/>
          </a:ln>
          <a:effectLst>
            <a:outerShdw blurRad="57150" dist="38100" dir="5400000" algn="ctr" rotWithShape="0">
              <a:srgbClr val="0F140F">
                <a:alpha val="8000"/>
              </a:srgbClr>
            </a:outerShdw>
          </a:effectLst>
        </p:spPr>
        <p:txBody>
          <a:bodyPr/>
          <a:lstStyle/>
          <a:p>
            <a:endParaRPr lang="en-US" sz="1200"/>
          </a:p>
        </p:txBody>
      </p:sp>
      <p:sp>
        <p:nvSpPr>
          <p:cNvPr id="6" name="TextBox"/>
          <p:cNvSpPr txBox="1"/>
          <p:nvPr/>
        </p:nvSpPr>
        <p:spPr>
          <a:xfrm>
            <a:off x="939800" y="2362200"/>
            <a:ext cx="309372" cy="368300"/>
          </a:xfrm>
          <a:prstGeom prst="rect">
            <a:avLst/>
          </a:prstGeom>
          <a:noFill/>
          <a:ln>
            <a:noFill/>
          </a:ln>
        </p:spPr>
        <p:txBody>
          <a:bodyPr wrap="none" lIns="0" tIns="0" rIns="0" bIns="0"/>
          <a:lstStyle/>
          <a:p>
            <a:r>
              <a:rPr lang="en-US" sz="2000">
                <a:solidFill>
                  <a:srgbClr val="10B981"/>
                </a:solidFill>
                <a:effectLst>
                  <a:outerShdw blurRad="57150" dist="38100" dir="5400000" algn="ctr" rotWithShape="0">
                    <a:srgbClr val="0F140F">
                      <a:alpha val="8000"/>
                    </a:srgbClr>
                  </a:outerShdw>
                </a:effectLst>
                <a:latin typeface="Noto Sans SC"/>
                <a:ea typeface="Noto Sans SC"/>
                <a:cs typeface="Noto Sans SC"/>
              </a:rPr>
              <a:t>01</a:t>
            </a:r>
          </a:p>
        </p:txBody>
      </p:sp>
      <p:sp>
        <p:nvSpPr>
          <p:cNvPr id="7" name="TextBox"/>
          <p:cNvSpPr txBox="1"/>
          <p:nvPr/>
        </p:nvSpPr>
        <p:spPr>
          <a:xfrm>
            <a:off x="939800" y="2794000"/>
            <a:ext cx="431800" cy="311150"/>
          </a:xfrm>
          <a:prstGeom prst="rect">
            <a:avLst/>
          </a:prstGeom>
          <a:noFill/>
          <a:ln>
            <a:noFill/>
          </a:ln>
        </p:spPr>
        <p:txBody>
          <a:bodyPr wrap="none" lIns="0" tIns="0" rIns="0" bIns="0"/>
          <a:lstStyle/>
          <a:p>
            <a:r>
              <a:rPr lang="zh-CN" altLang="en-US" sz="1700">
                <a:solidFill>
                  <a:srgbClr val="10190F"/>
                </a:solidFill>
                <a:effectLst>
                  <a:outerShdw blurRad="57150" dist="38100" dir="5400000" algn="ctr" rotWithShape="0">
                    <a:srgbClr val="0F140F">
                      <a:alpha val="8000"/>
                    </a:srgbClr>
                  </a:outerShdw>
                </a:effectLst>
                <a:latin typeface="Noto Sans SC Bold"/>
                <a:ea typeface="Noto Sans SC Bold"/>
                <a:cs typeface="Noto Sans SC Bold"/>
              </a:rPr>
              <a:t>收集</a:t>
            </a:r>
          </a:p>
        </p:txBody>
      </p:sp>
      <p:sp>
        <p:nvSpPr>
          <p:cNvPr id="8" name="Rectangle"/>
          <p:cNvSpPr/>
          <p:nvPr/>
        </p:nvSpPr>
        <p:spPr>
          <a:xfrm>
            <a:off x="2921000" y="2184400"/>
            <a:ext cx="2032000" cy="1098550"/>
          </a:xfrm>
          <a:prstGeom prst="roundRect">
            <a:avLst>
              <a:gd name="adj" fmla="val 9248"/>
            </a:avLst>
          </a:prstGeom>
          <a:solidFill>
            <a:srgbClr val="FFFFFF"/>
          </a:solidFill>
          <a:ln>
            <a:noFill/>
          </a:ln>
          <a:effectLst>
            <a:outerShdw blurRad="57150" dist="38100" dir="5400000" algn="ctr" rotWithShape="0">
              <a:srgbClr val="0F140F">
                <a:alpha val="8000"/>
              </a:srgbClr>
            </a:outerShdw>
          </a:effectLst>
        </p:spPr>
        <p:txBody>
          <a:bodyPr/>
          <a:lstStyle/>
          <a:p>
            <a:endParaRPr lang="en-US" sz="1200"/>
          </a:p>
        </p:txBody>
      </p:sp>
      <p:sp>
        <p:nvSpPr>
          <p:cNvPr id="9" name="TextBox"/>
          <p:cNvSpPr txBox="1"/>
          <p:nvPr/>
        </p:nvSpPr>
        <p:spPr>
          <a:xfrm>
            <a:off x="3098800" y="2362200"/>
            <a:ext cx="309372" cy="368300"/>
          </a:xfrm>
          <a:prstGeom prst="rect">
            <a:avLst/>
          </a:prstGeom>
          <a:noFill/>
          <a:ln>
            <a:noFill/>
          </a:ln>
        </p:spPr>
        <p:txBody>
          <a:bodyPr wrap="none" lIns="0" tIns="0" rIns="0" bIns="0"/>
          <a:lstStyle/>
          <a:p>
            <a:r>
              <a:rPr lang="en-US" sz="2000">
                <a:solidFill>
                  <a:srgbClr val="10B981"/>
                </a:solidFill>
                <a:effectLst>
                  <a:outerShdw blurRad="57150" dist="38100" dir="5400000" algn="ctr" rotWithShape="0">
                    <a:srgbClr val="0F140F">
                      <a:alpha val="8000"/>
                    </a:srgbClr>
                  </a:outerShdw>
                </a:effectLst>
                <a:latin typeface="Noto Sans SC"/>
                <a:ea typeface="Noto Sans SC"/>
                <a:cs typeface="Noto Sans SC"/>
              </a:rPr>
              <a:t>02</a:t>
            </a:r>
          </a:p>
        </p:txBody>
      </p:sp>
      <p:sp>
        <p:nvSpPr>
          <p:cNvPr id="10" name="TextBox"/>
          <p:cNvSpPr txBox="1"/>
          <p:nvPr/>
        </p:nvSpPr>
        <p:spPr>
          <a:xfrm>
            <a:off x="3098800" y="2794000"/>
            <a:ext cx="431800" cy="311150"/>
          </a:xfrm>
          <a:prstGeom prst="rect">
            <a:avLst/>
          </a:prstGeom>
          <a:noFill/>
          <a:ln>
            <a:noFill/>
          </a:ln>
        </p:spPr>
        <p:txBody>
          <a:bodyPr wrap="none" lIns="0" tIns="0" rIns="0" bIns="0"/>
          <a:lstStyle/>
          <a:p>
            <a:r>
              <a:rPr lang="zh-CN" altLang="en-US" sz="1700">
                <a:solidFill>
                  <a:srgbClr val="10190F"/>
                </a:solidFill>
                <a:effectLst>
                  <a:outerShdw blurRad="57150" dist="38100" dir="5400000" algn="ctr" rotWithShape="0">
                    <a:srgbClr val="0F140F">
                      <a:alpha val="8000"/>
                    </a:srgbClr>
                  </a:outerShdw>
                </a:effectLst>
                <a:latin typeface="Noto Sans SC Bold"/>
                <a:ea typeface="Noto Sans SC Bold"/>
                <a:cs typeface="Noto Sans SC Bold"/>
              </a:rPr>
              <a:t>分拣</a:t>
            </a:r>
          </a:p>
        </p:txBody>
      </p:sp>
      <p:sp>
        <p:nvSpPr>
          <p:cNvPr id="11" name="Rectangle"/>
          <p:cNvSpPr/>
          <p:nvPr/>
        </p:nvSpPr>
        <p:spPr>
          <a:xfrm>
            <a:off x="5080000" y="2184400"/>
            <a:ext cx="2032000" cy="1098550"/>
          </a:xfrm>
          <a:prstGeom prst="roundRect">
            <a:avLst>
              <a:gd name="adj" fmla="val 9248"/>
            </a:avLst>
          </a:prstGeom>
          <a:solidFill>
            <a:srgbClr val="FFFFFF"/>
          </a:solidFill>
          <a:ln>
            <a:noFill/>
          </a:ln>
          <a:effectLst>
            <a:outerShdw blurRad="57150" dist="38100" dir="5400000" algn="ctr" rotWithShape="0">
              <a:srgbClr val="0F140F">
                <a:alpha val="8000"/>
              </a:srgbClr>
            </a:outerShdw>
          </a:effectLst>
        </p:spPr>
        <p:txBody>
          <a:bodyPr/>
          <a:lstStyle/>
          <a:p>
            <a:endParaRPr lang="en-US" sz="1200"/>
          </a:p>
        </p:txBody>
      </p:sp>
      <p:sp>
        <p:nvSpPr>
          <p:cNvPr id="12" name="TextBox"/>
          <p:cNvSpPr txBox="1"/>
          <p:nvPr/>
        </p:nvSpPr>
        <p:spPr>
          <a:xfrm>
            <a:off x="5257800" y="2362200"/>
            <a:ext cx="309372" cy="368300"/>
          </a:xfrm>
          <a:prstGeom prst="rect">
            <a:avLst/>
          </a:prstGeom>
          <a:noFill/>
          <a:ln>
            <a:noFill/>
          </a:ln>
        </p:spPr>
        <p:txBody>
          <a:bodyPr wrap="none" lIns="0" tIns="0" rIns="0" bIns="0"/>
          <a:lstStyle/>
          <a:p>
            <a:r>
              <a:rPr lang="en-US" sz="2000">
                <a:solidFill>
                  <a:srgbClr val="10B981"/>
                </a:solidFill>
                <a:effectLst>
                  <a:outerShdw blurRad="57150" dist="38100" dir="5400000" algn="ctr" rotWithShape="0">
                    <a:srgbClr val="0F140F">
                      <a:alpha val="8000"/>
                    </a:srgbClr>
                  </a:outerShdw>
                </a:effectLst>
                <a:latin typeface="Noto Sans SC"/>
                <a:ea typeface="Noto Sans SC"/>
                <a:cs typeface="Noto Sans SC"/>
              </a:rPr>
              <a:t>03</a:t>
            </a:r>
          </a:p>
        </p:txBody>
      </p:sp>
      <p:sp>
        <p:nvSpPr>
          <p:cNvPr id="13" name="TextBox"/>
          <p:cNvSpPr txBox="1"/>
          <p:nvPr/>
        </p:nvSpPr>
        <p:spPr>
          <a:xfrm>
            <a:off x="5257800" y="2794000"/>
            <a:ext cx="431800" cy="311150"/>
          </a:xfrm>
          <a:prstGeom prst="rect">
            <a:avLst/>
          </a:prstGeom>
          <a:noFill/>
          <a:ln>
            <a:noFill/>
          </a:ln>
        </p:spPr>
        <p:txBody>
          <a:bodyPr wrap="none" lIns="0" tIns="0" rIns="0" bIns="0"/>
          <a:lstStyle/>
          <a:p>
            <a:r>
              <a:rPr lang="zh-CN" altLang="en-US" sz="1700">
                <a:solidFill>
                  <a:srgbClr val="10190F"/>
                </a:solidFill>
                <a:effectLst>
                  <a:outerShdw blurRad="57150" dist="38100" dir="5400000" algn="ctr" rotWithShape="0">
                    <a:srgbClr val="0F140F">
                      <a:alpha val="8000"/>
                    </a:srgbClr>
                  </a:outerShdw>
                </a:effectLst>
                <a:latin typeface="Noto Sans SC Bold"/>
                <a:ea typeface="Noto Sans SC Bold"/>
                <a:cs typeface="Noto Sans SC Bold"/>
              </a:rPr>
              <a:t>拆解</a:t>
            </a:r>
          </a:p>
        </p:txBody>
      </p:sp>
      <p:sp>
        <p:nvSpPr>
          <p:cNvPr id="14" name="Rectangle"/>
          <p:cNvSpPr/>
          <p:nvPr/>
        </p:nvSpPr>
        <p:spPr>
          <a:xfrm>
            <a:off x="7239000" y="2184400"/>
            <a:ext cx="2032000" cy="1098550"/>
          </a:xfrm>
          <a:prstGeom prst="roundRect">
            <a:avLst>
              <a:gd name="adj" fmla="val 9248"/>
            </a:avLst>
          </a:prstGeom>
          <a:solidFill>
            <a:srgbClr val="FFFFFF"/>
          </a:solidFill>
          <a:ln>
            <a:noFill/>
          </a:ln>
          <a:effectLst>
            <a:outerShdw blurRad="57150" dist="38100" dir="5400000" algn="ctr" rotWithShape="0">
              <a:srgbClr val="0F140F">
                <a:alpha val="8000"/>
              </a:srgbClr>
            </a:outerShdw>
          </a:effectLst>
        </p:spPr>
        <p:txBody>
          <a:bodyPr/>
          <a:lstStyle/>
          <a:p>
            <a:endParaRPr lang="en-US" sz="1200"/>
          </a:p>
        </p:txBody>
      </p:sp>
      <p:sp>
        <p:nvSpPr>
          <p:cNvPr id="15" name="TextBox"/>
          <p:cNvSpPr txBox="1"/>
          <p:nvPr/>
        </p:nvSpPr>
        <p:spPr>
          <a:xfrm>
            <a:off x="7416800" y="2362200"/>
            <a:ext cx="309372" cy="368300"/>
          </a:xfrm>
          <a:prstGeom prst="rect">
            <a:avLst/>
          </a:prstGeom>
          <a:noFill/>
          <a:ln>
            <a:noFill/>
          </a:ln>
        </p:spPr>
        <p:txBody>
          <a:bodyPr wrap="none" lIns="0" tIns="0" rIns="0" bIns="0"/>
          <a:lstStyle/>
          <a:p>
            <a:r>
              <a:rPr lang="en-US" sz="2000">
                <a:solidFill>
                  <a:srgbClr val="10B981"/>
                </a:solidFill>
                <a:effectLst>
                  <a:outerShdw blurRad="57150" dist="38100" dir="5400000" algn="ctr" rotWithShape="0">
                    <a:srgbClr val="0F140F">
                      <a:alpha val="8000"/>
                    </a:srgbClr>
                  </a:outerShdw>
                </a:effectLst>
                <a:latin typeface="Noto Sans SC"/>
                <a:ea typeface="Noto Sans SC"/>
                <a:cs typeface="Noto Sans SC"/>
              </a:rPr>
              <a:t>04</a:t>
            </a:r>
          </a:p>
        </p:txBody>
      </p:sp>
      <p:sp>
        <p:nvSpPr>
          <p:cNvPr id="16" name="TextBox"/>
          <p:cNvSpPr txBox="1"/>
          <p:nvPr/>
        </p:nvSpPr>
        <p:spPr>
          <a:xfrm>
            <a:off x="7416800" y="2794000"/>
            <a:ext cx="863600" cy="311150"/>
          </a:xfrm>
          <a:prstGeom prst="rect">
            <a:avLst/>
          </a:prstGeom>
          <a:noFill/>
          <a:ln>
            <a:noFill/>
          </a:ln>
        </p:spPr>
        <p:txBody>
          <a:bodyPr wrap="none" lIns="0" tIns="0" rIns="0" bIns="0"/>
          <a:lstStyle/>
          <a:p>
            <a:r>
              <a:rPr lang="zh-CN" altLang="en-US" sz="1700">
                <a:solidFill>
                  <a:srgbClr val="10190F"/>
                </a:solidFill>
                <a:effectLst>
                  <a:outerShdw blurRad="57150" dist="38100" dir="5400000" algn="ctr" rotWithShape="0">
                    <a:srgbClr val="0F140F">
                      <a:alpha val="8000"/>
                    </a:srgbClr>
                  </a:outerShdw>
                </a:effectLst>
                <a:latin typeface="Noto Sans SC Bold"/>
                <a:ea typeface="Noto Sans SC Bold"/>
                <a:cs typeface="Noto Sans SC Bold"/>
              </a:rPr>
              <a:t>破碎分选</a:t>
            </a:r>
          </a:p>
        </p:txBody>
      </p:sp>
      <p:sp>
        <p:nvSpPr>
          <p:cNvPr id="17" name="Rectangle"/>
          <p:cNvSpPr/>
          <p:nvPr/>
        </p:nvSpPr>
        <p:spPr>
          <a:xfrm>
            <a:off x="9398000" y="2184400"/>
            <a:ext cx="2032000" cy="1098550"/>
          </a:xfrm>
          <a:prstGeom prst="roundRect">
            <a:avLst>
              <a:gd name="adj" fmla="val 9248"/>
            </a:avLst>
          </a:prstGeom>
          <a:solidFill>
            <a:srgbClr val="0F1E17"/>
          </a:solidFill>
          <a:ln>
            <a:noFill/>
          </a:ln>
        </p:spPr>
        <p:txBody>
          <a:bodyPr/>
          <a:lstStyle/>
          <a:p>
            <a:endParaRPr lang="en-US" sz="1200"/>
          </a:p>
        </p:txBody>
      </p:sp>
      <p:sp>
        <p:nvSpPr>
          <p:cNvPr id="18" name="TextBox"/>
          <p:cNvSpPr txBox="1"/>
          <p:nvPr/>
        </p:nvSpPr>
        <p:spPr>
          <a:xfrm>
            <a:off x="9575800" y="2362200"/>
            <a:ext cx="309372" cy="368300"/>
          </a:xfrm>
          <a:prstGeom prst="rect">
            <a:avLst/>
          </a:prstGeom>
          <a:noFill/>
          <a:ln>
            <a:noFill/>
          </a:ln>
        </p:spPr>
        <p:txBody>
          <a:bodyPr wrap="none" lIns="0" tIns="0" rIns="0" bIns="0"/>
          <a:lstStyle/>
          <a:p>
            <a:r>
              <a:rPr lang="en-US" sz="2000">
                <a:solidFill>
                  <a:srgbClr val="D4A017"/>
                </a:solidFill>
                <a:latin typeface="Noto Sans SC"/>
                <a:ea typeface="Noto Sans SC"/>
                <a:cs typeface="Noto Sans SC"/>
              </a:rPr>
              <a:t>05</a:t>
            </a:r>
          </a:p>
        </p:txBody>
      </p:sp>
      <p:sp>
        <p:nvSpPr>
          <p:cNvPr id="19" name="TextBox"/>
          <p:cNvSpPr txBox="1"/>
          <p:nvPr/>
        </p:nvSpPr>
        <p:spPr>
          <a:xfrm>
            <a:off x="9575800" y="2794000"/>
            <a:ext cx="431800" cy="311150"/>
          </a:xfrm>
          <a:prstGeom prst="rect">
            <a:avLst/>
          </a:prstGeom>
          <a:noFill/>
          <a:ln>
            <a:noFill/>
          </a:ln>
        </p:spPr>
        <p:txBody>
          <a:bodyPr wrap="none" lIns="0" tIns="0" rIns="0" bIns="0"/>
          <a:lstStyle/>
          <a:p>
            <a:r>
              <a:rPr lang="zh-CN" altLang="en-US" sz="1700">
                <a:solidFill>
                  <a:srgbClr val="FFFFFF"/>
                </a:solidFill>
                <a:latin typeface="Noto Sans SC Bold"/>
                <a:ea typeface="Noto Sans SC Bold"/>
                <a:cs typeface="Noto Sans SC Bold"/>
              </a:rPr>
              <a:t>精炼</a:t>
            </a:r>
          </a:p>
        </p:txBody>
      </p:sp>
      <p:sp>
        <p:nvSpPr>
          <p:cNvPr id="20" name="Rectangle"/>
          <p:cNvSpPr/>
          <p:nvPr/>
        </p:nvSpPr>
        <p:spPr>
          <a:xfrm>
            <a:off x="762000" y="4064000"/>
            <a:ext cx="2552700" cy="1673226"/>
          </a:xfrm>
          <a:prstGeom prst="roundRect">
            <a:avLst>
              <a:gd name="adj" fmla="val 5211"/>
            </a:avLst>
          </a:prstGeom>
          <a:solidFill>
            <a:srgbClr val="FFFFFF"/>
          </a:solidFill>
          <a:ln>
            <a:noFill/>
          </a:ln>
        </p:spPr>
        <p:txBody>
          <a:bodyPr/>
          <a:lstStyle/>
          <a:p>
            <a:endParaRPr lang="en-US" sz="1200"/>
          </a:p>
        </p:txBody>
      </p:sp>
      <p:sp>
        <p:nvSpPr>
          <p:cNvPr id="21" name="TextBox"/>
          <p:cNvSpPr txBox="1"/>
          <p:nvPr/>
        </p:nvSpPr>
        <p:spPr>
          <a:xfrm>
            <a:off x="977900" y="4279900"/>
            <a:ext cx="965200" cy="349250"/>
          </a:xfrm>
          <a:prstGeom prst="rect">
            <a:avLst/>
          </a:prstGeom>
          <a:noFill/>
          <a:ln>
            <a:noFill/>
          </a:ln>
        </p:spPr>
        <p:txBody>
          <a:bodyPr wrap="none" lIns="0" tIns="0" rIns="0" bIns="0"/>
          <a:lstStyle/>
          <a:p>
            <a:r>
              <a:rPr lang="zh-CN" altLang="en-US" sz="1900">
                <a:solidFill>
                  <a:srgbClr val="10190F"/>
                </a:solidFill>
                <a:latin typeface="Noto Sans SC Bold"/>
                <a:ea typeface="Noto Sans SC Bold"/>
                <a:cs typeface="Noto Sans SC Bold"/>
              </a:rPr>
              <a:t>火法冶金</a:t>
            </a:r>
          </a:p>
        </p:txBody>
      </p:sp>
      <p:sp>
        <p:nvSpPr>
          <p:cNvPr id="22" name="TextBox"/>
          <p:cNvSpPr txBox="1"/>
          <p:nvPr/>
        </p:nvSpPr>
        <p:spPr>
          <a:xfrm>
            <a:off x="977900" y="4705350"/>
            <a:ext cx="2138172" cy="1092200"/>
          </a:xfrm>
          <a:prstGeom prst="rect">
            <a:avLst/>
          </a:prstGeom>
          <a:noFill/>
          <a:ln>
            <a:noFill/>
          </a:ln>
        </p:spPr>
        <p:txBody>
          <a:bodyPr wrap="square" lIns="0" tIns="0" rIns="0" bIns="0"/>
          <a:lstStyle/>
          <a:p>
            <a:r>
              <a:rPr lang="zh-CN" altLang="en-US" sz="1500">
                <a:solidFill>
                  <a:srgbClr val="5A6660"/>
                </a:solidFill>
                <a:latin typeface="Noto Sans SC"/>
                <a:ea typeface="Noto Sans SC"/>
                <a:cs typeface="Noto Sans SC"/>
              </a:rPr>
              <a:t> </a:t>
            </a:r>
            <a:r>
              <a:rPr lang="en-US" altLang="zh-CN" sz="1500">
                <a:solidFill>
                  <a:srgbClr val="5A6660"/>
                </a:solidFill>
                <a:latin typeface="Noto Sans SC"/>
                <a:ea typeface="Noto Sans SC"/>
                <a:cs typeface="Noto Sans SC"/>
              </a:rPr>
              <a:t>1.2 </a:t>
            </a:r>
            <a:r>
              <a:rPr lang="zh-CN" altLang="en-US" sz="1500">
                <a:solidFill>
                  <a:srgbClr val="5A6660"/>
                </a:solidFill>
                <a:latin typeface="Noto Sans SC"/>
                <a:ea typeface="Noto Sans SC"/>
                <a:cs typeface="Noto Sans SC"/>
              </a:rPr>
              <a:t>万吨，金属综合回收率超 </a:t>
            </a:r>
            <a:r>
              <a:rPr lang="en-US" altLang="zh-CN" sz="1500">
                <a:solidFill>
                  <a:srgbClr val="5A6660"/>
                </a:solidFill>
                <a:latin typeface="Noto Sans SC"/>
                <a:ea typeface="Noto Sans SC"/>
                <a:cs typeface="Noto Sans SC"/>
              </a:rPr>
              <a:t>98%</a:t>
            </a:r>
          </a:p>
        </p:txBody>
      </p:sp>
      <p:sp>
        <p:nvSpPr>
          <p:cNvPr id="23" name="Rectangle"/>
          <p:cNvSpPr/>
          <p:nvPr/>
        </p:nvSpPr>
        <p:spPr>
          <a:xfrm>
            <a:off x="765176" y="4067175"/>
            <a:ext cx="2546350" cy="1676400"/>
          </a:xfrm>
          <a:prstGeom prst="roundRect">
            <a:avLst>
              <a:gd name="adj" fmla="val 5065"/>
            </a:avLst>
          </a:prstGeom>
          <a:noFill/>
          <a:ln w="9525">
            <a:solidFill>
              <a:srgbClr val="D8E2DC"/>
            </a:solidFill>
            <a:miter lim="400000"/>
          </a:ln>
        </p:spPr>
        <p:txBody>
          <a:bodyPr/>
          <a:lstStyle/>
          <a:p>
            <a:endParaRPr lang="en-US" sz="1200"/>
          </a:p>
        </p:txBody>
      </p:sp>
      <p:sp>
        <p:nvSpPr>
          <p:cNvPr id="24" name="Rectangle"/>
          <p:cNvSpPr/>
          <p:nvPr/>
        </p:nvSpPr>
        <p:spPr>
          <a:xfrm>
            <a:off x="3467100" y="4064000"/>
            <a:ext cx="2552700" cy="1676400"/>
          </a:xfrm>
          <a:prstGeom prst="roundRect">
            <a:avLst>
              <a:gd name="adj" fmla="val 6060"/>
            </a:avLst>
          </a:prstGeom>
          <a:solidFill>
            <a:srgbClr val="FFFFFF"/>
          </a:solidFill>
          <a:ln>
            <a:noFill/>
          </a:ln>
        </p:spPr>
        <p:txBody>
          <a:bodyPr/>
          <a:lstStyle/>
          <a:p>
            <a:endParaRPr lang="en-US" sz="1200"/>
          </a:p>
        </p:txBody>
      </p:sp>
      <p:sp>
        <p:nvSpPr>
          <p:cNvPr id="25" name="TextBox"/>
          <p:cNvSpPr txBox="1"/>
          <p:nvPr/>
        </p:nvSpPr>
        <p:spPr>
          <a:xfrm>
            <a:off x="3683000" y="4279900"/>
            <a:ext cx="965200" cy="349250"/>
          </a:xfrm>
          <a:prstGeom prst="rect">
            <a:avLst/>
          </a:prstGeom>
          <a:noFill/>
          <a:ln>
            <a:noFill/>
          </a:ln>
        </p:spPr>
        <p:txBody>
          <a:bodyPr wrap="none" lIns="0" tIns="0" rIns="0" bIns="0"/>
          <a:lstStyle/>
          <a:p>
            <a:r>
              <a:rPr lang="zh-CN" altLang="en-US" sz="1900">
                <a:solidFill>
                  <a:srgbClr val="10190F"/>
                </a:solidFill>
                <a:latin typeface="Noto Sans SC Bold"/>
                <a:ea typeface="Noto Sans SC Bold"/>
                <a:cs typeface="Noto Sans SC Bold"/>
              </a:rPr>
              <a:t>湿法冶金</a:t>
            </a:r>
          </a:p>
        </p:txBody>
      </p:sp>
      <p:sp>
        <p:nvSpPr>
          <p:cNvPr id="26" name="TextBox"/>
          <p:cNvSpPr txBox="1"/>
          <p:nvPr/>
        </p:nvSpPr>
        <p:spPr>
          <a:xfrm>
            <a:off x="3683000" y="4705350"/>
            <a:ext cx="2095500" cy="819150"/>
          </a:xfrm>
          <a:prstGeom prst="rect">
            <a:avLst/>
          </a:prstGeom>
          <a:noFill/>
          <a:ln>
            <a:noFill/>
          </a:ln>
        </p:spPr>
        <p:txBody>
          <a:bodyPr wrap="square" lIns="0" tIns="0" rIns="0" bIns="0"/>
          <a:lstStyle/>
          <a:p>
            <a:r>
              <a:rPr lang="zh-CN" altLang="en-US" sz="1500" dirty="0">
                <a:solidFill>
                  <a:srgbClr val="5A6660"/>
                </a:solidFill>
                <a:latin typeface="Noto Sans SC"/>
                <a:ea typeface="Noto Sans SC"/>
                <a:cs typeface="Noto Sans SC"/>
              </a:rPr>
              <a:t> </a:t>
            </a:r>
            <a:r>
              <a:rPr lang="en-US" altLang="zh-CN" sz="1500" dirty="0">
                <a:solidFill>
                  <a:srgbClr val="5A6660"/>
                </a:solidFill>
                <a:latin typeface="Noto Sans SC"/>
                <a:ea typeface="Noto Sans SC"/>
                <a:cs typeface="Noto Sans SC"/>
              </a:rPr>
              <a:t>/</a:t>
            </a:r>
            <a:r>
              <a:rPr lang="zh-CN" altLang="en-US" sz="1500" dirty="0">
                <a:solidFill>
                  <a:srgbClr val="5A6660"/>
                </a:solidFill>
                <a:latin typeface="Noto Sans SC"/>
                <a:ea typeface="Noto Sans SC"/>
                <a:cs typeface="Noto Sans SC"/>
              </a:rPr>
              <a:t>置换提取贵金属；须配套废水处理，避免重蹈“洗金”。</a:t>
            </a:r>
          </a:p>
        </p:txBody>
      </p:sp>
      <p:sp>
        <p:nvSpPr>
          <p:cNvPr id="27" name="Rectangle"/>
          <p:cNvSpPr/>
          <p:nvPr/>
        </p:nvSpPr>
        <p:spPr>
          <a:xfrm>
            <a:off x="3470276" y="4067176"/>
            <a:ext cx="2546350" cy="1670050"/>
          </a:xfrm>
          <a:prstGeom prst="roundRect">
            <a:avLst>
              <a:gd name="adj" fmla="val 5893"/>
            </a:avLst>
          </a:prstGeom>
          <a:noFill/>
          <a:ln w="9525">
            <a:solidFill>
              <a:srgbClr val="D8E2DC"/>
            </a:solidFill>
            <a:miter lim="400000"/>
          </a:ln>
        </p:spPr>
        <p:txBody>
          <a:bodyPr/>
          <a:lstStyle/>
          <a:p>
            <a:endParaRPr lang="en-US" sz="1200"/>
          </a:p>
        </p:txBody>
      </p:sp>
      <p:sp>
        <p:nvSpPr>
          <p:cNvPr id="28" name="Rectangle"/>
          <p:cNvSpPr/>
          <p:nvPr/>
        </p:nvSpPr>
        <p:spPr>
          <a:xfrm>
            <a:off x="6172200" y="4064000"/>
            <a:ext cx="2552700" cy="1673226"/>
          </a:xfrm>
          <a:prstGeom prst="roundRect">
            <a:avLst>
              <a:gd name="adj" fmla="val 5211"/>
            </a:avLst>
          </a:prstGeom>
          <a:solidFill>
            <a:srgbClr val="FFFFFF"/>
          </a:solidFill>
          <a:ln>
            <a:noFill/>
          </a:ln>
        </p:spPr>
        <p:txBody>
          <a:bodyPr/>
          <a:lstStyle/>
          <a:p>
            <a:endParaRPr lang="en-US" sz="1200"/>
          </a:p>
        </p:txBody>
      </p:sp>
      <p:sp>
        <p:nvSpPr>
          <p:cNvPr id="29" name="TextBox"/>
          <p:cNvSpPr txBox="1"/>
          <p:nvPr/>
        </p:nvSpPr>
        <p:spPr>
          <a:xfrm>
            <a:off x="6388100" y="4279900"/>
            <a:ext cx="1930400" cy="349250"/>
          </a:xfrm>
          <a:prstGeom prst="rect">
            <a:avLst/>
          </a:prstGeom>
          <a:noFill/>
          <a:ln>
            <a:noFill/>
          </a:ln>
        </p:spPr>
        <p:txBody>
          <a:bodyPr wrap="none" lIns="0" tIns="0" rIns="0" bIns="0"/>
          <a:lstStyle/>
          <a:p>
            <a:r>
              <a:rPr lang="zh-CN" altLang="en-US" sz="1900">
                <a:solidFill>
                  <a:srgbClr val="10190F"/>
                </a:solidFill>
                <a:latin typeface="Noto Sans SC Bold"/>
                <a:ea typeface="Noto Sans SC Bold"/>
                <a:cs typeface="Noto Sans SC Bold"/>
              </a:rPr>
              <a:t>生物浸出（前沿）</a:t>
            </a:r>
          </a:p>
        </p:txBody>
      </p:sp>
      <p:sp>
        <p:nvSpPr>
          <p:cNvPr id="30" name="TextBox"/>
          <p:cNvSpPr txBox="1"/>
          <p:nvPr/>
        </p:nvSpPr>
        <p:spPr>
          <a:xfrm>
            <a:off x="6388100" y="4705350"/>
            <a:ext cx="1953577" cy="1092200"/>
          </a:xfrm>
          <a:prstGeom prst="rect">
            <a:avLst/>
          </a:prstGeom>
          <a:noFill/>
          <a:ln>
            <a:noFill/>
          </a:ln>
        </p:spPr>
        <p:txBody>
          <a:bodyPr wrap="square" lIns="0" tIns="0" rIns="0" bIns="0"/>
          <a:lstStyle/>
          <a:p>
            <a:r>
              <a:rPr lang="zh-CN" altLang="en-US" sz="1500" dirty="0">
                <a:solidFill>
                  <a:srgbClr val="5A6660"/>
                </a:solidFill>
                <a:latin typeface="Noto Sans SC"/>
                <a:ea typeface="Noto Sans SC"/>
                <a:cs typeface="Noto Sans SC"/>
              </a:rPr>
              <a:t> 回收率可达 </a:t>
            </a:r>
            <a:r>
              <a:rPr lang="en-US" altLang="zh-CN" sz="1500" dirty="0">
                <a:solidFill>
                  <a:srgbClr val="5A6660"/>
                </a:solidFill>
                <a:latin typeface="Noto Sans SC"/>
                <a:ea typeface="Noto Sans SC"/>
                <a:cs typeface="Noto Sans SC"/>
              </a:rPr>
              <a:t>95%</a:t>
            </a:r>
            <a:r>
              <a:rPr lang="zh-CN" altLang="en-US" sz="1500" dirty="0">
                <a:solidFill>
                  <a:srgbClr val="5A6660"/>
                </a:solidFill>
                <a:latin typeface="Noto Sans SC"/>
                <a:ea typeface="Noto Sans SC"/>
                <a:cs typeface="Noto Sans SC"/>
              </a:rPr>
              <a:t>。</a:t>
            </a:r>
            <a:endParaRPr lang="en-US" altLang="zh-CN" sz="1500" dirty="0">
              <a:solidFill>
                <a:srgbClr val="5A6660"/>
              </a:solidFill>
              <a:latin typeface="Noto Sans SC"/>
              <a:ea typeface="Noto Sans SC"/>
              <a:cs typeface="Noto Sans SC"/>
            </a:endParaRPr>
          </a:p>
        </p:txBody>
      </p:sp>
      <p:sp>
        <p:nvSpPr>
          <p:cNvPr id="31" name="Rectangle"/>
          <p:cNvSpPr/>
          <p:nvPr/>
        </p:nvSpPr>
        <p:spPr>
          <a:xfrm>
            <a:off x="6175376" y="4067175"/>
            <a:ext cx="2546350" cy="1670051"/>
          </a:xfrm>
          <a:prstGeom prst="roundRect">
            <a:avLst>
              <a:gd name="adj" fmla="val 5065"/>
            </a:avLst>
          </a:prstGeom>
          <a:noFill/>
          <a:ln w="9525">
            <a:solidFill>
              <a:srgbClr val="D8E2DC"/>
            </a:solidFill>
            <a:miter lim="400000"/>
          </a:ln>
        </p:spPr>
        <p:txBody>
          <a:bodyPr/>
          <a:lstStyle/>
          <a:p>
            <a:endParaRPr lang="en-US" sz="1200"/>
          </a:p>
        </p:txBody>
      </p:sp>
      <p:sp>
        <p:nvSpPr>
          <p:cNvPr id="32" name="Rectangle"/>
          <p:cNvSpPr/>
          <p:nvPr/>
        </p:nvSpPr>
        <p:spPr>
          <a:xfrm>
            <a:off x="8877300" y="4064000"/>
            <a:ext cx="2552700" cy="1673226"/>
          </a:xfrm>
          <a:prstGeom prst="roundRect">
            <a:avLst>
              <a:gd name="adj" fmla="val 4419"/>
            </a:avLst>
          </a:prstGeom>
          <a:solidFill>
            <a:srgbClr val="FFF8E8"/>
          </a:solidFill>
          <a:ln>
            <a:noFill/>
          </a:ln>
        </p:spPr>
        <p:txBody>
          <a:bodyPr/>
          <a:lstStyle/>
          <a:p>
            <a:endParaRPr lang="en-US" sz="1200"/>
          </a:p>
        </p:txBody>
      </p:sp>
      <p:sp>
        <p:nvSpPr>
          <p:cNvPr id="33" name="TextBox"/>
          <p:cNvSpPr txBox="1"/>
          <p:nvPr/>
        </p:nvSpPr>
        <p:spPr>
          <a:xfrm>
            <a:off x="9093200" y="4279900"/>
            <a:ext cx="1736877" cy="698500"/>
          </a:xfrm>
          <a:prstGeom prst="rect">
            <a:avLst/>
          </a:prstGeom>
          <a:noFill/>
          <a:ln>
            <a:noFill/>
          </a:ln>
        </p:spPr>
        <p:txBody>
          <a:bodyPr wrap="square" lIns="0" tIns="0" rIns="0" bIns="0"/>
          <a:lstStyle/>
          <a:p>
            <a:r>
              <a:rPr lang="en-US" sz="1900">
                <a:solidFill>
                  <a:srgbClr val="9A7A12"/>
                </a:solidFill>
                <a:latin typeface="Noto Sans SC Bold"/>
                <a:ea typeface="Noto Sans SC Bold"/>
                <a:cs typeface="Noto Sans SC Bold"/>
              </a:rPr>
              <a:t>AI </a:t>
            </a:r>
          </a:p>
        </p:txBody>
      </p:sp>
      <p:sp>
        <p:nvSpPr>
          <p:cNvPr id="34" name="TextBox"/>
          <p:cNvSpPr txBox="1"/>
          <p:nvPr/>
        </p:nvSpPr>
        <p:spPr>
          <a:xfrm>
            <a:off x="9080871" y="4705350"/>
            <a:ext cx="2095500" cy="819150"/>
          </a:xfrm>
          <a:prstGeom prst="rect">
            <a:avLst/>
          </a:prstGeom>
          <a:noFill/>
          <a:ln>
            <a:noFill/>
          </a:ln>
        </p:spPr>
        <p:txBody>
          <a:bodyPr wrap="square" lIns="0" tIns="0" rIns="0" bIns="0"/>
          <a:lstStyle/>
          <a:p>
            <a:r>
              <a:rPr lang="zh-CN" altLang="en-US" sz="1500" dirty="0">
                <a:solidFill>
                  <a:srgbClr val="6B5A28"/>
                </a:solidFill>
                <a:latin typeface="Noto Sans SC"/>
                <a:ea typeface="Noto Sans SC"/>
                <a:cs typeface="Noto Sans SC"/>
              </a:rPr>
              <a:t> 荧光光谱机械臂：毫秒级识别板型与合金，分选准确率超 </a:t>
            </a:r>
            <a:r>
              <a:rPr lang="en-US" altLang="zh-CN" sz="1500" dirty="0">
                <a:solidFill>
                  <a:srgbClr val="6B5A28"/>
                </a:solidFill>
                <a:latin typeface="Noto Sans SC"/>
                <a:ea typeface="Noto Sans SC"/>
                <a:cs typeface="Noto Sans SC"/>
              </a:rPr>
              <a:t>98%</a:t>
            </a:r>
            <a:r>
              <a:rPr lang="zh-CN" altLang="en-US" sz="1500" dirty="0">
                <a:solidFill>
                  <a:srgbClr val="6B5A28"/>
                </a:solidFill>
                <a:latin typeface="Noto Sans SC"/>
                <a:ea typeface="Noto Sans SC"/>
                <a:cs typeface="Noto Sans SC"/>
              </a:rPr>
              <a:t>。</a:t>
            </a:r>
            <a:endParaRPr lang="en-US" altLang="zh-CN" sz="1500" dirty="0">
              <a:solidFill>
                <a:srgbClr val="6B5A28"/>
              </a:solidFill>
              <a:latin typeface="Noto Sans SC"/>
              <a:ea typeface="Noto Sans SC"/>
              <a:cs typeface="Noto Sans SC"/>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39C1DF7B-F67C-4802-98BA-9E663611A929}"/>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0"/>
            <a:ext cx="1055440" cy="1100206"/>
          </a:xfrm>
          <a:prstGeom prst="rect">
            <a:avLst/>
          </a:prstGeom>
        </p:spPr>
      </p:pic>
      <p:sp>
        <p:nvSpPr>
          <p:cNvPr id="4" name="文本框 3">
            <a:extLst>
              <a:ext uri="{FF2B5EF4-FFF2-40B4-BE49-F238E27FC236}">
                <a16:creationId xmlns:a16="http://schemas.microsoft.com/office/drawing/2014/main" id="{D458A61D-D60E-4F90-9EB3-028E91FA2A8B}"/>
              </a:ext>
            </a:extLst>
          </p:cNvPr>
          <p:cNvSpPr txBox="1"/>
          <p:nvPr/>
        </p:nvSpPr>
        <p:spPr>
          <a:xfrm>
            <a:off x="1127448" y="257715"/>
            <a:ext cx="4464496" cy="584775"/>
          </a:xfrm>
          <a:prstGeom prst="rect">
            <a:avLst/>
          </a:prstGeom>
          <a:noFill/>
        </p:spPr>
        <p:txBody>
          <a:bodyPr wrap="square" rtlCol="0">
            <a:spAutoFit/>
          </a:bodyPr>
          <a:lstStyle>
            <a:defPPr>
              <a:defRPr lang="zh-CN"/>
            </a:defPPr>
            <a:lvl1pPr algn="dist">
              <a:defRPr sz="32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algn="l"/>
            <a:r>
              <a:rPr lang="zh-CN" altLang="en-US" dirty="0"/>
              <a:t>正规的再制作</a:t>
            </a:r>
          </a:p>
        </p:txBody>
      </p:sp>
      <p:sp>
        <p:nvSpPr>
          <p:cNvPr id="8" name="文本框 7">
            <a:extLst>
              <a:ext uri="{FF2B5EF4-FFF2-40B4-BE49-F238E27FC236}">
                <a16:creationId xmlns:a16="http://schemas.microsoft.com/office/drawing/2014/main" id="{0B38B2B4-23F2-422F-9732-7C76363483E1}"/>
              </a:ext>
            </a:extLst>
          </p:cNvPr>
          <p:cNvSpPr txBox="1"/>
          <p:nvPr/>
        </p:nvSpPr>
        <p:spPr>
          <a:xfrm>
            <a:off x="1055440" y="1196752"/>
            <a:ext cx="4816353" cy="4832092"/>
          </a:xfrm>
          <a:prstGeom prst="rect">
            <a:avLst/>
          </a:prstGeom>
          <a:noFill/>
        </p:spPr>
        <p:txBody>
          <a:bodyPr wrap="square" rtlCol="0">
            <a:spAutoFit/>
          </a:bodyPr>
          <a:lstStyle/>
          <a:p>
            <a:r>
              <a:rPr lang="zh-CN" altLang="zh-CN" sz="2800" dirty="0"/>
              <a:t>其芯片组本质上是</a:t>
            </a:r>
            <a:r>
              <a:rPr lang="zh-CN" altLang="zh-CN" sz="2800" b="1" dirty="0"/>
              <a:t>电子回收产业的产物</a:t>
            </a:r>
            <a:r>
              <a:rPr lang="zh-CN" altLang="zh-CN" sz="2800" dirty="0"/>
              <a:t>。它要么是</a:t>
            </a:r>
            <a:r>
              <a:rPr lang="zh-CN" altLang="zh-CN" sz="2800" b="1" dirty="0"/>
              <a:t>从旧服务器/主板上拆下来的原装芯片</a:t>
            </a:r>
            <a:r>
              <a:rPr lang="zh-CN" altLang="zh-CN" sz="2800" dirty="0"/>
              <a:t>（如C602、C612），要么是为了降低成本而</a:t>
            </a:r>
            <a:r>
              <a:rPr lang="zh-CN" altLang="zh-CN" sz="2800" b="1" dirty="0"/>
              <a:t>用H61、B75、H81、Q87等老芯片“魔改”</a:t>
            </a:r>
            <a:r>
              <a:rPr lang="zh-CN" altLang="zh-CN" sz="2800" dirty="0"/>
              <a:t>来兼容新平台。这也解释了为什么这类主板能以极低价格提供对老旧至强处理器的支持，但其稳定性和寿命也存在更多不确定性。</a:t>
            </a:r>
            <a:endParaRPr lang="zh-CN" altLang="en-US" sz="2000" spc="300" dirty="0">
              <a:latin typeface="字魂58号-创中黑" panose="00000500000000000000" pitchFamily="2" charset="-122"/>
              <a:ea typeface="字魂58号-创中黑" panose="00000500000000000000" pitchFamily="2" charset="-122"/>
            </a:endParaRPr>
          </a:p>
        </p:txBody>
      </p:sp>
      <p:pic>
        <p:nvPicPr>
          <p:cNvPr id="25" name="图片 24">
            <a:extLst>
              <a:ext uri="{FF2B5EF4-FFF2-40B4-BE49-F238E27FC236}">
                <a16:creationId xmlns:a16="http://schemas.microsoft.com/office/drawing/2014/main" id="{2DCB6029-3000-FD33-0A32-DF5F0C90D136}"/>
              </a:ext>
            </a:extLst>
          </p:cNvPr>
          <p:cNvPicPr>
            <a:picLocks noChangeAspect="1"/>
          </p:cNvPicPr>
          <p:nvPr/>
        </p:nvPicPr>
        <p:blipFill>
          <a:blip r:embed="rId4">
            <a:extLst>
              <a:ext uri="{28A0092B-C50C-407E-A947-70E740481C1C}">
                <a14:useLocalDpi xmlns:a14="http://schemas.microsoft.com/office/drawing/2010/main" val="0"/>
              </a:ext>
            </a:extLst>
          </a:blip>
          <a:srcRect b="26058"/>
          <a:stretch>
            <a:fillRect/>
          </a:stretch>
        </p:blipFill>
        <p:spPr>
          <a:xfrm>
            <a:off x="7536160" y="620688"/>
            <a:ext cx="3218834" cy="5295660"/>
          </a:xfrm>
          <a:prstGeom prst="rect">
            <a:avLst/>
          </a:prstGeom>
        </p:spPr>
      </p:pic>
    </p:spTree>
    <p:custDataLst>
      <p:tags r:id="rId1"/>
    </p:custDataLst>
    <p:extLst>
      <p:ext uri="{BB962C8B-B14F-4D97-AF65-F5344CB8AC3E}">
        <p14:creationId xmlns:p14="http://schemas.microsoft.com/office/powerpoint/2010/main" val="3127239984"/>
      </p:ext>
    </p:extLst>
  </p:cSld>
  <p:clrMapOvr>
    <a:masterClrMapping/>
  </p:clrMapOvr>
  <mc:AlternateContent xmlns:mc="http://schemas.openxmlformats.org/markup-compatibility/2006" xmlns:p14="http://schemas.microsoft.com/office/powerpoint/2010/main">
    <mc:Choice Requires="p14">
      <p:transition spd="slow" p14:dur="1500" advTm="1765">
        <p:random/>
      </p:transition>
    </mc:Choice>
    <mc:Fallback xmlns="">
      <p:transition spd="slow" advTm="1765">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animEffect transition="in" filter="fad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3D4FE47-6176-42DF-AF6A-E65BA002F037}"/>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5400000">
            <a:off x="2661432" y="-2672567"/>
            <a:ext cx="6858001" cy="12203137"/>
          </a:xfrm>
          <a:prstGeom prst="rect">
            <a:avLst/>
          </a:prstGeom>
        </p:spPr>
      </p:pic>
      <p:grpSp>
        <p:nvGrpSpPr>
          <p:cNvPr id="4" name="组合 3">
            <a:extLst>
              <a:ext uri="{FF2B5EF4-FFF2-40B4-BE49-F238E27FC236}">
                <a16:creationId xmlns:a16="http://schemas.microsoft.com/office/drawing/2014/main" id="{42E080B4-AE44-4D2B-AC2F-135C48CEF4DC}"/>
              </a:ext>
            </a:extLst>
          </p:cNvPr>
          <p:cNvGrpSpPr/>
          <p:nvPr/>
        </p:nvGrpSpPr>
        <p:grpSpPr>
          <a:xfrm>
            <a:off x="288486" y="218147"/>
            <a:ext cx="1703057" cy="369332"/>
            <a:chOff x="379717" y="372035"/>
            <a:chExt cx="1703057" cy="369332"/>
          </a:xfrm>
        </p:grpSpPr>
        <p:sp>
          <p:nvSpPr>
            <p:cNvPr id="5" name="椭圆 4">
              <a:extLst>
                <a:ext uri="{FF2B5EF4-FFF2-40B4-BE49-F238E27FC236}">
                  <a16:creationId xmlns:a16="http://schemas.microsoft.com/office/drawing/2014/main" id="{330731AF-D13F-47F2-BC31-09BE5E9B7209}"/>
                </a:ext>
              </a:extLst>
            </p:cNvPr>
            <p:cNvSpPr/>
            <p:nvPr/>
          </p:nvSpPr>
          <p:spPr>
            <a:xfrm>
              <a:off x="379717" y="404664"/>
              <a:ext cx="304075" cy="304075"/>
            </a:xfrm>
            <a:prstGeom prst="ellipse">
              <a:avLst/>
            </a:prstGeom>
            <a:solidFill>
              <a:schemeClr val="tx1">
                <a:lumMod val="85000"/>
                <a:lumOff val="15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0E1CCB0D-3E73-4E3E-B588-63370728320A}"/>
                </a:ext>
              </a:extLst>
            </p:cNvPr>
            <p:cNvSpPr txBox="1"/>
            <p:nvPr/>
          </p:nvSpPr>
          <p:spPr>
            <a:xfrm>
              <a:off x="683791" y="372035"/>
              <a:ext cx="1398983" cy="369332"/>
            </a:xfrm>
            <a:prstGeom prst="rect">
              <a:avLst/>
            </a:prstGeom>
            <a:noFill/>
          </p:spPr>
          <p:txBody>
            <a:bodyPr wrap="square" rtlCol="0">
              <a:spAutoFit/>
            </a:bodyPr>
            <a:lstStyle/>
            <a:p>
              <a:r>
                <a:rPr lang="en-US" altLang="zh-CN"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WSOAEY</a:t>
              </a:r>
              <a:endParaRPr lang="zh-CN" altLang="en-US"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endParaRPr>
            </a:p>
          </p:txBody>
        </p:sp>
      </p:grpSp>
      <p:grpSp>
        <p:nvGrpSpPr>
          <p:cNvPr id="21" name="组合 20">
            <a:extLst>
              <a:ext uri="{FF2B5EF4-FFF2-40B4-BE49-F238E27FC236}">
                <a16:creationId xmlns:a16="http://schemas.microsoft.com/office/drawing/2014/main" id="{09A43C20-71D5-4CA6-83D7-C6D033211DCE}"/>
              </a:ext>
            </a:extLst>
          </p:cNvPr>
          <p:cNvGrpSpPr/>
          <p:nvPr/>
        </p:nvGrpSpPr>
        <p:grpSpPr>
          <a:xfrm>
            <a:off x="2745907" y="2204864"/>
            <a:ext cx="6700184" cy="2074054"/>
            <a:chOff x="2745907" y="1929985"/>
            <a:chExt cx="6700184" cy="2074054"/>
          </a:xfrm>
        </p:grpSpPr>
        <p:sp>
          <p:nvSpPr>
            <p:cNvPr id="22" name="文本框 21">
              <a:extLst>
                <a:ext uri="{FF2B5EF4-FFF2-40B4-BE49-F238E27FC236}">
                  <a16:creationId xmlns:a16="http://schemas.microsoft.com/office/drawing/2014/main" id="{1E4AEDF9-F15C-49D7-A83C-1405DB53D2EC}"/>
                </a:ext>
              </a:extLst>
            </p:cNvPr>
            <p:cNvSpPr txBox="1"/>
            <p:nvPr/>
          </p:nvSpPr>
          <p:spPr>
            <a:xfrm>
              <a:off x="3843564" y="1929985"/>
              <a:ext cx="4504871" cy="1323439"/>
            </a:xfrm>
            <a:prstGeom prst="rect">
              <a:avLst/>
            </a:prstGeom>
            <a:noFill/>
          </p:spPr>
          <p:txBody>
            <a:bodyPr wrap="square" rtlCol="0">
              <a:spAutoFit/>
            </a:bodyPr>
            <a:lstStyle/>
            <a:p>
              <a:pPr algn="ctr"/>
              <a:r>
                <a:rPr lang="en-US" altLang="zh-CN" sz="8000"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rPr>
                <a:t>PART 04</a:t>
              </a:r>
              <a:endParaRPr lang="zh-CN" altLang="en-US" sz="8000" dirty="0">
                <a:effectLst>
                  <a:outerShdw blurRad="38100" dist="38100" dir="2700000" algn="tl">
                    <a:srgbClr val="000000">
                      <a:alpha val="43137"/>
                    </a:srgbClr>
                  </a:outerShdw>
                </a:effectLst>
                <a:latin typeface="思源黑体 CN Bold" panose="020B0800000000000000" pitchFamily="34" charset="-122"/>
                <a:ea typeface="思源黑体 CN Bold" panose="020B0800000000000000" pitchFamily="34" charset="-122"/>
              </a:endParaRPr>
            </a:p>
          </p:txBody>
        </p:sp>
        <p:sp>
          <p:nvSpPr>
            <p:cNvPr id="24" name="文本框 23">
              <a:extLst>
                <a:ext uri="{FF2B5EF4-FFF2-40B4-BE49-F238E27FC236}">
                  <a16:creationId xmlns:a16="http://schemas.microsoft.com/office/drawing/2014/main" id="{B53FF4EC-1094-46B4-BF89-94570156A98A}"/>
                </a:ext>
              </a:extLst>
            </p:cNvPr>
            <p:cNvSpPr txBox="1"/>
            <p:nvPr/>
          </p:nvSpPr>
          <p:spPr>
            <a:xfrm>
              <a:off x="2745907" y="3173042"/>
              <a:ext cx="6700184" cy="830997"/>
            </a:xfrm>
            <a:prstGeom prst="rect">
              <a:avLst/>
            </a:prstGeom>
            <a:noFill/>
          </p:spPr>
          <p:txBody>
            <a:bodyPr wrap="square" rtlCol="0">
              <a:spAutoFit/>
            </a:bodyPr>
            <a:lstStyle>
              <a:defPPr>
                <a:defRPr lang="zh-CN"/>
              </a:defPPr>
              <a:lvl1pPr algn="dist">
                <a:defRPr sz="48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成果与展望</a:t>
              </a:r>
            </a:p>
          </p:txBody>
        </p:sp>
      </p:grpSp>
    </p:spTree>
    <p:custDataLst>
      <p:tags r:id="rId1"/>
    </p:custDataLst>
    <p:extLst>
      <p:ext uri="{BB962C8B-B14F-4D97-AF65-F5344CB8AC3E}">
        <p14:creationId xmlns:p14="http://schemas.microsoft.com/office/powerpoint/2010/main" val="3724389146"/>
      </p:ext>
    </p:extLst>
  </p:cSld>
  <p:clrMapOvr>
    <a:masterClrMapping/>
  </p:clrMapOvr>
  <mc:AlternateContent xmlns:mc="http://schemas.openxmlformats.org/markup-compatibility/2006" xmlns:p14="http://schemas.microsoft.com/office/powerpoint/2010/main">
    <mc:Choice Requires="p14">
      <p:transition spd="slow" p14:dur="1500" advTm="1156">
        <p:random/>
      </p:transition>
    </mc:Choice>
    <mc:Fallback xmlns="">
      <p:transition spd="slow" advTm="1156">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1"/>
                                        </p:tgtEl>
                                        <p:attrNameLst>
                                          <p:attrName>style.visibility</p:attrName>
                                        </p:attrNameLst>
                                      </p:cBhvr>
                                      <p:to>
                                        <p:strVal val="visible"/>
                                      </p:to>
                                    </p:set>
                                    <p:anim calcmode="lin" valueType="num">
                                      <p:cBhvr>
                                        <p:cTn id="14" dur="500" fill="hold"/>
                                        <p:tgtEl>
                                          <p:spTgt spid="21"/>
                                        </p:tgtEl>
                                        <p:attrNameLst>
                                          <p:attrName>ppt_w</p:attrName>
                                        </p:attrNameLst>
                                      </p:cBhvr>
                                      <p:tavLst>
                                        <p:tav tm="0">
                                          <p:val>
                                            <p:fltVal val="0"/>
                                          </p:val>
                                        </p:tav>
                                        <p:tav tm="100000">
                                          <p:val>
                                            <p:strVal val="#ppt_w"/>
                                          </p:val>
                                        </p:tav>
                                      </p:tavLst>
                                    </p:anim>
                                    <p:anim calcmode="lin" valueType="num">
                                      <p:cBhvr>
                                        <p:cTn id="15" dur="500" fill="hold"/>
                                        <p:tgtEl>
                                          <p:spTgt spid="21"/>
                                        </p:tgtEl>
                                        <p:attrNameLst>
                                          <p:attrName>ppt_h</p:attrName>
                                        </p:attrNameLst>
                                      </p:cBhvr>
                                      <p:tavLst>
                                        <p:tav tm="0">
                                          <p:val>
                                            <p:fltVal val="0"/>
                                          </p:val>
                                        </p:tav>
                                        <p:tav tm="100000">
                                          <p:val>
                                            <p:strVal val="#ppt_h"/>
                                          </p:val>
                                        </p:tav>
                                      </p:tavLst>
                                    </p:anim>
                                    <p:animEffect transition="in" filter="fade">
                                      <p:cBhvr>
                                        <p:cTn id="1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39C1DF7B-F67C-4802-98BA-9E663611A929}"/>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0"/>
            <a:ext cx="1055440" cy="1100206"/>
          </a:xfrm>
          <a:prstGeom prst="rect">
            <a:avLst/>
          </a:prstGeom>
        </p:spPr>
      </p:pic>
      <p:sp>
        <p:nvSpPr>
          <p:cNvPr id="4" name="文本框 3">
            <a:extLst>
              <a:ext uri="{FF2B5EF4-FFF2-40B4-BE49-F238E27FC236}">
                <a16:creationId xmlns:a16="http://schemas.microsoft.com/office/drawing/2014/main" id="{D458A61D-D60E-4F90-9EB3-028E91FA2A8B}"/>
              </a:ext>
            </a:extLst>
          </p:cNvPr>
          <p:cNvSpPr txBox="1"/>
          <p:nvPr/>
        </p:nvSpPr>
        <p:spPr>
          <a:xfrm>
            <a:off x="911424" y="260648"/>
            <a:ext cx="2880320" cy="584775"/>
          </a:xfrm>
          <a:prstGeom prst="rect">
            <a:avLst/>
          </a:prstGeom>
          <a:noFill/>
        </p:spPr>
        <p:txBody>
          <a:bodyPr wrap="square" rtlCol="0">
            <a:spAutoFit/>
          </a:bodyPr>
          <a:lstStyle>
            <a:defPPr>
              <a:defRPr lang="zh-CN"/>
            </a:defPPr>
            <a:lvl1pPr algn="dist">
              <a:defRPr sz="32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例子：</a:t>
            </a:r>
            <a:r>
              <a:rPr lang="zh-CN" altLang="zh-CN" dirty="0">
                <a:effectLst/>
              </a:rPr>
              <a:t> </a:t>
            </a:r>
            <a:r>
              <a:rPr lang="zh-CN" altLang="en-US" dirty="0">
                <a:effectLst/>
              </a:rPr>
              <a:t>爱回收</a:t>
            </a:r>
            <a:endParaRPr lang="zh-CN" altLang="en-US" dirty="0"/>
          </a:p>
        </p:txBody>
      </p:sp>
      <p:sp>
        <p:nvSpPr>
          <p:cNvPr id="26" name="文本框 25">
            <a:extLst>
              <a:ext uri="{FF2B5EF4-FFF2-40B4-BE49-F238E27FC236}">
                <a16:creationId xmlns:a16="http://schemas.microsoft.com/office/drawing/2014/main" id="{9C6A61D8-96BC-E614-14E5-92B4D2341FA0}"/>
              </a:ext>
            </a:extLst>
          </p:cNvPr>
          <p:cNvSpPr txBox="1"/>
          <p:nvPr/>
        </p:nvSpPr>
        <p:spPr>
          <a:xfrm>
            <a:off x="659396" y="1100206"/>
            <a:ext cx="10873208" cy="1200329"/>
          </a:xfrm>
          <a:prstGeom prst="rect">
            <a:avLst/>
          </a:prstGeom>
          <a:noFill/>
        </p:spPr>
        <p:txBody>
          <a:bodyPr wrap="square">
            <a:spAutoFit/>
          </a:bodyPr>
          <a:lstStyle/>
          <a:p>
            <a:pPr marL="0" marR="0" lvl="0" indent="-342900" algn="l">
              <a:spcBef>
                <a:spcPts val="1200"/>
              </a:spcBef>
              <a:spcAft>
                <a:spcPts val="1200"/>
              </a:spcAft>
              <a:buFont typeface="Arial" panose="020B0604020202020204" pitchFamily="34" charset="0"/>
              <a:buChar char="•"/>
            </a:pPr>
            <a:r>
              <a:rPr lang="zh-CN" altLang="en-US" sz="2400" b="1" i="0" dirty="0">
                <a:solidFill>
                  <a:schemeClr val="tx1"/>
                </a:solidFill>
                <a:effectLst/>
                <a:latin typeface="+mn-lt"/>
              </a:rPr>
              <a:t>万物新生</a:t>
            </a:r>
            <a:r>
              <a:rPr lang="zh-CN" altLang="zh-CN" sz="2400" b="0" i="0" dirty="0">
                <a:solidFill>
                  <a:schemeClr val="tx1"/>
                </a:solidFill>
                <a:effectLst/>
                <a:latin typeface="+mn-lt"/>
              </a:rPr>
              <a:t>：</a:t>
            </a:r>
            <a:r>
              <a:rPr lang="zh-CN" altLang="en-US" sz="2400" b="0" i="0" dirty="0">
                <a:solidFill>
                  <a:schemeClr val="tx1"/>
                </a:solidFill>
                <a:effectLst/>
                <a:latin typeface="+mn-lt"/>
              </a:rPr>
              <a:t>其子品牌“爱回收”是消费电子二手流通领域的代表。它通过</a:t>
            </a:r>
            <a:r>
              <a:rPr lang="en-US" altLang="zh-CN" sz="2400" b="0" i="0" dirty="0">
                <a:solidFill>
                  <a:schemeClr val="tx1"/>
                </a:solidFill>
                <a:effectLst/>
                <a:latin typeface="+mn-lt"/>
              </a:rPr>
              <a:t>C2B+B2B+B2C</a:t>
            </a:r>
            <a:r>
              <a:rPr lang="zh-CN" altLang="en-US" sz="2400" b="0" i="0" dirty="0">
                <a:solidFill>
                  <a:schemeClr val="tx1"/>
                </a:solidFill>
                <a:effectLst/>
                <a:latin typeface="+mn-lt"/>
              </a:rPr>
              <a:t>的模式，对回收的二手设备进行质检和销售，使其重新进入消费市场。</a:t>
            </a:r>
            <a:endParaRPr lang="zh-CN" altLang="zh-CN" sz="1600" b="0" i="0" dirty="0">
              <a:solidFill>
                <a:srgbClr val="0F1115"/>
              </a:solidFill>
              <a:effectLst/>
              <a:latin typeface="quote-cjk-patch"/>
            </a:endParaRPr>
          </a:p>
        </p:txBody>
      </p:sp>
      <p:pic>
        <p:nvPicPr>
          <p:cNvPr id="30" name="图片 29" descr="门店覆盖全国">
            <a:extLst>
              <a:ext uri="{FF2B5EF4-FFF2-40B4-BE49-F238E27FC236}">
                <a16:creationId xmlns:a16="http://schemas.microsoft.com/office/drawing/2014/main" id="{D7D28326-DB11-AA7B-6401-476752FA67F8}"/>
              </a:ext>
            </a:extLst>
          </p:cNvPr>
          <p:cNvPicPr>
            <a:picLocks noChangeAspect="1"/>
          </p:cNvPicPr>
          <p:nvPr/>
        </p:nvPicPr>
        <p:blipFill>
          <a:blip r:embed="rId4"/>
          <a:stretch>
            <a:fillRect/>
          </a:stretch>
        </p:blipFill>
        <p:spPr>
          <a:xfrm>
            <a:off x="605959" y="2524814"/>
            <a:ext cx="5328592" cy="3113896"/>
          </a:xfrm>
          <a:prstGeom prst="rect">
            <a:avLst/>
          </a:prstGeom>
        </p:spPr>
      </p:pic>
      <p:pic>
        <p:nvPicPr>
          <p:cNvPr id="31" name="图片 30" descr="自助回收机">
            <a:extLst>
              <a:ext uri="{FF2B5EF4-FFF2-40B4-BE49-F238E27FC236}">
                <a16:creationId xmlns:a16="http://schemas.microsoft.com/office/drawing/2014/main" id="{40863156-A526-1911-7F11-1662D35892BB}"/>
              </a:ext>
            </a:extLst>
          </p:cNvPr>
          <p:cNvPicPr>
            <a:picLocks noChangeAspect="1"/>
          </p:cNvPicPr>
          <p:nvPr/>
        </p:nvPicPr>
        <p:blipFill>
          <a:blip r:embed="rId5"/>
          <a:stretch>
            <a:fillRect/>
          </a:stretch>
        </p:blipFill>
        <p:spPr>
          <a:xfrm>
            <a:off x="6257451" y="2526448"/>
            <a:ext cx="5123119" cy="3113896"/>
          </a:xfrm>
          <a:prstGeom prst="rect">
            <a:avLst/>
          </a:prstGeom>
        </p:spPr>
      </p:pic>
    </p:spTree>
    <p:custDataLst>
      <p:tags r:id="rId1"/>
    </p:custDataLst>
    <p:extLst>
      <p:ext uri="{BB962C8B-B14F-4D97-AF65-F5344CB8AC3E}">
        <p14:creationId xmlns:p14="http://schemas.microsoft.com/office/powerpoint/2010/main" val="1707833198"/>
      </p:ext>
    </p:extLst>
  </p:cSld>
  <p:clrMapOvr>
    <a:masterClrMapping/>
  </p:clrMapOvr>
  <mc:AlternateContent xmlns:mc="http://schemas.openxmlformats.org/markup-compatibility/2006" xmlns:p14="http://schemas.microsoft.com/office/powerpoint/2010/main">
    <mc:Choice Requires="p14">
      <p:transition spd="slow" p14:dur="1500" advTm="3116">
        <p:random/>
      </p:transition>
    </mc:Choice>
    <mc:Fallback xmlns="">
      <p:transition spd="slow" advTm="3116">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A570B-F1A6-F106-CF7B-8B7C8035D119}"/>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D34C70BC-F07E-2138-61D9-2FDC8C39F801}"/>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0"/>
            <a:ext cx="1055440" cy="1100206"/>
          </a:xfrm>
          <a:prstGeom prst="rect">
            <a:avLst/>
          </a:prstGeom>
        </p:spPr>
      </p:pic>
      <p:sp>
        <p:nvSpPr>
          <p:cNvPr id="4" name="文本框 3">
            <a:extLst>
              <a:ext uri="{FF2B5EF4-FFF2-40B4-BE49-F238E27FC236}">
                <a16:creationId xmlns:a16="http://schemas.microsoft.com/office/drawing/2014/main" id="{382A5DDB-7220-4388-A642-BEE89FC00987}"/>
              </a:ext>
            </a:extLst>
          </p:cNvPr>
          <p:cNvSpPr txBox="1"/>
          <p:nvPr/>
        </p:nvSpPr>
        <p:spPr>
          <a:xfrm>
            <a:off x="911424" y="260648"/>
            <a:ext cx="4752528" cy="584775"/>
          </a:xfrm>
          <a:prstGeom prst="rect">
            <a:avLst/>
          </a:prstGeom>
          <a:noFill/>
        </p:spPr>
        <p:txBody>
          <a:bodyPr wrap="square" rtlCol="0">
            <a:spAutoFit/>
          </a:bodyPr>
          <a:lstStyle>
            <a:defPPr>
              <a:defRPr lang="zh-CN"/>
            </a:defPPr>
            <a:lvl1pPr algn="dist">
              <a:defRPr sz="32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例子：</a:t>
            </a:r>
            <a:r>
              <a:rPr lang="zh-CN" altLang="zh-CN" dirty="0">
                <a:effectLst/>
              </a:rPr>
              <a:t>格林美 / 格林循环</a:t>
            </a:r>
            <a:endParaRPr lang="zh-CN" altLang="en-US" dirty="0"/>
          </a:p>
        </p:txBody>
      </p:sp>
      <p:sp>
        <p:nvSpPr>
          <p:cNvPr id="26" name="文本框 25">
            <a:extLst>
              <a:ext uri="{FF2B5EF4-FFF2-40B4-BE49-F238E27FC236}">
                <a16:creationId xmlns:a16="http://schemas.microsoft.com/office/drawing/2014/main" id="{9B179240-3EBB-C932-2027-7562A5D33D28}"/>
              </a:ext>
            </a:extLst>
          </p:cNvPr>
          <p:cNvSpPr txBox="1"/>
          <p:nvPr/>
        </p:nvSpPr>
        <p:spPr>
          <a:xfrm>
            <a:off x="527720" y="1052736"/>
            <a:ext cx="10873208" cy="1200329"/>
          </a:xfrm>
          <a:prstGeom prst="rect">
            <a:avLst/>
          </a:prstGeom>
          <a:noFill/>
        </p:spPr>
        <p:txBody>
          <a:bodyPr wrap="square">
            <a:spAutoFit/>
          </a:bodyPr>
          <a:lstStyle/>
          <a:p>
            <a:pPr marL="0" marR="0" lvl="0" indent="-342900" algn="l">
              <a:spcBef>
                <a:spcPts val="1200"/>
              </a:spcBef>
              <a:spcAft>
                <a:spcPts val="1200"/>
              </a:spcAft>
              <a:buFont typeface="Arial" panose="020B0604020202020204" pitchFamily="34" charset="0"/>
              <a:buChar char="•"/>
            </a:pPr>
            <a:r>
              <a:rPr lang="zh-CN" altLang="en-US" sz="2400" b="1" dirty="0"/>
              <a:t>格林美</a:t>
            </a:r>
            <a:r>
              <a:rPr lang="zh-CN" altLang="en-US" sz="2400" b="1" i="0" dirty="0">
                <a:solidFill>
                  <a:schemeClr val="tx1"/>
                </a:solidFill>
                <a:effectLst/>
                <a:latin typeface="+mn-lt"/>
              </a:rPr>
              <a:t>：</a:t>
            </a:r>
            <a:r>
              <a:rPr lang="zh-CN" altLang="en-US" sz="2400" i="0" dirty="0">
                <a:solidFill>
                  <a:schemeClr val="tx1"/>
                </a:solidFill>
                <a:effectLst/>
                <a:latin typeface="+mn-lt"/>
              </a:rPr>
              <a:t>它构建了“电子废弃物回收拆解</a:t>
            </a:r>
            <a:r>
              <a:rPr lang="en-US" altLang="zh-CN" sz="2400" i="0" dirty="0">
                <a:solidFill>
                  <a:schemeClr val="tx1"/>
                </a:solidFill>
                <a:effectLst/>
                <a:latin typeface="+mn-lt"/>
              </a:rPr>
              <a:t>—</a:t>
            </a:r>
            <a:r>
              <a:rPr lang="zh-CN" altLang="en-US" sz="2400" i="0" dirty="0">
                <a:solidFill>
                  <a:schemeClr val="tx1"/>
                </a:solidFill>
                <a:effectLst/>
                <a:latin typeface="+mn-lt"/>
              </a:rPr>
              <a:t>废塑料再生</a:t>
            </a:r>
            <a:r>
              <a:rPr lang="en-US" altLang="zh-CN" sz="2400" i="0" dirty="0">
                <a:solidFill>
                  <a:schemeClr val="tx1"/>
                </a:solidFill>
                <a:effectLst/>
                <a:latin typeface="+mn-lt"/>
              </a:rPr>
              <a:t>—</a:t>
            </a:r>
            <a:r>
              <a:rPr lang="zh-CN" altLang="en-US" sz="2400" i="0" dirty="0">
                <a:solidFill>
                  <a:schemeClr val="tx1"/>
                </a:solidFill>
                <a:effectLst/>
                <a:latin typeface="+mn-lt"/>
              </a:rPr>
              <a:t>稀贵金属再生”的完整价值链。其核心能力在于，从电子线路板等废料中高效回收镍、钴、钨、金、银等关键金属，并将其重新转化为新能源材料制造所需的原料。</a:t>
            </a:r>
          </a:p>
        </p:txBody>
      </p:sp>
      <p:pic>
        <p:nvPicPr>
          <p:cNvPr id="8" name="图片 7">
            <a:extLst>
              <a:ext uri="{FF2B5EF4-FFF2-40B4-BE49-F238E27FC236}">
                <a16:creationId xmlns:a16="http://schemas.microsoft.com/office/drawing/2014/main" id="{28F46E34-2DFA-3A6D-5522-2394396E1B84}"/>
              </a:ext>
            </a:extLst>
          </p:cNvPr>
          <p:cNvPicPr>
            <a:picLocks noChangeAspect="1"/>
          </p:cNvPicPr>
          <p:nvPr/>
        </p:nvPicPr>
        <p:blipFill>
          <a:blip r:embed="rId4"/>
          <a:stretch>
            <a:fillRect/>
          </a:stretch>
        </p:blipFill>
        <p:spPr>
          <a:xfrm>
            <a:off x="695400" y="2482074"/>
            <a:ext cx="5090172" cy="3247030"/>
          </a:xfrm>
          <a:prstGeom prst="rect">
            <a:avLst/>
          </a:prstGeom>
        </p:spPr>
      </p:pic>
      <p:pic>
        <p:nvPicPr>
          <p:cNvPr id="10" name="图片 9">
            <a:extLst>
              <a:ext uri="{FF2B5EF4-FFF2-40B4-BE49-F238E27FC236}">
                <a16:creationId xmlns:a16="http://schemas.microsoft.com/office/drawing/2014/main" id="{95BDEAC8-B8D8-D96F-8CAA-0892028A0F89}"/>
              </a:ext>
            </a:extLst>
          </p:cNvPr>
          <p:cNvPicPr>
            <a:picLocks noChangeAspect="1"/>
          </p:cNvPicPr>
          <p:nvPr/>
        </p:nvPicPr>
        <p:blipFill>
          <a:blip r:embed="rId5"/>
          <a:srcRect r="17301"/>
          <a:stretch>
            <a:fillRect/>
          </a:stretch>
        </p:blipFill>
        <p:spPr>
          <a:xfrm>
            <a:off x="6073115" y="2482074"/>
            <a:ext cx="5207461" cy="3255752"/>
          </a:xfrm>
          <a:prstGeom prst="rect">
            <a:avLst/>
          </a:prstGeom>
        </p:spPr>
      </p:pic>
    </p:spTree>
    <p:custDataLst>
      <p:tags r:id="rId1"/>
    </p:custDataLst>
    <p:extLst>
      <p:ext uri="{BB962C8B-B14F-4D97-AF65-F5344CB8AC3E}">
        <p14:creationId xmlns:p14="http://schemas.microsoft.com/office/powerpoint/2010/main" val="1673487681"/>
      </p:ext>
    </p:extLst>
  </p:cSld>
  <p:clrMapOvr>
    <a:masterClrMapping/>
  </p:clrMapOvr>
  <mc:AlternateContent xmlns:mc="http://schemas.openxmlformats.org/markup-compatibility/2006" xmlns:p14="http://schemas.microsoft.com/office/powerpoint/2010/main">
    <mc:Choice Requires="p14">
      <p:transition spd="slow" p14:dur="1500" advTm="3116">
        <p:random/>
      </p:transition>
    </mc:Choice>
    <mc:Fallback xmlns="">
      <p:transition spd="slow" advTm="3116">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39C1DF7B-F67C-4802-98BA-9E663611A929}"/>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0"/>
            <a:ext cx="1055440" cy="1100206"/>
          </a:xfrm>
          <a:prstGeom prst="rect">
            <a:avLst/>
          </a:prstGeom>
        </p:spPr>
      </p:pic>
      <p:sp>
        <p:nvSpPr>
          <p:cNvPr id="13" name="文本框 12">
            <a:extLst>
              <a:ext uri="{FF2B5EF4-FFF2-40B4-BE49-F238E27FC236}">
                <a16:creationId xmlns:a16="http://schemas.microsoft.com/office/drawing/2014/main" id="{3B69B43D-D53D-48C5-FC78-C594B550F26B}"/>
              </a:ext>
            </a:extLst>
          </p:cNvPr>
          <p:cNvSpPr txBox="1"/>
          <p:nvPr/>
        </p:nvSpPr>
        <p:spPr>
          <a:xfrm>
            <a:off x="911424" y="260648"/>
            <a:ext cx="2160240" cy="584775"/>
          </a:xfrm>
          <a:prstGeom prst="rect">
            <a:avLst/>
          </a:prstGeom>
          <a:noFill/>
        </p:spPr>
        <p:txBody>
          <a:bodyPr wrap="square" rtlCol="0">
            <a:spAutoFit/>
          </a:bodyPr>
          <a:lstStyle>
            <a:defPPr>
              <a:defRPr lang="zh-CN"/>
            </a:defPPr>
            <a:lvl1pPr algn="dist">
              <a:defRPr sz="32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展望未来</a:t>
            </a:r>
          </a:p>
        </p:txBody>
      </p:sp>
      <p:sp>
        <p:nvSpPr>
          <p:cNvPr id="15" name="文本框 14">
            <a:extLst>
              <a:ext uri="{FF2B5EF4-FFF2-40B4-BE49-F238E27FC236}">
                <a16:creationId xmlns:a16="http://schemas.microsoft.com/office/drawing/2014/main" id="{3342E5AF-9719-2C9D-9E96-28A283CBDE62}"/>
              </a:ext>
            </a:extLst>
          </p:cNvPr>
          <p:cNvSpPr txBox="1"/>
          <p:nvPr/>
        </p:nvSpPr>
        <p:spPr>
          <a:xfrm>
            <a:off x="983432" y="1196752"/>
            <a:ext cx="10009112" cy="4708981"/>
          </a:xfrm>
          <a:prstGeom prst="rect">
            <a:avLst/>
          </a:prstGeom>
          <a:noFill/>
        </p:spPr>
        <p:txBody>
          <a:bodyPr wrap="square">
            <a:spAutoFit/>
          </a:bodyPr>
          <a:lstStyle/>
          <a:p>
            <a:pPr marL="0" marR="0" indent="0" algn="l">
              <a:lnSpc>
                <a:spcPct val="100000"/>
              </a:lnSpc>
              <a:spcBef>
                <a:spcPts val="2400"/>
              </a:spcBef>
              <a:spcAft>
                <a:spcPts val="1200"/>
              </a:spcAft>
              <a:buNone/>
            </a:pPr>
            <a:r>
              <a:rPr lang="zh-CN" altLang="zh-CN" sz="2800" b="1" dirty="0">
                <a:solidFill>
                  <a:schemeClr val="tx1"/>
                </a:solidFill>
                <a:effectLst/>
                <a:latin typeface="+mn-lt"/>
              </a:rPr>
              <a:t>规模与结构的双重跃升</a:t>
            </a:r>
          </a:p>
          <a:p>
            <a:pPr marL="0" marR="0" indent="0" algn="l">
              <a:spcBef>
                <a:spcPts val="1200"/>
              </a:spcBef>
              <a:spcAft>
                <a:spcPts val="1200"/>
              </a:spcAft>
              <a:buNone/>
            </a:pPr>
            <a:r>
              <a:rPr lang="zh-CN" altLang="zh-CN" sz="2800" b="0" i="0" dirty="0">
                <a:solidFill>
                  <a:schemeClr val="tx1"/>
                </a:solidFill>
                <a:effectLst/>
                <a:latin typeface="+mn-lt"/>
              </a:rPr>
              <a:t>电子废弃物的产生量仍在持续攀升。2025年理论产生量已突破780万吨，预计2030年将突破</a:t>
            </a:r>
            <a:r>
              <a:rPr lang="zh-CN" altLang="zh-CN" sz="2800" b="1" i="0" dirty="0">
                <a:solidFill>
                  <a:schemeClr val="tx1"/>
                </a:solidFill>
                <a:effectLst/>
                <a:latin typeface="+mn-lt"/>
              </a:rPr>
              <a:t>1000万吨</a:t>
            </a:r>
            <a:r>
              <a:rPr lang="zh-CN" altLang="zh-CN" sz="2800" b="0" i="0" dirty="0">
                <a:solidFill>
                  <a:schemeClr val="tx1"/>
                </a:solidFill>
                <a:effectLst/>
                <a:latin typeface="+mn-lt"/>
              </a:rPr>
              <a:t>大关。但更值得关注的是</a:t>
            </a:r>
            <a:r>
              <a:rPr lang="zh-CN" altLang="zh-CN" sz="2800" b="1" i="0" dirty="0">
                <a:solidFill>
                  <a:schemeClr val="tx1"/>
                </a:solidFill>
                <a:effectLst/>
                <a:latin typeface="+mn-lt"/>
              </a:rPr>
              <a:t>结构的变化</a:t>
            </a:r>
            <a:r>
              <a:rPr lang="zh-CN" altLang="zh-CN" sz="2800" b="0" i="0" dirty="0">
                <a:solidFill>
                  <a:schemeClr val="tx1"/>
                </a:solidFill>
                <a:effectLst/>
                <a:latin typeface="+mn-lt"/>
              </a:rPr>
              <a:t>：传统“四机一脑”的处理量占比已从十年前的绝对主导降至约62%，移动通信设备、小型智能穿戴设备，以及动力电池、光伏组件等“新三样”退役潮，正在构成新的增量主体。精深处理的市场价值增速显著高于废弃物本身的增量——2026年中国电子废弃物精深处理市场规模预计为158亿美元，2030年将达到</a:t>
            </a:r>
            <a:r>
              <a:rPr lang="zh-CN" altLang="zh-CN" sz="2800" b="1" i="0" dirty="0">
                <a:solidFill>
                  <a:schemeClr val="tx1"/>
                </a:solidFill>
                <a:effectLst/>
                <a:latin typeface="+mn-lt"/>
              </a:rPr>
              <a:t>286亿美元</a:t>
            </a:r>
            <a:r>
              <a:rPr lang="zh-CN" altLang="zh-CN" sz="2800" b="0" i="0" dirty="0">
                <a:solidFill>
                  <a:schemeClr val="tx1"/>
                </a:solidFill>
                <a:effectLst/>
                <a:latin typeface="+mn-lt"/>
              </a:rPr>
              <a:t>，年复合增长率</a:t>
            </a:r>
            <a:r>
              <a:rPr lang="zh-CN" altLang="zh-CN" sz="2800" b="1" i="0" dirty="0">
                <a:solidFill>
                  <a:schemeClr val="tx1"/>
                </a:solidFill>
                <a:effectLst/>
                <a:latin typeface="+mn-lt"/>
              </a:rPr>
              <a:t>12.6%</a:t>
            </a:r>
            <a:r>
              <a:rPr lang="zh-CN" altLang="zh-CN" sz="2800" b="0" i="0" dirty="0">
                <a:solidFill>
                  <a:schemeClr val="tx1"/>
                </a:solidFill>
                <a:effectLst/>
                <a:latin typeface="+mn-lt"/>
              </a:rPr>
              <a:t>，高于全球平均水平</a:t>
            </a:r>
            <a:r>
              <a:rPr lang="zh-CN" altLang="en-US" sz="2800" b="0" i="0" dirty="0">
                <a:solidFill>
                  <a:schemeClr val="tx1"/>
                </a:solidFill>
                <a:effectLst/>
                <a:latin typeface="+mn-lt"/>
              </a:rPr>
              <a:t>。</a:t>
            </a:r>
            <a:endParaRPr lang="zh-CN" altLang="zh-CN" b="0" i="0" dirty="0">
              <a:solidFill>
                <a:srgbClr val="0F1115"/>
              </a:solidFill>
              <a:effectLst/>
              <a:latin typeface="quote-cjk-patch"/>
            </a:endParaRPr>
          </a:p>
        </p:txBody>
      </p:sp>
    </p:spTree>
    <p:custDataLst>
      <p:tags r:id="rId1"/>
    </p:custDataLst>
    <p:extLst>
      <p:ext uri="{BB962C8B-B14F-4D97-AF65-F5344CB8AC3E}">
        <p14:creationId xmlns:p14="http://schemas.microsoft.com/office/powerpoint/2010/main" val="3554443482"/>
      </p:ext>
    </p:extLst>
  </p:cSld>
  <p:clrMapOvr>
    <a:masterClrMapping/>
  </p:clrMapOvr>
  <mc:AlternateContent xmlns:mc="http://schemas.openxmlformats.org/markup-compatibility/2006" xmlns:p14="http://schemas.microsoft.com/office/powerpoint/2010/main">
    <mc:Choice Requires="p14">
      <p:transition spd="slow" p14:dur="1500" advTm="2093">
        <p:random/>
      </p:transition>
    </mc:Choice>
    <mc:Fallback xmlns="">
      <p:transition spd="slow" advTm="2093">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9BFF4-2B60-CF50-7B7F-2A772BB7532F}"/>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1DBC44B4-C3AE-7F74-54EB-58BB95CC73EC}"/>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0"/>
            <a:ext cx="1055440" cy="1100206"/>
          </a:xfrm>
          <a:prstGeom prst="rect">
            <a:avLst/>
          </a:prstGeom>
        </p:spPr>
      </p:pic>
      <p:sp>
        <p:nvSpPr>
          <p:cNvPr id="13" name="文本框 12">
            <a:extLst>
              <a:ext uri="{FF2B5EF4-FFF2-40B4-BE49-F238E27FC236}">
                <a16:creationId xmlns:a16="http://schemas.microsoft.com/office/drawing/2014/main" id="{4D12A4D0-97FA-FFB2-EA92-95484A450A1C}"/>
              </a:ext>
            </a:extLst>
          </p:cNvPr>
          <p:cNvSpPr txBox="1"/>
          <p:nvPr/>
        </p:nvSpPr>
        <p:spPr>
          <a:xfrm>
            <a:off x="911424" y="257715"/>
            <a:ext cx="2160240" cy="584775"/>
          </a:xfrm>
          <a:prstGeom prst="rect">
            <a:avLst/>
          </a:prstGeom>
          <a:noFill/>
        </p:spPr>
        <p:txBody>
          <a:bodyPr wrap="square" rtlCol="0">
            <a:spAutoFit/>
          </a:bodyPr>
          <a:lstStyle>
            <a:defPPr>
              <a:defRPr lang="zh-CN"/>
            </a:defPPr>
            <a:lvl1pPr algn="dist">
              <a:defRPr sz="32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严峻问题</a:t>
            </a:r>
          </a:p>
        </p:txBody>
      </p:sp>
      <p:sp>
        <p:nvSpPr>
          <p:cNvPr id="4" name="文本框 3">
            <a:extLst>
              <a:ext uri="{FF2B5EF4-FFF2-40B4-BE49-F238E27FC236}">
                <a16:creationId xmlns:a16="http://schemas.microsoft.com/office/drawing/2014/main" id="{086B0A3D-DA59-8A0E-80D5-C1D7491CD602}"/>
              </a:ext>
            </a:extLst>
          </p:cNvPr>
          <p:cNvSpPr txBox="1"/>
          <p:nvPr/>
        </p:nvSpPr>
        <p:spPr>
          <a:xfrm>
            <a:off x="1199456" y="1228397"/>
            <a:ext cx="9721080" cy="4401205"/>
          </a:xfrm>
          <a:prstGeom prst="rect">
            <a:avLst/>
          </a:prstGeom>
          <a:noFill/>
        </p:spPr>
        <p:txBody>
          <a:bodyPr wrap="square">
            <a:spAutoFit/>
          </a:bodyPr>
          <a:lstStyle/>
          <a:p>
            <a:r>
              <a:rPr lang="zh-CN" altLang="zh-CN" sz="2800" b="1" i="0" dirty="0">
                <a:solidFill>
                  <a:schemeClr val="tx1"/>
                </a:solidFill>
                <a:effectLst/>
                <a:latin typeface="+mn-lt"/>
              </a:rPr>
              <a:t>“正规企业收不到、小作坊管不住”的格局尚未根本扭转。</a:t>
            </a:r>
            <a:r>
              <a:rPr lang="zh-CN" altLang="zh-CN" sz="2800" b="0" i="0" dirty="0">
                <a:solidFill>
                  <a:schemeClr val="tx1"/>
                </a:solidFill>
                <a:effectLst/>
                <a:latin typeface="+mn-lt"/>
              </a:rPr>
              <a:t> 尽管正规处理率较五年前提升了超过20个百分点，2025年达到约57.6%，但非正规渠道的灰色空间依然显著存在。仅</a:t>
            </a:r>
            <a:r>
              <a:rPr lang="zh-CN" altLang="zh-CN" sz="2800" b="1" i="0" dirty="0">
                <a:solidFill>
                  <a:schemeClr val="tx1"/>
                </a:solidFill>
                <a:effectLst/>
                <a:latin typeface="+mn-lt"/>
              </a:rPr>
              <a:t>36%的冰箱和23%的空调</a:t>
            </a:r>
            <a:r>
              <a:rPr lang="zh-CN" altLang="zh-CN" sz="2800" b="0" i="0" dirty="0">
                <a:solidFill>
                  <a:schemeClr val="tx1"/>
                </a:solidFill>
                <a:effectLst/>
                <a:latin typeface="+mn-lt"/>
              </a:rPr>
              <a:t>进入了正规处理体系，这意味着大量含制冷剂的高碳减排价值产品仍在正规体系之外流失。正规拆解企业“吃不饱”与私拆小作坊的环境污染并存，是行业治理的长期难题。监管手段正在升级（如“反向开票”、严厉打击作坊式拆解），但渠道竞争的本质是</a:t>
            </a:r>
            <a:r>
              <a:rPr lang="zh-CN" altLang="zh-CN" sz="2800" b="1" i="0" dirty="0">
                <a:solidFill>
                  <a:schemeClr val="tx1"/>
                </a:solidFill>
                <a:effectLst/>
                <a:latin typeface="+mn-lt"/>
              </a:rPr>
              <a:t>价格机制</a:t>
            </a:r>
            <a:r>
              <a:rPr lang="zh-CN" altLang="zh-CN" sz="2800" b="0" i="0" dirty="0">
                <a:solidFill>
                  <a:schemeClr val="tx1"/>
                </a:solidFill>
                <a:effectLst/>
                <a:latin typeface="+mn-lt"/>
              </a:rPr>
              <a:t>——只有当正规渠道在回收报价和便利性上具备竞争力，或者非正规渠道的违法成本足够高时，这一矛盾才可能真正缓解。</a:t>
            </a:r>
            <a:endParaRPr lang="zh-CN" altLang="en-US" sz="2800" dirty="0"/>
          </a:p>
        </p:txBody>
      </p:sp>
    </p:spTree>
    <p:custDataLst>
      <p:tags r:id="rId1"/>
    </p:custDataLst>
    <p:extLst>
      <p:ext uri="{BB962C8B-B14F-4D97-AF65-F5344CB8AC3E}">
        <p14:creationId xmlns:p14="http://schemas.microsoft.com/office/powerpoint/2010/main" val="3368259069"/>
      </p:ext>
    </p:extLst>
  </p:cSld>
  <p:clrMapOvr>
    <a:masterClrMapping/>
  </p:clrMapOvr>
  <mc:AlternateContent xmlns:mc="http://schemas.openxmlformats.org/markup-compatibility/2006" xmlns:p14="http://schemas.microsoft.com/office/powerpoint/2010/main">
    <mc:Choice Requires="p14">
      <p:transition spd="slow" p14:dur="1500" advTm="2093">
        <p:random/>
      </p:transition>
    </mc:Choice>
    <mc:Fallback xmlns="">
      <p:transition spd="slow" advTm="2093">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12280-509B-F2B3-01E3-0AA209A43EBA}"/>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C7B50A3C-2345-D42B-0DC9-368D3D41EC4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0"/>
            <a:ext cx="1055440" cy="1100206"/>
          </a:xfrm>
          <a:prstGeom prst="rect">
            <a:avLst/>
          </a:prstGeom>
        </p:spPr>
      </p:pic>
      <p:sp>
        <p:nvSpPr>
          <p:cNvPr id="13" name="文本框 12">
            <a:extLst>
              <a:ext uri="{FF2B5EF4-FFF2-40B4-BE49-F238E27FC236}">
                <a16:creationId xmlns:a16="http://schemas.microsoft.com/office/drawing/2014/main" id="{5E88093E-E11B-4BCE-AC57-07D4C2A6E490}"/>
              </a:ext>
            </a:extLst>
          </p:cNvPr>
          <p:cNvSpPr txBox="1"/>
          <p:nvPr/>
        </p:nvSpPr>
        <p:spPr>
          <a:xfrm>
            <a:off x="911424" y="257715"/>
            <a:ext cx="2160240" cy="584775"/>
          </a:xfrm>
          <a:prstGeom prst="rect">
            <a:avLst/>
          </a:prstGeom>
          <a:noFill/>
        </p:spPr>
        <p:txBody>
          <a:bodyPr wrap="square" rtlCol="0">
            <a:spAutoFit/>
          </a:bodyPr>
          <a:lstStyle>
            <a:defPPr>
              <a:defRPr lang="zh-CN"/>
            </a:defPPr>
            <a:lvl1pPr algn="dist">
              <a:defRPr sz="32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严峻问题</a:t>
            </a:r>
          </a:p>
        </p:txBody>
      </p:sp>
      <p:sp>
        <p:nvSpPr>
          <p:cNvPr id="4" name="文本框 3">
            <a:extLst>
              <a:ext uri="{FF2B5EF4-FFF2-40B4-BE49-F238E27FC236}">
                <a16:creationId xmlns:a16="http://schemas.microsoft.com/office/drawing/2014/main" id="{7B202EF6-F306-BA03-FE4F-22F9626D4760}"/>
              </a:ext>
            </a:extLst>
          </p:cNvPr>
          <p:cNvSpPr txBox="1"/>
          <p:nvPr/>
        </p:nvSpPr>
        <p:spPr>
          <a:xfrm>
            <a:off x="1199456" y="1228397"/>
            <a:ext cx="9721080" cy="4832092"/>
          </a:xfrm>
          <a:prstGeom prst="rect">
            <a:avLst/>
          </a:prstGeom>
          <a:noFill/>
        </p:spPr>
        <p:txBody>
          <a:bodyPr wrap="square">
            <a:spAutoFit/>
          </a:bodyPr>
          <a:lstStyle/>
          <a:p>
            <a:r>
              <a:rPr lang="zh-CN" altLang="zh-CN" sz="2800" b="1" dirty="0"/>
              <a:t>碳减排价值尚未完成制度化的“变现闭环”。</a:t>
            </a:r>
            <a:r>
              <a:rPr lang="zh-CN" altLang="zh-CN" sz="2800" dirty="0"/>
              <a:t> 电子废物回收利用的减碳效益是真实的——近十年规范回收利用累计减少碳排放超</a:t>
            </a:r>
            <a:r>
              <a:rPr lang="zh-CN" altLang="zh-CN" sz="2800" b="1" dirty="0"/>
              <a:t>5000万吨</a:t>
            </a:r>
            <a:r>
              <a:rPr lang="zh-CN" altLang="zh-CN" sz="2800" dirty="0"/>
              <a:t>，其中拆解产物替代原生材料贡献了</a:t>
            </a:r>
            <a:r>
              <a:rPr lang="zh-CN" altLang="zh-CN" sz="2800" b="1" dirty="0"/>
              <a:t>78.2%</a:t>
            </a:r>
            <a:r>
              <a:rPr lang="zh-CN" altLang="zh-CN" sz="2800" dirty="0"/>
              <a:t>的减排量。但这一价值目前难以被系统性地量化、认证和交易。电子废物回收的碳减排尚未纳入国家统一核算体系，再生材料缺乏完善的品质标准、碳足迹认证和全生命周期溯源，导致其“绿色身份”难以在市场中获得溢价，进而影响了生产企业使用再生材料的意愿。如果碳资产化和再生材料认证体系在未来数年取得实质性突破，电子垃圾回收的经济模型将发生一次质变：</a:t>
            </a:r>
            <a:r>
              <a:rPr lang="zh-CN" altLang="zh-CN" sz="2800" b="1" dirty="0"/>
              <a:t>减排量本身成为可出售的产品，再生材料的绿色溢价成为回收企业的第二利润来源</a:t>
            </a:r>
            <a:r>
              <a:rPr lang="zh-CN" altLang="zh-CN" sz="2800" dirty="0"/>
              <a:t>。</a:t>
            </a:r>
            <a:endParaRPr lang="zh-CN" altLang="en-US" sz="4000" dirty="0"/>
          </a:p>
        </p:txBody>
      </p:sp>
    </p:spTree>
    <p:custDataLst>
      <p:tags r:id="rId1"/>
    </p:custDataLst>
    <p:extLst>
      <p:ext uri="{BB962C8B-B14F-4D97-AF65-F5344CB8AC3E}">
        <p14:creationId xmlns:p14="http://schemas.microsoft.com/office/powerpoint/2010/main" val="330971006"/>
      </p:ext>
    </p:extLst>
  </p:cSld>
  <p:clrMapOvr>
    <a:masterClrMapping/>
  </p:clrMapOvr>
  <mc:AlternateContent xmlns:mc="http://schemas.openxmlformats.org/markup-compatibility/2006" xmlns:p14="http://schemas.microsoft.com/office/powerpoint/2010/main">
    <mc:Choice Requires="p14">
      <p:transition spd="slow" p14:dur="1500" advTm="2093">
        <p:random/>
      </p:transition>
    </mc:Choice>
    <mc:Fallback xmlns="">
      <p:transition spd="slow" advTm="2093">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56496-08F0-C528-EE75-61304A10AA0C}"/>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3598A001-416A-0014-AFC4-A6148C0933C3}"/>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0"/>
            <a:ext cx="1055440" cy="1100206"/>
          </a:xfrm>
          <a:prstGeom prst="rect">
            <a:avLst/>
          </a:prstGeom>
        </p:spPr>
      </p:pic>
      <p:sp>
        <p:nvSpPr>
          <p:cNvPr id="13" name="文本框 12">
            <a:extLst>
              <a:ext uri="{FF2B5EF4-FFF2-40B4-BE49-F238E27FC236}">
                <a16:creationId xmlns:a16="http://schemas.microsoft.com/office/drawing/2014/main" id="{C1EBFEB8-BEE1-00C7-FF58-65C378D2BD77}"/>
              </a:ext>
            </a:extLst>
          </p:cNvPr>
          <p:cNvSpPr txBox="1"/>
          <p:nvPr/>
        </p:nvSpPr>
        <p:spPr>
          <a:xfrm>
            <a:off x="911424" y="260648"/>
            <a:ext cx="2160240" cy="584775"/>
          </a:xfrm>
          <a:prstGeom prst="rect">
            <a:avLst/>
          </a:prstGeom>
          <a:noFill/>
        </p:spPr>
        <p:txBody>
          <a:bodyPr wrap="square" rtlCol="0">
            <a:spAutoFit/>
          </a:bodyPr>
          <a:lstStyle>
            <a:defPPr>
              <a:defRPr lang="zh-CN"/>
            </a:defPPr>
            <a:lvl1pPr algn="dist">
              <a:defRPr sz="32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展望未来</a:t>
            </a:r>
          </a:p>
        </p:txBody>
      </p:sp>
      <p:sp>
        <p:nvSpPr>
          <p:cNvPr id="4" name="文本框 3">
            <a:extLst>
              <a:ext uri="{FF2B5EF4-FFF2-40B4-BE49-F238E27FC236}">
                <a16:creationId xmlns:a16="http://schemas.microsoft.com/office/drawing/2014/main" id="{66C7C40F-51CA-3456-97B4-9D098FF103A3}"/>
              </a:ext>
            </a:extLst>
          </p:cNvPr>
          <p:cNvSpPr txBox="1"/>
          <p:nvPr/>
        </p:nvSpPr>
        <p:spPr>
          <a:xfrm>
            <a:off x="907546" y="1412776"/>
            <a:ext cx="10297144" cy="4832092"/>
          </a:xfrm>
          <a:prstGeom prst="rect">
            <a:avLst/>
          </a:prstGeom>
          <a:noFill/>
        </p:spPr>
        <p:txBody>
          <a:bodyPr wrap="square">
            <a:spAutoFit/>
          </a:bodyPr>
          <a:lstStyle/>
          <a:p>
            <a:pPr marL="0" marR="0" indent="0" algn="l">
              <a:lnSpc>
                <a:spcPct val="100000"/>
              </a:lnSpc>
              <a:spcBef>
                <a:spcPts val="1200"/>
              </a:spcBef>
              <a:buNone/>
            </a:pPr>
            <a:r>
              <a:rPr lang="zh-CN" altLang="zh-CN" sz="2800" b="0" i="0" dirty="0">
                <a:solidFill>
                  <a:schemeClr val="tx1"/>
                </a:solidFill>
                <a:effectLst/>
                <a:latin typeface="+mn-lt"/>
              </a:rPr>
              <a:t>中国电子垃圾回收循环经济的未来，核心命题是</a:t>
            </a:r>
            <a:r>
              <a:rPr lang="zh-CN" altLang="zh-CN" sz="2800" b="1" i="0" dirty="0">
                <a:solidFill>
                  <a:schemeClr val="tx1"/>
                </a:solidFill>
                <a:effectLst/>
                <a:latin typeface="+mn-lt"/>
              </a:rPr>
              <a:t>将“城市矿山”从一座物理矿藏，转变为一套具备制度支撑和市场定价能力的资源循环基础设施</a:t>
            </a:r>
            <a:r>
              <a:rPr lang="zh-CN" altLang="zh-CN" sz="2800" b="0" i="0" dirty="0">
                <a:solidFill>
                  <a:schemeClr val="tx1"/>
                </a:solidFill>
                <a:effectLst/>
                <a:latin typeface="+mn-lt"/>
              </a:rPr>
              <a:t>。产生量突破千万吨、精深处理市场逼近三百亿美元、新三样退役潮的来临，提供了足够的规模基础；AI分选、湿法冶金与生物浸出的技术迭代，提供了效率跃升的工具；EPR向设计和碳足迹延伸、专项资金向绩效导向转型，提供了制度牵引的方向。但正规渠道与非正规渠道的“最后一公里”争夺，以及碳减排价值和再生材料绿色身份的制度化确认，将决定这座矿山在多大程度上能从“处理成本”真正转变为“资源资产”。</a:t>
            </a:r>
          </a:p>
          <a:p>
            <a:pPr>
              <a:buNone/>
            </a:pPr>
            <a:br>
              <a:rPr lang="zh-CN" altLang="zh-CN" sz="2800" dirty="0"/>
            </a:br>
            <a:endParaRPr lang="zh-CN" altLang="en-US" sz="2800" dirty="0"/>
          </a:p>
        </p:txBody>
      </p:sp>
    </p:spTree>
    <p:custDataLst>
      <p:tags r:id="rId1"/>
    </p:custDataLst>
    <p:extLst>
      <p:ext uri="{BB962C8B-B14F-4D97-AF65-F5344CB8AC3E}">
        <p14:creationId xmlns:p14="http://schemas.microsoft.com/office/powerpoint/2010/main" val="3042622429"/>
      </p:ext>
    </p:extLst>
  </p:cSld>
  <p:clrMapOvr>
    <a:masterClrMapping/>
  </p:clrMapOvr>
  <mc:AlternateContent xmlns:mc="http://schemas.openxmlformats.org/markup-compatibility/2006" xmlns:p14="http://schemas.microsoft.com/office/powerpoint/2010/main">
    <mc:Choice Requires="p14">
      <p:transition spd="slow" p14:dur="1500" advTm="2093">
        <p:random/>
      </p:transition>
    </mc:Choice>
    <mc:Fallback xmlns="">
      <p:transition spd="slow" advTm="2093">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p:cNvSpPr/>
          <p:nvPr/>
        </p:nvSpPr>
        <p:spPr>
          <a:xfrm>
            <a:off x="7332" y="-1393"/>
            <a:ext cx="12192000" cy="6858000"/>
          </a:xfrm>
          <a:prstGeom prst="rect">
            <a:avLst/>
          </a:prstGeom>
          <a:solidFill>
            <a:srgbClr val="F7F9F6"/>
          </a:solidFill>
          <a:ln>
            <a:noFill/>
          </a:ln>
        </p:spPr>
        <p:txBody>
          <a:bodyPr/>
          <a:lstStyle/>
          <a:p>
            <a:endParaRPr lang="en-US" sz="1200"/>
          </a:p>
        </p:txBody>
      </p:sp>
      <p:sp>
        <p:nvSpPr>
          <p:cNvPr id="3" name="Path"/>
          <p:cNvSpPr/>
          <p:nvPr/>
        </p:nvSpPr>
        <p:spPr>
          <a:xfrm>
            <a:off x="5794710" y="1262817"/>
            <a:ext cx="617245" cy="650699"/>
          </a:xfrm>
          <a:custGeom>
            <a:avLst/>
            <a:gdLst/>
            <a:ahLst/>
            <a:cxnLst/>
            <a:rect l="0" t="0" r="r" b="b"/>
            <a:pathLst>
              <a:path w="925867" h="976048">
                <a:moveTo>
                  <a:pt x="451463" y="1280"/>
                </a:moveTo>
                <a:quadBezTo>
                  <a:pt x="589564" y="6165"/>
                  <a:pt x="692632" y="70756"/>
                </a:quadBezTo>
                <a:quadBezTo>
                  <a:pt x="795649" y="135314"/>
                  <a:pt x="860771" y="257717"/>
                </a:quadBezTo>
                <a:quadBezTo>
                  <a:pt x="925867" y="380070"/>
                  <a:pt x="922100" y="501948"/>
                </a:quadBezTo>
                <a:quadBezTo>
                  <a:pt x="918333" y="623830"/>
                  <a:pt x="845802" y="741891"/>
                </a:quadBezTo>
                <a:quadBezTo>
                  <a:pt x="773240" y="860003"/>
                  <a:pt x="666425" y="918012"/>
                </a:quadBezTo>
                <a:quadBezTo>
                  <a:pt x="559559" y="976048"/>
                  <a:pt x="421419" y="972303"/>
                </a:quadBezTo>
                <a:quadBezTo>
                  <a:pt x="283282" y="968558"/>
                  <a:pt x="179689" y="904820"/>
                </a:quadBezTo>
                <a:quadBezTo>
                  <a:pt x="76147" y="841114"/>
                  <a:pt x="10027" y="719251"/>
                </a:quadBezTo>
                <a:quadBezTo>
                  <a:pt x="0" y="701977"/>
                  <a:pt x="6227" y="682999"/>
                </a:quadBezTo>
                <a:quadBezTo>
                  <a:pt x="11352" y="663695"/>
                  <a:pt x="29174" y="654678"/>
                </a:quadBezTo>
                <a:quadBezTo>
                  <a:pt x="46448" y="644652"/>
                  <a:pt x="65426" y="650879"/>
                </a:quadBezTo>
                <a:quadBezTo>
                  <a:pt x="84731" y="656004"/>
                  <a:pt x="93747" y="673826"/>
                </a:quadBezTo>
                <a:quadBezTo>
                  <a:pt x="147733" y="773323"/>
                  <a:pt x="229602" y="823696"/>
                </a:quadBezTo>
                <a:quadBezTo>
                  <a:pt x="311421" y="874036"/>
                  <a:pt x="424000" y="877088"/>
                </a:quadBezTo>
                <a:quadBezTo>
                  <a:pt x="536576" y="880140"/>
                  <a:pt x="620967" y="834309"/>
                </a:quadBezTo>
                <a:quadBezTo>
                  <a:pt x="705409" y="788451"/>
                  <a:pt x="764644" y="692031"/>
                </a:quadBezTo>
                <a:quadBezTo>
                  <a:pt x="823911" y="595561"/>
                  <a:pt x="826895" y="499006"/>
                </a:quadBezTo>
                <a:quadBezTo>
                  <a:pt x="829880" y="402446"/>
                  <a:pt x="776681" y="302455"/>
                </a:quadBezTo>
                <a:quadBezTo>
                  <a:pt x="723510" y="202514"/>
                  <a:pt x="642053" y="151467"/>
                </a:quadBezTo>
                <a:quadBezTo>
                  <a:pt x="560647" y="100452"/>
                  <a:pt x="448096" y="96471"/>
                </a:quadBezTo>
                <a:quadBezTo>
                  <a:pt x="428123" y="96339"/>
                  <a:pt x="414934" y="81340"/>
                </a:quadBezTo>
                <a:quadBezTo>
                  <a:pt x="400904" y="67124"/>
                  <a:pt x="402184" y="47192"/>
                </a:quadBezTo>
                <a:quadBezTo>
                  <a:pt x="402316" y="27219"/>
                  <a:pt x="417315" y="14030"/>
                </a:quadBezTo>
                <a:quadBezTo>
                  <a:pt x="431531" y="0"/>
                  <a:pt x="451463" y="1280"/>
                </a:quadBezTo>
                <a:close/>
              </a:path>
            </a:pathLst>
          </a:custGeom>
          <a:solidFill>
            <a:srgbClr val="10B981"/>
          </a:solidFill>
          <a:ln>
            <a:noFill/>
          </a:ln>
        </p:spPr>
        <p:txBody>
          <a:bodyPr/>
          <a:lstStyle/>
          <a:p>
            <a:endParaRPr lang="en-US" sz="1200"/>
          </a:p>
        </p:txBody>
      </p:sp>
      <p:sp>
        <p:nvSpPr>
          <p:cNvPr id="4" name="Path"/>
          <p:cNvSpPr/>
          <p:nvPr/>
        </p:nvSpPr>
        <p:spPr>
          <a:xfrm rot="5721746">
            <a:off x="5746742" y="1631552"/>
            <a:ext cx="242066" cy="242066"/>
          </a:xfrm>
          <a:custGeom>
            <a:avLst/>
            <a:gdLst/>
            <a:ahLst/>
            <a:cxnLst/>
            <a:rect l="0" t="0" r="r" b="b"/>
            <a:pathLst>
              <a:path w="363099" h="363099">
                <a:moveTo>
                  <a:pt x="95825" y="48200"/>
                </a:moveTo>
                <a:lnTo>
                  <a:pt x="95825" y="267275"/>
                </a:lnTo>
                <a:lnTo>
                  <a:pt x="314900" y="267275"/>
                </a:lnTo>
                <a:quadBezTo>
                  <a:pt x="334865" y="266700"/>
                  <a:pt x="348576" y="281224"/>
                </a:quadBezTo>
                <a:quadBezTo>
                  <a:pt x="363099" y="294935"/>
                  <a:pt x="362525" y="314900"/>
                </a:quadBezTo>
                <a:quadBezTo>
                  <a:pt x="363099" y="334865"/>
                  <a:pt x="348576" y="348576"/>
                </a:quadBezTo>
                <a:quadBezTo>
                  <a:pt x="334865" y="363099"/>
                  <a:pt x="314900" y="362525"/>
                </a:quadBezTo>
                <a:lnTo>
                  <a:pt x="48200" y="362525"/>
                </a:lnTo>
                <a:quadBezTo>
                  <a:pt x="28235" y="363099"/>
                  <a:pt x="14524" y="348576"/>
                </a:quadBezTo>
                <a:quadBezTo>
                  <a:pt x="0" y="334865"/>
                  <a:pt x="575" y="314900"/>
                </a:quadBezTo>
                <a:lnTo>
                  <a:pt x="575" y="48200"/>
                </a:lnTo>
                <a:quadBezTo>
                  <a:pt x="0" y="28235"/>
                  <a:pt x="14524" y="14524"/>
                </a:quadBezTo>
                <a:quadBezTo>
                  <a:pt x="28235" y="0"/>
                  <a:pt x="48200" y="575"/>
                </a:quadBezTo>
                <a:quadBezTo>
                  <a:pt x="68165" y="0"/>
                  <a:pt x="81876" y="14524"/>
                </a:quadBezTo>
                <a:quadBezTo>
                  <a:pt x="96399" y="28235"/>
                  <a:pt x="95825" y="48200"/>
                </a:quadBezTo>
                <a:close/>
              </a:path>
            </a:pathLst>
          </a:custGeom>
          <a:solidFill>
            <a:srgbClr val="10B981"/>
          </a:solidFill>
          <a:ln>
            <a:noFill/>
          </a:ln>
        </p:spPr>
        <p:txBody>
          <a:bodyPr/>
          <a:lstStyle/>
          <a:p>
            <a:endParaRPr lang="en-US" sz="1200"/>
          </a:p>
        </p:txBody>
      </p:sp>
      <p:sp>
        <p:nvSpPr>
          <p:cNvPr id="5" name="TextBox"/>
          <p:cNvSpPr txBox="1"/>
          <p:nvPr/>
        </p:nvSpPr>
        <p:spPr>
          <a:xfrm>
            <a:off x="1905000" y="2794000"/>
            <a:ext cx="8382000" cy="806450"/>
          </a:xfrm>
          <a:prstGeom prst="rect">
            <a:avLst/>
          </a:prstGeom>
          <a:noFill/>
          <a:ln>
            <a:noFill/>
          </a:ln>
        </p:spPr>
        <p:txBody>
          <a:bodyPr wrap="none" lIns="0" tIns="0" rIns="0" bIns="0"/>
          <a:lstStyle/>
          <a:p>
            <a:r>
              <a:rPr lang="zh-CN" altLang="en-US" sz="4400" dirty="0">
                <a:solidFill>
                  <a:srgbClr val="14342A"/>
                </a:solidFill>
                <a:latin typeface="Noto Sans SC"/>
                <a:ea typeface="Noto Sans SC"/>
                <a:cs typeface="Noto Sans SC"/>
              </a:rPr>
              <a:t>垃圾，只是放错了位置的资源矿山</a:t>
            </a:r>
          </a:p>
        </p:txBody>
      </p:sp>
      <p:sp>
        <p:nvSpPr>
          <p:cNvPr id="6" name="TextBox"/>
          <p:cNvSpPr txBox="1"/>
          <p:nvPr/>
        </p:nvSpPr>
        <p:spPr>
          <a:xfrm>
            <a:off x="3581400" y="3746500"/>
            <a:ext cx="5029200" cy="330200"/>
          </a:xfrm>
          <a:prstGeom prst="rect">
            <a:avLst/>
          </a:prstGeom>
          <a:noFill/>
          <a:ln>
            <a:noFill/>
          </a:ln>
        </p:spPr>
        <p:txBody>
          <a:bodyPr wrap="none" lIns="0" tIns="0" rIns="0" bIns="0"/>
          <a:lstStyle/>
          <a:p>
            <a:r>
              <a:rPr lang="zh-CN" altLang="en-US" dirty="0">
                <a:solidFill>
                  <a:srgbClr val="4B5F56"/>
                </a:solidFill>
                <a:latin typeface="Noto Sans SC"/>
                <a:ea typeface="Noto Sans SC"/>
                <a:cs typeface="Noto Sans SC"/>
              </a:rPr>
              <a:t>让每一克黄金、每一颗芯片，都在循环中重获新生</a:t>
            </a:r>
          </a:p>
        </p:txBody>
      </p:sp>
      <p:sp>
        <p:nvSpPr>
          <p:cNvPr id="7" name="TextBox"/>
          <p:cNvSpPr txBox="1"/>
          <p:nvPr/>
        </p:nvSpPr>
        <p:spPr>
          <a:xfrm>
            <a:off x="5195888" y="5080000"/>
            <a:ext cx="1800225" cy="273050"/>
          </a:xfrm>
          <a:prstGeom prst="rect">
            <a:avLst/>
          </a:prstGeom>
          <a:noFill/>
          <a:ln>
            <a:noFill/>
          </a:ln>
        </p:spPr>
        <p:txBody>
          <a:bodyPr wrap="none" lIns="0" tIns="0" rIns="0" bIns="0"/>
          <a:lstStyle/>
          <a:p>
            <a:r>
              <a:rPr lang="en-US" sz="1500">
                <a:solidFill>
                  <a:srgbClr val="D4A017"/>
                </a:solidFill>
                <a:latin typeface="Noto Sans SC"/>
                <a:ea typeface="Noto Sans SC"/>
                <a:cs typeface="Noto Sans SC"/>
              </a:rPr>
              <a:t> · </a:t>
            </a:r>
          </a:p>
        </p:txBody>
      </p:sp>
      <p:sp>
        <p:nvSpPr>
          <p:cNvPr id="10" name="TextBox">
            <a:extLst>
              <a:ext uri="{FF2B5EF4-FFF2-40B4-BE49-F238E27FC236}">
                <a16:creationId xmlns:a16="http://schemas.microsoft.com/office/drawing/2014/main" id="{1EBDC994-5A2D-BF25-960D-E850376BFEE0}"/>
              </a:ext>
            </a:extLst>
          </p:cNvPr>
          <p:cNvSpPr txBox="1"/>
          <p:nvPr/>
        </p:nvSpPr>
        <p:spPr>
          <a:xfrm>
            <a:off x="1905000" y="4273550"/>
            <a:ext cx="8382000" cy="806450"/>
          </a:xfrm>
          <a:prstGeom prst="rect">
            <a:avLst/>
          </a:prstGeom>
          <a:noFill/>
          <a:ln>
            <a:noFill/>
          </a:ln>
        </p:spPr>
        <p:txBody>
          <a:bodyPr wrap="none" lIns="0" tIns="0" rIns="0" bIns="0"/>
          <a:lstStyle/>
          <a:p>
            <a:pPr algn="ctr"/>
            <a:r>
              <a:rPr lang="zh-CN" altLang="en-US" sz="4400" dirty="0">
                <a:solidFill>
                  <a:srgbClr val="14342A"/>
                </a:solidFill>
                <a:latin typeface="Noto Sans SC"/>
                <a:ea typeface="Noto Sans SC"/>
                <a:cs typeface="Noto Sans SC"/>
              </a:rPr>
              <a:t>谢谢大家</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0.2|0.3|0.2|0.5|0.5|0.2|0.3"/>
</p:tagLst>
</file>

<file path=ppt/tags/tag2.xml><?xml version="1.0" encoding="utf-8"?>
<p:tagLst xmlns:a="http://schemas.openxmlformats.org/drawingml/2006/main" xmlns:r="http://schemas.openxmlformats.org/officeDocument/2006/relationships" xmlns:p="http://schemas.openxmlformats.org/presentationml/2006/main">
  <p:tag name="TIMING" val="|0.2|0.2|0.2|0.2"/>
</p:tagLst>
</file>

<file path=ppt/tags/tag3.xml><?xml version="1.0" encoding="utf-8"?>
<p:tagLst xmlns:a="http://schemas.openxmlformats.org/drawingml/2006/main" xmlns:r="http://schemas.openxmlformats.org/officeDocument/2006/relationships" xmlns:p="http://schemas.openxmlformats.org/presentationml/2006/main">
  <p:tag name="TIMING" val="|0.2|0.2|0.2|0.2"/>
</p:tagLst>
</file>

<file path=ppt/tags/tag4.xml><?xml version="1.0" encoding="utf-8"?>
<p:tagLst xmlns:a="http://schemas.openxmlformats.org/drawingml/2006/main" xmlns:r="http://schemas.openxmlformats.org/officeDocument/2006/relationships" xmlns:p="http://schemas.openxmlformats.org/presentationml/2006/main">
  <p:tag name="TIMING" val="|0.2|0.2|0.1|0.2|0.2|0.2|0.2|0.2|0.2|0.2|0.1"/>
</p:tagLst>
</file>

<file path=ppt/tags/tag5.xml><?xml version="1.0" encoding="utf-8"?>
<p:tagLst xmlns:a="http://schemas.openxmlformats.org/drawingml/2006/main" xmlns:r="http://schemas.openxmlformats.org/officeDocument/2006/relationships" xmlns:p="http://schemas.openxmlformats.org/presentationml/2006/main">
  <p:tag name="TIMING" val="|0.2|0.2|0.2|0.1|0.2|0.2|0.2|0.2|0.1"/>
</p:tagLst>
</file>

<file path=ppt/tags/tag6.xml><?xml version="1.0" encoding="utf-8"?>
<p:tagLst xmlns:a="http://schemas.openxmlformats.org/drawingml/2006/main" xmlns:r="http://schemas.openxmlformats.org/officeDocument/2006/relationships" xmlns:p="http://schemas.openxmlformats.org/presentationml/2006/main">
  <p:tag name="TIMING" val="|0.2|0.2|0.2|0.2"/>
</p:tagLst>
</file>

<file path=ppt/tags/tag7.xml><?xml version="1.0" encoding="utf-8"?>
<p:tagLst xmlns:a="http://schemas.openxmlformats.org/drawingml/2006/main" xmlns:r="http://schemas.openxmlformats.org/officeDocument/2006/relationships" xmlns:p="http://schemas.openxmlformats.org/presentationml/2006/main">
  <p:tag name="TIMING" val="|0.2|0.2|0.2|0.2|0.2|0.2|0.2|0.2|0.3"/>
</p:tagLst>
</file>

<file path=ppt/tags/tag8.xml><?xml version="1.0" encoding="utf-8"?>
<p:tagLst xmlns:a="http://schemas.openxmlformats.org/drawingml/2006/main" xmlns:r="http://schemas.openxmlformats.org/officeDocument/2006/relationships" xmlns:p="http://schemas.openxmlformats.org/presentationml/2006/main">
  <p:tag name="TIMING" val="|0.2|0.2|0.2"/>
</p:tagLst>
</file>

<file path=ppt/tags/tag9.xml><?xml version="1.0" encoding="utf-8"?>
<p:tagLst xmlns:a="http://schemas.openxmlformats.org/drawingml/2006/main" xmlns:r="http://schemas.openxmlformats.org/officeDocument/2006/relationships" xmlns:p="http://schemas.openxmlformats.org/presentationml/2006/main">
  <p:tag name="TIMING" val="|0.2|0.2|0.2"/>
</p:tagLst>
</file>

<file path=ppt/tags/tag10.xml><?xml version="1.0" encoding="utf-8"?>
<p:tagLst xmlns:a="http://schemas.openxmlformats.org/drawingml/2006/main" xmlns:r="http://schemas.openxmlformats.org/officeDocument/2006/relationships" xmlns:p="http://schemas.openxmlformats.org/presentationml/2006/main">
  <p:tag name="TIMING" val="|0.2|0.2|0.2|0.3"/>
</p:tagLst>
</file>

<file path=ppt/tags/tag11.xml><?xml version="1.0" encoding="utf-8"?>
<p:tagLst xmlns:a="http://schemas.openxmlformats.org/drawingml/2006/main" xmlns:r="http://schemas.openxmlformats.org/officeDocument/2006/relationships" xmlns:p="http://schemas.openxmlformats.org/presentationml/2006/main">
  <p:tag name="TIMING" val="|0.2|0.2|0.2|0.2|0.2"/>
</p:tagLst>
</file>

<file path=ppt/tags/tag12.xml><?xml version="1.0" encoding="utf-8"?>
<p:tagLst xmlns:a="http://schemas.openxmlformats.org/drawingml/2006/main" xmlns:r="http://schemas.openxmlformats.org/officeDocument/2006/relationships" xmlns:p="http://schemas.openxmlformats.org/presentationml/2006/main">
  <p:tag name="TIMING" val="|0.1|0.1|0.2|0.1"/>
</p:tagLst>
</file>

<file path=ppt/tags/tag13.xml><?xml version="1.0" encoding="utf-8"?>
<p:tagLst xmlns:a="http://schemas.openxmlformats.org/drawingml/2006/main" xmlns:r="http://schemas.openxmlformats.org/officeDocument/2006/relationships" xmlns:p="http://schemas.openxmlformats.org/presentationml/2006/main">
  <p:tag name="TIMING" val="|0.2|0.2|0.2|0.2|0.2|0.2|0.2|0.1|0.2|0.2|0.1|0.1|0.1"/>
</p:tagLst>
</file>

<file path=ppt/tags/tag14.xml><?xml version="1.0" encoding="utf-8"?>
<p:tagLst xmlns:a="http://schemas.openxmlformats.org/drawingml/2006/main" xmlns:r="http://schemas.openxmlformats.org/officeDocument/2006/relationships" xmlns:p="http://schemas.openxmlformats.org/presentationml/2006/main">
  <p:tag name="TIMING" val="|0.2|0.2|0.2|0.2|0.2|0.2|0.2|0.1|0.2|0.2|0.1|0.1|0.1"/>
</p:tagLst>
</file>

<file path=ppt/tags/tag15.xml><?xml version="1.0" encoding="utf-8"?>
<p:tagLst xmlns:a="http://schemas.openxmlformats.org/drawingml/2006/main" xmlns:r="http://schemas.openxmlformats.org/officeDocument/2006/relationships" xmlns:p="http://schemas.openxmlformats.org/presentationml/2006/main">
  <p:tag name="TIMING" val="|0.1|0.1|0.3|0.2|0.2|0.2|0.2"/>
</p:tagLst>
</file>

<file path=ppt/tags/tag16.xml><?xml version="1.0" encoding="utf-8"?>
<p:tagLst xmlns:a="http://schemas.openxmlformats.org/drawingml/2006/main" xmlns:r="http://schemas.openxmlformats.org/officeDocument/2006/relationships" xmlns:p="http://schemas.openxmlformats.org/presentationml/2006/main">
  <p:tag name="TIMING" val="|0.1|0.1|0.3|0.2|0.2|0.2|0.2"/>
</p:tagLst>
</file>

<file path=ppt/tags/tag17.xml><?xml version="1.0" encoding="utf-8"?>
<p:tagLst xmlns:a="http://schemas.openxmlformats.org/drawingml/2006/main" xmlns:r="http://schemas.openxmlformats.org/officeDocument/2006/relationships" xmlns:p="http://schemas.openxmlformats.org/presentationml/2006/main">
  <p:tag name="TIMING" val="|0.1|0.1|0.3|0.2|0.2|0.2|0.2"/>
</p:tagLst>
</file>

<file path=ppt/tags/tag18.xml><?xml version="1.0" encoding="utf-8"?>
<p:tagLst xmlns:a="http://schemas.openxmlformats.org/drawingml/2006/main" xmlns:r="http://schemas.openxmlformats.org/officeDocument/2006/relationships" xmlns:p="http://schemas.openxmlformats.org/presentationml/2006/main">
  <p:tag name="TIMING" val="|0.1|0.1|0.3|0.2|0.2|0.2|0.2"/>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TotalTime>
  <Words>3463</Words>
  <Application>Microsoft Office PowerPoint</Application>
  <PresentationFormat>宽屏</PresentationFormat>
  <Paragraphs>125</Paragraphs>
  <Slides>24</Slides>
  <Notes>2</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24</vt:i4>
      </vt:variant>
    </vt:vector>
  </HeadingPairs>
  <TitlesOfParts>
    <vt:vector size="40" baseType="lpstr">
      <vt:lpstr>Noto Sans SC</vt:lpstr>
      <vt:lpstr>Noto Sans SC Bold</vt:lpstr>
      <vt:lpstr>quote-cjk-patch</vt:lpstr>
      <vt:lpstr>Sarasa Gothic SC</vt:lpstr>
      <vt:lpstr>Sarasa Gothic SC Bold</vt:lpstr>
      <vt:lpstr>等线</vt:lpstr>
      <vt:lpstr>等线 Light</vt:lpstr>
      <vt:lpstr>思源黑体 CN Bold</vt:lpstr>
      <vt:lpstr>思源黑体 CN Normal</vt:lpstr>
      <vt:lpstr>微软雅黑</vt:lpstr>
      <vt:lpstr>字魂35号-经典雅黑</vt:lpstr>
      <vt:lpstr>字魂58号-创中黑</vt:lpstr>
      <vt:lpstr>字魂59号-创粗黑</vt:lpstr>
      <vt:lpstr>Arial</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商务汇报</dc:title>
  <dc:creator>第一PPT，www.1ppt.com</dc:creator>
  <cp:keywords>www.1ppt.com</cp:keywords>
  <dc:description>第一PPT</dc:description>
  <cp:lastModifiedBy>华泰 蔡</cp:lastModifiedBy>
  <cp:revision>8</cp:revision>
  <dcterms:created xsi:type="dcterms:W3CDTF">2021-08-13T06:47:20Z</dcterms:created>
  <dcterms:modified xsi:type="dcterms:W3CDTF">2026-10-23T05:22:08Z</dcterms:modified>
</cp:coreProperties>
</file>