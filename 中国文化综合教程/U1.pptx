
<file path=[Content_Types].xml><?xml version="1.0" encoding="utf-8"?>
<Types xmlns="http://schemas.openxmlformats.org/package/2006/content-types">
  <Default Extension="png" ContentType="image/png"/>
  <Default Extension="mp3" ContentType="audio/mpeg"/>
  <Default Extension="jpeg" ContentType="image/jpeg"/>
  <Default Extension="emf" ContentType="image/x-emf"/>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6"/>
  </p:notesMasterIdLst>
  <p:handoutMasterIdLst>
    <p:handoutMasterId r:id="rId177"/>
  </p:handoutMasterIdLst>
  <p:sldIdLst>
    <p:sldId id="632" r:id="rId2"/>
    <p:sldId id="258" r:id="rId3"/>
    <p:sldId id="1373" r:id="rId4"/>
    <p:sldId id="1213" r:id="rId5"/>
    <p:sldId id="1447" r:id="rId6"/>
    <p:sldId id="1449" r:id="rId7"/>
    <p:sldId id="1451" r:id="rId8"/>
    <p:sldId id="1470" r:id="rId9"/>
    <p:sldId id="1471" r:id="rId10"/>
    <p:sldId id="1472" r:id="rId11"/>
    <p:sldId id="1473" r:id="rId12"/>
    <p:sldId id="1474" r:id="rId13"/>
    <p:sldId id="1475" r:id="rId14"/>
    <p:sldId id="1476" r:id="rId15"/>
    <p:sldId id="1477" r:id="rId16"/>
    <p:sldId id="1478" r:id="rId17"/>
    <p:sldId id="1452" r:id="rId18"/>
    <p:sldId id="1479" r:id="rId19"/>
    <p:sldId id="1480" r:id="rId20"/>
    <p:sldId id="1481" r:id="rId21"/>
    <p:sldId id="1484" r:id="rId22"/>
    <p:sldId id="1453" r:id="rId23"/>
    <p:sldId id="1482" r:id="rId24"/>
    <p:sldId id="1485" r:id="rId25"/>
    <p:sldId id="1486" r:id="rId26"/>
    <p:sldId id="1487" r:id="rId27"/>
    <p:sldId id="1488" r:id="rId28"/>
    <p:sldId id="1489" r:id="rId29"/>
    <p:sldId id="1454" r:id="rId30"/>
    <p:sldId id="1483" r:id="rId31"/>
    <p:sldId id="1491" r:id="rId32"/>
    <p:sldId id="1455" r:id="rId33"/>
    <p:sldId id="1492" r:id="rId34"/>
    <p:sldId id="1493" r:id="rId35"/>
    <p:sldId id="1494" r:id="rId36"/>
    <p:sldId id="1495" r:id="rId37"/>
    <p:sldId id="1496" r:id="rId38"/>
    <p:sldId id="1456" r:id="rId39"/>
    <p:sldId id="1498" r:id="rId40"/>
    <p:sldId id="1499" r:id="rId41"/>
    <p:sldId id="1500" r:id="rId42"/>
    <p:sldId id="1457" r:id="rId43"/>
    <p:sldId id="1501" r:id="rId44"/>
    <p:sldId id="1591" r:id="rId45"/>
    <p:sldId id="1502" r:id="rId46"/>
    <p:sldId id="1503" r:id="rId47"/>
    <p:sldId id="1458" r:id="rId48"/>
    <p:sldId id="1504" r:id="rId49"/>
    <p:sldId id="1505" r:id="rId50"/>
    <p:sldId id="1459" r:id="rId51"/>
    <p:sldId id="1506" r:id="rId52"/>
    <p:sldId id="1507" r:id="rId53"/>
    <p:sldId id="1508" r:id="rId54"/>
    <p:sldId id="1509" r:id="rId55"/>
    <p:sldId id="1510" r:id="rId56"/>
    <p:sldId id="1460" r:id="rId57"/>
    <p:sldId id="1511" r:id="rId58"/>
    <p:sldId id="1512" r:id="rId59"/>
    <p:sldId id="1513" r:id="rId60"/>
    <p:sldId id="1461" r:id="rId61"/>
    <p:sldId id="1515" r:id="rId62"/>
    <p:sldId id="1516" r:id="rId63"/>
    <p:sldId id="1517" r:id="rId64"/>
    <p:sldId id="1462" r:id="rId65"/>
    <p:sldId id="1520" r:id="rId66"/>
    <p:sldId id="1463" r:id="rId67"/>
    <p:sldId id="1521" r:id="rId68"/>
    <p:sldId id="1522" r:id="rId69"/>
    <p:sldId id="1523" r:id="rId70"/>
    <p:sldId id="1524" r:id="rId71"/>
    <p:sldId id="1592" r:id="rId72"/>
    <p:sldId id="1593" r:id="rId73"/>
    <p:sldId id="1525" r:id="rId74"/>
    <p:sldId id="1464" r:id="rId75"/>
    <p:sldId id="1526" r:id="rId76"/>
    <p:sldId id="1531" r:id="rId77"/>
    <p:sldId id="1465" r:id="rId78"/>
    <p:sldId id="1530" r:id="rId79"/>
    <p:sldId id="1527" r:id="rId80"/>
    <p:sldId id="1528" r:id="rId81"/>
    <p:sldId id="1529" r:id="rId82"/>
    <p:sldId id="1279" r:id="rId83"/>
    <p:sldId id="1372" r:id="rId84"/>
    <p:sldId id="1589" r:id="rId85"/>
    <p:sldId id="1590" r:id="rId86"/>
    <p:sldId id="1532" r:id="rId87"/>
    <p:sldId id="1533" r:id="rId88"/>
    <p:sldId id="1466" r:id="rId89"/>
    <p:sldId id="1467" r:id="rId90"/>
    <p:sldId id="1518" r:id="rId91"/>
    <p:sldId id="1519" r:id="rId92"/>
    <p:sldId id="1469" r:id="rId93"/>
    <p:sldId id="1497" r:id="rId94"/>
    <p:sldId id="1534" r:id="rId95"/>
    <p:sldId id="1316" r:id="rId96"/>
    <p:sldId id="1386" r:id="rId97"/>
    <p:sldId id="1552" r:id="rId98"/>
    <p:sldId id="1553" r:id="rId99"/>
    <p:sldId id="1554" r:id="rId100"/>
    <p:sldId id="1555" r:id="rId101"/>
    <p:sldId id="1556" r:id="rId102"/>
    <p:sldId id="1557" r:id="rId103"/>
    <p:sldId id="1558" r:id="rId104"/>
    <p:sldId id="1559" r:id="rId105"/>
    <p:sldId id="1560" r:id="rId106"/>
    <p:sldId id="1561" r:id="rId107"/>
    <p:sldId id="1562" r:id="rId108"/>
    <p:sldId id="1563" r:id="rId109"/>
    <p:sldId id="1564" r:id="rId110"/>
    <p:sldId id="1565" r:id="rId111"/>
    <p:sldId id="1566" r:id="rId112"/>
    <p:sldId id="1567" r:id="rId113"/>
    <p:sldId id="1568" r:id="rId114"/>
    <p:sldId id="1569" r:id="rId115"/>
    <p:sldId id="1336" r:id="rId116"/>
    <p:sldId id="1399" r:id="rId117"/>
    <p:sldId id="1570" r:id="rId118"/>
    <p:sldId id="1571" r:id="rId119"/>
    <p:sldId id="1572" r:id="rId120"/>
    <p:sldId id="1573" r:id="rId121"/>
    <p:sldId id="1574" r:id="rId122"/>
    <p:sldId id="1588" r:id="rId123"/>
    <p:sldId id="1575" r:id="rId124"/>
    <p:sldId id="1576" r:id="rId125"/>
    <p:sldId id="1577" r:id="rId126"/>
    <p:sldId id="1578" r:id="rId127"/>
    <p:sldId id="1579" r:id="rId128"/>
    <p:sldId id="1580" r:id="rId129"/>
    <p:sldId id="1581" r:id="rId130"/>
    <p:sldId id="1582" r:id="rId131"/>
    <p:sldId id="1583" r:id="rId132"/>
    <p:sldId id="1584" r:id="rId133"/>
    <p:sldId id="1585" r:id="rId134"/>
    <p:sldId id="1586" r:id="rId135"/>
    <p:sldId id="1587" r:id="rId136"/>
    <p:sldId id="1259" r:id="rId137"/>
    <p:sldId id="1268" r:id="rId138"/>
    <p:sldId id="1238" r:id="rId139"/>
    <p:sldId id="1269" r:id="rId140"/>
    <p:sldId id="1317" r:id="rId141"/>
    <p:sldId id="1318" r:id="rId142"/>
    <p:sldId id="1319" r:id="rId143"/>
    <p:sldId id="1320" r:id="rId144"/>
    <p:sldId id="1321" r:id="rId145"/>
    <p:sldId id="1322" r:id="rId146"/>
    <p:sldId id="1323" r:id="rId147"/>
    <p:sldId id="1324" r:id="rId148"/>
    <p:sldId id="1325" r:id="rId149"/>
    <p:sldId id="1326" r:id="rId150"/>
    <p:sldId id="1535" r:id="rId151"/>
    <p:sldId id="1536" r:id="rId152"/>
    <p:sldId id="1537" r:id="rId153"/>
    <p:sldId id="1538" r:id="rId154"/>
    <p:sldId id="1426" r:id="rId155"/>
    <p:sldId id="1427" r:id="rId156"/>
    <p:sldId id="1428" r:id="rId157"/>
    <p:sldId id="1429" r:id="rId158"/>
    <p:sldId id="1430" r:id="rId159"/>
    <p:sldId id="1431" r:id="rId160"/>
    <p:sldId id="1432" r:id="rId161"/>
    <p:sldId id="1433" r:id="rId162"/>
    <p:sldId id="1539" r:id="rId163"/>
    <p:sldId id="1540" r:id="rId164"/>
    <p:sldId id="1541" r:id="rId165"/>
    <p:sldId id="1542" r:id="rId166"/>
    <p:sldId id="1543" r:id="rId167"/>
    <p:sldId id="1544" r:id="rId168"/>
    <p:sldId id="1545" r:id="rId169"/>
    <p:sldId id="1546" r:id="rId170"/>
    <p:sldId id="1547" r:id="rId171"/>
    <p:sldId id="1548" r:id="rId172"/>
    <p:sldId id="1549" r:id="rId173"/>
    <p:sldId id="1550" r:id="rId174"/>
    <p:sldId id="1551" r:id="rId175"/>
  </p:sldIdLst>
  <p:sldSz cx="9144000" cy="6858000" type="screen4x3"/>
  <p:notesSz cx="6858000" cy="9144000"/>
  <p:embeddedFontLst>
    <p:embeddedFont>
      <p:font typeface="Calibri" panose="020F0502020204030204" pitchFamily="34" charset="0"/>
      <p:regular r:id="rId178"/>
      <p:bold r:id="rId179"/>
      <p:italic r:id="rId180"/>
      <p:boldItalic r:id="rId181"/>
    </p:embeddedFont>
    <p:embeddedFont>
      <p:font typeface="Cambria" panose="02040503050406030204" pitchFamily="18" charset="0"/>
      <p:regular r:id="rId182"/>
      <p:bold r:id="rId183"/>
      <p:italic r:id="rId184"/>
      <p:boldItalic r:id="rId185"/>
    </p:embeddedFont>
    <p:embeddedFont>
      <p:font typeface="黑体" panose="02010609060101010101" pitchFamily="49" charset="-122"/>
      <p:regular r:id="rId186"/>
    </p:embeddedFont>
    <p:embeddedFont>
      <p:font typeface="宋体" panose="02010600030101010101" pitchFamily="2" charset="-122"/>
      <p:regular r:id="rId187"/>
    </p:embeddedFont>
    <p:embeddedFont>
      <p:font typeface="微软雅黑" panose="020B0503020204020204" pitchFamily="34" charset="-122"/>
      <p:regular r:id="rId188"/>
      <p:bold r:id="rId189"/>
    </p:embeddedFont>
  </p:embeddedFontLst>
  <p:defaultTextStyle>
    <a:defPPr>
      <a:defRPr lang="zh-CN"/>
    </a:defPPr>
    <a:lvl1pPr algn="l" rtl="0" fontAlgn="base">
      <a:spcBef>
        <a:spcPct val="0"/>
      </a:spcBef>
      <a:spcAft>
        <a:spcPct val="0"/>
      </a:spcAft>
      <a:defRPr kern="1200">
        <a:solidFill>
          <a:schemeClr val="tx1"/>
        </a:solidFill>
        <a:latin typeface="Calibri" pitchFamily="34" charset="0"/>
        <a:ea typeface="宋体" pitchFamily="2" charset="-122"/>
        <a:cs typeface="+mn-cs"/>
      </a:defRPr>
    </a:lvl1pPr>
    <a:lvl2pPr marL="457200" algn="l" rtl="0" fontAlgn="base">
      <a:spcBef>
        <a:spcPct val="0"/>
      </a:spcBef>
      <a:spcAft>
        <a:spcPct val="0"/>
      </a:spcAft>
      <a:defRPr kern="1200">
        <a:solidFill>
          <a:schemeClr val="tx1"/>
        </a:solidFill>
        <a:latin typeface="Calibri" pitchFamily="34" charset="0"/>
        <a:ea typeface="宋体" pitchFamily="2" charset="-122"/>
        <a:cs typeface="+mn-cs"/>
      </a:defRPr>
    </a:lvl2pPr>
    <a:lvl3pPr marL="914400" algn="l" rtl="0" fontAlgn="base">
      <a:spcBef>
        <a:spcPct val="0"/>
      </a:spcBef>
      <a:spcAft>
        <a:spcPct val="0"/>
      </a:spcAft>
      <a:defRPr kern="1200">
        <a:solidFill>
          <a:schemeClr val="tx1"/>
        </a:solidFill>
        <a:latin typeface="Calibri" pitchFamily="34" charset="0"/>
        <a:ea typeface="宋体" pitchFamily="2" charset="-122"/>
        <a:cs typeface="+mn-cs"/>
      </a:defRPr>
    </a:lvl3pPr>
    <a:lvl4pPr marL="1371600" algn="l" rtl="0" fontAlgn="base">
      <a:spcBef>
        <a:spcPct val="0"/>
      </a:spcBef>
      <a:spcAft>
        <a:spcPct val="0"/>
      </a:spcAft>
      <a:defRPr kern="1200">
        <a:solidFill>
          <a:schemeClr val="tx1"/>
        </a:solidFill>
        <a:latin typeface="Calibri" pitchFamily="34" charset="0"/>
        <a:ea typeface="宋体" pitchFamily="2" charset="-122"/>
        <a:cs typeface="+mn-cs"/>
      </a:defRPr>
    </a:lvl4pPr>
    <a:lvl5pPr marL="1828800" algn="l" rtl="0" fontAlgn="base">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p:defaultTextStyle>
  <p:extLst>
    <p:ext uri="{EFAFB233-063F-42B5-8137-9DF3F51BA10A}">
      <p15:sldGuideLst xmlns:p15="http://schemas.microsoft.com/office/powerpoint/2012/main">
        <p15:guide id="2" pos="884" userDrawn="1">
          <p15:clr>
            <a:srgbClr val="A4A3A4"/>
          </p15:clr>
        </p15:guide>
        <p15:guide id="3" orient="horz" pos="216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82738"/>
    <a:srgbClr val="0C476D"/>
    <a:srgbClr val="56AB95"/>
    <a:srgbClr val="E5F2EC"/>
    <a:srgbClr val="F7FBF9"/>
    <a:srgbClr val="C6383E"/>
    <a:srgbClr val="EBF2EF"/>
    <a:srgbClr val="F8FBFA"/>
    <a:srgbClr val="F5FBF8"/>
    <a:srgbClr val="E8F4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9" autoAdjust="0"/>
    <p:restoredTop sz="96220" autoAdjust="0"/>
  </p:normalViewPr>
  <p:slideViewPr>
    <p:cSldViewPr>
      <p:cViewPr varScale="1">
        <p:scale>
          <a:sx n="85" d="100"/>
          <a:sy n="85" d="100"/>
        </p:scale>
        <p:origin x="1416" y="62"/>
      </p:cViewPr>
      <p:guideLst>
        <p:guide pos="884"/>
        <p:guide orient="horz" pos="2160"/>
      </p:guideLst>
    </p:cSldViewPr>
  </p:slideViewPr>
  <p:notesTextViewPr>
    <p:cViewPr>
      <p:scale>
        <a:sx n="75" d="100"/>
        <a:sy n="75" d="100"/>
      </p:scale>
      <p:origin x="0" y="0"/>
    </p:cViewPr>
  </p:notesTextViewPr>
  <p:sorterViewPr showFormatting="0">
    <p:cViewPr>
      <p:scale>
        <a:sx n="66" d="100"/>
        <a:sy n="66" d="100"/>
      </p:scale>
      <p:origin x="0" y="0"/>
    </p:cViewPr>
  </p:sorterViewPr>
  <p:notesViewPr>
    <p:cSldViewPr showGuides="1">
      <p:cViewPr varScale="1">
        <p:scale>
          <a:sx n="80" d="100"/>
          <a:sy n="80" d="100"/>
        </p:scale>
        <p:origin x="-3942" y="-96"/>
      </p:cViewPr>
      <p:guideLst>
        <p:guide orient="horz" pos="2880"/>
        <p:guide pos="2160"/>
      </p:guideLst>
    </p:cSldViewPr>
  </p:notesViewPr>
  <p:gridSpacing cx="72005" cy="72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font" Target="fonts/font4.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font" Target="fonts/font5.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font" Target="fonts/font1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font" Target="fonts/font6.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1.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font" Target="fonts/font7.fntdata"/><Relationship Id="rId189" Type="http://schemas.openxmlformats.org/officeDocument/2006/relationships/font" Target="fonts/font12.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font" Target="fonts/font2.fntdata"/><Relationship Id="rId190"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font" Target="fonts/font3.fntdata"/><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font" Target="fonts/font9.fntdata"/><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notesMaster" Target="notesMasters/notesMaster1.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font" Target="fonts/font10.fntdata"/><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handoutMaster" Target="handoutMasters/handoutMaster1.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defRPr sz="1200" noProof="1"/>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defRPr sz="1200" noProof="1">
                <a:latin typeface="+mn-lt"/>
                <a:ea typeface="+mn-ea"/>
              </a:defRPr>
            </a:lvl1pPr>
          </a:lstStyle>
          <a:p>
            <a:pPr>
              <a:defRPr/>
            </a:pPr>
            <a:fld id="{232456D2-011B-4735-BD4B-5DC53B7D1776}" type="datetimeFigureOut">
              <a:rPr lang="zh-CN" altLang="en-US"/>
              <a:pPr>
                <a:defRPr/>
              </a:pPr>
              <a:t>2023/11/1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defRPr sz="1200" noProof="1"/>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solidFill>
                  <a:srgbClr val="898989"/>
                </a:solidFill>
              </a:defRPr>
            </a:lvl1pPr>
          </a:lstStyle>
          <a:p>
            <a:pPr>
              <a:defRPr/>
            </a:pPr>
            <a:fld id="{4780D33A-4956-478A-AD0E-1720549C0D81}"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defRPr sz="1200" noProof="1"/>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defRPr sz="1200" noProof="1">
                <a:latin typeface="+mn-lt"/>
                <a:ea typeface="+mn-ea"/>
              </a:defRPr>
            </a:lvl1pPr>
          </a:lstStyle>
          <a:p>
            <a:pPr>
              <a:defRPr/>
            </a:pPr>
            <a:fld id="{51876005-32F3-4E6A-AA77-5A446719FC8C}" type="datetimeFigureOut">
              <a:rPr lang="zh-CN" altLang="en-US"/>
              <a:pPr>
                <a:defRPr/>
              </a:pPr>
              <a:t>2023/11/1</a:t>
            </a:fld>
            <a:endParaRPr lang="zh-CN" altLang="en-US"/>
          </a:p>
        </p:txBody>
      </p:sp>
      <p:sp>
        <p:nvSpPr>
          <p:cNvPr id="247812" name="幻灯片图像占位符 3"/>
          <p:cNvSpPr>
            <a:spLocks noGrp="1" noRot="1" noChangeAspect="1" noChangeArrowheads="1"/>
          </p:cNvSpPr>
          <p:nvPr>
            <p:ph type="sldImg" idx="4294967295"/>
          </p:nvPr>
        </p:nvSpPr>
        <p:spPr bwMode="auto">
          <a:xfrm>
            <a:off x="1143000" y="685800"/>
            <a:ext cx="4572000" cy="3429000"/>
          </a:xfrm>
          <a:prstGeom prst="rect">
            <a:avLst/>
          </a:prstGeom>
          <a:noFill/>
          <a:ln w="12700">
            <a:solidFill>
              <a:srgbClr val="000000"/>
            </a:solidFill>
            <a:round/>
            <a:headEnd/>
            <a:tailEnd/>
          </a:ln>
        </p:spPr>
      </p:sp>
      <p:sp>
        <p:nvSpPr>
          <p:cNvPr id="99333" name="备注占位符 4"/>
          <p:cNvSpPr>
            <a:spLocks noGrp="1" noChangeArrowheads="1"/>
          </p:cNvSpPr>
          <p:nvPr>
            <p:ph type="body" sz="quarter" idx="4294967295"/>
          </p:nvPr>
        </p:nvSpPr>
        <p:spPr bwMode="auto">
          <a:xfrm>
            <a:off x="685800" y="4343400"/>
            <a:ext cx="5486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defRPr sz="1200" noProof="1"/>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1322BA1A-879F-4CF1-BB3D-9E17A6CDE3B3}"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322BA1A-879F-4CF1-BB3D-9E17A6CDE3B3}" type="slidenum">
              <a:rPr lang="zh-CN" altLang="en-US" smtClean="0"/>
              <a:pPr>
                <a:defRPr/>
              </a:pPr>
              <a:t>1</a:t>
            </a:fld>
            <a:endParaRPr lang="zh-CN" altLang="en-US"/>
          </a:p>
        </p:txBody>
      </p:sp>
    </p:spTree>
    <p:extLst>
      <p:ext uri="{BB962C8B-B14F-4D97-AF65-F5344CB8AC3E}">
        <p14:creationId xmlns:p14="http://schemas.microsoft.com/office/powerpoint/2010/main" val="3819459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322BA1A-879F-4CF1-BB3D-9E17A6CDE3B3}" type="slidenum">
              <a:rPr lang="zh-CN" altLang="en-US" smtClean="0"/>
              <a:pPr>
                <a:defRPr/>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1322BA1A-879F-4CF1-BB3D-9E17A6CDE3B3}" type="slidenum">
              <a:rPr lang="zh-CN" altLang="en-US" smtClean="0"/>
              <a:pPr>
                <a:defRPr/>
              </a:pPr>
              <a:t>3</a:t>
            </a:fld>
            <a:endParaRPr lang="zh-CN" altLang="en-US"/>
          </a:p>
        </p:txBody>
      </p:sp>
    </p:spTree>
    <p:extLst>
      <p:ext uri="{BB962C8B-B14F-4D97-AF65-F5344CB8AC3E}">
        <p14:creationId xmlns:p14="http://schemas.microsoft.com/office/powerpoint/2010/main" val="25580927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5"/>
          </p:nvPr>
        </p:nvSpPr>
        <p:spPr/>
        <p:txBody>
          <a:bodyPr/>
          <a:lstStyle/>
          <a:p>
            <a:pPr>
              <a:defRPr/>
            </a:pPr>
            <a:fld id="{1322BA1A-879F-4CF1-BB3D-9E17A6CDE3B3}" type="slidenum">
              <a:rPr lang="zh-CN" altLang="en-US" smtClean="0"/>
              <a:pPr>
                <a:defRPr/>
              </a:pPr>
              <a:t>43</a:t>
            </a:fld>
            <a:endParaRPr lang="zh-CN" altLang="en-US"/>
          </a:p>
        </p:txBody>
      </p:sp>
    </p:spTree>
    <p:extLst>
      <p:ext uri="{BB962C8B-B14F-4D97-AF65-F5344CB8AC3E}">
        <p14:creationId xmlns:p14="http://schemas.microsoft.com/office/powerpoint/2010/main" val="2268981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322BA1A-879F-4CF1-BB3D-9E17A6CDE3B3}" type="slidenum">
              <a:rPr lang="zh-CN" altLang="en-US" smtClean="0"/>
              <a:pPr>
                <a:defRPr/>
              </a:pPr>
              <a:t>56</a:t>
            </a:fld>
            <a:endParaRPr lang="zh-CN" altLang="en-US"/>
          </a:p>
        </p:txBody>
      </p:sp>
    </p:spTree>
    <p:extLst>
      <p:ext uri="{BB962C8B-B14F-4D97-AF65-F5344CB8AC3E}">
        <p14:creationId xmlns:p14="http://schemas.microsoft.com/office/powerpoint/2010/main" val="3921976277"/>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2.wdp"/><Relationship Id="rId5" Type="http://schemas.openxmlformats.org/officeDocument/2006/relationships/image" Target="../media/image3.png"/><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6.xml"/><Relationship Id="rId4" Type="http://schemas.openxmlformats.org/officeDocument/2006/relationships/slide" Target="../slides/slide5.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6.xml"/><Relationship Id="rId4" Type="http://schemas.openxmlformats.org/officeDocument/2006/relationships/slide" Target="../slides/slide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4.xml"/><Relationship Id="rId5" Type="http://schemas.openxmlformats.org/officeDocument/2006/relationships/slide" Target="../slides/slide6.xml"/><Relationship Id="rId4" Type="http://schemas.openxmlformats.org/officeDocument/2006/relationships/slide" Target="../slides/slide5.xml"/></Relationships>
</file>

<file path=ppt/slideLayouts/_rels/slideLayout7.xml.rels><?xml version="1.0" encoding="UTF-8" standalone="yes"?>
<Relationships xmlns="http://schemas.openxmlformats.org/package/2006/relationships"><Relationship Id="rId8" Type="http://schemas.openxmlformats.org/officeDocument/2006/relationships/slide" Target="../slides/slide29.xml"/><Relationship Id="rId3" Type="http://schemas.openxmlformats.org/officeDocument/2006/relationships/image" Target="../media/image7.png"/><Relationship Id="rId7" Type="http://schemas.openxmlformats.org/officeDocument/2006/relationships/slide" Target="../slides/slide22.xml"/><Relationship Id="rId2" Type="http://schemas.openxmlformats.org/officeDocument/2006/relationships/image" Target="../media/image6.emf"/><Relationship Id="rId1" Type="http://schemas.openxmlformats.org/officeDocument/2006/relationships/slideMaster" Target="../slideMasters/slideMaster1.xml"/><Relationship Id="rId6" Type="http://schemas.openxmlformats.org/officeDocument/2006/relationships/slide" Target="../slides/slide17.xml"/><Relationship Id="rId5" Type="http://schemas.openxmlformats.org/officeDocument/2006/relationships/image" Target="../media/image5.png"/><Relationship Id="rId4" Type="http://schemas.openxmlformats.org/officeDocument/2006/relationships/slide" Target="../slides/slide2.xml"/><Relationship Id="rId9" Type="http://schemas.openxmlformats.org/officeDocument/2006/relationships/slide" Target="../slides/slide7.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29.xml"/><Relationship Id="rId5" Type="http://schemas.openxmlformats.org/officeDocument/2006/relationships/slide" Target="../slides/slide22.xml"/><Relationship Id="rId4" Type="http://schemas.openxmlformats.org/officeDocument/2006/relationships/slide" Target="../slides/slide17.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29.xml"/><Relationship Id="rId5" Type="http://schemas.openxmlformats.org/officeDocument/2006/relationships/slide" Target="../slides/slide22.xml"/><Relationship Id="rId4" Type="http://schemas.openxmlformats.org/officeDocument/2006/relationships/slide" Target="../slides/slide17.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29.xml"/><Relationship Id="rId5" Type="http://schemas.openxmlformats.org/officeDocument/2006/relationships/slide" Target="../slides/slide22.xml"/><Relationship Id="rId4" Type="http://schemas.openxmlformats.org/officeDocument/2006/relationships/slide" Target="../slides/slide17.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7.xml"/><Relationship Id="rId2" Type="http://schemas.openxmlformats.org/officeDocument/2006/relationships/slide" Target="../slides/slide2.xml"/><Relationship Id="rId1" Type="http://schemas.openxmlformats.org/officeDocument/2006/relationships/slideMaster" Target="../slideMasters/slideMaster1.xml"/><Relationship Id="rId6" Type="http://schemas.openxmlformats.org/officeDocument/2006/relationships/slide" Target="../slides/slide29.xml"/><Relationship Id="rId5" Type="http://schemas.openxmlformats.org/officeDocument/2006/relationships/slide" Target="../slides/slide22.xml"/><Relationship Id="rId4" Type="http://schemas.openxmlformats.org/officeDocument/2006/relationships/slide" Target="../slides/slide17.xml"/></Relationships>
</file>

<file path=ppt/slideLayouts/_rels/slideLayout12.xml.rels><?xml version="1.0" encoding="UTF-8" standalone="yes"?>
<Relationships xmlns="http://schemas.openxmlformats.org/package/2006/relationships"><Relationship Id="rId8" Type="http://schemas.openxmlformats.org/officeDocument/2006/relationships/slide" Target="../slides/slide47.xml"/><Relationship Id="rId3" Type="http://schemas.openxmlformats.org/officeDocument/2006/relationships/image" Target="../media/image7.png"/><Relationship Id="rId7" Type="http://schemas.openxmlformats.org/officeDocument/2006/relationships/slide" Target="../slides/slide42.xml"/><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slide" Target="../slides/slide38.xml"/><Relationship Id="rId5" Type="http://schemas.openxmlformats.org/officeDocument/2006/relationships/image" Target="../media/image5.png"/><Relationship Id="rId4" Type="http://schemas.openxmlformats.org/officeDocument/2006/relationships/slide" Target="../slides/slide3.xml"/><Relationship Id="rId9" Type="http://schemas.openxmlformats.org/officeDocument/2006/relationships/slide" Target="../slides/slide3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3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47.xml"/><Relationship Id="rId5" Type="http://schemas.openxmlformats.org/officeDocument/2006/relationships/slide" Target="../slides/slide42.xml"/><Relationship Id="rId4" Type="http://schemas.openxmlformats.org/officeDocument/2006/relationships/slide" Target="../slides/slide38.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3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47.xml"/><Relationship Id="rId5" Type="http://schemas.openxmlformats.org/officeDocument/2006/relationships/slide" Target="../slides/slide42.xml"/><Relationship Id="rId4" Type="http://schemas.openxmlformats.org/officeDocument/2006/relationships/slide" Target="../slides/slide38.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3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47.xml"/><Relationship Id="rId5" Type="http://schemas.openxmlformats.org/officeDocument/2006/relationships/slide" Target="../slides/slide42.xml"/><Relationship Id="rId4" Type="http://schemas.openxmlformats.org/officeDocument/2006/relationships/slide" Target="../slides/slide38.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32.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47.xml"/><Relationship Id="rId5" Type="http://schemas.openxmlformats.org/officeDocument/2006/relationships/slide" Target="../slides/slide42.xml"/><Relationship Id="rId4" Type="http://schemas.openxmlformats.org/officeDocument/2006/relationships/slide" Target="../slides/slide38.xml"/></Relationships>
</file>

<file path=ppt/slideLayouts/_rels/slideLayout17.xml.rels><?xml version="1.0" encoding="UTF-8" standalone="yes"?>
<Relationships xmlns="http://schemas.openxmlformats.org/package/2006/relationships"><Relationship Id="rId8" Type="http://schemas.openxmlformats.org/officeDocument/2006/relationships/slide" Target="../slides/slide64.xml"/><Relationship Id="rId3" Type="http://schemas.openxmlformats.org/officeDocument/2006/relationships/image" Target="../media/image7.png"/><Relationship Id="rId7" Type="http://schemas.openxmlformats.org/officeDocument/2006/relationships/slide" Target="../slides/slide60.xml"/><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slide" Target="../slides/slide56.xml"/><Relationship Id="rId5" Type="http://schemas.openxmlformats.org/officeDocument/2006/relationships/image" Target="../media/image5.png"/><Relationship Id="rId4" Type="http://schemas.openxmlformats.org/officeDocument/2006/relationships/slide" Target="../slides/slide3.xml"/><Relationship Id="rId9" Type="http://schemas.openxmlformats.org/officeDocument/2006/relationships/slide" Target="../slides/slide50.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50.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64.xml"/><Relationship Id="rId5" Type="http://schemas.openxmlformats.org/officeDocument/2006/relationships/slide" Target="../slides/slide60.xml"/><Relationship Id="rId4" Type="http://schemas.openxmlformats.org/officeDocument/2006/relationships/slide" Target="../slides/slide56.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50.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64.xml"/><Relationship Id="rId5" Type="http://schemas.openxmlformats.org/officeDocument/2006/relationships/slide" Target="../slides/slide60.xml"/><Relationship Id="rId4" Type="http://schemas.openxmlformats.org/officeDocument/2006/relationships/slide" Target="../slides/slide56.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50.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64.xml"/><Relationship Id="rId5" Type="http://schemas.openxmlformats.org/officeDocument/2006/relationships/slide" Target="../slides/slide60.xml"/><Relationship Id="rId4" Type="http://schemas.openxmlformats.org/officeDocument/2006/relationships/slide" Target="../slides/slide56.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s/slide50.xml"/><Relationship Id="rId2" Type="http://schemas.openxmlformats.org/officeDocument/2006/relationships/slide" Target="../slides/slide3.xml"/><Relationship Id="rId1" Type="http://schemas.openxmlformats.org/officeDocument/2006/relationships/slideMaster" Target="../slideMasters/slideMaster1.xml"/><Relationship Id="rId6" Type="http://schemas.openxmlformats.org/officeDocument/2006/relationships/slide" Target="../slides/slide64.xml"/><Relationship Id="rId5" Type="http://schemas.openxmlformats.org/officeDocument/2006/relationships/slide" Target="../slides/slide60.xml"/><Relationship Id="rId4" Type="http://schemas.openxmlformats.org/officeDocument/2006/relationships/slide" Target="../slides/slide56.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s/slide3.xml"/><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
    <p:spTree>
      <p:nvGrpSpPr>
        <p:cNvPr id="1" name=""/>
        <p:cNvGrpSpPr/>
        <p:nvPr/>
      </p:nvGrpSpPr>
      <p:grpSpPr>
        <a:xfrm>
          <a:off x="0" y="0"/>
          <a:ext cx="0" cy="0"/>
          <a:chOff x="0" y="0"/>
          <a:chExt cx="0" cy="0"/>
        </a:xfrm>
      </p:grpSpPr>
      <p:grpSp>
        <p:nvGrpSpPr>
          <p:cNvPr id="33" name="组合 32">
            <a:extLst>
              <a:ext uri="{FF2B5EF4-FFF2-40B4-BE49-F238E27FC236}">
                <a16:creationId xmlns:a16="http://schemas.microsoft.com/office/drawing/2014/main" id="{74642604-91B4-7F69-F0EF-B8DED163496E}"/>
              </a:ext>
            </a:extLst>
          </p:cNvPr>
          <p:cNvGrpSpPr/>
          <p:nvPr userDrawn="1"/>
        </p:nvGrpSpPr>
        <p:grpSpPr>
          <a:xfrm>
            <a:off x="-2" y="-1"/>
            <a:ext cx="9144002" cy="6858001"/>
            <a:chOff x="-2" y="-1"/>
            <a:chExt cx="9144002" cy="6858001"/>
          </a:xfrm>
        </p:grpSpPr>
        <p:pic>
          <p:nvPicPr>
            <p:cNvPr id="30" name="图片 29">
              <a:extLst>
                <a:ext uri="{FF2B5EF4-FFF2-40B4-BE49-F238E27FC236}">
                  <a16:creationId xmlns:a16="http://schemas.microsoft.com/office/drawing/2014/main" id="{CDA71869-4CBB-0B21-DB00-65599A41CCD4}"/>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LineDrawing trans="30000"/>
                      </a14:imgEffect>
                    </a14:imgLayer>
                  </a14:imgProps>
                </a:ext>
              </a:extLst>
            </a:blip>
            <a:stretch/>
          </p:blipFill>
          <p:spPr>
            <a:xfrm>
              <a:off x="1" y="1773158"/>
              <a:ext cx="9143999" cy="5084842"/>
            </a:xfrm>
            <a:prstGeom prst="rect">
              <a:avLst/>
            </a:prstGeom>
          </p:spPr>
        </p:pic>
        <p:sp>
          <p:nvSpPr>
            <p:cNvPr id="31" name="矩形 30">
              <a:extLst>
                <a:ext uri="{FF2B5EF4-FFF2-40B4-BE49-F238E27FC236}">
                  <a16:creationId xmlns:a16="http://schemas.microsoft.com/office/drawing/2014/main" id="{3AEFEB30-D474-9D9E-41DF-812B61D3DA51}"/>
                </a:ext>
              </a:extLst>
            </p:cNvPr>
            <p:cNvSpPr/>
            <p:nvPr userDrawn="1"/>
          </p:nvSpPr>
          <p:spPr>
            <a:xfrm>
              <a:off x="0" y="-1"/>
              <a:ext cx="9144000" cy="4255621"/>
            </a:xfrm>
            <a:prstGeom prst="rect">
              <a:avLst/>
            </a:prstGeom>
            <a:gradFill flip="none" rotWithShape="1">
              <a:gsLst>
                <a:gs pos="0">
                  <a:schemeClr val="bg1"/>
                </a:gs>
                <a:gs pos="37000">
                  <a:srgbClr val="F8FBFA"/>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图片 31">
              <a:extLst>
                <a:ext uri="{FF2B5EF4-FFF2-40B4-BE49-F238E27FC236}">
                  <a16:creationId xmlns:a16="http://schemas.microsoft.com/office/drawing/2014/main" id="{4DC03B2A-BECC-F263-E70B-224F48EAD93E}"/>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LineDrawing trans="30000"/>
                      </a14:imgEffect>
                    </a14:imgLayer>
                  </a14:imgProps>
                </a:ext>
              </a:extLst>
            </a:blip>
            <a:srcRect b="50490"/>
            <a:stretch/>
          </p:blipFill>
          <p:spPr>
            <a:xfrm>
              <a:off x="-2" y="-1"/>
              <a:ext cx="9143999" cy="2517486"/>
            </a:xfrm>
            <a:prstGeom prst="rect">
              <a:avLst/>
            </a:prstGeom>
          </p:spPr>
        </p:pic>
      </p:grpSp>
      <p:sp>
        <p:nvSpPr>
          <p:cNvPr id="20" name="矩形 19">
            <a:extLst>
              <a:ext uri="{FF2B5EF4-FFF2-40B4-BE49-F238E27FC236}">
                <a16:creationId xmlns:a16="http://schemas.microsoft.com/office/drawing/2014/main" id="{F18A3B7C-0671-D489-A194-57CD28A73878}"/>
              </a:ext>
            </a:extLst>
          </p:cNvPr>
          <p:cNvSpPr/>
          <p:nvPr userDrawn="1"/>
        </p:nvSpPr>
        <p:spPr>
          <a:xfrm>
            <a:off x="5004030" y="4346562"/>
            <a:ext cx="2520175" cy="1206619"/>
          </a:xfrm>
          <a:prstGeom prst="rect">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箭头: V 形 18">
            <a:extLst>
              <a:ext uri="{FF2B5EF4-FFF2-40B4-BE49-F238E27FC236}">
                <a16:creationId xmlns:a16="http://schemas.microsoft.com/office/drawing/2014/main" id="{ED24B1E7-0D67-DFA2-BF7C-35EAED3498C3}"/>
              </a:ext>
            </a:extLst>
          </p:cNvPr>
          <p:cNvSpPr/>
          <p:nvPr userDrawn="1"/>
        </p:nvSpPr>
        <p:spPr>
          <a:xfrm flipH="1">
            <a:off x="6804155" y="4346562"/>
            <a:ext cx="1512105" cy="1206619"/>
          </a:xfrm>
          <a:prstGeom prst="chevron">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图片 12">
            <a:extLst>
              <a:ext uri="{FF2B5EF4-FFF2-40B4-BE49-F238E27FC236}">
                <a16:creationId xmlns:a16="http://schemas.microsoft.com/office/drawing/2014/main" id="{6C9C9C0A-6C3D-1217-8EBA-7219A43E7E5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0"/>
            <a:ext cx="6107939" cy="6858000"/>
          </a:xfrm>
          <a:prstGeom prst="rect">
            <a:avLst/>
          </a:prstGeom>
          <a:effectLst>
            <a:outerShdw blurRad="50800" dist="38100" algn="l" rotWithShape="0">
              <a:prstClr val="black">
                <a:alpha val="40000"/>
              </a:prstClr>
            </a:outerShdw>
          </a:effectLst>
        </p:spPr>
      </p:pic>
      <p:sp>
        <p:nvSpPr>
          <p:cNvPr id="24" name="箭头: V 形 23">
            <a:extLst>
              <a:ext uri="{FF2B5EF4-FFF2-40B4-BE49-F238E27FC236}">
                <a16:creationId xmlns:a16="http://schemas.microsoft.com/office/drawing/2014/main" id="{0C0EBBD2-193A-C27C-BF19-3C25C292F68A}"/>
              </a:ext>
            </a:extLst>
          </p:cNvPr>
          <p:cNvSpPr/>
          <p:nvPr userDrawn="1"/>
        </p:nvSpPr>
        <p:spPr>
          <a:xfrm flipH="1">
            <a:off x="7800118" y="4346562"/>
            <a:ext cx="792055" cy="1206619"/>
          </a:xfrm>
          <a:prstGeom prst="chevron">
            <a:avLst>
              <a:gd name="adj" fmla="val 75452"/>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2">
            <a:extLst>
              <a:ext uri="{FF2B5EF4-FFF2-40B4-BE49-F238E27FC236}">
                <a16:creationId xmlns:a16="http://schemas.microsoft.com/office/drawing/2014/main" id="{BDF20ECF-7DF0-ED13-D564-1CAEFC6621E6}"/>
              </a:ext>
            </a:extLst>
          </p:cNvPr>
          <p:cNvPicPr>
            <a:picLocks noChangeAspect="1" noChangeArrowheads="1"/>
          </p:cNvPicPr>
          <p:nvPr userDrawn="1"/>
        </p:nvPicPr>
        <p:blipFill>
          <a:blip r:embed="rId5" cstate="print">
            <a:biLevel thresh="50000"/>
            <a:extLst>
              <a:ext uri="{BEBA8EAE-BF5A-486C-A8C5-ECC9F3942E4B}">
                <a14:imgProps xmlns:a14="http://schemas.microsoft.com/office/drawing/2010/main">
                  <a14:imgLayer r:embed="rId6">
                    <a14:imgEffect>
                      <a14:brightnessContrast bright="-20000" contrast="20000"/>
                    </a14:imgEffect>
                  </a14:imgLayer>
                </a14:imgProps>
              </a:ext>
            </a:extLst>
          </a:blip>
          <a:srcRect/>
          <a:stretch>
            <a:fillRect/>
          </a:stretch>
        </p:blipFill>
        <p:spPr bwMode="auto">
          <a:xfrm>
            <a:off x="6541535" y="6237195"/>
            <a:ext cx="2221117" cy="432005"/>
          </a:xfrm>
          <a:prstGeom prst="rect">
            <a:avLst/>
          </a:prstGeom>
        </p:spPr>
      </p:pic>
      <p:sp>
        <p:nvSpPr>
          <p:cNvPr id="29" name="文本框 28"/>
          <p:cNvSpPr txBox="1"/>
          <p:nvPr userDrawn="1"/>
        </p:nvSpPr>
        <p:spPr>
          <a:xfrm>
            <a:off x="6490957" y="960402"/>
            <a:ext cx="1380506" cy="707886"/>
          </a:xfrm>
          <a:prstGeom prst="rect">
            <a:avLst/>
          </a:prstGeom>
          <a:noFill/>
        </p:spPr>
        <p:txBody>
          <a:bodyPr wrap="none" rtlCol="0">
            <a:spAutoFit/>
          </a:bodyPr>
          <a:lstStyle/>
          <a:p>
            <a:pPr algn="r"/>
            <a:r>
              <a:rPr lang="en-US" altLang="zh-CN" sz="4000" b="1" dirty="0">
                <a:solidFill>
                  <a:srgbClr val="56AB95"/>
                </a:solidFill>
                <a:latin typeface="Arial" pitchFamily="34" charset="0"/>
                <a:ea typeface="黑体" panose="02010609060101010101" pitchFamily="49" charset="-122"/>
                <a:cs typeface="Arial" pitchFamily="34" charset="0"/>
              </a:rPr>
              <a:t>UNIT</a:t>
            </a:r>
            <a:endParaRPr lang="zh-CN" altLang="en-US" sz="4000" b="1" dirty="0">
              <a:ln>
                <a:solidFill>
                  <a:srgbClr val="982738"/>
                </a:solidFill>
              </a:ln>
              <a:solidFill>
                <a:srgbClr val="56AB95"/>
              </a:solidFill>
              <a:latin typeface="Arial" pitchFamily="34" charset="0"/>
              <a:ea typeface="黑体" panose="02010609060101010101" pitchFamily="49" charset="-122"/>
              <a:cs typeface="Arial" pitchFamily="34" charset="0"/>
            </a:endParaRPr>
          </a:p>
        </p:txBody>
      </p:sp>
      <p:sp>
        <p:nvSpPr>
          <p:cNvPr id="23" name="矩形 22">
            <a:extLst>
              <a:ext uri="{FF2B5EF4-FFF2-40B4-BE49-F238E27FC236}">
                <a16:creationId xmlns:a16="http://schemas.microsoft.com/office/drawing/2014/main" id="{BC868780-CE02-5280-A3E8-B9C81BB30B2B}"/>
              </a:ext>
            </a:extLst>
          </p:cNvPr>
          <p:cNvSpPr/>
          <p:nvPr userDrawn="1"/>
        </p:nvSpPr>
        <p:spPr>
          <a:xfrm>
            <a:off x="-1" y="4346562"/>
            <a:ext cx="5796085" cy="1206619"/>
          </a:xfrm>
          <a:prstGeom prst="rect">
            <a:avLst/>
          </a:prstGeom>
          <a:solidFill>
            <a:srgbClr val="56AB95"/>
          </a:solidFill>
          <a:ln>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9">
            <a:extLst>
              <a:ext uri="{FF2B5EF4-FFF2-40B4-BE49-F238E27FC236}">
                <a16:creationId xmlns:a16="http://schemas.microsoft.com/office/drawing/2014/main" id="{FCF97ED4-BDE1-2AE4-D422-4502447A08D5}"/>
              </a:ext>
            </a:extLst>
          </p:cNvPr>
          <p:cNvSpPr txBox="1">
            <a:spLocks noChangeArrowheads="1"/>
          </p:cNvSpPr>
          <p:nvPr userDrawn="1"/>
        </p:nvSpPr>
        <p:spPr bwMode="auto">
          <a:xfrm>
            <a:off x="185899" y="5621070"/>
            <a:ext cx="5736140" cy="400110"/>
          </a:xfrm>
          <a:prstGeom prst="rect">
            <a:avLst/>
          </a:prstGeom>
          <a:noFill/>
          <a:ln w="9525">
            <a:noFill/>
            <a:miter lim="800000"/>
            <a:headEnd/>
            <a:tailEnd/>
          </a:ln>
        </p:spPr>
        <p:txBody>
          <a:bodyPr wrap="square">
            <a:spAutoFit/>
          </a:bodyPr>
          <a:lstStyle/>
          <a:p>
            <a:pPr algn="ctr"/>
            <a:r>
              <a:rPr lang="en-US" altLang="zh-CN" sz="2000" dirty="0">
                <a:solidFill>
                  <a:schemeClr val="bg1"/>
                </a:solidFill>
                <a:latin typeface="Cambria" panose="02040503050406030204" pitchFamily="18" charset="0"/>
                <a:ea typeface="Cambria" panose="02040503050406030204" pitchFamily="18" charset="0"/>
              </a:rPr>
              <a:t>Understanding Chinese Culture: An English Course</a:t>
            </a:r>
          </a:p>
        </p:txBody>
      </p:sp>
      <p:sp>
        <p:nvSpPr>
          <p:cNvPr id="5" name="文本框 4">
            <a:extLst>
              <a:ext uri="{FF2B5EF4-FFF2-40B4-BE49-F238E27FC236}">
                <a16:creationId xmlns:a16="http://schemas.microsoft.com/office/drawing/2014/main" id="{6DA0040A-BA98-CCF8-1CEC-067E45641C74}"/>
              </a:ext>
            </a:extLst>
          </p:cNvPr>
          <p:cNvSpPr txBox="1"/>
          <p:nvPr userDrawn="1"/>
        </p:nvSpPr>
        <p:spPr>
          <a:xfrm>
            <a:off x="240904" y="4595928"/>
            <a:ext cx="5314275" cy="707886"/>
          </a:xfrm>
          <a:prstGeom prst="rect">
            <a:avLst/>
          </a:prstGeom>
          <a:noFill/>
        </p:spPr>
        <p:txBody>
          <a:bodyPr wrap="none" rtlCol="0">
            <a:spAutoFit/>
          </a:bodyPr>
          <a:lstStyle/>
          <a:p>
            <a:pPr algn="ctr"/>
            <a:r>
              <a:rPr lang="zh-CN" altLang="zh-CN" sz="40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中国文化英语综合教程</a:t>
            </a:r>
            <a:endParaRPr lang="zh-CN" altLang="en-US" sz="40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A012AB9F-C27A-93F3-241F-398885AFA62A}"/>
              </a:ext>
            </a:extLst>
          </p:cNvPr>
          <p:cNvSpPr txBox="1"/>
          <p:nvPr userDrawn="1"/>
        </p:nvSpPr>
        <p:spPr>
          <a:xfrm>
            <a:off x="6372125" y="4595928"/>
            <a:ext cx="1210588" cy="707886"/>
          </a:xfrm>
          <a:prstGeom prst="rect">
            <a:avLst/>
          </a:prstGeom>
          <a:noFill/>
        </p:spPr>
        <p:txBody>
          <a:bodyPr wrap="none" rtlCol="0">
            <a:spAutoFit/>
          </a:bodyPr>
          <a:lstStyle/>
          <a:p>
            <a:pPr algn="just"/>
            <a:r>
              <a:rPr lang="zh-CN" altLang="zh-CN" sz="40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上册</a:t>
            </a:r>
            <a:endParaRPr lang="zh-CN" altLang="en-US" sz="4000" b="1" baseline="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矩形: 圆角 38">
            <a:extLst>
              <a:ext uri="{FF2B5EF4-FFF2-40B4-BE49-F238E27FC236}">
                <a16:creationId xmlns:a16="http://schemas.microsoft.com/office/drawing/2014/main" id="{05AF4F24-FC86-CEF6-7A6B-16E1E26FF8F7}"/>
              </a:ext>
            </a:extLst>
          </p:cNvPr>
          <p:cNvSpPr/>
          <p:nvPr userDrawn="1"/>
        </p:nvSpPr>
        <p:spPr>
          <a:xfrm>
            <a:off x="5289108" y="2491010"/>
            <a:ext cx="3434802" cy="720050"/>
          </a:xfrm>
          <a:prstGeom prst="roundRect">
            <a:avLst/>
          </a:prstGeom>
          <a:solidFill>
            <a:srgbClr val="F7FBF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文本框 33"/>
          <p:cNvSpPr txBox="1"/>
          <p:nvPr userDrawn="1"/>
        </p:nvSpPr>
        <p:spPr>
          <a:xfrm>
            <a:off x="5504335" y="2535564"/>
            <a:ext cx="3004349" cy="630942"/>
          </a:xfrm>
          <a:prstGeom prst="rect">
            <a:avLst/>
          </a:prstGeom>
          <a:noFill/>
        </p:spPr>
        <p:txBody>
          <a:bodyPr wrap="none" rtlCol="0">
            <a:spAutoFit/>
          </a:bodyPr>
          <a:lstStyle/>
          <a:p>
            <a:r>
              <a:rPr lang="en-US" altLang="zh-CN" sz="3500" b="1" dirty="0">
                <a:solidFill>
                  <a:srgbClr val="C00000"/>
                </a:solidFill>
                <a:latin typeface="Arial" panose="020B0604020202020204" pitchFamily="34" charset="0"/>
                <a:ea typeface="Cambria" panose="02040503050406030204" pitchFamily="18" charset="0"/>
                <a:cs typeface="Arial" panose="020B0604020202020204" pitchFamily="34" charset="0"/>
              </a:rPr>
              <a:t>Rejuvenation</a:t>
            </a:r>
            <a:endParaRPr lang="zh-CN" altLang="en-US" sz="3500" b="1" dirty="0">
              <a:solidFill>
                <a:srgbClr val="C00000"/>
              </a:solidFill>
              <a:latin typeface="Arial" panose="020B0604020202020204" pitchFamily="34" charset="0"/>
              <a:cs typeface="Arial" panose="020B0604020202020204" pitchFamily="34" charset="0"/>
            </a:endParaRPr>
          </a:p>
        </p:txBody>
      </p:sp>
      <p:sp>
        <p:nvSpPr>
          <p:cNvPr id="42" name="菱形 41">
            <a:extLst>
              <a:ext uri="{FF2B5EF4-FFF2-40B4-BE49-F238E27FC236}">
                <a16:creationId xmlns:a16="http://schemas.microsoft.com/office/drawing/2014/main" id="{BFB990DA-B36E-875A-D23B-4A2CF449EBAA}"/>
              </a:ext>
            </a:extLst>
          </p:cNvPr>
          <p:cNvSpPr/>
          <p:nvPr userDrawn="1"/>
        </p:nvSpPr>
        <p:spPr>
          <a:xfrm>
            <a:off x="7912870" y="908825"/>
            <a:ext cx="811040" cy="811040"/>
          </a:xfrm>
          <a:prstGeom prst="diamond">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文本框 40">
            <a:extLst>
              <a:ext uri="{FF2B5EF4-FFF2-40B4-BE49-F238E27FC236}">
                <a16:creationId xmlns:a16="http://schemas.microsoft.com/office/drawing/2014/main" id="{20EA44AF-54D0-9FD1-00CC-1B64C41AA6DE}"/>
              </a:ext>
            </a:extLst>
          </p:cNvPr>
          <p:cNvSpPr txBox="1"/>
          <p:nvPr userDrawn="1"/>
        </p:nvSpPr>
        <p:spPr>
          <a:xfrm>
            <a:off x="8083390" y="960402"/>
            <a:ext cx="470000" cy="707886"/>
          </a:xfrm>
          <a:prstGeom prst="rect">
            <a:avLst/>
          </a:prstGeom>
          <a:noFill/>
        </p:spPr>
        <p:txBody>
          <a:bodyPr wrap="none" rtlCol="0">
            <a:spAutoFit/>
          </a:bodyPr>
          <a:lstStyle/>
          <a:p>
            <a:pPr algn="r"/>
            <a:r>
              <a:rPr lang="en-US" altLang="zh-CN" sz="4000" b="1" dirty="0">
                <a:solidFill>
                  <a:schemeClr val="bg1"/>
                </a:solidFill>
                <a:latin typeface="Arial" pitchFamily="34" charset="0"/>
                <a:ea typeface="黑体" panose="02010609060101010101" pitchFamily="49" charset="-122"/>
                <a:cs typeface="Arial" pitchFamily="34" charset="0"/>
              </a:rPr>
              <a:t>1</a:t>
            </a:r>
            <a:endParaRPr lang="zh-CN" altLang="en-US" sz="4000" b="1" dirty="0">
              <a:ln>
                <a:solidFill>
                  <a:srgbClr val="982738"/>
                </a:solidFill>
              </a:ln>
              <a:solidFill>
                <a:schemeClr val="bg1"/>
              </a:solidFill>
              <a:latin typeface="Arial" pitchFamily="34" charset="0"/>
              <a:ea typeface="黑体" panose="02010609060101010101" pitchFamily="49" charset="-122"/>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0">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4C272B9D-6638-6A55-451F-8E7F3D5FA613}"/>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LineDrawing trans="30000"/>
                    </a14:imgEffect>
                  </a14:imgLayer>
                </a14:imgProps>
              </a:ext>
            </a:extLst>
          </a:blip>
          <a:stretch/>
        </p:blipFill>
        <p:spPr>
          <a:xfrm>
            <a:off x="1" y="1773158"/>
            <a:ext cx="9143999" cy="5084842"/>
          </a:xfrm>
          <a:prstGeom prst="rect">
            <a:avLst/>
          </a:prstGeom>
        </p:spPr>
      </p:pic>
      <p:sp>
        <p:nvSpPr>
          <p:cNvPr id="6" name="矩形 5">
            <a:extLst>
              <a:ext uri="{FF2B5EF4-FFF2-40B4-BE49-F238E27FC236}">
                <a16:creationId xmlns:a16="http://schemas.microsoft.com/office/drawing/2014/main" id="{9A8F6040-CA30-CDBF-4377-3AB5438C255E}"/>
              </a:ext>
            </a:extLst>
          </p:cNvPr>
          <p:cNvSpPr/>
          <p:nvPr userDrawn="1"/>
        </p:nvSpPr>
        <p:spPr>
          <a:xfrm>
            <a:off x="0" y="-1"/>
            <a:ext cx="9144000" cy="4255621"/>
          </a:xfrm>
          <a:prstGeom prst="rect">
            <a:avLst/>
          </a:prstGeom>
          <a:gradFill flip="none" rotWithShape="1">
            <a:gsLst>
              <a:gs pos="0">
                <a:schemeClr val="bg1"/>
              </a:gs>
              <a:gs pos="37000">
                <a:srgbClr val="F8FBFA"/>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图片 21">
            <a:extLst>
              <a:ext uri="{FF2B5EF4-FFF2-40B4-BE49-F238E27FC236}">
                <a16:creationId xmlns:a16="http://schemas.microsoft.com/office/drawing/2014/main" id="{04DF58EF-133E-D5DA-3BF8-380A139CAF94}"/>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LineDrawing trans="30000"/>
                    </a14:imgEffect>
                  </a14:imgLayer>
                </a14:imgProps>
              </a:ext>
            </a:extLst>
          </a:blip>
          <a:srcRect b="50490"/>
          <a:stretch/>
        </p:blipFill>
        <p:spPr>
          <a:xfrm>
            <a:off x="-2" y="-1"/>
            <a:ext cx="9143999" cy="2517486"/>
          </a:xfrm>
          <a:prstGeom prst="rect">
            <a:avLst/>
          </a:prstGeom>
        </p:spPr>
      </p:pic>
      <p:sp>
        <p:nvSpPr>
          <p:cNvPr id="10" name="矩形 9"/>
          <p:cNvSpPr/>
          <p:nvPr userDrawn="1"/>
        </p:nvSpPr>
        <p:spPr>
          <a:xfrm>
            <a:off x="-1" y="771496"/>
            <a:ext cx="2699871" cy="60307"/>
          </a:xfrm>
          <a:prstGeom prst="rect">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userDrawn="1"/>
        </p:nvGrpSpPr>
        <p:grpSpPr>
          <a:xfrm>
            <a:off x="0" y="6715148"/>
            <a:ext cx="9144000" cy="142876"/>
            <a:chOff x="0" y="6715148"/>
            <a:chExt cx="9144000" cy="142876"/>
          </a:xfrm>
        </p:grpSpPr>
        <p:sp>
          <p:nvSpPr>
            <p:cNvPr id="12" name="单圆角矩形 11"/>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13" name="单圆角矩形 12"/>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剪去单角的矩形 13"/>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p:cNvSpPr txBox="1"/>
          <p:nvPr userDrawn="1"/>
        </p:nvSpPr>
        <p:spPr>
          <a:xfrm>
            <a:off x="251700" y="351835"/>
            <a:ext cx="2261260" cy="459036"/>
          </a:xfrm>
          <a:prstGeom prst="rect">
            <a:avLst/>
          </a:prstGeom>
          <a:noFill/>
        </p:spPr>
        <p:txBody>
          <a:bodyPr wrap="none" rtlCol="0">
            <a:spAutoFit/>
          </a:bodyPr>
          <a:lstStyle/>
          <a:p>
            <a:pPr>
              <a:lnSpc>
                <a:spcPts val="2600"/>
              </a:lnSpc>
            </a:pPr>
            <a:r>
              <a:rPr lang="en-US" altLang="zh-CN" sz="4000" b="1" dirty="0">
                <a:solidFill>
                  <a:srgbClr val="0C476D"/>
                </a:solidFill>
                <a:latin typeface="Cambria" panose="02040503050406030204" pitchFamily="18" charset="0"/>
                <a:ea typeface="Cambria" panose="02040503050406030204" pitchFamily="18" charset="0"/>
              </a:rPr>
              <a:t>Contents</a:t>
            </a:r>
            <a:endParaRPr lang="zh-CN" altLang="en-US" sz="4000" spc="-30" dirty="0">
              <a:solidFill>
                <a:srgbClr val="0C476D"/>
              </a:solidFill>
              <a:latin typeface="Cambria" panose="02040503050406030204"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00">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EE5F17E5-879E-FB1C-969C-64A947766BFB}"/>
              </a:ext>
            </a:extLst>
          </p:cNvPr>
          <p:cNvGrpSpPr/>
          <p:nvPr userDrawn="1"/>
        </p:nvGrpSpPr>
        <p:grpSpPr>
          <a:xfrm>
            <a:off x="0" y="-1"/>
            <a:ext cx="9144000" cy="6858001"/>
            <a:chOff x="0" y="-1"/>
            <a:chExt cx="9144000" cy="6858001"/>
          </a:xfrm>
        </p:grpSpPr>
        <p:pic>
          <p:nvPicPr>
            <p:cNvPr id="2" name="图片 1">
              <a:extLst>
                <a:ext uri="{FF2B5EF4-FFF2-40B4-BE49-F238E27FC236}">
                  <a16:creationId xmlns:a16="http://schemas.microsoft.com/office/drawing/2014/main" id="{D1074FCB-DF46-B916-91C3-41C60129559B}"/>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artisticLineDrawing trans="30000"/>
                      </a14:imgEffect>
                    </a14:imgLayer>
                  </a14:imgProps>
                </a:ext>
              </a:extLst>
            </a:blip>
            <a:stretch/>
          </p:blipFill>
          <p:spPr>
            <a:xfrm>
              <a:off x="1" y="1773158"/>
              <a:ext cx="9143999" cy="5084842"/>
            </a:xfrm>
            <a:prstGeom prst="rect">
              <a:avLst/>
            </a:prstGeom>
          </p:spPr>
        </p:pic>
        <p:sp>
          <p:nvSpPr>
            <p:cNvPr id="3" name="矩形 2">
              <a:extLst>
                <a:ext uri="{FF2B5EF4-FFF2-40B4-BE49-F238E27FC236}">
                  <a16:creationId xmlns:a16="http://schemas.microsoft.com/office/drawing/2014/main" id="{0669CF47-5B97-C8A7-25A7-732BF834E792}"/>
                </a:ext>
              </a:extLst>
            </p:cNvPr>
            <p:cNvSpPr/>
            <p:nvPr userDrawn="1"/>
          </p:nvSpPr>
          <p:spPr>
            <a:xfrm>
              <a:off x="0" y="-1"/>
              <a:ext cx="9144000" cy="4255621"/>
            </a:xfrm>
            <a:prstGeom prst="rect">
              <a:avLst/>
            </a:prstGeom>
            <a:gradFill flip="none" rotWithShape="1">
              <a:gsLst>
                <a:gs pos="0">
                  <a:schemeClr val="bg1"/>
                </a:gs>
                <a:gs pos="37000">
                  <a:srgbClr val="F8FBFA"/>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 name="图片 8"/>
          <p:cNvPicPr>
            <a:picLocks noChangeAspect="1"/>
          </p:cNvPicPr>
          <p:nvPr userDrawn="1"/>
        </p:nvPicPr>
        <p:blipFill>
          <a:blip r:embed="rId4">
            <a:duotone>
              <a:prstClr val="black"/>
              <a:srgbClr val="56AB95">
                <a:tint val="45000"/>
                <a:satMod val="400000"/>
              </a:srgbClr>
            </a:duotone>
            <a:extLst>
              <a:ext uri="{28A0092B-C50C-407E-A947-70E740481C1C}">
                <a14:useLocalDpi xmlns:a14="http://schemas.microsoft.com/office/drawing/2010/main" val="0"/>
              </a:ext>
            </a:extLst>
          </a:blip>
          <a:stretch>
            <a:fillRect/>
          </a:stretch>
        </p:blipFill>
        <p:spPr>
          <a:xfrm>
            <a:off x="320383" y="219903"/>
            <a:ext cx="8503234" cy="6418194"/>
          </a:xfrm>
          <a:prstGeom prst="rect">
            <a:avLst/>
          </a:prstGeom>
        </p:spPr>
      </p:pic>
    </p:spTree>
    <p:extLst>
      <p:ext uri="{BB962C8B-B14F-4D97-AF65-F5344CB8AC3E}">
        <p14:creationId xmlns:p14="http://schemas.microsoft.com/office/powerpoint/2010/main" val="25260034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22" name="同侧圆角矩形 21"/>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单圆角矩形 46"/>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8" name="Picture 2" descr="C:\Users\senj\Desktop\主目录.png">
            <a:hlinkClick r:id="rId2" action="ppaction://hlinksldjump"/>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53" name="TextBox 46"/>
          <p:cNvSpPr txBox="1">
            <a:spLocks noChangeArrowheads="1"/>
          </p:cNvSpPr>
          <p:nvPr userDrawn="1"/>
        </p:nvSpPr>
        <p:spPr bwMode="auto">
          <a:xfrm>
            <a:off x="641382" y="60766"/>
            <a:ext cx="1122423"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Lead-in</a:t>
            </a:r>
            <a:endParaRPr lang="zh-CN" altLang="zh-CN" sz="2400" b="0" kern="1200" dirty="0">
              <a:solidFill>
                <a:schemeClr val="bg1"/>
              </a:solidFill>
              <a:effectLst/>
              <a:latin typeface="Calibri" pitchFamily="34" charset="0"/>
              <a:ea typeface="宋体" pitchFamily="2" charset="-122"/>
              <a:cs typeface="+mn-cs"/>
            </a:endParaRPr>
          </a:p>
        </p:txBody>
      </p:sp>
      <p:grpSp>
        <p:nvGrpSpPr>
          <p:cNvPr id="5" name="组合 4">
            <a:extLst>
              <a:ext uri="{FF2B5EF4-FFF2-40B4-BE49-F238E27FC236}">
                <a16:creationId xmlns:a16="http://schemas.microsoft.com/office/drawing/2014/main" id="{31DB899D-E783-257E-8DFE-384725619517}"/>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3015F185-34D4-E311-1F7B-6DBD3C0CA524}"/>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CCC8E179-C33B-2469-50B9-3868B87771F8}"/>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圆顶角 19">
            <a:extLst>
              <a:ext uri="{FF2B5EF4-FFF2-40B4-BE49-F238E27FC236}">
                <a16:creationId xmlns:a16="http://schemas.microsoft.com/office/drawing/2014/main" id="{DB69D765-16AF-3FE4-F145-0E9DDE1C3E43}"/>
              </a:ext>
            </a:extLst>
          </p:cNvPr>
          <p:cNvSpPr/>
          <p:nvPr userDrawn="1"/>
        </p:nvSpPr>
        <p:spPr>
          <a:xfrm>
            <a:off x="5724081"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98F7E8C1-66A4-100E-2688-D345CC50EA20}"/>
              </a:ext>
            </a:extLst>
          </p:cNvPr>
          <p:cNvSpPr/>
          <p:nvPr userDrawn="1"/>
        </p:nvSpPr>
        <p:spPr>
          <a:xfrm>
            <a:off x="6624143"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B9A7A9E1-C3E6-E58C-F780-097561880C0E}"/>
              </a:ext>
            </a:extLst>
          </p:cNvPr>
          <p:cNvSpPr/>
          <p:nvPr userDrawn="1"/>
        </p:nvSpPr>
        <p:spPr>
          <a:xfrm>
            <a:off x="7524205" y="507275"/>
            <a:ext cx="1440100"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文本框 2">
            <a:hlinkClick r:id="rId4" action="ppaction://hlinksldjump"/>
          </p:cNvPr>
          <p:cNvSpPr txBox="1"/>
          <p:nvPr userDrawn="1"/>
        </p:nvSpPr>
        <p:spPr>
          <a:xfrm>
            <a:off x="6675364" y="568669"/>
            <a:ext cx="689612"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Task 2</a:t>
            </a:r>
            <a:endParaRPr lang="zh-CN" altLang="zh-CN" sz="1600" kern="1200" dirty="0">
              <a:solidFill>
                <a:schemeClr val="bg1"/>
              </a:solidFill>
              <a:effectLst/>
              <a:latin typeface="Calibri" pitchFamily="34" charset="0"/>
              <a:ea typeface="宋体" pitchFamily="2" charset="-122"/>
              <a:cs typeface="+mn-cs"/>
            </a:endParaRPr>
          </a:p>
        </p:txBody>
      </p:sp>
      <p:sp>
        <p:nvSpPr>
          <p:cNvPr id="14" name="文本框 13">
            <a:hlinkClick r:id="rId5" action="ppaction://hlinksldjump"/>
          </p:cNvPr>
          <p:cNvSpPr txBox="1"/>
          <p:nvPr userDrawn="1"/>
        </p:nvSpPr>
        <p:spPr>
          <a:xfrm>
            <a:off x="7592121" y="568669"/>
            <a:ext cx="1304268"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Optional Task</a:t>
            </a:r>
            <a:endParaRPr lang="zh-CN" altLang="zh-CN" sz="1600" kern="1200" dirty="0">
              <a:solidFill>
                <a:schemeClr val="bg1"/>
              </a:solidFill>
              <a:effectLst/>
              <a:latin typeface="Calibri" pitchFamily="34" charset="0"/>
              <a:ea typeface="宋体" pitchFamily="2" charset="-122"/>
              <a:cs typeface="+mn-cs"/>
            </a:endParaRPr>
          </a:p>
        </p:txBody>
      </p:sp>
      <p:sp>
        <p:nvSpPr>
          <p:cNvPr id="2" name="文本框 1">
            <a:hlinkClick r:id="rId6" action="ppaction://hlinksldjump"/>
          </p:cNvPr>
          <p:cNvSpPr txBox="1"/>
          <p:nvPr userDrawn="1"/>
        </p:nvSpPr>
        <p:spPr>
          <a:xfrm>
            <a:off x="5775302" y="568669"/>
            <a:ext cx="689612"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Task 1</a:t>
            </a:r>
            <a:endParaRPr lang="zh-CN" altLang="zh-CN" sz="1600" kern="1200" dirty="0">
              <a:solidFill>
                <a:schemeClr val="bg1"/>
              </a:solidFill>
              <a:effectLst/>
              <a:latin typeface="Calibri" pitchFamily="34" charset="0"/>
              <a:ea typeface="宋体"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598CF3CB-F93D-8C50-614C-768C4A34E6BF}"/>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22F45C37-3DEF-77D6-AE74-615BF2B0EE91}"/>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86334706-8D06-6F4B-D75D-808B3FCBB95F}"/>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同侧圆角矩形 21">
            <a:extLst>
              <a:ext uri="{FF2B5EF4-FFF2-40B4-BE49-F238E27FC236}">
                <a16:creationId xmlns:a16="http://schemas.microsoft.com/office/drawing/2014/main" id="{4DAAFA85-2CB4-6201-FE52-89A957BFEE5A}"/>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单圆角矩形 46">
            <a:extLst>
              <a:ext uri="{FF2B5EF4-FFF2-40B4-BE49-F238E27FC236}">
                <a16:creationId xmlns:a16="http://schemas.microsoft.com/office/drawing/2014/main" id="{EDEB0610-035B-947E-8666-3118A3BB1F0C}"/>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Picture 2" descr="C:\Users\senj\Desktop\主目录.png">
            <a:hlinkClick r:id="rId2" action="ppaction://hlinksldjump"/>
            <a:extLst>
              <a:ext uri="{FF2B5EF4-FFF2-40B4-BE49-F238E27FC236}">
                <a16:creationId xmlns:a16="http://schemas.microsoft.com/office/drawing/2014/main" id="{4F6A8A92-EB80-B461-07E0-62F754036B97}"/>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5" name="TextBox 46">
            <a:extLst>
              <a:ext uri="{FF2B5EF4-FFF2-40B4-BE49-F238E27FC236}">
                <a16:creationId xmlns:a16="http://schemas.microsoft.com/office/drawing/2014/main" id="{AB4B4B26-5D99-953A-CE10-BFAB67350EF7}"/>
              </a:ext>
            </a:extLst>
          </p:cNvPr>
          <p:cNvSpPr txBox="1">
            <a:spLocks noChangeArrowheads="1"/>
          </p:cNvSpPr>
          <p:nvPr userDrawn="1"/>
        </p:nvSpPr>
        <p:spPr bwMode="auto">
          <a:xfrm>
            <a:off x="641382" y="60766"/>
            <a:ext cx="1122423"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Lead-in</a:t>
            </a:r>
            <a:endParaRPr lang="zh-CN" altLang="zh-CN" sz="2400" b="0" kern="1200" dirty="0">
              <a:solidFill>
                <a:schemeClr val="bg1"/>
              </a:solidFill>
              <a:effectLst/>
              <a:latin typeface="Calibri" pitchFamily="34" charset="0"/>
              <a:ea typeface="宋体" pitchFamily="2" charset="-122"/>
              <a:cs typeface="+mn-cs"/>
            </a:endParaRPr>
          </a:p>
        </p:txBody>
      </p:sp>
      <p:sp>
        <p:nvSpPr>
          <p:cNvPr id="16" name="矩形: 圆顶角 15">
            <a:extLst>
              <a:ext uri="{FF2B5EF4-FFF2-40B4-BE49-F238E27FC236}">
                <a16:creationId xmlns:a16="http://schemas.microsoft.com/office/drawing/2014/main" id="{4D6D1508-D5C7-CE09-73A7-3629A4A84718}"/>
              </a:ext>
            </a:extLst>
          </p:cNvPr>
          <p:cNvSpPr/>
          <p:nvPr userDrawn="1"/>
        </p:nvSpPr>
        <p:spPr>
          <a:xfrm>
            <a:off x="5724081"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圆顶角 19">
            <a:extLst>
              <a:ext uri="{FF2B5EF4-FFF2-40B4-BE49-F238E27FC236}">
                <a16:creationId xmlns:a16="http://schemas.microsoft.com/office/drawing/2014/main" id="{73655200-EBA7-0CCE-8FDC-5B82975FAF19}"/>
              </a:ext>
            </a:extLst>
          </p:cNvPr>
          <p:cNvSpPr/>
          <p:nvPr userDrawn="1"/>
        </p:nvSpPr>
        <p:spPr>
          <a:xfrm>
            <a:off x="6624143"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46A3B924-A4BF-463C-C8CF-C1C79F489281}"/>
              </a:ext>
            </a:extLst>
          </p:cNvPr>
          <p:cNvSpPr/>
          <p:nvPr userDrawn="1"/>
        </p:nvSpPr>
        <p:spPr>
          <a:xfrm>
            <a:off x="7524205" y="507275"/>
            <a:ext cx="1440100"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文本框 23">
            <a:hlinkClick r:id="rId4" action="ppaction://hlinksldjump"/>
            <a:extLst>
              <a:ext uri="{FF2B5EF4-FFF2-40B4-BE49-F238E27FC236}">
                <a16:creationId xmlns:a16="http://schemas.microsoft.com/office/drawing/2014/main" id="{CF103CBF-4D2B-F27B-728C-A11C39AD0BD7}"/>
              </a:ext>
            </a:extLst>
          </p:cNvPr>
          <p:cNvSpPr txBox="1"/>
          <p:nvPr userDrawn="1"/>
        </p:nvSpPr>
        <p:spPr>
          <a:xfrm>
            <a:off x="6675364" y="568669"/>
            <a:ext cx="689612"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Task 2</a:t>
            </a:r>
            <a:endParaRPr lang="zh-CN" altLang="zh-CN" sz="1600" kern="1200" dirty="0">
              <a:solidFill>
                <a:schemeClr val="bg1"/>
              </a:solidFill>
              <a:effectLst/>
              <a:latin typeface="Calibri" pitchFamily="34" charset="0"/>
              <a:ea typeface="宋体" pitchFamily="2" charset="-122"/>
              <a:cs typeface="+mn-cs"/>
            </a:endParaRPr>
          </a:p>
        </p:txBody>
      </p:sp>
      <p:sp>
        <p:nvSpPr>
          <p:cNvPr id="25" name="文本框 24">
            <a:hlinkClick r:id="rId5" action="ppaction://hlinksldjump"/>
            <a:extLst>
              <a:ext uri="{FF2B5EF4-FFF2-40B4-BE49-F238E27FC236}">
                <a16:creationId xmlns:a16="http://schemas.microsoft.com/office/drawing/2014/main" id="{40A06754-2240-1D82-061E-7FC0154EC669}"/>
              </a:ext>
            </a:extLst>
          </p:cNvPr>
          <p:cNvSpPr txBox="1"/>
          <p:nvPr userDrawn="1"/>
        </p:nvSpPr>
        <p:spPr>
          <a:xfrm>
            <a:off x="7592121" y="568669"/>
            <a:ext cx="1304268"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Optional Task</a:t>
            </a:r>
            <a:endParaRPr lang="zh-CN" altLang="zh-CN" sz="1600" kern="1200" dirty="0">
              <a:solidFill>
                <a:schemeClr val="bg1"/>
              </a:solidFill>
              <a:effectLst/>
              <a:latin typeface="Calibri" pitchFamily="34" charset="0"/>
              <a:ea typeface="宋体" pitchFamily="2" charset="-122"/>
              <a:cs typeface="+mn-cs"/>
            </a:endParaRPr>
          </a:p>
        </p:txBody>
      </p:sp>
      <p:sp>
        <p:nvSpPr>
          <p:cNvPr id="26" name="文本框 25">
            <a:hlinkClick r:id="rId6" action="ppaction://hlinksldjump"/>
            <a:extLst>
              <a:ext uri="{FF2B5EF4-FFF2-40B4-BE49-F238E27FC236}">
                <a16:creationId xmlns:a16="http://schemas.microsoft.com/office/drawing/2014/main" id="{4FE5FCF8-33AB-1106-AD6C-985550E2825E}"/>
              </a:ext>
            </a:extLst>
          </p:cNvPr>
          <p:cNvSpPr txBox="1"/>
          <p:nvPr userDrawn="1"/>
        </p:nvSpPr>
        <p:spPr>
          <a:xfrm>
            <a:off x="5775302" y="568669"/>
            <a:ext cx="689612"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Task 1</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2048705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1">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9C2B64C-A878-6892-8062-02C6A2148481}"/>
              </a:ext>
            </a:extLst>
          </p:cNvPr>
          <p:cNvGrpSpPr/>
          <p:nvPr userDrawn="1"/>
        </p:nvGrpSpPr>
        <p:grpSpPr>
          <a:xfrm>
            <a:off x="0" y="6715148"/>
            <a:ext cx="9144000" cy="142876"/>
            <a:chOff x="0" y="6715148"/>
            <a:chExt cx="9144000" cy="142876"/>
          </a:xfrm>
        </p:grpSpPr>
        <p:sp>
          <p:nvSpPr>
            <p:cNvPr id="4" name="单圆角矩形 11">
              <a:extLst>
                <a:ext uri="{FF2B5EF4-FFF2-40B4-BE49-F238E27FC236}">
                  <a16:creationId xmlns:a16="http://schemas.microsoft.com/office/drawing/2014/main" id="{3B0B9B4A-06F5-ABBE-22CB-409C655EF281}"/>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5" name="单圆角矩形 12">
              <a:extLst>
                <a:ext uri="{FF2B5EF4-FFF2-40B4-BE49-F238E27FC236}">
                  <a16:creationId xmlns:a16="http://schemas.microsoft.com/office/drawing/2014/main" id="{AF6846A6-0E36-A495-C6B8-B7C361061F6A}"/>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 name="同侧圆角矩形 21">
            <a:extLst>
              <a:ext uri="{FF2B5EF4-FFF2-40B4-BE49-F238E27FC236}">
                <a16:creationId xmlns:a16="http://schemas.microsoft.com/office/drawing/2014/main" id="{C76B6816-9D38-A550-7341-2EEA0648BBC9}"/>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单圆角矩形 46">
            <a:extLst>
              <a:ext uri="{FF2B5EF4-FFF2-40B4-BE49-F238E27FC236}">
                <a16:creationId xmlns:a16="http://schemas.microsoft.com/office/drawing/2014/main" id="{27B1BE91-F3B6-388C-322D-B56B04C09883}"/>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2" descr="C:\Users\senj\Desktop\主目录.png">
            <a:hlinkClick r:id="rId2" action="ppaction://hlinksldjump"/>
            <a:extLst>
              <a:ext uri="{FF2B5EF4-FFF2-40B4-BE49-F238E27FC236}">
                <a16:creationId xmlns:a16="http://schemas.microsoft.com/office/drawing/2014/main" id="{0F2F7639-944A-6683-7792-005D142E475A}"/>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0" name="TextBox 46">
            <a:extLst>
              <a:ext uri="{FF2B5EF4-FFF2-40B4-BE49-F238E27FC236}">
                <a16:creationId xmlns:a16="http://schemas.microsoft.com/office/drawing/2014/main" id="{7F15CB4D-0D23-6A9A-B504-DBD968A109C6}"/>
              </a:ext>
            </a:extLst>
          </p:cNvPr>
          <p:cNvSpPr txBox="1">
            <a:spLocks noChangeArrowheads="1"/>
          </p:cNvSpPr>
          <p:nvPr userDrawn="1"/>
        </p:nvSpPr>
        <p:spPr bwMode="auto">
          <a:xfrm>
            <a:off x="641382" y="60766"/>
            <a:ext cx="1122423"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Lead-in</a:t>
            </a:r>
            <a:endParaRPr lang="zh-CN" altLang="zh-CN" sz="2400" b="0" kern="1200" dirty="0">
              <a:solidFill>
                <a:schemeClr val="bg1"/>
              </a:solidFill>
              <a:effectLst/>
              <a:latin typeface="Calibri" pitchFamily="34" charset="0"/>
              <a:ea typeface="宋体" pitchFamily="2" charset="-122"/>
              <a:cs typeface="+mn-cs"/>
            </a:endParaRPr>
          </a:p>
        </p:txBody>
      </p:sp>
      <p:sp>
        <p:nvSpPr>
          <p:cNvPr id="11" name="矩形: 圆顶角 10">
            <a:extLst>
              <a:ext uri="{FF2B5EF4-FFF2-40B4-BE49-F238E27FC236}">
                <a16:creationId xmlns:a16="http://schemas.microsoft.com/office/drawing/2014/main" id="{CB8ACB02-8441-273C-6F5C-5724A3CBEDFF}"/>
              </a:ext>
            </a:extLst>
          </p:cNvPr>
          <p:cNvSpPr/>
          <p:nvPr userDrawn="1"/>
        </p:nvSpPr>
        <p:spPr>
          <a:xfrm>
            <a:off x="5724081"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圆顶角 11">
            <a:extLst>
              <a:ext uri="{FF2B5EF4-FFF2-40B4-BE49-F238E27FC236}">
                <a16:creationId xmlns:a16="http://schemas.microsoft.com/office/drawing/2014/main" id="{5DDAAC13-2130-FF95-713C-BA3618085D3B}"/>
              </a:ext>
            </a:extLst>
          </p:cNvPr>
          <p:cNvSpPr/>
          <p:nvPr userDrawn="1"/>
        </p:nvSpPr>
        <p:spPr>
          <a:xfrm>
            <a:off x="6624143"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矩形: 圆顶角 12">
            <a:extLst>
              <a:ext uri="{FF2B5EF4-FFF2-40B4-BE49-F238E27FC236}">
                <a16:creationId xmlns:a16="http://schemas.microsoft.com/office/drawing/2014/main" id="{DBD84882-BF97-70AB-7991-160E47861BD8}"/>
              </a:ext>
            </a:extLst>
          </p:cNvPr>
          <p:cNvSpPr/>
          <p:nvPr userDrawn="1"/>
        </p:nvSpPr>
        <p:spPr>
          <a:xfrm>
            <a:off x="7524205" y="507275"/>
            <a:ext cx="1440100"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文本框 14">
            <a:hlinkClick r:id="rId4" action="ppaction://hlinksldjump"/>
            <a:extLst>
              <a:ext uri="{FF2B5EF4-FFF2-40B4-BE49-F238E27FC236}">
                <a16:creationId xmlns:a16="http://schemas.microsoft.com/office/drawing/2014/main" id="{87B79A04-542E-6012-8701-7621ABA9801A}"/>
              </a:ext>
            </a:extLst>
          </p:cNvPr>
          <p:cNvSpPr txBox="1"/>
          <p:nvPr userDrawn="1"/>
        </p:nvSpPr>
        <p:spPr>
          <a:xfrm>
            <a:off x="6675364" y="568669"/>
            <a:ext cx="689612"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Task 2</a:t>
            </a:r>
            <a:endParaRPr lang="zh-CN" altLang="zh-CN" sz="1600" kern="1200" dirty="0">
              <a:solidFill>
                <a:schemeClr val="bg1"/>
              </a:solidFill>
              <a:effectLst/>
              <a:latin typeface="Calibri" pitchFamily="34" charset="0"/>
              <a:ea typeface="宋体" pitchFamily="2" charset="-122"/>
              <a:cs typeface="+mn-cs"/>
            </a:endParaRPr>
          </a:p>
        </p:txBody>
      </p:sp>
      <p:sp>
        <p:nvSpPr>
          <p:cNvPr id="16" name="文本框 15">
            <a:hlinkClick r:id="rId5" action="ppaction://hlinksldjump"/>
            <a:extLst>
              <a:ext uri="{FF2B5EF4-FFF2-40B4-BE49-F238E27FC236}">
                <a16:creationId xmlns:a16="http://schemas.microsoft.com/office/drawing/2014/main" id="{582E0C4C-78BC-0111-CA3E-5DB717552802}"/>
              </a:ext>
            </a:extLst>
          </p:cNvPr>
          <p:cNvSpPr txBox="1"/>
          <p:nvPr userDrawn="1"/>
        </p:nvSpPr>
        <p:spPr>
          <a:xfrm>
            <a:off x="7592121" y="568669"/>
            <a:ext cx="1304268"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Optional Task</a:t>
            </a:r>
            <a:endParaRPr lang="zh-CN" altLang="zh-CN" sz="1600" kern="1200" dirty="0">
              <a:solidFill>
                <a:schemeClr val="bg1"/>
              </a:solidFill>
              <a:effectLst/>
              <a:latin typeface="Calibri" pitchFamily="34" charset="0"/>
              <a:ea typeface="宋体" pitchFamily="2" charset="-122"/>
              <a:cs typeface="+mn-cs"/>
            </a:endParaRPr>
          </a:p>
        </p:txBody>
      </p:sp>
      <p:sp>
        <p:nvSpPr>
          <p:cNvPr id="21" name="文本框 20">
            <a:hlinkClick r:id="rId6" action="ppaction://hlinksldjump"/>
            <a:extLst>
              <a:ext uri="{FF2B5EF4-FFF2-40B4-BE49-F238E27FC236}">
                <a16:creationId xmlns:a16="http://schemas.microsoft.com/office/drawing/2014/main" id="{3A0446FE-D54F-96B6-A18B-EAD4B0199895}"/>
              </a:ext>
            </a:extLst>
          </p:cNvPr>
          <p:cNvSpPr txBox="1"/>
          <p:nvPr userDrawn="1"/>
        </p:nvSpPr>
        <p:spPr>
          <a:xfrm>
            <a:off x="5775302" y="568669"/>
            <a:ext cx="689612"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Task 1</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5590312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srcRect t="18238" b="11278"/>
          <a:stretch/>
        </p:blipFill>
        <p:spPr>
          <a:xfrm>
            <a:off x="0" y="1083684"/>
            <a:ext cx="9144000" cy="5009501"/>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53" y="4674663"/>
            <a:ext cx="7600863" cy="2050592"/>
          </a:xfrm>
          <a:prstGeom prst="rect">
            <a:avLst/>
          </a:prstGeom>
        </p:spPr>
      </p:pic>
      <p:grpSp>
        <p:nvGrpSpPr>
          <p:cNvPr id="6" name="组合 5">
            <a:extLst>
              <a:ext uri="{FF2B5EF4-FFF2-40B4-BE49-F238E27FC236}">
                <a16:creationId xmlns:a16="http://schemas.microsoft.com/office/drawing/2014/main" id="{364A01A3-915E-A9B5-447C-5A6D06BE917C}"/>
              </a:ext>
            </a:extLst>
          </p:cNvPr>
          <p:cNvGrpSpPr/>
          <p:nvPr userDrawn="1"/>
        </p:nvGrpSpPr>
        <p:grpSpPr>
          <a:xfrm>
            <a:off x="0" y="6715148"/>
            <a:ext cx="9144000" cy="142876"/>
            <a:chOff x="0" y="6715148"/>
            <a:chExt cx="9144000" cy="142876"/>
          </a:xfrm>
        </p:grpSpPr>
        <p:sp>
          <p:nvSpPr>
            <p:cNvPr id="7" name="单圆角矩形 11">
              <a:extLst>
                <a:ext uri="{FF2B5EF4-FFF2-40B4-BE49-F238E27FC236}">
                  <a16:creationId xmlns:a16="http://schemas.microsoft.com/office/drawing/2014/main" id="{72A20CC1-236C-224B-9A63-A6A4A46098ED}"/>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9" name="单圆角矩形 12">
              <a:extLst>
                <a:ext uri="{FF2B5EF4-FFF2-40B4-BE49-F238E27FC236}">
                  <a16:creationId xmlns:a16="http://schemas.microsoft.com/office/drawing/2014/main" id="{44ED9C89-A90A-1A93-3C9D-E859DAAB7D9D}"/>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剪去单角的矩形 13">
            <a:extLst>
              <a:ext uri="{FF2B5EF4-FFF2-40B4-BE49-F238E27FC236}">
                <a16:creationId xmlns:a16="http://schemas.microsoft.com/office/drawing/2014/main" id="{5EE6388F-B69D-75A8-295A-CA2190D7197F}"/>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同侧圆角矩形 21">
            <a:extLst>
              <a:ext uri="{FF2B5EF4-FFF2-40B4-BE49-F238E27FC236}">
                <a16:creationId xmlns:a16="http://schemas.microsoft.com/office/drawing/2014/main" id="{F9D755A0-AED2-5AF4-F04B-7258C135E471}"/>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单圆角矩形 46">
            <a:extLst>
              <a:ext uri="{FF2B5EF4-FFF2-40B4-BE49-F238E27FC236}">
                <a16:creationId xmlns:a16="http://schemas.microsoft.com/office/drawing/2014/main" id="{D2563E53-433B-5684-B3D6-78DE295E8D2A}"/>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Picture 2" descr="C:\Users\senj\Desktop\主目录.png">
            <a:hlinkClick r:id="rId4" action="ppaction://hlinksldjump"/>
            <a:extLst>
              <a:ext uri="{FF2B5EF4-FFF2-40B4-BE49-F238E27FC236}">
                <a16:creationId xmlns:a16="http://schemas.microsoft.com/office/drawing/2014/main" id="{4BCBCAB7-B706-191B-4AD7-AF647FE08AAE}"/>
              </a:ext>
            </a:extLst>
          </p:cNvPr>
          <p:cNvPicPr>
            <a:picLocks noChangeAspect="1" noChangeArrowheads="1"/>
          </p:cNvPicPr>
          <p:nvPr userDrawn="1"/>
        </p:nvPicPr>
        <p:blipFill>
          <a:blip r:embed="rId5" cstate="print"/>
          <a:srcRect/>
          <a:stretch>
            <a:fillRect/>
          </a:stretch>
        </p:blipFill>
        <p:spPr bwMode="auto">
          <a:xfrm>
            <a:off x="84901" y="113271"/>
            <a:ext cx="401638" cy="323850"/>
          </a:xfrm>
          <a:prstGeom prst="rect">
            <a:avLst/>
          </a:prstGeom>
          <a:noFill/>
          <a:ln w="9525">
            <a:noFill/>
            <a:miter lim="800000"/>
            <a:headEnd/>
            <a:tailEnd/>
          </a:ln>
        </p:spPr>
      </p:pic>
      <p:sp>
        <p:nvSpPr>
          <p:cNvPr id="26" name="TextBox 46">
            <a:extLst>
              <a:ext uri="{FF2B5EF4-FFF2-40B4-BE49-F238E27FC236}">
                <a16:creationId xmlns:a16="http://schemas.microsoft.com/office/drawing/2014/main" id="{4FF0DC8F-E74F-79B1-A823-26341905C180}"/>
              </a:ext>
            </a:extLst>
          </p:cNvPr>
          <p:cNvSpPr txBox="1">
            <a:spLocks noChangeArrowheads="1"/>
          </p:cNvSpPr>
          <p:nvPr userDrawn="1"/>
        </p:nvSpPr>
        <p:spPr bwMode="auto">
          <a:xfrm>
            <a:off x="648852" y="60766"/>
            <a:ext cx="233903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Focus</a:t>
            </a:r>
            <a:endParaRPr lang="zh-CN" altLang="zh-CN" sz="2400" b="0" kern="1200" dirty="0">
              <a:solidFill>
                <a:schemeClr val="bg1"/>
              </a:solidFill>
              <a:effectLst/>
              <a:latin typeface="Calibri" pitchFamily="34" charset="0"/>
              <a:ea typeface="宋体" pitchFamily="2" charset="-122"/>
              <a:cs typeface="+mn-cs"/>
            </a:endParaRPr>
          </a:p>
        </p:txBody>
      </p:sp>
      <p:sp>
        <p:nvSpPr>
          <p:cNvPr id="27" name="矩形: 圆顶角 26">
            <a:extLst>
              <a:ext uri="{FF2B5EF4-FFF2-40B4-BE49-F238E27FC236}">
                <a16:creationId xmlns:a16="http://schemas.microsoft.com/office/drawing/2014/main" id="{AF019AE4-801F-C5A2-3352-3F338A4DC99E}"/>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矩形: 圆顶角 27">
            <a:extLst>
              <a:ext uri="{FF2B5EF4-FFF2-40B4-BE49-F238E27FC236}">
                <a16:creationId xmlns:a16="http://schemas.microsoft.com/office/drawing/2014/main" id="{46BEC284-8A40-0B4C-9550-C15D2A4D302A}"/>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矩形: 圆顶角 28">
            <a:extLst>
              <a:ext uri="{FF2B5EF4-FFF2-40B4-BE49-F238E27FC236}">
                <a16:creationId xmlns:a16="http://schemas.microsoft.com/office/drawing/2014/main" id="{5FDD2E1A-2F58-AA87-3B8E-3D2FBC6C2612}"/>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文本框 2">
            <a:hlinkClick r:id="rId6" action="ppaction://hlinksldjump"/>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13" name="文本框 12">
            <a:hlinkClick r:id="rId7" action="ppaction://hlinksldjump"/>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14" name="文本框 13">
            <a:hlinkClick r:id="rId8" action="ppaction://hlinksldjump"/>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32" name="矩形: 圆顶角 31">
            <a:extLst>
              <a:ext uri="{FF2B5EF4-FFF2-40B4-BE49-F238E27FC236}">
                <a16:creationId xmlns:a16="http://schemas.microsoft.com/office/drawing/2014/main" id="{CB60458A-072C-1C1B-4A60-7D342902ADD3}"/>
              </a:ext>
            </a:extLst>
          </p:cNvPr>
          <p:cNvSpPr/>
          <p:nvPr userDrawn="1"/>
        </p:nvSpPr>
        <p:spPr>
          <a:xfrm>
            <a:off x="1584346"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文本框 1">
            <a:hlinkClick r:id="rId9" action="ppaction://hlinksldjump"/>
          </p:cNvPr>
          <p:cNvSpPr txBox="1"/>
          <p:nvPr userDrawn="1"/>
        </p:nvSpPr>
        <p:spPr>
          <a:xfrm>
            <a:off x="1636305" y="568669"/>
            <a:ext cx="688137"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A</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6562639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85CE17DF-1FF9-1ECF-05EC-B5032769903F}"/>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9CF7EB4A-3F5B-C958-A628-DC0D3DE22FF7}"/>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CD4A7C44-2457-EDB4-D950-510F6C08F9A8}"/>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C98B2189-7E2F-35EA-4004-417C7AAADE9B}"/>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90C05F19-6F30-AAE4-1B59-8363E0044445}"/>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5E8F8BB9-06D0-10F3-0AC0-6619580FF771}"/>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C:\Users\senj\Desktop\主目录.png">
            <a:hlinkClick r:id="rId2" action="ppaction://hlinksldjump"/>
            <a:extLst>
              <a:ext uri="{FF2B5EF4-FFF2-40B4-BE49-F238E27FC236}">
                <a16:creationId xmlns:a16="http://schemas.microsoft.com/office/drawing/2014/main" id="{4B07CF57-5E48-82B0-DCA7-09395872F74C}"/>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2" name="TextBox 46">
            <a:extLst>
              <a:ext uri="{FF2B5EF4-FFF2-40B4-BE49-F238E27FC236}">
                <a16:creationId xmlns:a16="http://schemas.microsoft.com/office/drawing/2014/main" id="{51D91BD9-3595-5B8E-632D-268D761F3295}"/>
              </a:ext>
            </a:extLst>
          </p:cNvPr>
          <p:cNvSpPr txBox="1">
            <a:spLocks noChangeArrowheads="1"/>
          </p:cNvSpPr>
          <p:nvPr userDrawn="1"/>
        </p:nvSpPr>
        <p:spPr bwMode="auto">
          <a:xfrm>
            <a:off x="648852" y="60766"/>
            <a:ext cx="233903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Focus</a:t>
            </a:r>
            <a:endParaRPr lang="zh-CN" altLang="zh-CN" sz="2400" b="0" kern="1200" dirty="0">
              <a:solidFill>
                <a:schemeClr val="bg1"/>
              </a:solidFill>
              <a:effectLst/>
              <a:latin typeface="Calibri" pitchFamily="34" charset="0"/>
              <a:ea typeface="宋体" pitchFamily="2" charset="-122"/>
              <a:cs typeface="+mn-cs"/>
            </a:endParaRPr>
          </a:p>
        </p:txBody>
      </p:sp>
      <p:sp>
        <p:nvSpPr>
          <p:cNvPr id="15" name="矩形: 圆顶角 14">
            <a:extLst>
              <a:ext uri="{FF2B5EF4-FFF2-40B4-BE49-F238E27FC236}">
                <a16:creationId xmlns:a16="http://schemas.microsoft.com/office/drawing/2014/main" id="{1C115D1F-B3C6-B037-D85E-7E3E528271DC}"/>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圆顶角 15">
            <a:extLst>
              <a:ext uri="{FF2B5EF4-FFF2-40B4-BE49-F238E27FC236}">
                <a16:creationId xmlns:a16="http://schemas.microsoft.com/office/drawing/2014/main" id="{F66B4E74-620C-250C-4723-43735965A019}"/>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圆顶角 19">
            <a:extLst>
              <a:ext uri="{FF2B5EF4-FFF2-40B4-BE49-F238E27FC236}">
                <a16:creationId xmlns:a16="http://schemas.microsoft.com/office/drawing/2014/main" id="{7F5C2E7D-E6FC-67CA-2615-FBE2E973B94B}"/>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hlinkClick r:id="rId4" action="ppaction://hlinksldjump"/>
            <a:extLst>
              <a:ext uri="{FF2B5EF4-FFF2-40B4-BE49-F238E27FC236}">
                <a16:creationId xmlns:a16="http://schemas.microsoft.com/office/drawing/2014/main" id="{36E9D8E8-D702-B0AD-E62B-DA1528E862EF}"/>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4" name="文本框 23">
            <a:hlinkClick r:id="rId5" action="ppaction://hlinksldjump"/>
            <a:extLst>
              <a:ext uri="{FF2B5EF4-FFF2-40B4-BE49-F238E27FC236}">
                <a16:creationId xmlns:a16="http://schemas.microsoft.com/office/drawing/2014/main" id="{0CBF7DE4-D227-7D5F-9133-3EABB8964D3C}"/>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5" name="文本框 24">
            <a:hlinkClick r:id="rId6" action="ppaction://hlinksldjump"/>
            <a:extLst>
              <a:ext uri="{FF2B5EF4-FFF2-40B4-BE49-F238E27FC236}">
                <a16:creationId xmlns:a16="http://schemas.microsoft.com/office/drawing/2014/main" id="{19385E82-7336-CFEB-62AE-0EDEAD0847C8}"/>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6" name="矩形: 圆顶角 25">
            <a:extLst>
              <a:ext uri="{FF2B5EF4-FFF2-40B4-BE49-F238E27FC236}">
                <a16:creationId xmlns:a16="http://schemas.microsoft.com/office/drawing/2014/main" id="{4F3A4E93-7400-C585-80E9-FB8681CD8F8D}"/>
              </a:ext>
            </a:extLst>
          </p:cNvPr>
          <p:cNvSpPr/>
          <p:nvPr userDrawn="1"/>
        </p:nvSpPr>
        <p:spPr>
          <a:xfrm>
            <a:off x="1584346"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hlinkClick r:id="rId7" action="ppaction://hlinksldjump"/>
            <a:extLst>
              <a:ext uri="{FF2B5EF4-FFF2-40B4-BE49-F238E27FC236}">
                <a16:creationId xmlns:a16="http://schemas.microsoft.com/office/drawing/2014/main" id="{0FC18DE1-0F39-D753-FF22-4AFBB3863844}"/>
              </a:ext>
            </a:extLst>
          </p:cNvPr>
          <p:cNvSpPr txBox="1"/>
          <p:nvPr userDrawn="1"/>
        </p:nvSpPr>
        <p:spPr>
          <a:xfrm>
            <a:off x="1636305" y="568669"/>
            <a:ext cx="688137"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A</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7299437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D6C262E-2CE8-D301-4A78-4BC955A62D04}"/>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7D4739D0-D711-6CC9-316D-9B07E6E1B3F8}"/>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7F2255EE-B457-C265-401D-5270CDDD6430}"/>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541761F8-F4F1-4755-13D1-BF39160CF6D7}"/>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CD03D25C-3322-A2A8-F427-DCA92DAD194D}"/>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1C314644-4AFE-0648-A443-282E394306C4}"/>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C:\Users\senj\Desktop\主目录.png">
            <a:hlinkClick r:id="rId2" action="ppaction://hlinksldjump"/>
            <a:extLst>
              <a:ext uri="{FF2B5EF4-FFF2-40B4-BE49-F238E27FC236}">
                <a16:creationId xmlns:a16="http://schemas.microsoft.com/office/drawing/2014/main" id="{984FF165-6086-47EF-30A0-5D66B13976EB}"/>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2" name="TextBox 46">
            <a:extLst>
              <a:ext uri="{FF2B5EF4-FFF2-40B4-BE49-F238E27FC236}">
                <a16:creationId xmlns:a16="http://schemas.microsoft.com/office/drawing/2014/main" id="{BC85AD23-B6DD-DADB-43B1-B077FD7BB033}"/>
              </a:ext>
            </a:extLst>
          </p:cNvPr>
          <p:cNvSpPr txBox="1">
            <a:spLocks noChangeArrowheads="1"/>
          </p:cNvSpPr>
          <p:nvPr userDrawn="1"/>
        </p:nvSpPr>
        <p:spPr bwMode="auto">
          <a:xfrm>
            <a:off x="648852" y="60766"/>
            <a:ext cx="233903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Focus</a:t>
            </a:r>
            <a:endParaRPr lang="zh-CN" altLang="zh-CN" sz="2400" b="0" kern="1200" dirty="0">
              <a:solidFill>
                <a:schemeClr val="bg1"/>
              </a:solidFill>
              <a:effectLst/>
              <a:latin typeface="Calibri" pitchFamily="34" charset="0"/>
              <a:ea typeface="宋体" pitchFamily="2" charset="-122"/>
              <a:cs typeface="+mn-cs"/>
            </a:endParaRPr>
          </a:p>
        </p:txBody>
      </p:sp>
      <p:sp>
        <p:nvSpPr>
          <p:cNvPr id="15" name="矩形: 圆顶角 14">
            <a:extLst>
              <a:ext uri="{FF2B5EF4-FFF2-40B4-BE49-F238E27FC236}">
                <a16:creationId xmlns:a16="http://schemas.microsoft.com/office/drawing/2014/main" id="{6E63ACB8-7EDC-4F7A-F946-1D19D7D162CE}"/>
              </a:ext>
            </a:extLst>
          </p:cNvPr>
          <p:cNvSpPr/>
          <p:nvPr userDrawn="1"/>
        </p:nvSpPr>
        <p:spPr>
          <a:xfrm>
            <a:off x="2484408" y="507275"/>
            <a:ext cx="2327282"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圆顶角 15">
            <a:extLst>
              <a:ext uri="{FF2B5EF4-FFF2-40B4-BE49-F238E27FC236}">
                <a16:creationId xmlns:a16="http://schemas.microsoft.com/office/drawing/2014/main" id="{6771D899-43D6-54FF-B77C-AE6177D04B6F}"/>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圆顶角 19">
            <a:extLst>
              <a:ext uri="{FF2B5EF4-FFF2-40B4-BE49-F238E27FC236}">
                <a16:creationId xmlns:a16="http://schemas.microsoft.com/office/drawing/2014/main" id="{45CD5236-906A-E833-306C-D4C0886C9C34}"/>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hlinkClick r:id="rId4" action="ppaction://hlinksldjump"/>
            <a:extLst>
              <a:ext uri="{FF2B5EF4-FFF2-40B4-BE49-F238E27FC236}">
                <a16:creationId xmlns:a16="http://schemas.microsoft.com/office/drawing/2014/main" id="{76C15CBE-4295-4DAF-F2F6-A15B7C3F0092}"/>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4" name="文本框 23">
            <a:hlinkClick r:id="rId5" action="ppaction://hlinksldjump"/>
            <a:extLst>
              <a:ext uri="{FF2B5EF4-FFF2-40B4-BE49-F238E27FC236}">
                <a16:creationId xmlns:a16="http://schemas.microsoft.com/office/drawing/2014/main" id="{FCB18C07-0306-FE69-2909-DAA7C948BE4D}"/>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5" name="文本框 24">
            <a:hlinkClick r:id="rId6" action="ppaction://hlinksldjump"/>
            <a:extLst>
              <a:ext uri="{FF2B5EF4-FFF2-40B4-BE49-F238E27FC236}">
                <a16:creationId xmlns:a16="http://schemas.microsoft.com/office/drawing/2014/main" id="{6DAF727E-F0CE-4AFF-E6BF-84D86EF9AA88}"/>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6" name="矩形: 圆顶角 25">
            <a:extLst>
              <a:ext uri="{FF2B5EF4-FFF2-40B4-BE49-F238E27FC236}">
                <a16:creationId xmlns:a16="http://schemas.microsoft.com/office/drawing/2014/main" id="{5B24FB09-F403-ADAB-3482-1495390E1AAF}"/>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hlinkClick r:id="rId7" action="ppaction://hlinksldjump"/>
            <a:extLst>
              <a:ext uri="{FF2B5EF4-FFF2-40B4-BE49-F238E27FC236}">
                <a16:creationId xmlns:a16="http://schemas.microsoft.com/office/drawing/2014/main" id="{5BD42B9D-0ADC-ADAD-D3BE-9FE85A53CFA9}"/>
              </a:ext>
            </a:extLst>
          </p:cNvPr>
          <p:cNvSpPr txBox="1"/>
          <p:nvPr userDrawn="1"/>
        </p:nvSpPr>
        <p:spPr>
          <a:xfrm>
            <a:off x="1636305" y="568669"/>
            <a:ext cx="688137"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A</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56311662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99392466-7616-3E9A-7DB7-DC666C5E3BDE}"/>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78332CE4-18FD-271F-2E50-CBC1B73C6410}"/>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5E8BF565-5711-0E07-C94F-A673D7C752DD}"/>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B5A81031-67B1-B4C4-3260-44F7F3B9665C}"/>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F3C4387D-9617-6311-BB62-F741F41C724F}"/>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D9B564E3-D2B2-71B1-3A03-2E32F1F06A4A}"/>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C:\Users\senj\Desktop\主目录.png">
            <a:hlinkClick r:id="rId2" action="ppaction://hlinksldjump"/>
            <a:extLst>
              <a:ext uri="{FF2B5EF4-FFF2-40B4-BE49-F238E27FC236}">
                <a16:creationId xmlns:a16="http://schemas.microsoft.com/office/drawing/2014/main" id="{FCDE3F55-CAF3-9409-1D6D-81D593BFEDF9}"/>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2" name="TextBox 46">
            <a:extLst>
              <a:ext uri="{FF2B5EF4-FFF2-40B4-BE49-F238E27FC236}">
                <a16:creationId xmlns:a16="http://schemas.microsoft.com/office/drawing/2014/main" id="{DFE2D68A-3483-B7DE-771D-3BACF3E427AD}"/>
              </a:ext>
            </a:extLst>
          </p:cNvPr>
          <p:cNvSpPr txBox="1">
            <a:spLocks noChangeArrowheads="1"/>
          </p:cNvSpPr>
          <p:nvPr userDrawn="1"/>
        </p:nvSpPr>
        <p:spPr bwMode="auto">
          <a:xfrm>
            <a:off x="648852" y="60766"/>
            <a:ext cx="233903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Focus</a:t>
            </a:r>
            <a:endParaRPr lang="zh-CN" altLang="zh-CN" sz="2400" b="0" kern="1200" dirty="0">
              <a:solidFill>
                <a:schemeClr val="bg1"/>
              </a:solidFill>
              <a:effectLst/>
              <a:latin typeface="Calibri" pitchFamily="34" charset="0"/>
              <a:ea typeface="宋体" pitchFamily="2" charset="-122"/>
              <a:cs typeface="+mn-cs"/>
            </a:endParaRPr>
          </a:p>
        </p:txBody>
      </p:sp>
      <p:sp>
        <p:nvSpPr>
          <p:cNvPr id="15" name="矩形: 圆顶角 14">
            <a:extLst>
              <a:ext uri="{FF2B5EF4-FFF2-40B4-BE49-F238E27FC236}">
                <a16:creationId xmlns:a16="http://schemas.microsoft.com/office/drawing/2014/main" id="{D67EDB92-59E1-8090-19EB-5B195206C4D1}"/>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圆顶角 15">
            <a:extLst>
              <a:ext uri="{FF2B5EF4-FFF2-40B4-BE49-F238E27FC236}">
                <a16:creationId xmlns:a16="http://schemas.microsoft.com/office/drawing/2014/main" id="{8FACD0A9-173C-D337-8B38-3C9C54F2B012}"/>
              </a:ext>
            </a:extLst>
          </p:cNvPr>
          <p:cNvSpPr/>
          <p:nvPr userDrawn="1"/>
        </p:nvSpPr>
        <p:spPr>
          <a:xfrm>
            <a:off x="4925683" y="507275"/>
            <a:ext cx="2281508"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圆顶角 19">
            <a:extLst>
              <a:ext uri="{FF2B5EF4-FFF2-40B4-BE49-F238E27FC236}">
                <a16:creationId xmlns:a16="http://schemas.microsoft.com/office/drawing/2014/main" id="{F8B1E0BE-56AD-289D-0597-7CF2BDFC32CE}"/>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hlinkClick r:id="rId4" action="ppaction://hlinksldjump"/>
            <a:extLst>
              <a:ext uri="{FF2B5EF4-FFF2-40B4-BE49-F238E27FC236}">
                <a16:creationId xmlns:a16="http://schemas.microsoft.com/office/drawing/2014/main" id="{3259B923-B43D-23FE-1D5C-35D513A5C3EC}"/>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4" name="文本框 23">
            <a:hlinkClick r:id="rId5" action="ppaction://hlinksldjump"/>
            <a:extLst>
              <a:ext uri="{FF2B5EF4-FFF2-40B4-BE49-F238E27FC236}">
                <a16:creationId xmlns:a16="http://schemas.microsoft.com/office/drawing/2014/main" id="{973FDD2D-7F97-9E68-549E-51A53F8F1F18}"/>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5" name="文本框 24">
            <a:hlinkClick r:id="rId6" action="ppaction://hlinksldjump"/>
            <a:extLst>
              <a:ext uri="{FF2B5EF4-FFF2-40B4-BE49-F238E27FC236}">
                <a16:creationId xmlns:a16="http://schemas.microsoft.com/office/drawing/2014/main" id="{A8D73539-3AC6-69FB-F2EE-40D2680B1B75}"/>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6" name="矩形: 圆顶角 25">
            <a:extLst>
              <a:ext uri="{FF2B5EF4-FFF2-40B4-BE49-F238E27FC236}">
                <a16:creationId xmlns:a16="http://schemas.microsoft.com/office/drawing/2014/main" id="{CB6996A2-16FC-FB1D-7D63-4D85D252FE03}"/>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hlinkClick r:id="rId7" action="ppaction://hlinksldjump"/>
            <a:extLst>
              <a:ext uri="{FF2B5EF4-FFF2-40B4-BE49-F238E27FC236}">
                <a16:creationId xmlns:a16="http://schemas.microsoft.com/office/drawing/2014/main" id="{A8191979-2C70-C61F-3F9E-1E4B9E0F0865}"/>
              </a:ext>
            </a:extLst>
          </p:cNvPr>
          <p:cNvSpPr txBox="1"/>
          <p:nvPr userDrawn="1"/>
        </p:nvSpPr>
        <p:spPr>
          <a:xfrm>
            <a:off x="1636305" y="568669"/>
            <a:ext cx="688137"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A</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44214758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94493DC7-9F23-8CDF-C736-28DDB86CC506}"/>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D90EB9AE-0544-D797-8173-EADC0D2BBC24}"/>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9EAA06BA-C97F-26FB-C8CA-794FC643897B}"/>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26018DB0-7353-F111-B5F0-8EDE5D6C4FBC}"/>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036266BA-49EF-72C9-277A-8A716B7F36A2}"/>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893D32B8-EF9F-AD45-2C8E-F28DB5D74855}"/>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Picture 2" descr="C:\Users\senj\Desktop\主目录.png">
            <a:hlinkClick r:id="rId2" action="ppaction://hlinksldjump"/>
            <a:extLst>
              <a:ext uri="{FF2B5EF4-FFF2-40B4-BE49-F238E27FC236}">
                <a16:creationId xmlns:a16="http://schemas.microsoft.com/office/drawing/2014/main" id="{C188412F-2463-0CD4-A59E-1375D5161026}"/>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2" name="TextBox 46">
            <a:extLst>
              <a:ext uri="{FF2B5EF4-FFF2-40B4-BE49-F238E27FC236}">
                <a16:creationId xmlns:a16="http://schemas.microsoft.com/office/drawing/2014/main" id="{8E46EDDC-3AD2-351D-4294-218397162CBC}"/>
              </a:ext>
            </a:extLst>
          </p:cNvPr>
          <p:cNvSpPr txBox="1">
            <a:spLocks noChangeArrowheads="1"/>
          </p:cNvSpPr>
          <p:nvPr userDrawn="1"/>
        </p:nvSpPr>
        <p:spPr bwMode="auto">
          <a:xfrm>
            <a:off x="648852" y="60766"/>
            <a:ext cx="233903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Focus</a:t>
            </a:r>
            <a:endParaRPr lang="zh-CN" altLang="zh-CN" sz="2400" b="0" kern="1200" dirty="0">
              <a:solidFill>
                <a:schemeClr val="bg1"/>
              </a:solidFill>
              <a:effectLst/>
              <a:latin typeface="Calibri" pitchFamily="34" charset="0"/>
              <a:ea typeface="宋体" pitchFamily="2" charset="-122"/>
              <a:cs typeface="+mn-cs"/>
            </a:endParaRPr>
          </a:p>
        </p:txBody>
      </p:sp>
      <p:sp>
        <p:nvSpPr>
          <p:cNvPr id="15" name="矩形: 圆顶角 14">
            <a:extLst>
              <a:ext uri="{FF2B5EF4-FFF2-40B4-BE49-F238E27FC236}">
                <a16:creationId xmlns:a16="http://schemas.microsoft.com/office/drawing/2014/main" id="{7DF10E0C-4DB3-5DBC-09A2-AA883EB34888}"/>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矩形: 圆顶角 15">
            <a:extLst>
              <a:ext uri="{FF2B5EF4-FFF2-40B4-BE49-F238E27FC236}">
                <a16:creationId xmlns:a16="http://schemas.microsoft.com/office/drawing/2014/main" id="{08B69825-C846-1213-8F38-0B83EE5774E9}"/>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矩形: 圆顶角 19">
            <a:extLst>
              <a:ext uri="{FF2B5EF4-FFF2-40B4-BE49-F238E27FC236}">
                <a16:creationId xmlns:a16="http://schemas.microsoft.com/office/drawing/2014/main" id="{F04C0695-B91A-DF3D-696D-907FD5DE4AA3}"/>
              </a:ext>
            </a:extLst>
          </p:cNvPr>
          <p:cNvSpPr/>
          <p:nvPr userDrawn="1"/>
        </p:nvSpPr>
        <p:spPr>
          <a:xfrm>
            <a:off x="7315199" y="507275"/>
            <a:ext cx="1649105"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hlinkClick r:id="rId4" action="ppaction://hlinksldjump"/>
            <a:extLst>
              <a:ext uri="{FF2B5EF4-FFF2-40B4-BE49-F238E27FC236}">
                <a16:creationId xmlns:a16="http://schemas.microsoft.com/office/drawing/2014/main" id="{50DBC5CC-A96C-459D-06DC-4CFD77874F19}"/>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4" name="文本框 23">
            <a:hlinkClick r:id="rId5" action="ppaction://hlinksldjump"/>
            <a:extLst>
              <a:ext uri="{FF2B5EF4-FFF2-40B4-BE49-F238E27FC236}">
                <a16:creationId xmlns:a16="http://schemas.microsoft.com/office/drawing/2014/main" id="{274359E7-7A3A-CA72-1281-253FC1F66278}"/>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5" name="文本框 24">
            <a:hlinkClick r:id="rId6" action="ppaction://hlinksldjump"/>
            <a:extLst>
              <a:ext uri="{FF2B5EF4-FFF2-40B4-BE49-F238E27FC236}">
                <a16:creationId xmlns:a16="http://schemas.microsoft.com/office/drawing/2014/main" id="{4DE870AB-8194-A698-4BB2-6F61AAEA3D99}"/>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6" name="矩形: 圆顶角 25">
            <a:extLst>
              <a:ext uri="{FF2B5EF4-FFF2-40B4-BE49-F238E27FC236}">
                <a16:creationId xmlns:a16="http://schemas.microsoft.com/office/drawing/2014/main" id="{47246755-9611-FF0B-2355-9F0707363CFD}"/>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hlinkClick r:id="rId7" action="ppaction://hlinksldjump"/>
            <a:extLst>
              <a:ext uri="{FF2B5EF4-FFF2-40B4-BE49-F238E27FC236}">
                <a16:creationId xmlns:a16="http://schemas.microsoft.com/office/drawing/2014/main" id="{E5F365A0-6C82-2E52-E6B4-C625AB601A18}"/>
              </a:ext>
            </a:extLst>
          </p:cNvPr>
          <p:cNvSpPr txBox="1"/>
          <p:nvPr userDrawn="1"/>
        </p:nvSpPr>
        <p:spPr>
          <a:xfrm>
            <a:off x="1636305" y="568669"/>
            <a:ext cx="688137"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A</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7415270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9_1">
    <p:spTree>
      <p:nvGrpSpPr>
        <p:cNvPr id="1" name=""/>
        <p:cNvGrpSpPr/>
        <p:nvPr/>
      </p:nvGrpSpPr>
      <p:grpSpPr>
        <a:xfrm>
          <a:off x="0" y="0"/>
          <a:ext cx="0" cy="0"/>
          <a:chOff x="0" y="0"/>
          <a:chExt cx="0" cy="0"/>
        </a:xfrm>
      </p:grpSpPr>
      <p:pic>
        <p:nvPicPr>
          <p:cNvPr id="25" name="图片 24"/>
          <p:cNvPicPr>
            <a:picLocks noChangeAspect="1"/>
          </p:cNvPicPr>
          <p:nvPr userDrawn="1"/>
        </p:nvPicPr>
        <p:blipFill rotWithShape="1">
          <a:blip r:embed="rId2">
            <a:extLst>
              <a:ext uri="{28A0092B-C50C-407E-A947-70E740481C1C}">
                <a14:useLocalDpi xmlns:a14="http://schemas.microsoft.com/office/drawing/2010/main" val="0"/>
              </a:ext>
            </a:extLst>
          </a:blip>
          <a:srcRect t="11940" b="738"/>
          <a:stretch/>
        </p:blipFill>
        <p:spPr>
          <a:xfrm>
            <a:off x="0" y="1083684"/>
            <a:ext cx="9144000" cy="5040350"/>
          </a:xfrm>
          <a:prstGeom prst="rect">
            <a:avLst/>
          </a:prstGeom>
        </p:spPr>
      </p:pic>
      <p:pic>
        <p:nvPicPr>
          <p:cNvPr id="20" name="图片 19"/>
          <p:cNvPicPr>
            <a:picLocks noChangeAspect="1"/>
          </p:cNvPicPr>
          <p:nvPr userDrawn="1"/>
        </p:nvPicPr>
        <p:blipFill rotWithShape="1">
          <a:blip r:embed="rId3">
            <a:extLst>
              <a:ext uri="{28A0092B-C50C-407E-A947-70E740481C1C}">
                <a14:useLocalDpi xmlns:a14="http://schemas.microsoft.com/office/drawing/2010/main" val="0"/>
              </a:ext>
            </a:extLst>
          </a:blip>
          <a:srcRect t="16505"/>
          <a:stretch/>
        </p:blipFill>
        <p:spPr>
          <a:xfrm>
            <a:off x="-4653" y="5013109"/>
            <a:ext cx="7600863" cy="1712145"/>
          </a:xfrm>
          <a:prstGeom prst="rect">
            <a:avLst/>
          </a:prstGeom>
        </p:spPr>
      </p:pic>
      <p:grpSp>
        <p:nvGrpSpPr>
          <p:cNvPr id="5" name="组合 4">
            <a:extLst>
              <a:ext uri="{FF2B5EF4-FFF2-40B4-BE49-F238E27FC236}">
                <a16:creationId xmlns:a16="http://schemas.microsoft.com/office/drawing/2014/main" id="{8AC76CE1-A847-C043-65AA-F9D09BA7D182}"/>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88E96252-DA32-A528-6C1F-C17FEEF2053E}"/>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99267A3D-D6D6-A33A-C954-47383FA0BC91}"/>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C785ED6B-EE4A-A5EC-F93E-C5D33CB94DF4}"/>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49DFE148-CF1C-39E9-2D0B-A586820AE044}"/>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40FA60DA-5C32-F6A2-7AEF-E100B3FBA353}"/>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F28F0B2A-588C-34C2-0D32-8445D15614C8}"/>
              </a:ext>
            </a:extLst>
          </p:cNvPr>
          <p:cNvSpPr txBox="1">
            <a:spLocks noChangeArrowheads="1"/>
          </p:cNvSpPr>
          <p:nvPr userDrawn="1"/>
        </p:nvSpPr>
        <p:spPr bwMode="auto">
          <a:xfrm>
            <a:off x="648852" y="60766"/>
            <a:ext cx="233903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Focus</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4" action="ppaction://hlinksldjump"/>
            <a:extLst>
              <a:ext uri="{FF2B5EF4-FFF2-40B4-BE49-F238E27FC236}">
                <a16:creationId xmlns:a16="http://schemas.microsoft.com/office/drawing/2014/main" id="{0B53ED12-EF06-E69D-20B0-91A1C9DB9130}"/>
              </a:ext>
            </a:extLst>
          </p:cNvPr>
          <p:cNvPicPr>
            <a:picLocks noChangeAspect="1" noChangeArrowheads="1"/>
          </p:cNvPicPr>
          <p:nvPr userDrawn="1"/>
        </p:nvPicPr>
        <p:blipFill>
          <a:blip r:embed="rId5"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E4B0783F-4299-3B04-633D-6D08C32FBCE1}"/>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F1CD7A59-FE39-39A5-427A-0643465216D9}"/>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B3A4E55D-285C-FFBA-D667-12B1D05459D1}"/>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文本框 25">
            <a:hlinkClick r:id="rId6" action="ppaction://hlinksldjump"/>
            <a:extLst>
              <a:ext uri="{FF2B5EF4-FFF2-40B4-BE49-F238E27FC236}">
                <a16:creationId xmlns:a16="http://schemas.microsoft.com/office/drawing/2014/main" id="{CC94AFA3-CAF4-CD8E-DCB5-DDC144945202}"/>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7" name="文本框 26">
            <a:hlinkClick r:id="rId7" action="ppaction://hlinksldjump"/>
            <a:extLst>
              <a:ext uri="{FF2B5EF4-FFF2-40B4-BE49-F238E27FC236}">
                <a16:creationId xmlns:a16="http://schemas.microsoft.com/office/drawing/2014/main" id="{8927322A-0C04-2B14-17E2-40AE0D4C6A37}"/>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8" name="文本框 27">
            <a:hlinkClick r:id="rId8" action="ppaction://hlinksldjump"/>
            <a:extLst>
              <a:ext uri="{FF2B5EF4-FFF2-40B4-BE49-F238E27FC236}">
                <a16:creationId xmlns:a16="http://schemas.microsoft.com/office/drawing/2014/main" id="{E33C8B70-1464-BB2D-5D3B-874CBE7B11A2}"/>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9" name="矩形: 圆顶角 28">
            <a:extLst>
              <a:ext uri="{FF2B5EF4-FFF2-40B4-BE49-F238E27FC236}">
                <a16:creationId xmlns:a16="http://schemas.microsoft.com/office/drawing/2014/main" id="{D4EB9A2B-75F4-8753-7B7F-AD16C5E1975E}"/>
              </a:ext>
            </a:extLst>
          </p:cNvPr>
          <p:cNvSpPr/>
          <p:nvPr userDrawn="1"/>
        </p:nvSpPr>
        <p:spPr>
          <a:xfrm>
            <a:off x="1584346"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文本框 30">
            <a:hlinkClick r:id="rId9" action="ppaction://hlinksldjump"/>
            <a:extLst>
              <a:ext uri="{FF2B5EF4-FFF2-40B4-BE49-F238E27FC236}">
                <a16:creationId xmlns:a16="http://schemas.microsoft.com/office/drawing/2014/main" id="{248A9AEB-85FB-660F-E5A7-0C143B7E64C9}"/>
              </a:ext>
            </a:extLst>
          </p:cNvPr>
          <p:cNvSpPr txBox="1"/>
          <p:nvPr userDrawn="1"/>
        </p:nvSpPr>
        <p:spPr>
          <a:xfrm>
            <a:off x="1639511" y="568669"/>
            <a:ext cx="681725"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B</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1638513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54B2596-6286-E41E-6656-6A314D84488E}"/>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5C7D57A5-E4BE-98FB-0DDC-EB052E1A018B}"/>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77984D1A-C98B-EBCE-3D9B-4C256CDB533C}"/>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5C99ECAD-3396-54C6-624A-59B10BE6D815}"/>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7078AB06-2603-293D-78D7-8D77572EE739}"/>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1C71F3AE-3FBF-C6D5-2C81-B25FAFDA5236}"/>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21BF5DAC-E87A-0825-2F15-35015905F3A0}"/>
              </a:ext>
            </a:extLst>
          </p:cNvPr>
          <p:cNvSpPr txBox="1">
            <a:spLocks noChangeArrowheads="1"/>
          </p:cNvSpPr>
          <p:nvPr userDrawn="1"/>
        </p:nvSpPr>
        <p:spPr bwMode="auto">
          <a:xfrm>
            <a:off x="648852" y="60766"/>
            <a:ext cx="257820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Explore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59D4DB61-4A9C-0636-FD33-A2D5057E5035}"/>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28EBA918-4FF8-EF8C-72A9-E1626D4054E1}"/>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7AD832EC-44B7-D2DA-E2F5-462534A5C10D}"/>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E19518F6-F918-1B8F-8589-2D3439EE7C6C}"/>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BB0047B4-DC7E-D716-A4F9-A57D0E78AED0}"/>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7A12417F-2BA9-9763-86F9-27D1DF7EB68C}"/>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709C7838-C632-EE27-A959-F23E70AB77B5}"/>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C4BED1FE-3EEF-7DC6-C324-10CC4A1F4D79}"/>
              </a:ext>
            </a:extLst>
          </p:cNvPr>
          <p:cNvSpPr/>
          <p:nvPr userDrawn="1"/>
        </p:nvSpPr>
        <p:spPr>
          <a:xfrm>
            <a:off x="1584346"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2887B2A9-218F-0D9F-1DDE-B59EF7C52342}"/>
              </a:ext>
            </a:extLst>
          </p:cNvPr>
          <p:cNvSpPr txBox="1"/>
          <p:nvPr userDrawn="1"/>
        </p:nvSpPr>
        <p:spPr>
          <a:xfrm>
            <a:off x="1639511" y="568669"/>
            <a:ext cx="681725"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B</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685226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1315AEB6-A25F-27BB-0672-8ADEB14FCE67}"/>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32108BB4-AEDB-1C0D-AEFE-6B8DEA4E8AF6}"/>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8CF01924-1BED-F2F6-899A-0930A99067D8}"/>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98E66F53-A5B2-8544-BC0F-88E41DCE8592}"/>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E5F224A8-C34B-9647-2137-142A7CD46D7C}"/>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7264AC12-4B9C-44B3-F644-3F7EF388D831}"/>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98EB7E4B-D906-205E-998F-3C2B2327CBFB}"/>
              </a:ext>
            </a:extLst>
          </p:cNvPr>
          <p:cNvSpPr txBox="1">
            <a:spLocks noChangeArrowheads="1"/>
          </p:cNvSpPr>
          <p:nvPr userDrawn="1"/>
        </p:nvSpPr>
        <p:spPr bwMode="auto">
          <a:xfrm>
            <a:off x="648852" y="60766"/>
            <a:ext cx="257820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Explore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454756D7-B18B-26EA-434F-47E9F6E91EBE}"/>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CA6FC54A-A3EA-7312-1256-1FAF241531F7}"/>
              </a:ext>
            </a:extLst>
          </p:cNvPr>
          <p:cNvSpPr/>
          <p:nvPr userDrawn="1"/>
        </p:nvSpPr>
        <p:spPr>
          <a:xfrm>
            <a:off x="2484408" y="507275"/>
            <a:ext cx="2327282"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5903AF50-F7B1-6EA6-FD2C-CDFF2789EED2}"/>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9E3A1DAD-F96F-AAB1-C352-F8B7CB34ABFD}"/>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CAAEDA07-472C-A73B-C7CF-02B1A7704CE1}"/>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869E84F7-5543-5009-88E0-9AE07EFFE85A}"/>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E0BA8546-82E6-8038-516D-D1CFF556794F}"/>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CD1C2CC4-BE70-6247-98E6-A3F43CED46FD}"/>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C0E9AE6F-91CF-4F7B-8D8B-BEBFB1BCC087}"/>
              </a:ext>
            </a:extLst>
          </p:cNvPr>
          <p:cNvSpPr txBox="1"/>
          <p:nvPr userDrawn="1"/>
        </p:nvSpPr>
        <p:spPr>
          <a:xfrm>
            <a:off x="1639511" y="568669"/>
            <a:ext cx="681725"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B</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087320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6E202FD9-1E54-F445-FA2D-8D98108234CA}"/>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6B58BB71-DB8E-2030-C2C6-92710B16EB76}"/>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326C757F-0FAD-6CF6-A0CA-EDDC4EAC7CF7}"/>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1DDC6201-D0F2-BDA3-1996-BEEDB0DBDAB4}"/>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7CD2CBB4-9E84-6A6E-F141-605CA8F64C1C}"/>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1EEF3768-37B8-3E2A-BBA3-DA8E41F38CB4}"/>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6E2C2F32-0555-84CB-4434-DAACD1E28523}"/>
              </a:ext>
            </a:extLst>
          </p:cNvPr>
          <p:cNvSpPr txBox="1">
            <a:spLocks noChangeArrowheads="1"/>
          </p:cNvSpPr>
          <p:nvPr userDrawn="1"/>
        </p:nvSpPr>
        <p:spPr bwMode="auto">
          <a:xfrm>
            <a:off x="648852" y="60766"/>
            <a:ext cx="257820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Explore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0E87D023-970C-A2E3-C566-C6D0EA229204}"/>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1531456A-1861-CD88-2BC3-342A2E78B588}"/>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3C82358A-A394-DE3B-916C-2774BE9D3720}"/>
              </a:ext>
            </a:extLst>
          </p:cNvPr>
          <p:cNvSpPr/>
          <p:nvPr userDrawn="1"/>
        </p:nvSpPr>
        <p:spPr>
          <a:xfrm>
            <a:off x="4925683" y="507275"/>
            <a:ext cx="2281508"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3F2469FA-FDD0-8CF5-FA61-B3C1B7E901E5}"/>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82CE6393-3EBC-F488-3C5B-D956AF9F4E38}"/>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B38F707C-3CC4-A7D0-C388-ADF3AC228EA7}"/>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6EA95E2C-53C9-DBCA-4586-A6FB9632B282}"/>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B01988D7-91F1-C7BB-FB07-1D0D70A8B20C}"/>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8C67BE14-130E-24E6-9F24-A5D606464A6C}"/>
              </a:ext>
            </a:extLst>
          </p:cNvPr>
          <p:cNvSpPr txBox="1"/>
          <p:nvPr userDrawn="1"/>
        </p:nvSpPr>
        <p:spPr>
          <a:xfrm>
            <a:off x="1639511" y="568669"/>
            <a:ext cx="681725"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B</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1981899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74412656-185B-E7D5-40D8-75A8C8D7570B}"/>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600ED94C-EEB8-1A9F-9231-BE63D8A28EE2}"/>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07C74595-99DF-76E7-877A-21D3B704408C}"/>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B5F60E6E-2B2A-4332-C0FE-F583AD591B8F}"/>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2821427A-906F-98AC-FC1F-0A7D79C04C85}"/>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7C5E0B35-4D7D-F2FD-55AB-12D17CB69212}"/>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5D00335E-DAD1-853D-D392-6D9E5BBF2AD5}"/>
              </a:ext>
            </a:extLst>
          </p:cNvPr>
          <p:cNvSpPr txBox="1">
            <a:spLocks noChangeArrowheads="1"/>
          </p:cNvSpPr>
          <p:nvPr userDrawn="1"/>
        </p:nvSpPr>
        <p:spPr bwMode="auto">
          <a:xfrm>
            <a:off x="648852" y="60766"/>
            <a:ext cx="257820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Explore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C27ADD4C-BB08-0690-298A-602F984D6A95}"/>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818E380A-B0D3-E5F5-E1C6-B3533C14445D}"/>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D5863EC2-8B8B-F3F9-C757-248B2411FA46}"/>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8D50D9D5-7571-079D-3576-D0E7C7013AAE}"/>
              </a:ext>
            </a:extLst>
          </p:cNvPr>
          <p:cNvSpPr/>
          <p:nvPr userDrawn="1"/>
        </p:nvSpPr>
        <p:spPr>
          <a:xfrm>
            <a:off x="7315199" y="507275"/>
            <a:ext cx="1649105"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4BB9EE20-0B2B-FA01-7211-8B115372B9D9}"/>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3597B50A-3384-E3D9-C9DA-56C4BEF609B7}"/>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7078858B-33FA-1D9B-5A87-6467AD7DB84E}"/>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17789BB0-9388-A71F-AA28-941EA87A8D77}"/>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25C6CB09-B45F-FA66-011B-DCB0606FEAC4}"/>
              </a:ext>
            </a:extLst>
          </p:cNvPr>
          <p:cNvSpPr txBox="1"/>
          <p:nvPr userDrawn="1"/>
        </p:nvSpPr>
        <p:spPr>
          <a:xfrm>
            <a:off x="1639511" y="568669"/>
            <a:ext cx="681725"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B</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6903720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0_1">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a:extLst>
              <a:ext uri="{28A0092B-C50C-407E-A947-70E740481C1C}">
                <a14:useLocalDpi xmlns:a14="http://schemas.microsoft.com/office/drawing/2010/main" val="0"/>
              </a:ext>
            </a:extLst>
          </a:blip>
          <a:srcRect t="6345" b="4839"/>
          <a:stretch/>
        </p:blipFill>
        <p:spPr>
          <a:xfrm>
            <a:off x="0" y="1083684"/>
            <a:ext cx="9144000" cy="5040350"/>
          </a:xfrm>
          <a:prstGeom prst="rect">
            <a:avLst/>
          </a:prstGeom>
        </p:spPr>
      </p:pic>
      <p:pic>
        <p:nvPicPr>
          <p:cNvPr id="21" name="图片 20"/>
          <p:cNvPicPr>
            <a:picLocks noChangeAspect="1"/>
          </p:cNvPicPr>
          <p:nvPr userDrawn="1"/>
        </p:nvPicPr>
        <p:blipFill rotWithShape="1">
          <a:blip r:embed="rId3">
            <a:extLst>
              <a:ext uri="{28A0092B-C50C-407E-A947-70E740481C1C}">
                <a14:useLocalDpi xmlns:a14="http://schemas.microsoft.com/office/drawing/2010/main" val="0"/>
              </a:ext>
            </a:extLst>
          </a:blip>
          <a:srcRect t="16505"/>
          <a:stretch/>
        </p:blipFill>
        <p:spPr>
          <a:xfrm>
            <a:off x="-4653" y="5013109"/>
            <a:ext cx="7600863" cy="1712145"/>
          </a:xfrm>
          <a:prstGeom prst="rect">
            <a:avLst/>
          </a:prstGeom>
        </p:spPr>
      </p:pic>
      <p:grpSp>
        <p:nvGrpSpPr>
          <p:cNvPr id="5" name="组合 4">
            <a:extLst>
              <a:ext uri="{FF2B5EF4-FFF2-40B4-BE49-F238E27FC236}">
                <a16:creationId xmlns:a16="http://schemas.microsoft.com/office/drawing/2014/main" id="{E2465CDB-6FF2-72CD-2B11-0B9300380E79}"/>
              </a:ext>
            </a:extLst>
          </p:cNvPr>
          <p:cNvGrpSpPr/>
          <p:nvPr userDrawn="1"/>
        </p:nvGrpSpPr>
        <p:grpSpPr>
          <a:xfrm>
            <a:off x="0" y="6715148"/>
            <a:ext cx="9144000" cy="142876"/>
            <a:chOff x="0" y="6715148"/>
            <a:chExt cx="9144000" cy="142876"/>
          </a:xfrm>
        </p:grpSpPr>
        <p:sp>
          <p:nvSpPr>
            <p:cNvPr id="7" name="单圆角矩形 11">
              <a:extLst>
                <a:ext uri="{FF2B5EF4-FFF2-40B4-BE49-F238E27FC236}">
                  <a16:creationId xmlns:a16="http://schemas.microsoft.com/office/drawing/2014/main" id="{9539C271-44D6-A125-1CB8-E794C8F1529F}"/>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8" name="单圆角矩形 12">
              <a:extLst>
                <a:ext uri="{FF2B5EF4-FFF2-40B4-BE49-F238E27FC236}">
                  <a16:creationId xmlns:a16="http://schemas.microsoft.com/office/drawing/2014/main" id="{E8CB27B4-1E47-F560-AC35-9B6876F67AA4}"/>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剪去单角的矩形 13">
            <a:extLst>
              <a:ext uri="{FF2B5EF4-FFF2-40B4-BE49-F238E27FC236}">
                <a16:creationId xmlns:a16="http://schemas.microsoft.com/office/drawing/2014/main" id="{2ACA286C-D1E5-3002-258F-DD7557DAED74}"/>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同侧圆角矩形 21">
            <a:extLst>
              <a:ext uri="{FF2B5EF4-FFF2-40B4-BE49-F238E27FC236}">
                <a16:creationId xmlns:a16="http://schemas.microsoft.com/office/drawing/2014/main" id="{A7F39538-6C60-5C3B-3E30-BBD976C9B819}"/>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46">
            <a:extLst>
              <a:ext uri="{FF2B5EF4-FFF2-40B4-BE49-F238E27FC236}">
                <a16:creationId xmlns:a16="http://schemas.microsoft.com/office/drawing/2014/main" id="{9A8F4748-99A1-8DED-2BFF-E6DBA3E09168}"/>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46">
            <a:extLst>
              <a:ext uri="{FF2B5EF4-FFF2-40B4-BE49-F238E27FC236}">
                <a16:creationId xmlns:a16="http://schemas.microsoft.com/office/drawing/2014/main" id="{B0BE2424-7AAE-66AC-4553-97DF03DE8513}"/>
              </a:ext>
            </a:extLst>
          </p:cNvPr>
          <p:cNvSpPr txBox="1">
            <a:spLocks noChangeArrowheads="1"/>
          </p:cNvSpPr>
          <p:nvPr userDrawn="1"/>
        </p:nvSpPr>
        <p:spPr bwMode="auto">
          <a:xfrm>
            <a:off x="648852" y="60766"/>
            <a:ext cx="2705100"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Examine</a:t>
            </a:r>
            <a:endParaRPr lang="zh-CN" altLang="zh-CN" sz="2400" b="0" kern="1200" dirty="0">
              <a:solidFill>
                <a:schemeClr val="bg1"/>
              </a:solidFill>
              <a:effectLst/>
              <a:latin typeface="Calibri" pitchFamily="34" charset="0"/>
              <a:ea typeface="宋体" pitchFamily="2" charset="-122"/>
              <a:cs typeface="+mn-cs"/>
            </a:endParaRPr>
          </a:p>
        </p:txBody>
      </p:sp>
      <p:pic>
        <p:nvPicPr>
          <p:cNvPr id="16" name="Picture 2" descr="C:\Users\senj\Desktop\主目录.png">
            <a:hlinkClick r:id="rId4" action="ppaction://hlinksldjump"/>
            <a:extLst>
              <a:ext uri="{FF2B5EF4-FFF2-40B4-BE49-F238E27FC236}">
                <a16:creationId xmlns:a16="http://schemas.microsoft.com/office/drawing/2014/main" id="{802F2063-F6CC-3618-82E0-B96DC0FF2F67}"/>
              </a:ext>
            </a:extLst>
          </p:cNvPr>
          <p:cNvPicPr>
            <a:picLocks noChangeAspect="1" noChangeArrowheads="1"/>
          </p:cNvPicPr>
          <p:nvPr userDrawn="1"/>
        </p:nvPicPr>
        <p:blipFill>
          <a:blip r:embed="rId5" cstate="print"/>
          <a:srcRect/>
          <a:stretch>
            <a:fillRect/>
          </a:stretch>
        </p:blipFill>
        <p:spPr bwMode="auto">
          <a:xfrm>
            <a:off x="84901" y="113271"/>
            <a:ext cx="401638" cy="323850"/>
          </a:xfrm>
          <a:prstGeom prst="rect">
            <a:avLst/>
          </a:prstGeom>
          <a:noFill/>
          <a:ln w="9525">
            <a:noFill/>
            <a:miter lim="800000"/>
            <a:headEnd/>
            <a:tailEnd/>
          </a:ln>
        </p:spPr>
      </p:pic>
      <p:sp>
        <p:nvSpPr>
          <p:cNvPr id="20" name="矩形: 圆顶角 19">
            <a:extLst>
              <a:ext uri="{FF2B5EF4-FFF2-40B4-BE49-F238E27FC236}">
                <a16:creationId xmlns:a16="http://schemas.microsoft.com/office/drawing/2014/main" id="{C22B658A-6F30-4C96-E244-57E43E7FF271}"/>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矩形: 圆顶角 24">
            <a:extLst>
              <a:ext uri="{FF2B5EF4-FFF2-40B4-BE49-F238E27FC236}">
                <a16:creationId xmlns:a16="http://schemas.microsoft.com/office/drawing/2014/main" id="{0B31EBE6-2AD5-5459-2362-94B6F12D287A}"/>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矩形: 圆顶角 25">
            <a:extLst>
              <a:ext uri="{FF2B5EF4-FFF2-40B4-BE49-F238E27FC236}">
                <a16:creationId xmlns:a16="http://schemas.microsoft.com/office/drawing/2014/main" id="{2B1F4FF8-8EAD-AAF2-3A8C-736E0A94716A}"/>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hlinkClick r:id="rId6" action="ppaction://hlinksldjump"/>
            <a:extLst>
              <a:ext uri="{FF2B5EF4-FFF2-40B4-BE49-F238E27FC236}">
                <a16:creationId xmlns:a16="http://schemas.microsoft.com/office/drawing/2014/main" id="{4F9D4FE7-9E01-BCC4-0477-F2CB8079D24B}"/>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8" name="文本框 27">
            <a:hlinkClick r:id="rId7" action="ppaction://hlinksldjump"/>
            <a:extLst>
              <a:ext uri="{FF2B5EF4-FFF2-40B4-BE49-F238E27FC236}">
                <a16:creationId xmlns:a16="http://schemas.microsoft.com/office/drawing/2014/main" id="{7A2FF8C0-7FC8-85B2-2541-9699DBC0344D}"/>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9" name="文本框 28">
            <a:hlinkClick r:id="rId8" action="ppaction://hlinksldjump"/>
            <a:extLst>
              <a:ext uri="{FF2B5EF4-FFF2-40B4-BE49-F238E27FC236}">
                <a16:creationId xmlns:a16="http://schemas.microsoft.com/office/drawing/2014/main" id="{BAF7676C-5500-15F0-EB60-4DD045390949}"/>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31" name="矩形: 圆顶角 30">
            <a:extLst>
              <a:ext uri="{FF2B5EF4-FFF2-40B4-BE49-F238E27FC236}">
                <a16:creationId xmlns:a16="http://schemas.microsoft.com/office/drawing/2014/main" id="{B92D9723-C2CF-2016-F26D-49B5E0FC8F7F}"/>
              </a:ext>
            </a:extLst>
          </p:cNvPr>
          <p:cNvSpPr/>
          <p:nvPr userDrawn="1"/>
        </p:nvSpPr>
        <p:spPr>
          <a:xfrm>
            <a:off x="1584346"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文本框 31">
            <a:hlinkClick r:id="rId9" action="ppaction://hlinksldjump"/>
            <a:extLst>
              <a:ext uri="{FF2B5EF4-FFF2-40B4-BE49-F238E27FC236}">
                <a16:creationId xmlns:a16="http://schemas.microsoft.com/office/drawing/2014/main" id="{D9EA64FE-1C4E-C654-C56C-EA3B498ADB92}"/>
              </a:ext>
            </a:extLst>
          </p:cNvPr>
          <p:cNvSpPr txBox="1"/>
          <p:nvPr userDrawn="1"/>
        </p:nvSpPr>
        <p:spPr>
          <a:xfrm>
            <a:off x="1641114" y="568669"/>
            <a:ext cx="678519"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C</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5450912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2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A52756FD-7F3F-A8CE-CBE4-D6EFD48030AB}"/>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6E8925B3-4A52-8F36-834C-BB162AAAD1CC}"/>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28305EC5-442E-7E86-49E2-C3D5E4BD30A5}"/>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61EEE582-F5A6-18DA-5FE8-6FBA7EFABE0C}"/>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2AF12BB0-690D-4B64-04D8-E118A92DF4F7}"/>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D656A30E-3984-DC2D-C24E-904BB62F0A05}"/>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A60FFC84-7D18-DEE3-2C07-2FD7C3F3E9EC}"/>
              </a:ext>
            </a:extLst>
          </p:cNvPr>
          <p:cNvSpPr txBox="1">
            <a:spLocks noChangeArrowheads="1"/>
          </p:cNvSpPr>
          <p:nvPr userDrawn="1"/>
        </p:nvSpPr>
        <p:spPr bwMode="auto">
          <a:xfrm>
            <a:off x="648852" y="60766"/>
            <a:ext cx="2705100"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Examine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E1DE044F-A461-7EC6-BACD-00842F460B2C}"/>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0F38153D-A488-9221-1D1F-9AC1C6AE1542}"/>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D48AC891-02A5-6BC2-31FD-82275E962C06}"/>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BAA6D835-8807-A1A2-FDBA-D03310C535D5}"/>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A1A76CB1-C1FC-0601-A2DC-CAB9CEF6FB1A}"/>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F2286CA6-82C6-5FB5-91EA-09D77C4DAC21}"/>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C942DAAB-7E2B-2EFA-D5D3-7846998DD846}"/>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E67792ED-9E69-FA2B-0B11-9474B7C6186F}"/>
              </a:ext>
            </a:extLst>
          </p:cNvPr>
          <p:cNvSpPr/>
          <p:nvPr userDrawn="1"/>
        </p:nvSpPr>
        <p:spPr>
          <a:xfrm>
            <a:off x="1584346" y="507275"/>
            <a:ext cx="792054"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035ECA33-2009-DD15-4C82-021D3A3F4BC8}"/>
              </a:ext>
            </a:extLst>
          </p:cNvPr>
          <p:cNvSpPr txBox="1"/>
          <p:nvPr userDrawn="1"/>
        </p:nvSpPr>
        <p:spPr>
          <a:xfrm>
            <a:off x="1641114" y="568669"/>
            <a:ext cx="678519"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C</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9705498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3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88089BB2-0405-02B6-C63D-17BEDAAE1088}"/>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86D8E10C-B0A2-A300-A315-7A37757E91A9}"/>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6690E99A-431F-F0DB-BE5C-20BB2CD0283C}"/>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69DA448D-6E62-7C87-7101-2A7D2E63C1A1}"/>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B8CA4EF6-6732-36CA-5966-FDB0EF34F111}"/>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A9026809-B9B8-09CA-CC36-20CA970D0867}"/>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70370CC4-A13D-3687-665E-373209F8D2ED}"/>
              </a:ext>
            </a:extLst>
          </p:cNvPr>
          <p:cNvSpPr txBox="1">
            <a:spLocks noChangeArrowheads="1"/>
          </p:cNvSpPr>
          <p:nvPr userDrawn="1"/>
        </p:nvSpPr>
        <p:spPr bwMode="auto">
          <a:xfrm>
            <a:off x="648852" y="60766"/>
            <a:ext cx="2705100"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Examine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98AC1DD3-055A-FA5D-8016-FBE6BDEE75D5}"/>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8AD891D6-34B9-A74C-AD20-F8F2E2972418}"/>
              </a:ext>
            </a:extLst>
          </p:cNvPr>
          <p:cNvSpPr/>
          <p:nvPr userDrawn="1"/>
        </p:nvSpPr>
        <p:spPr>
          <a:xfrm>
            <a:off x="2484408" y="507275"/>
            <a:ext cx="2327282"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FE3EBA5F-648C-54A7-6D28-92BAED0FB3CE}"/>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840FA8E3-E99F-FF9B-D84A-ADFD821ACA19}"/>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1FC5F028-2775-1AE4-5820-EF729840E8E0}"/>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71BB8455-1057-9801-3157-73BBC616EFF1}"/>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45A4C88F-11ED-916C-DFAE-14C38EDE9FC4}"/>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5E081E49-DA1C-95E8-475C-ED97842B473F}"/>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0BA54FCA-2536-E1A7-3103-EB97858F3CF8}"/>
              </a:ext>
            </a:extLst>
          </p:cNvPr>
          <p:cNvSpPr txBox="1"/>
          <p:nvPr userDrawn="1"/>
        </p:nvSpPr>
        <p:spPr>
          <a:xfrm>
            <a:off x="1641114" y="568669"/>
            <a:ext cx="678519"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C</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7846362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BAC7C60F-BF0F-3A33-C4C6-E272F9B2E07A}"/>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084027EB-A4D5-4611-983D-6E9E6B46AD47}"/>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86371B36-8171-E553-A5E6-699838C6130E}"/>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89CDF06C-74C7-DDC2-D3F3-840E92ECB3BE}"/>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DACB884A-1713-393E-5013-41431992B623}"/>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F0847DFE-7DCE-C2C4-3C41-87786EE974B1}"/>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29440141-0705-3919-0840-D4347F656F09}"/>
              </a:ext>
            </a:extLst>
          </p:cNvPr>
          <p:cNvSpPr txBox="1">
            <a:spLocks noChangeArrowheads="1"/>
          </p:cNvSpPr>
          <p:nvPr userDrawn="1"/>
        </p:nvSpPr>
        <p:spPr bwMode="auto">
          <a:xfrm>
            <a:off x="648852" y="60766"/>
            <a:ext cx="2705100"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Examine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9D6296B8-3CB4-E623-8BB3-B0926DFE3EFF}"/>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2523C219-2060-248B-28B1-6012C23F637C}"/>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F9CB7AE2-C1B9-E374-DB3E-603E3DE68FBA}"/>
              </a:ext>
            </a:extLst>
          </p:cNvPr>
          <p:cNvSpPr/>
          <p:nvPr userDrawn="1"/>
        </p:nvSpPr>
        <p:spPr>
          <a:xfrm>
            <a:off x="4925683" y="507275"/>
            <a:ext cx="2281508"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0CE19E0E-F3E5-C05C-66FA-6A41B539EE98}"/>
              </a:ext>
            </a:extLst>
          </p:cNvPr>
          <p:cNvSpPr/>
          <p:nvPr userDrawn="1"/>
        </p:nvSpPr>
        <p:spPr>
          <a:xfrm>
            <a:off x="7315199" y="507275"/>
            <a:ext cx="1649105"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428F05C4-C2B6-6A0A-403C-7E703841AA8C}"/>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9F5803D8-4A28-4B82-31EA-F234304BF458}"/>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9DCF5959-923D-4505-BDB2-6134EABE3F7E}"/>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A237FCCB-204C-6D65-8BA0-F29B8CC5F699}"/>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2530657B-39DA-7B98-138E-18D4EC2F5F72}"/>
              </a:ext>
            </a:extLst>
          </p:cNvPr>
          <p:cNvSpPr txBox="1"/>
          <p:nvPr userDrawn="1"/>
        </p:nvSpPr>
        <p:spPr>
          <a:xfrm>
            <a:off x="1641114" y="568669"/>
            <a:ext cx="678519"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C</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1928190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5_1">
    <p:spTree>
      <p:nvGrpSpPr>
        <p:cNvPr id="1" name=""/>
        <p:cNvGrpSpPr/>
        <p:nvPr/>
      </p:nvGrpSpPr>
      <p:grpSpPr>
        <a:xfrm>
          <a:off x="0" y="0"/>
          <a:ext cx="0" cy="0"/>
          <a:chOff x="0" y="0"/>
          <a:chExt cx="0" cy="0"/>
        </a:xfrm>
      </p:grpSpPr>
      <p:grpSp>
        <p:nvGrpSpPr>
          <p:cNvPr id="5" name="组合 4">
            <a:extLst>
              <a:ext uri="{FF2B5EF4-FFF2-40B4-BE49-F238E27FC236}">
                <a16:creationId xmlns:a16="http://schemas.microsoft.com/office/drawing/2014/main" id="{43CC5853-F0A7-9AEA-1A57-8490BDEA72ED}"/>
              </a:ext>
            </a:extLst>
          </p:cNvPr>
          <p:cNvGrpSpPr/>
          <p:nvPr userDrawn="1"/>
        </p:nvGrpSpPr>
        <p:grpSpPr>
          <a:xfrm>
            <a:off x="0" y="6715148"/>
            <a:ext cx="9144000" cy="142876"/>
            <a:chOff x="0" y="6715148"/>
            <a:chExt cx="9144000" cy="142876"/>
          </a:xfrm>
        </p:grpSpPr>
        <p:sp>
          <p:nvSpPr>
            <p:cNvPr id="6" name="单圆角矩形 11">
              <a:extLst>
                <a:ext uri="{FF2B5EF4-FFF2-40B4-BE49-F238E27FC236}">
                  <a16:creationId xmlns:a16="http://schemas.microsoft.com/office/drawing/2014/main" id="{3A29C92D-529A-909B-6B30-6C5526A418B1}"/>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7" name="单圆角矩形 12">
              <a:extLst>
                <a:ext uri="{FF2B5EF4-FFF2-40B4-BE49-F238E27FC236}">
                  <a16:creationId xmlns:a16="http://schemas.microsoft.com/office/drawing/2014/main" id="{C0DEBA1E-B605-72CE-C06C-18D7C2449B6C}"/>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剪去单角的矩形 13">
            <a:extLst>
              <a:ext uri="{FF2B5EF4-FFF2-40B4-BE49-F238E27FC236}">
                <a16:creationId xmlns:a16="http://schemas.microsoft.com/office/drawing/2014/main" id="{2B2BC631-8FD4-0CD5-8480-8CD41FF2AE9A}"/>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同侧圆角矩形 21">
            <a:extLst>
              <a:ext uri="{FF2B5EF4-FFF2-40B4-BE49-F238E27FC236}">
                <a16:creationId xmlns:a16="http://schemas.microsoft.com/office/drawing/2014/main" id="{9A624B48-DF67-DE14-AFD9-A6303056806F}"/>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单圆角矩形 46">
            <a:extLst>
              <a:ext uri="{FF2B5EF4-FFF2-40B4-BE49-F238E27FC236}">
                <a16:creationId xmlns:a16="http://schemas.microsoft.com/office/drawing/2014/main" id="{70D1B897-FFD1-F343-1BA8-274C0C50284C}"/>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2F033941-B1C4-930C-E4C5-434F99A6021F}"/>
              </a:ext>
            </a:extLst>
          </p:cNvPr>
          <p:cNvSpPr txBox="1">
            <a:spLocks noChangeArrowheads="1"/>
          </p:cNvSpPr>
          <p:nvPr userDrawn="1"/>
        </p:nvSpPr>
        <p:spPr bwMode="auto">
          <a:xfrm>
            <a:off x="648852" y="60766"/>
            <a:ext cx="2705100"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Examine</a:t>
            </a:r>
            <a:endParaRPr lang="zh-CN" altLang="zh-CN" sz="2400" b="0" kern="1200" dirty="0">
              <a:solidFill>
                <a:schemeClr val="bg1"/>
              </a:solidFill>
              <a:effectLst/>
              <a:latin typeface="Calibri" pitchFamily="34" charset="0"/>
              <a:ea typeface="宋体" pitchFamily="2" charset="-122"/>
              <a:cs typeface="+mn-cs"/>
            </a:endParaRPr>
          </a:p>
        </p:txBody>
      </p:sp>
      <p:pic>
        <p:nvPicPr>
          <p:cNvPr id="15" name="Picture 2" descr="C:\Users\senj\Desktop\主目录.png">
            <a:hlinkClick r:id="rId2" action="ppaction://hlinksldjump"/>
            <a:extLst>
              <a:ext uri="{FF2B5EF4-FFF2-40B4-BE49-F238E27FC236}">
                <a16:creationId xmlns:a16="http://schemas.microsoft.com/office/drawing/2014/main" id="{79B00523-1198-DFE4-4114-A462679EA026}"/>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
        <p:nvSpPr>
          <p:cNvPr id="16" name="矩形: 圆顶角 15">
            <a:extLst>
              <a:ext uri="{FF2B5EF4-FFF2-40B4-BE49-F238E27FC236}">
                <a16:creationId xmlns:a16="http://schemas.microsoft.com/office/drawing/2014/main" id="{DD35C77F-1F77-3E54-AA7F-0B87781D27F7}"/>
              </a:ext>
            </a:extLst>
          </p:cNvPr>
          <p:cNvSpPr/>
          <p:nvPr userDrawn="1"/>
        </p:nvSpPr>
        <p:spPr>
          <a:xfrm>
            <a:off x="2484408" y="507275"/>
            <a:ext cx="2327282"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矩形: 圆顶角 20">
            <a:extLst>
              <a:ext uri="{FF2B5EF4-FFF2-40B4-BE49-F238E27FC236}">
                <a16:creationId xmlns:a16="http://schemas.microsoft.com/office/drawing/2014/main" id="{4801B1BA-2B46-7D8E-A655-5B9EC8FFB5F4}"/>
              </a:ext>
            </a:extLst>
          </p:cNvPr>
          <p:cNvSpPr/>
          <p:nvPr userDrawn="1"/>
        </p:nvSpPr>
        <p:spPr>
          <a:xfrm>
            <a:off x="4925683" y="507275"/>
            <a:ext cx="2281508"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矩形: 圆顶角 23">
            <a:extLst>
              <a:ext uri="{FF2B5EF4-FFF2-40B4-BE49-F238E27FC236}">
                <a16:creationId xmlns:a16="http://schemas.microsoft.com/office/drawing/2014/main" id="{FF3BFC75-0C67-EB31-DC1E-AB547DA8F0F4}"/>
              </a:ext>
            </a:extLst>
          </p:cNvPr>
          <p:cNvSpPr/>
          <p:nvPr userDrawn="1"/>
        </p:nvSpPr>
        <p:spPr>
          <a:xfrm>
            <a:off x="7315199" y="507275"/>
            <a:ext cx="1649105" cy="446062"/>
          </a:xfrm>
          <a:prstGeom prst="round2SameRect">
            <a:avLst>
              <a:gd name="adj1" fmla="val 0"/>
              <a:gd name="adj2" fmla="val 15460"/>
            </a:avLst>
          </a:prstGeom>
          <a:solidFill>
            <a:srgbClr val="C6383E"/>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文本框 24">
            <a:hlinkClick r:id="rId4" action="ppaction://hlinksldjump"/>
            <a:extLst>
              <a:ext uri="{FF2B5EF4-FFF2-40B4-BE49-F238E27FC236}">
                <a16:creationId xmlns:a16="http://schemas.microsoft.com/office/drawing/2014/main" id="{3FEDA04A-1B5F-BCB9-AF6B-77EA47B7F8D7}"/>
              </a:ext>
            </a:extLst>
          </p:cNvPr>
          <p:cNvSpPr txBox="1"/>
          <p:nvPr userDrawn="1"/>
        </p:nvSpPr>
        <p:spPr>
          <a:xfrm>
            <a:off x="2538547" y="568669"/>
            <a:ext cx="2219005" cy="338554"/>
          </a:xfrm>
          <a:prstGeom prst="rect">
            <a:avLst/>
          </a:prstGeom>
          <a:noFill/>
        </p:spPr>
        <p:txBody>
          <a:bodyPr wrap="none" rtlCol="0">
            <a:spAutoFit/>
          </a:bodyPr>
          <a:lstStyle/>
          <a:p>
            <a:pPr algn="just"/>
            <a:r>
              <a:rPr lang="en-US" altLang="zh-CN" sz="1600" kern="1200" dirty="0">
                <a:solidFill>
                  <a:schemeClr val="bg1"/>
                </a:solidFill>
                <a:effectLst/>
                <a:latin typeface="Calibri" pitchFamily="34" charset="0"/>
                <a:ea typeface="宋体" pitchFamily="2" charset="-122"/>
                <a:cs typeface="+mn-cs"/>
              </a:rPr>
              <a:t>Reading Comprehension</a:t>
            </a:r>
            <a:endParaRPr lang="zh-CN" altLang="en-US" sz="1600" dirty="0">
              <a:solidFill>
                <a:schemeClr val="bg1"/>
              </a:solidFill>
            </a:endParaRPr>
          </a:p>
        </p:txBody>
      </p:sp>
      <p:sp>
        <p:nvSpPr>
          <p:cNvPr id="26" name="文本框 25">
            <a:hlinkClick r:id="rId5" action="ppaction://hlinksldjump"/>
            <a:extLst>
              <a:ext uri="{FF2B5EF4-FFF2-40B4-BE49-F238E27FC236}">
                <a16:creationId xmlns:a16="http://schemas.microsoft.com/office/drawing/2014/main" id="{5C449002-95AA-4559-538B-5AF9A4567CAD}"/>
              </a:ext>
            </a:extLst>
          </p:cNvPr>
          <p:cNvSpPr txBox="1"/>
          <p:nvPr userDrawn="1"/>
        </p:nvSpPr>
        <p:spPr>
          <a:xfrm>
            <a:off x="4980467" y="568669"/>
            <a:ext cx="2171941"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Language Enhancement</a:t>
            </a:r>
            <a:endParaRPr lang="zh-CN" altLang="zh-CN" sz="1600" kern="1200" dirty="0">
              <a:solidFill>
                <a:schemeClr val="bg1"/>
              </a:solidFill>
              <a:effectLst/>
              <a:latin typeface="Calibri" pitchFamily="34" charset="0"/>
              <a:ea typeface="宋体" pitchFamily="2" charset="-122"/>
              <a:cs typeface="+mn-cs"/>
            </a:endParaRPr>
          </a:p>
        </p:txBody>
      </p:sp>
      <p:sp>
        <p:nvSpPr>
          <p:cNvPr id="27" name="文本框 26">
            <a:hlinkClick r:id="rId6" action="ppaction://hlinksldjump"/>
            <a:extLst>
              <a:ext uri="{FF2B5EF4-FFF2-40B4-BE49-F238E27FC236}">
                <a16:creationId xmlns:a16="http://schemas.microsoft.com/office/drawing/2014/main" id="{9B50D521-13E7-D192-6B57-88ACFF1DAC43}"/>
              </a:ext>
            </a:extLst>
          </p:cNvPr>
          <p:cNvSpPr txBox="1"/>
          <p:nvPr userDrawn="1"/>
        </p:nvSpPr>
        <p:spPr>
          <a:xfrm>
            <a:off x="7389373" y="568669"/>
            <a:ext cx="1507016" cy="338554"/>
          </a:xfrm>
          <a:prstGeom prst="rect">
            <a:avLst/>
          </a:prstGeom>
          <a:noFill/>
        </p:spPr>
        <p:txBody>
          <a:bodyPr wrap="none" rtlCol="0">
            <a:spAutoFit/>
          </a:bodyPr>
          <a:lstStyle/>
          <a:p>
            <a:r>
              <a:rPr lang="en-US" altLang="zh-CN" sz="1600" kern="1200" dirty="0">
                <a:solidFill>
                  <a:schemeClr val="bg1"/>
                </a:solidFill>
                <a:effectLst/>
                <a:latin typeface="Calibri" pitchFamily="34" charset="0"/>
                <a:ea typeface="宋体" pitchFamily="2" charset="-122"/>
                <a:cs typeface="+mn-cs"/>
              </a:rPr>
              <a:t>Critical Thinking</a:t>
            </a:r>
            <a:endParaRPr lang="zh-CN" altLang="zh-CN" sz="1600" kern="1200" dirty="0">
              <a:solidFill>
                <a:schemeClr val="bg1"/>
              </a:solidFill>
              <a:effectLst/>
              <a:latin typeface="Calibri" pitchFamily="34" charset="0"/>
              <a:ea typeface="宋体" pitchFamily="2" charset="-122"/>
              <a:cs typeface="+mn-cs"/>
            </a:endParaRPr>
          </a:p>
        </p:txBody>
      </p:sp>
      <p:sp>
        <p:nvSpPr>
          <p:cNvPr id="28" name="矩形: 圆顶角 27">
            <a:extLst>
              <a:ext uri="{FF2B5EF4-FFF2-40B4-BE49-F238E27FC236}">
                <a16:creationId xmlns:a16="http://schemas.microsoft.com/office/drawing/2014/main" id="{964672ED-7565-D14F-5BAB-63BA87FE64BB}"/>
              </a:ext>
            </a:extLst>
          </p:cNvPr>
          <p:cNvSpPr/>
          <p:nvPr userDrawn="1"/>
        </p:nvSpPr>
        <p:spPr>
          <a:xfrm>
            <a:off x="1584346" y="507275"/>
            <a:ext cx="792054" cy="446062"/>
          </a:xfrm>
          <a:prstGeom prst="round2SameRect">
            <a:avLst>
              <a:gd name="adj1" fmla="val 0"/>
              <a:gd name="adj2" fmla="val 15460"/>
            </a:avLst>
          </a:prstGeom>
          <a:solidFill>
            <a:srgbClr val="0C476D"/>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hlinkClick r:id="rId7" action="ppaction://hlinksldjump"/>
            <a:extLst>
              <a:ext uri="{FF2B5EF4-FFF2-40B4-BE49-F238E27FC236}">
                <a16:creationId xmlns:a16="http://schemas.microsoft.com/office/drawing/2014/main" id="{D711ACE1-9525-2832-E292-9992E7C8CE18}"/>
              </a:ext>
            </a:extLst>
          </p:cNvPr>
          <p:cNvSpPr txBox="1"/>
          <p:nvPr userDrawn="1"/>
        </p:nvSpPr>
        <p:spPr>
          <a:xfrm>
            <a:off x="1641114" y="568669"/>
            <a:ext cx="678519" cy="338554"/>
          </a:xfrm>
          <a:prstGeom prst="rect">
            <a:avLst/>
          </a:prstGeom>
          <a:noFill/>
        </p:spPr>
        <p:txBody>
          <a:bodyPr wrap="none" rtlCol="0">
            <a:spAutoFit/>
          </a:bodyPr>
          <a:lstStyle/>
          <a:p>
            <a:pPr marL="0" marR="0" indent="0" algn="just" defTabSz="914400" rtl="0" eaLnBrk="1" fontAlgn="base" latinLnBrk="0" hangingPunct="1">
              <a:lnSpc>
                <a:spcPct val="100000"/>
              </a:lnSpc>
              <a:spcBef>
                <a:spcPct val="0"/>
              </a:spcBef>
              <a:spcAft>
                <a:spcPct val="0"/>
              </a:spcAft>
              <a:buClrTx/>
              <a:buSzTx/>
              <a:buFontTx/>
              <a:buNone/>
              <a:tabLst/>
              <a:defRPr/>
            </a:pPr>
            <a:r>
              <a:rPr lang="en-US" altLang="zh-CN" sz="1600" kern="1200" dirty="0">
                <a:solidFill>
                  <a:schemeClr val="bg1"/>
                </a:solidFill>
                <a:effectLst/>
                <a:latin typeface="Calibri" pitchFamily="34" charset="0"/>
                <a:ea typeface="宋体" pitchFamily="2" charset="-122"/>
                <a:cs typeface="+mn-cs"/>
              </a:rPr>
              <a:t>Text C</a:t>
            </a:r>
            <a:endParaRPr lang="zh-CN" altLang="zh-CN" sz="160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9564277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6_1">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D87B9CB-FCC4-13D4-CAED-2190491DF451}"/>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57E051F3-4B5B-E447-AF37-EEE9F5BDB70F}"/>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C9CEC53B-6A36-6204-CF0B-C2F106AAE7DC}"/>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3453A96D-B36E-C5B5-EFDA-7E4CEE52B24B}"/>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同侧圆角矩形 21">
            <a:extLst>
              <a:ext uri="{FF2B5EF4-FFF2-40B4-BE49-F238E27FC236}">
                <a16:creationId xmlns:a16="http://schemas.microsoft.com/office/drawing/2014/main" id="{79CD70AB-369C-10C0-3CDD-FB92F908096A}"/>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单圆角矩形 46">
            <a:extLst>
              <a:ext uri="{FF2B5EF4-FFF2-40B4-BE49-F238E27FC236}">
                <a16:creationId xmlns:a16="http://schemas.microsoft.com/office/drawing/2014/main" id="{1A7EC3E4-8AFF-6CDF-EE43-3F8172CC402B}"/>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46">
            <a:extLst>
              <a:ext uri="{FF2B5EF4-FFF2-40B4-BE49-F238E27FC236}">
                <a16:creationId xmlns:a16="http://schemas.microsoft.com/office/drawing/2014/main" id="{77FACCE7-8193-C305-AF95-798BF4336230}"/>
              </a:ext>
            </a:extLst>
          </p:cNvPr>
          <p:cNvSpPr txBox="1">
            <a:spLocks noChangeArrowheads="1"/>
          </p:cNvSpPr>
          <p:nvPr userDrawn="1"/>
        </p:nvSpPr>
        <p:spPr bwMode="auto">
          <a:xfrm>
            <a:off x="648852" y="60766"/>
            <a:ext cx="3118033"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Reading to Understand</a:t>
            </a:r>
            <a:endParaRPr lang="zh-CN" altLang="zh-CN" sz="2400" b="0" kern="1200" dirty="0">
              <a:solidFill>
                <a:schemeClr val="bg1"/>
              </a:solidFill>
              <a:effectLst/>
              <a:latin typeface="Calibri" pitchFamily="34" charset="0"/>
              <a:ea typeface="宋体" pitchFamily="2" charset="-122"/>
              <a:cs typeface="+mn-cs"/>
            </a:endParaRPr>
          </a:p>
        </p:txBody>
      </p:sp>
      <p:pic>
        <p:nvPicPr>
          <p:cNvPr id="10" name="Picture 2" descr="C:\Users\senj\Desktop\主目录.png">
            <a:hlinkClick r:id="rId2" action="ppaction://hlinksldjump"/>
            <a:extLst>
              <a:ext uri="{FF2B5EF4-FFF2-40B4-BE49-F238E27FC236}">
                <a16:creationId xmlns:a16="http://schemas.microsoft.com/office/drawing/2014/main" id="{91A00DB0-B0A3-AD5D-AD05-39447EA1B582}"/>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Tree>
    <p:extLst>
      <p:ext uri="{BB962C8B-B14F-4D97-AF65-F5344CB8AC3E}">
        <p14:creationId xmlns:p14="http://schemas.microsoft.com/office/powerpoint/2010/main" val="4438685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7_1">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DEDF311-24C5-A6EE-4A76-9BDA6D5D9050}"/>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2C84375B-F868-7632-80AE-74BF8FB524B7}"/>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0E637A33-BF0C-72E5-D23F-43C4ACF7F850}"/>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08927B33-7AB1-0081-A6FA-21CE06B74B0E}"/>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同侧圆角矩形 21">
            <a:extLst>
              <a:ext uri="{FF2B5EF4-FFF2-40B4-BE49-F238E27FC236}">
                <a16:creationId xmlns:a16="http://schemas.microsoft.com/office/drawing/2014/main" id="{96EDEF95-8504-638B-6893-C3D523C52CE3}"/>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E2770662-3CAD-D8F8-C066-E86DEA043F7B}"/>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4870BD39-4F2B-0056-43C5-E086AB466094}"/>
              </a:ext>
            </a:extLst>
          </p:cNvPr>
          <p:cNvSpPr txBox="1">
            <a:spLocks noChangeArrowheads="1"/>
          </p:cNvSpPr>
          <p:nvPr userDrawn="1"/>
        </p:nvSpPr>
        <p:spPr bwMode="auto">
          <a:xfrm>
            <a:off x="648852" y="60766"/>
            <a:ext cx="1492140"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Skill Focus</a:t>
            </a:r>
            <a:endParaRPr lang="zh-CN" altLang="zh-CN" sz="2400" b="0" kern="1200" dirty="0">
              <a:solidFill>
                <a:schemeClr val="bg1"/>
              </a:solidFill>
              <a:effectLst/>
              <a:latin typeface="Calibri" pitchFamily="34" charset="0"/>
              <a:ea typeface="宋体" pitchFamily="2" charset="-122"/>
              <a:cs typeface="+mn-cs"/>
            </a:endParaRPr>
          </a:p>
        </p:txBody>
      </p:sp>
      <p:pic>
        <p:nvPicPr>
          <p:cNvPr id="9" name="Picture 2" descr="C:\Users\senj\Desktop\主目录.png">
            <a:hlinkClick r:id="rId2" action="ppaction://hlinksldjump"/>
            <a:extLst>
              <a:ext uri="{FF2B5EF4-FFF2-40B4-BE49-F238E27FC236}">
                <a16:creationId xmlns:a16="http://schemas.microsoft.com/office/drawing/2014/main" id="{FDD56F25-9AF5-D268-DB05-2FBE019769F5}"/>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Tree>
    <p:extLst>
      <p:ext uri="{BB962C8B-B14F-4D97-AF65-F5344CB8AC3E}">
        <p14:creationId xmlns:p14="http://schemas.microsoft.com/office/powerpoint/2010/main" val="23093905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8_1">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5C0FEFA-09A3-19DA-1AE3-628AE0408BFB}"/>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A611E679-A74F-A301-09BC-90E58107C46F}"/>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06F6E50D-42F5-AA2F-DC9B-99AFD303F6F3}"/>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1612B95E-7047-2EB6-0AF0-B209014A7934}"/>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同侧圆角矩形 21">
            <a:extLst>
              <a:ext uri="{FF2B5EF4-FFF2-40B4-BE49-F238E27FC236}">
                <a16:creationId xmlns:a16="http://schemas.microsoft.com/office/drawing/2014/main" id="{E0B3E60F-A1E0-6160-7F31-AA73A8C895F4}"/>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DF0D2B32-A38D-60FB-2DBE-78917DD442CE}"/>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597C0900-E9C8-4701-C823-FE52F565CA29}"/>
              </a:ext>
            </a:extLst>
          </p:cNvPr>
          <p:cNvSpPr txBox="1">
            <a:spLocks noChangeArrowheads="1"/>
          </p:cNvSpPr>
          <p:nvPr userDrawn="1"/>
        </p:nvSpPr>
        <p:spPr bwMode="auto">
          <a:xfrm>
            <a:off x="648852" y="60766"/>
            <a:ext cx="2926955"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1" i="0" u="none" strike="noStrike" kern="1200" baseline="0" dirty="0">
                <a:solidFill>
                  <a:schemeClr val="bg1"/>
                </a:solidFill>
                <a:latin typeface="Calibri" pitchFamily="34" charset="0"/>
                <a:ea typeface="宋体" pitchFamily="2" charset="-122"/>
                <a:cs typeface="+mn-cs"/>
              </a:rPr>
              <a:t>Telling China’s Stories</a:t>
            </a:r>
            <a:endParaRPr lang="zh-CN" altLang="zh-CN" sz="2400" b="0" kern="1200" dirty="0">
              <a:solidFill>
                <a:schemeClr val="bg1"/>
              </a:solidFill>
              <a:effectLst/>
              <a:latin typeface="Calibri" pitchFamily="34" charset="0"/>
              <a:ea typeface="宋体" pitchFamily="2" charset="-122"/>
              <a:cs typeface="+mn-cs"/>
            </a:endParaRPr>
          </a:p>
        </p:txBody>
      </p:sp>
      <p:pic>
        <p:nvPicPr>
          <p:cNvPr id="9" name="Picture 2" descr="C:\Users\senj\Desktop\主目录.png">
            <a:hlinkClick r:id="rId2" action="ppaction://hlinksldjump"/>
            <a:extLst>
              <a:ext uri="{FF2B5EF4-FFF2-40B4-BE49-F238E27FC236}">
                <a16:creationId xmlns:a16="http://schemas.microsoft.com/office/drawing/2014/main" id="{B66224E4-41CD-A8A2-39CB-B9458BDF74F3}"/>
              </a:ext>
            </a:extLst>
          </p:cNvPr>
          <p:cNvPicPr>
            <a:picLocks noChangeAspect="1" noChangeArrowheads="1"/>
          </p:cNvPicPr>
          <p:nvPr userDrawn="1"/>
        </p:nvPicPr>
        <p:blipFill>
          <a:blip r:embed="rId3" cstate="print"/>
          <a:srcRect/>
          <a:stretch>
            <a:fillRect/>
          </a:stretch>
        </p:blipFill>
        <p:spPr bwMode="auto">
          <a:xfrm>
            <a:off x="84901" y="113271"/>
            <a:ext cx="401638" cy="323850"/>
          </a:xfrm>
          <a:prstGeom prst="rect">
            <a:avLst/>
          </a:prstGeom>
          <a:noFill/>
          <a:ln w="9525">
            <a:noFill/>
            <a:miter lim="800000"/>
            <a:headEnd/>
            <a:tailEnd/>
          </a:ln>
        </p:spPr>
      </p:pic>
    </p:spTree>
    <p:extLst>
      <p:ext uri="{BB962C8B-B14F-4D97-AF65-F5344CB8AC3E}">
        <p14:creationId xmlns:p14="http://schemas.microsoft.com/office/powerpoint/2010/main" val="36938705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8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39CC6C8-DE9A-BCFD-43A1-FF92883A78FC}"/>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BB5DDFA1-9D2F-F314-46D0-FCA29D09298C}"/>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AE6595E6-0D2C-32B0-7E47-957A6359C10A}"/>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BB3821F9-6891-D4C8-CBEB-22DB55F16455}"/>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B1B0F093-7AF2-1D67-7300-1B4F2B9FE391}"/>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96709CCC-D4B7-4679-3D26-BEF3FE22BFF6}"/>
              </a:ext>
            </a:extLst>
          </p:cNvPr>
          <p:cNvSpPr txBox="1">
            <a:spLocks noChangeArrowheads="1"/>
          </p:cNvSpPr>
          <p:nvPr userDrawn="1"/>
        </p:nvSpPr>
        <p:spPr bwMode="auto">
          <a:xfrm>
            <a:off x="648852" y="60766"/>
            <a:ext cx="2024913"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Learning Goals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4636165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6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339CC6C8-DE9A-BCFD-43A1-FF92883A78FC}"/>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BB5DDFA1-9D2F-F314-46D0-FCA29D09298C}"/>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AE6595E6-0D2C-32B0-7E47-957A6359C10A}"/>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BB3821F9-6891-D4C8-CBEB-22DB55F16455}"/>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B1B0F093-7AF2-1D67-7300-1B4F2B9FE391}"/>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96709CCC-D4B7-4679-3D26-BEF3FE22BFF6}"/>
              </a:ext>
            </a:extLst>
          </p:cNvPr>
          <p:cNvSpPr txBox="1">
            <a:spLocks noChangeArrowheads="1"/>
          </p:cNvSpPr>
          <p:nvPr userDrawn="1"/>
        </p:nvSpPr>
        <p:spPr bwMode="auto">
          <a:xfrm>
            <a:off x="648852" y="60766"/>
            <a:ext cx="798488"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Note</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1928569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7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318030D-B08F-9DA6-4407-823DA6113AE4}"/>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22DBB15C-D00A-8F6A-4A6D-B92FBB6C5D17}"/>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F12D6299-78ED-A8D7-39BB-5883D720D2D9}"/>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C21C33EB-F9E3-BBE7-D285-80EBF5F07F32}"/>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同侧圆角矩形 21">
            <a:extLst>
              <a:ext uri="{FF2B5EF4-FFF2-40B4-BE49-F238E27FC236}">
                <a16:creationId xmlns:a16="http://schemas.microsoft.com/office/drawing/2014/main" id="{B6D96CAA-B76B-3113-6210-F12A61D7F94C}"/>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ACDD22E8-0E1A-0028-CF4B-C29DE3271E0E}"/>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5F6626B9-6DAF-A097-5B5F-014BA1C0A3F3}"/>
              </a:ext>
            </a:extLst>
          </p:cNvPr>
          <p:cNvSpPr txBox="1">
            <a:spLocks noChangeArrowheads="1"/>
          </p:cNvSpPr>
          <p:nvPr userDrawn="1"/>
        </p:nvSpPr>
        <p:spPr bwMode="auto">
          <a:xfrm>
            <a:off x="648852" y="60766"/>
            <a:ext cx="2157257"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to Exercises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7707694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6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FFFA92CE-2912-8D19-102C-72E83C0C6928}"/>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AA31CFD2-A78C-27A3-F64C-2DAA2AEDA18B}"/>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A2108D15-18D3-BCCF-FB14-0F84830562E7}"/>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76384242-B22B-9BDE-06E3-945098371E6A}"/>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同侧圆角矩形 21">
            <a:extLst>
              <a:ext uri="{FF2B5EF4-FFF2-40B4-BE49-F238E27FC236}">
                <a16:creationId xmlns:a16="http://schemas.microsoft.com/office/drawing/2014/main" id="{E5080575-236D-74BC-9B74-4A56D16018C3}"/>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54EFA43B-3A5C-52B2-0ACD-62D5B69DD831}"/>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4F279F5A-6DD8-4FD4-F292-74CA74BFE91C}"/>
              </a:ext>
            </a:extLst>
          </p:cNvPr>
          <p:cNvSpPr txBox="1">
            <a:spLocks noChangeArrowheads="1"/>
          </p:cNvSpPr>
          <p:nvPr userDrawn="1"/>
        </p:nvSpPr>
        <p:spPr bwMode="auto">
          <a:xfrm>
            <a:off x="648852" y="60766"/>
            <a:ext cx="89665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Script</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46062706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1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25A9F2D-2B3F-2117-1FC7-E3A514A6811A}"/>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C960130A-3E5A-E701-115E-60DFC3624BE5}"/>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00412FD6-13F7-7F1C-3DF7-F8857175AE69}"/>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04D6DB83-0977-018A-4592-643D019A81CF}"/>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1DD489AF-6938-D6E7-DBC3-D17D55A07B7B}"/>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155B7A32-596A-B77D-FE82-F3E3414A192B}"/>
              </a:ext>
            </a:extLst>
          </p:cNvPr>
          <p:cNvSpPr txBox="1">
            <a:spLocks noChangeArrowheads="1"/>
          </p:cNvSpPr>
          <p:nvPr userDrawn="1"/>
        </p:nvSpPr>
        <p:spPr bwMode="auto">
          <a:xfrm>
            <a:off x="648852" y="60766"/>
            <a:ext cx="2157257"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to Exercises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2232597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2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E303254-DC7F-AF52-7C20-F3785A5D128E}"/>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D65C7D32-EFB8-737F-DB5A-9DFD2051E8EC}"/>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D24BB610-A7A5-F061-1ADF-F64F610B82A3}"/>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62AF43C4-2396-ED97-123C-5333F3528B03}"/>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同侧圆角矩形 21">
            <a:extLst>
              <a:ext uri="{FF2B5EF4-FFF2-40B4-BE49-F238E27FC236}">
                <a16:creationId xmlns:a16="http://schemas.microsoft.com/office/drawing/2014/main" id="{BCA4016C-EDA3-D732-2F37-C01E30D144A5}"/>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AD562982-39BF-3EF0-8BB7-8DF683CE8203}"/>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2106BED5-E01C-0F43-D1F9-2517F10FF686}"/>
              </a:ext>
            </a:extLst>
          </p:cNvPr>
          <p:cNvSpPr txBox="1">
            <a:spLocks noChangeArrowheads="1"/>
          </p:cNvSpPr>
          <p:nvPr userDrawn="1"/>
        </p:nvSpPr>
        <p:spPr bwMode="auto">
          <a:xfrm>
            <a:off x="648852" y="60766"/>
            <a:ext cx="2157257"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to Exercises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2574370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4_自定义版式">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0317D26A-7B34-ED3F-3825-F767929AA720}"/>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3891A95E-A095-98C6-DAD1-727A50DADF46}"/>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71554F63-39FB-C35D-0E63-CB4F7D056D3E}"/>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635087BE-6AEF-4D8B-C100-54AB6EDC6046}"/>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ED2E1B28-D3E9-D1FE-E937-7A53F50C7FD3}"/>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9544EEA4-8314-4969-246B-2A53EE80E139}"/>
              </a:ext>
            </a:extLst>
          </p:cNvPr>
          <p:cNvSpPr txBox="1">
            <a:spLocks noChangeArrowheads="1"/>
          </p:cNvSpPr>
          <p:nvPr userDrawn="1"/>
        </p:nvSpPr>
        <p:spPr bwMode="auto">
          <a:xfrm>
            <a:off x="648852" y="60766"/>
            <a:ext cx="2680221"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Related Information</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2528328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58_自定义版式">
    <p:spTree>
      <p:nvGrpSpPr>
        <p:cNvPr id="1" name=""/>
        <p:cNvGrpSpPr/>
        <p:nvPr/>
      </p:nvGrpSpPr>
      <p:grpSpPr>
        <a:xfrm>
          <a:off x="0" y="0"/>
          <a:ext cx="0" cy="0"/>
          <a:chOff x="0" y="0"/>
          <a:chExt cx="0" cy="0"/>
        </a:xfrm>
      </p:grpSpPr>
      <p:sp>
        <p:nvSpPr>
          <p:cNvPr id="16" name="剪去同侧角的矩形 15"/>
          <p:cNvSpPr/>
          <p:nvPr userDrawn="1"/>
        </p:nvSpPr>
        <p:spPr>
          <a:xfrm>
            <a:off x="625475" y="428625"/>
            <a:ext cx="7740650" cy="857250"/>
          </a:xfrm>
          <a:prstGeom prst="snip2SameRect">
            <a:avLst>
              <a:gd name="adj1" fmla="val 0"/>
              <a:gd name="adj2" fmla="val 27555"/>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17" name="组合 16"/>
          <p:cNvGrpSpPr/>
          <p:nvPr userDrawn="1"/>
        </p:nvGrpSpPr>
        <p:grpSpPr>
          <a:xfrm>
            <a:off x="625475" y="1095375"/>
            <a:ext cx="7740650" cy="115888"/>
            <a:chOff x="625475" y="1095375"/>
            <a:chExt cx="7740650" cy="115888"/>
          </a:xfrm>
        </p:grpSpPr>
        <p:cxnSp>
          <p:nvCxnSpPr>
            <p:cNvPr id="18" name="直接连接符 17"/>
            <p:cNvCxnSpPr/>
            <p:nvPr userDrawn="1"/>
          </p:nvCxnSpPr>
          <p:spPr>
            <a:xfrm>
              <a:off x="625475" y="10953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userDrawn="1"/>
          </p:nvCxnSpPr>
          <p:spPr>
            <a:xfrm>
              <a:off x="625475" y="115252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userDrawn="1"/>
          </p:nvCxnSpPr>
          <p:spPr>
            <a:xfrm>
              <a:off x="625475" y="12096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5" name="剪去同侧角的矩形 24"/>
          <p:cNvSpPr/>
          <p:nvPr userDrawn="1"/>
        </p:nvSpPr>
        <p:spPr>
          <a:xfrm flipV="1">
            <a:off x="625475" y="1556870"/>
            <a:ext cx="7740650" cy="5158276"/>
          </a:xfrm>
          <a:prstGeom prst="snip2SameRect">
            <a:avLst>
              <a:gd name="adj1" fmla="val 0"/>
              <a:gd name="adj2" fmla="val 0"/>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7" name="剪去同侧角的矩形 26"/>
          <p:cNvSpPr/>
          <p:nvPr userDrawn="1"/>
        </p:nvSpPr>
        <p:spPr>
          <a:xfrm flipV="1">
            <a:off x="625475" y="2016917"/>
            <a:ext cx="7740650" cy="72004"/>
          </a:xfrm>
          <a:prstGeom prst="snip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6" name="组合 5">
            <a:extLst>
              <a:ext uri="{FF2B5EF4-FFF2-40B4-BE49-F238E27FC236}">
                <a16:creationId xmlns:a16="http://schemas.microsoft.com/office/drawing/2014/main" id="{1F122373-22B9-94D0-43A4-A1A625C51FA1}"/>
              </a:ext>
            </a:extLst>
          </p:cNvPr>
          <p:cNvGrpSpPr/>
          <p:nvPr userDrawn="1"/>
        </p:nvGrpSpPr>
        <p:grpSpPr>
          <a:xfrm>
            <a:off x="0" y="6715148"/>
            <a:ext cx="9144000" cy="142876"/>
            <a:chOff x="0" y="6715148"/>
            <a:chExt cx="9144000" cy="142876"/>
          </a:xfrm>
        </p:grpSpPr>
        <p:sp>
          <p:nvSpPr>
            <p:cNvPr id="7" name="单圆角矩形 11">
              <a:extLst>
                <a:ext uri="{FF2B5EF4-FFF2-40B4-BE49-F238E27FC236}">
                  <a16:creationId xmlns:a16="http://schemas.microsoft.com/office/drawing/2014/main" id="{3850E04D-CBDC-C0F6-E6FF-898A9FF64D96}"/>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8" name="单圆角矩形 12">
              <a:extLst>
                <a:ext uri="{FF2B5EF4-FFF2-40B4-BE49-F238E27FC236}">
                  <a16:creationId xmlns:a16="http://schemas.microsoft.com/office/drawing/2014/main" id="{14EF3468-D9FB-1607-26CD-D9E956166294}"/>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同侧圆角矩形 21">
            <a:extLst>
              <a:ext uri="{FF2B5EF4-FFF2-40B4-BE49-F238E27FC236}">
                <a16:creationId xmlns:a16="http://schemas.microsoft.com/office/drawing/2014/main" id="{5E4C1C4A-B95C-0CF0-52A4-15F20BE670EB}"/>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46">
            <a:extLst>
              <a:ext uri="{FF2B5EF4-FFF2-40B4-BE49-F238E27FC236}">
                <a16:creationId xmlns:a16="http://schemas.microsoft.com/office/drawing/2014/main" id="{43DDA49E-454B-5785-5EB1-BB8BCED59A45}"/>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91E99318-84B4-DA1D-C9EA-70BEE9C8438D}"/>
              </a:ext>
            </a:extLst>
          </p:cNvPr>
          <p:cNvSpPr txBox="1">
            <a:spLocks noChangeArrowheads="1"/>
          </p:cNvSpPr>
          <p:nvPr userDrawn="1"/>
        </p:nvSpPr>
        <p:spPr bwMode="auto">
          <a:xfrm>
            <a:off x="648852" y="60766"/>
            <a:ext cx="357514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Words and Expressions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41161067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9_自定义版式">
    <p:spTree>
      <p:nvGrpSpPr>
        <p:cNvPr id="1" name=""/>
        <p:cNvGrpSpPr/>
        <p:nvPr/>
      </p:nvGrpSpPr>
      <p:grpSpPr>
        <a:xfrm>
          <a:off x="0" y="0"/>
          <a:ext cx="0" cy="0"/>
          <a:chOff x="0" y="0"/>
          <a:chExt cx="0" cy="0"/>
        </a:xfrm>
      </p:grpSpPr>
      <p:sp>
        <p:nvSpPr>
          <p:cNvPr id="21" name="剪去同侧角的矩形 20"/>
          <p:cNvSpPr/>
          <p:nvPr userDrawn="1"/>
        </p:nvSpPr>
        <p:spPr>
          <a:xfrm>
            <a:off x="625475" y="428625"/>
            <a:ext cx="7740650" cy="857250"/>
          </a:xfrm>
          <a:prstGeom prst="snip2SameRect">
            <a:avLst>
              <a:gd name="adj1" fmla="val 0"/>
              <a:gd name="adj2" fmla="val 27555"/>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2" name="组合 21"/>
          <p:cNvGrpSpPr/>
          <p:nvPr userDrawn="1"/>
        </p:nvGrpSpPr>
        <p:grpSpPr>
          <a:xfrm>
            <a:off x="625475" y="1095375"/>
            <a:ext cx="7740650" cy="115888"/>
            <a:chOff x="625475" y="1095375"/>
            <a:chExt cx="7740650" cy="115888"/>
          </a:xfrm>
        </p:grpSpPr>
        <p:cxnSp>
          <p:nvCxnSpPr>
            <p:cNvPr id="26" name="直接连接符 25"/>
            <p:cNvCxnSpPr/>
            <p:nvPr userDrawn="1"/>
          </p:nvCxnSpPr>
          <p:spPr>
            <a:xfrm>
              <a:off x="625475" y="10953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25475" y="115252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625475" y="12096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0" name="剪去同侧角的矩形 29"/>
          <p:cNvSpPr/>
          <p:nvPr userDrawn="1"/>
        </p:nvSpPr>
        <p:spPr>
          <a:xfrm flipV="1">
            <a:off x="625475" y="1556870"/>
            <a:ext cx="7740650" cy="5158276"/>
          </a:xfrm>
          <a:prstGeom prst="snip2SameRect">
            <a:avLst>
              <a:gd name="adj1" fmla="val 0"/>
              <a:gd name="adj2" fmla="val 0"/>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7" name="剪去同侧角的矩形 26"/>
          <p:cNvSpPr/>
          <p:nvPr userDrawn="1"/>
        </p:nvSpPr>
        <p:spPr>
          <a:xfrm flipV="1">
            <a:off x="625475" y="2394261"/>
            <a:ext cx="7740650" cy="72004"/>
          </a:xfrm>
          <a:prstGeom prst="snip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6" name="组合 5">
            <a:extLst>
              <a:ext uri="{FF2B5EF4-FFF2-40B4-BE49-F238E27FC236}">
                <a16:creationId xmlns:a16="http://schemas.microsoft.com/office/drawing/2014/main" id="{D9E5C294-D4F2-B298-4CF2-DF8EE2D12667}"/>
              </a:ext>
            </a:extLst>
          </p:cNvPr>
          <p:cNvGrpSpPr/>
          <p:nvPr userDrawn="1"/>
        </p:nvGrpSpPr>
        <p:grpSpPr>
          <a:xfrm>
            <a:off x="0" y="6715148"/>
            <a:ext cx="9144000" cy="142876"/>
            <a:chOff x="0" y="6715148"/>
            <a:chExt cx="9144000" cy="142876"/>
          </a:xfrm>
        </p:grpSpPr>
        <p:sp>
          <p:nvSpPr>
            <p:cNvPr id="7" name="单圆角矩形 11">
              <a:extLst>
                <a:ext uri="{FF2B5EF4-FFF2-40B4-BE49-F238E27FC236}">
                  <a16:creationId xmlns:a16="http://schemas.microsoft.com/office/drawing/2014/main" id="{92EC723F-5E6E-9CE0-1AFB-94DA63FF8C95}"/>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8" name="单圆角矩形 12">
              <a:extLst>
                <a:ext uri="{FF2B5EF4-FFF2-40B4-BE49-F238E27FC236}">
                  <a16:creationId xmlns:a16="http://schemas.microsoft.com/office/drawing/2014/main" id="{89B0B317-81B2-EB0A-5A5F-EAB32F61B7BE}"/>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同侧圆角矩形 21">
            <a:extLst>
              <a:ext uri="{FF2B5EF4-FFF2-40B4-BE49-F238E27FC236}">
                <a16:creationId xmlns:a16="http://schemas.microsoft.com/office/drawing/2014/main" id="{C5ABC89C-C333-6A83-46B1-9B09B44F9CFB}"/>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46">
            <a:extLst>
              <a:ext uri="{FF2B5EF4-FFF2-40B4-BE49-F238E27FC236}">
                <a16:creationId xmlns:a16="http://schemas.microsoft.com/office/drawing/2014/main" id="{FDF2109F-0C98-E277-2860-233377434C83}"/>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DCC7F7CE-2F71-90E7-3B63-B67E360AB173}"/>
              </a:ext>
            </a:extLst>
          </p:cNvPr>
          <p:cNvSpPr txBox="1">
            <a:spLocks noChangeArrowheads="1"/>
          </p:cNvSpPr>
          <p:nvPr userDrawn="1"/>
        </p:nvSpPr>
        <p:spPr bwMode="auto">
          <a:xfrm>
            <a:off x="648852" y="60766"/>
            <a:ext cx="357514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Words and Expressions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3483884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0_自定义版式">
    <p:spTree>
      <p:nvGrpSpPr>
        <p:cNvPr id="1" name=""/>
        <p:cNvGrpSpPr/>
        <p:nvPr/>
      </p:nvGrpSpPr>
      <p:grpSpPr>
        <a:xfrm>
          <a:off x="0" y="0"/>
          <a:ext cx="0" cy="0"/>
          <a:chOff x="0" y="0"/>
          <a:chExt cx="0" cy="0"/>
        </a:xfrm>
      </p:grpSpPr>
      <p:sp>
        <p:nvSpPr>
          <p:cNvPr id="21" name="剪去同侧角的矩形 20"/>
          <p:cNvSpPr/>
          <p:nvPr userDrawn="1"/>
        </p:nvSpPr>
        <p:spPr>
          <a:xfrm>
            <a:off x="625475" y="428625"/>
            <a:ext cx="7740650" cy="857250"/>
          </a:xfrm>
          <a:prstGeom prst="snip2SameRect">
            <a:avLst>
              <a:gd name="adj1" fmla="val 0"/>
              <a:gd name="adj2" fmla="val 27555"/>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2" name="组合 21"/>
          <p:cNvGrpSpPr/>
          <p:nvPr userDrawn="1"/>
        </p:nvGrpSpPr>
        <p:grpSpPr>
          <a:xfrm>
            <a:off x="625475" y="1095375"/>
            <a:ext cx="7740650" cy="115888"/>
            <a:chOff x="625475" y="1095375"/>
            <a:chExt cx="7740650" cy="115888"/>
          </a:xfrm>
        </p:grpSpPr>
        <p:cxnSp>
          <p:nvCxnSpPr>
            <p:cNvPr id="26" name="直接连接符 25"/>
            <p:cNvCxnSpPr/>
            <p:nvPr userDrawn="1"/>
          </p:nvCxnSpPr>
          <p:spPr>
            <a:xfrm>
              <a:off x="625475" y="10953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25475" y="115252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625475" y="12096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0" name="剪去同侧角的矩形 29"/>
          <p:cNvSpPr/>
          <p:nvPr userDrawn="1"/>
        </p:nvSpPr>
        <p:spPr>
          <a:xfrm flipV="1">
            <a:off x="625475" y="1556870"/>
            <a:ext cx="7740650" cy="5158276"/>
          </a:xfrm>
          <a:prstGeom prst="snip2SameRect">
            <a:avLst>
              <a:gd name="adj1" fmla="val 0"/>
              <a:gd name="adj2" fmla="val 0"/>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7" name="剪去同侧角的矩形 26"/>
          <p:cNvSpPr/>
          <p:nvPr userDrawn="1"/>
        </p:nvSpPr>
        <p:spPr>
          <a:xfrm flipV="1">
            <a:off x="625475" y="2722235"/>
            <a:ext cx="7740650" cy="72004"/>
          </a:xfrm>
          <a:prstGeom prst="snip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6" name="组合 5">
            <a:extLst>
              <a:ext uri="{FF2B5EF4-FFF2-40B4-BE49-F238E27FC236}">
                <a16:creationId xmlns:a16="http://schemas.microsoft.com/office/drawing/2014/main" id="{235A30C0-1636-0721-541D-2DFE9EFC9C49}"/>
              </a:ext>
            </a:extLst>
          </p:cNvPr>
          <p:cNvGrpSpPr/>
          <p:nvPr userDrawn="1"/>
        </p:nvGrpSpPr>
        <p:grpSpPr>
          <a:xfrm>
            <a:off x="0" y="6715148"/>
            <a:ext cx="9144000" cy="142876"/>
            <a:chOff x="0" y="6715148"/>
            <a:chExt cx="9144000" cy="142876"/>
          </a:xfrm>
        </p:grpSpPr>
        <p:sp>
          <p:nvSpPr>
            <p:cNvPr id="7" name="单圆角矩形 11">
              <a:extLst>
                <a:ext uri="{FF2B5EF4-FFF2-40B4-BE49-F238E27FC236}">
                  <a16:creationId xmlns:a16="http://schemas.microsoft.com/office/drawing/2014/main" id="{E2D65A9F-39D8-86F1-C56E-05489F0B26CD}"/>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8" name="单圆角矩形 12">
              <a:extLst>
                <a:ext uri="{FF2B5EF4-FFF2-40B4-BE49-F238E27FC236}">
                  <a16:creationId xmlns:a16="http://schemas.microsoft.com/office/drawing/2014/main" id="{4C36B5E6-54C6-45BB-326A-736B2FB08642}"/>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同侧圆角矩形 21">
            <a:extLst>
              <a:ext uri="{FF2B5EF4-FFF2-40B4-BE49-F238E27FC236}">
                <a16:creationId xmlns:a16="http://schemas.microsoft.com/office/drawing/2014/main" id="{B8E43D82-7378-690E-41B9-92488DF9AD7D}"/>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46">
            <a:extLst>
              <a:ext uri="{FF2B5EF4-FFF2-40B4-BE49-F238E27FC236}">
                <a16:creationId xmlns:a16="http://schemas.microsoft.com/office/drawing/2014/main" id="{8CBA6346-C51F-5D0E-90DA-1D90A3F038FD}"/>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94633BB5-EE2A-C6B7-A7B6-858429F7B627}"/>
              </a:ext>
            </a:extLst>
          </p:cNvPr>
          <p:cNvSpPr txBox="1">
            <a:spLocks noChangeArrowheads="1"/>
          </p:cNvSpPr>
          <p:nvPr userDrawn="1"/>
        </p:nvSpPr>
        <p:spPr bwMode="auto">
          <a:xfrm>
            <a:off x="648852" y="60766"/>
            <a:ext cx="357514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Words and Expressions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2969413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4_自定义版式">
    <p:spTree>
      <p:nvGrpSpPr>
        <p:cNvPr id="1" name=""/>
        <p:cNvGrpSpPr/>
        <p:nvPr/>
      </p:nvGrpSpPr>
      <p:grpSpPr>
        <a:xfrm>
          <a:off x="0" y="0"/>
          <a:ext cx="0" cy="0"/>
          <a:chOff x="0" y="0"/>
          <a:chExt cx="0" cy="0"/>
        </a:xfrm>
      </p:grpSpPr>
      <p:sp>
        <p:nvSpPr>
          <p:cNvPr id="21" name="剪去同侧角的矩形 20"/>
          <p:cNvSpPr/>
          <p:nvPr userDrawn="1"/>
        </p:nvSpPr>
        <p:spPr>
          <a:xfrm>
            <a:off x="625475" y="428625"/>
            <a:ext cx="7740650" cy="857250"/>
          </a:xfrm>
          <a:prstGeom prst="snip2SameRect">
            <a:avLst>
              <a:gd name="adj1" fmla="val 0"/>
              <a:gd name="adj2" fmla="val 27555"/>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2" name="组合 21"/>
          <p:cNvGrpSpPr/>
          <p:nvPr userDrawn="1"/>
        </p:nvGrpSpPr>
        <p:grpSpPr>
          <a:xfrm>
            <a:off x="625475" y="1095375"/>
            <a:ext cx="7740650" cy="115888"/>
            <a:chOff x="625475" y="1095375"/>
            <a:chExt cx="7740650" cy="115888"/>
          </a:xfrm>
        </p:grpSpPr>
        <p:cxnSp>
          <p:nvCxnSpPr>
            <p:cNvPr id="26" name="直接连接符 25"/>
            <p:cNvCxnSpPr/>
            <p:nvPr userDrawn="1"/>
          </p:nvCxnSpPr>
          <p:spPr>
            <a:xfrm>
              <a:off x="625475" y="10953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userDrawn="1"/>
          </p:nvCxnSpPr>
          <p:spPr>
            <a:xfrm>
              <a:off x="625475" y="115252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userDrawn="1"/>
          </p:nvCxnSpPr>
          <p:spPr>
            <a:xfrm>
              <a:off x="625475" y="1209675"/>
              <a:ext cx="7740650" cy="15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0" name="剪去同侧角的矩形 29"/>
          <p:cNvSpPr/>
          <p:nvPr userDrawn="1"/>
        </p:nvSpPr>
        <p:spPr>
          <a:xfrm flipV="1">
            <a:off x="625475" y="1556870"/>
            <a:ext cx="7740650" cy="5158276"/>
          </a:xfrm>
          <a:prstGeom prst="snip2SameRect">
            <a:avLst>
              <a:gd name="adj1" fmla="val 0"/>
              <a:gd name="adj2" fmla="val 0"/>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7" name="剪去同侧角的矩形 26"/>
          <p:cNvSpPr/>
          <p:nvPr userDrawn="1"/>
        </p:nvSpPr>
        <p:spPr>
          <a:xfrm flipV="1">
            <a:off x="625475" y="3095261"/>
            <a:ext cx="7740650" cy="72004"/>
          </a:xfrm>
          <a:prstGeom prst="snip2SameRect">
            <a:avLst>
              <a:gd name="adj1" fmla="val 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6" name="组合 5">
            <a:extLst>
              <a:ext uri="{FF2B5EF4-FFF2-40B4-BE49-F238E27FC236}">
                <a16:creationId xmlns:a16="http://schemas.microsoft.com/office/drawing/2014/main" id="{2F5881DA-95F5-2E32-F2FD-0C790ADFBD96}"/>
              </a:ext>
            </a:extLst>
          </p:cNvPr>
          <p:cNvGrpSpPr/>
          <p:nvPr userDrawn="1"/>
        </p:nvGrpSpPr>
        <p:grpSpPr>
          <a:xfrm>
            <a:off x="0" y="6715148"/>
            <a:ext cx="9144000" cy="142876"/>
            <a:chOff x="0" y="6715148"/>
            <a:chExt cx="9144000" cy="142876"/>
          </a:xfrm>
        </p:grpSpPr>
        <p:sp>
          <p:nvSpPr>
            <p:cNvPr id="7" name="单圆角矩形 11">
              <a:extLst>
                <a:ext uri="{FF2B5EF4-FFF2-40B4-BE49-F238E27FC236}">
                  <a16:creationId xmlns:a16="http://schemas.microsoft.com/office/drawing/2014/main" id="{BC169587-109E-1E8C-E421-B0B73E187A41}"/>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8" name="单圆角矩形 12">
              <a:extLst>
                <a:ext uri="{FF2B5EF4-FFF2-40B4-BE49-F238E27FC236}">
                  <a16:creationId xmlns:a16="http://schemas.microsoft.com/office/drawing/2014/main" id="{F96EFD5F-8E22-2C74-D229-F454D72658D5}"/>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同侧圆角矩形 21">
            <a:extLst>
              <a:ext uri="{FF2B5EF4-FFF2-40B4-BE49-F238E27FC236}">
                <a16:creationId xmlns:a16="http://schemas.microsoft.com/office/drawing/2014/main" id="{1634C41C-6CD1-9423-DA04-8E8970D32C64}"/>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单圆角矩形 46">
            <a:extLst>
              <a:ext uri="{FF2B5EF4-FFF2-40B4-BE49-F238E27FC236}">
                <a16:creationId xmlns:a16="http://schemas.microsoft.com/office/drawing/2014/main" id="{3684E4D6-B3DA-AC2F-C677-833FA45B5B47}"/>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46">
            <a:extLst>
              <a:ext uri="{FF2B5EF4-FFF2-40B4-BE49-F238E27FC236}">
                <a16:creationId xmlns:a16="http://schemas.microsoft.com/office/drawing/2014/main" id="{5E81329A-60B4-2517-FEFB-329407D25F49}"/>
              </a:ext>
            </a:extLst>
          </p:cNvPr>
          <p:cNvSpPr txBox="1">
            <a:spLocks noChangeArrowheads="1"/>
          </p:cNvSpPr>
          <p:nvPr userDrawn="1"/>
        </p:nvSpPr>
        <p:spPr bwMode="auto">
          <a:xfrm>
            <a:off x="648852" y="60766"/>
            <a:ext cx="3575146"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Key Words and Expressions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2014868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0_自定义版式">
    <p:spTree>
      <p:nvGrpSpPr>
        <p:cNvPr id="1" name=""/>
        <p:cNvGrpSpPr/>
        <p:nvPr/>
      </p:nvGrpSpPr>
      <p:grpSpPr>
        <a:xfrm>
          <a:off x="0" y="0"/>
          <a:ext cx="0" cy="0"/>
          <a:chOff x="0" y="0"/>
          <a:chExt cx="0" cy="0"/>
        </a:xfrm>
      </p:grpSpPr>
      <p:sp>
        <p:nvSpPr>
          <p:cNvPr id="34" name="矩形 33"/>
          <p:cNvSpPr/>
          <p:nvPr userDrawn="1"/>
        </p:nvSpPr>
        <p:spPr>
          <a:xfrm>
            <a:off x="0" y="0"/>
            <a:ext cx="9144000" cy="1025320"/>
          </a:xfrm>
          <a:prstGeom prst="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 name="组合 1">
            <a:extLst>
              <a:ext uri="{FF2B5EF4-FFF2-40B4-BE49-F238E27FC236}">
                <a16:creationId xmlns:a16="http://schemas.microsoft.com/office/drawing/2014/main" id="{B87FF6E1-1BD8-0E18-4C04-3C90FBB16551}"/>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FE7D7901-5471-6B57-A9AB-4FB9C0C635F3}"/>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372D4E37-CA89-DD12-3A75-0A3E377EF430}"/>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F13E1408-59DD-ADD4-DFFC-67F8109E90E6}"/>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B111FD22-5172-E223-A7E7-6E609F13C794}"/>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9C98C110-97DE-CD76-8E64-03242E355BA2}"/>
              </a:ext>
            </a:extLst>
          </p:cNvPr>
          <p:cNvSpPr txBox="1">
            <a:spLocks noChangeArrowheads="1"/>
          </p:cNvSpPr>
          <p:nvPr userDrawn="1"/>
        </p:nvSpPr>
        <p:spPr bwMode="auto">
          <a:xfrm>
            <a:off x="648852" y="60766"/>
            <a:ext cx="2507802"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Difficult Sentences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7342653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5_自定义版式">
    <p:spTree>
      <p:nvGrpSpPr>
        <p:cNvPr id="1" name=""/>
        <p:cNvGrpSpPr/>
        <p:nvPr/>
      </p:nvGrpSpPr>
      <p:grpSpPr>
        <a:xfrm>
          <a:off x="0" y="0"/>
          <a:ext cx="0" cy="0"/>
          <a:chOff x="0" y="0"/>
          <a:chExt cx="0" cy="0"/>
        </a:xfrm>
      </p:grpSpPr>
      <p:sp>
        <p:nvSpPr>
          <p:cNvPr id="34" name="矩形 33"/>
          <p:cNvSpPr/>
          <p:nvPr userDrawn="1"/>
        </p:nvSpPr>
        <p:spPr>
          <a:xfrm>
            <a:off x="0" y="0"/>
            <a:ext cx="9144000" cy="1394652"/>
          </a:xfrm>
          <a:prstGeom prst="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 name="组合 1">
            <a:extLst>
              <a:ext uri="{FF2B5EF4-FFF2-40B4-BE49-F238E27FC236}">
                <a16:creationId xmlns:a16="http://schemas.microsoft.com/office/drawing/2014/main" id="{066F4BCE-83CF-F3A3-3BAC-907ACD95581A}"/>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28D0C29D-2A4C-E483-EB51-FAFE989AF8B5}"/>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DE710853-113D-CB9B-F683-4AF0E1805CD3}"/>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26E43CEE-2236-3EE3-ADE4-7CC44DCD539E}"/>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C4C59E49-E631-40E6-4C0E-31B3DAF3BB6E}"/>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FA812F34-DCC2-05A1-232B-272E2B69AECE}"/>
              </a:ext>
            </a:extLst>
          </p:cNvPr>
          <p:cNvSpPr txBox="1">
            <a:spLocks noChangeArrowheads="1"/>
          </p:cNvSpPr>
          <p:nvPr userDrawn="1"/>
        </p:nvSpPr>
        <p:spPr bwMode="auto">
          <a:xfrm>
            <a:off x="648852" y="60766"/>
            <a:ext cx="2507802"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Difficult Sentences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19045562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5_自定义版式">
    <p:spTree>
      <p:nvGrpSpPr>
        <p:cNvPr id="1" name=""/>
        <p:cNvGrpSpPr/>
        <p:nvPr/>
      </p:nvGrpSpPr>
      <p:grpSpPr>
        <a:xfrm>
          <a:off x="0" y="0"/>
          <a:ext cx="0" cy="0"/>
          <a:chOff x="0" y="0"/>
          <a:chExt cx="0" cy="0"/>
        </a:xfrm>
      </p:grpSpPr>
      <p:sp>
        <p:nvSpPr>
          <p:cNvPr id="34" name="矩形 33"/>
          <p:cNvSpPr/>
          <p:nvPr userDrawn="1"/>
        </p:nvSpPr>
        <p:spPr>
          <a:xfrm>
            <a:off x="0" y="0"/>
            <a:ext cx="9144000" cy="1763984"/>
          </a:xfrm>
          <a:prstGeom prst="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 name="组合 1">
            <a:extLst>
              <a:ext uri="{FF2B5EF4-FFF2-40B4-BE49-F238E27FC236}">
                <a16:creationId xmlns:a16="http://schemas.microsoft.com/office/drawing/2014/main" id="{BBFC29E6-5F3C-FD30-A77D-11A9BF410CAF}"/>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6E57CA96-05E8-F429-0EBC-E552CD904F35}"/>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B181DDC8-D2A9-4966-71C5-ED9268F3F1BD}"/>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8EBA9268-1D47-5900-A2E3-5221D77ECFF2}"/>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1E2CCADA-B19B-7083-374F-A0C6FEA92856}"/>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EF3707D6-DF4F-1BDE-097B-614D141EBE02}"/>
              </a:ext>
            </a:extLst>
          </p:cNvPr>
          <p:cNvSpPr txBox="1">
            <a:spLocks noChangeArrowheads="1"/>
          </p:cNvSpPr>
          <p:nvPr userDrawn="1"/>
        </p:nvSpPr>
        <p:spPr bwMode="auto">
          <a:xfrm>
            <a:off x="648852" y="60766"/>
            <a:ext cx="2507802"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Difficult Sentences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34634485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9_自定义版式">
    <p:spTree>
      <p:nvGrpSpPr>
        <p:cNvPr id="1" name=""/>
        <p:cNvGrpSpPr/>
        <p:nvPr/>
      </p:nvGrpSpPr>
      <p:grpSpPr>
        <a:xfrm>
          <a:off x="0" y="0"/>
          <a:ext cx="0" cy="0"/>
          <a:chOff x="0" y="0"/>
          <a:chExt cx="0" cy="0"/>
        </a:xfrm>
      </p:grpSpPr>
      <p:sp>
        <p:nvSpPr>
          <p:cNvPr id="34" name="矩形 33"/>
          <p:cNvSpPr/>
          <p:nvPr userDrawn="1"/>
        </p:nvSpPr>
        <p:spPr>
          <a:xfrm>
            <a:off x="0" y="-1"/>
            <a:ext cx="9144000" cy="2133315"/>
          </a:xfrm>
          <a:prstGeom prst="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 name="组合 1">
            <a:extLst>
              <a:ext uri="{FF2B5EF4-FFF2-40B4-BE49-F238E27FC236}">
                <a16:creationId xmlns:a16="http://schemas.microsoft.com/office/drawing/2014/main" id="{4CC14B69-4A7D-E8B3-C001-ABA2FE6C2055}"/>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D48B6A85-46D4-77CA-6999-59FC165E4334}"/>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4A38741B-D4E7-E21A-1DBD-F7EC28B74686}"/>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CC11BD85-7B78-4E6A-1782-9E048473D81B}"/>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2F51B4CE-705E-EAEA-F3E9-9E69BA46A0B4}"/>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42D38555-D537-0BBB-241F-3EBF1FE4DC4A}"/>
              </a:ext>
            </a:extLst>
          </p:cNvPr>
          <p:cNvSpPr txBox="1">
            <a:spLocks noChangeArrowheads="1"/>
          </p:cNvSpPr>
          <p:nvPr userDrawn="1"/>
        </p:nvSpPr>
        <p:spPr bwMode="auto">
          <a:xfrm>
            <a:off x="648852" y="60766"/>
            <a:ext cx="2507802"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Difficult Sentences</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5045061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73_自定义版式">
    <p:spTree>
      <p:nvGrpSpPr>
        <p:cNvPr id="1" name=""/>
        <p:cNvGrpSpPr/>
        <p:nvPr/>
      </p:nvGrpSpPr>
      <p:grpSpPr>
        <a:xfrm>
          <a:off x="0" y="0"/>
          <a:ext cx="0" cy="0"/>
          <a:chOff x="0" y="0"/>
          <a:chExt cx="0" cy="0"/>
        </a:xfrm>
      </p:grpSpPr>
      <p:grpSp>
        <p:nvGrpSpPr>
          <p:cNvPr id="21" name="组合 18"/>
          <p:cNvGrpSpPr>
            <a:grpSpLocks/>
          </p:cNvGrpSpPr>
          <p:nvPr userDrawn="1"/>
        </p:nvGrpSpPr>
        <p:grpSpPr bwMode="auto">
          <a:xfrm>
            <a:off x="612775" y="1852613"/>
            <a:ext cx="7918450" cy="125412"/>
            <a:chOff x="428596" y="1584212"/>
            <a:chExt cx="8280000" cy="125100"/>
          </a:xfrm>
          <a:solidFill>
            <a:srgbClr val="EBF2EF"/>
          </a:solidFill>
        </p:grpSpPr>
        <p:sp>
          <p:nvSpPr>
            <p:cNvPr id="22" name="矩形 21"/>
            <p:cNvSpPr/>
            <p:nvPr/>
          </p:nvSpPr>
          <p:spPr>
            <a:xfrm>
              <a:off x="428596" y="1584212"/>
              <a:ext cx="8280000" cy="174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3" name="矩形 22"/>
            <p:cNvSpPr/>
            <p:nvPr/>
          </p:nvSpPr>
          <p:spPr>
            <a:xfrm>
              <a:off x="428596" y="1642803"/>
              <a:ext cx="8280000" cy="1425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4" name="矩形 23"/>
            <p:cNvSpPr/>
            <p:nvPr/>
          </p:nvSpPr>
          <p:spPr>
            <a:xfrm>
              <a:off x="428596" y="1698228"/>
              <a:ext cx="8280000" cy="1108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grpSp>
        <p:nvGrpSpPr>
          <p:cNvPr id="29" name="组合 19"/>
          <p:cNvGrpSpPr/>
          <p:nvPr userDrawn="1"/>
        </p:nvGrpSpPr>
        <p:grpSpPr>
          <a:xfrm>
            <a:off x="612000" y="5585152"/>
            <a:ext cx="7920000" cy="125100"/>
            <a:chOff x="428596" y="1584212"/>
            <a:chExt cx="8280000" cy="125100"/>
          </a:xfrm>
          <a:solidFill>
            <a:srgbClr val="EBF2EF"/>
          </a:solidFill>
        </p:grpSpPr>
        <p:sp>
          <p:nvSpPr>
            <p:cNvPr id="31" name="矩形 30"/>
            <p:cNvSpPr/>
            <p:nvPr/>
          </p:nvSpPr>
          <p:spPr>
            <a:xfrm>
              <a:off x="428596" y="1584212"/>
              <a:ext cx="8280000" cy="1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32" name="矩形 31"/>
            <p:cNvSpPr/>
            <p:nvPr/>
          </p:nvSpPr>
          <p:spPr>
            <a:xfrm>
              <a:off x="428596" y="1643162"/>
              <a:ext cx="8280000" cy="14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39" name="矩形 38"/>
            <p:cNvSpPr/>
            <p:nvPr/>
          </p:nvSpPr>
          <p:spPr>
            <a:xfrm>
              <a:off x="428596" y="1698512"/>
              <a:ext cx="8280000" cy="10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sp>
        <p:nvSpPr>
          <p:cNvPr id="40" name="同侧圆角矩形 39"/>
          <p:cNvSpPr/>
          <p:nvPr userDrawn="1"/>
        </p:nvSpPr>
        <p:spPr>
          <a:xfrm>
            <a:off x="612775" y="806450"/>
            <a:ext cx="7918450" cy="1008063"/>
          </a:xfrm>
          <a:prstGeom prst="round2SameRect">
            <a:avLst>
              <a:gd name="adj1" fmla="val 10997"/>
              <a:gd name="adj2" fmla="val 0"/>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41" name="同侧圆角矩形 40"/>
          <p:cNvSpPr/>
          <p:nvPr userDrawn="1"/>
        </p:nvSpPr>
        <p:spPr>
          <a:xfrm rot="10800000">
            <a:off x="612775" y="5761038"/>
            <a:ext cx="7918450" cy="576262"/>
          </a:xfrm>
          <a:prstGeom prst="round2Same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2" name="组合 1">
            <a:extLst>
              <a:ext uri="{FF2B5EF4-FFF2-40B4-BE49-F238E27FC236}">
                <a16:creationId xmlns:a16="http://schemas.microsoft.com/office/drawing/2014/main" id="{4B33132C-0022-00AC-7E16-6D2EBCA21F33}"/>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5A7CCD4A-AF09-777F-DDBB-7A74B9F40DE1}"/>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68B1FD48-92DE-DE39-241D-CD1E05A72984}"/>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EE2E4DC1-0F15-C198-05A0-D81EE127E59E}"/>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D0AB8FDA-4510-69DA-9C6B-5D4A3816D0DA}"/>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9503CAFA-D3EC-AD8E-B7DC-1D43B1B58F5A}"/>
              </a:ext>
            </a:extLst>
          </p:cNvPr>
          <p:cNvSpPr txBox="1">
            <a:spLocks noChangeArrowheads="1"/>
          </p:cNvSpPr>
          <p:nvPr userDrawn="1"/>
        </p:nvSpPr>
        <p:spPr bwMode="auto">
          <a:xfrm>
            <a:off x="648852" y="60766"/>
            <a:ext cx="2136995"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Text Translation</a:t>
            </a:r>
            <a:endParaRPr lang="zh-CN" altLang="zh-CN" sz="2400" b="0" kern="1200" dirty="0">
              <a:solidFill>
                <a:schemeClr val="bg1"/>
              </a:solidFill>
              <a:effectLst/>
              <a:latin typeface="Calibri" pitchFamily="34" charset="0"/>
              <a:ea typeface="宋体"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62_自定义版式">
    <p:spTree>
      <p:nvGrpSpPr>
        <p:cNvPr id="1" name=""/>
        <p:cNvGrpSpPr/>
        <p:nvPr/>
      </p:nvGrpSpPr>
      <p:grpSpPr>
        <a:xfrm>
          <a:off x="0" y="0"/>
          <a:ext cx="0" cy="0"/>
          <a:chOff x="0" y="0"/>
          <a:chExt cx="0" cy="0"/>
        </a:xfrm>
      </p:grpSpPr>
      <p:grpSp>
        <p:nvGrpSpPr>
          <p:cNvPr id="51" name="组合 18"/>
          <p:cNvGrpSpPr>
            <a:grpSpLocks/>
          </p:cNvGrpSpPr>
          <p:nvPr userDrawn="1"/>
        </p:nvGrpSpPr>
        <p:grpSpPr bwMode="auto">
          <a:xfrm>
            <a:off x="612775" y="1457325"/>
            <a:ext cx="7918450" cy="125413"/>
            <a:chOff x="428596" y="1584212"/>
            <a:chExt cx="8280000" cy="125100"/>
          </a:xfrm>
          <a:solidFill>
            <a:srgbClr val="EBF2EF"/>
          </a:solidFill>
        </p:grpSpPr>
        <p:sp>
          <p:nvSpPr>
            <p:cNvPr id="52" name="矩形 51"/>
            <p:cNvSpPr/>
            <p:nvPr/>
          </p:nvSpPr>
          <p:spPr>
            <a:xfrm>
              <a:off x="428596" y="1584212"/>
              <a:ext cx="8280000" cy="174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53" name="矩形 52"/>
            <p:cNvSpPr/>
            <p:nvPr/>
          </p:nvSpPr>
          <p:spPr>
            <a:xfrm>
              <a:off x="428596" y="1642803"/>
              <a:ext cx="8280000" cy="142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54" name="矩形 53"/>
            <p:cNvSpPr/>
            <p:nvPr/>
          </p:nvSpPr>
          <p:spPr>
            <a:xfrm>
              <a:off x="428596" y="1698227"/>
              <a:ext cx="8280000" cy="1108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sp>
        <p:nvSpPr>
          <p:cNvPr id="55" name="同侧圆角矩形 54"/>
          <p:cNvSpPr/>
          <p:nvPr userDrawn="1"/>
        </p:nvSpPr>
        <p:spPr>
          <a:xfrm>
            <a:off x="612775" y="806450"/>
            <a:ext cx="7918450" cy="576263"/>
          </a:xfrm>
          <a:prstGeom prst="round2Same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56" name="同侧圆角矩形 55"/>
          <p:cNvSpPr/>
          <p:nvPr userDrawn="1"/>
        </p:nvSpPr>
        <p:spPr>
          <a:xfrm rot="10800000">
            <a:off x="612775" y="5761038"/>
            <a:ext cx="7918450" cy="576262"/>
          </a:xfrm>
          <a:prstGeom prst="round2Same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57" name="组合 19"/>
          <p:cNvGrpSpPr/>
          <p:nvPr userDrawn="1"/>
        </p:nvGrpSpPr>
        <p:grpSpPr>
          <a:xfrm>
            <a:off x="612000" y="5585152"/>
            <a:ext cx="7920000" cy="125100"/>
            <a:chOff x="428596" y="1584212"/>
            <a:chExt cx="8280000" cy="125100"/>
          </a:xfrm>
          <a:solidFill>
            <a:srgbClr val="EBF2EF"/>
          </a:solidFill>
        </p:grpSpPr>
        <p:sp>
          <p:nvSpPr>
            <p:cNvPr id="58" name="矩形 57"/>
            <p:cNvSpPr/>
            <p:nvPr/>
          </p:nvSpPr>
          <p:spPr>
            <a:xfrm>
              <a:off x="428596" y="1584212"/>
              <a:ext cx="8280000" cy="1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59" name="矩形 58"/>
            <p:cNvSpPr/>
            <p:nvPr/>
          </p:nvSpPr>
          <p:spPr>
            <a:xfrm>
              <a:off x="428596" y="1643162"/>
              <a:ext cx="8280000" cy="14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60" name="矩形 59"/>
            <p:cNvSpPr/>
            <p:nvPr/>
          </p:nvSpPr>
          <p:spPr>
            <a:xfrm>
              <a:off x="428596" y="1698512"/>
              <a:ext cx="8280000" cy="10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grpSp>
        <p:nvGrpSpPr>
          <p:cNvPr id="2" name="组合 1">
            <a:extLst>
              <a:ext uri="{FF2B5EF4-FFF2-40B4-BE49-F238E27FC236}">
                <a16:creationId xmlns:a16="http://schemas.microsoft.com/office/drawing/2014/main" id="{3BECB2FE-CE65-D947-DE69-421CFF95CC72}"/>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AF3D9D35-D3C8-6EDA-2484-5BA953177E9A}"/>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98715ED2-48D9-B376-B1DC-49BF3A5E63C2}"/>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同侧圆角矩形 21">
            <a:extLst>
              <a:ext uri="{FF2B5EF4-FFF2-40B4-BE49-F238E27FC236}">
                <a16:creationId xmlns:a16="http://schemas.microsoft.com/office/drawing/2014/main" id="{89C0169D-7C87-E166-7C50-3202B7A78E6D}"/>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653B189D-0B01-1999-C4FF-3D46E46DA202}"/>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8E29F6FC-E5F3-64E6-6237-AD1E331CBB92}"/>
              </a:ext>
            </a:extLst>
          </p:cNvPr>
          <p:cNvSpPr txBox="1">
            <a:spLocks noChangeArrowheads="1"/>
          </p:cNvSpPr>
          <p:nvPr userDrawn="1"/>
        </p:nvSpPr>
        <p:spPr bwMode="auto">
          <a:xfrm>
            <a:off x="648852" y="60766"/>
            <a:ext cx="2136995"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Text Translation</a:t>
            </a:r>
            <a:endParaRPr lang="zh-CN" altLang="zh-CN" sz="2400" b="0" kern="1200" dirty="0">
              <a:solidFill>
                <a:schemeClr val="bg1"/>
              </a:solidFill>
              <a:effectLst/>
              <a:latin typeface="Calibri" pitchFamily="34" charset="0"/>
              <a:ea typeface="宋体" pitchFamily="2" charset="-122"/>
              <a:cs typeface="+mn-cs"/>
            </a:endParaRPr>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3_自定义版式">
    <p:spTree>
      <p:nvGrpSpPr>
        <p:cNvPr id="1" name=""/>
        <p:cNvGrpSpPr/>
        <p:nvPr/>
      </p:nvGrpSpPr>
      <p:grpSpPr>
        <a:xfrm>
          <a:off x="0" y="0"/>
          <a:ext cx="0" cy="0"/>
          <a:chOff x="0" y="0"/>
          <a:chExt cx="0" cy="0"/>
        </a:xfrm>
      </p:grpSpPr>
      <p:grpSp>
        <p:nvGrpSpPr>
          <p:cNvPr id="22" name="组合 18"/>
          <p:cNvGrpSpPr>
            <a:grpSpLocks/>
          </p:cNvGrpSpPr>
          <p:nvPr userDrawn="1"/>
        </p:nvGrpSpPr>
        <p:grpSpPr bwMode="auto">
          <a:xfrm>
            <a:off x="612775" y="1457325"/>
            <a:ext cx="7918450" cy="125413"/>
            <a:chOff x="428596" y="1584212"/>
            <a:chExt cx="8280000" cy="125100"/>
          </a:xfrm>
          <a:solidFill>
            <a:srgbClr val="EBF2EF"/>
          </a:solidFill>
        </p:grpSpPr>
        <p:sp>
          <p:nvSpPr>
            <p:cNvPr id="23" name="矩形 22"/>
            <p:cNvSpPr/>
            <p:nvPr/>
          </p:nvSpPr>
          <p:spPr>
            <a:xfrm>
              <a:off x="428596" y="1584212"/>
              <a:ext cx="8280000" cy="174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8" name="矩形 27"/>
            <p:cNvSpPr/>
            <p:nvPr/>
          </p:nvSpPr>
          <p:spPr>
            <a:xfrm>
              <a:off x="428596" y="1642803"/>
              <a:ext cx="8280000" cy="1425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29" name="矩形 28"/>
            <p:cNvSpPr/>
            <p:nvPr/>
          </p:nvSpPr>
          <p:spPr>
            <a:xfrm>
              <a:off x="428596" y="1698227"/>
              <a:ext cx="8280000" cy="1108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sp>
        <p:nvSpPr>
          <p:cNvPr id="30" name="同侧圆角矩形 29"/>
          <p:cNvSpPr/>
          <p:nvPr userDrawn="1"/>
        </p:nvSpPr>
        <p:spPr>
          <a:xfrm>
            <a:off x="612775" y="806450"/>
            <a:ext cx="7918450" cy="576263"/>
          </a:xfrm>
          <a:prstGeom prst="round2Same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31" name="同侧圆角矩形 30"/>
          <p:cNvSpPr/>
          <p:nvPr userDrawn="1"/>
        </p:nvSpPr>
        <p:spPr>
          <a:xfrm rot="10800000">
            <a:off x="612775" y="5761038"/>
            <a:ext cx="7918450" cy="576262"/>
          </a:xfrm>
          <a:prstGeom prst="round2SameRect">
            <a:avLst/>
          </a:prstGeom>
          <a:solidFill>
            <a:srgbClr val="EBF2E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nvGrpSpPr>
          <p:cNvPr id="32" name="组合 19"/>
          <p:cNvGrpSpPr/>
          <p:nvPr userDrawn="1"/>
        </p:nvGrpSpPr>
        <p:grpSpPr>
          <a:xfrm>
            <a:off x="612000" y="5585152"/>
            <a:ext cx="7920000" cy="125100"/>
            <a:chOff x="428596" y="1584212"/>
            <a:chExt cx="8280000" cy="125100"/>
          </a:xfrm>
          <a:solidFill>
            <a:srgbClr val="EBF2EF"/>
          </a:solidFill>
        </p:grpSpPr>
        <p:sp>
          <p:nvSpPr>
            <p:cNvPr id="33" name="矩形 32"/>
            <p:cNvSpPr/>
            <p:nvPr/>
          </p:nvSpPr>
          <p:spPr>
            <a:xfrm>
              <a:off x="428596" y="1584212"/>
              <a:ext cx="8280000" cy="1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34" name="矩形 33"/>
            <p:cNvSpPr/>
            <p:nvPr/>
          </p:nvSpPr>
          <p:spPr>
            <a:xfrm>
              <a:off x="428596" y="1643162"/>
              <a:ext cx="8280000" cy="144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sp>
          <p:nvSpPr>
            <p:cNvPr id="35" name="矩形 34"/>
            <p:cNvSpPr/>
            <p:nvPr/>
          </p:nvSpPr>
          <p:spPr>
            <a:xfrm>
              <a:off x="428596" y="1698512"/>
              <a:ext cx="8280000" cy="108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defRPr/>
              </a:pPr>
              <a:endParaRPr lang="zh-CN" altLang="en-US" noProof="1"/>
            </a:p>
          </p:txBody>
        </p:sp>
      </p:grpSp>
      <p:grpSp>
        <p:nvGrpSpPr>
          <p:cNvPr id="2" name="组合 1">
            <a:extLst>
              <a:ext uri="{FF2B5EF4-FFF2-40B4-BE49-F238E27FC236}">
                <a16:creationId xmlns:a16="http://schemas.microsoft.com/office/drawing/2014/main" id="{E3C92120-0DA4-E83D-FEA9-3C8995D49514}"/>
              </a:ext>
            </a:extLst>
          </p:cNvPr>
          <p:cNvGrpSpPr/>
          <p:nvPr userDrawn="1"/>
        </p:nvGrpSpPr>
        <p:grpSpPr>
          <a:xfrm>
            <a:off x="0" y="6715148"/>
            <a:ext cx="9144000" cy="142876"/>
            <a:chOff x="0" y="6715148"/>
            <a:chExt cx="9144000" cy="142876"/>
          </a:xfrm>
        </p:grpSpPr>
        <p:sp>
          <p:nvSpPr>
            <p:cNvPr id="3" name="单圆角矩形 11">
              <a:extLst>
                <a:ext uri="{FF2B5EF4-FFF2-40B4-BE49-F238E27FC236}">
                  <a16:creationId xmlns:a16="http://schemas.microsoft.com/office/drawing/2014/main" id="{5B79DC74-6453-FCBB-1979-F144B6FB7A24}"/>
                </a:ext>
              </a:extLst>
            </p:cNvPr>
            <p:cNvSpPr/>
            <p:nvPr/>
          </p:nvSpPr>
          <p:spPr>
            <a:xfrm>
              <a:off x="0" y="6715148"/>
              <a:ext cx="9144000" cy="142876"/>
            </a:xfrm>
            <a:prstGeom prst="round1Rect">
              <a:avLst>
                <a:gd name="adj" fmla="val 0"/>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ysClr val="windowText" lastClr="000000"/>
                </a:solidFill>
              </a:endParaRPr>
            </a:p>
          </p:txBody>
        </p:sp>
        <p:sp>
          <p:nvSpPr>
            <p:cNvPr id="4" name="单圆角矩形 12">
              <a:extLst>
                <a:ext uri="{FF2B5EF4-FFF2-40B4-BE49-F238E27FC236}">
                  <a16:creationId xmlns:a16="http://schemas.microsoft.com/office/drawing/2014/main" id="{5E5CEE0E-CE56-72F3-9AA7-77073C36358B}"/>
                </a:ext>
              </a:extLst>
            </p:cNvPr>
            <p:cNvSpPr/>
            <p:nvPr/>
          </p:nvSpPr>
          <p:spPr>
            <a:xfrm flipV="1">
              <a:off x="0" y="6736080"/>
              <a:ext cx="9144000" cy="36000"/>
            </a:xfrm>
            <a:prstGeom prst="round1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剪去单角的矩形 13">
            <a:extLst>
              <a:ext uri="{FF2B5EF4-FFF2-40B4-BE49-F238E27FC236}">
                <a16:creationId xmlns:a16="http://schemas.microsoft.com/office/drawing/2014/main" id="{9E9AC7CC-61A1-BEBE-2064-63B5F8C6DA86}"/>
              </a:ext>
            </a:extLst>
          </p:cNvPr>
          <p:cNvSpPr/>
          <p:nvPr userDrawn="1"/>
        </p:nvSpPr>
        <p:spPr>
          <a:xfrm flipH="1">
            <a:off x="8215338" y="6357958"/>
            <a:ext cx="928662" cy="357189"/>
          </a:xfrm>
          <a:prstGeom prst="snip1Rect">
            <a:avLst>
              <a:gd name="adj" fmla="val 34429"/>
            </a:avLst>
          </a:prstGeom>
          <a:solidFill>
            <a:srgbClr val="56A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同侧圆角矩形 21">
            <a:extLst>
              <a:ext uri="{FF2B5EF4-FFF2-40B4-BE49-F238E27FC236}">
                <a16:creationId xmlns:a16="http://schemas.microsoft.com/office/drawing/2014/main" id="{7D215E2C-C19F-55C2-6306-7DB8073D6B73}"/>
              </a:ext>
            </a:extLst>
          </p:cNvPr>
          <p:cNvSpPr/>
          <p:nvPr userDrawn="1"/>
        </p:nvSpPr>
        <p:spPr>
          <a:xfrm rot="10800000">
            <a:off x="0" y="-26"/>
            <a:ext cx="9144000" cy="550076"/>
          </a:xfrm>
          <a:prstGeom prst="round2SameRect">
            <a:avLst>
              <a:gd name="adj1" fmla="val 0"/>
              <a:gd name="adj2" fmla="val 0"/>
            </a:avLst>
          </a:prstGeom>
          <a:solidFill>
            <a:srgbClr val="56AB9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单圆角矩形 46">
            <a:extLst>
              <a:ext uri="{FF2B5EF4-FFF2-40B4-BE49-F238E27FC236}">
                <a16:creationId xmlns:a16="http://schemas.microsoft.com/office/drawing/2014/main" id="{A893A227-7A75-9287-71C0-FC499EB028E9}"/>
              </a:ext>
            </a:extLst>
          </p:cNvPr>
          <p:cNvSpPr/>
          <p:nvPr userDrawn="1"/>
        </p:nvSpPr>
        <p:spPr>
          <a:xfrm flipV="1">
            <a:off x="-32" y="-25"/>
            <a:ext cx="571504" cy="602378"/>
          </a:xfrm>
          <a:prstGeom prst="round1Rect">
            <a:avLst>
              <a:gd name="adj" fmla="val 0"/>
            </a:avLst>
          </a:prstGeom>
          <a:solidFill>
            <a:srgbClr val="C6383E"/>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46">
            <a:extLst>
              <a:ext uri="{FF2B5EF4-FFF2-40B4-BE49-F238E27FC236}">
                <a16:creationId xmlns:a16="http://schemas.microsoft.com/office/drawing/2014/main" id="{28D7D8C7-F71E-27FB-9F5C-5E24A5853B90}"/>
              </a:ext>
            </a:extLst>
          </p:cNvPr>
          <p:cNvSpPr txBox="1">
            <a:spLocks noChangeArrowheads="1"/>
          </p:cNvSpPr>
          <p:nvPr userDrawn="1"/>
        </p:nvSpPr>
        <p:spPr bwMode="auto">
          <a:xfrm>
            <a:off x="648852" y="60766"/>
            <a:ext cx="2136995" cy="461665"/>
          </a:xfrm>
          <a:prstGeom prst="rect">
            <a:avLst/>
          </a:prstGeom>
          <a:noFill/>
          <a:ln w="9525">
            <a:noFill/>
            <a:miter lim="800000"/>
            <a:headEnd/>
            <a:tailEnd/>
          </a:ln>
        </p:spPr>
        <p:txBody>
          <a:bodyPr wrap="none">
            <a:spAutoFit/>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US" altLang="zh-CN" sz="2400" b="0" i="0" u="none" strike="noStrike" kern="1200" baseline="0" dirty="0">
                <a:solidFill>
                  <a:schemeClr val="bg1"/>
                </a:solidFill>
                <a:latin typeface="Calibri" pitchFamily="34" charset="0"/>
                <a:ea typeface="宋体" pitchFamily="2" charset="-122"/>
                <a:cs typeface="+mn-cs"/>
              </a:rPr>
              <a:t>Text Translation</a:t>
            </a:r>
            <a:endParaRPr lang="zh-CN" altLang="zh-CN" sz="2400" b="0" kern="1200" dirty="0">
              <a:solidFill>
                <a:schemeClr val="bg1"/>
              </a:solidFill>
              <a:effectLst/>
              <a:latin typeface="Calibri" pitchFamily="34" charset="0"/>
              <a:ea typeface="宋体" pitchFamily="2" charset="-122"/>
              <a:cs typeface="+mn-cs"/>
            </a:endParaRPr>
          </a:p>
        </p:txBody>
      </p:sp>
    </p:spTree>
    <p:extLst>
      <p:ext uri="{BB962C8B-B14F-4D97-AF65-F5344CB8AC3E}">
        <p14:creationId xmlns:p14="http://schemas.microsoft.com/office/powerpoint/2010/main" val="29913400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noChangeArrowheads="1"/>
          </p:cNvSpPr>
          <p:nvPr>
            <p:ph type="body" idx="4294967295"/>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defRPr sz="1200" noProof="1">
                <a:solidFill>
                  <a:schemeClr val="tx1">
                    <a:tint val="75000"/>
                  </a:schemeClr>
                </a:solidFill>
                <a:latin typeface="+mn-lt"/>
                <a:ea typeface="+mn-ea"/>
              </a:defRPr>
            </a:lvl1pPr>
          </a:lstStyle>
          <a:p>
            <a:pPr>
              <a:defRPr/>
            </a:pPr>
            <a:fld id="{0CC46CFA-3EE2-4488-8B80-506137A36005}" type="datetimeFigureOut">
              <a:rPr lang="zh-CN" altLang="en-US"/>
              <a:pPr>
                <a:defRPr/>
              </a:pPr>
              <a:t>2023/11/1</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defRPr sz="1200" noProof="1">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08411A4B-1651-4FEC-AF7A-CF0AFED20116}"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4604" r:id="rId1"/>
    <p:sldLayoutId id="2147484608" r:id="rId2"/>
    <p:sldLayoutId id="2147484767" r:id="rId3"/>
    <p:sldLayoutId id="2147484709" r:id="rId4"/>
    <p:sldLayoutId id="2147484773" r:id="rId5"/>
    <p:sldLayoutId id="2147484774" r:id="rId6"/>
    <p:sldLayoutId id="2147484772" r:id="rId7"/>
    <p:sldLayoutId id="2147484791" r:id="rId8"/>
    <p:sldLayoutId id="2147484775" r:id="rId9"/>
    <p:sldLayoutId id="2147484776" r:id="rId10"/>
    <p:sldLayoutId id="2147484777" r:id="rId11"/>
    <p:sldLayoutId id="2147484793" r:id="rId12"/>
    <p:sldLayoutId id="2147484778" r:id="rId13"/>
    <p:sldLayoutId id="2147484780" r:id="rId14"/>
    <p:sldLayoutId id="2147484781" r:id="rId15"/>
    <p:sldLayoutId id="2147484782" r:id="rId16"/>
    <p:sldLayoutId id="2147484794" r:id="rId17"/>
    <p:sldLayoutId id="2147484779" r:id="rId18"/>
    <p:sldLayoutId id="2147484783" r:id="rId19"/>
    <p:sldLayoutId id="2147484784" r:id="rId20"/>
    <p:sldLayoutId id="2147484785" r:id="rId21"/>
    <p:sldLayoutId id="2147484786" r:id="rId22"/>
    <p:sldLayoutId id="2147484787" r:id="rId23"/>
    <p:sldLayoutId id="2147484788" r:id="rId24"/>
    <p:sldLayoutId id="2147484766" r:id="rId25"/>
    <p:sldLayoutId id="2147484798" r:id="rId26"/>
    <p:sldLayoutId id="2147484795" r:id="rId27"/>
    <p:sldLayoutId id="2147484763" r:id="rId28"/>
    <p:sldLayoutId id="2147484789" r:id="rId29"/>
    <p:sldLayoutId id="2147484790" r:id="rId30"/>
    <p:sldLayoutId id="2147484792" r:id="rId31"/>
    <p:sldLayoutId id="2147484758" r:id="rId32"/>
    <p:sldLayoutId id="2147484759" r:id="rId33"/>
    <p:sldLayoutId id="2147484760" r:id="rId34"/>
    <p:sldLayoutId id="2147484761" r:id="rId35"/>
    <p:sldLayoutId id="2147484796" r:id="rId36"/>
    <p:sldLayoutId id="2147484797" r:id="rId37"/>
    <p:sldLayoutId id="2147484762" r:id="rId38"/>
    <p:sldLayoutId id="2147484768" r:id="rId39"/>
    <p:sldLayoutId id="2147484734" r:id="rId40"/>
    <p:sldLayoutId id="2147484732" r:id="rId41"/>
    <p:sldLayoutId id="2147484769" r:id="rId42"/>
  </p:sldLayoutIdLst>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slide" Target="slide29.xml"/><Relationship Id="rId3" Type="http://schemas.openxmlformats.org/officeDocument/2006/relationships/image" Target="../media/image10.png"/><Relationship Id="rId7" Type="http://schemas.openxmlformats.org/officeDocument/2006/relationships/slide" Target="slide4.xml"/><Relationship Id="rId12" Type="http://schemas.openxmlformats.org/officeDocument/2006/relationships/slide" Target="slide2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83.xml"/><Relationship Id="rId11" Type="http://schemas.openxmlformats.org/officeDocument/2006/relationships/slide" Target="slide17.xml"/><Relationship Id="rId5" Type="http://schemas.openxmlformats.org/officeDocument/2006/relationships/image" Target="../media/image11.png"/><Relationship Id="rId10" Type="http://schemas.openxmlformats.org/officeDocument/2006/relationships/slide" Target="slide7.xml"/><Relationship Id="rId4" Type="http://schemas.microsoft.com/office/2007/relationships/hdphoto" Target="../media/hdphoto3.wdp"/><Relationship Id="rId9" Type="http://schemas.openxmlformats.org/officeDocument/2006/relationships/slide" Target="slide6.xml"/></Relationships>
</file>

<file path=ppt/slides/_rels/slide3.xml.rels><?xml version="1.0" encoding="UTF-8" standalone="yes"?>
<Relationships xmlns="http://schemas.openxmlformats.org/package/2006/relationships"><Relationship Id="rId8" Type="http://schemas.openxmlformats.org/officeDocument/2006/relationships/slide" Target="slide77.xml"/><Relationship Id="rId13" Type="http://schemas.openxmlformats.org/officeDocument/2006/relationships/slide" Target="slide32.xml"/><Relationship Id="rId3" Type="http://schemas.openxmlformats.org/officeDocument/2006/relationships/image" Target="../media/image10.png"/><Relationship Id="rId7" Type="http://schemas.openxmlformats.org/officeDocument/2006/relationships/slide" Target="slide74.xml"/><Relationship Id="rId12" Type="http://schemas.openxmlformats.org/officeDocument/2006/relationships/slide" Target="slide64.xml"/><Relationship Id="rId2" Type="http://schemas.openxmlformats.org/officeDocument/2006/relationships/notesSlide" Target="../notesSlides/notesSlide3.xml"/><Relationship Id="rId16" Type="http://schemas.openxmlformats.org/officeDocument/2006/relationships/slide" Target="slide47.xml"/><Relationship Id="rId1" Type="http://schemas.openxmlformats.org/officeDocument/2006/relationships/slideLayout" Target="../slideLayouts/slideLayout2.xml"/><Relationship Id="rId6" Type="http://schemas.openxmlformats.org/officeDocument/2006/relationships/slide" Target="slide66.xml"/><Relationship Id="rId11" Type="http://schemas.openxmlformats.org/officeDocument/2006/relationships/slide" Target="slide60.xml"/><Relationship Id="rId5" Type="http://schemas.openxmlformats.org/officeDocument/2006/relationships/image" Target="../media/image11.png"/><Relationship Id="rId15" Type="http://schemas.openxmlformats.org/officeDocument/2006/relationships/slide" Target="slide42.xml"/><Relationship Id="rId10" Type="http://schemas.openxmlformats.org/officeDocument/2006/relationships/slide" Target="slide56.xml"/><Relationship Id="rId4" Type="http://schemas.microsoft.com/office/2007/relationships/hdphoto" Target="../media/hdphoto3.wdp"/><Relationship Id="rId9" Type="http://schemas.openxmlformats.org/officeDocument/2006/relationships/slide" Target="slide50.xml"/><Relationship Id="rId14" Type="http://schemas.openxmlformats.org/officeDocument/2006/relationships/slide" Target="slide38.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slide" Target="slide88.xml"/></Relationships>
</file>

<file path=ppt/slides/_rels/slide5.xml.rels><?xml version="1.0" encoding="UTF-8" standalone="yes"?>
<Relationships xmlns="http://schemas.openxmlformats.org/package/2006/relationships"><Relationship Id="rId3" Type="http://schemas.openxmlformats.org/officeDocument/2006/relationships/slide" Target="slide84.xml"/><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hyperlink" Target="Unit%201%20video.mp4" TargetMode="External"/></Relationships>
</file>

<file path=ppt/slides/_rels/slide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8.png"/><Relationship Id="rId7" Type="http://schemas.openxmlformats.org/officeDocument/2006/relationships/image" Target="../media/image11.png"/><Relationship Id="rId2" Type="http://schemas.openxmlformats.org/officeDocument/2006/relationships/hyperlink" Target="Text%20A_0.mp3" TargetMode="Externa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slide" Target="slide92.xml"/></Relationships>
</file>

<file path=ppt/slides/_rels/slide8.xml.rels><?xml version="1.0" encoding="UTF-8" standalone="yes"?>
<Relationships xmlns="http://schemas.openxmlformats.org/package/2006/relationships"><Relationship Id="rId8" Type="http://schemas.openxmlformats.org/officeDocument/2006/relationships/slide" Target="slide136.xml"/><Relationship Id="rId13" Type="http://schemas.openxmlformats.org/officeDocument/2006/relationships/slide" Target="slide137.xml"/><Relationship Id="rId18" Type="http://schemas.openxmlformats.org/officeDocument/2006/relationships/slide" Target="slide98.xml"/><Relationship Id="rId3" Type="http://schemas.microsoft.com/office/2007/relationships/media" Target="../media/media3.mp3"/><Relationship Id="rId7" Type="http://schemas.openxmlformats.org/officeDocument/2006/relationships/slideLayout" Target="../slideLayouts/slideLayout8.xml"/><Relationship Id="rId12" Type="http://schemas.openxmlformats.org/officeDocument/2006/relationships/image" Target="../media/image14.png"/><Relationship Id="rId17" Type="http://schemas.openxmlformats.org/officeDocument/2006/relationships/slide" Target="slide97.xml"/><Relationship Id="rId2" Type="http://schemas.openxmlformats.org/officeDocument/2006/relationships/audio" Target="../media/media2.mp3"/><Relationship Id="rId16" Type="http://schemas.openxmlformats.org/officeDocument/2006/relationships/slide" Target="slide96.xml"/><Relationship Id="rId20" Type="http://schemas.openxmlformats.org/officeDocument/2006/relationships/slide" Target="slide115.xml"/><Relationship Id="rId1" Type="http://schemas.microsoft.com/office/2007/relationships/media" Target="../media/media2.mp3"/><Relationship Id="rId6" Type="http://schemas.openxmlformats.org/officeDocument/2006/relationships/audio" Target="../media/media4.mp3"/><Relationship Id="rId11" Type="http://schemas.microsoft.com/office/2007/relationships/hdphoto" Target="../media/hdphoto3.wdp"/><Relationship Id="rId5" Type="http://schemas.microsoft.com/office/2007/relationships/media" Target="../media/media4.mp3"/><Relationship Id="rId15" Type="http://schemas.openxmlformats.org/officeDocument/2006/relationships/slide" Target="slide95.xml"/><Relationship Id="rId10" Type="http://schemas.openxmlformats.org/officeDocument/2006/relationships/image" Target="../media/image11.png"/><Relationship Id="rId19" Type="http://schemas.openxmlformats.org/officeDocument/2006/relationships/slide" Target="slide99.xml"/><Relationship Id="rId4" Type="http://schemas.openxmlformats.org/officeDocument/2006/relationships/audio" Target="../media/media3.mp3"/><Relationship Id="rId9" Type="http://schemas.openxmlformats.org/officeDocument/2006/relationships/image" Target="../media/image21.png"/><Relationship Id="rId14" Type="http://schemas.openxmlformats.org/officeDocument/2006/relationships/slide" Target="slide138.xml"/></Relationships>
</file>

<file path=ppt/slides/_rels/slide9.xml.rels><?xml version="1.0" encoding="UTF-8" standalone="yes"?>
<Relationships xmlns="http://schemas.openxmlformats.org/package/2006/relationships"><Relationship Id="rId8" Type="http://schemas.openxmlformats.org/officeDocument/2006/relationships/slide" Target="slide116.xml"/><Relationship Id="rId3" Type="http://schemas.openxmlformats.org/officeDocument/2006/relationships/slideLayout" Target="../slideLayouts/slideLayout8.xml"/><Relationship Id="rId7" Type="http://schemas.microsoft.com/office/2007/relationships/hdphoto" Target="../media/hdphoto3.wdp"/><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11" Type="http://schemas.openxmlformats.org/officeDocument/2006/relationships/slide" Target="slide101.xml"/><Relationship Id="rId5" Type="http://schemas.openxmlformats.org/officeDocument/2006/relationships/image" Target="../media/image21.png"/><Relationship Id="rId10" Type="http://schemas.openxmlformats.org/officeDocument/2006/relationships/slide" Target="slide100.xml"/><Relationship Id="rId4" Type="http://schemas.openxmlformats.org/officeDocument/2006/relationships/slide" Target="slide139.xml"/><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slide" Target="slide140.xml"/><Relationship Id="rId13" Type="http://schemas.openxmlformats.org/officeDocument/2006/relationships/slide" Target="slide142.xml"/><Relationship Id="rId3" Type="http://schemas.microsoft.com/office/2007/relationships/media" Target="../media/media7.mp3"/><Relationship Id="rId7" Type="http://schemas.openxmlformats.org/officeDocument/2006/relationships/slideLayout" Target="../slideLayouts/slideLayout8.xml"/><Relationship Id="rId12" Type="http://schemas.openxmlformats.org/officeDocument/2006/relationships/slide" Target="slide141.xml"/><Relationship Id="rId2" Type="http://schemas.openxmlformats.org/officeDocument/2006/relationships/audio" Target="../media/media6.mp3"/><Relationship Id="rId16" Type="http://schemas.openxmlformats.org/officeDocument/2006/relationships/slide" Target="slide103.xml"/><Relationship Id="rId1" Type="http://schemas.microsoft.com/office/2007/relationships/media" Target="../media/media6.mp3"/><Relationship Id="rId6" Type="http://schemas.openxmlformats.org/officeDocument/2006/relationships/audio" Target="../media/media8.mp3"/><Relationship Id="rId11" Type="http://schemas.microsoft.com/office/2007/relationships/hdphoto" Target="../media/hdphoto3.wdp"/><Relationship Id="rId5" Type="http://schemas.microsoft.com/office/2007/relationships/media" Target="../media/media8.mp3"/><Relationship Id="rId15" Type="http://schemas.openxmlformats.org/officeDocument/2006/relationships/slide" Target="slide102.xml"/><Relationship Id="rId10" Type="http://schemas.openxmlformats.org/officeDocument/2006/relationships/image" Target="../media/image11.png"/><Relationship Id="rId4" Type="http://schemas.openxmlformats.org/officeDocument/2006/relationships/audio" Target="../media/media7.mp3"/><Relationship Id="rId9" Type="http://schemas.openxmlformats.org/officeDocument/2006/relationships/image" Target="../media/image21.png"/><Relationship Id="rId1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8.xml"/><Relationship Id="rId7" Type="http://schemas.microsoft.com/office/2007/relationships/hdphoto" Target="../media/hdphoto3.wdp"/><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1.png"/><Relationship Id="rId5" Type="http://schemas.openxmlformats.org/officeDocument/2006/relationships/image" Target="../media/image21.png"/><Relationship Id="rId10" Type="http://schemas.openxmlformats.org/officeDocument/2006/relationships/slide" Target="slide105.xml"/><Relationship Id="rId4" Type="http://schemas.openxmlformats.org/officeDocument/2006/relationships/slide" Target="slide143.xml"/><Relationship Id="rId9" Type="http://schemas.openxmlformats.org/officeDocument/2006/relationships/slide" Target="slide104.xml"/></Relationships>
</file>

<file path=ppt/slides/_rels/slide12.xml.rels><?xml version="1.0" encoding="UTF-8" standalone="yes"?>
<Relationships xmlns="http://schemas.openxmlformats.org/package/2006/relationships"><Relationship Id="rId8" Type="http://schemas.openxmlformats.org/officeDocument/2006/relationships/slide" Target="slide144.xml"/><Relationship Id="rId13" Type="http://schemas.openxmlformats.org/officeDocument/2006/relationships/slide" Target="slide146.xml"/><Relationship Id="rId3" Type="http://schemas.microsoft.com/office/2007/relationships/media" Target="../media/media11.mp3"/><Relationship Id="rId7" Type="http://schemas.openxmlformats.org/officeDocument/2006/relationships/slideLayout" Target="../slideLayouts/slideLayout8.xml"/><Relationship Id="rId12" Type="http://schemas.openxmlformats.org/officeDocument/2006/relationships/slide" Target="slide145.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audio" Target="../media/media12.mp3"/><Relationship Id="rId11" Type="http://schemas.microsoft.com/office/2007/relationships/hdphoto" Target="../media/hdphoto3.wdp"/><Relationship Id="rId5" Type="http://schemas.microsoft.com/office/2007/relationships/media" Target="../media/media12.mp3"/><Relationship Id="rId15" Type="http://schemas.openxmlformats.org/officeDocument/2006/relationships/slide" Target="slide106.xml"/><Relationship Id="rId10" Type="http://schemas.openxmlformats.org/officeDocument/2006/relationships/image" Target="../media/image11.png"/><Relationship Id="rId4" Type="http://schemas.openxmlformats.org/officeDocument/2006/relationships/audio" Target="../media/media11.mp3"/><Relationship Id="rId9" Type="http://schemas.openxmlformats.org/officeDocument/2006/relationships/image" Target="../media/image21.png"/><Relationship Id="rId14" Type="http://schemas.openxmlformats.org/officeDocument/2006/relationships/image" Target="../media/image14.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8.xml"/><Relationship Id="rId7" Type="http://schemas.microsoft.com/office/2007/relationships/hdphoto" Target="../media/hdphoto3.wdp"/><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11.png"/><Relationship Id="rId5" Type="http://schemas.openxmlformats.org/officeDocument/2006/relationships/image" Target="../media/image21.png"/><Relationship Id="rId10" Type="http://schemas.openxmlformats.org/officeDocument/2006/relationships/slide" Target="slide108.xml"/><Relationship Id="rId4" Type="http://schemas.openxmlformats.org/officeDocument/2006/relationships/slide" Target="slide147.xml"/><Relationship Id="rId9" Type="http://schemas.openxmlformats.org/officeDocument/2006/relationships/slide" Target="slide107.xml"/></Relationships>
</file>

<file path=ppt/slides/_rels/slide14.xml.rels><?xml version="1.0" encoding="UTF-8" standalone="yes"?>
<Relationships xmlns="http://schemas.openxmlformats.org/package/2006/relationships"><Relationship Id="rId8" Type="http://schemas.openxmlformats.org/officeDocument/2006/relationships/slide" Target="slide148.xml"/><Relationship Id="rId13" Type="http://schemas.openxmlformats.org/officeDocument/2006/relationships/slide" Target="slide150.xml"/><Relationship Id="rId18" Type="http://schemas.openxmlformats.org/officeDocument/2006/relationships/slide" Target="slide117.xml"/><Relationship Id="rId3" Type="http://schemas.microsoft.com/office/2007/relationships/media" Target="../media/media15.mp3"/><Relationship Id="rId7" Type="http://schemas.openxmlformats.org/officeDocument/2006/relationships/slideLayout" Target="../slideLayouts/slideLayout8.xml"/><Relationship Id="rId12" Type="http://schemas.openxmlformats.org/officeDocument/2006/relationships/slide" Target="slide149.xml"/><Relationship Id="rId17" Type="http://schemas.openxmlformats.org/officeDocument/2006/relationships/slide" Target="slide110.xml"/><Relationship Id="rId2" Type="http://schemas.openxmlformats.org/officeDocument/2006/relationships/audio" Target="../media/media14.mp3"/><Relationship Id="rId16" Type="http://schemas.openxmlformats.org/officeDocument/2006/relationships/slide" Target="slide109.xml"/><Relationship Id="rId1" Type="http://schemas.microsoft.com/office/2007/relationships/media" Target="../media/media14.mp3"/><Relationship Id="rId6" Type="http://schemas.openxmlformats.org/officeDocument/2006/relationships/audio" Target="../media/media16.mp3"/><Relationship Id="rId11" Type="http://schemas.microsoft.com/office/2007/relationships/hdphoto" Target="../media/hdphoto3.wdp"/><Relationship Id="rId5" Type="http://schemas.microsoft.com/office/2007/relationships/media" Target="../media/media16.mp3"/><Relationship Id="rId15" Type="http://schemas.openxmlformats.org/officeDocument/2006/relationships/image" Target="../media/image22.png"/><Relationship Id="rId10" Type="http://schemas.openxmlformats.org/officeDocument/2006/relationships/image" Target="../media/image11.png"/><Relationship Id="rId4" Type="http://schemas.openxmlformats.org/officeDocument/2006/relationships/audio" Target="../media/media15.mp3"/><Relationship Id="rId9" Type="http://schemas.openxmlformats.org/officeDocument/2006/relationships/image" Target="../media/image21.png"/><Relationship Id="rId1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slide" Target="slide151.xml"/><Relationship Id="rId13" Type="http://schemas.openxmlformats.org/officeDocument/2006/relationships/slide" Target="slide153.xml"/><Relationship Id="rId18" Type="http://schemas.openxmlformats.org/officeDocument/2006/relationships/slide" Target="slide112.xml"/><Relationship Id="rId3" Type="http://schemas.microsoft.com/office/2007/relationships/media" Target="../media/media18.mp3"/><Relationship Id="rId7" Type="http://schemas.openxmlformats.org/officeDocument/2006/relationships/slideLayout" Target="../slideLayouts/slideLayout8.xml"/><Relationship Id="rId12" Type="http://schemas.openxmlformats.org/officeDocument/2006/relationships/slide" Target="slide152.xml"/><Relationship Id="rId17" Type="http://schemas.openxmlformats.org/officeDocument/2006/relationships/slide" Target="slide118.xml"/><Relationship Id="rId2" Type="http://schemas.openxmlformats.org/officeDocument/2006/relationships/audio" Target="../media/media17.mp3"/><Relationship Id="rId16" Type="http://schemas.openxmlformats.org/officeDocument/2006/relationships/slide" Target="slide111.xml"/><Relationship Id="rId1" Type="http://schemas.microsoft.com/office/2007/relationships/media" Target="../media/media17.mp3"/><Relationship Id="rId6" Type="http://schemas.openxmlformats.org/officeDocument/2006/relationships/audio" Target="../media/media19.mp3"/><Relationship Id="rId11" Type="http://schemas.microsoft.com/office/2007/relationships/hdphoto" Target="../media/hdphoto3.wdp"/><Relationship Id="rId5" Type="http://schemas.microsoft.com/office/2007/relationships/media" Target="../media/media19.mp3"/><Relationship Id="rId15" Type="http://schemas.openxmlformats.org/officeDocument/2006/relationships/image" Target="../media/image22.png"/><Relationship Id="rId10" Type="http://schemas.openxmlformats.org/officeDocument/2006/relationships/image" Target="../media/image11.png"/><Relationship Id="rId4" Type="http://schemas.openxmlformats.org/officeDocument/2006/relationships/audio" Target="../media/media18.mp3"/><Relationship Id="rId9" Type="http://schemas.openxmlformats.org/officeDocument/2006/relationships/image" Target="../media/image21.png"/><Relationship Id="rId1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7" Type="http://schemas.openxmlformats.org/officeDocument/2006/relationships/slide" Target="slide114.xml"/><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slide" Target="slide113.xml"/><Relationship Id="rId5" Type="http://schemas.openxmlformats.org/officeDocument/2006/relationships/slide" Target="slide118.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9.xml"/><Relationship Id="rId5" Type="http://schemas.microsoft.com/office/2007/relationships/hdphoto" Target="../media/hdphoto3.wdp"/><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9.xml"/><Relationship Id="rId5" Type="http://schemas.microsoft.com/office/2007/relationships/hdphoto" Target="../media/hdphoto3.wdp"/><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Layout" Target="../slideLayouts/slideLayout10.xml"/><Relationship Id="rId4" Type="http://schemas.microsoft.com/office/2007/relationships/hdphoto" Target="../media/hdphoto3.wdp"/></Relationships>
</file>

<file path=ppt/slides/_rels/slide2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0.png"/><Relationship Id="rId2" Type="http://schemas.openxmlformats.org/officeDocument/2006/relationships/slide" Target="slide85.xml"/><Relationship Id="rId1" Type="http://schemas.openxmlformats.org/officeDocument/2006/relationships/slideLayout" Target="../slideLayouts/slideLayout10.xml"/><Relationship Id="rId6" Type="http://schemas.openxmlformats.org/officeDocument/2006/relationships/image" Target="../media/image13.png"/><Relationship Id="rId5" Type="http://schemas.microsoft.com/office/2007/relationships/hdphoto" Target="../media/hdphoto3.wdp"/><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Layout" Target="../slideLayouts/slideLayout11.xml"/><Relationship Id="rId4" Type="http://schemas.microsoft.com/office/2007/relationships/hdphoto" Target="../media/hdphoto3.wdp"/></Relationships>
</file>

<file path=ppt/slides/_rels/slide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slide" Target="slide93.xml"/><Relationship Id="rId2" Type="http://schemas.openxmlformats.org/officeDocument/2006/relationships/image" Target="../media/image20.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hyperlink" Target="Text%20B_0.mp3" TargetMode="External"/><Relationship Id="rId4" Type="http://schemas.microsoft.com/office/2007/relationships/hdphoto" Target="../media/hdphoto3.wdp"/></Relationships>
</file>

<file path=ppt/slides/_rels/slide33.xml.rels><?xml version="1.0" encoding="UTF-8" standalone="yes"?>
<Relationships xmlns="http://schemas.openxmlformats.org/package/2006/relationships"><Relationship Id="rId8" Type="http://schemas.openxmlformats.org/officeDocument/2006/relationships/slide" Target="slide133.xml"/><Relationship Id="rId13" Type="http://schemas.openxmlformats.org/officeDocument/2006/relationships/slide" Target="slide119.xml"/><Relationship Id="rId3" Type="http://schemas.microsoft.com/office/2007/relationships/media" Target="../media/media21.mp3"/><Relationship Id="rId7" Type="http://schemas.openxmlformats.org/officeDocument/2006/relationships/image" Target="../media/image21.png"/><Relationship Id="rId12" Type="http://schemas.openxmlformats.org/officeDocument/2006/relationships/image" Target="../media/image14.png"/><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slide" Target="slide154.xml"/><Relationship Id="rId11" Type="http://schemas.openxmlformats.org/officeDocument/2006/relationships/slide" Target="slide155.xml"/><Relationship Id="rId5" Type="http://schemas.openxmlformats.org/officeDocument/2006/relationships/slideLayout" Target="../slideLayouts/slideLayout13.xml"/><Relationship Id="rId10" Type="http://schemas.microsoft.com/office/2007/relationships/hdphoto" Target="../media/hdphoto3.wdp"/><Relationship Id="rId4" Type="http://schemas.openxmlformats.org/officeDocument/2006/relationships/audio" Target="../media/media21.mp3"/><Relationship Id="rId9" Type="http://schemas.openxmlformats.org/officeDocument/2006/relationships/image" Target="../media/image11.png"/></Relationships>
</file>

<file path=ppt/slides/_rels/slide34.xml.rels><?xml version="1.0" encoding="UTF-8" standalone="yes"?>
<Relationships xmlns="http://schemas.openxmlformats.org/package/2006/relationships"><Relationship Id="rId8" Type="http://schemas.openxmlformats.org/officeDocument/2006/relationships/slide" Target="slide156.xml"/><Relationship Id="rId13" Type="http://schemas.openxmlformats.org/officeDocument/2006/relationships/slide" Target="slide120.xml"/><Relationship Id="rId3" Type="http://schemas.microsoft.com/office/2007/relationships/media" Target="../media/media23.mp3"/><Relationship Id="rId7" Type="http://schemas.microsoft.com/office/2007/relationships/hdphoto" Target="../media/hdphoto3.wdp"/><Relationship Id="rId12" Type="http://schemas.openxmlformats.org/officeDocument/2006/relationships/image" Target="../media/image22.png"/><Relationship Id="rId2" Type="http://schemas.openxmlformats.org/officeDocument/2006/relationships/audio" Target="../media/media22.mp3"/><Relationship Id="rId1" Type="http://schemas.microsoft.com/office/2007/relationships/media" Target="../media/media22.mp3"/><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slideLayout" Target="../slideLayouts/slideLayout13.xml"/><Relationship Id="rId10" Type="http://schemas.openxmlformats.org/officeDocument/2006/relationships/slide" Target="slide157.xml"/><Relationship Id="rId4" Type="http://schemas.openxmlformats.org/officeDocument/2006/relationships/audio" Target="../media/media23.mp3"/><Relationship Id="rId9" Type="http://schemas.openxmlformats.org/officeDocument/2006/relationships/image" Target="../media/image21.png"/><Relationship Id="rId14" Type="http://schemas.openxmlformats.org/officeDocument/2006/relationships/slide" Target="slide121.xml"/></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slide" Target="slide134.xml"/><Relationship Id="rId3" Type="http://schemas.openxmlformats.org/officeDocument/2006/relationships/slideLayout" Target="../slideLayouts/slideLayout13.xml"/><Relationship Id="rId7" Type="http://schemas.openxmlformats.org/officeDocument/2006/relationships/image" Target="../media/image21.png"/><Relationship Id="rId12" Type="http://schemas.openxmlformats.org/officeDocument/2006/relationships/slide" Target="slide125.xml"/><Relationship Id="rId2" Type="http://schemas.openxmlformats.org/officeDocument/2006/relationships/audio" Target="../media/media24.mp3"/><Relationship Id="rId1" Type="http://schemas.microsoft.com/office/2007/relationships/media" Target="../media/media24.mp3"/><Relationship Id="rId6" Type="http://schemas.openxmlformats.org/officeDocument/2006/relationships/slide" Target="slide158.xml"/><Relationship Id="rId11" Type="http://schemas.openxmlformats.org/officeDocument/2006/relationships/slide" Target="slide124.xml"/><Relationship Id="rId5" Type="http://schemas.microsoft.com/office/2007/relationships/hdphoto" Target="../media/hdphoto3.wdp"/><Relationship Id="rId10" Type="http://schemas.openxmlformats.org/officeDocument/2006/relationships/slide" Target="slide123.xml"/><Relationship Id="rId4" Type="http://schemas.openxmlformats.org/officeDocument/2006/relationships/image" Target="../media/image11.png"/><Relationship Id="rId9" Type="http://schemas.openxmlformats.org/officeDocument/2006/relationships/slide" Target="slide122.xml"/></Relationships>
</file>

<file path=ppt/slides/_rels/slide36.xml.rels><?xml version="1.0" encoding="UTF-8" standalone="yes"?>
<Relationships xmlns="http://schemas.openxmlformats.org/package/2006/relationships"><Relationship Id="rId8" Type="http://schemas.openxmlformats.org/officeDocument/2006/relationships/slide" Target="slide160.xml"/><Relationship Id="rId13" Type="http://schemas.openxmlformats.org/officeDocument/2006/relationships/slide" Target="slide127.xml"/><Relationship Id="rId3" Type="http://schemas.microsoft.com/office/2007/relationships/media" Target="../media/media26.mp3"/><Relationship Id="rId7" Type="http://schemas.microsoft.com/office/2007/relationships/hdphoto" Target="../media/hdphoto3.wdp"/><Relationship Id="rId12" Type="http://schemas.openxmlformats.org/officeDocument/2006/relationships/slide" Target="slide126.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11.png"/><Relationship Id="rId11" Type="http://schemas.openxmlformats.org/officeDocument/2006/relationships/image" Target="../media/image14.png"/><Relationship Id="rId5" Type="http://schemas.openxmlformats.org/officeDocument/2006/relationships/slideLayout" Target="../slideLayouts/slideLayout13.xml"/><Relationship Id="rId10" Type="http://schemas.openxmlformats.org/officeDocument/2006/relationships/slide" Target="slide159.xml"/><Relationship Id="rId4" Type="http://schemas.openxmlformats.org/officeDocument/2006/relationships/audio" Target="../media/media26.mp3"/><Relationship Id="rId9" Type="http://schemas.openxmlformats.org/officeDocument/2006/relationships/image" Target="../media/image21.png"/><Relationship Id="rId14" Type="http://schemas.openxmlformats.org/officeDocument/2006/relationships/slide" Target="slide128.xml"/></Relationships>
</file>

<file path=ppt/slides/_rels/slide37.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slide" Target="slide131.xml"/><Relationship Id="rId3" Type="http://schemas.openxmlformats.org/officeDocument/2006/relationships/slideLayout" Target="../slideLayouts/slideLayout13.xml"/><Relationship Id="rId7" Type="http://schemas.openxmlformats.org/officeDocument/2006/relationships/slide" Target="slide161.xml"/><Relationship Id="rId12" Type="http://schemas.openxmlformats.org/officeDocument/2006/relationships/slide" Target="slide130.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20.png"/><Relationship Id="rId11" Type="http://schemas.openxmlformats.org/officeDocument/2006/relationships/slide" Target="slide135.xml"/><Relationship Id="rId5" Type="http://schemas.microsoft.com/office/2007/relationships/hdphoto" Target="../media/hdphoto3.wdp"/><Relationship Id="rId10" Type="http://schemas.openxmlformats.org/officeDocument/2006/relationships/slide" Target="slide129.xml"/><Relationship Id="rId4" Type="http://schemas.openxmlformats.org/officeDocument/2006/relationships/image" Target="../media/image11.png"/><Relationship Id="rId9" Type="http://schemas.openxmlformats.org/officeDocument/2006/relationships/image" Target="../media/image14.png"/><Relationship Id="rId14" Type="http://schemas.openxmlformats.org/officeDocument/2006/relationships/slide" Target="slide13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14.xml"/><Relationship Id="rId5" Type="http://schemas.microsoft.com/office/2007/relationships/hdphoto" Target="../media/hdphoto3.wdp"/><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4.x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4.xml"/><Relationship Id="rId5" Type="http://schemas.openxmlformats.org/officeDocument/2006/relationships/image" Target="../media/image16.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4.xml"/><Relationship Id="rId6" Type="http://schemas.openxmlformats.org/officeDocument/2006/relationships/image" Target="../media/image20.png"/><Relationship Id="rId5" Type="http://schemas.openxmlformats.org/officeDocument/2006/relationships/image" Target="../media/image16.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15.xml"/><Relationship Id="rId5" Type="http://schemas.microsoft.com/office/2007/relationships/hdphoto" Target="../media/hdphoto3.wdp"/><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microsoft.com/office/2007/relationships/hdphoto" Target="../media/hdphoto3.wdp"/></Relationships>
</file>

<file path=ppt/slides/_rels/slide4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15.xml"/><Relationship Id="rId4" Type="http://schemas.microsoft.com/office/2007/relationships/hdphoto" Target="../media/hdphoto3.wdp"/></Relationships>
</file>

<file path=ppt/slides/_rels/slide4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5.xml"/><Relationship Id="rId5" Type="http://schemas.openxmlformats.org/officeDocument/2006/relationships/image" Target="../media/image13.png"/><Relationship Id="rId4" Type="http://schemas.openxmlformats.org/officeDocument/2006/relationships/image" Target="../media/image20.png"/></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ng"/><Relationship Id="rId1" Type="http://schemas.openxmlformats.org/officeDocument/2006/relationships/slideLayout" Target="../slideLayouts/slideLayout16.xml"/><Relationship Id="rId4" Type="http://schemas.microsoft.com/office/2007/relationships/hdphoto" Target="../media/hdphoto3.wdp"/></Relationships>
</file>

<file path=ppt/slides/_rels/slide4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5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slide" Target="slide94.xml"/><Relationship Id="rId2" Type="http://schemas.openxmlformats.org/officeDocument/2006/relationships/image" Target="../media/image20.png"/><Relationship Id="rId1" Type="http://schemas.openxmlformats.org/officeDocument/2006/relationships/slideLayout" Target="../slideLayouts/slideLayout17.xml"/><Relationship Id="rId6" Type="http://schemas.openxmlformats.org/officeDocument/2006/relationships/image" Target="../media/image18.png"/><Relationship Id="rId5" Type="http://schemas.openxmlformats.org/officeDocument/2006/relationships/hyperlink" Target="Text%20C_0.mp3" TargetMode="External"/><Relationship Id="rId4" Type="http://schemas.microsoft.com/office/2007/relationships/hdphoto" Target="../media/hdphoto3.wdp"/></Relationships>
</file>

<file path=ppt/slides/_rels/slide51.xml.rels><?xml version="1.0" encoding="UTF-8" standalone="yes"?>
<Relationships xmlns="http://schemas.openxmlformats.org/package/2006/relationships"><Relationship Id="rId8" Type="http://schemas.openxmlformats.org/officeDocument/2006/relationships/slide" Target="slide162.xml"/><Relationship Id="rId13" Type="http://schemas.openxmlformats.org/officeDocument/2006/relationships/image" Target="../media/image22.png"/><Relationship Id="rId3" Type="http://schemas.microsoft.com/office/2007/relationships/media" Target="../media/media29.mp3"/><Relationship Id="rId7" Type="http://schemas.openxmlformats.org/officeDocument/2006/relationships/slideLayout" Target="../slideLayouts/slideLayout18.xml"/><Relationship Id="rId12" Type="http://schemas.openxmlformats.org/officeDocument/2006/relationships/image" Target="../media/image14.png"/><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audio" Target="../media/media30.mp3"/><Relationship Id="rId11" Type="http://schemas.openxmlformats.org/officeDocument/2006/relationships/slide" Target="slide164.xml"/><Relationship Id="rId5" Type="http://schemas.microsoft.com/office/2007/relationships/media" Target="../media/media30.mp3"/><Relationship Id="rId15" Type="http://schemas.microsoft.com/office/2007/relationships/hdphoto" Target="../media/hdphoto3.wdp"/><Relationship Id="rId10" Type="http://schemas.openxmlformats.org/officeDocument/2006/relationships/slide" Target="slide163.xml"/><Relationship Id="rId4" Type="http://schemas.openxmlformats.org/officeDocument/2006/relationships/audio" Target="../media/media29.mp3"/><Relationship Id="rId9" Type="http://schemas.openxmlformats.org/officeDocument/2006/relationships/image" Target="../media/image21.png"/><Relationship Id="rId14" Type="http://schemas.openxmlformats.org/officeDocument/2006/relationships/image" Target="../media/image11.png"/></Relationships>
</file>

<file path=ppt/slides/_rels/slide52.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slide" Target="slide167.xml"/><Relationship Id="rId3" Type="http://schemas.microsoft.com/office/2007/relationships/media" Target="../media/media32.mp3"/><Relationship Id="rId7" Type="http://schemas.openxmlformats.org/officeDocument/2006/relationships/slideLayout" Target="../slideLayouts/slideLayout18.xml"/><Relationship Id="rId12" Type="http://schemas.openxmlformats.org/officeDocument/2006/relationships/slide" Target="slide166.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audio" Target="../media/media33.mp3"/><Relationship Id="rId11" Type="http://schemas.openxmlformats.org/officeDocument/2006/relationships/image" Target="../media/image21.png"/><Relationship Id="rId5" Type="http://schemas.microsoft.com/office/2007/relationships/media" Target="../media/media33.mp3"/><Relationship Id="rId10" Type="http://schemas.openxmlformats.org/officeDocument/2006/relationships/slide" Target="slide165.xml"/><Relationship Id="rId4" Type="http://schemas.openxmlformats.org/officeDocument/2006/relationships/audio" Target="../media/media32.mp3"/><Relationship Id="rId9" Type="http://schemas.microsoft.com/office/2007/relationships/hdphoto" Target="../media/hdphoto3.wdp"/><Relationship Id="rId14" Type="http://schemas.openxmlformats.org/officeDocument/2006/relationships/image" Target="../media/image14.png"/></Relationships>
</file>

<file path=ppt/slides/_rels/slide5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slide" Target="slide170.xml"/><Relationship Id="rId3" Type="http://schemas.microsoft.com/office/2007/relationships/media" Target="../media/media35.mp3"/><Relationship Id="rId7" Type="http://schemas.openxmlformats.org/officeDocument/2006/relationships/slideLayout" Target="../slideLayouts/slideLayout18.xml"/><Relationship Id="rId12" Type="http://schemas.openxmlformats.org/officeDocument/2006/relationships/slide" Target="slide169.xml"/><Relationship Id="rId2" Type="http://schemas.openxmlformats.org/officeDocument/2006/relationships/audio" Target="../media/media34.mp3"/><Relationship Id="rId1" Type="http://schemas.microsoft.com/office/2007/relationships/media" Target="../media/media34.mp3"/><Relationship Id="rId6" Type="http://schemas.openxmlformats.org/officeDocument/2006/relationships/audio" Target="../media/media36.mp3"/><Relationship Id="rId11" Type="http://schemas.openxmlformats.org/officeDocument/2006/relationships/image" Target="../media/image21.png"/><Relationship Id="rId5" Type="http://schemas.microsoft.com/office/2007/relationships/media" Target="../media/media36.mp3"/><Relationship Id="rId15" Type="http://schemas.openxmlformats.org/officeDocument/2006/relationships/image" Target="../media/image22.png"/><Relationship Id="rId10" Type="http://schemas.openxmlformats.org/officeDocument/2006/relationships/slide" Target="slide168.xml"/><Relationship Id="rId4" Type="http://schemas.openxmlformats.org/officeDocument/2006/relationships/audio" Target="../media/media35.mp3"/><Relationship Id="rId9" Type="http://schemas.microsoft.com/office/2007/relationships/hdphoto" Target="../media/hdphoto3.wdp"/><Relationship Id="rId14" Type="http://schemas.openxmlformats.org/officeDocument/2006/relationships/image" Target="../media/image14.png"/></Relationships>
</file>

<file path=ppt/slides/_rels/slide54.xml.rels><?xml version="1.0" encoding="UTF-8" standalone="yes"?>
<Relationships xmlns="http://schemas.openxmlformats.org/package/2006/relationships"><Relationship Id="rId8" Type="http://schemas.openxmlformats.org/officeDocument/2006/relationships/slide" Target="slide172.xml"/><Relationship Id="rId3" Type="http://schemas.microsoft.com/office/2007/relationships/media" Target="../media/media38.mp3"/><Relationship Id="rId7" Type="http://schemas.openxmlformats.org/officeDocument/2006/relationships/image" Target="../media/image21.png"/><Relationship Id="rId2" Type="http://schemas.openxmlformats.org/officeDocument/2006/relationships/audio" Target="../media/media37.mp3"/><Relationship Id="rId1" Type="http://schemas.microsoft.com/office/2007/relationships/media" Target="../media/media37.mp3"/><Relationship Id="rId6" Type="http://schemas.openxmlformats.org/officeDocument/2006/relationships/slide" Target="slide171.xml"/><Relationship Id="rId11" Type="http://schemas.microsoft.com/office/2007/relationships/hdphoto" Target="../media/hdphoto3.wdp"/><Relationship Id="rId5" Type="http://schemas.openxmlformats.org/officeDocument/2006/relationships/slideLayout" Target="../slideLayouts/slideLayout18.xml"/><Relationship Id="rId10" Type="http://schemas.openxmlformats.org/officeDocument/2006/relationships/image" Target="../media/image11.png"/><Relationship Id="rId4" Type="http://schemas.openxmlformats.org/officeDocument/2006/relationships/audio" Target="../media/media38.mp3"/><Relationship Id="rId9" Type="http://schemas.openxmlformats.org/officeDocument/2006/relationships/image" Target="../media/image14.png"/></Relationships>
</file>

<file path=ppt/slides/_rels/slide55.xml.rels><?xml version="1.0" encoding="UTF-8" standalone="yes"?>
<Relationships xmlns="http://schemas.openxmlformats.org/package/2006/relationships"><Relationship Id="rId8" Type="http://schemas.openxmlformats.org/officeDocument/2006/relationships/slide" Target="slide173.xml"/><Relationship Id="rId3" Type="http://schemas.microsoft.com/office/2007/relationships/media" Target="../media/media40.mp3"/><Relationship Id="rId7" Type="http://schemas.microsoft.com/office/2007/relationships/hdphoto" Target="../media/hdphoto3.wdp"/><Relationship Id="rId12" Type="http://schemas.openxmlformats.org/officeDocument/2006/relationships/image" Target="../media/image14.png"/><Relationship Id="rId2" Type="http://schemas.openxmlformats.org/officeDocument/2006/relationships/audio" Target="../media/media39.mp3"/><Relationship Id="rId1" Type="http://schemas.microsoft.com/office/2007/relationships/media" Target="../media/media39.mp3"/><Relationship Id="rId6" Type="http://schemas.openxmlformats.org/officeDocument/2006/relationships/image" Target="../media/image11.png"/><Relationship Id="rId11" Type="http://schemas.openxmlformats.org/officeDocument/2006/relationships/slide" Target="slide174.xml"/><Relationship Id="rId5" Type="http://schemas.openxmlformats.org/officeDocument/2006/relationships/slideLayout" Target="../slideLayouts/slideLayout18.xml"/><Relationship Id="rId10" Type="http://schemas.openxmlformats.org/officeDocument/2006/relationships/image" Target="../media/image20.png"/><Relationship Id="rId4" Type="http://schemas.openxmlformats.org/officeDocument/2006/relationships/audio" Target="../media/media40.mp3"/><Relationship Id="rId9" Type="http://schemas.openxmlformats.org/officeDocument/2006/relationships/image" Target="../media/image21.png"/></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7" Type="http://schemas.microsoft.com/office/2007/relationships/hdphoto" Target="../media/hdphoto3.wdp"/><Relationship Id="rId2" Type="http://schemas.openxmlformats.org/officeDocument/2006/relationships/notesSlide" Target="../notesSlides/notesSlide5.xml"/><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20.png"/><Relationship Id="rId4" Type="http://schemas.openxmlformats.org/officeDocument/2006/relationships/image" Target="../media/image16.png"/></Relationships>
</file>

<file path=ppt/slides/_rels/slide57.xml.rels><?xml version="1.0" encoding="UTF-8" standalone="yes"?>
<Relationships xmlns="http://schemas.openxmlformats.org/package/2006/relationships"><Relationship Id="rId3" Type="http://schemas.openxmlformats.org/officeDocument/2006/relationships/slide" Target="slide58.xml"/><Relationship Id="rId2" Type="http://schemas.openxmlformats.org/officeDocument/2006/relationships/image" Target="../media/image16.png"/><Relationship Id="rId1" Type="http://schemas.openxmlformats.org/officeDocument/2006/relationships/slideLayout" Target="../slideLayouts/slideLayout19.xml"/><Relationship Id="rId6" Type="http://schemas.openxmlformats.org/officeDocument/2006/relationships/image" Target="../media/image13.png"/><Relationship Id="rId5" Type="http://schemas.microsoft.com/office/2007/relationships/hdphoto" Target="../media/hdphoto3.wdp"/><Relationship Id="rId4" Type="http://schemas.openxmlformats.org/officeDocument/2006/relationships/image" Target="../media/image11.png"/></Relationships>
</file>

<file path=ppt/slides/_rels/slide5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19.xml"/><Relationship Id="rId4" Type="http://schemas.openxmlformats.org/officeDocument/2006/relationships/image" Target="../media/image20.png"/></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0.xml"/><Relationship Id="rId5" Type="http://schemas.openxmlformats.org/officeDocument/2006/relationships/image" Target="../media/image20.png"/><Relationship Id="rId4" Type="http://schemas.microsoft.com/office/2007/relationships/hdphoto" Target="../media/hdphoto3.wdp"/></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20.xml"/><Relationship Id="rId4" Type="http://schemas.microsoft.com/office/2007/relationships/hdphoto" Target="../media/hdphoto3.wdp"/></Relationships>
</file>

<file path=ppt/slides/_rels/slide6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6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0.xml"/><Relationship Id="rId5" Type="http://schemas.openxmlformats.org/officeDocument/2006/relationships/image" Target="../media/image13.png"/><Relationship Id="rId4" Type="http://schemas.openxmlformats.org/officeDocument/2006/relationships/image" Target="../media/image20.png"/></Relationships>
</file>

<file path=ppt/slides/_rels/slide6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21.xml"/><Relationship Id="rId7" Type="http://schemas.openxmlformats.org/officeDocument/2006/relationships/image" Target="../media/image12.png"/><Relationship Id="rId2" Type="http://schemas.openxmlformats.org/officeDocument/2006/relationships/audio" Target="../media/media41.mp3"/><Relationship Id="rId1" Type="http://schemas.microsoft.com/office/2007/relationships/media" Target="../media/media41.mp3"/><Relationship Id="rId6" Type="http://schemas.openxmlformats.org/officeDocument/2006/relationships/slide" Target="slide90.xml"/><Relationship Id="rId5" Type="http://schemas.openxmlformats.org/officeDocument/2006/relationships/image" Target="../media/image14.png"/><Relationship Id="rId10" Type="http://schemas.openxmlformats.org/officeDocument/2006/relationships/image" Target="../media/image20.png"/><Relationship Id="rId4" Type="http://schemas.openxmlformats.org/officeDocument/2006/relationships/image" Target="../media/image13.png"/><Relationship Id="rId9" Type="http://schemas.microsoft.com/office/2007/relationships/hdphoto" Target="../media/hdphoto3.wdp"/></Relationships>
</file>

<file path=ppt/slides/_rels/slide6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1.xml"/><Relationship Id="rId4" Type="http://schemas.openxmlformats.org/officeDocument/2006/relationships/image" Target="../media/image20.png"/></Relationships>
</file>

<file path=ppt/slides/_rels/slide6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 Id="rId4" Type="http://schemas.openxmlformats.org/officeDocument/2006/relationships/image" Target="../media/image20.png"/></Relationships>
</file>

<file path=ppt/slides/_rels/slide6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6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6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7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7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7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7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2.xml"/><Relationship Id="rId5" Type="http://schemas.openxmlformats.org/officeDocument/2006/relationships/image" Target="../media/image20.png"/><Relationship Id="rId4" Type="http://schemas.openxmlformats.org/officeDocument/2006/relationships/image" Target="../media/image13.png"/></Relationships>
</file>

<file path=ppt/slides/_rels/slide7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3.xml"/><Relationship Id="rId4" Type="http://schemas.openxmlformats.org/officeDocument/2006/relationships/image" Target="../media/image20.png"/></Relationships>
</file>

<file path=ppt/slides/_rels/slide7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7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3.xml"/><Relationship Id="rId6" Type="http://schemas.openxmlformats.org/officeDocument/2006/relationships/image" Target="../media/image20.png"/><Relationship Id="rId5" Type="http://schemas.openxmlformats.org/officeDocument/2006/relationships/image" Target="../media/image13.png"/><Relationship Id="rId4" Type="http://schemas.openxmlformats.org/officeDocument/2006/relationships/slide" Target="slide86.xml"/></Relationships>
</file>

<file path=ppt/slides/_rels/slide7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20.png"/></Relationships>
</file>

<file path=ppt/slides/_rels/slide7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8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8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3.png"/><Relationship Id="rId1" Type="http://schemas.openxmlformats.org/officeDocument/2006/relationships/slideLayout" Target="../slideLayouts/slideLayout24.xml"/><Relationship Id="rId5" Type="http://schemas.microsoft.com/office/2007/relationships/hdphoto" Target="../media/hdphoto3.wdp"/><Relationship Id="rId4" Type="http://schemas.openxmlformats.org/officeDocument/2006/relationships/image" Target="../media/image11.png"/></Relationships>
</file>

<file path=ppt/slides/_rels/slide8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25.xml"/></Relationships>
</file>

<file path=ppt/slides/_rels/slide84.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6.xml"/></Relationships>
</file>

<file path=ppt/slides/_rels/slide85.xml.rels><?xml version="1.0" encoding="UTF-8" standalone="yes"?>
<Relationships xmlns="http://schemas.openxmlformats.org/package/2006/relationships"><Relationship Id="rId2" Type="http://schemas.openxmlformats.org/officeDocument/2006/relationships/slide" Target="slide28.xml"/><Relationship Id="rId1" Type="http://schemas.openxmlformats.org/officeDocument/2006/relationships/slideLayout" Target="../slideLayouts/slideLayout26.xml"/></Relationships>
</file>

<file path=ppt/slides/_rels/slide8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76.xml"/><Relationship Id="rId1" Type="http://schemas.openxmlformats.org/officeDocument/2006/relationships/slideLayout" Target="../slideLayouts/slideLayout27.xml"/><Relationship Id="rId5" Type="http://schemas.openxmlformats.org/officeDocument/2006/relationships/image" Target="../media/image11.png"/><Relationship Id="rId4" Type="http://schemas.microsoft.com/office/2007/relationships/hdphoto" Target="../media/hdphoto3.wdp"/></Relationships>
</file>

<file path=ppt/slides/_rels/slide8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7.xml"/><Relationship Id="rId5" Type="http://schemas.openxmlformats.org/officeDocument/2006/relationships/slide" Target="slide76.xml"/><Relationship Id="rId4" Type="http://schemas.openxmlformats.org/officeDocument/2006/relationships/image" Target="../media/image11.png"/></Relationships>
</file>

<file path=ppt/slides/_rels/slide8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4.xml"/><Relationship Id="rId1" Type="http://schemas.openxmlformats.org/officeDocument/2006/relationships/slideLayout" Target="../slideLayouts/slideLayout28.xml"/><Relationship Id="rId5" Type="http://schemas.openxmlformats.org/officeDocument/2006/relationships/image" Target="../media/image11.png"/><Relationship Id="rId4" Type="http://schemas.microsoft.com/office/2007/relationships/hdphoto" Target="../media/hdphoto3.wdp"/></Relationships>
</file>

<file path=ppt/slides/_rels/slide8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8.xml"/><Relationship Id="rId6" Type="http://schemas.openxmlformats.org/officeDocument/2006/relationships/slide" Target="slide4.xml"/><Relationship Id="rId5" Type="http://schemas.openxmlformats.org/officeDocument/2006/relationships/image" Target="../media/image11.png"/><Relationship Id="rId4" Type="http://schemas.openxmlformats.org/officeDocument/2006/relationships/slide" Target="slide88.xml"/></Relationships>
</file>

<file path=ppt/slides/_rels/slide9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8.xml"/><Relationship Id="rId5" Type="http://schemas.openxmlformats.org/officeDocument/2006/relationships/slide" Target="slide64.xml"/><Relationship Id="rId4" Type="http://schemas.openxmlformats.org/officeDocument/2006/relationships/image" Target="../media/image11.png"/></Relationships>
</file>

<file path=ppt/slides/_rels/slide9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0.png"/><Relationship Id="rId1" Type="http://schemas.openxmlformats.org/officeDocument/2006/relationships/slideLayout" Target="../slideLayouts/slideLayout28.xml"/><Relationship Id="rId5" Type="http://schemas.openxmlformats.org/officeDocument/2006/relationships/slide" Target="slide64.xml"/><Relationship Id="rId4" Type="http://schemas.openxmlformats.org/officeDocument/2006/relationships/image" Target="../media/image11.png"/></Relationships>
</file>

<file path=ppt/slides/_rels/slide92.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31.xml"/></Relationships>
</file>

<file path=ppt/slides/_rels/slide93.xml.rels><?xml version="1.0" encoding="UTF-8" standalone="yes"?>
<Relationships xmlns="http://schemas.openxmlformats.org/package/2006/relationships"><Relationship Id="rId2" Type="http://schemas.openxmlformats.org/officeDocument/2006/relationships/slide" Target="slide32.xml"/><Relationship Id="rId1" Type="http://schemas.openxmlformats.org/officeDocument/2006/relationships/slideLayout" Target="../slideLayouts/slideLayout31.xml"/></Relationships>
</file>

<file path=ppt/slides/_rels/slide94.xml.rels><?xml version="1.0" encoding="UTF-8" standalone="yes"?>
<Relationships xmlns="http://schemas.openxmlformats.org/package/2006/relationships"><Relationship Id="rId2" Type="http://schemas.openxmlformats.org/officeDocument/2006/relationships/slide" Target="slide50.xml"/><Relationship Id="rId1" Type="http://schemas.openxmlformats.org/officeDocument/2006/relationships/slideLayout" Target="../slideLayouts/slideLayout31.xml"/></Relationships>
</file>

<file path=ppt/slides/_rels/slide95.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2.mp3"/><Relationship Id="rId1" Type="http://schemas.microsoft.com/office/2007/relationships/media" Target="../media/media42.mp3"/><Relationship Id="rId6" Type="http://schemas.microsoft.com/office/2007/relationships/hdphoto" Target="../media/hdphoto4.wdp"/><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29.png"/></Relationships>
</file>

<file path=ppt/slides/_rels/slide96.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3.mp3"/><Relationship Id="rId1" Type="http://schemas.microsoft.com/office/2007/relationships/media" Target="../media/media43.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97.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4.mp3"/><Relationship Id="rId1" Type="http://schemas.microsoft.com/office/2007/relationships/media" Target="../media/media44.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98.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5.mp3"/><Relationship Id="rId1" Type="http://schemas.microsoft.com/office/2007/relationships/media" Target="../media/media45.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99.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slideLayout" Target="../slideLayouts/slideLayout33.xml"/><Relationship Id="rId7" Type="http://schemas.openxmlformats.org/officeDocument/2006/relationships/image" Target="../media/image28.png"/><Relationship Id="rId2" Type="http://schemas.openxmlformats.org/officeDocument/2006/relationships/audio" Target="../media/media46.mp3"/><Relationship Id="rId1" Type="http://schemas.microsoft.com/office/2007/relationships/media" Target="../media/media46.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0.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7.mp3"/><Relationship Id="rId1" Type="http://schemas.microsoft.com/office/2007/relationships/media" Target="../media/media47.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1.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8.mp3"/><Relationship Id="rId1" Type="http://schemas.microsoft.com/office/2007/relationships/media" Target="../media/media48.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49.mp3"/><Relationship Id="rId1" Type="http://schemas.microsoft.com/office/2007/relationships/media" Target="../media/media49.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0.mp3"/><Relationship Id="rId1" Type="http://schemas.microsoft.com/office/2007/relationships/media" Target="../media/media50.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4.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1.mp3"/><Relationship Id="rId1" Type="http://schemas.microsoft.com/office/2007/relationships/media" Target="../media/media51.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5.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2.mp3"/><Relationship Id="rId1" Type="http://schemas.microsoft.com/office/2007/relationships/media" Target="../media/media52.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6.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3.mp3"/><Relationship Id="rId1" Type="http://schemas.microsoft.com/office/2007/relationships/media" Target="../media/media53.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7.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4.mp3"/><Relationship Id="rId1" Type="http://schemas.microsoft.com/office/2007/relationships/media" Target="../media/media54.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8.xml.rels><?xml version="1.0" encoding="UTF-8" standalone="yes"?>
<Relationships xmlns="http://schemas.openxmlformats.org/package/2006/relationships"><Relationship Id="rId8" Type="http://schemas.openxmlformats.org/officeDocument/2006/relationships/slide" Target="slide13.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5.mp3"/><Relationship Id="rId1" Type="http://schemas.microsoft.com/office/2007/relationships/media" Target="../media/media55.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09.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6.mp3"/><Relationship Id="rId1" Type="http://schemas.microsoft.com/office/2007/relationships/media" Target="../media/media56.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10.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7.mp3"/><Relationship Id="rId1" Type="http://schemas.microsoft.com/office/2007/relationships/media" Target="../media/media57.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11.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8.mp3"/><Relationship Id="rId1" Type="http://schemas.microsoft.com/office/2007/relationships/media" Target="../media/media58.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12.xml.rels><?xml version="1.0" encoding="UTF-8" standalone="yes"?>
<Relationships xmlns="http://schemas.openxmlformats.org/package/2006/relationships"><Relationship Id="rId8" Type="http://schemas.openxmlformats.org/officeDocument/2006/relationships/slide" Target="slide15.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59.mp3"/><Relationship Id="rId1" Type="http://schemas.microsoft.com/office/2007/relationships/media" Target="../media/media59.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13.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0.mp3"/><Relationship Id="rId1" Type="http://schemas.microsoft.com/office/2007/relationships/media" Target="../media/media60.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32.xml"/><Relationship Id="rId7" Type="http://schemas.openxmlformats.org/officeDocument/2006/relationships/image" Target="../media/image26.png"/><Relationship Id="rId2" Type="http://schemas.openxmlformats.org/officeDocument/2006/relationships/audio" Target="../media/media61.mp3"/><Relationship Id="rId1" Type="http://schemas.microsoft.com/office/2007/relationships/media" Target="../media/media61.mp3"/><Relationship Id="rId6" Type="http://schemas.microsoft.com/office/2007/relationships/hdphoto" Target="../media/hdphoto4.wdp"/><Relationship Id="rId5" Type="http://schemas.openxmlformats.org/officeDocument/2006/relationships/image" Target="../media/image27.png"/><Relationship Id="rId4" Type="http://schemas.openxmlformats.org/officeDocument/2006/relationships/slide" Target="slide16.xml"/><Relationship Id="rId9" Type="http://schemas.openxmlformats.org/officeDocument/2006/relationships/image" Target="../media/image29.png"/></Relationships>
</file>

<file path=ppt/slides/_rels/slide1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 Target="slide8.xml"/><Relationship Id="rId1" Type="http://schemas.openxmlformats.org/officeDocument/2006/relationships/slideLayout" Target="../slideLayouts/slideLayout36.xml"/></Relationships>
</file>

<file path=ppt/slides/_rels/slide1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 Target="slide9.xml"/><Relationship Id="rId1" Type="http://schemas.openxmlformats.org/officeDocument/2006/relationships/slideLayout" Target="../slideLayouts/slideLayout37.xml"/></Relationships>
</file>

<file path=ppt/slides/_rels/slide1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 Target="slide14.xml"/><Relationship Id="rId1" Type="http://schemas.openxmlformats.org/officeDocument/2006/relationships/slideLayout" Target="../slideLayouts/slideLayout36.xml"/></Relationships>
</file>

<file path=ppt/slides/_rels/slide1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 Target="slide15.xml"/><Relationship Id="rId1" Type="http://schemas.openxmlformats.org/officeDocument/2006/relationships/slideLayout" Target="../slideLayouts/slideLayout38.xml"/></Relationships>
</file>

<file path=ppt/slides/_rels/slide119.xml.rels><?xml version="1.0" encoding="UTF-8" standalone="yes"?>
<Relationships xmlns="http://schemas.openxmlformats.org/package/2006/relationships"><Relationship Id="rId8" Type="http://schemas.openxmlformats.org/officeDocument/2006/relationships/slide" Target="slide33.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2.mp3"/><Relationship Id="rId1" Type="http://schemas.microsoft.com/office/2007/relationships/media" Target="../media/media62.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0.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3.mp3"/><Relationship Id="rId1" Type="http://schemas.microsoft.com/office/2007/relationships/media" Target="../media/media63.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1.xml.rels><?xml version="1.0" encoding="UTF-8" standalone="yes"?>
<Relationships xmlns="http://schemas.openxmlformats.org/package/2006/relationships"><Relationship Id="rId8" Type="http://schemas.openxmlformats.org/officeDocument/2006/relationships/slide" Target="slide34.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4.mp3"/><Relationship Id="rId1" Type="http://schemas.microsoft.com/office/2007/relationships/media" Target="../media/media64.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2.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5.mp3"/><Relationship Id="rId1" Type="http://schemas.microsoft.com/office/2007/relationships/media" Target="../media/media65.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3.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6.mp3"/><Relationship Id="rId1" Type="http://schemas.microsoft.com/office/2007/relationships/media" Target="../media/media66.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4.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7.mp3"/><Relationship Id="rId1" Type="http://schemas.microsoft.com/office/2007/relationships/media" Target="../media/media67.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5.xml.rels><?xml version="1.0" encoding="UTF-8" standalone="yes"?>
<Relationships xmlns="http://schemas.openxmlformats.org/package/2006/relationships"><Relationship Id="rId8" Type="http://schemas.openxmlformats.org/officeDocument/2006/relationships/slide" Target="slide35.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8.mp3"/><Relationship Id="rId1" Type="http://schemas.microsoft.com/office/2007/relationships/media" Target="../media/media68.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6.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69.mp3"/><Relationship Id="rId1" Type="http://schemas.microsoft.com/office/2007/relationships/media" Target="../media/media69.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7.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70.mp3"/><Relationship Id="rId1" Type="http://schemas.microsoft.com/office/2007/relationships/media" Target="../media/media70.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8.xml.rels><?xml version="1.0" encoding="UTF-8" standalone="yes"?>
<Relationships xmlns="http://schemas.openxmlformats.org/package/2006/relationships"><Relationship Id="rId8" Type="http://schemas.openxmlformats.org/officeDocument/2006/relationships/slide" Target="slide36.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71.mp3"/><Relationship Id="rId1" Type="http://schemas.microsoft.com/office/2007/relationships/media" Target="../media/media71.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29.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72.mp3"/><Relationship Id="rId1" Type="http://schemas.microsoft.com/office/2007/relationships/media" Target="../media/media72.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30.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73.mp3"/><Relationship Id="rId1" Type="http://schemas.microsoft.com/office/2007/relationships/media" Target="../media/media73.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31.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Layout" Target="../slideLayouts/slideLayout32.xml"/><Relationship Id="rId7" Type="http://schemas.openxmlformats.org/officeDocument/2006/relationships/image" Target="../media/image28.png"/><Relationship Id="rId2" Type="http://schemas.openxmlformats.org/officeDocument/2006/relationships/audio" Target="../media/media74.mp3"/><Relationship Id="rId1" Type="http://schemas.microsoft.com/office/2007/relationships/media" Target="../media/media74.mp3"/><Relationship Id="rId6" Type="http://schemas.openxmlformats.org/officeDocument/2006/relationships/image" Target="../media/image26.png"/><Relationship Id="rId5" Type="http://schemas.microsoft.com/office/2007/relationships/hdphoto" Target="../media/hdphoto4.wdp"/><Relationship Id="rId4" Type="http://schemas.openxmlformats.org/officeDocument/2006/relationships/image" Target="../media/image27.png"/><Relationship Id="rId9" Type="http://schemas.openxmlformats.org/officeDocument/2006/relationships/image" Target="../media/image29.png"/></Relationships>
</file>

<file path=ppt/slides/_rels/slide13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slideLayout" Target="../slideLayouts/slideLayout32.xml"/><Relationship Id="rId7" Type="http://schemas.openxmlformats.org/officeDocument/2006/relationships/image" Target="../media/image26.png"/><Relationship Id="rId2" Type="http://schemas.openxmlformats.org/officeDocument/2006/relationships/audio" Target="../media/media75.mp3"/><Relationship Id="rId1" Type="http://schemas.microsoft.com/office/2007/relationships/media" Target="../media/media75.mp3"/><Relationship Id="rId6" Type="http://schemas.microsoft.com/office/2007/relationships/hdphoto" Target="../media/hdphoto4.wdp"/><Relationship Id="rId5" Type="http://schemas.openxmlformats.org/officeDocument/2006/relationships/image" Target="../media/image27.png"/><Relationship Id="rId4" Type="http://schemas.openxmlformats.org/officeDocument/2006/relationships/slide" Target="slide37.xml"/><Relationship Id="rId9" Type="http://schemas.openxmlformats.org/officeDocument/2006/relationships/image" Target="../media/image29.png"/></Relationships>
</file>

<file path=ppt/slides/_rels/slide1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33.xml"/><Relationship Id="rId1" Type="http://schemas.openxmlformats.org/officeDocument/2006/relationships/slideLayout" Target="../slideLayouts/slideLayout37.xml"/></Relationships>
</file>

<file path=ppt/slides/_rels/slide1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35.xml"/><Relationship Id="rId1" Type="http://schemas.openxmlformats.org/officeDocument/2006/relationships/slideLayout" Target="../slideLayouts/slideLayout37.xml"/></Relationships>
</file>

<file path=ppt/slides/_rels/slide1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 Target="slide37.xml"/><Relationship Id="rId1" Type="http://schemas.openxmlformats.org/officeDocument/2006/relationships/slideLayout" Target="../slideLayouts/slideLayout38.xml"/></Relationships>
</file>

<file path=ppt/slides/_rels/slide136.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40.xml"/></Relationships>
</file>

<file path=ppt/slides/_rels/slide137.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41.xml"/></Relationships>
</file>

<file path=ppt/slides/_rels/slide138.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41.xml"/></Relationships>
</file>

<file path=ppt/slides/_rels/slide139.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41.xml"/></Relationships>
</file>

<file path=ppt/slides/_rels/slide140.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41.xml"/></Relationships>
</file>

<file path=ppt/slides/_rels/slide141.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41.xml"/></Relationships>
</file>

<file path=ppt/slides/_rels/slide142.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41.xml"/></Relationships>
</file>

<file path=ppt/slides/_rels/slide143.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41.xml"/></Relationships>
</file>

<file path=ppt/slides/_rels/slide144.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41.xml"/></Relationships>
</file>

<file path=ppt/slides/_rels/slide145.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41.xml"/></Relationships>
</file>

<file path=ppt/slides/_rels/slide146.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41.xml"/></Relationships>
</file>

<file path=ppt/slides/_rels/slide147.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41.xml"/></Relationships>
</file>

<file path=ppt/slides/_rels/slide148.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41.xml"/></Relationships>
</file>

<file path=ppt/slides/_rels/slide149.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41.xml"/></Relationships>
</file>

<file path=ppt/slides/_rels/slide150.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41.xml"/></Relationships>
</file>

<file path=ppt/slides/_rels/slide151.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41.xml"/></Relationships>
</file>

<file path=ppt/slides/_rels/slide152.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41.xml"/></Relationships>
</file>

<file path=ppt/slides/_rels/slide153.xml.rels><?xml version="1.0" encoding="UTF-8" standalone="yes"?>
<Relationships xmlns="http://schemas.openxmlformats.org/package/2006/relationships"><Relationship Id="rId2" Type="http://schemas.openxmlformats.org/officeDocument/2006/relationships/slide" Target="slide15.xml"/><Relationship Id="rId1" Type="http://schemas.openxmlformats.org/officeDocument/2006/relationships/slideLayout" Target="../slideLayouts/slideLayout41.xml"/></Relationships>
</file>

<file path=ppt/slides/_rels/slide154.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40.xml"/></Relationships>
</file>

<file path=ppt/slides/_rels/slide155.xml.rels><?xml version="1.0" encoding="UTF-8" standalone="yes"?>
<Relationships xmlns="http://schemas.openxmlformats.org/package/2006/relationships"><Relationship Id="rId2" Type="http://schemas.openxmlformats.org/officeDocument/2006/relationships/slide" Target="slide33.xml"/><Relationship Id="rId1" Type="http://schemas.openxmlformats.org/officeDocument/2006/relationships/slideLayout" Target="../slideLayouts/slideLayout41.xml"/></Relationships>
</file>

<file path=ppt/slides/_rels/slide156.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41.xml"/></Relationships>
</file>

<file path=ppt/slides/_rels/slide157.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41.xml"/></Relationships>
</file>

<file path=ppt/slides/_rels/slide158.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slideLayout" Target="../slideLayouts/slideLayout41.xml"/></Relationships>
</file>

<file path=ppt/slides/_rels/slide159.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41.xml"/></Relationships>
</file>

<file path=ppt/slides/_rels/slide160.xml.rels><?xml version="1.0" encoding="UTF-8" standalone="yes"?>
<Relationships xmlns="http://schemas.openxmlformats.org/package/2006/relationships"><Relationship Id="rId2" Type="http://schemas.openxmlformats.org/officeDocument/2006/relationships/slide" Target="slide36.xml"/><Relationship Id="rId1" Type="http://schemas.openxmlformats.org/officeDocument/2006/relationships/slideLayout" Target="../slideLayouts/slideLayout41.xml"/></Relationships>
</file>

<file path=ppt/slides/_rels/slide161.xml.rels><?xml version="1.0" encoding="UTF-8" standalone="yes"?>
<Relationships xmlns="http://schemas.openxmlformats.org/package/2006/relationships"><Relationship Id="rId2" Type="http://schemas.openxmlformats.org/officeDocument/2006/relationships/slide" Target="slide37.xml"/><Relationship Id="rId1" Type="http://schemas.openxmlformats.org/officeDocument/2006/relationships/slideLayout" Target="../slideLayouts/slideLayout41.xml"/></Relationships>
</file>

<file path=ppt/slides/_rels/slide162.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40.xml"/></Relationships>
</file>

<file path=ppt/slides/_rels/slide163.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41.xml"/></Relationships>
</file>

<file path=ppt/slides/_rels/slide164.xml.rels><?xml version="1.0" encoding="UTF-8" standalone="yes"?>
<Relationships xmlns="http://schemas.openxmlformats.org/package/2006/relationships"><Relationship Id="rId2" Type="http://schemas.openxmlformats.org/officeDocument/2006/relationships/slide" Target="slide51.xml"/><Relationship Id="rId1" Type="http://schemas.openxmlformats.org/officeDocument/2006/relationships/slideLayout" Target="../slideLayouts/slideLayout41.xml"/></Relationships>
</file>

<file path=ppt/slides/_rels/slide165.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41.xml"/></Relationships>
</file>

<file path=ppt/slides/_rels/slide166.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41.xml"/></Relationships>
</file>

<file path=ppt/slides/_rels/slide167.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41.xml"/></Relationships>
</file>

<file path=ppt/slides/_rels/slide168.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41.xml"/></Relationships>
</file>

<file path=ppt/slides/_rels/slide169.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41.xml"/></Relationships>
</file>

<file path=ppt/slides/_rels/slide170.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41.xml"/></Relationships>
</file>

<file path=ppt/slides/_rels/slide171.xml.rels><?xml version="1.0" encoding="UTF-8" standalone="yes"?>
<Relationships xmlns="http://schemas.openxmlformats.org/package/2006/relationships"><Relationship Id="rId2" Type="http://schemas.openxmlformats.org/officeDocument/2006/relationships/slide" Target="slide54.xml"/><Relationship Id="rId1" Type="http://schemas.openxmlformats.org/officeDocument/2006/relationships/slideLayout" Target="../slideLayouts/slideLayout41.xml"/></Relationships>
</file>

<file path=ppt/slides/_rels/slide172.xml.rels><?xml version="1.0" encoding="UTF-8" standalone="yes"?>
<Relationships xmlns="http://schemas.openxmlformats.org/package/2006/relationships"><Relationship Id="rId2" Type="http://schemas.openxmlformats.org/officeDocument/2006/relationships/slide" Target="slide54.xml"/><Relationship Id="rId1" Type="http://schemas.openxmlformats.org/officeDocument/2006/relationships/slideLayout" Target="../slideLayouts/slideLayout41.xml"/></Relationships>
</file>

<file path=ppt/slides/_rels/slide173.xml.rels><?xml version="1.0" encoding="UTF-8" standalone="yes"?>
<Relationships xmlns="http://schemas.openxmlformats.org/package/2006/relationships"><Relationship Id="rId2" Type="http://schemas.openxmlformats.org/officeDocument/2006/relationships/slide" Target="slide55.xml"/><Relationship Id="rId1" Type="http://schemas.openxmlformats.org/officeDocument/2006/relationships/slideLayout" Target="../slideLayouts/slideLayout41.xml"/></Relationships>
</file>

<file path=ppt/slides/_rels/slide174.xml.rels><?xml version="1.0" encoding="UTF-8" standalone="yes"?>
<Relationships xmlns="http://schemas.openxmlformats.org/package/2006/relationships"><Relationship Id="rId2" Type="http://schemas.openxmlformats.org/officeDocument/2006/relationships/slide" Target="slide55.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 descr="C:\Users\senj\Desktop\按钮.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
                    </a14:imgEffect>
                  </a14:imgLayer>
                </a14:imgProps>
              </a:ext>
            </a:extLst>
          </a:blip>
          <a:srcRect l="12911" t="21436" r="39626" b="60503"/>
          <a:stretch>
            <a:fillRect/>
          </a:stretch>
        </p:blipFill>
        <p:spPr bwMode="auto">
          <a:xfrm>
            <a:off x="8366400" y="6429396"/>
            <a:ext cx="259557" cy="254794"/>
          </a:xfrm>
          <a:prstGeom prst="rect">
            <a:avLst/>
          </a:prstGeom>
          <a:noFill/>
        </p:spPr>
      </p:pic>
      <p:pic>
        <p:nvPicPr>
          <p:cNvPr id="36" name="Picture 3" descr="C:\Users\senj\Desktop\按钮.png">
            <a:hlinkClick r:id="" action="ppaction://hlinkshowjump?jump=nextslide"/>
          </p:cNvPr>
          <p:cNvPicPr>
            <a:picLocks noChangeAspect="1" noChangeArrowheads="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42" name="文本框 41">
            <a:hlinkClick r:id="rId6" action="ppaction://hlinksldjump"/>
          </p:cNvPr>
          <p:cNvSpPr txBox="1"/>
          <p:nvPr/>
        </p:nvSpPr>
        <p:spPr>
          <a:xfrm>
            <a:off x="1649507" y="1271019"/>
            <a:ext cx="2821606" cy="429861"/>
          </a:xfrm>
          <a:prstGeom prst="rect">
            <a:avLst/>
          </a:prstGeom>
          <a:noFill/>
        </p:spPr>
        <p:txBody>
          <a:bodyPr wrap="none" rtlCol="0">
            <a:spAutoFit/>
          </a:bodyPr>
          <a:lstStyle/>
          <a:p>
            <a:pPr>
              <a:lnSpc>
                <a:spcPts val="2600"/>
              </a:lnSpc>
            </a:pPr>
            <a:r>
              <a:rPr lang="en-US" altLang="zh-CN" sz="3000" b="1" dirty="0">
                <a:solidFill>
                  <a:srgbClr val="982738"/>
                </a:solidFill>
                <a:latin typeface="Cambria" panose="02040503050406030204" pitchFamily="18" charset="0"/>
                <a:ea typeface="Cambria" panose="02040503050406030204" pitchFamily="18" charset="0"/>
              </a:rPr>
              <a:t>Learning Goals</a:t>
            </a:r>
            <a:endParaRPr lang="zh-CN" altLang="en-US" sz="3000" spc="-30" dirty="0">
              <a:solidFill>
                <a:srgbClr val="982738"/>
              </a:solidFill>
              <a:latin typeface="Cambria" panose="02040503050406030204" pitchFamily="18" charset="0"/>
            </a:endParaRPr>
          </a:p>
        </p:txBody>
      </p:sp>
      <p:sp>
        <p:nvSpPr>
          <p:cNvPr id="27" name="文本框 26"/>
          <p:cNvSpPr txBox="1"/>
          <p:nvPr/>
        </p:nvSpPr>
        <p:spPr>
          <a:xfrm>
            <a:off x="1649506" y="2000717"/>
            <a:ext cx="1122424" cy="461665"/>
          </a:xfrm>
          <a:prstGeom prst="rect">
            <a:avLst/>
          </a:prstGeom>
          <a:noFill/>
        </p:spPr>
        <p:txBody>
          <a:bodyPr wrap="none" rtlCol="0">
            <a:spAutoFit/>
          </a:bodyPr>
          <a:lstStyle/>
          <a:p>
            <a:r>
              <a:rPr lang="en-US" altLang="zh-CN" sz="2400" b="1" dirty="0">
                <a:solidFill>
                  <a:srgbClr val="0C476D"/>
                </a:solidFill>
              </a:rPr>
              <a:t>Lead-in</a:t>
            </a:r>
            <a:endParaRPr lang="zh-CN" altLang="zh-CN" sz="2400" dirty="0">
              <a:solidFill>
                <a:srgbClr val="0C476D"/>
              </a:solidFill>
            </a:endParaRPr>
          </a:p>
        </p:txBody>
      </p:sp>
      <p:sp>
        <p:nvSpPr>
          <p:cNvPr id="28" name="文本框 27">
            <a:hlinkClick r:id="rId7" action="ppaction://hlinksldjump"/>
          </p:cNvPr>
          <p:cNvSpPr txBox="1"/>
          <p:nvPr/>
        </p:nvSpPr>
        <p:spPr>
          <a:xfrm>
            <a:off x="2369085" y="2445567"/>
            <a:ext cx="942887" cy="461665"/>
          </a:xfrm>
          <a:prstGeom prst="rect">
            <a:avLst/>
          </a:prstGeom>
          <a:noFill/>
        </p:spPr>
        <p:txBody>
          <a:bodyPr wrap="none" rtlCol="0">
            <a:spAutoFit/>
          </a:bodyPr>
          <a:lstStyle/>
          <a:p>
            <a:r>
              <a:rPr lang="en-US" altLang="zh-CN" sz="2400" dirty="0">
                <a:solidFill>
                  <a:srgbClr val="C00000"/>
                </a:solidFill>
              </a:rPr>
              <a:t>Task 1</a:t>
            </a:r>
            <a:endParaRPr lang="zh-CN" altLang="zh-CN" sz="2400" dirty="0">
              <a:solidFill>
                <a:srgbClr val="C00000"/>
              </a:solidFill>
            </a:endParaRPr>
          </a:p>
        </p:txBody>
      </p:sp>
      <p:sp>
        <p:nvSpPr>
          <p:cNvPr id="29" name="文本框 28">
            <a:hlinkClick r:id="rId8" action="ppaction://hlinksldjump"/>
          </p:cNvPr>
          <p:cNvSpPr txBox="1"/>
          <p:nvPr/>
        </p:nvSpPr>
        <p:spPr>
          <a:xfrm>
            <a:off x="2369085" y="2890417"/>
            <a:ext cx="942887" cy="461665"/>
          </a:xfrm>
          <a:prstGeom prst="rect">
            <a:avLst/>
          </a:prstGeom>
          <a:noFill/>
        </p:spPr>
        <p:txBody>
          <a:bodyPr wrap="none" rtlCol="0">
            <a:spAutoFit/>
          </a:bodyPr>
          <a:lstStyle/>
          <a:p>
            <a:r>
              <a:rPr lang="en-US" altLang="zh-CN" sz="2400" dirty="0">
                <a:solidFill>
                  <a:srgbClr val="C00000"/>
                </a:solidFill>
              </a:rPr>
              <a:t>Task 2</a:t>
            </a:r>
            <a:endParaRPr lang="zh-CN" altLang="zh-CN" sz="2400" dirty="0">
              <a:solidFill>
                <a:srgbClr val="C00000"/>
              </a:solidFill>
            </a:endParaRPr>
          </a:p>
        </p:txBody>
      </p:sp>
      <p:sp>
        <p:nvSpPr>
          <p:cNvPr id="30" name="文本框 29">
            <a:hlinkClick r:id="rId9" action="ppaction://hlinksldjump"/>
          </p:cNvPr>
          <p:cNvSpPr txBox="1"/>
          <p:nvPr/>
        </p:nvSpPr>
        <p:spPr>
          <a:xfrm>
            <a:off x="2369085" y="3335267"/>
            <a:ext cx="1866473" cy="461665"/>
          </a:xfrm>
          <a:prstGeom prst="rect">
            <a:avLst/>
          </a:prstGeom>
          <a:noFill/>
        </p:spPr>
        <p:txBody>
          <a:bodyPr wrap="none" rtlCol="0">
            <a:spAutoFit/>
          </a:bodyPr>
          <a:lstStyle/>
          <a:p>
            <a:r>
              <a:rPr lang="en-US" altLang="zh-CN" sz="2400" dirty="0">
                <a:solidFill>
                  <a:srgbClr val="C00000"/>
                </a:solidFill>
              </a:rPr>
              <a:t>Optional Task</a:t>
            </a:r>
            <a:endParaRPr lang="zh-CN" altLang="zh-CN" sz="2400" dirty="0">
              <a:solidFill>
                <a:srgbClr val="C00000"/>
              </a:solidFill>
            </a:endParaRPr>
          </a:p>
        </p:txBody>
      </p:sp>
      <p:sp>
        <p:nvSpPr>
          <p:cNvPr id="31" name="文本框 30"/>
          <p:cNvSpPr txBox="1"/>
          <p:nvPr/>
        </p:nvSpPr>
        <p:spPr>
          <a:xfrm>
            <a:off x="1649507" y="3780117"/>
            <a:ext cx="2339038" cy="461665"/>
          </a:xfrm>
          <a:prstGeom prst="rect">
            <a:avLst/>
          </a:prstGeom>
          <a:noFill/>
        </p:spPr>
        <p:txBody>
          <a:bodyPr wrap="none" rtlCol="0">
            <a:spAutoFit/>
          </a:bodyPr>
          <a:lstStyle/>
          <a:p>
            <a:r>
              <a:rPr lang="en-US" altLang="zh-CN" sz="2400" b="1" dirty="0">
                <a:solidFill>
                  <a:srgbClr val="0C476D"/>
                </a:solidFill>
              </a:rPr>
              <a:t>Reading to Focus</a:t>
            </a:r>
            <a:endParaRPr lang="zh-CN" altLang="zh-CN" sz="2400" dirty="0">
              <a:solidFill>
                <a:srgbClr val="0C476D"/>
              </a:solidFill>
            </a:endParaRPr>
          </a:p>
        </p:txBody>
      </p:sp>
      <p:sp>
        <p:nvSpPr>
          <p:cNvPr id="32" name="文本框 31">
            <a:hlinkClick r:id="rId10" action="ppaction://hlinksldjump"/>
          </p:cNvPr>
          <p:cNvSpPr txBox="1"/>
          <p:nvPr/>
        </p:nvSpPr>
        <p:spPr>
          <a:xfrm>
            <a:off x="2369085" y="4224967"/>
            <a:ext cx="940579" cy="461665"/>
          </a:xfrm>
          <a:prstGeom prst="rect">
            <a:avLst/>
          </a:prstGeom>
          <a:noFill/>
        </p:spPr>
        <p:txBody>
          <a:bodyPr wrap="none" rtlCol="0">
            <a:spAutoFit/>
          </a:bodyPr>
          <a:lstStyle/>
          <a:p>
            <a:r>
              <a:rPr lang="en-US" altLang="zh-CN" sz="2400" dirty="0">
                <a:solidFill>
                  <a:srgbClr val="C00000"/>
                </a:solidFill>
              </a:rPr>
              <a:t>Text A</a:t>
            </a:r>
            <a:endParaRPr lang="zh-CN" altLang="zh-CN" sz="2400" dirty="0">
              <a:solidFill>
                <a:srgbClr val="C00000"/>
              </a:solidFill>
            </a:endParaRPr>
          </a:p>
        </p:txBody>
      </p:sp>
      <p:sp>
        <p:nvSpPr>
          <p:cNvPr id="33" name="文本框 32">
            <a:hlinkClick r:id="rId11" action="ppaction://hlinksldjump"/>
          </p:cNvPr>
          <p:cNvSpPr txBox="1"/>
          <p:nvPr/>
        </p:nvSpPr>
        <p:spPr>
          <a:xfrm>
            <a:off x="2369085" y="4669817"/>
            <a:ext cx="3236976" cy="461665"/>
          </a:xfrm>
          <a:prstGeom prst="rect">
            <a:avLst/>
          </a:prstGeom>
          <a:noFill/>
        </p:spPr>
        <p:txBody>
          <a:bodyPr wrap="none" rtlCol="0">
            <a:spAutoFit/>
          </a:bodyPr>
          <a:lstStyle/>
          <a:p>
            <a:r>
              <a:rPr lang="en-US" altLang="zh-CN" sz="2400" dirty="0">
                <a:solidFill>
                  <a:srgbClr val="C00000"/>
                </a:solidFill>
              </a:rPr>
              <a:t>Reading Comprehension</a:t>
            </a:r>
            <a:endParaRPr lang="zh-CN" altLang="zh-CN" sz="2400" dirty="0">
              <a:solidFill>
                <a:srgbClr val="C00000"/>
              </a:solidFill>
            </a:endParaRPr>
          </a:p>
        </p:txBody>
      </p:sp>
      <p:sp>
        <p:nvSpPr>
          <p:cNvPr id="34" name="文本框 33">
            <a:hlinkClick r:id="rId12" action="ppaction://hlinksldjump"/>
          </p:cNvPr>
          <p:cNvSpPr txBox="1"/>
          <p:nvPr/>
        </p:nvSpPr>
        <p:spPr>
          <a:xfrm>
            <a:off x="2369085" y="5114667"/>
            <a:ext cx="3170420" cy="461665"/>
          </a:xfrm>
          <a:prstGeom prst="rect">
            <a:avLst/>
          </a:prstGeom>
          <a:noFill/>
        </p:spPr>
        <p:txBody>
          <a:bodyPr wrap="none" rtlCol="0">
            <a:spAutoFit/>
          </a:bodyPr>
          <a:lstStyle/>
          <a:p>
            <a:r>
              <a:rPr lang="en-US" altLang="zh-CN" sz="2400" dirty="0">
                <a:solidFill>
                  <a:srgbClr val="C00000"/>
                </a:solidFill>
              </a:rPr>
              <a:t>Language Enhancement</a:t>
            </a:r>
            <a:endParaRPr lang="zh-CN" altLang="zh-CN" sz="2400" dirty="0">
              <a:solidFill>
                <a:srgbClr val="C00000"/>
              </a:solidFill>
            </a:endParaRPr>
          </a:p>
        </p:txBody>
      </p:sp>
      <p:sp>
        <p:nvSpPr>
          <p:cNvPr id="37" name="文本框 36">
            <a:hlinkClick r:id="rId13" action="ppaction://hlinksldjump"/>
          </p:cNvPr>
          <p:cNvSpPr txBox="1"/>
          <p:nvPr/>
        </p:nvSpPr>
        <p:spPr>
          <a:xfrm>
            <a:off x="2369085" y="5559515"/>
            <a:ext cx="2238754" cy="461665"/>
          </a:xfrm>
          <a:prstGeom prst="rect">
            <a:avLst/>
          </a:prstGeom>
          <a:noFill/>
        </p:spPr>
        <p:txBody>
          <a:bodyPr wrap="none" rtlCol="0">
            <a:spAutoFit/>
          </a:bodyPr>
          <a:lstStyle/>
          <a:p>
            <a:r>
              <a:rPr lang="en-US" altLang="zh-CN" sz="2400" dirty="0">
                <a:solidFill>
                  <a:srgbClr val="C00000"/>
                </a:solidFill>
              </a:rPr>
              <a:t>Critical Thinking</a:t>
            </a:r>
            <a:endParaRPr lang="zh-CN" altLang="zh-CN" sz="2400" dirty="0">
              <a:solidFill>
                <a:srgbClr val="C00000"/>
              </a:solidFill>
            </a:endParaRPr>
          </a:p>
        </p:txBody>
      </p:sp>
      <p:sp>
        <p:nvSpPr>
          <p:cNvPr id="2" name="等腰三角形 1">
            <a:extLst>
              <a:ext uri="{FF2B5EF4-FFF2-40B4-BE49-F238E27FC236}">
                <a16:creationId xmlns:a16="http://schemas.microsoft.com/office/drawing/2014/main" id="{AA2B886F-70B6-6059-FC6B-6E1669D041B5}"/>
              </a:ext>
            </a:extLst>
          </p:cNvPr>
          <p:cNvSpPr/>
          <p:nvPr/>
        </p:nvSpPr>
        <p:spPr>
          <a:xfrm rot="5400000">
            <a:off x="1415197" y="1349958"/>
            <a:ext cx="251376" cy="186256"/>
          </a:xfrm>
          <a:prstGeom prst="triangle">
            <a:avLst/>
          </a:prstGeom>
          <a:solidFill>
            <a:srgbClr val="9827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 descr="C:\Users\senj\Desktop\按钮.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
                    </a14:imgEffect>
                  </a14:imgLayer>
                </a14:imgProps>
              </a:ext>
            </a:extLst>
          </a:blip>
          <a:srcRect l="12911" t="21436" r="39626" b="60503"/>
          <a:stretch>
            <a:fillRect/>
          </a:stretch>
        </p:blipFill>
        <p:spPr bwMode="auto">
          <a:xfrm rot="10800000">
            <a:off x="8721754" y="6429396"/>
            <a:ext cx="259557" cy="254794"/>
          </a:xfrm>
          <a:prstGeom prst="rect">
            <a:avLst/>
          </a:prstGeom>
          <a:noFill/>
        </p:spPr>
      </p:pic>
      <p:pic>
        <p:nvPicPr>
          <p:cNvPr id="35" name="Picture 3" descr="C:\Users\senj\Desktop\按钮.png">
            <a:hlinkClick r:id="" action="ppaction://hlinkshowjump?jump=previousslide"/>
          </p:cNvPr>
          <p:cNvPicPr>
            <a:picLocks noChangeAspect="1" noChangeArrowheads="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26" name="文本框 25">
            <a:hlinkClick r:id="rId6" action="ppaction://hlinksldjump"/>
          </p:cNvPr>
          <p:cNvSpPr txBox="1"/>
          <p:nvPr/>
        </p:nvSpPr>
        <p:spPr>
          <a:xfrm>
            <a:off x="1649506" y="5340658"/>
            <a:ext cx="3118033" cy="461665"/>
          </a:xfrm>
          <a:prstGeom prst="rect">
            <a:avLst/>
          </a:prstGeom>
          <a:noFill/>
        </p:spPr>
        <p:txBody>
          <a:bodyPr wrap="none" rtlCol="0">
            <a:spAutoFit/>
          </a:bodyPr>
          <a:lstStyle/>
          <a:p>
            <a:r>
              <a:rPr lang="en-US" altLang="zh-CN" sz="2400" b="1" dirty="0">
                <a:solidFill>
                  <a:srgbClr val="0C476D"/>
                </a:solidFill>
              </a:rPr>
              <a:t>Reading to Understand</a:t>
            </a:r>
            <a:endParaRPr lang="zh-CN" altLang="zh-CN" sz="2400" dirty="0">
              <a:solidFill>
                <a:srgbClr val="0C476D"/>
              </a:solidFill>
            </a:endParaRPr>
          </a:p>
        </p:txBody>
      </p:sp>
      <p:sp>
        <p:nvSpPr>
          <p:cNvPr id="27" name="文本框 26">
            <a:hlinkClick r:id="rId7" action="ppaction://hlinksldjump"/>
          </p:cNvPr>
          <p:cNvSpPr txBox="1"/>
          <p:nvPr/>
        </p:nvSpPr>
        <p:spPr>
          <a:xfrm>
            <a:off x="1649506" y="5766681"/>
            <a:ext cx="1492140" cy="461665"/>
          </a:xfrm>
          <a:prstGeom prst="rect">
            <a:avLst/>
          </a:prstGeom>
          <a:noFill/>
        </p:spPr>
        <p:txBody>
          <a:bodyPr wrap="none" rtlCol="0">
            <a:spAutoFit/>
          </a:bodyPr>
          <a:lstStyle/>
          <a:p>
            <a:r>
              <a:rPr lang="en-US" altLang="zh-CN" sz="2400" b="1" dirty="0">
                <a:solidFill>
                  <a:srgbClr val="0C476D"/>
                </a:solidFill>
              </a:rPr>
              <a:t>Skill Focus</a:t>
            </a:r>
            <a:endParaRPr lang="zh-CN" altLang="zh-CN" sz="2400" dirty="0">
              <a:solidFill>
                <a:srgbClr val="0C476D"/>
              </a:solidFill>
            </a:endParaRPr>
          </a:p>
        </p:txBody>
      </p:sp>
      <p:sp>
        <p:nvSpPr>
          <p:cNvPr id="28" name="文本框 27">
            <a:hlinkClick r:id="rId8" action="ppaction://hlinksldjump"/>
          </p:cNvPr>
          <p:cNvSpPr txBox="1"/>
          <p:nvPr/>
        </p:nvSpPr>
        <p:spPr>
          <a:xfrm>
            <a:off x="1649506" y="6192705"/>
            <a:ext cx="2926955" cy="461665"/>
          </a:xfrm>
          <a:prstGeom prst="rect">
            <a:avLst/>
          </a:prstGeom>
          <a:noFill/>
        </p:spPr>
        <p:txBody>
          <a:bodyPr wrap="none" rtlCol="0">
            <a:spAutoFit/>
          </a:bodyPr>
          <a:lstStyle/>
          <a:p>
            <a:r>
              <a:rPr lang="en-US" altLang="zh-CN" sz="2400" b="1" dirty="0">
                <a:solidFill>
                  <a:srgbClr val="0C476D"/>
                </a:solidFill>
              </a:rPr>
              <a:t>Telling China’s Stories</a:t>
            </a:r>
            <a:endParaRPr lang="zh-CN" altLang="zh-CN" sz="2400" dirty="0">
              <a:solidFill>
                <a:srgbClr val="0C476D"/>
              </a:solidFill>
            </a:endParaRPr>
          </a:p>
        </p:txBody>
      </p:sp>
      <p:sp>
        <p:nvSpPr>
          <p:cNvPr id="29" name="文本框 28"/>
          <p:cNvSpPr txBox="1"/>
          <p:nvPr/>
        </p:nvSpPr>
        <p:spPr>
          <a:xfrm>
            <a:off x="1649506" y="3210543"/>
            <a:ext cx="2705100" cy="461665"/>
          </a:xfrm>
          <a:prstGeom prst="rect">
            <a:avLst/>
          </a:prstGeom>
          <a:noFill/>
        </p:spPr>
        <p:txBody>
          <a:bodyPr wrap="none" rtlCol="0">
            <a:spAutoFit/>
          </a:bodyPr>
          <a:lstStyle/>
          <a:p>
            <a:r>
              <a:rPr lang="en-US" altLang="zh-CN" sz="2400" b="1" dirty="0">
                <a:solidFill>
                  <a:srgbClr val="0C476D"/>
                </a:solidFill>
              </a:rPr>
              <a:t>Reading to Examine</a:t>
            </a:r>
            <a:endParaRPr lang="zh-CN" altLang="zh-CN" sz="2400" dirty="0">
              <a:solidFill>
                <a:srgbClr val="0C476D"/>
              </a:solidFill>
            </a:endParaRPr>
          </a:p>
        </p:txBody>
      </p:sp>
      <p:sp>
        <p:nvSpPr>
          <p:cNvPr id="30" name="文本框 29">
            <a:hlinkClick r:id="rId9" action="ppaction://hlinksldjump"/>
          </p:cNvPr>
          <p:cNvSpPr txBox="1"/>
          <p:nvPr/>
        </p:nvSpPr>
        <p:spPr>
          <a:xfrm>
            <a:off x="2369084" y="3636566"/>
            <a:ext cx="926151" cy="461665"/>
          </a:xfrm>
          <a:prstGeom prst="rect">
            <a:avLst/>
          </a:prstGeom>
          <a:noFill/>
        </p:spPr>
        <p:txBody>
          <a:bodyPr wrap="none" rtlCol="0">
            <a:spAutoFit/>
          </a:bodyPr>
          <a:lstStyle/>
          <a:p>
            <a:r>
              <a:rPr lang="en-US" altLang="zh-CN" sz="2400" dirty="0">
                <a:solidFill>
                  <a:srgbClr val="C00000"/>
                </a:solidFill>
              </a:rPr>
              <a:t>Text C</a:t>
            </a:r>
            <a:endParaRPr lang="zh-CN" altLang="zh-CN" sz="2400" dirty="0">
              <a:solidFill>
                <a:srgbClr val="C00000"/>
              </a:solidFill>
            </a:endParaRPr>
          </a:p>
        </p:txBody>
      </p:sp>
      <p:sp>
        <p:nvSpPr>
          <p:cNvPr id="31" name="文本框 30">
            <a:hlinkClick r:id="rId10" action="ppaction://hlinksldjump"/>
          </p:cNvPr>
          <p:cNvSpPr txBox="1"/>
          <p:nvPr/>
        </p:nvSpPr>
        <p:spPr>
          <a:xfrm>
            <a:off x="2369084" y="4062589"/>
            <a:ext cx="3236976" cy="461665"/>
          </a:xfrm>
          <a:prstGeom prst="rect">
            <a:avLst/>
          </a:prstGeom>
          <a:noFill/>
        </p:spPr>
        <p:txBody>
          <a:bodyPr wrap="none" rtlCol="0">
            <a:spAutoFit/>
          </a:bodyPr>
          <a:lstStyle/>
          <a:p>
            <a:r>
              <a:rPr lang="en-US" altLang="zh-CN" sz="2400" dirty="0">
                <a:solidFill>
                  <a:srgbClr val="C00000"/>
                </a:solidFill>
              </a:rPr>
              <a:t>Reading Comprehension</a:t>
            </a:r>
            <a:endParaRPr lang="zh-CN" altLang="zh-CN" sz="2400" dirty="0">
              <a:solidFill>
                <a:srgbClr val="C00000"/>
              </a:solidFill>
            </a:endParaRPr>
          </a:p>
        </p:txBody>
      </p:sp>
      <p:sp>
        <p:nvSpPr>
          <p:cNvPr id="32" name="文本框 31">
            <a:hlinkClick r:id="rId11" action="ppaction://hlinksldjump"/>
          </p:cNvPr>
          <p:cNvSpPr txBox="1"/>
          <p:nvPr/>
        </p:nvSpPr>
        <p:spPr>
          <a:xfrm>
            <a:off x="2369084" y="4488612"/>
            <a:ext cx="3170420" cy="461665"/>
          </a:xfrm>
          <a:prstGeom prst="rect">
            <a:avLst/>
          </a:prstGeom>
          <a:noFill/>
        </p:spPr>
        <p:txBody>
          <a:bodyPr wrap="none" rtlCol="0">
            <a:spAutoFit/>
          </a:bodyPr>
          <a:lstStyle/>
          <a:p>
            <a:r>
              <a:rPr lang="en-US" altLang="zh-CN" sz="2400" dirty="0">
                <a:solidFill>
                  <a:srgbClr val="C00000"/>
                </a:solidFill>
              </a:rPr>
              <a:t>Language Enhancement</a:t>
            </a:r>
            <a:endParaRPr lang="zh-CN" altLang="zh-CN" sz="2400" dirty="0">
              <a:solidFill>
                <a:srgbClr val="C00000"/>
              </a:solidFill>
            </a:endParaRPr>
          </a:p>
        </p:txBody>
      </p:sp>
      <p:sp>
        <p:nvSpPr>
          <p:cNvPr id="33" name="文本框 32">
            <a:hlinkClick r:id="rId12" action="ppaction://hlinksldjump"/>
          </p:cNvPr>
          <p:cNvSpPr txBox="1"/>
          <p:nvPr/>
        </p:nvSpPr>
        <p:spPr>
          <a:xfrm>
            <a:off x="2369084" y="4914635"/>
            <a:ext cx="2238754" cy="461665"/>
          </a:xfrm>
          <a:prstGeom prst="rect">
            <a:avLst/>
          </a:prstGeom>
          <a:noFill/>
        </p:spPr>
        <p:txBody>
          <a:bodyPr wrap="none" rtlCol="0">
            <a:spAutoFit/>
          </a:bodyPr>
          <a:lstStyle/>
          <a:p>
            <a:r>
              <a:rPr lang="en-US" altLang="zh-CN" sz="2400" dirty="0">
                <a:solidFill>
                  <a:srgbClr val="C00000"/>
                </a:solidFill>
              </a:rPr>
              <a:t>Critical Thinking</a:t>
            </a:r>
            <a:endParaRPr lang="zh-CN" altLang="zh-CN" sz="2400" dirty="0">
              <a:solidFill>
                <a:srgbClr val="C00000"/>
              </a:solidFill>
            </a:endParaRPr>
          </a:p>
        </p:txBody>
      </p:sp>
      <p:sp>
        <p:nvSpPr>
          <p:cNvPr id="13" name="文本框 12"/>
          <p:cNvSpPr txBox="1"/>
          <p:nvPr/>
        </p:nvSpPr>
        <p:spPr>
          <a:xfrm>
            <a:off x="1649506" y="1080428"/>
            <a:ext cx="2339038" cy="461665"/>
          </a:xfrm>
          <a:prstGeom prst="rect">
            <a:avLst/>
          </a:prstGeom>
          <a:noFill/>
        </p:spPr>
        <p:txBody>
          <a:bodyPr wrap="none" rtlCol="0">
            <a:spAutoFit/>
          </a:bodyPr>
          <a:lstStyle/>
          <a:p>
            <a:r>
              <a:rPr lang="en-US" altLang="zh-CN" sz="2400" b="1" dirty="0">
                <a:solidFill>
                  <a:srgbClr val="0C476D"/>
                </a:solidFill>
              </a:rPr>
              <a:t>Reading to Focus</a:t>
            </a:r>
            <a:endParaRPr lang="zh-CN" altLang="zh-CN" sz="2400" dirty="0">
              <a:solidFill>
                <a:srgbClr val="0C476D"/>
              </a:solidFill>
            </a:endParaRPr>
          </a:p>
        </p:txBody>
      </p:sp>
      <p:sp>
        <p:nvSpPr>
          <p:cNvPr id="14" name="文本框 13">
            <a:hlinkClick r:id="rId13" action="ppaction://hlinksldjump"/>
          </p:cNvPr>
          <p:cNvSpPr txBox="1"/>
          <p:nvPr/>
        </p:nvSpPr>
        <p:spPr>
          <a:xfrm>
            <a:off x="2369084" y="1506451"/>
            <a:ext cx="940579" cy="461665"/>
          </a:xfrm>
          <a:prstGeom prst="rect">
            <a:avLst/>
          </a:prstGeom>
          <a:noFill/>
        </p:spPr>
        <p:txBody>
          <a:bodyPr wrap="none" rtlCol="0">
            <a:spAutoFit/>
          </a:bodyPr>
          <a:lstStyle/>
          <a:p>
            <a:r>
              <a:rPr lang="en-US" altLang="zh-CN" sz="2400" dirty="0">
                <a:solidFill>
                  <a:srgbClr val="C00000"/>
                </a:solidFill>
              </a:rPr>
              <a:t>Text B</a:t>
            </a:r>
            <a:endParaRPr lang="zh-CN" altLang="zh-CN" sz="2400" dirty="0">
              <a:solidFill>
                <a:srgbClr val="C00000"/>
              </a:solidFill>
            </a:endParaRPr>
          </a:p>
        </p:txBody>
      </p:sp>
      <p:sp>
        <p:nvSpPr>
          <p:cNvPr id="15" name="文本框 14">
            <a:hlinkClick r:id="rId14" action="ppaction://hlinksldjump"/>
          </p:cNvPr>
          <p:cNvSpPr txBox="1"/>
          <p:nvPr/>
        </p:nvSpPr>
        <p:spPr>
          <a:xfrm>
            <a:off x="2369084" y="1932474"/>
            <a:ext cx="3236976" cy="461665"/>
          </a:xfrm>
          <a:prstGeom prst="rect">
            <a:avLst/>
          </a:prstGeom>
          <a:noFill/>
        </p:spPr>
        <p:txBody>
          <a:bodyPr wrap="none" rtlCol="0">
            <a:spAutoFit/>
          </a:bodyPr>
          <a:lstStyle/>
          <a:p>
            <a:r>
              <a:rPr lang="en-US" altLang="zh-CN" sz="2400" dirty="0">
                <a:solidFill>
                  <a:srgbClr val="C00000"/>
                </a:solidFill>
              </a:rPr>
              <a:t>Reading Comprehension</a:t>
            </a:r>
            <a:endParaRPr lang="zh-CN" altLang="zh-CN" sz="2400" dirty="0">
              <a:solidFill>
                <a:srgbClr val="C00000"/>
              </a:solidFill>
            </a:endParaRPr>
          </a:p>
        </p:txBody>
      </p:sp>
      <p:sp>
        <p:nvSpPr>
          <p:cNvPr id="16" name="文本框 15">
            <a:hlinkClick r:id="rId15" action="ppaction://hlinksldjump"/>
          </p:cNvPr>
          <p:cNvSpPr txBox="1"/>
          <p:nvPr/>
        </p:nvSpPr>
        <p:spPr>
          <a:xfrm>
            <a:off x="2369084" y="2358497"/>
            <a:ext cx="3170420" cy="461665"/>
          </a:xfrm>
          <a:prstGeom prst="rect">
            <a:avLst/>
          </a:prstGeom>
          <a:noFill/>
        </p:spPr>
        <p:txBody>
          <a:bodyPr wrap="none" rtlCol="0">
            <a:spAutoFit/>
          </a:bodyPr>
          <a:lstStyle/>
          <a:p>
            <a:r>
              <a:rPr lang="en-US" altLang="zh-CN" sz="2400" dirty="0">
                <a:solidFill>
                  <a:srgbClr val="C00000"/>
                </a:solidFill>
              </a:rPr>
              <a:t>Language Enhancement</a:t>
            </a:r>
            <a:endParaRPr lang="zh-CN" altLang="zh-CN" sz="2400" dirty="0">
              <a:solidFill>
                <a:srgbClr val="C00000"/>
              </a:solidFill>
            </a:endParaRPr>
          </a:p>
        </p:txBody>
      </p:sp>
      <p:sp>
        <p:nvSpPr>
          <p:cNvPr id="17" name="文本框 16">
            <a:hlinkClick r:id="rId16" action="ppaction://hlinksldjump"/>
          </p:cNvPr>
          <p:cNvSpPr txBox="1"/>
          <p:nvPr/>
        </p:nvSpPr>
        <p:spPr>
          <a:xfrm>
            <a:off x="2369084" y="2784520"/>
            <a:ext cx="2238754" cy="461665"/>
          </a:xfrm>
          <a:prstGeom prst="rect">
            <a:avLst/>
          </a:prstGeom>
          <a:noFill/>
        </p:spPr>
        <p:txBody>
          <a:bodyPr wrap="none" rtlCol="0">
            <a:spAutoFit/>
          </a:bodyPr>
          <a:lstStyle/>
          <a:p>
            <a:r>
              <a:rPr lang="en-US" altLang="zh-CN" sz="2400" dirty="0">
                <a:solidFill>
                  <a:srgbClr val="C00000"/>
                </a:solidFill>
              </a:rPr>
              <a:t>Critical Thinking</a:t>
            </a:r>
            <a:endParaRPr lang="zh-CN" altLang="zh-CN" sz="2400" dirty="0">
              <a:solidFill>
                <a:srgbClr val="C00000"/>
              </a:solidFill>
            </a:endParaRPr>
          </a:p>
        </p:txBody>
      </p:sp>
    </p:spTree>
    <p:extLst>
      <p:ext uri="{BB962C8B-B14F-4D97-AF65-F5344CB8AC3E}">
        <p14:creationId xmlns:p14="http://schemas.microsoft.com/office/powerpoint/2010/main" val="357792148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0000" y="1140283"/>
            <a:ext cx="8532300" cy="461665"/>
          </a:xfrm>
          <a:prstGeom prst="rect">
            <a:avLst/>
          </a:prstGeom>
          <a:noFill/>
        </p:spPr>
        <p:txBody>
          <a:bodyPr wrap="square" rtlCol="0">
            <a:spAutoFit/>
          </a:bodyPr>
          <a:lstStyle/>
          <a:p>
            <a:r>
              <a:rPr lang="en-US" altLang="zh-CN" sz="2400" dirty="0">
                <a:latin typeface="Cambria" panose="02040503050406030204" pitchFamily="18" charset="0"/>
                <a:ea typeface="Cambria" panose="02040503050406030204" pitchFamily="18" charset="0"/>
              </a:rPr>
              <a:t>Listen to the news report and answer the following questions.</a:t>
            </a:r>
          </a:p>
        </p:txBody>
      </p:sp>
      <p:pic>
        <p:nvPicPr>
          <p:cNvPr id="14" name="图片 13" descr="未命名-3.png">
            <a:hlinkClick r:id="rId4" action="ppaction://hlinksldjump"/>
          </p:cNvPr>
          <p:cNvPicPr>
            <a:picLocks noChangeAspect="1"/>
          </p:cNvPicPr>
          <p:nvPr/>
        </p:nvPicPr>
        <p:blipFill>
          <a:blip r:embed="rId5"/>
          <a:stretch>
            <a:fillRect/>
          </a:stretch>
        </p:blipFill>
        <p:spPr>
          <a:xfrm>
            <a:off x="818513" y="1551727"/>
            <a:ext cx="252000" cy="292090"/>
          </a:xfrm>
          <a:prstGeom prst="rect">
            <a:avLst/>
          </a:prstGeom>
        </p:spPr>
      </p:pic>
      <p:sp>
        <p:nvSpPr>
          <p:cNvPr id="15" name="文本框 14"/>
          <p:cNvSpPr txBox="1"/>
          <p:nvPr/>
        </p:nvSpPr>
        <p:spPr>
          <a:xfrm>
            <a:off x="366165" y="2072905"/>
            <a:ext cx="485955" cy="4154984"/>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2</a:t>
            </a:r>
            <a:endParaRPr lang="zh-CN" altLang="en-US" sz="2400" b="1" dirty="0">
              <a:solidFill>
                <a:srgbClr val="C6383E"/>
              </a:solidFill>
              <a:latin typeface="Cambria" panose="02040503050406030204" pitchFamily="18" charset="0"/>
              <a:cs typeface="Times New Roman" panose="02020603050405020304" pitchFamily="18" charset="0"/>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3</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16" name="文本框 15"/>
          <p:cNvSpPr txBox="1"/>
          <p:nvPr/>
        </p:nvSpPr>
        <p:spPr>
          <a:xfrm>
            <a:off x="660400" y="2072905"/>
            <a:ext cx="8231900" cy="4524315"/>
          </a:xfrm>
          <a:prstGeom prst="rect">
            <a:avLst/>
          </a:prstGeom>
          <a:noFill/>
        </p:spPr>
        <p:txBody>
          <a:bodyPr wrap="square" rtlCol="0">
            <a:spAutoFit/>
          </a:bodyPr>
          <a:lstStyle/>
          <a:p>
            <a:r>
              <a:rPr lang="en-US" altLang="zh-CN" sz="2400" spc="-60" dirty="0"/>
              <a:t>What is “</a:t>
            </a:r>
            <a:r>
              <a:rPr lang="en-US" altLang="zh-CN" sz="2400" spc="-60" dirty="0" err="1"/>
              <a:t>Chunyun</a:t>
            </a:r>
            <a:r>
              <a:rPr lang="en-US" altLang="zh-CN" sz="2400" spc="-60" dirty="0"/>
              <a:t>”? How has it been influenced by the development</a:t>
            </a:r>
            <a:r>
              <a:rPr lang="en-US" altLang="zh-CN" sz="2400" dirty="0"/>
              <a:t> of China’s high-speed rail (HSR) system?</a:t>
            </a:r>
          </a:p>
          <a:p>
            <a:r>
              <a:rPr lang="en-US" altLang="zh-CN" sz="2400" spc="-10" dirty="0"/>
              <a:t>_____________________________________________________</a:t>
            </a:r>
          </a:p>
          <a:p>
            <a:r>
              <a:rPr lang="en-US" altLang="zh-CN" sz="2400" spc="-10" dirty="0"/>
              <a:t>_____________________________________________________</a:t>
            </a:r>
          </a:p>
          <a:p>
            <a:r>
              <a:rPr lang="en-US" altLang="zh-CN" sz="2400" spc="-10" dirty="0"/>
              <a:t>_____________________________________________________</a:t>
            </a:r>
          </a:p>
          <a:p>
            <a:r>
              <a:rPr lang="en-US" altLang="zh-CN" sz="2400" spc="-10" dirty="0"/>
              <a:t>_____________________________________________________</a:t>
            </a:r>
            <a:endParaRPr lang="en-US" altLang="zh-CN" sz="2400" dirty="0"/>
          </a:p>
          <a:p>
            <a:r>
              <a:rPr lang="en-US" altLang="zh-CN" sz="2400" dirty="0"/>
              <a:t>Why is the HSR important for cities like </a:t>
            </a:r>
            <a:r>
              <a:rPr lang="en-US" altLang="zh-CN" sz="2400" dirty="0" err="1"/>
              <a:t>Fuyang</a:t>
            </a:r>
            <a:r>
              <a:rPr lang="en-US" altLang="zh-CN" sz="2400" dirty="0"/>
              <a:t>?</a:t>
            </a:r>
          </a:p>
          <a:p>
            <a:r>
              <a:rPr lang="en-US" altLang="zh-CN" sz="2400" spc="-10" dirty="0"/>
              <a:t>_____________________________________________________</a:t>
            </a:r>
          </a:p>
          <a:p>
            <a:r>
              <a:rPr lang="en-US" altLang="zh-CN" sz="2400" spc="-10" dirty="0"/>
              <a:t>_____________________________________________________</a:t>
            </a:r>
          </a:p>
          <a:p>
            <a:r>
              <a:rPr lang="en-US" altLang="zh-CN" sz="2400" spc="-10" dirty="0"/>
              <a:t>_____________________________________________________</a:t>
            </a:r>
            <a:endParaRPr lang="en-US" altLang="zh-CN" sz="2400" dirty="0"/>
          </a:p>
          <a:p>
            <a:r>
              <a:rPr lang="en-US" altLang="zh-CN" sz="2400" dirty="0"/>
              <a:t>How has your life been changed by the bullet trains?</a:t>
            </a:r>
          </a:p>
          <a:p>
            <a:r>
              <a:rPr lang="en-US" altLang="zh-CN" sz="2400" spc="-10" dirty="0"/>
              <a:t>_____________________________________________________</a:t>
            </a:r>
          </a:p>
        </p:txBody>
      </p:sp>
      <p:pic>
        <p:nvPicPr>
          <p:cNvPr id="19" name="钥匙2" descr="C:\Users\senj\Desktop\新建文件夹\答案.png">
            <a:hlinkClick r:id="" action="ppaction://noaction"/>
          </p:cNvPr>
          <p:cNvPicPr>
            <a:picLocks noChangeAspect="1" noChangeArrowheads="1"/>
          </p:cNvPicPr>
          <p:nvPr/>
        </p:nvPicPr>
        <p:blipFill>
          <a:blip r:embed="rId6" cstate="print"/>
          <a:srcRect/>
          <a:stretch>
            <a:fillRect/>
          </a:stretch>
        </p:blipFill>
        <p:spPr bwMode="auto">
          <a:xfrm>
            <a:off x="95139" y="1219738"/>
            <a:ext cx="324000" cy="324000"/>
          </a:xfrm>
          <a:prstGeom prst="rect">
            <a:avLst/>
          </a:prstGeom>
          <a:noFill/>
        </p:spPr>
      </p:pic>
      <p:sp>
        <p:nvSpPr>
          <p:cNvPr id="24" name="文本框 23"/>
          <p:cNvSpPr txBox="1"/>
          <p:nvPr/>
        </p:nvSpPr>
        <p:spPr>
          <a:xfrm>
            <a:off x="660400" y="2769078"/>
            <a:ext cx="8159895" cy="1569660"/>
          </a:xfrm>
          <a:prstGeom prst="rect">
            <a:avLst/>
          </a:prstGeom>
          <a:noFill/>
        </p:spPr>
        <p:txBody>
          <a:bodyPr wrap="square" rtlCol="0">
            <a:spAutoFit/>
          </a:bodyPr>
          <a:lstStyle/>
          <a:p>
            <a:pPr algn="just"/>
            <a:r>
              <a:rPr lang="en-US" altLang="zh-CN" sz="2400" spc="20" dirty="0">
                <a:solidFill>
                  <a:srgbClr val="FF0000"/>
                </a:solidFill>
              </a:rPr>
              <a:t>“</a:t>
            </a:r>
            <a:r>
              <a:rPr lang="en-US" altLang="zh-CN" sz="2400" spc="20" dirty="0" err="1">
                <a:solidFill>
                  <a:srgbClr val="FF0000"/>
                </a:solidFill>
              </a:rPr>
              <a:t>Chunyun</a:t>
            </a:r>
            <a:r>
              <a:rPr lang="en-US" altLang="zh-CN" sz="2400" spc="20" dirty="0">
                <a:solidFill>
                  <a:srgbClr val="FF0000"/>
                </a:solidFill>
              </a:rPr>
              <a:t>”, literally “Spring Transportation”, refers to the </a:t>
            </a:r>
            <a:r>
              <a:rPr lang="en-US" altLang="zh-CN" sz="2400" dirty="0">
                <a:solidFill>
                  <a:srgbClr val="FF0000"/>
                </a:solidFill>
              </a:rPr>
              <a:t>large-s</a:t>
            </a:r>
            <a:r>
              <a:rPr lang="en-US" altLang="zh-CN" sz="2400" spc="50" dirty="0">
                <a:solidFill>
                  <a:srgbClr val="FF0000"/>
                </a:solidFill>
              </a:rPr>
              <a:t>cale travelling of people in China before and after the Spring </a:t>
            </a:r>
            <a:r>
              <a:rPr lang="en-US" altLang="zh-CN" sz="2400" spc="10" dirty="0">
                <a:solidFill>
                  <a:srgbClr val="FF0000"/>
                </a:solidFill>
              </a:rPr>
              <a:t>Festival. The high-speed rail system has made it faster and more</a:t>
            </a:r>
            <a:r>
              <a:rPr lang="en-US" altLang="zh-CN" sz="2400" dirty="0">
                <a:solidFill>
                  <a:srgbClr val="FF0000"/>
                </a:solidFill>
              </a:rPr>
              <a:t> comfortable, though a little bit more expensive.</a:t>
            </a:r>
          </a:p>
        </p:txBody>
      </p:sp>
      <p:sp>
        <p:nvSpPr>
          <p:cNvPr id="25" name="文本框 24"/>
          <p:cNvSpPr txBox="1"/>
          <p:nvPr/>
        </p:nvSpPr>
        <p:spPr>
          <a:xfrm>
            <a:off x="660400" y="4588057"/>
            <a:ext cx="8159895" cy="1200329"/>
          </a:xfrm>
          <a:prstGeom prst="rect">
            <a:avLst/>
          </a:prstGeom>
          <a:noFill/>
        </p:spPr>
        <p:txBody>
          <a:bodyPr wrap="square" rtlCol="0">
            <a:spAutoFit/>
          </a:bodyPr>
          <a:lstStyle/>
          <a:p>
            <a:pPr algn="just"/>
            <a:r>
              <a:rPr lang="en-US" altLang="zh-CN" sz="2400" spc="-40" dirty="0">
                <a:solidFill>
                  <a:srgbClr val="FF0000"/>
                </a:solidFill>
              </a:rPr>
              <a:t>Because </a:t>
            </a:r>
            <a:r>
              <a:rPr lang="en-US" altLang="zh-CN" sz="2400" spc="-40" dirty="0" err="1">
                <a:solidFill>
                  <a:srgbClr val="FF0000"/>
                </a:solidFill>
              </a:rPr>
              <a:t>Fuyang</a:t>
            </a:r>
            <a:r>
              <a:rPr lang="en-US" altLang="zh-CN" sz="2400" spc="-40" dirty="0">
                <a:solidFill>
                  <a:srgbClr val="FF0000"/>
                </a:solidFill>
              </a:rPr>
              <a:t> is a major labor export city, the high-speed railway</a:t>
            </a:r>
            <a:r>
              <a:rPr lang="en-US" altLang="zh-CN" sz="2400" dirty="0">
                <a:solidFill>
                  <a:srgbClr val="FF0000"/>
                </a:solidFill>
              </a:rPr>
              <a:t> </a:t>
            </a:r>
            <a:r>
              <a:rPr lang="en-US" altLang="zh-CN" sz="2400" spc="-20" dirty="0">
                <a:solidFill>
                  <a:srgbClr val="FF0000"/>
                </a:solidFill>
              </a:rPr>
              <a:t>makes it much easier for those migrant workers to travel between</a:t>
            </a:r>
            <a:r>
              <a:rPr lang="en-US" altLang="zh-CN" sz="2400" dirty="0">
                <a:solidFill>
                  <a:srgbClr val="FF0000"/>
                </a:solidFill>
              </a:rPr>
              <a:t> their hometown and their working place.</a:t>
            </a:r>
          </a:p>
        </p:txBody>
      </p:sp>
      <p:sp>
        <p:nvSpPr>
          <p:cNvPr id="26" name="文本框 25"/>
          <p:cNvSpPr txBox="1"/>
          <p:nvPr/>
        </p:nvSpPr>
        <p:spPr>
          <a:xfrm>
            <a:off x="660400" y="6042486"/>
            <a:ext cx="8159895" cy="461665"/>
          </a:xfrm>
          <a:prstGeom prst="rect">
            <a:avLst/>
          </a:prstGeom>
          <a:noFill/>
        </p:spPr>
        <p:txBody>
          <a:bodyPr wrap="square" rtlCol="0">
            <a:spAutoFit/>
          </a:bodyPr>
          <a:lstStyle/>
          <a:p>
            <a:r>
              <a:rPr lang="en-US" altLang="zh-CN" sz="2400" dirty="0">
                <a:solidFill>
                  <a:srgbClr val="FF0000"/>
                </a:solidFill>
              </a:rPr>
              <a:t>Answers will vary.</a:t>
            </a:r>
          </a:p>
        </p:txBody>
      </p:sp>
      <p:pic>
        <p:nvPicPr>
          <p:cNvPr id="4" name="listening_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7" cstate="print">
            <a:extLst>
              <a:ext uri="{28A0092B-C50C-407E-A947-70E740481C1C}">
                <a14:useLocalDpi xmlns:a14="http://schemas.microsoft.com/office/drawing/2010/main" val="0"/>
              </a:ext>
            </a:extLst>
          </a:blip>
          <a:stretch>
            <a:fillRect/>
          </a:stretch>
        </p:blipFill>
        <p:spPr>
          <a:xfrm>
            <a:off x="465142" y="1555212"/>
            <a:ext cx="288000" cy="285120"/>
          </a:xfrm>
          <a:prstGeom prst="rect">
            <a:avLst/>
          </a:prstGeom>
        </p:spPr>
      </p:pic>
      <p:sp>
        <p:nvSpPr>
          <p:cNvPr id="11" name="矩形 10"/>
          <p:cNvSpPr/>
          <p:nvPr/>
        </p:nvSpPr>
        <p:spPr>
          <a:xfrm>
            <a:off x="743616" y="2831415"/>
            <a:ext cx="8004673" cy="145483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50243" y="4682933"/>
            <a:ext cx="8004673" cy="1051118"/>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738731" y="6124575"/>
            <a:ext cx="8004673" cy="34139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childTnLst>
              </p:cTn>
              <p:nextCondLst>
                <p:cond evt="onClick" delay="0">
                  <p:tgtEl>
                    <p:spTgt spid="19"/>
                  </p:tgtEl>
                </p:cond>
              </p:nextCondLst>
            </p:seq>
            <p:seq concurrent="1" nextAc="seek">
              <p:cTn id="11" restart="whenNotActive" fill="hold" evtFilter="cancelBubble" nodeType="interactiveSeq">
                <p:stCondLst>
                  <p:cond evt="onClick" delay="0">
                    <p:tgtEl>
                      <p:spTgt spid="4"/>
                    </p:tgtEl>
                  </p:cond>
                </p:stCondLst>
                <p:endSync evt="end" delay="0">
                  <p:rtn val="all"/>
                </p:endSync>
                <p:childTnLst>
                  <p:par>
                    <p:cTn id="12" fill="hold">
                      <p:stCondLst>
                        <p:cond delay="0"/>
                      </p:stCondLst>
                      <p:childTnLst>
                        <p:par>
                          <p:cTn id="13" fill="hold">
                            <p:stCondLst>
                              <p:cond delay="0"/>
                            </p:stCondLst>
                            <p:childTnLst>
                              <p:par>
                                <p:cTn id="14" presetID="1" presetClass="mediacall" presetSubtype="0" fill="hold" nodeType="clickEffect">
                                  <p:stCondLst>
                                    <p:cond delay="0"/>
                                  </p:stCondLst>
                                  <p:childTnLst>
                                    <p:cmd type="call" cmd="playFrom(0.0)">
                                      <p:cBhvr>
                                        <p:cTn id="15" dur="102008" fill="hold"/>
                                        <p:tgtEl>
                                          <p:spTgt spid="4"/>
                                        </p:tgtEl>
                                      </p:cBhvr>
                                    </p:cmd>
                                  </p:childTnLst>
                                </p:cTn>
                              </p:par>
                            </p:childTnLst>
                          </p:cTn>
                        </p:par>
                      </p:childTnLst>
                    </p:cTn>
                  </p:par>
                </p:childTnLst>
              </p:cTn>
              <p:nextCondLst>
                <p:cond evt="onClick" delay="0">
                  <p:tgtEl>
                    <p:spTgt spid="4"/>
                  </p:tgtEl>
                </p:cond>
              </p:nextCondLst>
            </p:seq>
            <p:audio>
              <p:cMediaNode vol="80000">
                <p:cTn id="16" fill="hold" display="0">
                  <p:stCondLst>
                    <p:cond delay="indefinite"/>
                  </p:stCondLst>
                  <p:endCondLst>
                    <p:cond evt="onStopAudio" delay="0">
                      <p:tgtEl>
                        <p:sldTgt/>
                      </p:tgtEl>
                    </p:cond>
                  </p:endCondLst>
                </p:cTn>
                <p:tgtEl>
                  <p:spTgt spid="4"/>
                </p:tgtEl>
              </p:cMediaNode>
            </p:audio>
            <p:seq concurrent="1" nextAc="seek">
              <p:cTn id="17" restart="whenNotActive" fill="hold" evtFilter="cancelBubble" nodeType="interactiveSeq">
                <p:stCondLst>
                  <p:cond evt="onClick" delay="0">
                    <p:tgtEl>
                      <p:spTgt spid="11"/>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22" restart="whenNotActive" fill="hold" evtFilter="cancelBubble" nodeType="interactiveSeq">
                <p:stCondLst>
                  <p:cond evt="onClick" delay="0">
                    <p:tgtEl>
                      <p:spTgt spid="12"/>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childTnLst>
              </p:cTn>
              <p:nextCondLst>
                <p:cond evt="onClick" delay="0">
                  <p:tgtEl>
                    <p:spTgt spid="12"/>
                  </p:tgtEl>
                </p:cond>
              </p:nextCondLst>
            </p:seq>
            <p:seq concurrent="1" nextAc="seek">
              <p:cTn id="27" restart="whenNotActive" fill="hold" evtFilter="cancelBubble" nodeType="interactiveSeq">
                <p:stCondLst>
                  <p:cond evt="onClick" delay="0">
                    <p:tgtEl>
                      <p:spTgt spid="13"/>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childTnLst>
              </p:cTn>
              <p:nextCondLst>
                <p:cond evt="onClick" delay="0">
                  <p:tgtEl>
                    <p:spTgt spid="13"/>
                  </p:tgtEl>
                </p:cond>
              </p:nextCondLst>
            </p:seq>
          </p:childTnLst>
        </p:cTn>
      </p:par>
    </p:tnLst>
    <p:bldLst>
      <p:bldP spid="24" grpId="0"/>
      <p:bldP spid="24" grpId="1"/>
      <p:bldP spid="25" grpId="0"/>
      <p:bldP spid="25" grpId="1"/>
      <p:bldP spid="26" grpId="0"/>
      <p:bldP spid="26"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60000" y="1139169"/>
            <a:ext cx="8532300" cy="1200329"/>
          </a:xfrm>
          <a:prstGeom prst="rect">
            <a:avLst/>
          </a:prstGeom>
          <a:noFill/>
        </p:spPr>
        <p:txBody>
          <a:bodyPr wrap="square" rtlCol="0">
            <a:spAutoFit/>
          </a:bodyPr>
          <a:lstStyle/>
          <a:p>
            <a:r>
              <a:rPr lang="en-US" altLang="zh-CN" sz="2400" dirty="0">
                <a:latin typeface="Cambria" panose="02040503050406030204" pitchFamily="18" charset="0"/>
                <a:ea typeface="Cambria" panose="02040503050406030204" pitchFamily="18" charset="0"/>
              </a:rPr>
              <a:t>Read the following English version of an ancient Chinese poem.</a:t>
            </a:r>
          </a:p>
          <a:p>
            <a:r>
              <a:rPr lang="en-US" altLang="zh-CN" sz="2400" dirty="0">
                <a:latin typeface="Cambria" panose="02040503050406030204" pitchFamily="18" charset="0"/>
                <a:ea typeface="Cambria" panose="02040503050406030204" pitchFamily="18" charset="0"/>
              </a:rPr>
              <a:t>Try to translate it back into Chinese and figure out the original</a:t>
            </a:r>
          </a:p>
          <a:p>
            <a:r>
              <a:rPr lang="en-US" altLang="zh-CN" sz="2400" dirty="0">
                <a:latin typeface="Cambria" panose="02040503050406030204" pitchFamily="18" charset="0"/>
                <a:ea typeface="Cambria" panose="02040503050406030204" pitchFamily="18" charset="0"/>
              </a:rPr>
              <a:t>version.</a:t>
            </a:r>
            <a:endParaRPr lang="zh-CN" altLang="en-US" sz="2400" dirty="0">
              <a:solidFill>
                <a:srgbClr val="FF0000"/>
              </a:solidFill>
              <a:latin typeface="Cambria" panose="02040503050406030204" pitchFamily="18" charset="0"/>
              <a:cs typeface="Times New Roman" panose="02020603050405020304" pitchFamily="18" charset="0"/>
            </a:endParaRPr>
          </a:p>
        </p:txBody>
      </p:sp>
      <p:sp>
        <p:nvSpPr>
          <p:cNvPr id="19" name="文本框 18"/>
          <p:cNvSpPr txBox="1"/>
          <p:nvPr/>
        </p:nvSpPr>
        <p:spPr>
          <a:xfrm>
            <a:off x="660400" y="2219365"/>
            <a:ext cx="8231900" cy="2677656"/>
          </a:xfrm>
          <a:prstGeom prst="rect">
            <a:avLst/>
          </a:prstGeom>
          <a:noFill/>
        </p:spPr>
        <p:txBody>
          <a:bodyPr wrap="square" rtlCol="0">
            <a:spAutoFit/>
          </a:bodyPr>
          <a:lstStyle/>
          <a:p>
            <a:pPr algn="ctr"/>
            <a:r>
              <a:rPr lang="en-US" altLang="zh-CN" sz="2400" b="1" dirty="0"/>
              <a:t>Spring in South</a:t>
            </a:r>
          </a:p>
          <a:p>
            <a:pPr algn="ctr"/>
            <a:r>
              <a:rPr lang="en-US" altLang="zh-CN" sz="2400" dirty="0"/>
              <a:t>Du Mu</a:t>
            </a:r>
          </a:p>
          <a:p>
            <a:pPr algn="ctr"/>
            <a:r>
              <a:rPr lang="en-US" altLang="zh-CN" sz="2400" i="1" dirty="0"/>
              <a:t>Everywhere </a:t>
            </a:r>
            <a:r>
              <a:rPr lang="en-US" altLang="zh-CN" sz="2400" i="1" dirty="0">
                <a:solidFill>
                  <a:srgbClr val="C00000"/>
                </a:solidFill>
              </a:rPr>
              <a:t>orioles</a:t>
            </a:r>
            <a:r>
              <a:rPr lang="en-US" altLang="zh-CN" sz="2400" i="1" dirty="0"/>
              <a:t> </a:t>
            </a:r>
            <a:r>
              <a:rPr lang="en-US" altLang="zh-CN" sz="2400" i="1" dirty="0">
                <a:solidFill>
                  <a:srgbClr val="C00000"/>
                </a:solidFill>
              </a:rPr>
              <a:t>trill in </a:t>
            </a:r>
            <a:r>
              <a:rPr lang="en-US" altLang="zh-CN" sz="2400" i="1" dirty="0"/>
              <a:t>green trees with red flowers,</a:t>
            </a:r>
          </a:p>
          <a:p>
            <a:pPr algn="ctr"/>
            <a:r>
              <a:rPr lang="en-US" altLang="zh-CN" sz="2400" i="1" dirty="0"/>
              <a:t>While wind blows on water, hills, wine flags and towers.</a:t>
            </a:r>
          </a:p>
          <a:p>
            <a:pPr algn="ctr"/>
            <a:r>
              <a:rPr lang="en-US" altLang="zh-CN" sz="2400" i="1" dirty="0"/>
              <a:t>Of hundreds of the temples built in the Southern Dynasties,</a:t>
            </a:r>
          </a:p>
          <a:p>
            <a:pPr algn="ctr"/>
            <a:r>
              <a:rPr lang="en-US" altLang="zh-CN" sz="2400" i="1" dirty="0"/>
              <a:t>How many are now clouded in a misty drizzle at these hours!</a:t>
            </a:r>
          </a:p>
          <a:p>
            <a:pPr algn="r"/>
            <a:r>
              <a:rPr lang="en-US" altLang="zh-CN" sz="2400" dirty="0"/>
              <a:t>(Translated by Chen </a:t>
            </a:r>
            <a:r>
              <a:rPr lang="en-US" altLang="zh-CN" sz="2400" dirty="0" err="1"/>
              <a:t>Junpu</a:t>
            </a:r>
            <a:r>
              <a:rPr lang="en-US" altLang="zh-CN" sz="2400" dirty="0"/>
              <a:t>)</a:t>
            </a:r>
          </a:p>
        </p:txBody>
      </p:sp>
      <p:pic>
        <p:nvPicPr>
          <p:cNvPr id="20" name="钥匙2" descr="C:\Users\senj\Desktop\新建文件夹\答案.png"/>
          <p:cNvPicPr>
            <a:picLocks noChangeAspect="1" noChangeArrowheads="1"/>
          </p:cNvPicPr>
          <p:nvPr/>
        </p:nvPicPr>
        <p:blipFill>
          <a:blip r:embed="rId2" cstate="print"/>
          <a:srcRect/>
          <a:stretch>
            <a:fillRect/>
          </a:stretch>
        </p:blipFill>
        <p:spPr bwMode="auto">
          <a:xfrm>
            <a:off x="95139" y="1218624"/>
            <a:ext cx="324000" cy="324000"/>
          </a:xfrm>
          <a:prstGeom prst="rect">
            <a:avLst/>
          </a:prstGeom>
          <a:noFill/>
        </p:spPr>
      </p:pic>
      <p:sp>
        <p:nvSpPr>
          <p:cNvPr id="27" name="圆角矩形 26"/>
          <p:cNvSpPr/>
          <p:nvPr/>
        </p:nvSpPr>
        <p:spPr>
          <a:xfrm>
            <a:off x="2896255" y="3033454"/>
            <a:ext cx="875645"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3792753" y="3038328"/>
            <a:ext cx="753054"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标注 8"/>
          <p:cNvSpPr/>
          <p:nvPr/>
        </p:nvSpPr>
        <p:spPr>
          <a:xfrm>
            <a:off x="3024842" y="3520132"/>
            <a:ext cx="674033" cy="341160"/>
          </a:xfrm>
          <a:prstGeom prst="wedgeRectCallout">
            <a:avLst>
              <a:gd name="adj1" fmla="val -24601"/>
              <a:gd name="adj2" fmla="val -86404"/>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D2553C"/>
                </a:solidFill>
              </a:rPr>
              <a:t>黄鹂</a:t>
            </a:r>
          </a:p>
        </p:txBody>
      </p:sp>
      <p:sp>
        <p:nvSpPr>
          <p:cNvPr id="31" name="矩形标注 30"/>
          <p:cNvSpPr/>
          <p:nvPr/>
        </p:nvSpPr>
        <p:spPr>
          <a:xfrm>
            <a:off x="3995960" y="3520132"/>
            <a:ext cx="1599978" cy="341160"/>
          </a:xfrm>
          <a:prstGeom prst="wedgeRectCallout">
            <a:avLst>
              <a:gd name="adj1" fmla="val -39089"/>
              <a:gd name="adj2" fmla="val -8454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啭鸣，发颤音</a:t>
            </a:r>
          </a:p>
        </p:txBody>
      </p:sp>
      <p:sp>
        <p:nvSpPr>
          <p:cNvPr id="10" name="文本框 9"/>
          <p:cNvSpPr txBox="1"/>
          <p:nvPr/>
        </p:nvSpPr>
        <p:spPr>
          <a:xfrm>
            <a:off x="3248561" y="4375866"/>
            <a:ext cx="2646878" cy="2308324"/>
          </a:xfrm>
          <a:prstGeom prst="rect">
            <a:avLst/>
          </a:prstGeom>
          <a:noFill/>
        </p:spPr>
        <p:txBody>
          <a:bodyPr wrap="none" rtlCol="0">
            <a:spAutoFit/>
          </a:bodyPr>
          <a:lstStyle/>
          <a:p>
            <a:pPr algn="ctr"/>
            <a:r>
              <a:rPr lang="zh-CN" altLang="en-US" sz="2400" dirty="0">
                <a:solidFill>
                  <a:srgbClr val="FF0000"/>
                </a:solidFill>
              </a:rPr>
              <a:t>江南春</a:t>
            </a:r>
          </a:p>
          <a:p>
            <a:pPr algn="ctr"/>
            <a:r>
              <a:rPr lang="zh-CN" altLang="en-US" sz="2400" dirty="0">
                <a:solidFill>
                  <a:srgbClr val="FF0000"/>
                </a:solidFill>
              </a:rPr>
              <a:t>杜牧</a:t>
            </a:r>
          </a:p>
          <a:p>
            <a:pPr algn="ctr"/>
            <a:r>
              <a:rPr lang="zh-CN" altLang="en-US" sz="2400" dirty="0">
                <a:solidFill>
                  <a:srgbClr val="FF0000"/>
                </a:solidFill>
              </a:rPr>
              <a:t>千里莺啼绿映红，</a:t>
            </a:r>
          </a:p>
          <a:p>
            <a:pPr algn="ctr"/>
            <a:r>
              <a:rPr lang="zh-CN" altLang="en-US" sz="2400" dirty="0">
                <a:solidFill>
                  <a:srgbClr val="FF0000"/>
                </a:solidFill>
              </a:rPr>
              <a:t>水村山郭酒旗风。</a:t>
            </a:r>
          </a:p>
          <a:p>
            <a:pPr algn="ctr"/>
            <a:r>
              <a:rPr lang="zh-CN" altLang="en-US" sz="2400" dirty="0">
                <a:solidFill>
                  <a:srgbClr val="FF0000"/>
                </a:solidFill>
              </a:rPr>
              <a:t>南朝四百八十寺，</a:t>
            </a:r>
          </a:p>
          <a:p>
            <a:pPr algn="ctr"/>
            <a:r>
              <a:rPr lang="zh-CN" altLang="en-US" sz="2400" dirty="0">
                <a:solidFill>
                  <a:srgbClr val="FF0000"/>
                </a:solidFill>
              </a:rPr>
              <a:t>多少楼台烟雨中。</a:t>
            </a:r>
          </a:p>
        </p:txBody>
      </p:sp>
      <p:sp>
        <p:nvSpPr>
          <p:cNvPr id="12" name="矩形 11"/>
          <p:cNvSpPr/>
          <p:nvPr/>
        </p:nvSpPr>
        <p:spPr>
          <a:xfrm>
            <a:off x="3316748" y="4437778"/>
            <a:ext cx="2335328" cy="2246412"/>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a:hlinkClick r:id="rId3" action="ppaction://hlinksldjump"/>
            <a:extLst>
              <a:ext uri="{FF2B5EF4-FFF2-40B4-BE49-F238E27FC236}">
                <a16:creationId xmlns:a16="http://schemas.microsoft.com/office/drawing/2014/main" id="{97757A75-72FA-BB73-9851-F9E55F87CB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49134" y="2330789"/>
            <a:ext cx="239040" cy="288000"/>
          </a:xfrm>
          <a:prstGeom prst="rect">
            <a:avLst/>
          </a:prstGeom>
        </p:spPr>
      </p:pic>
    </p:spTree>
    <p:extLst>
      <p:ext uri="{BB962C8B-B14F-4D97-AF65-F5344CB8AC3E}">
        <p14:creationId xmlns:p14="http://schemas.microsoft.com/office/powerpoint/2010/main" val="11398299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nextCondLst>
                <p:cond evt="onClick" delay="0">
                  <p:tgtEl>
                    <p:spTgt spid="27"/>
                  </p:tgtEl>
                </p:cond>
              </p:nextCondLst>
            </p:seq>
            <p:seq concurrent="1" nextAc="seek">
              <p:cTn id="7" restart="whenNotActive" fill="hold" evtFilter="cancelBubble" nodeType="interactiveSeq">
                <p:stCondLst>
                  <p:cond evt="onClick" delay="0">
                    <p:tgtEl>
                      <p:spTgt spid="30"/>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childTnLst>
              </p:cTn>
              <p:nextCondLst>
                <p:cond evt="onClick" delay="0">
                  <p:tgtEl>
                    <p:spTgt spid="30"/>
                  </p:tgtEl>
                </p:cond>
              </p:nextCondLst>
            </p:seq>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17" restart="whenNotActive" fill="hold" evtFilter="cancelBubble" nodeType="interactiveSeq">
                <p:stCondLst>
                  <p:cond evt="onClick" delay="0">
                    <p:tgtEl>
                      <p:spTgt spid="12"/>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9" grpId="0" animBg="1"/>
      <p:bldP spid="31" grpId="0" animBg="1"/>
      <p:bldP spid="10" grpId="0"/>
      <p:bldP spid="10"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60000" y="1139169"/>
            <a:ext cx="8532300" cy="461665"/>
          </a:xfrm>
          <a:prstGeom prst="rect">
            <a:avLst/>
          </a:prstGeom>
          <a:noFill/>
        </p:spPr>
        <p:txBody>
          <a:bodyPr wrap="square" rtlCol="0">
            <a:spAutoFit/>
          </a:bodyPr>
          <a:lstStyle/>
          <a:p>
            <a:r>
              <a:rPr lang="en-US" altLang="zh-CN" sz="2400" dirty="0">
                <a:latin typeface="Cambria" panose="02040503050406030204" pitchFamily="18" charset="0"/>
                <a:ea typeface="Cambria" panose="02040503050406030204" pitchFamily="18" charset="0"/>
              </a:rPr>
              <a:t>Watch the video carefully and try to answer the questions:</a:t>
            </a:r>
            <a:endParaRPr lang="zh-CN" altLang="en-US" sz="2400" dirty="0">
              <a:solidFill>
                <a:srgbClr val="FF0000"/>
              </a:solidFill>
              <a:latin typeface="Cambria" panose="02040503050406030204" pitchFamily="18" charset="0"/>
              <a:cs typeface="Times New Roman" panose="02020603050405020304" pitchFamily="18" charset="0"/>
            </a:endParaRPr>
          </a:p>
        </p:txBody>
      </p:sp>
      <p:sp>
        <p:nvSpPr>
          <p:cNvPr id="5" name="文本框 4"/>
          <p:cNvSpPr txBox="1"/>
          <p:nvPr/>
        </p:nvSpPr>
        <p:spPr>
          <a:xfrm>
            <a:off x="366165" y="1851759"/>
            <a:ext cx="485955" cy="3046988"/>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2</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6" name="文本框 5"/>
          <p:cNvSpPr txBox="1"/>
          <p:nvPr/>
        </p:nvSpPr>
        <p:spPr>
          <a:xfrm>
            <a:off x="660400" y="1851759"/>
            <a:ext cx="8231900" cy="4154984"/>
          </a:xfrm>
          <a:prstGeom prst="rect">
            <a:avLst/>
          </a:prstGeom>
          <a:noFill/>
        </p:spPr>
        <p:txBody>
          <a:bodyPr wrap="square" rtlCol="0">
            <a:spAutoFit/>
          </a:bodyPr>
          <a:lstStyle/>
          <a:p>
            <a:r>
              <a:rPr lang="en-US" altLang="zh-CN" sz="2400" dirty="0"/>
              <a:t>What is the purpose of reporter Owen to visit the Beijing-Tianjin-Hebei region?</a:t>
            </a:r>
          </a:p>
          <a:p>
            <a:r>
              <a:rPr lang="en-US" altLang="zh-CN" sz="2400" dirty="0"/>
              <a:t>A. To enjoy different kinds of special food across the region</a:t>
            </a:r>
            <a:endParaRPr lang="zh-CN" altLang="zh-CN" sz="2400" dirty="0"/>
          </a:p>
          <a:p>
            <a:r>
              <a:rPr lang="en-US" altLang="zh-CN" sz="2400" dirty="0"/>
              <a:t>B. To explore how China will balance regional development</a:t>
            </a:r>
            <a:endParaRPr lang="zh-CN" altLang="zh-CN" sz="2400" dirty="0"/>
          </a:p>
          <a:p>
            <a:r>
              <a:rPr lang="en-US" altLang="zh-CN" sz="2400" dirty="0"/>
              <a:t>C. </a:t>
            </a:r>
            <a:r>
              <a:rPr lang="en-US" altLang="zh-CN" sz="2400" spc="-30" dirty="0"/>
              <a:t>To get first-hand knowledge of the people’s life across the region</a:t>
            </a:r>
            <a:endParaRPr lang="zh-CN" altLang="zh-CN" sz="2400" spc="-30" dirty="0"/>
          </a:p>
          <a:p>
            <a:r>
              <a:rPr lang="en-US" altLang="zh-CN" sz="2400" dirty="0"/>
              <a:t>D. To meet some of his old friends working there.</a:t>
            </a:r>
            <a:endParaRPr lang="zh-CN" altLang="zh-CN" sz="2400" dirty="0"/>
          </a:p>
          <a:p>
            <a:endParaRPr lang="en-US" altLang="zh-CN" sz="2400" dirty="0"/>
          </a:p>
          <a:p>
            <a:r>
              <a:rPr lang="en-US" altLang="zh-CN" sz="2400" spc="10" dirty="0"/>
              <a:t>Of the three reporters, _________ has been to every province in</a:t>
            </a:r>
            <a:r>
              <a:rPr lang="en-US" altLang="zh-CN" sz="2400" dirty="0"/>
              <a:t> China.</a:t>
            </a:r>
            <a:endParaRPr lang="zh-CN" altLang="zh-CN" sz="2400" dirty="0"/>
          </a:p>
          <a:p>
            <a:r>
              <a:rPr lang="en-US" altLang="zh-CN" sz="2400" dirty="0"/>
              <a:t>A. Owen </a:t>
            </a:r>
            <a:r>
              <a:rPr lang="en-US" altLang="zh-CN" sz="2400" dirty="0" err="1"/>
              <a:t>Fishwick</a:t>
            </a:r>
            <a:endParaRPr lang="en-US" altLang="zh-CN" sz="2400" dirty="0"/>
          </a:p>
          <a:p>
            <a:r>
              <a:rPr lang="en-US" altLang="zh-CN" sz="2400" dirty="0"/>
              <a:t>C. Eric Nilsson   </a:t>
            </a:r>
          </a:p>
        </p:txBody>
      </p:sp>
      <p:pic>
        <p:nvPicPr>
          <p:cNvPr id="7" name="钥匙2" descr="C:\Users\senj\Desktop\新建文件夹\答案.png" hidden="1">
            <a:hlinkClick r:id="" action="ppaction://noaction"/>
          </p:cNvPr>
          <p:cNvPicPr>
            <a:picLocks noChangeAspect="1" noChangeArrowheads="1"/>
          </p:cNvPicPr>
          <p:nvPr/>
        </p:nvPicPr>
        <p:blipFill>
          <a:blip r:embed="rId2" cstate="print"/>
          <a:srcRect/>
          <a:stretch>
            <a:fillRect/>
          </a:stretch>
        </p:blipFill>
        <p:spPr bwMode="auto">
          <a:xfrm>
            <a:off x="95139" y="1227325"/>
            <a:ext cx="324000" cy="324000"/>
          </a:xfrm>
          <a:prstGeom prst="rect">
            <a:avLst/>
          </a:prstGeom>
          <a:noFill/>
        </p:spPr>
      </p:pic>
      <p:pic>
        <p:nvPicPr>
          <p:cNvPr id="8" name="选择1" descr="圈圈.png"/>
          <p:cNvPicPr>
            <a:picLocks noChangeAspect="1"/>
          </p:cNvPicPr>
          <p:nvPr/>
        </p:nvPicPr>
        <p:blipFill>
          <a:blip r:embed="rId3" cstate="print"/>
          <a:stretch>
            <a:fillRect/>
          </a:stretch>
        </p:blipFill>
        <p:spPr>
          <a:xfrm>
            <a:off x="648442" y="3006495"/>
            <a:ext cx="459698" cy="361192"/>
          </a:xfrm>
          <a:prstGeom prst="rect">
            <a:avLst/>
          </a:prstGeom>
        </p:spPr>
      </p:pic>
      <p:sp>
        <p:nvSpPr>
          <p:cNvPr id="9" name="文本框 8"/>
          <p:cNvSpPr txBox="1"/>
          <p:nvPr/>
        </p:nvSpPr>
        <p:spPr>
          <a:xfrm>
            <a:off x="4583250" y="1851759"/>
            <a:ext cx="4309050" cy="4154984"/>
          </a:xfrm>
          <a:prstGeom prst="rect">
            <a:avLst/>
          </a:prstGeom>
          <a:noFill/>
        </p:spPr>
        <p:txBody>
          <a:bodyPr wrap="square" rtlCol="0">
            <a:spAutoFit/>
          </a:bodyPr>
          <a:lstStyle/>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endParaRPr lang="en-US" altLang="zh-CN" sz="2400" dirty="0"/>
          </a:p>
          <a:p>
            <a:r>
              <a:rPr lang="en-US" altLang="zh-CN" sz="2400" dirty="0"/>
              <a:t>B. Greg Fountain</a:t>
            </a:r>
          </a:p>
          <a:p>
            <a:r>
              <a:rPr lang="en-US" altLang="zh-CN" sz="2400" dirty="0"/>
              <a:t>D. None of them</a:t>
            </a:r>
            <a:endParaRPr lang="zh-CN" altLang="zh-CN" sz="2400" dirty="0"/>
          </a:p>
        </p:txBody>
      </p:sp>
      <p:pic>
        <p:nvPicPr>
          <p:cNvPr id="10" name="Picture 2" descr="C:\Users\senj\Desktop\新建文件夹\外链视频.png">
            <a:hlinkClick r:id="rId4" action="ppaction://hlinkfile"/>
          </p:cNvPr>
          <p:cNvPicPr>
            <a:picLocks noChangeAspect="1" noChangeArrowheads="1"/>
          </p:cNvPicPr>
          <p:nvPr/>
        </p:nvPicPr>
        <p:blipFill>
          <a:blip r:embed="rId5" cstate="print"/>
          <a:srcRect/>
          <a:stretch>
            <a:fillRect/>
          </a:stretch>
        </p:blipFill>
        <p:spPr bwMode="auto">
          <a:xfrm>
            <a:off x="8106950" y="1183698"/>
            <a:ext cx="324000" cy="324000"/>
          </a:xfrm>
          <a:prstGeom prst="rect">
            <a:avLst/>
          </a:prstGeom>
          <a:noFill/>
        </p:spPr>
      </p:pic>
      <p:pic>
        <p:nvPicPr>
          <p:cNvPr id="11" name="选择2" descr="圈圈.png"/>
          <p:cNvPicPr>
            <a:picLocks noChangeAspect="1"/>
          </p:cNvPicPr>
          <p:nvPr/>
        </p:nvPicPr>
        <p:blipFill>
          <a:blip r:embed="rId3" cstate="print"/>
          <a:stretch>
            <a:fillRect/>
          </a:stretch>
        </p:blipFill>
        <p:spPr>
          <a:xfrm>
            <a:off x="648442" y="5568933"/>
            <a:ext cx="459698" cy="361192"/>
          </a:xfrm>
          <a:prstGeom prst="rect">
            <a:avLst/>
          </a:prstGeom>
        </p:spPr>
      </p:pic>
      <p:sp>
        <p:nvSpPr>
          <p:cNvPr id="12" name="矩形 11"/>
          <p:cNvSpPr/>
          <p:nvPr/>
        </p:nvSpPr>
        <p:spPr>
          <a:xfrm>
            <a:off x="426386" y="1933118"/>
            <a:ext cx="8321903" cy="2246412"/>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26386" y="4447230"/>
            <a:ext cx="8321903" cy="148289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2803271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7"/>
                  </p:tgtEl>
                </p:cond>
              </p:nextCondLst>
            </p:seq>
            <p:seq concurrent="1" nextAc="seek">
              <p:cTn id="9" restart="whenNotActive" fill="hold" evtFilter="cancelBubble" nodeType="interactiveSeq">
                <p:stCondLst>
                  <p:cond evt="onClick" delay="0">
                    <p:tgtEl>
                      <p:spTgt spid="12"/>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nextCondLst>
                <p:cond evt="onClick" delay="0">
                  <p:tgtEl>
                    <p:spTgt spid="12"/>
                  </p:tgtEl>
                </p:cond>
              </p:nextCondLst>
            </p:seq>
            <p:seq concurrent="1" nextAc="seek">
              <p:cTn id="14" restart="whenNotActive" fill="hold" evtFilter="cancelBubble" nodeType="interactiveSeq">
                <p:stCondLst>
                  <p:cond evt="onClick" delay="0">
                    <p:tgtEl>
                      <p:spTgt spid="13"/>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287510" y="4826987"/>
            <a:ext cx="837986" cy="369332"/>
          </a:xfrm>
          <a:prstGeom prst="rect">
            <a:avLst/>
          </a:prstGeom>
          <a:noFill/>
        </p:spPr>
        <p:txBody>
          <a:bodyPr wrap="none" rtlCol="0">
            <a:spAutoFit/>
          </a:bodyPr>
          <a:lstStyle/>
          <a:p>
            <a:pPr algn="just"/>
            <a:r>
              <a:rPr lang="en-US" altLang="zh-CN" sz="1800" b="1" i="0" u="none" strike="noStrike" kern="1200" baseline="0" dirty="0">
                <a:solidFill>
                  <a:schemeClr val="bg1"/>
                </a:solidFill>
                <a:latin typeface="Cambria" panose="02040503050406030204" pitchFamily="18" charset="0"/>
                <a:ea typeface="Cambria" panose="02040503050406030204" pitchFamily="18" charset="0"/>
                <a:cs typeface="+mn-cs"/>
              </a:rPr>
              <a:t>Text A</a:t>
            </a:r>
            <a:endParaRPr lang="zh-CN" altLang="en-US" sz="1800" dirty="0">
              <a:solidFill>
                <a:schemeClr val="bg1"/>
              </a:solidFill>
              <a:latin typeface="Cambria" panose="02040503050406030204" pitchFamily="18" charset="0"/>
            </a:endParaRPr>
          </a:p>
        </p:txBody>
      </p:sp>
      <p:sp>
        <p:nvSpPr>
          <p:cNvPr id="10" name="文本框 9"/>
          <p:cNvSpPr txBox="1"/>
          <p:nvPr/>
        </p:nvSpPr>
        <p:spPr>
          <a:xfrm>
            <a:off x="287510" y="5268194"/>
            <a:ext cx="6156620" cy="1077218"/>
          </a:xfrm>
          <a:prstGeom prst="rect">
            <a:avLst/>
          </a:prstGeom>
          <a:noFill/>
        </p:spPr>
        <p:txBody>
          <a:bodyPr wrap="square" rtlCol="0">
            <a:spAutoFit/>
          </a:bodyPr>
          <a:lstStyle/>
          <a:p>
            <a:r>
              <a:rPr lang="en-US" altLang="zh-CN" sz="4000" b="0" i="0" u="none" strike="noStrike" kern="1200" baseline="0" dirty="0">
                <a:solidFill>
                  <a:srgbClr val="0A2E4A"/>
                </a:solidFill>
                <a:latin typeface="Cambria" panose="02040503050406030204" pitchFamily="18" charset="0"/>
                <a:ea typeface="Cambria" panose="02040503050406030204" pitchFamily="18" charset="0"/>
                <a:cs typeface="+mn-cs"/>
              </a:rPr>
              <a:t>T</a:t>
            </a:r>
            <a:r>
              <a:rPr lang="en-US" altLang="zh-CN" sz="2400" b="0" i="0" u="none" strike="noStrike" kern="1200" baseline="0" dirty="0">
                <a:solidFill>
                  <a:srgbClr val="0A2E4A"/>
                </a:solidFill>
                <a:latin typeface="Cambria" panose="02040503050406030204" pitchFamily="18" charset="0"/>
                <a:ea typeface="Cambria" panose="02040503050406030204" pitchFamily="18" charset="0"/>
                <a:cs typeface="+mn-cs"/>
              </a:rPr>
              <a:t>en Things You Probably Didn’t Know about</a:t>
            </a:r>
          </a:p>
          <a:p>
            <a:r>
              <a:rPr lang="en-US" altLang="zh-CN" sz="2400" b="0" i="0" u="none" strike="noStrike" kern="1200" baseline="0" dirty="0">
                <a:solidFill>
                  <a:srgbClr val="0A2E4A"/>
                </a:solidFill>
                <a:latin typeface="Cambria" panose="02040503050406030204" pitchFamily="18" charset="0"/>
                <a:ea typeface="Cambria" panose="02040503050406030204" pitchFamily="18" charset="0"/>
                <a:cs typeface="+mn-cs"/>
              </a:rPr>
              <a:t>Modern China</a:t>
            </a:r>
            <a:endParaRPr lang="zh-CN" altLang="en-US" sz="2400" dirty="0">
              <a:solidFill>
                <a:srgbClr val="0A2E4A"/>
              </a:solidFill>
              <a:latin typeface="Cambria" panose="02040503050406030204" pitchFamily="18" charset="0"/>
            </a:endParaRPr>
          </a:p>
        </p:txBody>
      </p:sp>
      <p:sp>
        <p:nvSpPr>
          <p:cNvPr id="11" name="文本框 10"/>
          <p:cNvSpPr txBox="1"/>
          <p:nvPr/>
        </p:nvSpPr>
        <p:spPr>
          <a:xfrm>
            <a:off x="5763506" y="6139140"/>
            <a:ext cx="1511952" cy="369332"/>
          </a:xfrm>
          <a:prstGeom prst="rect">
            <a:avLst/>
          </a:prstGeom>
          <a:noFill/>
        </p:spPr>
        <p:txBody>
          <a:bodyPr wrap="none" rtlCol="0">
            <a:spAutoFit/>
          </a:bodyPr>
          <a:lstStyle/>
          <a:p>
            <a:pPr algn="just"/>
            <a:r>
              <a:rPr lang="en-US" altLang="zh-CN" sz="1800" b="0" i="0" u="none" strike="noStrike" kern="1200" baseline="0" dirty="0">
                <a:solidFill>
                  <a:srgbClr val="0A2E4A"/>
                </a:solidFill>
                <a:latin typeface="Cambria" panose="02040503050406030204" pitchFamily="18" charset="0"/>
                <a:ea typeface="Cambria" panose="02040503050406030204" pitchFamily="18" charset="0"/>
                <a:cs typeface="+mn-cs"/>
              </a:rPr>
              <a:t>Leila Hashem</a:t>
            </a:r>
            <a:endParaRPr lang="zh-CN" altLang="en-US" sz="1800" dirty="0">
              <a:solidFill>
                <a:srgbClr val="0A2E4A"/>
              </a:solidFill>
              <a:latin typeface="Cambria" panose="02040503050406030204" pitchFamily="18" charset="0"/>
            </a:endParaRPr>
          </a:p>
        </p:txBody>
      </p:sp>
      <p:pic>
        <p:nvPicPr>
          <p:cNvPr id="13" name="超链接" descr="C:\Users\senj\Desktop\新建文件夹\外链音频.png">
            <a:hlinkClick r:id="rId2" action="ppaction://hlinkfile"/>
          </p:cNvPr>
          <p:cNvPicPr>
            <a:picLocks noChangeAspect="1" noChangeArrowheads="1"/>
          </p:cNvPicPr>
          <p:nvPr/>
        </p:nvPicPr>
        <p:blipFill>
          <a:blip r:embed="rId3" cstate="print"/>
          <a:srcRect/>
          <a:stretch>
            <a:fillRect/>
          </a:stretch>
        </p:blipFill>
        <p:spPr bwMode="auto">
          <a:xfrm>
            <a:off x="1259790" y="4872416"/>
            <a:ext cx="288000" cy="288000"/>
          </a:xfrm>
          <a:prstGeom prst="rect">
            <a:avLst/>
          </a:prstGeom>
          <a:noFill/>
        </p:spPr>
      </p:pic>
      <p:pic>
        <p:nvPicPr>
          <p:cNvPr id="3" name="图片 2">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22971" y="4885116"/>
            <a:ext cx="228582" cy="275300"/>
          </a:xfrm>
          <a:prstGeom prst="rect">
            <a:avLst/>
          </a:prstGeom>
        </p:spPr>
      </p:pic>
      <p:pic>
        <p:nvPicPr>
          <p:cNvPr id="17" name="Picture 3" descr="C:\Users\senj\Desktop\按钮.png"/>
          <p:cNvPicPr>
            <a:picLocks noChangeAspect="1" noChangeArrowheads="1"/>
          </p:cNvPicPr>
          <p:nvPr/>
        </p:nvPicPr>
        <p:blipFill>
          <a:blip r:embed="rId6" cstate="print"/>
          <a:srcRect l="12911" t="21436" r="39626" b="60503"/>
          <a:stretch>
            <a:fillRect/>
          </a:stretch>
        </p:blipFill>
        <p:spPr bwMode="auto">
          <a:xfrm>
            <a:off x="8366400" y="6429396"/>
            <a:ext cx="259557" cy="254794"/>
          </a:xfrm>
          <a:prstGeom prst="rect">
            <a:avLst/>
          </a:prstGeom>
          <a:noFill/>
        </p:spPr>
      </p:pic>
      <p:pic>
        <p:nvPicPr>
          <p:cNvPr id="18" name="Picture 3" descr="C:\Users\senj\Desktop\按钮.png">
            <a:hlinkClick r:id="" action="ppaction://hlinkshowjump?jump=nextslide"/>
          </p:cNvPr>
          <p:cNvPicPr>
            <a:picLocks noChangeAspect="1" noChangeArrowheads="1"/>
          </p:cNvPicPr>
          <p:nvPr/>
        </p:nvPicPr>
        <p:blipFill>
          <a:blip r:embed="rId7" cstate="print">
            <a:duotone>
              <a:schemeClr val="bg2">
                <a:shade val="45000"/>
                <a:satMod val="135000"/>
              </a:schemeClr>
              <a:prstClr val="white"/>
            </a:duotone>
            <a:extLst>
              <a:ext uri="{BEBA8EAE-BF5A-486C-A8C5-ECC9F3942E4B}">
                <a14:imgProps xmlns:a14="http://schemas.microsoft.com/office/drawing/2010/main">
                  <a14:imgLayer r:embed="rId8">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Tree>
    <p:extLst>
      <p:ext uri="{BB962C8B-B14F-4D97-AF65-F5344CB8AC3E}">
        <p14:creationId xmlns:p14="http://schemas.microsoft.com/office/powerpoint/2010/main" val="7298471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262979"/>
          </a:xfrm>
          <a:prstGeom prst="rect">
            <a:avLst/>
          </a:prstGeom>
          <a:noFill/>
        </p:spPr>
        <p:txBody>
          <a:bodyPr wrap="square" rtlCol="0">
            <a:spAutoFit/>
          </a:bodyPr>
          <a:lstStyle/>
          <a:p>
            <a:pPr algn="just"/>
            <a:r>
              <a:rPr lang="en-US" altLang="zh-CN" sz="2400" b="1" dirty="0">
                <a:solidFill>
                  <a:srgbClr val="C6383E"/>
                </a:solidFill>
              </a:rPr>
              <a:t>1</a:t>
            </a:r>
            <a:r>
              <a:rPr lang="en-US" altLang="zh-CN" sz="2400" dirty="0"/>
              <a:t>     </a:t>
            </a:r>
            <a:r>
              <a:rPr lang="en-US" altLang="zh-CN" sz="2400" spc="40" dirty="0"/>
              <a:t>Close your eyes and imagine China, home to 1.4 billion of</a:t>
            </a:r>
            <a:r>
              <a:rPr lang="en-US" altLang="zh-CN" sz="2400" dirty="0"/>
              <a:t> the world’s population. What do you see? Rice paddies; pointed </a:t>
            </a:r>
            <a:r>
              <a:rPr lang="en-US" altLang="zh-CN" sz="2400" spc="50" dirty="0"/>
              <a:t>little hats </a:t>
            </a:r>
            <a:r>
              <a:rPr lang="en-US" altLang="zh-CN" sz="2400" spc="50" dirty="0">
                <a:solidFill>
                  <a:srgbClr val="C00000"/>
                </a:solidFill>
              </a:rPr>
              <a:t>strapped</a:t>
            </a:r>
            <a:r>
              <a:rPr lang="en-US" altLang="zh-CN" sz="2400" spc="50" dirty="0"/>
              <a:t> on under the chin; long, </a:t>
            </a:r>
            <a:r>
              <a:rPr lang="en-US" altLang="zh-CN" sz="2400" spc="50" dirty="0">
                <a:solidFill>
                  <a:srgbClr val="C00000"/>
                </a:solidFill>
              </a:rPr>
              <a:t>wispy</a:t>
            </a:r>
            <a:r>
              <a:rPr lang="en-US" altLang="zh-CN" sz="2400" spc="50" dirty="0"/>
              <a:t> mustaches</a:t>
            </a:r>
            <a:r>
              <a:rPr lang="en-US" altLang="zh-CN" sz="2400" dirty="0"/>
              <a:t> </a:t>
            </a:r>
            <a:r>
              <a:rPr lang="en-US" altLang="zh-CN" sz="2400" spc="60" dirty="0"/>
              <a:t>floating above the wide grin of a country farm worker? Well</a:t>
            </a:r>
            <a:r>
              <a:rPr lang="en-US" altLang="zh-CN" sz="2400" dirty="0"/>
              <a:t>, </a:t>
            </a:r>
            <a:r>
              <a:rPr lang="en-US" altLang="zh-CN" sz="2400" spc="-20" dirty="0"/>
              <a:t>while agriculture is still one of China’s biggest industries, a lot has</a:t>
            </a:r>
            <a:r>
              <a:rPr lang="en-US" altLang="zh-CN" sz="2400" dirty="0"/>
              <a:t> changed since China’s origins thousands of years ago.</a:t>
            </a:r>
          </a:p>
          <a:p>
            <a:pPr algn="just"/>
            <a:r>
              <a:rPr lang="en-US" altLang="zh-CN" sz="2400" b="1" dirty="0">
                <a:solidFill>
                  <a:srgbClr val="C6383E"/>
                </a:solidFill>
              </a:rPr>
              <a:t>2</a:t>
            </a:r>
            <a:r>
              <a:rPr lang="en-US" altLang="zh-CN" sz="2400" dirty="0"/>
              <a:t>     </a:t>
            </a:r>
            <a:r>
              <a:rPr lang="en-US" altLang="zh-CN" sz="2400" spc="60" dirty="0"/>
              <a:t>Today, the state of modern China and its </a:t>
            </a:r>
            <a:r>
              <a:rPr lang="en-US" altLang="zh-CN" sz="2400" spc="60" dirty="0">
                <a:solidFill>
                  <a:srgbClr val="C00000"/>
                </a:solidFill>
              </a:rPr>
              <a:t>innovations</a:t>
            </a:r>
            <a:r>
              <a:rPr lang="en-US" altLang="zh-CN" sz="2400" spc="60" dirty="0"/>
              <a:t> are</a:t>
            </a:r>
            <a:r>
              <a:rPr lang="en-US" altLang="zh-CN" sz="2400" dirty="0"/>
              <a:t> </a:t>
            </a:r>
            <a:r>
              <a:rPr lang="en-US" altLang="zh-CN" sz="2400" spc="-40" dirty="0"/>
              <a:t>changing the game for what people think about this </a:t>
            </a:r>
            <a:r>
              <a:rPr lang="en-US" altLang="zh-CN" sz="2400" spc="-40" dirty="0">
                <a:solidFill>
                  <a:srgbClr val="C00000"/>
                </a:solidFill>
              </a:rPr>
              <a:t>oriental</a:t>
            </a:r>
            <a:r>
              <a:rPr lang="en-US" altLang="zh-CN" sz="2400" spc="-40" dirty="0"/>
              <a:t> giant</a:t>
            </a:r>
            <a:r>
              <a:rPr lang="en-US" altLang="zh-CN" sz="2400" dirty="0"/>
              <a:t>. </a:t>
            </a:r>
            <a:r>
              <a:rPr lang="en-US" altLang="zh-CN" sz="2400" u="sng" spc="40" dirty="0">
                <a:solidFill>
                  <a:srgbClr val="0070C0"/>
                </a:solidFill>
              </a:rPr>
              <a:t>So, here are a few things to bring you up to speed on modern</a:t>
            </a:r>
            <a:r>
              <a:rPr lang="en-US" altLang="zh-CN" sz="2400" u="sng" dirty="0">
                <a:solidFill>
                  <a:srgbClr val="0070C0"/>
                </a:solidFill>
              </a:rPr>
              <a:t> China.</a:t>
            </a:r>
          </a:p>
          <a:p>
            <a:pPr algn="just"/>
            <a:r>
              <a:rPr lang="en-US" altLang="zh-CN" sz="2400" b="1" dirty="0"/>
              <a:t>China has the fastest trains in the world.</a:t>
            </a:r>
            <a:endParaRPr lang="en-US" altLang="zh-CN" sz="2400" dirty="0"/>
          </a:p>
          <a:p>
            <a:pPr algn="just"/>
            <a:r>
              <a:rPr lang="en-US" altLang="zh-CN" sz="2400" b="1" dirty="0">
                <a:solidFill>
                  <a:srgbClr val="C6383E"/>
                </a:solidFill>
              </a:rPr>
              <a:t>3</a:t>
            </a:r>
            <a:r>
              <a:rPr lang="en-US" altLang="zh-CN" sz="2400" dirty="0"/>
              <a:t>     </a:t>
            </a:r>
            <a:r>
              <a:rPr lang="en-US" altLang="zh-CN" sz="2400" spc="40" dirty="0"/>
              <a:t>In a country as large as China, people need to get around</a:t>
            </a:r>
            <a:r>
              <a:rPr lang="en-US" altLang="zh-CN" sz="2400" dirty="0"/>
              <a:t>, </a:t>
            </a:r>
            <a:r>
              <a:rPr lang="en-US" altLang="zh-CN" sz="2400" spc="-30" dirty="0"/>
              <a:t>and quick! The Shanghai Maglev is the world’s fastest commercial</a:t>
            </a:r>
            <a:r>
              <a:rPr lang="en-US" altLang="zh-CN" sz="2400" dirty="0"/>
              <a:t> </a:t>
            </a:r>
            <a:r>
              <a:rPr lang="en-US" altLang="zh-CN" sz="2400" spc="20" dirty="0"/>
              <a:t>train, </a:t>
            </a:r>
            <a:r>
              <a:rPr lang="en-US" altLang="zh-CN" sz="2400" spc="30" dirty="0">
                <a:solidFill>
                  <a:srgbClr val="C00000"/>
                </a:solidFill>
              </a:rPr>
              <a:t>clocking in</a:t>
            </a:r>
            <a:r>
              <a:rPr lang="en-US" altLang="zh-CN" sz="2400" spc="30" dirty="0"/>
              <a:t> at</a:t>
            </a:r>
            <a:r>
              <a:rPr lang="en-US" altLang="zh-CN" sz="2400" spc="20" dirty="0"/>
              <a:t> 430 </a:t>
            </a:r>
            <a:r>
              <a:rPr lang="en-US" altLang="zh-CN" sz="2400" spc="30" dirty="0" err="1"/>
              <a:t>kph</a:t>
            </a:r>
            <a:r>
              <a:rPr lang="en-US" altLang="zh-CN" sz="2400" spc="30" dirty="0"/>
              <a:t>. When</a:t>
            </a:r>
            <a:r>
              <a:rPr lang="en-US" altLang="zh-CN" sz="2400" spc="20" dirty="0"/>
              <a:t> you are in China’s capital of</a:t>
            </a:r>
            <a:r>
              <a:rPr lang="en-US" altLang="zh-CN" sz="2400" dirty="0"/>
              <a:t> </a:t>
            </a:r>
          </a:p>
        </p:txBody>
      </p:sp>
      <p:pic>
        <p:nvPicPr>
          <p:cNvPr id="9" name="图片 8">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1232638"/>
            <a:ext cx="268800" cy="288000"/>
          </a:xfrm>
          <a:prstGeom prst="rect">
            <a:avLst/>
          </a:prstGeom>
        </p:spPr>
      </p:pic>
      <p:pic>
        <p:nvPicPr>
          <p:cNvPr id="14" name="Picture 3" descr="C:\Users\senj\Desktop\按钮.png">
            <a:hlinkClick r:id="" action="ppaction://hlinkshowjump?jump=next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2" name="Text A_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cstate="print">
            <a:extLst>
              <a:ext uri="{28A0092B-C50C-407E-A947-70E740481C1C}">
                <a14:useLocalDpi xmlns:a14="http://schemas.microsoft.com/office/drawing/2010/main" val="0"/>
              </a:ext>
            </a:extLst>
          </a:blip>
          <a:stretch>
            <a:fillRect/>
          </a:stretch>
        </p:blipFill>
        <p:spPr>
          <a:xfrm>
            <a:off x="173345" y="1232638"/>
            <a:ext cx="288000" cy="285120"/>
          </a:xfrm>
          <a:prstGeom prst="rect">
            <a:avLst/>
          </a:prstGeom>
        </p:spPr>
      </p:pic>
      <p:pic>
        <p:nvPicPr>
          <p:cNvPr id="8" name="图片 7">
            <a:hlinkClick r:id="rId13"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3425825"/>
            <a:ext cx="268800" cy="288000"/>
          </a:xfrm>
          <a:prstGeom prst="rect">
            <a:avLst/>
          </a:prstGeom>
        </p:spPr>
      </p:pic>
      <p:pic>
        <p:nvPicPr>
          <p:cNvPr id="10" name="图片 9">
            <a:hlinkClick r:id="rId14"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4502" y="4918237"/>
            <a:ext cx="268800" cy="288000"/>
          </a:xfrm>
          <a:prstGeom prst="rect">
            <a:avLst/>
          </a:prstGeom>
        </p:spPr>
      </p:pic>
      <p:pic>
        <p:nvPicPr>
          <p:cNvPr id="3" name="Text A_2">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cstate="print">
            <a:extLst>
              <a:ext uri="{28A0092B-C50C-407E-A947-70E740481C1C}">
                <a14:useLocalDpi xmlns:a14="http://schemas.microsoft.com/office/drawing/2010/main" val="0"/>
              </a:ext>
            </a:extLst>
          </a:blip>
          <a:stretch>
            <a:fillRect/>
          </a:stretch>
        </p:blipFill>
        <p:spPr>
          <a:xfrm>
            <a:off x="173345" y="3425825"/>
            <a:ext cx="288000" cy="285120"/>
          </a:xfrm>
          <a:prstGeom prst="rect">
            <a:avLst/>
          </a:prstGeom>
        </p:spPr>
      </p:pic>
      <p:pic>
        <p:nvPicPr>
          <p:cNvPr id="4" name="Text A_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2" cstate="print">
            <a:extLst>
              <a:ext uri="{28A0092B-C50C-407E-A947-70E740481C1C}">
                <a14:useLocalDpi xmlns:a14="http://schemas.microsoft.com/office/drawing/2010/main" val="0"/>
              </a:ext>
            </a:extLst>
          </a:blip>
          <a:stretch>
            <a:fillRect/>
          </a:stretch>
        </p:blipFill>
        <p:spPr>
          <a:xfrm>
            <a:off x="170874" y="4918237"/>
            <a:ext cx="288000" cy="285120"/>
          </a:xfrm>
          <a:prstGeom prst="rect">
            <a:avLst/>
          </a:prstGeom>
        </p:spPr>
      </p:pic>
      <p:sp>
        <p:nvSpPr>
          <p:cNvPr id="13" name="矩形 12">
            <a:hlinkClick r:id="rId15" action="ppaction://hlinksldjump"/>
          </p:cNvPr>
          <p:cNvSpPr/>
          <p:nvPr/>
        </p:nvSpPr>
        <p:spPr>
          <a:xfrm>
            <a:off x="2181092" y="1957387"/>
            <a:ext cx="1143008"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hlinkClick r:id="rId16" action="ppaction://hlinksldjump"/>
          </p:cNvPr>
          <p:cNvSpPr/>
          <p:nvPr/>
        </p:nvSpPr>
        <p:spPr>
          <a:xfrm>
            <a:off x="6575440" y="1957386"/>
            <a:ext cx="80326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hlinkClick r:id="rId17" action="ppaction://hlinksldjump"/>
          </p:cNvPr>
          <p:cNvSpPr/>
          <p:nvPr/>
        </p:nvSpPr>
        <p:spPr>
          <a:xfrm>
            <a:off x="6751202" y="3414052"/>
            <a:ext cx="1568886"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hlinkClick r:id="rId18" action="ppaction://hlinksldjump"/>
          </p:cNvPr>
          <p:cNvSpPr/>
          <p:nvPr/>
        </p:nvSpPr>
        <p:spPr>
          <a:xfrm>
            <a:off x="7128514" y="3756396"/>
            <a:ext cx="961386"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hlinkClick r:id="rId19" action="ppaction://hlinksldjump"/>
          </p:cNvPr>
          <p:cNvSpPr/>
          <p:nvPr/>
        </p:nvSpPr>
        <p:spPr>
          <a:xfrm>
            <a:off x="1607174" y="5991941"/>
            <a:ext cx="1345576"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hlinkClick r:id="rId20" action="ppaction://hlinksldjump"/>
          </p:cNvPr>
          <p:cNvSpPr/>
          <p:nvPr/>
        </p:nvSpPr>
        <p:spPr>
          <a:xfrm>
            <a:off x="875659" y="4144100"/>
            <a:ext cx="7934966"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hlinkClick r:id="rId20" action="ppaction://hlinksldjump"/>
          </p:cNvPr>
          <p:cNvSpPr/>
          <p:nvPr/>
        </p:nvSpPr>
        <p:spPr>
          <a:xfrm>
            <a:off x="874682" y="4509931"/>
            <a:ext cx="870298"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961744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176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5569"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4"/>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4"/>
                                        </p:tgtEl>
                                      </p:cBhvr>
                                    </p:cmd>
                                  </p:childTnLst>
                                </p:cTn>
                              </p:par>
                            </p:childTnLst>
                          </p:cTn>
                        </p:par>
                      </p:childTnLst>
                    </p:cTn>
                  </p:par>
                </p:childTnLst>
              </p:cTn>
              <p:nextCondLst>
                <p:cond evt="onClick" delay="0">
                  <p:tgtEl>
                    <p:spTgt spid="4"/>
                  </p:tgtEl>
                </p:cond>
              </p:nextCondLst>
            </p:seq>
            <p:audio>
              <p:cMediaNode vol="80000" numSld="2">
                <p:cTn id="19" fill="hold" display="0">
                  <p:stCondLst>
                    <p:cond delay="indefinite"/>
                  </p:stCondLst>
                  <p:endCondLst>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262979"/>
          </a:xfrm>
          <a:prstGeom prst="rect">
            <a:avLst/>
          </a:prstGeom>
          <a:noFill/>
        </p:spPr>
        <p:txBody>
          <a:bodyPr wrap="square" rtlCol="0">
            <a:spAutoFit/>
          </a:bodyPr>
          <a:lstStyle/>
          <a:p>
            <a:pPr algn="just"/>
            <a:r>
              <a:rPr lang="en-US" altLang="zh-CN" sz="2400" spc="50" dirty="0"/>
              <a:t>Beijing, you can travel to the shiny city of Shanghai on one of</a:t>
            </a:r>
            <a:r>
              <a:rPr lang="en-US" altLang="zh-CN" sz="2400" dirty="0"/>
              <a:t> </a:t>
            </a:r>
            <a:r>
              <a:rPr lang="en-US" altLang="zh-CN" sz="2400" spc="10" dirty="0"/>
              <a:t>these bullet trains in around 4½ hours. In addition, you can hop</a:t>
            </a:r>
            <a:r>
              <a:rPr lang="en-US" altLang="zh-CN" sz="2400" dirty="0"/>
              <a:t> </a:t>
            </a:r>
            <a:r>
              <a:rPr lang="en-US" altLang="zh-CN" sz="2400" spc="20" dirty="0"/>
              <a:t>on a train and arrive at the doorsteps of major attractions such</a:t>
            </a:r>
            <a:r>
              <a:rPr lang="en-US" altLang="zh-CN" sz="2400" dirty="0"/>
              <a:t> </a:t>
            </a:r>
            <a:r>
              <a:rPr lang="en-US" altLang="zh-CN" sz="2400" spc="20" dirty="0"/>
              <a:t>as the </a:t>
            </a:r>
            <a:r>
              <a:rPr lang="en-US" altLang="zh-CN" sz="2400" spc="20" dirty="0">
                <a:solidFill>
                  <a:srgbClr val="C00000"/>
                </a:solidFill>
              </a:rPr>
              <a:t>Terracotta Warriors</a:t>
            </a:r>
            <a:r>
              <a:rPr lang="en-US" altLang="zh-CN" sz="2400" spc="20" dirty="0"/>
              <a:t> in Xi’an, often with less </a:t>
            </a:r>
            <a:r>
              <a:rPr lang="en-US" altLang="zh-CN" sz="2400" spc="20" dirty="0">
                <a:solidFill>
                  <a:srgbClr val="C00000"/>
                </a:solidFill>
              </a:rPr>
              <a:t>hassle</a:t>
            </a:r>
            <a:r>
              <a:rPr lang="en-US" altLang="zh-CN" sz="2400" spc="20" dirty="0"/>
              <a:t> and a</a:t>
            </a:r>
            <a:r>
              <a:rPr lang="en-US" altLang="zh-CN" sz="2400" dirty="0"/>
              <a:t> similar speed to flying, as the second-longest railway network in the world connects every major city in the Chinese mainland.</a:t>
            </a:r>
          </a:p>
          <a:p>
            <a:pPr algn="just"/>
            <a:r>
              <a:rPr lang="en-US" altLang="zh-CN" sz="2400" b="1" dirty="0"/>
              <a:t>China goes boldly where no man has gone before.</a:t>
            </a:r>
            <a:endParaRPr lang="en-US" altLang="zh-CN" sz="2400" b="1" dirty="0">
              <a:solidFill>
                <a:srgbClr val="D2553C"/>
              </a:solidFill>
            </a:endParaRPr>
          </a:p>
          <a:p>
            <a:pPr algn="just"/>
            <a:r>
              <a:rPr lang="en-US" altLang="zh-CN" sz="2400" b="1" dirty="0">
                <a:solidFill>
                  <a:srgbClr val="C6383E"/>
                </a:solidFill>
              </a:rPr>
              <a:t>4</a:t>
            </a:r>
            <a:r>
              <a:rPr lang="en-US" altLang="zh-CN" sz="2400" dirty="0"/>
              <a:t>     </a:t>
            </a:r>
            <a:r>
              <a:rPr lang="en-US" altLang="zh-CN" sz="2400" u="sng" spc="60" dirty="0">
                <a:solidFill>
                  <a:srgbClr val="0070C0"/>
                </a:solidFill>
              </a:rPr>
              <a:t>Not to be confused with the </a:t>
            </a:r>
            <a:r>
              <a:rPr lang="en-US" altLang="zh-CN" sz="2400" u="sng" spc="60" dirty="0">
                <a:solidFill>
                  <a:srgbClr val="C00000"/>
                </a:solidFill>
              </a:rPr>
              <a:t>Pink Floyd</a:t>
            </a:r>
            <a:r>
              <a:rPr lang="en-US" altLang="zh-CN" sz="2400" u="sng" spc="60" dirty="0">
                <a:solidFill>
                  <a:srgbClr val="0070C0"/>
                </a:solidFill>
              </a:rPr>
              <a:t> album, China has</a:t>
            </a:r>
            <a:r>
              <a:rPr lang="en-US" altLang="zh-CN" sz="2400" u="sng" dirty="0">
                <a:solidFill>
                  <a:srgbClr val="0070C0"/>
                </a:solidFill>
              </a:rPr>
              <a:t> </a:t>
            </a:r>
            <a:r>
              <a:rPr lang="en-US" altLang="zh-CN" sz="2400" u="sng" spc="-10" dirty="0">
                <a:solidFill>
                  <a:srgbClr val="0070C0"/>
                </a:solidFill>
              </a:rPr>
              <a:t>become the first country to land a spacecraft on the dark side of</a:t>
            </a:r>
            <a:r>
              <a:rPr lang="en-US" altLang="zh-CN" sz="2400" u="sng" dirty="0">
                <a:solidFill>
                  <a:srgbClr val="0070C0"/>
                </a:solidFill>
              </a:rPr>
              <a:t> </a:t>
            </a:r>
            <a:r>
              <a:rPr lang="en-US" altLang="zh-CN" sz="2400" u="sng" spc="-20" dirty="0">
                <a:solidFill>
                  <a:srgbClr val="0070C0"/>
                </a:solidFill>
              </a:rPr>
              <a:t>the moon.</a:t>
            </a:r>
            <a:r>
              <a:rPr lang="en-US" altLang="zh-CN" sz="2400" spc="-20" dirty="0"/>
              <a:t> The </a:t>
            </a:r>
            <a:r>
              <a:rPr lang="en-US" altLang="zh-CN" sz="2400" i="1" spc="-20" dirty="0">
                <a:solidFill>
                  <a:srgbClr val="C00000"/>
                </a:solidFill>
              </a:rPr>
              <a:t>Chang’e-4</a:t>
            </a:r>
            <a:r>
              <a:rPr lang="en-US" altLang="zh-CN" sz="2400" i="1" spc="-20" dirty="0"/>
              <a:t> </a:t>
            </a:r>
            <a:r>
              <a:rPr lang="en-US" altLang="zh-CN" sz="2400" spc="-20" dirty="0"/>
              <a:t>mission in January 2019 aimed to study</a:t>
            </a:r>
            <a:r>
              <a:rPr lang="en-US" altLang="zh-CN" sz="2400" dirty="0"/>
              <a:t> </a:t>
            </a:r>
            <a:r>
              <a:rPr lang="en-US" altLang="zh-CN" sz="2400" spc="10" dirty="0"/>
              <a:t>the composition and geology of the moon’s unexplored region</a:t>
            </a:r>
            <a:r>
              <a:rPr lang="en-US" altLang="zh-CN" sz="2400" dirty="0"/>
              <a:t>, </a:t>
            </a:r>
            <a:r>
              <a:rPr lang="en-US" altLang="zh-CN" sz="2400" spc="10" dirty="0"/>
              <a:t>which fills a </a:t>
            </a:r>
            <a:r>
              <a:rPr lang="en-US" altLang="zh-CN" sz="2400" spc="10" dirty="0">
                <a:solidFill>
                  <a:srgbClr val="C00000"/>
                </a:solidFill>
              </a:rPr>
              <a:t>void</a:t>
            </a:r>
            <a:r>
              <a:rPr lang="en-US" altLang="zh-CN" sz="2400" spc="10" dirty="0"/>
              <a:t> in the experts’ understanding of the universe</a:t>
            </a:r>
            <a:r>
              <a:rPr lang="en-US" altLang="zh-CN" sz="2400" dirty="0"/>
              <a:t>, </a:t>
            </a:r>
            <a:r>
              <a:rPr lang="en-US" altLang="zh-CN" sz="2400" spc="-30" dirty="0"/>
              <a:t>and provides new insights into the formation and evolution of the</a:t>
            </a:r>
            <a:r>
              <a:rPr lang="en-US" altLang="zh-CN" sz="2400" dirty="0"/>
              <a:t> </a:t>
            </a:r>
            <a:r>
              <a:rPr lang="en-US" altLang="zh-CN" sz="2400" spc="30" dirty="0"/>
              <a:t>solar </a:t>
            </a:r>
            <a:r>
              <a:rPr lang="en-US" altLang="zh-CN" sz="2400" spc="40" dirty="0"/>
              <a:t>system. In July </a:t>
            </a:r>
            <a:r>
              <a:rPr lang="en-US" altLang="zh-CN" sz="2400" spc="30" dirty="0"/>
              <a:t>2020, the </a:t>
            </a:r>
            <a:r>
              <a:rPr lang="en-US" altLang="zh-CN" sz="2400" i="1" spc="40" dirty="0">
                <a:solidFill>
                  <a:srgbClr val="C00000"/>
                </a:solidFill>
              </a:rPr>
              <a:t>Tianwen-1</a:t>
            </a:r>
            <a:r>
              <a:rPr lang="en-US" altLang="zh-CN" sz="2400" i="1" spc="40" dirty="0"/>
              <a:t> </a:t>
            </a:r>
            <a:r>
              <a:rPr lang="en-US" altLang="zh-CN" sz="2400" spc="40" dirty="0"/>
              <a:t>mission to </a:t>
            </a:r>
            <a:r>
              <a:rPr lang="en-US" altLang="zh-CN" sz="2400" spc="30" dirty="0"/>
              <a:t>Mars was</a:t>
            </a:r>
            <a:r>
              <a:rPr lang="en-US" altLang="zh-CN" sz="2400" dirty="0"/>
              <a:t>  </a:t>
            </a:r>
          </a:p>
        </p:txBody>
      </p:sp>
      <p:pic>
        <p:nvPicPr>
          <p:cNvPr id="9" name="图片 8">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5852" y="3432175"/>
            <a:ext cx="268800" cy="288000"/>
          </a:xfrm>
          <a:prstGeom prst="rect">
            <a:avLst/>
          </a:prstGeom>
        </p:spPr>
      </p:pic>
      <p:pic>
        <p:nvPicPr>
          <p:cNvPr id="14" name="Picture 3" descr="C:\Users\senj\Desktop\按钮.png">
            <a:hlinkClick r:id="" action="ppaction://hlinkshowjump?jump=next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26" name="矩形 25">
            <a:hlinkClick r:id="rId8" action="ppaction://hlinksldjump"/>
          </p:cNvPr>
          <p:cNvSpPr/>
          <p:nvPr/>
        </p:nvSpPr>
        <p:spPr>
          <a:xfrm>
            <a:off x="1403349" y="3782733"/>
            <a:ext cx="7481541"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1684179" y="2318445"/>
            <a:ext cx="2527795"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标注 10"/>
          <p:cNvSpPr/>
          <p:nvPr/>
        </p:nvSpPr>
        <p:spPr>
          <a:xfrm>
            <a:off x="2843880" y="2761905"/>
            <a:ext cx="870101" cy="341160"/>
          </a:xfrm>
          <a:prstGeom prst="wedgeRectCallout">
            <a:avLst>
              <a:gd name="adj1" fmla="val -39089"/>
              <a:gd name="adj2" fmla="val -8454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兵马俑</a:t>
            </a:r>
          </a:p>
        </p:txBody>
      </p:sp>
      <p:sp>
        <p:nvSpPr>
          <p:cNvPr id="13" name="圆角矩形 12"/>
          <p:cNvSpPr/>
          <p:nvPr/>
        </p:nvSpPr>
        <p:spPr>
          <a:xfrm>
            <a:off x="5115021" y="3795375"/>
            <a:ext cx="141913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标注 15"/>
          <p:cNvSpPr/>
          <p:nvPr/>
        </p:nvSpPr>
        <p:spPr>
          <a:xfrm>
            <a:off x="3847788" y="2801350"/>
            <a:ext cx="4981475" cy="630265"/>
          </a:xfrm>
          <a:prstGeom prst="wedgeRectCallout">
            <a:avLst>
              <a:gd name="adj1" fmla="val -10029"/>
              <a:gd name="adj2" fmla="val 9980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平克</a:t>
            </a:r>
            <a:r>
              <a:rPr lang="en-US" altLang="zh-CN" dirty="0">
                <a:solidFill>
                  <a:srgbClr val="D2553C"/>
                </a:solidFill>
              </a:rPr>
              <a:t>·</a:t>
            </a:r>
            <a:r>
              <a:rPr lang="zh-CN" altLang="en-US" dirty="0">
                <a:solidFill>
                  <a:srgbClr val="D2553C"/>
                </a:solidFill>
              </a:rPr>
              <a:t>弗洛伊德（英国摇滚乐队，成立于</a:t>
            </a:r>
            <a:r>
              <a:rPr lang="en-US" altLang="zh-CN" dirty="0">
                <a:solidFill>
                  <a:srgbClr val="D2553C"/>
                </a:solidFill>
              </a:rPr>
              <a:t>1965</a:t>
            </a:r>
            <a:r>
              <a:rPr lang="zh-CN" altLang="en-US" dirty="0">
                <a:solidFill>
                  <a:srgbClr val="D2553C"/>
                </a:solidFill>
              </a:rPr>
              <a:t>年，曾经发行专辑“</a:t>
            </a:r>
            <a:r>
              <a:rPr lang="en-US" altLang="zh-CN" dirty="0">
                <a:solidFill>
                  <a:srgbClr val="D2553C"/>
                </a:solidFill>
              </a:rPr>
              <a:t>The Dark Side of the Moon”</a:t>
            </a:r>
            <a:r>
              <a:rPr lang="zh-CN" altLang="en-US" dirty="0">
                <a:solidFill>
                  <a:srgbClr val="D2553C"/>
                </a:solidFill>
              </a:rPr>
              <a:t>）</a:t>
            </a:r>
          </a:p>
        </p:txBody>
      </p:sp>
      <p:sp>
        <p:nvSpPr>
          <p:cNvPr id="17" name="圆角矩形 16"/>
          <p:cNvSpPr/>
          <p:nvPr/>
        </p:nvSpPr>
        <p:spPr>
          <a:xfrm>
            <a:off x="2712571" y="4528125"/>
            <a:ext cx="129428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标注 17"/>
          <p:cNvSpPr/>
          <p:nvPr/>
        </p:nvSpPr>
        <p:spPr>
          <a:xfrm>
            <a:off x="3215760" y="4999682"/>
            <a:ext cx="1098700" cy="341160"/>
          </a:xfrm>
          <a:prstGeom prst="wedgeRectCallout">
            <a:avLst>
              <a:gd name="adj1" fmla="val -39089"/>
              <a:gd name="adj2" fmla="val -8454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嫦娥四号</a:t>
            </a:r>
          </a:p>
        </p:txBody>
      </p:sp>
      <p:sp>
        <p:nvSpPr>
          <p:cNvPr id="19" name="圆角矩形 18"/>
          <p:cNvSpPr/>
          <p:nvPr/>
        </p:nvSpPr>
        <p:spPr>
          <a:xfrm>
            <a:off x="4761730" y="5967897"/>
            <a:ext cx="140285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标注 19"/>
          <p:cNvSpPr/>
          <p:nvPr/>
        </p:nvSpPr>
        <p:spPr>
          <a:xfrm>
            <a:off x="5408236" y="5448788"/>
            <a:ext cx="1098700" cy="341160"/>
          </a:xfrm>
          <a:prstGeom prst="wedgeRectCallout">
            <a:avLst>
              <a:gd name="adj1" fmla="val -41170"/>
              <a:gd name="adj2" fmla="val 89676"/>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天问一号</a:t>
            </a:r>
          </a:p>
        </p:txBody>
      </p:sp>
      <p:pic>
        <p:nvPicPr>
          <p:cNvPr id="2" name="Text A_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cstate="print">
            <a:extLst>
              <a:ext uri="{28A0092B-C50C-407E-A947-70E740481C1C}">
                <a14:useLocalDpi xmlns:a14="http://schemas.microsoft.com/office/drawing/2010/main" val="0"/>
              </a:ext>
            </a:extLst>
          </a:blip>
          <a:stretch>
            <a:fillRect/>
          </a:stretch>
        </p:blipFill>
        <p:spPr>
          <a:xfrm>
            <a:off x="170737" y="3429000"/>
            <a:ext cx="288000" cy="285120"/>
          </a:xfrm>
          <a:prstGeom prst="rect">
            <a:avLst/>
          </a:prstGeom>
        </p:spPr>
      </p:pic>
      <p:sp>
        <p:nvSpPr>
          <p:cNvPr id="22" name="矩形 21">
            <a:hlinkClick r:id="rId10" action="ppaction://hlinksldjump"/>
          </p:cNvPr>
          <p:cNvSpPr/>
          <p:nvPr/>
        </p:nvSpPr>
        <p:spPr>
          <a:xfrm>
            <a:off x="7236479" y="2303811"/>
            <a:ext cx="791761"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hlinkClick r:id="rId11" action="ppaction://hlinksldjump"/>
          </p:cNvPr>
          <p:cNvSpPr/>
          <p:nvPr/>
        </p:nvSpPr>
        <p:spPr>
          <a:xfrm>
            <a:off x="2407087" y="5229125"/>
            <a:ext cx="579001"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hlinkClick r:id="rId8" action="ppaction://hlinksldjump"/>
          </p:cNvPr>
          <p:cNvSpPr/>
          <p:nvPr/>
        </p:nvSpPr>
        <p:spPr>
          <a:xfrm>
            <a:off x="875659" y="4144100"/>
            <a:ext cx="7934966"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hlinkClick r:id="rId8" action="ppaction://hlinksldjump"/>
          </p:cNvPr>
          <p:cNvSpPr/>
          <p:nvPr/>
        </p:nvSpPr>
        <p:spPr>
          <a:xfrm>
            <a:off x="867024" y="4518219"/>
            <a:ext cx="1328811"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98808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0"/>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9"/>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childTnLst>
              </p:cTn>
              <p:nextCondLst>
                <p:cond evt="onClick" delay="0">
                  <p:tgtEl>
                    <p:spTgt spid="19"/>
                  </p:tgtEl>
                </p:cond>
              </p:nextCondLst>
            </p:seq>
            <p:seq concurrent="1" nextAc="seek">
              <p:cTn id="22" restart="whenNotActive" fill="hold" evtFilter="cancelBubble" nodeType="interactiveSeq">
                <p:stCondLst>
                  <p:cond evt="onClick" delay="0">
                    <p:tgtEl>
                      <p:spTgt spid="2"/>
                    </p:tgtEl>
                  </p:cond>
                </p:stCondLst>
                <p:endSync evt="end" delay="0">
                  <p:rtn val="all"/>
                </p:endSync>
                <p:childTnLst>
                  <p:par>
                    <p:cTn id="23" fill="hold">
                      <p:stCondLst>
                        <p:cond delay="0"/>
                      </p:stCondLst>
                      <p:childTnLst>
                        <p:par>
                          <p:cTn id="24" fill="hold">
                            <p:stCondLst>
                              <p:cond delay="0"/>
                            </p:stCondLst>
                            <p:childTnLst>
                              <p:par>
                                <p:cTn id="25" presetID="1" presetClass="mediacall" presetSubtype="0" fill="hold" nodeType="clickEffect">
                                  <p:stCondLst>
                                    <p:cond delay="0"/>
                                  </p:stCondLst>
                                  <p:childTnLst>
                                    <p:cmd type="call" cmd="playFrom(0.0)">
                                      <p:cBhvr>
                                        <p:cTn id="26" dur="1" fill="hold"/>
                                        <p:tgtEl>
                                          <p:spTgt spid="2"/>
                                        </p:tgtEl>
                                      </p:cBhvr>
                                    </p:cmd>
                                  </p:childTnLst>
                                </p:cTn>
                              </p:par>
                            </p:childTnLst>
                          </p:cTn>
                        </p:par>
                      </p:childTnLst>
                    </p:cTn>
                  </p:par>
                </p:childTnLst>
              </p:cTn>
              <p:nextCondLst>
                <p:cond evt="onClick" delay="0">
                  <p:tgtEl>
                    <p:spTgt spid="2"/>
                  </p:tgtEl>
                </p:cond>
              </p:nextCondLst>
            </p:seq>
            <p:audio>
              <p:cMediaNode vol="80000" numSld="2">
                <p:cTn id="27" fill="hold" display="0">
                  <p:stCondLst>
                    <p:cond delay="indefinite"/>
                  </p:stCondLst>
                  <p:endCondLst>
                    <p:cond evt="onStopAudio" delay="0">
                      <p:tgtEl>
                        <p:sldTgt/>
                      </p:tgtEl>
                    </p:cond>
                  </p:endCondLst>
                </p:cTn>
                <p:tgtEl>
                  <p:spTgt spid="2"/>
                </p:tgtEl>
              </p:cMediaNode>
            </p:audio>
          </p:childTnLst>
        </p:cTn>
      </p:par>
    </p:tnLst>
    <p:bldLst>
      <p:bldP spid="11" grpId="0" animBg="1"/>
      <p:bldP spid="16" grpId="0" animBg="1"/>
      <p:bldP spid="18"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262979"/>
          </a:xfrm>
          <a:prstGeom prst="rect">
            <a:avLst/>
          </a:prstGeom>
          <a:noFill/>
        </p:spPr>
        <p:txBody>
          <a:bodyPr wrap="square" rtlCol="0">
            <a:spAutoFit/>
          </a:bodyPr>
          <a:lstStyle/>
          <a:p>
            <a:pPr algn="just"/>
            <a:r>
              <a:rPr lang="en-US" altLang="zh-CN" sz="2400" spc="-10" dirty="0"/>
              <a:t>another great success, aiming to study the Martian environment</a:t>
            </a:r>
            <a:r>
              <a:rPr lang="en-US" altLang="zh-CN" sz="2400" dirty="0"/>
              <a:t> and search for signs of water and life.</a:t>
            </a:r>
          </a:p>
          <a:p>
            <a:pPr algn="just"/>
            <a:r>
              <a:rPr lang="en-US" altLang="zh-CN" sz="2400" b="1" dirty="0">
                <a:solidFill>
                  <a:srgbClr val="C6383E"/>
                </a:solidFill>
              </a:rPr>
              <a:t>5</a:t>
            </a:r>
            <a:r>
              <a:rPr lang="en-US" altLang="zh-CN" sz="2400" dirty="0"/>
              <a:t>     </a:t>
            </a:r>
            <a:r>
              <a:rPr lang="en-US" altLang="zh-CN" sz="2400" spc="-10" dirty="0"/>
              <a:t>In addition to the lunar and Mars missions, China completed</a:t>
            </a:r>
            <a:r>
              <a:rPr lang="en-US" altLang="zh-CN" sz="2400" dirty="0"/>
              <a:t> </a:t>
            </a:r>
            <a:r>
              <a:rPr lang="en-US" altLang="zh-CN" sz="2400" spc="-20" dirty="0"/>
              <a:t>the </a:t>
            </a:r>
            <a:r>
              <a:rPr lang="en-US" altLang="zh-CN" sz="2400" i="1" spc="-20" dirty="0" err="1">
                <a:solidFill>
                  <a:srgbClr val="C00000"/>
                </a:solidFill>
              </a:rPr>
              <a:t>Tiangong</a:t>
            </a:r>
            <a:r>
              <a:rPr lang="en-US" altLang="zh-CN" sz="2400" i="1" spc="-20" dirty="0"/>
              <a:t> </a:t>
            </a:r>
            <a:r>
              <a:rPr lang="en-US" altLang="zh-CN" sz="2400" spc="-20" dirty="0"/>
              <a:t>space station at the end of 2022. The station serves</a:t>
            </a:r>
            <a:r>
              <a:rPr lang="en-US" altLang="zh-CN" sz="2400" dirty="0"/>
              <a:t> </a:t>
            </a:r>
            <a:r>
              <a:rPr lang="en-US" altLang="zh-CN" sz="2400" spc="-30" dirty="0"/>
              <a:t>as a platform for scientific research and technology development</a:t>
            </a:r>
            <a:r>
              <a:rPr lang="en-US" altLang="zh-CN" sz="2400" dirty="0"/>
              <a:t>, as well as a training ground for astronauts.</a:t>
            </a:r>
          </a:p>
          <a:p>
            <a:pPr algn="just"/>
            <a:r>
              <a:rPr lang="en-US" altLang="zh-CN" sz="2400" b="1" dirty="0">
                <a:solidFill>
                  <a:srgbClr val="C6383E"/>
                </a:solidFill>
              </a:rPr>
              <a:t>6</a:t>
            </a:r>
            <a:r>
              <a:rPr lang="en-US" altLang="zh-CN" sz="2400" dirty="0"/>
              <a:t>     </a:t>
            </a:r>
            <a:r>
              <a:rPr lang="en-US" altLang="zh-CN" sz="2400" spc="-50" dirty="0"/>
              <a:t>If you’re interested in learning more about China’s explorations</a:t>
            </a:r>
            <a:r>
              <a:rPr lang="en-US" altLang="zh-CN" sz="2400" dirty="0"/>
              <a:t> </a:t>
            </a:r>
            <a:r>
              <a:rPr lang="en-US" altLang="zh-CN" sz="2400" spc="-20" dirty="0"/>
              <a:t>to </a:t>
            </a:r>
            <a:r>
              <a:rPr lang="en-US" altLang="zh-CN" sz="2400" spc="-20" dirty="0">
                <a:solidFill>
                  <a:srgbClr val="C00000"/>
                </a:solidFill>
              </a:rPr>
              <a:t>infinity</a:t>
            </a:r>
            <a:r>
              <a:rPr lang="en-US" altLang="zh-CN" sz="2400" spc="-20" dirty="0"/>
              <a:t> and beyond, you can visit the </a:t>
            </a:r>
            <a:r>
              <a:rPr lang="en-US" altLang="zh-CN" sz="2400" spc="-20" dirty="0">
                <a:solidFill>
                  <a:srgbClr val="C00000"/>
                </a:solidFill>
              </a:rPr>
              <a:t>China Aerospace Science</a:t>
            </a:r>
            <a:r>
              <a:rPr lang="en-US" altLang="zh-CN" sz="2400" dirty="0"/>
              <a:t> </a:t>
            </a:r>
            <a:r>
              <a:rPr lang="en-US" altLang="zh-CN" sz="2400" spc="-20" dirty="0">
                <a:solidFill>
                  <a:srgbClr val="C00000"/>
                </a:solidFill>
              </a:rPr>
              <a:t>and Technology Corporation </a:t>
            </a:r>
            <a:r>
              <a:rPr lang="en-US" altLang="zh-CN" sz="2400" spc="-20" dirty="0"/>
              <a:t>headquarters in Beijing or the </a:t>
            </a:r>
            <a:r>
              <a:rPr lang="en-US" altLang="zh-CN" sz="2400" spc="-20" dirty="0">
                <a:solidFill>
                  <a:srgbClr val="C00000"/>
                </a:solidFill>
              </a:rPr>
              <a:t>China</a:t>
            </a:r>
            <a:r>
              <a:rPr lang="en-US" altLang="zh-CN" sz="2400" dirty="0">
                <a:solidFill>
                  <a:srgbClr val="C00000"/>
                </a:solidFill>
              </a:rPr>
              <a:t> Space Museum</a:t>
            </a:r>
            <a:r>
              <a:rPr lang="en-US" altLang="zh-CN" sz="2400" dirty="0"/>
              <a:t>, which features exhibits on China’s space history and future plans.</a:t>
            </a:r>
          </a:p>
          <a:p>
            <a:pPr algn="just"/>
            <a:r>
              <a:rPr lang="en-US" altLang="zh-CN" sz="2400" b="1" dirty="0"/>
              <a:t>The Silk Road is back in action.</a:t>
            </a:r>
          </a:p>
          <a:p>
            <a:pPr algn="just"/>
            <a:r>
              <a:rPr lang="en-US" altLang="zh-CN" sz="2400" b="1" dirty="0">
                <a:solidFill>
                  <a:srgbClr val="C6383E"/>
                </a:solidFill>
              </a:rPr>
              <a:t>7</a:t>
            </a:r>
            <a:r>
              <a:rPr lang="en-US" altLang="zh-CN" sz="2400" dirty="0"/>
              <a:t>     </a:t>
            </a:r>
            <a:r>
              <a:rPr lang="en-US" altLang="zh-CN" sz="2400" spc="-20" dirty="0"/>
              <a:t>This billion-upon-billion-dollar investment will create modern</a:t>
            </a:r>
            <a:r>
              <a:rPr lang="en-US" altLang="zh-CN" sz="2400" dirty="0"/>
              <a:t> </a:t>
            </a:r>
            <a:r>
              <a:rPr lang="en-US" altLang="zh-CN" sz="2400" spc="-60" dirty="0"/>
              <a:t>infrastructures in areas less </a:t>
            </a:r>
            <a:r>
              <a:rPr lang="en-US" altLang="zh-CN" sz="2400" spc="-60" dirty="0">
                <a:solidFill>
                  <a:srgbClr val="C00000"/>
                </a:solidFill>
              </a:rPr>
              <a:t>trodden</a:t>
            </a:r>
            <a:r>
              <a:rPr lang="en-US" altLang="zh-CN" sz="2400" spc="-60" dirty="0"/>
              <a:t> and open up vast opportunities</a:t>
            </a:r>
            <a:r>
              <a:rPr lang="en-US" altLang="zh-CN" sz="2400" dirty="0"/>
              <a:t> </a:t>
            </a:r>
          </a:p>
        </p:txBody>
      </p:sp>
      <p:pic>
        <p:nvPicPr>
          <p:cNvPr id="9" name="图片 8">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1958440"/>
            <a:ext cx="268800" cy="288000"/>
          </a:xfrm>
          <a:prstGeom prst="rect">
            <a:avLst/>
          </a:prstGeom>
        </p:spPr>
      </p:pic>
      <p:pic>
        <p:nvPicPr>
          <p:cNvPr id="14" name="Picture 3" descr="C:\Users\senj\Desktop\按钮.png">
            <a:hlinkClick r:id="" action="ppaction://hlinkshowjump?jump=next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8" name="圆角矩形 7"/>
          <p:cNvSpPr/>
          <p:nvPr/>
        </p:nvSpPr>
        <p:spPr>
          <a:xfrm>
            <a:off x="1323522" y="2344162"/>
            <a:ext cx="1229178"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855446" y="4159957"/>
            <a:ext cx="7971054" cy="696441"/>
            <a:chOff x="855446" y="4159957"/>
            <a:chExt cx="7971054" cy="696441"/>
          </a:xfrm>
        </p:grpSpPr>
        <p:sp>
          <p:nvSpPr>
            <p:cNvPr id="16" name="圆角矩形 15"/>
            <p:cNvSpPr/>
            <p:nvPr/>
          </p:nvSpPr>
          <p:spPr>
            <a:xfrm>
              <a:off x="855446" y="4528095"/>
              <a:ext cx="1942952"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圆角矩形 17"/>
            <p:cNvSpPr/>
            <p:nvPr/>
          </p:nvSpPr>
          <p:spPr>
            <a:xfrm>
              <a:off x="8083550" y="4159957"/>
              <a:ext cx="74295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hlinkClick r:id="rId12"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3428135"/>
            <a:ext cx="268800" cy="288000"/>
          </a:xfrm>
          <a:prstGeom prst="rect">
            <a:avLst/>
          </a:prstGeom>
        </p:spPr>
      </p:pic>
      <p:pic>
        <p:nvPicPr>
          <p:cNvPr id="20" name="图片 19">
            <a:hlinkClick r:id="rId13"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32148" y="5313396"/>
            <a:ext cx="268800" cy="288000"/>
          </a:xfrm>
          <a:prstGeom prst="rect">
            <a:avLst/>
          </a:prstGeom>
        </p:spPr>
      </p:pic>
      <p:pic>
        <p:nvPicPr>
          <p:cNvPr id="3" name="Text A_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cstate="print">
            <a:extLst>
              <a:ext uri="{28A0092B-C50C-407E-A947-70E740481C1C}">
                <a14:useLocalDpi xmlns:a14="http://schemas.microsoft.com/office/drawing/2010/main" val="0"/>
              </a:ext>
            </a:extLst>
          </a:blip>
          <a:stretch>
            <a:fillRect/>
          </a:stretch>
        </p:blipFill>
        <p:spPr>
          <a:xfrm>
            <a:off x="173345" y="1961320"/>
            <a:ext cx="288000" cy="285120"/>
          </a:xfrm>
          <a:prstGeom prst="rect">
            <a:avLst/>
          </a:prstGeom>
        </p:spPr>
      </p:pic>
      <p:pic>
        <p:nvPicPr>
          <p:cNvPr id="4" name="Text A_6">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cstate="print">
            <a:extLst>
              <a:ext uri="{28A0092B-C50C-407E-A947-70E740481C1C}">
                <a14:useLocalDpi xmlns:a14="http://schemas.microsoft.com/office/drawing/2010/main" val="0"/>
              </a:ext>
            </a:extLst>
          </a:blip>
          <a:stretch>
            <a:fillRect/>
          </a:stretch>
        </p:blipFill>
        <p:spPr>
          <a:xfrm>
            <a:off x="173345" y="3428135"/>
            <a:ext cx="288000" cy="285120"/>
          </a:xfrm>
          <a:prstGeom prst="rect">
            <a:avLst/>
          </a:prstGeom>
        </p:spPr>
      </p:pic>
      <p:pic>
        <p:nvPicPr>
          <p:cNvPr id="5" name="Text A_7">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cstate="print">
            <a:extLst>
              <a:ext uri="{28A0092B-C50C-407E-A947-70E740481C1C}">
                <a14:useLocalDpi xmlns:a14="http://schemas.microsoft.com/office/drawing/2010/main" val="0"/>
              </a:ext>
            </a:extLst>
          </a:blip>
          <a:stretch>
            <a:fillRect/>
          </a:stretch>
        </p:blipFill>
        <p:spPr>
          <a:xfrm>
            <a:off x="172723" y="5313396"/>
            <a:ext cx="288000" cy="285120"/>
          </a:xfrm>
          <a:prstGeom prst="rect">
            <a:avLst/>
          </a:prstGeom>
        </p:spPr>
      </p:pic>
      <p:sp>
        <p:nvSpPr>
          <p:cNvPr id="22" name="矩形 21">
            <a:hlinkClick r:id="rId15" action="ppaction://hlinksldjump"/>
          </p:cNvPr>
          <p:cNvSpPr/>
          <p:nvPr/>
        </p:nvSpPr>
        <p:spPr>
          <a:xfrm>
            <a:off x="1206252" y="3787868"/>
            <a:ext cx="862991"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hlinkClick r:id="rId16" action="ppaction://hlinksldjump"/>
          </p:cNvPr>
          <p:cNvSpPr/>
          <p:nvPr/>
        </p:nvSpPr>
        <p:spPr>
          <a:xfrm>
            <a:off x="4072728" y="5968128"/>
            <a:ext cx="98981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标注 9"/>
          <p:cNvSpPr/>
          <p:nvPr/>
        </p:nvSpPr>
        <p:spPr>
          <a:xfrm>
            <a:off x="1826711" y="2815719"/>
            <a:ext cx="640264" cy="341160"/>
          </a:xfrm>
          <a:prstGeom prst="wedgeRectCallout">
            <a:avLst>
              <a:gd name="adj1" fmla="val -39089"/>
              <a:gd name="adj2" fmla="val -8454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天宫</a:t>
            </a:r>
          </a:p>
        </p:txBody>
      </p:sp>
      <p:sp>
        <p:nvSpPr>
          <p:cNvPr id="13" name="矩形标注 12"/>
          <p:cNvSpPr/>
          <p:nvPr/>
        </p:nvSpPr>
        <p:spPr>
          <a:xfrm>
            <a:off x="4747760" y="4286710"/>
            <a:ext cx="2949752" cy="341160"/>
          </a:xfrm>
          <a:prstGeom prst="wedgeRectCallout">
            <a:avLst>
              <a:gd name="adj1" fmla="val 38194"/>
              <a:gd name="adj2" fmla="val -9198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中国航天科技集团有限公司</a:t>
            </a:r>
          </a:p>
        </p:txBody>
      </p:sp>
      <p:sp>
        <p:nvSpPr>
          <p:cNvPr id="17" name="矩形标注 16"/>
          <p:cNvSpPr/>
          <p:nvPr/>
        </p:nvSpPr>
        <p:spPr>
          <a:xfrm>
            <a:off x="1077824" y="5116236"/>
            <a:ext cx="1789201" cy="341160"/>
          </a:xfrm>
          <a:prstGeom prst="wedgeRectCallout">
            <a:avLst>
              <a:gd name="adj1" fmla="val -34670"/>
              <a:gd name="adj2" fmla="val -105803"/>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中国航天博物馆</a:t>
            </a:r>
          </a:p>
        </p:txBody>
      </p:sp>
      <p:grpSp>
        <p:nvGrpSpPr>
          <p:cNvPr id="12" name="组合 11">
            <a:extLst>
              <a:ext uri="{FF2B5EF4-FFF2-40B4-BE49-F238E27FC236}">
                <a16:creationId xmlns:a16="http://schemas.microsoft.com/office/drawing/2014/main" id="{B1E6057B-5E1B-290B-F956-915BF6001CB6}"/>
              </a:ext>
            </a:extLst>
          </p:cNvPr>
          <p:cNvGrpSpPr/>
          <p:nvPr/>
        </p:nvGrpSpPr>
        <p:grpSpPr>
          <a:xfrm>
            <a:off x="855446" y="3781405"/>
            <a:ext cx="7971054" cy="706494"/>
            <a:chOff x="855446" y="3781405"/>
            <a:chExt cx="7971054" cy="706494"/>
          </a:xfrm>
        </p:grpSpPr>
        <p:sp>
          <p:nvSpPr>
            <p:cNvPr id="11" name="圆角矩形 10"/>
            <p:cNvSpPr/>
            <p:nvPr/>
          </p:nvSpPr>
          <p:spPr>
            <a:xfrm>
              <a:off x="5754560" y="3781405"/>
              <a:ext cx="307194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圆角矩形 10">
              <a:extLst>
                <a:ext uri="{FF2B5EF4-FFF2-40B4-BE49-F238E27FC236}">
                  <a16:creationId xmlns:a16="http://schemas.microsoft.com/office/drawing/2014/main" id="{40DEC981-7417-C645-3E17-F337FCDB5A94}"/>
                </a:ext>
              </a:extLst>
            </p:cNvPr>
            <p:cNvSpPr/>
            <p:nvPr/>
          </p:nvSpPr>
          <p:spPr>
            <a:xfrm>
              <a:off x="855446" y="4159596"/>
              <a:ext cx="3507548"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41578187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8"/>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2"/>
                  </p:tgtEl>
                </p:cond>
              </p:nextCondLst>
            </p:seq>
            <p:seq concurrent="1" nextAc="seek">
              <p:cTn id="12" restart="whenNotActive" fill="hold" evtFilter="cancelBubble" nodeType="interactiveSeq">
                <p:stCondLst>
                  <p:cond evt="onClick" delay="0">
                    <p:tgtEl>
                      <p:spTgt spid="3"/>
                    </p:tgtEl>
                  </p:cond>
                </p:stCondLst>
                <p:endSync evt="end" delay="0">
                  <p:rtn val="all"/>
                </p:endSync>
                <p:childTnLst>
                  <p:par>
                    <p:cTn id="13" fill="hold">
                      <p:stCondLst>
                        <p:cond delay="0"/>
                      </p:stCondLst>
                      <p:childTnLst>
                        <p:par>
                          <p:cTn id="14" fill="hold">
                            <p:stCondLst>
                              <p:cond delay="0"/>
                            </p:stCondLst>
                            <p:childTnLst>
                              <p:par>
                                <p:cTn id="15" presetID="1" presetClass="mediacall" presetSubtype="0" fill="hold" nodeType="clickEffect">
                                  <p:stCondLst>
                                    <p:cond delay="0"/>
                                  </p:stCondLst>
                                  <p:childTnLst>
                                    <p:cmd type="call" cmd="playFrom(0.0)">
                                      <p:cBhvr>
                                        <p:cTn id="16" dur="19644" fill="hold"/>
                                        <p:tgtEl>
                                          <p:spTgt spid="3"/>
                                        </p:tgtEl>
                                      </p:cBhvr>
                                    </p:cmd>
                                  </p:childTnLst>
                                </p:cTn>
                              </p:par>
                            </p:childTnLst>
                          </p:cTn>
                        </p:par>
                      </p:childTnLst>
                    </p:cTn>
                  </p:par>
                </p:childTnLst>
              </p:cTn>
              <p:nextCondLst>
                <p:cond evt="onClick" delay="0">
                  <p:tgtEl>
                    <p:spTgt spid="3"/>
                  </p:tgtEl>
                </p:cond>
              </p:nextCondLst>
            </p:seq>
            <p:audio>
              <p:cMediaNode vol="80000">
                <p:cTn id="17" fill="hold" display="0">
                  <p:stCondLst>
                    <p:cond delay="indefinite"/>
                  </p:stCondLst>
                  <p:endCondLst>
                    <p:cond evt="onStopAudio" delay="0">
                      <p:tgtEl>
                        <p:sldTgt/>
                      </p:tgtEl>
                    </p:cond>
                  </p:endCondLst>
                </p:cTn>
                <p:tgtEl>
                  <p:spTgt spid="3"/>
                </p:tgtEl>
              </p:cMediaNode>
            </p:audio>
            <p:seq concurrent="1" nextAc="seek">
              <p:cTn id="18" restart="whenNotActive" fill="hold" evtFilter="cancelBubble" nodeType="interactiveSeq">
                <p:stCondLst>
                  <p:cond evt="onClick" delay="0">
                    <p:tgtEl>
                      <p:spTgt spid="4"/>
                    </p:tgtEl>
                  </p:cond>
                </p:stCondLst>
                <p:endSync evt="end" delay="0">
                  <p:rtn val="all"/>
                </p:endSync>
                <p:childTnLst>
                  <p:par>
                    <p:cTn id="19" fill="hold">
                      <p:stCondLst>
                        <p:cond delay="0"/>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9774" fill="hold"/>
                                        <p:tgtEl>
                                          <p:spTgt spid="4"/>
                                        </p:tgtEl>
                                      </p:cBhvr>
                                    </p:cmd>
                                  </p:childTnLst>
                                </p:cTn>
                              </p:par>
                            </p:childTnLst>
                          </p:cTn>
                        </p:par>
                      </p:childTnLst>
                    </p:cTn>
                  </p:par>
                </p:childTnLst>
              </p:cTn>
              <p:nextCondLst>
                <p:cond evt="onClick" delay="0">
                  <p:tgtEl>
                    <p:spTgt spid="4"/>
                  </p:tgtEl>
                </p:cond>
              </p:nextCondLst>
            </p:seq>
            <p:audio>
              <p:cMediaNode vol="80000">
                <p:cTn id="23" fill="hold" display="0">
                  <p:stCondLst>
                    <p:cond delay="indefinite"/>
                  </p:stCondLst>
                  <p:endCondLst>
                    <p:cond evt="onStopAudio" delay="0">
                      <p:tgtEl>
                        <p:sldTgt/>
                      </p:tgtEl>
                    </p:cond>
                  </p:endCondLst>
                </p:cTn>
                <p:tgtEl>
                  <p:spTgt spid="4"/>
                </p:tgtEl>
              </p:cMediaNode>
            </p:audio>
            <p:seq concurrent="1" nextAc="seek">
              <p:cTn id="24" restart="whenNotActive" fill="hold" evtFilter="cancelBubble" nodeType="interactiveSeq">
                <p:stCondLst>
                  <p:cond evt="onClick" delay="0">
                    <p:tgtEl>
                      <p:spTgt spid="5"/>
                    </p:tgtEl>
                  </p:cond>
                </p:stCondLst>
                <p:endSync evt="end" delay="0">
                  <p:rtn val="all"/>
                </p:endSync>
                <p:childTnLst>
                  <p:par>
                    <p:cTn id="25" fill="hold">
                      <p:stCondLst>
                        <p:cond delay="0"/>
                      </p:stCondLst>
                      <p:childTnLst>
                        <p:par>
                          <p:cTn id="26" fill="hold">
                            <p:stCondLst>
                              <p:cond delay="0"/>
                            </p:stCondLst>
                            <p:childTnLst>
                              <p:par>
                                <p:cTn id="27" presetID="1" presetClass="mediacall" presetSubtype="0" fill="hold" nodeType="clickEffect">
                                  <p:stCondLst>
                                    <p:cond delay="0"/>
                                  </p:stCondLst>
                                  <p:childTnLst>
                                    <p:cmd type="call" cmd="playFrom(0.0)">
                                      <p:cBhvr>
                                        <p:cTn id="28" dur="1" fill="hold"/>
                                        <p:tgtEl>
                                          <p:spTgt spid="5"/>
                                        </p:tgtEl>
                                      </p:cBhvr>
                                    </p:cmd>
                                  </p:childTnLst>
                                </p:cTn>
                              </p:par>
                            </p:childTnLst>
                          </p:cTn>
                        </p:par>
                      </p:childTnLst>
                    </p:cTn>
                  </p:par>
                </p:childTnLst>
              </p:cTn>
              <p:nextCondLst>
                <p:cond evt="onClick" delay="0">
                  <p:tgtEl>
                    <p:spTgt spid="5"/>
                  </p:tgtEl>
                </p:cond>
              </p:nextCondLst>
            </p:seq>
            <p:audio>
              <p:cMediaNode vol="80000" numSld="2">
                <p:cTn id="29" fill="hold" display="0">
                  <p:stCondLst>
                    <p:cond delay="indefinite"/>
                  </p:stCondLst>
                  <p:endCondLst>
                    <p:cond evt="onStopAudio" delay="0">
                      <p:tgtEl>
                        <p:sldTgt/>
                      </p:tgtEl>
                    </p:cond>
                  </p:endCondLst>
                </p:cTn>
                <p:tgtEl>
                  <p:spTgt spid="5"/>
                </p:tgtEl>
              </p:cMediaNode>
            </p:audio>
            <p:seq concurrent="1" nextAc="seek">
              <p:cTn id="30" restart="whenNotActive" fill="hold" evtFilter="cancelBubble" nodeType="interactiveSeq">
                <p:stCondLst>
                  <p:cond evt="onClick" delay="0">
                    <p:tgtEl>
                      <p:spTgt spid="12"/>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10" grpId="0" animBg="1"/>
      <p:bldP spid="13" grpId="0" animBg="1"/>
      <p:bldP spid="1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632311"/>
          </a:xfrm>
          <a:prstGeom prst="rect">
            <a:avLst/>
          </a:prstGeom>
          <a:noFill/>
        </p:spPr>
        <p:txBody>
          <a:bodyPr wrap="square" rtlCol="0">
            <a:spAutoFit/>
          </a:bodyPr>
          <a:lstStyle/>
          <a:p>
            <a:pPr algn="just"/>
            <a:r>
              <a:rPr lang="en-US" altLang="zh-CN" sz="2400" spc="90" dirty="0"/>
              <a:t>to walk in the footsteps of those who risked their lives and</a:t>
            </a:r>
            <a:r>
              <a:rPr lang="en-US" altLang="zh-CN" sz="2400" dirty="0"/>
              <a:t> </a:t>
            </a:r>
            <a:r>
              <a:rPr lang="en-US" altLang="zh-CN" sz="2400" spc="10" dirty="0"/>
              <a:t>adventured the trails to find new and exciting places and riches</a:t>
            </a:r>
            <a:r>
              <a:rPr lang="en-US" altLang="zh-CN" sz="2400" dirty="0"/>
              <a:t> </a:t>
            </a:r>
            <a:r>
              <a:rPr lang="en-US" altLang="zh-CN" sz="2400" spc="10" dirty="0"/>
              <a:t>along the way. With the Belt and Road </a:t>
            </a:r>
            <a:r>
              <a:rPr lang="en-US" altLang="zh-CN" sz="2400" spc="10" dirty="0">
                <a:solidFill>
                  <a:srgbClr val="C00000"/>
                </a:solidFill>
              </a:rPr>
              <a:t>Initiative</a:t>
            </a:r>
            <a:r>
              <a:rPr lang="en-US" altLang="zh-CN" sz="2400" spc="10" dirty="0"/>
              <a:t> well underway</a:t>
            </a:r>
            <a:r>
              <a:rPr lang="en-US" altLang="zh-CN" sz="2400" dirty="0"/>
              <a:t>, </a:t>
            </a:r>
            <a:r>
              <a:rPr lang="en-US" altLang="zh-CN" sz="2400" spc="30" dirty="0"/>
              <a:t>China is linking up the Silk Road and the Maritime Silk Road to</a:t>
            </a:r>
            <a:r>
              <a:rPr lang="en-US" altLang="zh-CN" sz="2400" dirty="0"/>
              <a:t> create connections with more than 100 countries along its path. </a:t>
            </a:r>
            <a:r>
              <a:rPr lang="en-US" altLang="zh-CN" sz="2400" spc="-10" dirty="0"/>
              <a:t>So, strap on your boots and get yourself out to the Belt and Road</a:t>
            </a:r>
            <a:r>
              <a:rPr lang="en-US" altLang="zh-CN" sz="2400" dirty="0"/>
              <a:t> and experience ancient wonders in a modern way.</a:t>
            </a:r>
          </a:p>
          <a:p>
            <a:pPr algn="just"/>
            <a:r>
              <a:rPr lang="en-US" altLang="zh-CN" sz="2400" b="1" dirty="0"/>
              <a:t>China’s gone bot-y.</a:t>
            </a:r>
          </a:p>
          <a:p>
            <a:pPr algn="just"/>
            <a:r>
              <a:rPr lang="en-US" altLang="zh-CN" sz="2400" b="1" dirty="0">
                <a:solidFill>
                  <a:srgbClr val="C6383E"/>
                </a:solidFill>
              </a:rPr>
              <a:t>8</a:t>
            </a:r>
            <a:r>
              <a:rPr lang="en-US" altLang="zh-CN" sz="2400" dirty="0"/>
              <a:t>     </a:t>
            </a:r>
            <a:r>
              <a:rPr lang="en-US" altLang="zh-CN" sz="2400" spc="40" dirty="0"/>
              <a:t>While </a:t>
            </a:r>
            <a:r>
              <a:rPr lang="en-US" altLang="zh-CN" sz="2400" spc="40" dirty="0">
                <a:solidFill>
                  <a:srgbClr val="C00000"/>
                </a:solidFill>
              </a:rPr>
              <a:t>Skynet</a:t>
            </a:r>
            <a:r>
              <a:rPr lang="en-US" altLang="zh-CN" sz="2400" spc="40" dirty="0"/>
              <a:t>’s takeover is probably a few millennia away</a:t>
            </a:r>
            <a:r>
              <a:rPr lang="en-US" altLang="zh-CN" sz="2400" dirty="0"/>
              <a:t>, </a:t>
            </a:r>
            <a:r>
              <a:rPr lang="en-US" altLang="zh-CN" sz="2400" spc="-40" dirty="0"/>
              <a:t>today many of China’s industries are going bot-y! Robots are doing </a:t>
            </a:r>
            <a:r>
              <a:rPr lang="en-US" altLang="zh-CN" sz="2400" spc="-20" dirty="0"/>
              <a:t>taxes, conducting </a:t>
            </a:r>
            <a:r>
              <a:rPr lang="en-US" altLang="zh-CN" sz="2400" spc="-20" dirty="0">
                <a:solidFill>
                  <a:srgbClr val="C00000"/>
                </a:solidFill>
              </a:rPr>
              <a:t>surgical</a:t>
            </a:r>
            <a:r>
              <a:rPr lang="en-US" altLang="zh-CN" sz="2400" spc="-20" dirty="0"/>
              <a:t> operations, taking over dangerous jobs </a:t>
            </a:r>
            <a:r>
              <a:rPr lang="en-US" altLang="zh-CN" sz="2400" spc="-10" dirty="0"/>
              <a:t>at ammunition plants, and are even made into cute little helpers </a:t>
            </a:r>
            <a:r>
              <a:rPr lang="en-US" altLang="zh-CN" sz="2400" spc="50" dirty="0"/>
              <a:t>rolling around banks’ waiting areas servicing and joking with customers. I mean, who wouldn’t want an authentic Chinese </a:t>
            </a:r>
            <a:r>
              <a:rPr lang="en-US" altLang="zh-CN" sz="2400" dirty="0"/>
              <a:t>dumpling made only by robots?</a:t>
            </a:r>
          </a:p>
        </p:txBody>
      </p:sp>
      <p:pic>
        <p:nvPicPr>
          <p:cNvPr id="9" name="图片 8">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3230" y="3785870"/>
            <a:ext cx="268800" cy="288000"/>
          </a:xfrm>
          <a:prstGeom prst="rect">
            <a:avLst/>
          </a:prstGeom>
        </p:spPr>
      </p:pic>
      <p:sp>
        <p:nvSpPr>
          <p:cNvPr id="8" name="圆角矩形 7"/>
          <p:cNvSpPr/>
          <p:nvPr/>
        </p:nvSpPr>
        <p:spPr>
          <a:xfrm>
            <a:off x="2205360" y="4143603"/>
            <a:ext cx="91884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descr="C:\Users\senj\Desktop\按钮.png">
            <a:hlinkClick r:id="" action="ppaction://hlinkshowjump?jump=next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a:off x="8364564" y="6438934"/>
            <a:ext cx="254793" cy="245255"/>
          </a:xfrm>
          <a:prstGeom prst="rect">
            <a:avLst/>
          </a:prstGeom>
          <a:noFill/>
        </p:spPr>
      </p:pic>
      <p:pic>
        <p:nvPicPr>
          <p:cNvPr id="2" name="Text A_8">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cstate="print">
            <a:extLst>
              <a:ext uri="{28A0092B-C50C-407E-A947-70E740481C1C}">
                <a14:useLocalDpi xmlns:a14="http://schemas.microsoft.com/office/drawing/2010/main" val="0"/>
              </a:ext>
            </a:extLst>
          </a:blip>
          <a:stretch>
            <a:fillRect/>
          </a:stretch>
        </p:blipFill>
        <p:spPr>
          <a:xfrm>
            <a:off x="168115" y="3785870"/>
            <a:ext cx="288000" cy="285120"/>
          </a:xfrm>
          <a:prstGeom prst="rect">
            <a:avLst/>
          </a:prstGeom>
        </p:spPr>
      </p:pic>
      <p:sp>
        <p:nvSpPr>
          <p:cNvPr id="13" name="矩形 12">
            <a:hlinkClick r:id="rId9" action="ppaction://hlinksldjump"/>
          </p:cNvPr>
          <p:cNvSpPr/>
          <p:nvPr/>
        </p:nvSpPr>
        <p:spPr>
          <a:xfrm>
            <a:off x="5742340" y="1937436"/>
            <a:ext cx="112836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hlinkClick r:id="rId10" action="ppaction://hlinksldjump"/>
          </p:cNvPr>
          <p:cNvSpPr/>
          <p:nvPr/>
        </p:nvSpPr>
        <p:spPr>
          <a:xfrm>
            <a:off x="3051865" y="4899242"/>
            <a:ext cx="95498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标注 9"/>
          <p:cNvSpPr/>
          <p:nvPr/>
        </p:nvSpPr>
        <p:spPr>
          <a:xfrm>
            <a:off x="2339845" y="4672019"/>
            <a:ext cx="2945492" cy="611693"/>
          </a:xfrm>
          <a:prstGeom prst="wedgeRectCallout">
            <a:avLst>
              <a:gd name="adj1" fmla="val -39089"/>
              <a:gd name="adj2" fmla="val -8454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天网（电影</a:t>
            </a:r>
            <a:r>
              <a:rPr lang="en-US" altLang="zh-CN" dirty="0">
                <a:solidFill>
                  <a:srgbClr val="D2553C"/>
                </a:solidFill>
              </a:rPr>
              <a:t>《</a:t>
            </a:r>
            <a:r>
              <a:rPr lang="zh-CN" altLang="en-US" dirty="0">
                <a:solidFill>
                  <a:srgbClr val="D2553C"/>
                </a:solidFill>
              </a:rPr>
              <a:t>终结者</a:t>
            </a:r>
            <a:r>
              <a:rPr lang="en-US" altLang="zh-CN" dirty="0">
                <a:solidFill>
                  <a:srgbClr val="D2553C"/>
                </a:solidFill>
              </a:rPr>
              <a:t>》</a:t>
            </a:r>
            <a:r>
              <a:rPr lang="zh-CN" altLang="en-US" dirty="0">
                <a:solidFill>
                  <a:srgbClr val="D2553C"/>
                </a:solidFill>
              </a:rPr>
              <a:t>中的具有意识的高智能电脑）</a:t>
            </a:r>
          </a:p>
        </p:txBody>
      </p:sp>
    </p:spTree>
    <p:extLst>
      <p:ext uri="{BB962C8B-B14F-4D97-AF65-F5344CB8AC3E}">
        <p14:creationId xmlns:p14="http://schemas.microsoft.com/office/powerpoint/2010/main" val="10976876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8"/>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34716"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cond evt="onNext" delay="0">
                      <p:tgtEl>
                        <p:sldTgt/>
                      </p:tgtEl>
                    </p:cond>
                  </p:endCondLst>
                </p:cTn>
                <p:tgtEl>
                  <p:spTgt spid="2"/>
                </p:tgtEl>
              </p:cMediaNode>
            </p:audio>
          </p:childTnLst>
        </p:cTn>
      </p:par>
    </p:tnLst>
    <p:bldLst>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262979"/>
          </a:xfrm>
          <a:prstGeom prst="rect">
            <a:avLst/>
          </a:prstGeom>
          <a:noFill/>
        </p:spPr>
        <p:txBody>
          <a:bodyPr wrap="square" rtlCol="0">
            <a:spAutoFit/>
          </a:bodyPr>
          <a:lstStyle/>
          <a:p>
            <a:pPr algn="just"/>
            <a:r>
              <a:rPr lang="en-US" altLang="zh-CN" sz="2400" b="1" dirty="0"/>
              <a:t>Poverty-free is not a dream any more.</a:t>
            </a:r>
            <a:endParaRPr lang="en-US" altLang="zh-CN" sz="2400" b="1" dirty="0">
              <a:solidFill>
                <a:srgbClr val="D2553C"/>
              </a:solidFill>
            </a:endParaRPr>
          </a:p>
          <a:p>
            <a:pPr algn="just"/>
            <a:r>
              <a:rPr lang="en-US" altLang="zh-CN" sz="2400" b="1" dirty="0">
                <a:solidFill>
                  <a:srgbClr val="C6383E"/>
                </a:solidFill>
              </a:rPr>
              <a:t>9</a:t>
            </a:r>
            <a:r>
              <a:rPr lang="en-US" altLang="zh-CN" sz="2400" dirty="0"/>
              <a:t>     </a:t>
            </a:r>
            <a:r>
              <a:rPr lang="en-US" altLang="zh-CN" sz="2400" spc="-20" dirty="0"/>
              <a:t>By the end of 2020, China had completed the goal of poverty</a:t>
            </a:r>
            <a:r>
              <a:rPr lang="en-US" altLang="zh-CN" sz="2400" dirty="0"/>
              <a:t> </a:t>
            </a:r>
            <a:r>
              <a:rPr lang="en-US" altLang="zh-CN" sz="2400" spc="-60" dirty="0">
                <a:solidFill>
                  <a:srgbClr val="C00000"/>
                </a:solidFill>
              </a:rPr>
              <a:t>alleviation</a:t>
            </a:r>
            <a:r>
              <a:rPr lang="en-US" altLang="zh-CN" sz="2400" spc="-60" dirty="0"/>
              <a:t> in the new era as scheduled. Under the current standard</a:t>
            </a:r>
            <a:r>
              <a:rPr lang="en-US" altLang="zh-CN" sz="2400" dirty="0"/>
              <a:t>, </a:t>
            </a:r>
            <a:r>
              <a:rPr lang="en-US" altLang="zh-CN" sz="2400" spc="-30" dirty="0"/>
              <a:t>98.99 million rural poor people have all been lifted out of poverty</a:t>
            </a:r>
            <a:r>
              <a:rPr lang="en-US" altLang="zh-CN" sz="2400" dirty="0"/>
              <a:t>; </a:t>
            </a:r>
            <a:r>
              <a:rPr lang="en-US" altLang="zh-CN" sz="2400" spc="-20" dirty="0"/>
              <a:t>832 impoverished counties and all 128,000 impoverished villages</a:t>
            </a:r>
            <a:r>
              <a:rPr lang="en-US" altLang="zh-CN" sz="2400" dirty="0"/>
              <a:t> have started their new lives.</a:t>
            </a:r>
          </a:p>
          <a:p>
            <a:pPr algn="just"/>
            <a:r>
              <a:rPr lang="en-US" altLang="zh-CN" sz="2400" b="1" dirty="0">
                <a:solidFill>
                  <a:srgbClr val="C6383E"/>
                </a:solidFill>
              </a:rPr>
              <a:t>10</a:t>
            </a:r>
            <a:r>
              <a:rPr lang="en-US" altLang="zh-CN" sz="2400" dirty="0"/>
              <a:t>   </a:t>
            </a:r>
            <a:r>
              <a:rPr lang="en-US" altLang="zh-CN" sz="2400" spc="20" dirty="0"/>
              <a:t>One major bonus for people living in small, less developed</a:t>
            </a:r>
            <a:r>
              <a:rPr lang="en-US" altLang="zh-CN" sz="2400" dirty="0"/>
              <a:t> </a:t>
            </a:r>
            <a:r>
              <a:rPr lang="en-US" altLang="zh-CN" sz="2400" spc="-40" dirty="0"/>
              <a:t>regions of China is that there is now a tourism infrastructure being</a:t>
            </a:r>
            <a:r>
              <a:rPr lang="en-US" altLang="zh-CN" sz="2400" dirty="0"/>
              <a:t> </a:t>
            </a:r>
            <a:r>
              <a:rPr lang="en-US" altLang="zh-CN" sz="2400" spc="20" dirty="0"/>
              <a:t>built around and invested in ancient towns, allowing people to</a:t>
            </a:r>
            <a:r>
              <a:rPr lang="en-US" altLang="zh-CN" sz="2400" dirty="0"/>
              <a:t> earn money as well as preserve their historical cultures. Visiting </a:t>
            </a:r>
            <a:r>
              <a:rPr lang="en-US" altLang="zh-CN" sz="2400" spc="40" dirty="0"/>
              <a:t>one of these ancient towns or villages should be at the top of</a:t>
            </a:r>
            <a:r>
              <a:rPr lang="en-US" altLang="zh-CN" sz="2400" dirty="0"/>
              <a:t> the list for any trip to China.</a:t>
            </a:r>
          </a:p>
          <a:p>
            <a:pPr algn="just"/>
            <a:r>
              <a:rPr lang="en-US" altLang="zh-CN" sz="2400" b="1" dirty="0"/>
              <a:t>New application of social media apps.</a:t>
            </a:r>
          </a:p>
          <a:p>
            <a:pPr algn="just"/>
            <a:r>
              <a:rPr lang="en-US" altLang="zh-CN" sz="2400" b="1" dirty="0">
                <a:solidFill>
                  <a:srgbClr val="C6383E"/>
                </a:solidFill>
              </a:rPr>
              <a:t>11</a:t>
            </a:r>
            <a:r>
              <a:rPr lang="en-US" altLang="zh-CN" sz="2400" dirty="0"/>
              <a:t>    </a:t>
            </a:r>
            <a:r>
              <a:rPr lang="en-US" altLang="zh-CN" sz="2400" spc="30" dirty="0"/>
              <a:t>In China there are about 900 million users who have their</a:t>
            </a:r>
            <a:r>
              <a:rPr lang="en-US" altLang="zh-CN" sz="2400" dirty="0"/>
              <a:t> </a:t>
            </a:r>
          </a:p>
        </p:txBody>
      </p:sp>
      <p:pic>
        <p:nvPicPr>
          <p:cNvPr id="9" name="图片 8">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1268850"/>
            <a:ext cx="268800" cy="288000"/>
          </a:xfrm>
          <a:prstGeom prst="rect">
            <a:avLst/>
          </a:prstGeom>
        </p:spPr>
      </p:pic>
      <p:pic>
        <p:nvPicPr>
          <p:cNvPr id="14" name="Picture 3" descr="C:\Users\senj\Desktop\按钮.png">
            <a:hlinkClick r:id="" action="ppaction://hlinkshowjump?jump=next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8" name="图片 7">
            <a:hlinkClick r:id="rId12"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3428135"/>
            <a:ext cx="268800" cy="288000"/>
          </a:xfrm>
          <a:prstGeom prst="rect">
            <a:avLst/>
          </a:prstGeom>
        </p:spPr>
      </p:pic>
      <p:pic>
        <p:nvPicPr>
          <p:cNvPr id="10" name="图片 9">
            <a:hlinkClick r:id="rId13"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5710330"/>
            <a:ext cx="268800" cy="288000"/>
          </a:xfrm>
          <a:prstGeom prst="rect">
            <a:avLst/>
          </a:prstGeom>
        </p:spPr>
      </p:pic>
      <p:pic>
        <p:nvPicPr>
          <p:cNvPr id="2" name="Text A_9">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cstate="print">
            <a:extLst>
              <a:ext uri="{28A0092B-C50C-407E-A947-70E740481C1C}">
                <a14:useLocalDpi xmlns:a14="http://schemas.microsoft.com/office/drawing/2010/main" val="0"/>
              </a:ext>
            </a:extLst>
          </a:blip>
          <a:stretch>
            <a:fillRect/>
          </a:stretch>
        </p:blipFill>
        <p:spPr>
          <a:xfrm>
            <a:off x="173345" y="1271730"/>
            <a:ext cx="288000" cy="285120"/>
          </a:xfrm>
          <a:prstGeom prst="rect">
            <a:avLst/>
          </a:prstGeom>
        </p:spPr>
      </p:pic>
      <p:pic>
        <p:nvPicPr>
          <p:cNvPr id="3" name="Text A_10">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cstate="print">
            <a:extLst>
              <a:ext uri="{28A0092B-C50C-407E-A947-70E740481C1C}">
                <a14:useLocalDpi xmlns:a14="http://schemas.microsoft.com/office/drawing/2010/main" val="0"/>
              </a:ext>
            </a:extLst>
          </a:blip>
          <a:stretch>
            <a:fillRect/>
          </a:stretch>
        </p:blipFill>
        <p:spPr>
          <a:xfrm>
            <a:off x="173345" y="3431015"/>
            <a:ext cx="288000" cy="285120"/>
          </a:xfrm>
          <a:prstGeom prst="rect">
            <a:avLst/>
          </a:prstGeom>
        </p:spPr>
      </p:pic>
      <p:pic>
        <p:nvPicPr>
          <p:cNvPr id="4" name="Text A_11">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cstate="print">
            <a:extLst>
              <a:ext uri="{28A0092B-C50C-407E-A947-70E740481C1C}">
                <a14:useLocalDpi xmlns:a14="http://schemas.microsoft.com/office/drawing/2010/main" val="0"/>
              </a:ext>
            </a:extLst>
          </a:blip>
          <a:stretch>
            <a:fillRect/>
          </a:stretch>
        </p:blipFill>
        <p:spPr>
          <a:xfrm>
            <a:off x="173345" y="5713210"/>
            <a:ext cx="288000" cy="285120"/>
          </a:xfrm>
          <a:prstGeom prst="rect">
            <a:avLst/>
          </a:prstGeom>
        </p:spPr>
      </p:pic>
      <p:sp>
        <p:nvSpPr>
          <p:cNvPr id="13" name="矩形 12">
            <a:hlinkClick r:id="rId15" action="ppaction://hlinksldjump"/>
          </p:cNvPr>
          <p:cNvSpPr/>
          <p:nvPr/>
        </p:nvSpPr>
        <p:spPr>
          <a:xfrm>
            <a:off x="851870" y="1940611"/>
            <a:ext cx="1257918"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706468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511"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6853"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4"/>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4"/>
                                        </p:tgtEl>
                                      </p:cBhvr>
                                    </p:cmd>
                                  </p:childTnLst>
                                </p:cTn>
                              </p:par>
                            </p:childTnLst>
                          </p:cTn>
                        </p:par>
                      </p:childTnLst>
                    </p:cTn>
                  </p:par>
                </p:childTnLst>
              </p:cTn>
              <p:nextCondLst>
                <p:cond evt="onClick" delay="0">
                  <p:tgtEl>
                    <p:spTgt spid="4"/>
                  </p:tgtEl>
                </p:cond>
              </p:nextCondLst>
            </p:seq>
            <p:audio>
              <p:cMediaNode vol="80000" numSld="2">
                <p:cTn id="19"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632311"/>
          </a:xfrm>
          <a:prstGeom prst="rect">
            <a:avLst/>
          </a:prstGeom>
          <a:noFill/>
        </p:spPr>
        <p:txBody>
          <a:bodyPr wrap="square" rtlCol="0">
            <a:spAutoFit/>
          </a:bodyPr>
          <a:lstStyle/>
          <a:p>
            <a:pPr algn="just"/>
            <a:r>
              <a:rPr lang="en-US" altLang="zh-CN" sz="2400" spc="30" dirty="0"/>
              <a:t>bank cards linked to their social media accounts, which allows</a:t>
            </a:r>
            <a:r>
              <a:rPr lang="en-US" altLang="zh-CN" sz="2400" dirty="0"/>
              <a:t> </a:t>
            </a:r>
            <a:r>
              <a:rPr lang="en-US" altLang="zh-CN" sz="2400" spc="-20" dirty="0"/>
              <a:t>users to have food, groceries, and goods delivered to their house</a:t>
            </a:r>
            <a:r>
              <a:rPr lang="en-US" altLang="zh-CN" sz="2400" dirty="0"/>
              <a:t>, </a:t>
            </a:r>
            <a:r>
              <a:rPr lang="en-US" altLang="zh-CN" sz="2400" spc="20" dirty="0"/>
              <a:t>to pay cellphone, </a:t>
            </a:r>
            <a:r>
              <a:rPr lang="en-US" altLang="zh-CN" sz="2400" spc="20" dirty="0">
                <a:solidFill>
                  <a:srgbClr val="C00000"/>
                </a:solidFill>
              </a:rPr>
              <a:t>utility</a:t>
            </a:r>
            <a:r>
              <a:rPr lang="en-US" altLang="zh-CN" sz="2400" spc="20" dirty="0"/>
              <a:t> or other bills through third-party </a:t>
            </a:r>
            <a:r>
              <a:rPr lang="en-US" altLang="zh-CN" sz="2400" spc="-40" dirty="0"/>
              <a:t>plug-ins, and even </a:t>
            </a:r>
            <a:r>
              <a:rPr lang="en-US" altLang="zh-CN" sz="2400" spc="-40" dirty="0">
                <a:solidFill>
                  <a:srgbClr val="C00000"/>
                </a:solidFill>
              </a:rPr>
              <a:t>hail</a:t>
            </a:r>
            <a:r>
              <a:rPr lang="en-US" altLang="zh-CN" sz="2400" spc="-40" dirty="0"/>
              <a:t> a cab. The social media apps’ built-in QR scanner</a:t>
            </a:r>
            <a:r>
              <a:rPr lang="en-US" altLang="zh-CN" sz="2400" dirty="0"/>
              <a:t> </a:t>
            </a:r>
            <a:r>
              <a:rPr lang="en-US" altLang="zh-CN" sz="2400" spc="-20" dirty="0"/>
              <a:t>makes all your QR purchases a breeze. A cashless society is taking</a:t>
            </a:r>
            <a:r>
              <a:rPr lang="en-US" altLang="zh-CN" sz="2400" dirty="0"/>
              <a:t> shape.</a:t>
            </a:r>
          </a:p>
          <a:p>
            <a:pPr algn="just"/>
            <a:r>
              <a:rPr lang="fr-FR" altLang="zh-CN" sz="2400" b="1" dirty="0">
                <a:solidFill>
                  <a:srgbClr val="C00000"/>
                </a:solidFill>
              </a:rPr>
              <a:t>QR codes</a:t>
            </a:r>
            <a:r>
              <a:rPr lang="fr-FR" altLang="zh-CN" sz="2400" b="1" dirty="0"/>
              <a:t>, QR codes everywhere!</a:t>
            </a:r>
          </a:p>
          <a:p>
            <a:pPr algn="just"/>
            <a:r>
              <a:rPr lang="en-US" altLang="zh-CN" sz="2400" b="1" dirty="0">
                <a:solidFill>
                  <a:srgbClr val="C6383E"/>
                </a:solidFill>
              </a:rPr>
              <a:t>12</a:t>
            </a:r>
            <a:r>
              <a:rPr lang="en-US" altLang="zh-CN" sz="2400" dirty="0"/>
              <a:t>    </a:t>
            </a:r>
            <a:r>
              <a:rPr lang="en-US" altLang="zh-CN" sz="2400" spc="-10" dirty="0"/>
              <a:t>Payment and information come in a nice, neat little package</a:t>
            </a:r>
            <a:r>
              <a:rPr lang="en-US" altLang="zh-CN" sz="2400" dirty="0"/>
              <a:t> </a:t>
            </a:r>
            <a:r>
              <a:rPr lang="en-US" altLang="zh-CN" sz="2400" spc="-30" dirty="0"/>
              <a:t>in China — QR codes. While in the West, these never quite caught</a:t>
            </a:r>
            <a:r>
              <a:rPr lang="en-US" altLang="zh-CN" sz="2400" dirty="0"/>
              <a:t> </a:t>
            </a:r>
            <a:r>
              <a:rPr lang="en-US" altLang="zh-CN" sz="2400" spc="-30" dirty="0"/>
              <a:t>on, QR codes are a way of life here, from getting another person’s</a:t>
            </a:r>
            <a:r>
              <a:rPr lang="en-US" altLang="zh-CN" sz="2400" dirty="0"/>
              <a:t> </a:t>
            </a:r>
            <a:r>
              <a:rPr lang="en-US" altLang="zh-CN" sz="2400" spc="80" dirty="0"/>
              <a:t>contact information and following a publication you like, to</a:t>
            </a:r>
            <a:r>
              <a:rPr lang="en-US" altLang="zh-CN" sz="2400" dirty="0"/>
              <a:t> </a:t>
            </a:r>
            <a:r>
              <a:rPr lang="en-US" altLang="zh-CN" sz="2400" spc="10" dirty="0"/>
              <a:t>ordering food or paying bills. If you are walking down the street</a:t>
            </a:r>
            <a:r>
              <a:rPr lang="en-US" altLang="zh-CN" sz="2400" dirty="0"/>
              <a:t> </a:t>
            </a:r>
            <a:r>
              <a:rPr lang="en-US" altLang="zh-CN" sz="2400" spc="10" dirty="0"/>
              <a:t>and see a wrinkled old man serving some local Chinese snacks</a:t>
            </a:r>
            <a:r>
              <a:rPr lang="en-US" altLang="zh-CN" sz="2400" dirty="0"/>
              <a:t>, </a:t>
            </a:r>
            <a:r>
              <a:rPr lang="en-US" altLang="zh-CN" sz="2400" spc="10" dirty="0"/>
              <a:t>you can be sure that you will also see a QR code somewhere to</a:t>
            </a:r>
            <a:r>
              <a:rPr lang="en-US" altLang="zh-CN" sz="2400" dirty="0"/>
              <a:t> scan and pay for his wares over the phone!</a:t>
            </a:r>
          </a:p>
        </p:txBody>
      </p:sp>
      <p:pic>
        <p:nvPicPr>
          <p:cNvPr id="9" name="图片 8">
            <a:hlinkClick r:id="rId4" action="ppaction://hlinksldjump"/>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3803" y="3469303"/>
            <a:ext cx="268800" cy="288000"/>
          </a:xfrm>
          <a:prstGeom prst="rect">
            <a:avLst/>
          </a:prstGeom>
        </p:spPr>
      </p:pic>
      <p:sp>
        <p:nvSpPr>
          <p:cNvPr id="11" name="圆角矩形 10"/>
          <p:cNvSpPr/>
          <p:nvPr/>
        </p:nvSpPr>
        <p:spPr>
          <a:xfrm>
            <a:off x="859490" y="3429000"/>
            <a:ext cx="1220135"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标注 12"/>
          <p:cNvSpPr/>
          <p:nvPr/>
        </p:nvSpPr>
        <p:spPr>
          <a:xfrm>
            <a:off x="1362678" y="3891032"/>
            <a:ext cx="885221" cy="341160"/>
          </a:xfrm>
          <a:prstGeom prst="wedgeRectCallout">
            <a:avLst>
              <a:gd name="adj1" fmla="val -39089"/>
              <a:gd name="adj2" fmla="val -84542"/>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二维码</a:t>
            </a:r>
          </a:p>
        </p:txBody>
      </p:sp>
      <p:pic>
        <p:nvPicPr>
          <p:cNvPr id="14" name="Picture 3" descr="C:\Users\senj\Desktop\按钮.png">
            <a:hlinkClick r:id="" action="ppaction://hlinkshowjump?jump=next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2" name="Text A_1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cstate="print">
            <a:extLst>
              <a:ext uri="{28A0092B-C50C-407E-A947-70E740481C1C}">
                <a14:useLocalDpi xmlns:a14="http://schemas.microsoft.com/office/drawing/2010/main" val="0"/>
              </a:ext>
            </a:extLst>
          </a:blip>
          <a:stretch>
            <a:fillRect/>
          </a:stretch>
        </p:blipFill>
        <p:spPr>
          <a:xfrm>
            <a:off x="158688" y="3469303"/>
            <a:ext cx="288000" cy="285120"/>
          </a:xfrm>
          <a:prstGeom prst="rect">
            <a:avLst/>
          </a:prstGeom>
        </p:spPr>
      </p:pic>
      <p:sp>
        <p:nvSpPr>
          <p:cNvPr id="16" name="矩形 15">
            <a:hlinkClick r:id="rId9" action="ppaction://hlinksldjump"/>
          </p:cNvPr>
          <p:cNvSpPr/>
          <p:nvPr/>
        </p:nvSpPr>
        <p:spPr>
          <a:xfrm>
            <a:off x="3129817" y="1963500"/>
            <a:ext cx="788133"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hlinkClick r:id="rId10" action="ppaction://hlinksldjump"/>
          </p:cNvPr>
          <p:cNvSpPr/>
          <p:nvPr/>
        </p:nvSpPr>
        <p:spPr>
          <a:xfrm>
            <a:off x="2481427" y="2302320"/>
            <a:ext cx="496723"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52498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41116" fill="hold"/>
                                        <p:tgtEl>
                                          <p:spTgt spid="2"/>
                                        </p:tgtEl>
                                      </p:cBhvr>
                                    </p:cmd>
                                  </p:childTnLst>
                                </p:cTn>
                              </p:par>
                            </p:childTnLst>
                          </p:cTn>
                        </p:par>
                      </p:childTnLst>
                    </p:cTn>
                  </p:par>
                </p:childTnLst>
              </p:cTn>
              <p:nextCondLst>
                <p:cond evt="onClick" delay="0">
                  <p:tgtEl>
                    <p:spTgt spid="2"/>
                  </p:tgtEl>
                </p:cond>
              </p:nextCondLst>
            </p:seq>
            <p:audio>
              <p:cMediaNode vol="80000">
                <p:cTn id="12" fill="hold" display="0">
                  <p:stCondLst>
                    <p:cond delay="indefinite"/>
                  </p:stCondLst>
                  <p:endCondLst>
                    <p:cond evt="onStopAudio" delay="0">
                      <p:tgtEl>
                        <p:sldTgt/>
                      </p:tgtEl>
                    </p:cond>
                  </p:endCondLst>
                </p:cTn>
                <p:tgtEl>
                  <p:spTgt spid="2"/>
                </p:tgtEl>
              </p:cMediaNode>
            </p:audio>
          </p:childTnLst>
        </p:cTn>
      </p:par>
    </p:tnLst>
    <p:bldLst>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262979"/>
          </a:xfrm>
          <a:prstGeom prst="rect">
            <a:avLst/>
          </a:prstGeom>
          <a:noFill/>
        </p:spPr>
        <p:txBody>
          <a:bodyPr wrap="square" rtlCol="0">
            <a:spAutoFit/>
          </a:bodyPr>
          <a:lstStyle/>
          <a:p>
            <a:pPr algn="just"/>
            <a:r>
              <a:rPr lang="en-US" altLang="zh-CN" sz="2400" b="1" dirty="0"/>
              <a:t>A booming sharing economy.</a:t>
            </a:r>
          </a:p>
          <a:p>
            <a:pPr algn="just"/>
            <a:r>
              <a:rPr lang="en-US" altLang="zh-CN" sz="2400" b="1" dirty="0">
                <a:solidFill>
                  <a:srgbClr val="C6383E"/>
                </a:solidFill>
              </a:rPr>
              <a:t>13</a:t>
            </a:r>
            <a:r>
              <a:rPr lang="en-US" altLang="zh-CN" sz="2400" dirty="0"/>
              <a:t>    </a:t>
            </a:r>
            <a:r>
              <a:rPr lang="en-US" altLang="zh-CN" sz="2400" spc="-10" dirty="0"/>
              <a:t>Remember those QR codes we just talked about? Well, they</a:t>
            </a:r>
            <a:r>
              <a:rPr lang="en-US" altLang="zh-CN" sz="2400" dirty="0"/>
              <a:t> </a:t>
            </a:r>
            <a:r>
              <a:rPr lang="en-US" altLang="zh-CN" sz="2400" spc="-20" dirty="0"/>
              <a:t>go even further. In China, the sharing economy is so vast that you</a:t>
            </a:r>
            <a:r>
              <a:rPr lang="en-US" altLang="zh-CN" sz="2400" dirty="0"/>
              <a:t> </a:t>
            </a:r>
            <a:r>
              <a:rPr lang="en-US" altLang="zh-CN" sz="2400" spc="20" dirty="0"/>
              <a:t>can share just about anything. But the biggest boom in today’s</a:t>
            </a:r>
            <a:r>
              <a:rPr lang="en-US" altLang="zh-CN" sz="2400" dirty="0"/>
              <a:t> market is shared transportation.</a:t>
            </a:r>
          </a:p>
          <a:p>
            <a:pPr algn="just"/>
            <a:r>
              <a:rPr lang="en-US" altLang="zh-CN" sz="2400" b="1" dirty="0">
                <a:solidFill>
                  <a:srgbClr val="C6383E"/>
                </a:solidFill>
              </a:rPr>
              <a:t>14</a:t>
            </a:r>
            <a:r>
              <a:rPr lang="en-US" altLang="zh-CN" sz="2400" dirty="0"/>
              <a:t>    </a:t>
            </a:r>
            <a:r>
              <a:rPr lang="en-US" altLang="zh-CN" sz="2400" u="sng" spc="-10" dirty="0">
                <a:solidFill>
                  <a:srgbClr val="0070C0"/>
                </a:solidFill>
              </a:rPr>
              <a:t>With one little scan, you are off on your shared bike to your</a:t>
            </a:r>
            <a:r>
              <a:rPr lang="en-US" altLang="zh-CN" sz="2400" u="sng" dirty="0">
                <a:solidFill>
                  <a:srgbClr val="0070C0"/>
                </a:solidFill>
              </a:rPr>
              <a:t> </a:t>
            </a:r>
            <a:r>
              <a:rPr lang="en-US" altLang="zh-CN" sz="2400" u="sng" spc="-20" dirty="0">
                <a:solidFill>
                  <a:srgbClr val="0070C0"/>
                </a:solidFill>
              </a:rPr>
              <a:t>destination.</a:t>
            </a:r>
            <a:r>
              <a:rPr lang="en-US" altLang="zh-CN" sz="2400" spc="-20" dirty="0"/>
              <a:t> </a:t>
            </a:r>
            <a:r>
              <a:rPr lang="en-US" altLang="zh-CN" sz="2400" spc="-20" dirty="0">
                <a:solidFill>
                  <a:srgbClr val="C00000"/>
                </a:solidFill>
              </a:rPr>
              <a:t>Pesky</a:t>
            </a:r>
            <a:r>
              <a:rPr lang="en-US" altLang="zh-CN" sz="2400" spc="-20" dirty="0"/>
              <a:t> 15-minute walks from the subway have turned</a:t>
            </a:r>
            <a:r>
              <a:rPr lang="en-US" altLang="zh-CN" sz="2400" dirty="0"/>
              <a:t> </a:t>
            </a:r>
            <a:r>
              <a:rPr lang="en-US" altLang="zh-CN" sz="2400" spc="-30" dirty="0"/>
              <a:t>into 5-minute </a:t>
            </a:r>
            <a:r>
              <a:rPr lang="en-US" altLang="zh-CN" sz="2400" spc="-30" dirty="0">
                <a:solidFill>
                  <a:srgbClr val="C00000"/>
                </a:solidFill>
              </a:rPr>
              <a:t>jaunts</a:t>
            </a:r>
            <a:r>
              <a:rPr lang="en-US" altLang="zh-CN" sz="2400" spc="-30" dirty="0"/>
              <a:t>, and weekends are now spent “share-biking</a:t>
            </a:r>
            <a:r>
              <a:rPr lang="en-US" altLang="zh-CN" sz="2400" dirty="0"/>
              <a:t>” </a:t>
            </a:r>
            <a:r>
              <a:rPr lang="en-US" altLang="zh-CN" sz="2400" spc="30" dirty="0"/>
              <a:t>throughout the city with friends. With over 800 million people</a:t>
            </a:r>
            <a:r>
              <a:rPr lang="en-US" altLang="zh-CN" sz="2400" dirty="0"/>
              <a:t> </a:t>
            </a:r>
            <a:r>
              <a:rPr lang="en-US" altLang="zh-CN" sz="2400" spc="40" dirty="0"/>
              <a:t>participating in China’s $580 billion sharing economy, there is</a:t>
            </a:r>
            <a:r>
              <a:rPr lang="en-US" altLang="zh-CN" sz="2400" dirty="0"/>
              <a:t> nowhere to go but up.</a:t>
            </a:r>
          </a:p>
          <a:p>
            <a:pPr algn="just"/>
            <a:r>
              <a:rPr lang="en-US" altLang="zh-CN" sz="2400" b="1" dirty="0"/>
              <a:t>China has a first-rate car-hailing service.</a:t>
            </a:r>
            <a:endParaRPr lang="en-US" altLang="zh-CN" sz="2400" dirty="0"/>
          </a:p>
          <a:p>
            <a:pPr algn="just"/>
            <a:r>
              <a:rPr lang="en-US" altLang="zh-CN" sz="2400" b="1" dirty="0">
                <a:solidFill>
                  <a:srgbClr val="C6383E"/>
                </a:solidFill>
              </a:rPr>
              <a:t>15</a:t>
            </a:r>
            <a:r>
              <a:rPr lang="en-US" altLang="zh-CN" sz="2400" dirty="0"/>
              <a:t>    </a:t>
            </a:r>
            <a:r>
              <a:rPr lang="en-US" altLang="zh-CN" sz="2400" spc="-60" dirty="0"/>
              <a:t>Can you believe that a car-hailing app has attracted investment</a:t>
            </a:r>
            <a:r>
              <a:rPr lang="en-US" altLang="zh-CN" sz="2400" dirty="0"/>
              <a:t> </a:t>
            </a:r>
            <a:r>
              <a:rPr lang="en-US" altLang="zh-CN" sz="2400" spc="-10" dirty="0"/>
              <a:t>from the top-three Internet giants of </a:t>
            </a:r>
            <a:r>
              <a:rPr lang="en-US" altLang="zh-CN" sz="2400" spc="-20" dirty="0"/>
              <a:t>China? Can you believe that</a:t>
            </a:r>
            <a:r>
              <a:rPr lang="en-US" altLang="zh-CN" sz="2400" dirty="0"/>
              <a:t> </a:t>
            </a:r>
          </a:p>
        </p:txBody>
      </p:sp>
      <p:pic>
        <p:nvPicPr>
          <p:cNvPr id="9" name="图片 8">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230" y="1268850"/>
            <a:ext cx="268800" cy="288000"/>
          </a:xfrm>
          <a:prstGeom prst="rect">
            <a:avLst/>
          </a:prstGeom>
        </p:spPr>
      </p:pic>
      <p:pic>
        <p:nvPicPr>
          <p:cNvPr id="14" name="Picture 3" descr="C:\Users\senj\Desktop\按钮.png">
            <a:hlinkClick r:id="" action="ppaction://hlinkshowjump?jump=next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8" name="图片 7">
            <a:hlinkClick r:id="rId12"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230" y="3068975"/>
            <a:ext cx="268800" cy="288000"/>
          </a:xfrm>
          <a:prstGeom prst="rect">
            <a:avLst/>
          </a:prstGeom>
        </p:spPr>
      </p:pic>
      <p:pic>
        <p:nvPicPr>
          <p:cNvPr id="10" name="图片 9">
            <a:hlinkClick r:id="rId13"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230" y="5298270"/>
            <a:ext cx="268800" cy="288000"/>
          </a:xfrm>
          <a:prstGeom prst="rect">
            <a:avLst/>
          </a:prstGeom>
        </p:spPr>
      </p:pic>
      <p:pic>
        <p:nvPicPr>
          <p:cNvPr id="2" name="Text A_1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cstate="print">
            <a:extLst>
              <a:ext uri="{28A0092B-C50C-407E-A947-70E740481C1C}">
                <a14:useLocalDpi xmlns:a14="http://schemas.microsoft.com/office/drawing/2010/main" val="0"/>
              </a:ext>
            </a:extLst>
          </a:blip>
          <a:stretch>
            <a:fillRect/>
          </a:stretch>
        </p:blipFill>
        <p:spPr>
          <a:xfrm>
            <a:off x="168115" y="1271730"/>
            <a:ext cx="288000" cy="285120"/>
          </a:xfrm>
          <a:prstGeom prst="rect">
            <a:avLst/>
          </a:prstGeom>
        </p:spPr>
      </p:pic>
      <p:pic>
        <p:nvPicPr>
          <p:cNvPr id="3" name="Text A_14">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5" cstate="print">
            <a:extLst>
              <a:ext uri="{28A0092B-C50C-407E-A947-70E740481C1C}">
                <a14:useLocalDpi xmlns:a14="http://schemas.microsoft.com/office/drawing/2010/main" val="0"/>
              </a:ext>
            </a:extLst>
          </a:blip>
          <a:stretch>
            <a:fillRect/>
          </a:stretch>
        </p:blipFill>
        <p:spPr>
          <a:xfrm>
            <a:off x="173345" y="3071855"/>
            <a:ext cx="288000" cy="285120"/>
          </a:xfrm>
          <a:prstGeom prst="rect">
            <a:avLst/>
          </a:prstGeom>
        </p:spPr>
      </p:pic>
      <p:pic>
        <p:nvPicPr>
          <p:cNvPr id="4" name="Text A_15">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cstate="print">
            <a:extLst>
              <a:ext uri="{28A0092B-C50C-407E-A947-70E740481C1C}">
                <a14:useLocalDpi xmlns:a14="http://schemas.microsoft.com/office/drawing/2010/main" val="0"/>
              </a:ext>
            </a:extLst>
          </a:blip>
          <a:stretch>
            <a:fillRect/>
          </a:stretch>
        </p:blipFill>
        <p:spPr>
          <a:xfrm>
            <a:off x="173345" y="5301150"/>
            <a:ext cx="288000" cy="285120"/>
          </a:xfrm>
          <a:prstGeom prst="rect">
            <a:avLst/>
          </a:prstGeom>
        </p:spPr>
      </p:pic>
      <p:sp>
        <p:nvSpPr>
          <p:cNvPr id="13" name="矩形 12">
            <a:hlinkClick r:id="rId16" action="ppaction://hlinksldjump"/>
          </p:cNvPr>
          <p:cNvSpPr/>
          <p:nvPr/>
        </p:nvSpPr>
        <p:spPr>
          <a:xfrm>
            <a:off x="2392800" y="3429000"/>
            <a:ext cx="70600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hlinkClick r:id="rId17" action="ppaction://hlinksldjump"/>
          </p:cNvPr>
          <p:cNvSpPr/>
          <p:nvPr/>
        </p:nvSpPr>
        <p:spPr>
          <a:xfrm>
            <a:off x="2568560" y="3798209"/>
            <a:ext cx="77154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hlinkClick r:id="rId18" action="ppaction://hlinksldjump"/>
          </p:cNvPr>
          <p:cNvSpPr/>
          <p:nvPr/>
        </p:nvSpPr>
        <p:spPr>
          <a:xfrm>
            <a:off x="1475785" y="3044595"/>
            <a:ext cx="733484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hlinkClick r:id="rId18" action="ppaction://hlinksldjump"/>
          </p:cNvPr>
          <p:cNvSpPr/>
          <p:nvPr/>
        </p:nvSpPr>
        <p:spPr>
          <a:xfrm>
            <a:off x="871195" y="3417185"/>
            <a:ext cx="1448143"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46035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2151"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7219"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4"/>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4"/>
                                        </p:tgtEl>
                                      </p:cBhvr>
                                    </p:cmd>
                                  </p:childTnLst>
                                </p:cTn>
                              </p:par>
                            </p:childTnLst>
                          </p:cTn>
                        </p:par>
                      </p:childTnLst>
                    </p:cTn>
                  </p:par>
                </p:childTnLst>
              </p:cTn>
              <p:nextCondLst>
                <p:cond evt="onClick" delay="0">
                  <p:tgtEl>
                    <p:spTgt spid="4"/>
                  </p:tgtEl>
                </p:cond>
              </p:nextCondLst>
            </p:seq>
            <p:audio>
              <p:cMediaNode vol="80000" numSld="2">
                <p:cTn id="19" fill="hold" display="0">
                  <p:stCondLst>
                    <p:cond delay="indefinite"/>
                  </p:stCondLst>
                  <p:endCondLst>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5262979"/>
          </a:xfrm>
          <a:prstGeom prst="rect">
            <a:avLst/>
          </a:prstGeom>
          <a:noFill/>
        </p:spPr>
        <p:txBody>
          <a:bodyPr wrap="square" rtlCol="0">
            <a:spAutoFit/>
          </a:bodyPr>
          <a:lstStyle/>
          <a:p>
            <a:pPr algn="just"/>
            <a:r>
              <a:rPr lang="en-US" altLang="zh-CN" sz="2400" spc="20" dirty="0"/>
              <a:t>a car-hailing company could be among the most valuable start-u</a:t>
            </a:r>
            <a:r>
              <a:rPr lang="en-US" altLang="zh-CN" sz="2400" spc="60" dirty="0"/>
              <a:t>p companies in the world? The huge amount of investment </a:t>
            </a:r>
            <a:r>
              <a:rPr lang="en-US" altLang="zh-CN" sz="2400" spc="70" dirty="0"/>
              <a:t>makes China’s car-hailing service more convenient and cost</a:t>
            </a:r>
            <a:r>
              <a:rPr lang="en-US" altLang="zh-CN" sz="2400" dirty="0"/>
              <a:t>-effective.</a:t>
            </a:r>
          </a:p>
          <a:p>
            <a:pPr algn="just"/>
            <a:r>
              <a:rPr lang="en-US" altLang="zh-CN" sz="2400" b="1" dirty="0">
                <a:solidFill>
                  <a:srgbClr val="C6383E"/>
                </a:solidFill>
              </a:rPr>
              <a:t>16</a:t>
            </a:r>
            <a:r>
              <a:rPr lang="en-US" altLang="zh-CN" sz="2400" dirty="0"/>
              <a:t>    With a user-friendly </a:t>
            </a:r>
            <a:r>
              <a:rPr lang="en-US" altLang="zh-CN" sz="2400" dirty="0">
                <a:solidFill>
                  <a:srgbClr val="C00000"/>
                </a:solidFill>
              </a:rPr>
              <a:t>interface</a:t>
            </a:r>
            <a:r>
              <a:rPr lang="en-US" altLang="zh-CN" sz="2400" dirty="0"/>
              <a:t>, customers can simply plug in </a:t>
            </a:r>
            <a:r>
              <a:rPr lang="en-US" altLang="zh-CN" sz="2400" spc="-60" dirty="0"/>
              <a:t>their location and destination and be on their way in a few minutes</a:t>
            </a:r>
            <a:r>
              <a:rPr lang="en-US" altLang="zh-CN" sz="2400" dirty="0"/>
              <a:t>. </a:t>
            </a:r>
            <a:r>
              <a:rPr lang="en-US" altLang="zh-CN" sz="2400" spc="20" dirty="0"/>
              <a:t>In addition to regular car-hailing services, one can also request</a:t>
            </a:r>
            <a:r>
              <a:rPr lang="en-US" altLang="zh-CN" sz="2400" dirty="0"/>
              <a:t> luxury cars, airport pickups and full-day car and driver rentals.</a:t>
            </a:r>
          </a:p>
          <a:p>
            <a:pPr algn="just"/>
            <a:r>
              <a:rPr lang="en-US" altLang="zh-CN" sz="2400" b="1" dirty="0">
                <a:solidFill>
                  <a:srgbClr val="C6383E"/>
                </a:solidFill>
              </a:rPr>
              <a:t>17</a:t>
            </a:r>
            <a:r>
              <a:rPr lang="en-US" altLang="zh-CN" sz="2400" dirty="0"/>
              <a:t>    </a:t>
            </a:r>
            <a:r>
              <a:rPr lang="en-US" altLang="zh-CN" sz="2400" spc="40" dirty="0"/>
              <a:t>An English interface is available now, making the services</a:t>
            </a:r>
            <a:r>
              <a:rPr lang="en-US" altLang="zh-CN" sz="2400" dirty="0"/>
              <a:t> </a:t>
            </a:r>
            <a:r>
              <a:rPr lang="en-US" altLang="zh-CN" sz="2400" spc="-10" dirty="0"/>
              <a:t>accessible to more and more foreign people living in and visiting</a:t>
            </a:r>
            <a:r>
              <a:rPr lang="en-US" altLang="zh-CN" sz="2400" dirty="0"/>
              <a:t> China.</a:t>
            </a:r>
          </a:p>
          <a:p>
            <a:pPr algn="just"/>
            <a:r>
              <a:rPr lang="en-US" altLang="zh-CN" sz="2400" b="1" dirty="0"/>
              <a:t>Life in China is a mixed bag</a:t>
            </a:r>
            <a:r>
              <a:rPr lang="en-US" altLang="zh-CN" sz="2400" b="1" i="1" dirty="0"/>
              <a:t>.</a:t>
            </a:r>
          </a:p>
          <a:p>
            <a:pPr algn="just"/>
            <a:r>
              <a:rPr lang="en-US" altLang="zh-CN" sz="2400" b="1" dirty="0">
                <a:solidFill>
                  <a:srgbClr val="C6383E"/>
                </a:solidFill>
              </a:rPr>
              <a:t>18</a:t>
            </a:r>
            <a:r>
              <a:rPr lang="en-US" altLang="zh-CN" sz="2400" dirty="0"/>
              <a:t>    </a:t>
            </a:r>
            <a:r>
              <a:rPr lang="en-US" altLang="zh-CN" sz="2400" u="sng" spc="10" dirty="0">
                <a:solidFill>
                  <a:srgbClr val="0070C0"/>
                </a:solidFill>
              </a:rPr>
              <a:t>While you can dine in </a:t>
            </a:r>
            <a:r>
              <a:rPr lang="en-US" altLang="zh-CN" sz="2400" u="sng" spc="10" dirty="0">
                <a:solidFill>
                  <a:srgbClr val="C00000"/>
                </a:solidFill>
              </a:rPr>
              <a:t>lavish</a:t>
            </a:r>
            <a:r>
              <a:rPr lang="en-US" altLang="zh-CN" sz="2400" u="sng" spc="10" dirty="0">
                <a:solidFill>
                  <a:srgbClr val="0070C0"/>
                </a:solidFill>
              </a:rPr>
              <a:t> modern restaurants in China’s</a:t>
            </a:r>
            <a:r>
              <a:rPr lang="en-US" altLang="zh-CN" sz="2400" u="sng" dirty="0">
                <a:solidFill>
                  <a:srgbClr val="0070C0"/>
                </a:solidFill>
              </a:rPr>
              <a:t> </a:t>
            </a:r>
            <a:r>
              <a:rPr lang="en-US" altLang="zh-CN" sz="2400" u="sng" spc="-20" dirty="0">
                <a:solidFill>
                  <a:srgbClr val="0070C0"/>
                </a:solidFill>
              </a:rPr>
              <a:t>large cities such as Beijing</a:t>
            </a:r>
            <a:r>
              <a:rPr lang="en-US" altLang="zh-CN" sz="2400" u="sng" spc="-30" dirty="0">
                <a:solidFill>
                  <a:srgbClr val="0070C0"/>
                </a:solidFill>
              </a:rPr>
              <a:t> </a:t>
            </a:r>
            <a:r>
              <a:rPr lang="en-US" altLang="zh-CN" sz="2400" u="sng" spc="-20" dirty="0">
                <a:solidFill>
                  <a:srgbClr val="0070C0"/>
                </a:solidFill>
              </a:rPr>
              <a:t>and Shanghai</a:t>
            </a:r>
            <a:r>
              <a:rPr lang="en-US" altLang="zh-CN" sz="2400" u="sng" spc="-30" dirty="0">
                <a:solidFill>
                  <a:srgbClr val="0070C0"/>
                </a:solidFill>
              </a:rPr>
              <a:t>, there is still deep-rooted</a:t>
            </a:r>
            <a:r>
              <a:rPr lang="en-US" altLang="zh-CN" sz="2400" u="sng" dirty="0">
                <a:solidFill>
                  <a:srgbClr val="0070C0"/>
                </a:solidFill>
              </a:rPr>
              <a:t> </a:t>
            </a:r>
          </a:p>
        </p:txBody>
      </p:sp>
      <p:pic>
        <p:nvPicPr>
          <p:cNvPr id="9" name="图片 8">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2688650"/>
            <a:ext cx="268800" cy="288000"/>
          </a:xfrm>
          <a:prstGeom prst="rect">
            <a:avLst/>
          </a:prstGeom>
        </p:spPr>
      </p:pic>
      <p:pic>
        <p:nvPicPr>
          <p:cNvPr id="14" name="Picture 3" descr="C:\Users\senj\Desktop\按钮.png">
            <a:hlinkClick r:id="" action="ppaction://hlinkshowjump?jump=next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5" name="Picture 3" descr="C:\Users\senj\Desktop\按钮.png">
            <a:hlinkClick r:id="" action="ppaction://hlinkshowjump?jump=previous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8" name="图片 7">
            <a:hlinkClick r:id="rId12"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4159230"/>
            <a:ext cx="268800" cy="288000"/>
          </a:xfrm>
          <a:prstGeom prst="rect">
            <a:avLst/>
          </a:prstGeom>
        </p:spPr>
      </p:pic>
      <p:pic>
        <p:nvPicPr>
          <p:cNvPr id="10" name="图片 9">
            <a:hlinkClick r:id="rId13"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8863" y="5281655"/>
            <a:ext cx="268800" cy="288000"/>
          </a:xfrm>
          <a:prstGeom prst="rect">
            <a:avLst/>
          </a:prstGeom>
        </p:spPr>
      </p:pic>
      <p:pic>
        <p:nvPicPr>
          <p:cNvPr id="2" name="Text A_1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cstate="print">
            <a:extLst>
              <a:ext uri="{28A0092B-C50C-407E-A947-70E740481C1C}">
                <a14:useLocalDpi xmlns:a14="http://schemas.microsoft.com/office/drawing/2010/main" val="0"/>
              </a:ext>
            </a:extLst>
          </a:blip>
          <a:stretch>
            <a:fillRect/>
          </a:stretch>
        </p:blipFill>
        <p:spPr>
          <a:xfrm>
            <a:off x="173345" y="2688650"/>
            <a:ext cx="288000" cy="285120"/>
          </a:xfrm>
          <a:prstGeom prst="rect">
            <a:avLst/>
          </a:prstGeom>
        </p:spPr>
      </p:pic>
      <p:pic>
        <p:nvPicPr>
          <p:cNvPr id="3" name="Text A_17">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cstate="print">
            <a:extLst>
              <a:ext uri="{28A0092B-C50C-407E-A947-70E740481C1C}">
                <a14:useLocalDpi xmlns:a14="http://schemas.microsoft.com/office/drawing/2010/main" val="0"/>
              </a:ext>
            </a:extLst>
          </a:blip>
          <a:stretch>
            <a:fillRect/>
          </a:stretch>
        </p:blipFill>
        <p:spPr>
          <a:xfrm>
            <a:off x="173230" y="4159230"/>
            <a:ext cx="288000" cy="285120"/>
          </a:xfrm>
          <a:prstGeom prst="rect">
            <a:avLst/>
          </a:prstGeom>
        </p:spPr>
      </p:pic>
      <p:pic>
        <p:nvPicPr>
          <p:cNvPr id="4" name="Text A_18">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5" cstate="print">
            <a:extLst>
              <a:ext uri="{28A0092B-C50C-407E-A947-70E740481C1C}">
                <a14:useLocalDpi xmlns:a14="http://schemas.microsoft.com/office/drawing/2010/main" val="0"/>
              </a:ext>
            </a:extLst>
          </a:blip>
          <a:stretch>
            <a:fillRect/>
          </a:stretch>
        </p:blipFill>
        <p:spPr>
          <a:xfrm>
            <a:off x="163518" y="5277247"/>
            <a:ext cx="288000" cy="285120"/>
          </a:xfrm>
          <a:prstGeom prst="rect">
            <a:avLst/>
          </a:prstGeom>
        </p:spPr>
      </p:pic>
      <p:sp>
        <p:nvSpPr>
          <p:cNvPr id="13" name="矩形 12">
            <a:hlinkClick r:id="rId16" action="ppaction://hlinksldjump"/>
          </p:cNvPr>
          <p:cNvSpPr/>
          <p:nvPr/>
        </p:nvSpPr>
        <p:spPr>
          <a:xfrm>
            <a:off x="4001234" y="2673410"/>
            <a:ext cx="112702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hlinkClick r:id="rId17" action="ppaction://hlinksldjump"/>
          </p:cNvPr>
          <p:cNvSpPr/>
          <p:nvPr/>
        </p:nvSpPr>
        <p:spPr>
          <a:xfrm>
            <a:off x="856459" y="5982416"/>
            <a:ext cx="794654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hlinkClick r:id="rId17" action="ppaction://hlinksldjump"/>
          </p:cNvPr>
          <p:cNvSpPr/>
          <p:nvPr/>
        </p:nvSpPr>
        <p:spPr>
          <a:xfrm>
            <a:off x="1468165" y="5608133"/>
            <a:ext cx="733484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hlinkClick r:id="rId18" action="ppaction://hlinksldjump"/>
          </p:cNvPr>
          <p:cNvSpPr/>
          <p:nvPr/>
        </p:nvSpPr>
        <p:spPr>
          <a:xfrm>
            <a:off x="4264928" y="5603223"/>
            <a:ext cx="73093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363087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2308"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0292"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4"/>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4"/>
                                        </p:tgtEl>
                                      </p:cBhvr>
                                    </p:cmd>
                                  </p:childTnLst>
                                </p:cTn>
                              </p:par>
                            </p:childTnLst>
                          </p:cTn>
                        </p:par>
                      </p:childTnLst>
                    </p:cTn>
                  </p:par>
                </p:childTnLst>
              </p:cTn>
              <p:nextCondLst>
                <p:cond evt="onClick" delay="0">
                  <p:tgtEl>
                    <p:spTgt spid="4"/>
                  </p:tgtEl>
                </p:cond>
              </p:nextCondLst>
            </p:seq>
            <p:audio>
              <p:cMediaNode vol="80000" numSld="2">
                <p:cTn id="19"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792030" y="1147670"/>
            <a:ext cx="8100270" cy="2308324"/>
          </a:xfrm>
          <a:prstGeom prst="rect">
            <a:avLst/>
          </a:prstGeom>
          <a:noFill/>
        </p:spPr>
        <p:txBody>
          <a:bodyPr wrap="square" rtlCol="0">
            <a:spAutoFit/>
          </a:bodyPr>
          <a:lstStyle/>
          <a:p>
            <a:pPr algn="just"/>
            <a:r>
              <a:rPr lang="en-US" altLang="zh-CN" sz="2400" u="sng" dirty="0">
                <a:solidFill>
                  <a:srgbClr val="0070C0"/>
                </a:solidFill>
              </a:rPr>
              <a:t>culture </a:t>
            </a:r>
            <a:r>
              <a:rPr lang="en-US" altLang="zh-CN" sz="2400" u="sng" dirty="0">
                <a:solidFill>
                  <a:srgbClr val="C00000"/>
                </a:solidFill>
              </a:rPr>
              <a:t>at every turn</a:t>
            </a:r>
            <a:r>
              <a:rPr lang="en-US" altLang="zh-CN" sz="2400" u="sng" dirty="0">
                <a:solidFill>
                  <a:srgbClr val="0070C0"/>
                </a:solidFill>
              </a:rPr>
              <a:t>.</a:t>
            </a:r>
            <a:r>
              <a:rPr lang="en-US" altLang="zh-CN" sz="2400" dirty="0"/>
              <a:t> In a little more than an hour from Beijing’s </a:t>
            </a:r>
            <a:r>
              <a:rPr lang="en-US" altLang="zh-CN" sz="2400" spc="-20" dirty="0"/>
              <a:t>city center, you can step into rural China and tour ancient villages</a:t>
            </a:r>
            <a:r>
              <a:rPr lang="en-US" altLang="zh-CN" sz="2400" dirty="0"/>
              <a:t> </a:t>
            </a:r>
            <a:r>
              <a:rPr lang="en-US" altLang="zh-CN" sz="2400" spc="-30" dirty="0"/>
              <a:t>and even participate in homestays to learn more about traditional</a:t>
            </a:r>
            <a:r>
              <a:rPr lang="en-US" altLang="zh-CN" sz="2400" dirty="0"/>
              <a:t> </a:t>
            </a:r>
            <a:r>
              <a:rPr lang="en-US" altLang="zh-CN" sz="2400" spc="-70" dirty="0"/>
              <a:t>culture. China is one of those places where you can see an advanced</a:t>
            </a:r>
            <a:r>
              <a:rPr lang="en-US" altLang="zh-CN" sz="2400" dirty="0"/>
              <a:t> electric car </a:t>
            </a:r>
            <a:r>
              <a:rPr lang="en-US" altLang="zh-CN" sz="2400" dirty="0">
                <a:solidFill>
                  <a:srgbClr val="C00000"/>
                </a:solidFill>
              </a:rPr>
              <a:t>zoom</a:t>
            </a:r>
            <a:r>
              <a:rPr lang="en-US" altLang="zh-CN" sz="2400" dirty="0"/>
              <a:t> by and also have handmade dumplings from a vendor for less than one US dollar.</a:t>
            </a:r>
          </a:p>
        </p:txBody>
      </p:sp>
      <p:pic>
        <p:nvPicPr>
          <p:cNvPr id="15"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8"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sp>
        <p:nvSpPr>
          <p:cNvPr id="10" name="矩形 9">
            <a:hlinkClick r:id="rId5" action="ppaction://hlinksldjump"/>
          </p:cNvPr>
          <p:cNvSpPr/>
          <p:nvPr/>
        </p:nvSpPr>
        <p:spPr>
          <a:xfrm>
            <a:off x="868775" y="1220561"/>
            <a:ext cx="255114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hlinkClick r:id="rId6" action="ppaction://hlinksldjump"/>
          </p:cNvPr>
          <p:cNvSpPr/>
          <p:nvPr/>
        </p:nvSpPr>
        <p:spPr>
          <a:xfrm>
            <a:off x="1829460" y="1220561"/>
            <a:ext cx="160271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hlinkClick r:id="rId7" action="ppaction://hlinksldjump"/>
          </p:cNvPr>
          <p:cNvSpPr/>
          <p:nvPr/>
        </p:nvSpPr>
        <p:spPr>
          <a:xfrm>
            <a:off x="2293241" y="2694561"/>
            <a:ext cx="72301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217829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60000" y="1133951"/>
            <a:ext cx="8532300" cy="1200329"/>
          </a:xfrm>
          <a:prstGeom prst="rect">
            <a:avLst/>
          </a:prstGeom>
          <a:noFill/>
        </p:spPr>
        <p:txBody>
          <a:bodyPr wrap="square" rtlCol="0">
            <a:spAutoFit/>
          </a:bodyPr>
          <a:lstStyle/>
          <a:p>
            <a:r>
              <a:rPr lang="en-US" altLang="zh-CN" sz="2400" b="1" dirty="0">
                <a:solidFill>
                  <a:srgbClr val="C6383E"/>
                </a:solidFill>
              </a:rPr>
              <a:t>Task 1</a:t>
            </a:r>
          </a:p>
          <a:p>
            <a:pPr algn="just"/>
            <a:r>
              <a:rPr lang="en-US" altLang="zh-CN" sz="2400" spc="30" dirty="0">
                <a:latin typeface="Cambria" panose="02040503050406030204" pitchFamily="18" charset="0"/>
                <a:ea typeface="Cambria" panose="02040503050406030204" pitchFamily="18" charset="0"/>
              </a:rPr>
              <a:t>The following statements are based on Text A. Decide whether</a:t>
            </a:r>
            <a:r>
              <a:rPr lang="en-US" altLang="zh-CN" sz="2400" dirty="0">
                <a:latin typeface="Cambria" panose="02040503050406030204" pitchFamily="18" charset="0"/>
                <a:ea typeface="Cambria" panose="02040503050406030204" pitchFamily="18" charset="0"/>
              </a:rPr>
              <a:t> they are true (T) or false (F).</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3" name="文本框 12"/>
          <p:cNvSpPr txBox="1"/>
          <p:nvPr/>
        </p:nvSpPr>
        <p:spPr>
          <a:xfrm>
            <a:off x="366165" y="2454452"/>
            <a:ext cx="1757665" cy="3077766"/>
          </a:xfrm>
          <a:prstGeom prst="rect">
            <a:avLst/>
          </a:prstGeom>
          <a:noFill/>
        </p:spPr>
        <p:txBody>
          <a:bodyPr wrap="square" rtlCol="0">
            <a:spAutoFit/>
          </a:bodyPr>
          <a:lstStyle/>
          <a:p>
            <a:r>
              <a:rPr lang="en-US" altLang="zh-CN" sz="2400" dirty="0"/>
              <a:t>____</a:t>
            </a:r>
            <a:r>
              <a:rPr lang="en-US" altLang="zh-CN" sz="2400" b="1" dirty="0">
                <a:solidFill>
                  <a:srgbClr val="D2553C"/>
                </a:solidFill>
              </a:rPr>
              <a:t> </a:t>
            </a:r>
            <a:r>
              <a:rPr lang="en-US" altLang="zh-CN" sz="2400" b="1" dirty="0">
                <a:solidFill>
                  <a:srgbClr val="C6383E"/>
                </a:solidFill>
              </a:rPr>
              <a:t>1</a:t>
            </a:r>
          </a:p>
          <a:p>
            <a:pPr>
              <a:lnSpc>
                <a:spcPts val="1500"/>
              </a:lnSpc>
            </a:pPr>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2</a:t>
            </a:r>
          </a:p>
          <a:p>
            <a:endParaRPr lang="en-US" altLang="zh-CN" sz="2400" b="1" dirty="0">
              <a:solidFill>
                <a:srgbClr val="D2553C"/>
              </a:solidFill>
            </a:endParaRPr>
          </a:p>
          <a:p>
            <a:pPr>
              <a:lnSpc>
                <a:spcPts val="1500"/>
              </a:lnSpc>
            </a:pPr>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3</a:t>
            </a:r>
          </a:p>
          <a:p>
            <a:pPr>
              <a:lnSpc>
                <a:spcPts val="1500"/>
              </a:lnSpc>
            </a:pPr>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4</a:t>
            </a:r>
          </a:p>
          <a:p>
            <a:pPr>
              <a:lnSpc>
                <a:spcPts val="1500"/>
              </a:lnSpc>
            </a:pPr>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5</a:t>
            </a:r>
          </a:p>
        </p:txBody>
      </p:sp>
      <p:sp>
        <p:nvSpPr>
          <p:cNvPr id="17" name="文本框 16"/>
          <p:cNvSpPr txBox="1"/>
          <p:nvPr/>
        </p:nvSpPr>
        <p:spPr>
          <a:xfrm>
            <a:off x="1343025" y="2454452"/>
            <a:ext cx="7549275" cy="3447098"/>
          </a:xfrm>
          <a:prstGeom prst="rect">
            <a:avLst/>
          </a:prstGeom>
          <a:noFill/>
        </p:spPr>
        <p:txBody>
          <a:bodyPr wrap="square" rtlCol="0">
            <a:spAutoFit/>
          </a:bodyPr>
          <a:lstStyle/>
          <a:p>
            <a:pPr algn="just"/>
            <a:r>
              <a:rPr lang="en-US" altLang="zh-CN" sz="2400" dirty="0"/>
              <a:t>The Shanghai Maglev is China’s fastest commercial train.</a:t>
            </a:r>
          </a:p>
          <a:p>
            <a:pPr algn="just">
              <a:lnSpc>
                <a:spcPts val="1500"/>
              </a:lnSpc>
            </a:pPr>
            <a:endParaRPr lang="en-US" altLang="zh-CN" sz="2400" dirty="0"/>
          </a:p>
          <a:p>
            <a:pPr algn="just"/>
            <a:r>
              <a:rPr lang="en-US" altLang="zh-CN" sz="2400" spc="-30" dirty="0"/>
              <a:t>China’s </a:t>
            </a:r>
            <a:r>
              <a:rPr lang="en-US" altLang="zh-CN" sz="2400" i="1" spc="-30" dirty="0"/>
              <a:t>Chang’e-4 </a:t>
            </a:r>
            <a:r>
              <a:rPr lang="en-US" altLang="zh-CN" sz="2400" spc="-30" dirty="0"/>
              <a:t>mission aimed to send astronauts onto the</a:t>
            </a:r>
            <a:r>
              <a:rPr lang="en-US" altLang="zh-CN" sz="2400" dirty="0"/>
              <a:t> moon.</a:t>
            </a:r>
          </a:p>
          <a:p>
            <a:pPr algn="just">
              <a:lnSpc>
                <a:spcPts val="1500"/>
              </a:lnSpc>
            </a:pPr>
            <a:endParaRPr lang="en-US" altLang="zh-CN" sz="2400" dirty="0"/>
          </a:p>
          <a:p>
            <a:pPr algn="just"/>
            <a:r>
              <a:rPr lang="en-US" altLang="zh-CN" sz="2400" dirty="0"/>
              <a:t>The QR code is one of China’s new inventions.</a:t>
            </a:r>
          </a:p>
          <a:p>
            <a:pPr algn="just">
              <a:lnSpc>
                <a:spcPts val="1500"/>
              </a:lnSpc>
            </a:pPr>
            <a:endParaRPr lang="en-US" altLang="zh-CN" sz="2400" dirty="0"/>
          </a:p>
          <a:p>
            <a:pPr algn="just"/>
            <a:r>
              <a:rPr lang="en-US" altLang="zh-CN" sz="2400" dirty="0"/>
              <a:t>Baidu is the most valuable start-up company in the world.</a:t>
            </a:r>
          </a:p>
          <a:p>
            <a:pPr algn="just">
              <a:lnSpc>
                <a:spcPts val="1500"/>
              </a:lnSpc>
            </a:pPr>
            <a:endParaRPr lang="en-US" altLang="zh-CN" sz="2400" spc="-50" dirty="0"/>
          </a:p>
          <a:p>
            <a:pPr algn="just"/>
            <a:r>
              <a:rPr lang="en-US" altLang="zh-CN" sz="2400" spc="-50" dirty="0"/>
              <a:t>Modern cities and traditional culture are both China’s features</a:t>
            </a:r>
            <a:r>
              <a:rPr lang="en-US" altLang="zh-CN" sz="2400" dirty="0"/>
              <a:t> today.</a:t>
            </a:r>
          </a:p>
        </p:txBody>
      </p:sp>
      <p:sp>
        <p:nvSpPr>
          <p:cNvPr id="4" name="文本框 3"/>
          <p:cNvSpPr txBox="1"/>
          <p:nvPr/>
        </p:nvSpPr>
        <p:spPr>
          <a:xfrm>
            <a:off x="598151" y="2466328"/>
            <a:ext cx="335348" cy="461665"/>
          </a:xfrm>
          <a:prstGeom prst="rect">
            <a:avLst/>
          </a:prstGeom>
          <a:noFill/>
        </p:spPr>
        <p:txBody>
          <a:bodyPr wrap="none" rtlCol="0">
            <a:spAutoFit/>
          </a:bodyPr>
          <a:lstStyle/>
          <a:p>
            <a:pPr algn="just"/>
            <a:r>
              <a:rPr lang="en-US" altLang="zh-CN" sz="2400" dirty="0">
                <a:solidFill>
                  <a:srgbClr val="FF0000"/>
                </a:solidFill>
              </a:rPr>
              <a:t>T</a:t>
            </a:r>
            <a:endParaRPr lang="zh-CN" altLang="en-US" sz="2400" dirty="0">
              <a:solidFill>
                <a:srgbClr val="FF0000"/>
              </a:solidFill>
            </a:endParaRPr>
          </a:p>
        </p:txBody>
      </p:sp>
      <p:sp>
        <p:nvSpPr>
          <p:cNvPr id="20" name="文本框 19"/>
          <p:cNvSpPr txBox="1"/>
          <p:nvPr/>
        </p:nvSpPr>
        <p:spPr>
          <a:xfrm>
            <a:off x="598151" y="3029401"/>
            <a:ext cx="335348" cy="461665"/>
          </a:xfrm>
          <a:prstGeom prst="rect">
            <a:avLst/>
          </a:prstGeom>
          <a:noFill/>
        </p:spPr>
        <p:txBody>
          <a:bodyPr wrap="none" rtlCol="0">
            <a:spAutoFit/>
          </a:bodyPr>
          <a:lstStyle/>
          <a:p>
            <a:pPr algn="just"/>
            <a:r>
              <a:rPr lang="en-US" altLang="zh-CN" sz="2400" dirty="0">
                <a:solidFill>
                  <a:srgbClr val="FF0000"/>
                </a:solidFill>
              </a:rPr>
              <a:t>F</a:t>
            </a:r>
            <a:endParaRPr lang="zh-CN" altLang="en-US" sz="2400" dirty="0">
              <a:solidFill>
                <a:srgbClr val="FF0000"/>
              </a:solidFill>
            </a:endParaRPr>
          </a:p>
        </p:txBody>
      </p:sp>
      <p:sp>
        <p:nvSpPr>
          <p:cNvPr id="21" name="文本框 20"/>
          <p:cNvSpPr txBox="1"/>
          <p:nvPr/>
        </p:nvSpPr>
        <p:spPr>
          <a:xfrm>
            <a:off x="598151" y="3952766"/>
            <a:ext cx="335348" cy="461665"/>
          </a:xfrm>
          <a:prstGeom prst="rect">
            <a:avLst/>
          </a:prstGeom>
          <a:noFill/>
        </p:spPr>
        <p:txBody>
          <a:bodyPr wrap="none" rtlCol="0">
            <a:spAutoFit/>
          </a:bodyPr>
          <a:lstStyle/>
          <a:p>
            <a:pPr algn="just"/>
            <a:r>
              <a:rPr lang="en-US" altLang="zh-CN" sz="2400" dirty="0">
                <a:solidFill>
                  <a:srgbClr val="FF0000"/>
                </a:solidFill>
              </a:rPr>
              <a:t>F</a:t>
            </a:r>
            <a:endParaRPr lang="zh-CN" altLang="en-US" sz="2400" dirty="0">
              <a:solidFill>
                <a:srgbClr val="FF0000"/>
              </a:solidFill>
            </a:endParaRPr>
          </a:p>
        </p:txBody>
      </p:sp>
      <p:sp>
        <p:nvSpPr>
          <p:cNvPr id="22" name="文本框 21"/>
          <p:cNvSpPr txBox="1"/>
          <p:nvPr/>
        </p:nvSpPr>
        <p:spPr>
          <a:xfrm>
            <a:off x="602960" y="4508663"/>
            <a:ext cx="325730" cy="461665"/>
          </a:xfrm>
          <a:prstGeom prst="rect">
            <a:avLst/>
          </a:prstGeom>
          <a:noFill/>
        </p:spPr>
        <p:txBody>
          <a:bodyPr wrap="none" rtlCol="0">
            <a:spAutoFit/>
          </a:bodyPr>
          <a:lstStyle/>
          <a:p>
            <a:pPr algn="just"/>
            <a:r>
              <a:rPr lang="en-US" altLang="zh-CN" sz="2400" dirty="0">
                <a:solidFill>
                  <a:srgbClr val="FF0000"/>
                </a:solidFill>
              </a:rPr>
              <a:t>F</a:t>
            </a:r>
            <a:endParaRPr lang="zh-CN" altLang="en-US" sz="2400" dirty="0">
              <a:solidFill>
                <a:srgbClr val="FF0000"/>
              </a:solidFill>
            </a:endParaRPr>
          </a:p>
        </p:txBody>
      </p:sp>
      <p:sp>
        <p:nvSpPr>
          <p:cNvPr id="23" name="文本框 22"/>
          <p:cNvSpPr txBox="1"/>
          <p:nvPr/>
        </p:nvSpPr>
        <p:spPr>
          <a:xfrm>
            <a:off x="598151" y="5055066"/>
            <a:ext cx="335348" cy="461665"/>
          </a:xfrm>
          <a:prstGeom prst="rect">
            <a:avLst/>
          </a:prstGeom>
          <a:noFill/>
        </p:spPr>
        <p:txBody>
          <a:bodyPr wrap="none" rtlCol="0">
            <a:spAutoFit/>
          </a:bodyPr>
          <a:lstStyle/>
          <a:p>
            <a:pPr algn="just"/>
            <a:r>
              <a:rPr lang="en-US" altLang="zh-CN" sz="2400" dirty="0">
                <a:solidFill>
                  <a:srgbClr val="FF0000"/>
                </a:solidFill>
              </a:rPr>
              <a:t>T</a:t>
            </a:r>
            <a:endParaRPr lang="zh-CN" altLang="en-US" sz="2400" dirty="0">
              <a:solidFill>
                <a:srgbClr val="FF0000"/>
              </a:solidFill>
            </a:endParaRPr>
          </a:p>
        </p:txBody>
      </p:sp>
      <p:pic>
        <p:nvPicPr>
          <p:cNvPr id="25" name="钥匙2" descr="C:\Users\senj\Desktop\新建文件夹\答案.png" hidden="1">
            <a:hlinkClick r:id="" action="ppaction://noaction"/>
          </p:cNvPr>
          <p:cNvPicPr>
            <a:picLocks noChangeAspect="1" noChangeArrowheads="1"/>
          </p:cNvPicPr>
          <p:nvPr/>
        </p:nvPicPr>
        <p:blipFill>
          <a:blip r:embed="rId2" cstate="print"/>
          <a:srcRect/>
          <a:stretch>
            <a:fillRect/>
          </a:stretch>
        </p:blipFill>
        <p:spPr bwMode="auto">
          <a:xfrm>
            <a:off x="95139" y="1592481"/>
            <a:ext cx="324000" cy="324000"/>
          </a:xfrm>
          <a:prstGeom prst="rect">
            <a:avLst/>
          </a:prstGeom>
          <a:noFill/>
        </p:spPr>
      </p:pic>
      <p:pic>
        <p:nvPicPr>
          <p:cNvPr id="26" name="Picture 3" descr="C:\Users\senj\Desktop\按钮.png"/>
          <p:cNvPicPr>
            <a:picLocks noChangeAspect="1" noChangeArrowheads="1"/>
          </p:cNvPicPr>
          <p:nvPr/>
        </p:nvPicPr>
        <p:blipFill>
          <a:blip r:embed="rId3" cstate="print"/>
          <a:srcRect l="12911" t="21436" r="39626" b="60503"/>
          <a:stretch>
            <a:fillRect/>
          </a:stretch>
        </p:blipFill>
        <p:spPr bwMode="auto">
          <a:xfrm>
            <a:off x="8366400" y="6429396"/>
            <a:ext cx="259557" cy="254794"/>
          </a:xfrm>
          <a:prstGeom prst="rect">
            <a:avLst/>
          </a:prstGeom>
          <a:noFill/>
        </p:spPr>
      </p:pic>
      <p:pic>
        <p:nvPicPr>
          <p:cNvPr id="27" name="Picture 3" descr="C:\Users\senj\Desktop\按钮.png">
            <a:hlinkClick r:id="" action="ppaction://hlinkshowjump?jump=next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4" name="矩形 13"/>
          <p:cNvSpPr/>
          <p:nvPr/>
        </p:nvSpPr>
        <p:spPr>
          <a:xfrm>
            <a:off x="467262" y="2564939"/>
            <a:ext cx="587632" cy="26182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67262" y="3114218"/>
            <a:ext cx="587632" cy="26182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53461" y="4029434"/>
            <a:ext cx="587632" cy="26182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53461" y="4590662"/>
            <a:ext cx="587632" cy="26182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27276" y="5146655"/>
            <a:ext cx="587632" cy="26182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63599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5"/>
                  </p:tgtEl>
                </p:cond>
              </p:nextCondLst>
            </p:seq>
            <p:seq concurrent="1" nextAc="seek">
              <p:cTn id="15" restart="whenNotActive" fill="hold" evtFilter="cancelBubble" nodeType="interactiveSeq">
                <p:stCondLst>
                  <p:cond evt="onClick" delay="0">
                    <p:tgtEl>
                      <p:spTgt spid="14"/>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20" restart="whenNotActive" fill="hold" evtFilter="cancelBubble" nodeType="interactiveSeq">
                <p:stCondLst>
                  <p:cond evt="onClick" delay="0">
                    <p:tgtEl>
                      <p:spTgt spid="15"/>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25" restart="whenNotActive" fill="hold" evtFilter="cancelBubble" nodeType="interactiveSeq">
                <p:stCondLst>
                  <p:cond evt="onClick" delay="0">
                    <p:tgtEl>
                      <p:spTgt spid="16"/>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1" nodeType="clickEffect">
                                  <p:stCondLst>
                                    <p:cond delay="0"/>
                                  </p:stCondLst>
                                  <p:childTnLst>
                                    <p:set>
                                      <p:cBhvr>
                                        <p:cTn id="29"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16"/>
                  </p:tgtEl>
                </p:cond>
              </p:nextCondLst>
            </p:seq>
            <p:seq concurrent="1" nextAc="seek">
              <p:cTn id="30" restart="whenNotActive" fill="hold" evtFilter="cancelBubble" nodeType="interactiveSeq">
                <p:stCondLst>
                  <p:cond evt="onClick" delay="0">
                    <p:tgtEl>
                      <p:spTgt spid="18"/>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childTnLst>
              </p:cTn>
              <p:nextCondLst>
                <p:cond evt="onClick" delay="0">
                  <p:tgtEl>
                    <p:spTgt spid="18"/>
                  </p:tgtEl>
                </p:cond>
              </p:nextCondLst>
            </p:seq>
            <p:seq concurrent="1" nextAc="seek">
              <p:cTn id="35" restart="whenNotActive" fill="hold" evtFilter="cancelBubble" nodeType="interactiveSeq">
                <p:stCondLst>
                  <p:cond evt="onClick" delay="0">
                    <p:tgtEl>
                      <p:spTgt spid="19"/>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1" nodeType="clickEffect">
                                  <p:stCondLst>
                                    <p:cond delay="0"/>
                                  </p:stCondLst>
                                  <p:childTnLst>
                                    <p:set>
                                      <p:cBhvr>
                                        <p:cTn id="39"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19"/>
                  </p:tgtEl>
                </p:cond>
              </p:nextCondLst>
            </p:seq>
          </p:childTnLst>
        </p:cTn>
      </p:par>
    </p:tnLst>
    <p:bldLst>
      <p:bldP spid="4" grpId="0"/>
      <p:bldP spid="4" grpId="1"/>
      <p:bldP spid="20" grpId="0"/>
      <p:bldP spid="20" grpId="1"/>
      <p:bldP spid="21" grpId="0"/>
      <p:bldP spid="21" grpId="1"/>
      <p:bldP spid="22" grpId="0"/>
      <p:bldP spid="22" grpId="1"/>
      <p:bldP spid="23" grpId="0"/>
      <p:bldP spid="2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366165" y="2216915"/>
            <a:ext cx="485955" cy="3046988"/>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2</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15" name="文本框 14"/>
          <p:cNvSpPr txBox="1"/>
          <p:nvPr/>
        </p:nvSpPr>
        <p:spPr>
          <a:xfrm>
            <a:off x="660400" y="2216915"/>
            <a:ext cx="8231900" cy="4524315"/>
          </a:xfrm>
          <a:prstGeom prst="rect">
            <a:avLst/>
          </a:prstGeom>
          <a:noFill/>
        </p:spPr>
        <p:txBody>
          <a:bodyPr wrap="square" rtlCol="0">
            <a:spAutoFit/>
          </a:bodyPr>
          <a:lstStyle/>
          <a:p>
            <a:r>
              <a:rPr lang="en-US" altLang="zh-CN" sz="2400" spc="10" dirty="0"/>
              <a:t>The bullet train can take you to your destination with </a:t>
            </a:r>
            <a:r>
              <a:rPr lang="en-US" altLang="zh-CN" sz="2400" u="sng" spc="10" dirty="0"/>
              <a:t>less hassle</a:t>
            </a:r>
            <a:r>
              <a:rPr lang="en-US" altLang="zh-CN" sz="2400" dirty="0"/>
              <a:t> and a similar speed to flying.</a:t>
            </a:r>
          </a:p>
          <a:p>
            <a:r>
              <a:rPr lang="en-US" altLang="zh-CN" sz="2400" dirty="0"/>
              <a:t>A. fewer troubles</a:t>
            </a:r>
          </a:p>
          <a:p>
            <a:r>
              <a:rPr lang="en-US" altLang="zh-CN" sz="2400" dirty="0"/>
              <a:t>B. smaller room</a:t>
            </a:r>
          </a:p>
          <a:p>
            <a:r>
              <a:rPr lang="en-US" altLang="zh-CN" sz="2400" dirty="0"/>
              <a:t>C. less time </a:t>
            </a:r>
          </a:p>
          <a:p>
            <a:r>
              <a:rPr lang="en-US" altLang="zh-CN" sz="2400" dirty="0"/>
              <a:t>D. less cost</a:t>
            </a:r>
          </a:p>
          <a:p>
            <a:endParaRPr lang="en-US" altLang="zh-CN" sz="2400" dirty="0"/>
          </a:p>
          <a:p>
            <a:r>
              <a:rPr lang="en-US" altLang="zh-CN" sz="2400" dirty="0"/>
              <a:t>The Belt and Road Initiative is now </a:t>
            </a:r>
            <a:r>
              <a:rPr lang="en-US" altLang="zh-CN" sz="2400" u="sng" dirty="0"/>
              <a:t>well underway</a:t>
            </a:r>
            <a:r>
              <a:rPr lang="en-US" altLang="zh-CN" sz="2400" dirty="0"/>
              <a:t>.</a:t>
            </a:r>
          </a:p>
          <a:p>
            <a:r>
              <a:rPr lang="en-US" altLang="zh-CN" sz="2400" dirty="0"/>
              <a:t>A. carried out secretly </a:t>
            </a:r>
          </a:p>
          <a:p>
            <a:r>
              <a:rPr lang="en-US" altLang="zh-CN" sz="2400" dirty="0"/>
              <a:t>B. being carried out</a:t>
            </a:r>
          </a:p>
          <a:p>
            <a:r>
              <a:rPr lang="en-US" altLang="zh-CN" sz="2400" dirty="0"/>
              <a:t>C. welcomed by many </a:t>
            </a:r>
          </a:p>
          <a:p>
            <a:r>
              <a:rPr lang="en-US" altLang="zh-CN" sz="2400" dirty="0"/>
              <a:t>D. well received</a:t>
            </a:r>
          </a:p>
        </p:txBody>
      </p:sp>
      <p:sp>
        <p:nvSpPr>
          <p:cNvPr id="16" name="文本框 15"/>
          <p:cNvSpPr txBox="1"/>
          <p:nvPr/>
        </p:nvSpPr>
        <p:spPr>
          <a:xfrm>
            <a:off x="360000" y="1133951"/>
            <a:ext cx="8532300" cy="830997"/>
          </a:xfrm>
          <a:prstGeom prst="rect">
            <a:avLst/>
          </a:prstGeom>
          <a:noFill/>
        </p:spPr>
        <p:txBody>
          <a:bodyPr wrap="square" rtlCol="0">
            <a:spAutoFit/>
          </a:bodyPr>
          <a:lstStyle/>
          <a:p>
            <a:r>
              <a:rPr lang="en-US" altLang="zh-CN" sz="2400" b="1" dirty="0">
                <a:solidFill>
                  <a:srgbClr val="C6383E"/>
                </a:solidFill>
              </a:rPr>
              <a:t>Task 2</a:t>
            </a:r>
          </a:p>
          <a:p>
            <a:pPr algn="just"/>
            <a:r>
              <a:rPr lang="en-US" altLang="zh-CN" sz="2400" dirty="0">
                <a:latin typeface="Cambria" panose="02040503050406030204" pitchFamily="18" charset="0"/>
                <a:ea typeface="Cambria" panose="02040503050406030204" pitchFamily="18" charset="0"/>
              </a:rPr>
              <a:t>Choose the answer that best explains the underlined part.</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8" name="钥匙2" descr="C:\Users\senj\Desktop\新建文件夹\答案.png" hidden="1">
            <a:hlinkClick r:id="" action="ppaction://noaction"/>
          </p:cNvPr>
          <p:cNvPicPr>
            <a:picLocks noChangeAspect="1" noChangeArrowheads="1"/>
          </p:cNvPicPr>
          <p:nvPr/>
        </p:nvPicPr>
        <p:blipFill>
          <a:blip r:embed="rId2" cstate="print"/>
          <a:srcRect/>
          <a:stretch>
            <a:fillRect/>
          </a:stretch>
        </p:blipFill>
        <p:spPr bwMode="auto">
          <a:xfrm>
            <a:off x="95139" y="1592481"/>
            <a:ext cx="324000" cy="324000"/>
          </a:xfrm>
          <a:prstGeom prst="rect">
            <a:avLst/>
          </a:prstGeom>
          <a:noFill/>
        </p:spPr>
      </p:pic>
      <p:pic>
        <p:nvPicPr>
          <p:cNvPr id="26" name="选择1" descr="圈圈.png"/>
          <p:cNvPicPr>
            <a:picLocks noChangeAspect="1"/>
          </p:cNvPicPr>
          <p:nvPr/>
        </p:nvPicPr>
        <p:blipFill>
          <a:blip r:embed="rId3" cstate="print"/>
          <a:stretch>
            <a:fillRect/>
          </a:stretch>
        </p:blipFill>
        <p:spPr>
          <a:xfrm>
            <a:off x="648442" y="3016239"/>
            <a:ext cx="459698" cy="361192"/>
          </a:xfrm>
          <a:prstGeom prst="rect">
            <a:avLst/>
          </a:prstGeom>
        </p:spPr>
      </p:pic>
      <p:pic>
        <p:nvPicPr>
          <p:cNvPr id="27" name="选择2" descr="圈圈.png"/>
          <p:cNvPicPr>
            <a:picLocks noChangeAspect="1"/>
          </p:cNvPicPr>
          <p:nvPr/>
        </p:nvPicPr>
        <p:blipFill>
          <a:blip r:embed="rId3" cstate="print"/>
          <a:stretch>
            <a:fillRect/>
          </a:stretch>
        </p:blipFill>
        <p:spPr>
          <a:xfrm>
            <a:off x="648442" y="5569152"/>
            <a:ext cx="459698" cy="361192"/>
          </a:xfrm>
          <a:prstGeom prst="rect">
            <a:avLst/>
          </a:prstGeom>
        </p:spPr>
      </p:pic>
      <p:pic>
        <p:nvPicPr>
          <p:cNvPr id="19"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24" name="Picture 3" descr="C:\Users\senj\Desktop\按钮.png">
            <a:hlinkClick r:id="" action="ppaction://hlinkshowjump?jump=next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0" name="矩形 9"/>
          <p:cNvSpPr/>
          <p:nvPr/>
        </p:nvSpPr>
        <p:spPr>
          <a:xfrm>
            <a:off x="734326" y="2317559"/>
            <a:ext cx="7988473" cy="2119511"/>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611725" y="4837734"/>
            <a:ext cx="6408445" cy="184645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127350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childTnLst>
              </p:cTn>
              <p:nextCondLst>
                <p:cond evt="onClick" delay="0">
                  <p:tgtEl>
                    <p:spTgt spid="18"/>
                  </p:tgtEl>
                </p:cond>
              </p:nextCondLst>
            </p:seq>
            <p:seq concurrent="1" nextAc="seek">
              <p:cTn id="9" restart="whenNotActive" fill="hold" evtFilter="cancelBubble" nodeType="interactiveSeq">
                <p:stCondLst>
                  <p:cond evt="onClick" delay="0">
                    <p:tgtEl>
                      <p:spTgt spid="10"/>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childTnLst>
              </p:cTn>
              <p:nextCondLst>
                <p:cond evt="onClick" delay="0">
                  <p:tgtEl>
                    <p:spTgt spid="11"/>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p:cNvSpPr txBox="1"/>
          <p:nvPr/>
        </p:nvSpPr>
        <p:spPr>
          <a:xfrm>
            <a:off x="366165" y="1137712"/>
            <a:ext cx="485955" cy="3046988"/>
          </a:xfrm>
          <a:prstGeom prst="rect">
            <a:avLst/>
          </a:prstGeom>
          <a:noFill/>
        </p:spPr>
        <p:txBody>
          <a:bodyPr wrap="square" rtlCol="0">
            <a:spAutoFit/>
          </a:bodyPr>
          <a:lstStyle/>
          <a:p>
            <a:r>
              <a:rPr lang="en-US" altLang="zh-CN" sz="2400" b="1" dirty="0">
                <a:solidFill>
                  <a:srgbClr val="C6383E"/>
                </a:solidFill>
              </a:rPr>
              <a:t>3</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4</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15" name="文本框 14"/>
          <p:cNvSpPr txBox="1"/>
          <p:nvPr/>
        </p:nvSpPr>
        <p:spPr>
          <a:xfrm>
            <a:off x="660400" y="1137712"/>
            <a:ext cx="8231900" cy="4524315"/>
          </a:xfrm>
          <a:prstGeom prst="rect">
            <a:avLst/>
          </a:prstGeom>
          <a:noFill/>
        </p:spPr>
        <p:txBody>
          <a:bodyPr wrap="square" rtlCol="0">
            <a:spAutoFit/>
          </a:bodyPr>
          <a:lstStyle/>
          <a:p>
            <a:pPr algn="just"/>
            <a:r>
              <a:rPr lang="en-US" altLang="zh-CN" sz="2400" spc="20" dirty="0"/>
              <a:t>The Space Museum </a:t>
            </a:r>
            <a:r>
              <a:rPr lang="en-US" altLang="zh-CN" sz="2400" u="sng" spc="20" dirty="0"/>
              <a:t>features</a:t>
            </a:r>
            <a:r>
              <a:rPr lang="en-US" altLang="zh-CN" sz="2400" spc="20" dirty="0"/>
              <a:t> the history and future of the space</a:t>
            </a:r>
            <a:r>
              <a:rPr lang="en-US" altLang="zh-CN" sz="2400" dirty="0"/>
              <a:t> industry in China.</a:t>
            </a:r>
          </a:p>
          <a:p>
            <a:r>
              <a:rPr lang="en-US" altLang="zh-CN" sz="2400" dirty="0"/>
              <a:t>A. briefly introduces </a:t>
            </a:r>
          </a:p>
          <a:p>
            <a:r>
              <a:rPr lang="en-US" altLang="zh-CN" sz="2400" dirty="0"/>
              <a:t>B. generally displays</a:t>
            </a:r>
          </a:p>
          <a:p>
            <a:r>
              <a:rPr lang="en-US" altLang="zh-CN" sz="2400" dirty="0"/>
              <a:t>C. openly shows </a:t>
            </a:r>
          </a:p>
          <a:p>
            <a:r>
              <a:rPr lang="en-US" altLang="zh-CN" sz="2400" dirty="0"/>
              <a:t>D. typically exhibits</a:t>
            </a:r>
          </a:p>
          <a:p>
            <a:endParaRPr lang="en-US" altLang="zh-CN" sz="2400" dirty="0"/>
          </a:p>
          <a:p>
            <a:r>
              <a:rPr lang="en-US" altLang="zh-CN" sz="2400" dirty="0"/>
              <a:t>Today many of China’s industries are </a:t>
            </a:r>
            <a:r>
              <a:rPr lang="en-US" altLang="zh-CN" sz="2400" u="sng" dirty="0"/>
              <a:t>going bot-y</a:t>
            </a:r>
            <a:r>
              <a:rPr lang="en-US" altLang="zh-CN" sz="2400" dirty="0"/>
              <a:t>!</a:t>
            </a:r>
          </a:p>
          <a:p>
            <a:r>
              <a:rPr lang="en-US" altLang="zh-CN" sz="2400" dirty="0"/>
              <a:t>A. making robots </a:t>
            </a:r>
          </a:p>
          <a:p>
            <a:r>
              <a:rPr lang="en-US" altLang="zh-CN" sz="2400" dirty="0"/>
              <a:t>B. studying robots</a:t>
            </a:r>
          </a:p>
          <a:p>
            <a:r>
              <a:rPr lang="en-US" altLang="zh-CN" sz="2400" dirty="0"/>
              <a:t>C. using robots </a:t>
            </a:r>
          </a:p>
          <a:p>
            <a:r>
              <a:rPr lang="en-US" altLang="zh-CN" sz="2400" dirty="0"/>
              <a:t>D. selling robots</a:t>
            </a:r>
          </a:p>
        </p:txBody>
      </p:sp>
      <p:pic>
        <p:nvPicPr>
          <p:cNvPr id="5"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6"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7" name="钥匙2" descr="C:\Users\senj\Desktop\新建文件夹\答案.png" hidden="1">
            <a:hlinkClick r:id="" action="ppaction://noaction"/>
          </p:cNvPr>
          <p:cNvPicPr>
            <a:picLocks noChangeAspect="1" noChangeArrowheads="1"/>
          </p:cNvPicPr>
          <p:nvPr/>
        </p:nvPicPr>
        <p:blipFill>
          <a:blip r:embed="rId4" cstate="print"/>
          <a:srcRect/>
          <a:stretch>
            <a:fillRect/>
          </a:stretch>
        </p:blipFill>
        <p:spPr bwMode="auto">
          <a:xfrm>
            <a:off x="95139" y="1206370"/>
            <a:ext cx="324000" cy="324000"/>
          </a:xfrm>
          <a:prstGeom prst="rect">
            <a:avLst/>
          </a:prstGeom>
          <a:noFill/>
        </p:spPr>
      </p:pic>
      <p:pic>
        <p:nvPicPr>
          <p:cNvPr id="8" name="选择1" descr="圈圈.png"/>
          <p:cNvPicPr>
            <a:picLocks noChangeAspect="1"/>
          </p:cNvPicPr>
          <p:nvPr/>
        </p:nvPicPr>
        <p:blipFill>
          <a:blip r:embed="rId5" cstate="print"/>
          <a:stretch>
            <a:fillRect/>
          </a:stretch>
        </p:blipFill>
        <p:spPr>
          <a:xfrm>
            <a:off x="648442" y="3025251"/>
            <a:ext cx="459698" cy="361192"/>
          </a:xfrm>
          <a:prstGeom prst="rect">
            <a:avLst/>
          </a:prstGeom>
        </p:spPr>
      </p:pic>
      <p:pic>
        <p:nvPicPr>
          <p:cNvPr id="9" name="选择2" descr="圈圈.png"/>
          <p:cNvPicPr>
            <a:picLocks noChangeAspect="1"/>
          </p:cNvPicPr>
          <p:nvPr/>
        </p:nvPicPr>
        <p:blipFill>
          <a:blip r:embed="rId5" cstate="print"/>
          <a:stretch>
            <a:fillRect/>
          </a:stretch>
        </p:blipFill>
        <p:spPr>
          <a:xfrm>
            <a:off x="648442" y="4858408"/>
            <a:ext cx="459698" cy="361192"/>
          </a:xfrm>
          <a:prstGeom prst="rect">
            <a:avLst/>
          </a:prstGeom>
        </p:spPr>
      </p:pic>
      <p:sp>
        <p:nvSpPr>
          <p:cNvPr id="10" name="矩形 9"/>
          <p:cNvSpPr/>
          <p:nvPr/>
        </p:nvSpPr>
        <p:spPr>
          <a:xfrm>
            <a:off x="734326" y="1237484"/>
            <a:ext cx="7988473" cy="2119511"/>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09364" y="3726309"/>
            <a:ext cx="7988473" cy="189420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3170746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nextCondLst>
                <p:cond evt="onClick" delay="0">
                  <p:tgtEl>
                    <p:spTgt spid="7"/>
                  </p:tgtEl>
                </p:cond>
              </p:nextCondLst>
            </p:seq>
            <p:seq concurrent="1" nextAc="seek">
              <p:cTn id="9" restart="whenNotActive" fill="hold" evtFilter="cancelBubble" nodeType="interactiveSeq">
                <p:stCondLst>
                  <p:cond evt="onClick" delay="0">
                    <p:tgtEl>
                      <p:spTgt spid="10"/>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nextCondLst>
                <p:cond evt="onClick" delay="0">
                  <p:tgtEl>
                    <p:spTgt spid="10"/>
                  </p:tgtEl>
                </p:cond>
              </p:nextCondLst>
            </p:seq>
            <p:seq concurrent="1" nextAc="seek">
              <p:cTn id="14" restart="whenNotActive" fill="hold" evtFilter="cancelBubble" nodeType="interactiveSeq">
                <p:stCondLst>
                  <p:cond evt="onClick" delay="0">
                    <p:tgtEl>
                      <p:spTgt spid="11"/>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nextCondLst>
                <p:cond evt="onClick" delay="0">
                  <p:tgtEl>
                    <p:spTgt spid="11"/>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文本框 6"/>
          <p:cNvSpPr txBox="1"/>
          <p:nvPr/>
        </p:nvSpPr>
        <p:spPr>
          <a:xfrm>
            <a:off x="366165" y="1137712"/>
            <a:ext cx="485955" cy="3046988"/>
          </a:xfrm>
          <a:prstGeom prst="rect">
            <a:avLst/>
          </a:prstGeom>
          <a:noFill/>
        </p:spPr>
        <p:txBody>
          <a:bodyPr wrap="square" rtlCol="0">
            <a:spAutoFit/>
          </a:bodyPr>
          <a:lstStyle/>
          <a:p>
            <a:r>
              <a:rPr lang="en-US" altLang="zh-CN" sz="2400" b="1" dirty="0">
                <a:solidFill>
                  <a:srgbClr val="C6383E"/>
                </a:solidFill>
              </a:rPr>
              <a:t>5</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6</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8" name="文本框 7"/>
          <p:cNvSpPr txBox="1"/>
          <p:nvPr/>
        </p:nvSpPr>
        <p:spPr>
          <a:xfrm>
            <a:off x="660400" y="1137712"/>
            <a:ext cx="8231900" cy="4893647"/>
          </a:xfrm>
          <a:prstGeom prst="rect">
            <a:avLst/>
          </a:prstGeom>
          <a:noFill/>
        </p:spPr>
        <p:txBody>
          <a:bodyPr wrap="square" rtlCol="0">
            <a:spAutoFit/>
          </a:bodyPr>
          <a:lstStyle/>
          <a:p>
            <a:r>
              <a:rPr lang="en-US" altLang="zh-CN" sz="2400" spc="-20" dirty="0"/>
              <a:t>Visiting one of these ancient towns or villages should be </a:t>
            </a:r>
            <a:r>
              <a:rPr lang="en-US" altLang="zh-CN" sz="2400" u="sng" spc="-20" dirty="0"/>
              <a:t>at the top</a:t>
            </a:r>
            <a:r>
              <a:rPr lang="en-US" altLang="zh-CN" sz="2400" u="sng" dirty="0"/>
              <a:t> of the list</a:t>
            </a:r>
            <a:r>
              <a:rPr lang="en-US" altLang="zh-CN" sz="2400" dirty="0"/>
              <a:t> for any trip to China.</a:t>
            </a:r>
          </a:p>
          <a:p>
            <a:r>
              <a:rPr lang="en-US" altLang="zh-CN" sz="2400" dirty="0"/>
              <a:t>A. the most expensive part </a:t>
            </a:r>
          </a:p>
          <a:p>
            <a:r>
              <a:rPr lang="en-US" altLang="zh-CN" sz="2400" dirty="0"/>
              <a:t>B. the cheapest part</a:t>
            </a:r>
          </a:p>
          <a:p>
            <a:r>
              <a:rPr lang="en-US" altLang="zh-CN" sz="2400" dirty="0"/>
              <a:t>C. the most important part </a:t>
            </a:r>
          </a:p>
          <a:p>
            <a:r>
              <a:rPr lang="en-US" altLang="zh-CN" sz="2400" dirty="0"/>
              <a:t>D. the only choice</a:t>
            </a:r>
          </a:p>
          <a:p>
            <a:endParaRPr lang="en-US" altLang="zh-CN" sz="2400" dirty="0"/>
          </a:p>
          <a:p>
            <a:r>
              <a:rPr lang="en-US" altLang="zh-CN" sz="2400" spc="40" dirty="0"/>
              <a:t>Through third-party plug-ins, social media apps can be used to</a:t>
            </a:r>
            <a:r>
              <a:rPr lang="en-US" altLang="zh-CN" sz="2400" dirty="0"/>
              <a:t> pay cellphone, </a:t>
            </a:r>
            <a:r>
              <a:rPr lang="en-US" altLang="zh-CN" sz="2400" u="sng" dirty="0"/>
              <a:t>utility</a:t>
            </a:r>
            <a:r>
              <a:rPr lang="en-US" altLang="zh-CN" sz="2400" dirty="0"/>
              <a:t> or other bills.</a:t>
            </a:r>
          </a:p>
          <a:p>
            <a:r>
              <a:rPr lang="en-US" altLang="zh-CN" sz="2400" dirty="0"/>
              <a:t>A. housework </a:t>
            </a:r>
          </a:p>
          <a:p>
            <a:r>
              <a:rPr lang="en-US" altLang="zh-CN" sz="2400" dirty="0"/>
              <a:t>B. services including electricity, water, natural gas, etc.</a:t>
            </a:r>
          </a:p>
          <a:p>
            <a:r>
              <a:rPr lang="en-US" altLang="zh-CN" sz="2400" dirty="0"/>
              <a:t>C. babysitting </a:t>
            </a:r>
          </a:p>
          <a:p>
            <a:r>
              <a:rPr lang="en-US" altLang="zh-CN" sz="2400" dirty="0"/>
              <a:t>D. healthcare, pet medication, and household repairs</a:t>
            </a:r>
          </a:p>
        </p:txBody>
      </p:sp>
      <p:pic>
        <p:nvPicPr>
          <p:cNvPr id="9"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2" name="钥匙2" descr="C:\Users\senj\Desktop\新建文件夹\答案.png" hidden="1">
            <a:hlinkClick r:id="" action="ppaction://noaction"/>
            <a:extLst>
              <a:ext uri="{FF2B5EF4-FFF2-40B4-BE49-F238E27FC236}">
                <a16:creationId xmlns:a16="http://schemas.microsoft.com/office/drawing/2014/main" id="{5470A247-DE77-4B6C-0465-38E850C01A93}"/>
              </a:ext>
            </a:extLst>
          </p:cNvPr>
          <p:cNvPicPr>
            <a:picLocks noChangeAspect="1" noChangeArrowheads="1"/>
          </p:cNvPicPr>
          <p:nvPr/>
        </p:nvPicPr>
        <p:blipFill>
          <a:blip r:embed="rId4" cstate="print"/>
          <a:srcRect/>
          <a:stretch>
            <a:fillRect/>
          </a:stretch>
        </p:blipFill>
        <p:spPr bwMode="auto">
          <a:xfrm>
            <a:off x="95139" y="1206370"/>
            <a:ext cx="324000" cy="324000"/>
          </a:xfrm>
          <a:prstGeom prst="rect">
            <a:avLst/>
          </a:prstGeom>
          <a:noFill/>
        </p:spPr>
      </p:pic>
      <p:pic>
        <p:nvPicPr>
          <p:cNvPr id="3" name="选择1" descr="圈圈.png">
            <a:extLst>
              <a:ext uri="{FF2B5EF4-FFF2-40B4-BE49-F238E27FC236}">
                <a16:creationId xmlns:a16="http://schemas.microsoft.com/office/drawing/2014/main" id="{DC756351-7770-8EB1-D1C3-0DB6D3C27A72}"/>
              </a:ext>
            </a:extLst>
          </p:cNvPr>
          <p:cNvPicPr>
            <a:picLocks noChangeAspect="1"/>
          </p:cNvPicPr>
          <p:nvPr/>
        </p:nvPicPr>
        <p:blipFill>
          <a:blip r:embed="rId5" cstate="print"/>
          <a:stretch>
            <a:fillRect/>
          </a:stretch>
        </p:blipFill>
        <p:spPr>
          <a:xfrm>
            <a:off x="648442" y="2665520"/>
            <a:ext cx="459698" cy="361192"/>
          </a:xfrm>
          <a:prstGeom prst="rect">
            <a:avLst/>
          </a:prstGeom>
        </p:spPr>
      </p:pic>
      <p:pic>
        <p:nvPicPr>
          <p:cNvPr id="4" name="选择2" descr="圈圈.png">
            <a:extLst>
              <a:ext uri="{FF2B5EF4-FFF2-40B4-BE49-F238E27FC236}">
                <a16:creationId xmlns:a16="http://schemas.microsoft.com/office/drawing/2014/main" id="{DEA9A4FA-CE43-1164-152B-1FF08A71F5D5}"/>
              </a:ext>
            </a:extLst>
          </p:cNvPr>
          <p:cNvPicPr>
            <a:picLocks noChangeAspect="1"/>
          </p:cNvPicPr>
          <p:nvPr/>
        </p:nvPicPr>
        <p:blipFill>
          <a:blip r:embed="rId5" cstate="print"/>
          <a:stretch>
            <a:fillRect/>
          </a:stretch>
        </p:blipFill>
        <p:spPr>
          <a:xfrm>
            <a:off x="648442" y="5593313"/>
            <a:ext cx="459698" cy="361192"/>
          </a:xfrm>
          <a:prstGeom prst="rect">
            <a:avLst/>
          </a:prstGeom>
        </p:spPr>
      </p:pic>
      <p:sp>
        <p:nvSpPr>
          <p:cNvPr id="6" name="矩形 5">
            <a:extLst>
              <a:ext uri="{FF2B5EF4-FFF2-40B4-BE49-F238E27FC236}">
                <a16:creationId xmlns:a16="http://schemas.microsoft.com/office/drawing/2014/main" id="{A996FA74-85C6-C32E-A5E7-D4B764A0FD51}"/>
              </a:ext>
            </a:extLst>
          </p:cNvPr>
          <p:cNvSpPr/>
          <p:nvPr/>
        </p:nvSpPr>
        <p:spPr>
          <a:xfrm>
            <a:off x="734326" y="1237484"/>
            <a:ext cx="7988473" cy="2119511"/>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2A9B2A7-D9ED-2B06-179F-814C743109F8}"/>
              </a:ext>
            </a:extLst>
          </p:cNvPr>
          <p:cNvSpPr/>
          <p:nvPr/>
        </p:nvSpPr>
        <p:spPr>
          <a:xfrm>
            <a:off x="719177" y="3767820"/>
            <a:ext cx="7988473" cy="226353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652819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2"/>
                  </p:tgtEl>
                </p:cond>
              </p:nextCondLst>
            </p:seq>
            <p:seq concurrent="1" nextAc="seek">
              <p:cTn id="9" restart="whenNotActive" fill="hold" evtFilter="cancelBubble" nodeType="interactiveSeq">
                <p:stCondLst>
                  <p:cond evt="onClick" delay="0">
                    <p:tgtEl>
                      <p:spTgt spid="6"/>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nextCondLst>
                <p:cond evt="onClick" delay="0">
                  <p:tgtEl>
                    <p:spTgt spid="6"/>
                  </p:tgtEl>
                </p:cond>
              </p:nextCondLst>
            </p:seq>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15"/>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6"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sp>
        <p:nvSpPr>
          <p:cNvPr id="7" name="文本框 6"/>
          <p:cNvSpPr txBox="1"/>
          <p:nvPr/>
        </p:nvSpPr>
        <p:spPr>
          <a:xfrm>
            <a:off x="366165" y="1137712"/>
            <a:ext cx="485955" cy="3046988"/>
          </a:xfrm>
          <a:prstGeom prst="rect">
            <a:avLst/>
          </a:prstGeom>
          <a:noFill/>
        </p:spPr>
        <p:txBody>
          <a:bodyPr wrap="square" rtlCol="0">
            <a:spAutoFit/>
          </a:bodyPr>
          <a:lstStyle/>
          <a:p>
            <a:r>
              <a:rPr lang="en-US" altLang="zh-CN" sz="2400" b="1" dirty="0">
                <a:solidFill>
                  <a:srgbClr val="C6383E"/>
                </a:solidFill>
              </a:rPr>
              <a:t>7</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8</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8" name="文本框 7"/>
          <p:cNvSpPr txBox="1"/>
          <p:nvPr/>
        </p:nvSpPr>
        <p:spPr>
          <a:xfrm>
            <a:off x="660400" y="1137712"/>
            <a:ext cx="8231900" cy="4524315"/>
          </a:xfrm>
          <a:prstGeom prst="rect">
            <a:avLst/>
          </a:prstGeom>
          <a:noFill/>
        </p:spPr>
        <p:txBody>
          <a:bodyPr wrap="square" rtlCol="0">
            <a:spAutoFit/>
          </a:bodyPr>
          <a:lstStyle/>
          <a:p>
            <a:r>
              <a:rPr lang="en-US" altLang="zh-CN" sz="2400" spc="90" dirty="0"/>
              <a:t>With one little scan, you </a:t>
            </a:r>
            <a:r>
              <a:rPr lang="en-US" altLang="zh-CN" sz="2400" u="sng" spc="90" dirty="0"/>
              <a:t>are off</a:t>
            </a:r>
            <a:r>
              <a:rPr lang="en-US" altLang="zh-CN" sz="2400" spc="90" dirty="0"/>
              <a:t> on your shared bike to your</a:t>
            </a:r>
            <a:r>
              <a:rPr lang="en-US" altLang="zh-CN" sz="2400" dirty="0"/>
              <a:t> destination.</a:t>
            </a:r>
          </a:p>
          <a:p>
            <a:r>
              <a:rPr lang="en-US" altLang="zh-CN" sz="2400" dirty="0"/>
              <a:t>A. start your trip </a:t>
            </a:r>
          </a:p>
          <a:p>
            <a:r>
              <a:rPr lang="en-US" altLang="zh-CN" sz="2400" dirty="0"/>
              <a:t>B. are far away</a:t>
            </a:r>
          </a:p>
          <a:p>
            <a:r>
              <a:rPr lang="en-US" altLang="zh-CN" sz="2400" dirty="0"/>
              <a:t>C. try to escape </a:t>
            </a:r>
          </a:p>
          <a:p>
            <a:r>
              <a:rPr lang="en-US" altLang="zh-CN" sz="2400" dirty="0"/>
              <a:t>D. are left</a:t>
            </a:r>
          </a:p>
          <a:p>
            <a:endParaRPr lang="en-US" altLang="zh-CN" sz="2400" dirty="0"/>
          </a:p>
          <a:p>
            <a:r>
              <a:rPr lang="en-US" altLang="zh-CN" sz="2400" dirty="0"/>
              <a:t>The QR code has made many of your daily purchases </a:t>
            </a:r>
            <a:r>
              <a:rPr lang="en-US" altLang="zh-CN" sz="2400" u="sng" dirty="0"/>
              <a:t>a breeze</a:t>
            </a:r>
            <a:r>
              <a:rPr lang="en-US" altLang="zh-CN" sz="2400" dirty="0"/>
              <a:t>.</a:t>
            </a:r>
          </a:p>
          <a:p>
            <a:r>
              <a:rPr lang="en-US" altLang="zh-CN" sz="2400" dirty="0"/>
              <a:t>A. very easy </a:t>
            </a:r>
          </a:p>
          <a:p>
            <a:r>
              <a:rPr lang="en-US" altLang="zh-CN" sz="2400" dirty="0"/>
              <a:t>B. much cheaper</a:t>
            </a:r>
          </a:p>
          <a:p>
            <a:r>
              <a:rPr lang="en-US" altLang="zh-CN" sz="2400" dirty="0"/>
              <a:t>C. very difficult </a:t>
            </a:r>
          </a:p>
          <a:p>
            <a:r>
              <a:rPr lang="en-US" altLang="zh-CN" sz="2400" dirty="0"/>
              <a:t>D. more expensive</a:t>
            </a:r>
          </a:p>
        </p:txBody>
      </p:sp>
      <p:pic>
        <p:nvPicPr>
          <p:cNvPr id="3" name="钥匙2" descr="C:\Users\senj\Desktop\新建文件夹\答案.png" hidden="1">
            <a:hlinkClick r:id="" action="ppaction://noaction"/>
            <a:extLst>
              <a:ext uri="{FF2B5EF4-FFF2-40B4-BE49-F238E27FC236}">
                <a16:creationId xmlns:a16="http://schemas.microsoft.com/office/drawing/2014/main" id="{41B1F379-34B0-44C5-E9B6-C4EA3239756E}"/>
              </a:ext>
            </a:extLst>
          </p:cNvPr>
          <p:cNvPicPr>
            <a:picLocks noChangeAspect="1" noChangeArrowheads="1"/>
          </p:cNvPicPr>
          <p:nvPr/>
        </p:nvPicPr>
        <p:blipFill>
          <a:blip r:embed="rId5" cstate="print"/>
          <a:srcRect/>
          <a:stretch>
            <a:fillRect/>
          </a:stretch>
        </p:blipFill>
        <p:spPr bwMode="auto">
          <a:xfrm>
            <a:off x="95139" y="1206370"/>
            <a:ext cx="324000" cy="324000"/>
          </a:xfrm>
          <a:prstGeom prst="rect">
            <a:avLst/>
          </a:prstGeom>
          <a:noFill/>
        </p:spPr>
      </p:pic>
      <p:pic>
        <p:nvPicPr>
          <p:cNvPr id="4" name="选择1" descr="圈圈.png">
            <a:extLst>
              <a:ext uri="{FF2B5EF4-FFF2-40B4-BE49-F238E27FC236}">
                <a16:creationId xmlns:a16="http://schemas.microsoft.com/office/drawing/2014/main" id="{CF87722C-9890-C0E5-3AEA-72B278D47934}"/>
              </a:ext>
            </a:extLst>
          </p:cNvPr>
          <p:cNvPicPr>
            <a:picLocks noChangeAspect="1"/>
          </p:cNvPicPr>
          <p:nvPr/>
        </p:nvPicPr>
        <p:blipFill>
          <a:blip r:embed="rId6" cstate="print"/>
          <a:stretch>
            <a:fillRect/>
          </a:stretch>
        </p:blipFill>
        <p:spPr>
          <a:xfrm>
            <a:off x="648442" y="1935945"/>
            <a:ext cx="459698" cy="361192"/>
          </a:xfrm>
          <a:prstGeom prst="rect">
            <a:avLst/>
          </a:prstGeom>
        </p:spPr>
      </p:pic>
      <p:pic>
        <p:nvPicPr>
          <p:cNvPr id="14" name="选择2" descr="圈圈.png">
            <a:extLst>
              <a:ext uri="{FF2B5EF4-FFF2-40B4-BE49-F238E27FC236}">
                <a16:creationId xmlns:a16="http://schemas.microsoft.com/office/drawing/2014/main" id="{6130B6DF-8949-180D-4CD1-A331A528E407}"/>
              </a:ext>
            </a:extLst>
          </p:cNvPr>
          <p:cNvPicPr>
            <a:picLocks noChangeAspect="1"/>
          </p:cNvPicPr>
          <p:nvPr/>
        </p:nvPicPr>
        <p:blipFill>
          <a:blip r:embed="rId6" cstate="print"/>
          <a:stretch>
            <a:fillRect/>
          </a:stretch>
        </p:blipFill>
        <p:spPr>
          <a:xfrm>
            <a:off x="648442" y="4139525"/>
            <a:ext cx="459698" cy="361192"/>
          </a:xfrm>
          <a:prstGeom prst="rect">
            <a:avLst/>
          </a:prstGeom>
        </p:spPr>
      </p:pic>
      <p:sp>
        <p:nvSpPr>
          <p:cNvPr id="15" name="矩形 14">
            <a:extLst>
              <a:ext uri="{FF2B5EF4-FFF2-40B4-BE49-F238E27FC236}">
                <a16:creationId xmlns:a16="http://schemas.microsoft.com/office/drawing/2014/main" id="{3194E14A-5F1D-5941-031C-B7F1F33FF3B1}"/>
              </a:ext>
            </a:extLst>
          </p:cNvPr>
          <p:cNvSpPr/>
          <p:nvPr/>
        </p:nvSpPr>
        <p:spPr>
          <a:xfrm>
            <a:off x="734326" y="1237484"/>
            <a:ext cx="7988473" cy="2119511"/>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79093D34-8D4F-F014-703E-F263A1453BF7}"/>
              </a:ext>
            </a:extLst>
          </p:cNvPr>
          <p:cNvSpPr/>
          <p:nvPr/>
        </p:nvSpPr>
        <p:spPr>
          <a:xfrm>
            <a:off x="719177" y="3767820"/>
            <a:ext cx="7988473" cy="1894207"/>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506312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3"/>
                  </p:tgtEl>
                </p:cond>
              </p:nextCondLst>
            </p:seq>
            <p:seq concurrent="1" nextAc="seek">
              <p:cTn id="9" restart="whenNotActive" fill="hold" evtFilter="cancelBubble" nodeType="interactiveSeq">
                <p:stCondLst>
                  <p:cond evt="onClick" delay="0">
                    <p:tgtEl>
                      <p:spTgt spid="15"/>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14" restart="whenNotActive" fill="hold" evtFilter="cancelBubble" nodeType="interactiveSeq">
                <p:stCondLst>
                  <p:cond evt="onClick" delay="0">
                    <p:tgtEl>
                      <p:spTgt spid="16"/>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16"/>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3" descr="C:\Users\senj\Desktop\按钮.png"/>
          <p:cNvPicPr>
            <a:picLocks noChangeAspect="1" noChangeArrowheads="1"/>
          </p:cNvPicPr>
          <p:nvPr/>
        </p:nvPicPr>
        <p:blipFill>
          <a:blip r:embed="rId2" cstate="print"/>
          <a:srcRect l="12911" t="21436" r="39626" b="60503"/>
          <a:stretch>
            <a:fillRect/>
          </a:stretch>
        </p:blipFill>
        <p:spPr bwMode="auto">
          <a:xfrm>
            <a:off x="8366400" y="6429396"/>
            <a:ext cx="259557" cy="254794"/>
          </a:xfrm>
          <a:prstGeom prst="rect">
            <a:avLst/>
          </a:prstGeom>
          <a:noFill/>
        </p:spPr>
      </p:pic>
      <p:pic>
        <p:nvPicPr>
          <p:cNvPr id="18"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20" name="文本框 19"/>
          <p:cNvSpPr txBox="1"/>
          <p:nvPr/>
        </p:nvSpPr>
        <p:spPr>
          <a:xfrm>
            <a:off x="366165" y="3691792"/>
            <a:ext cx="485955" cy="1938992"/>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r>
              <a:rPr lang="en-US" altLang="zh-CN" sz="2400" b="1" dirty="0">
                <a:solidFill>
                  <a:srgbClr val="C6383E"/>
                </a:solidFill>
              </a:rPr>
              <a:t>2</a:t>
            </a:r>
          </a:p>
          <a:p>
            <a:endParaRPr lang="en-US" altLang="zh-CN" sz="2400" b="1" dirty="0">
              <a:solidFill>
                <a:srgbClr val="C6383E"/>
              </a:solidFill>
              <a:latin typeface="Cambria" panose="02040503050406030204" pitchFamily="18" charset="0"/>
              <a:cs typeface="Times New Roman" panose="02020603050405020304" pitchFamily="18" charset="0"/>
            </a:endParaRPr>
          </a:p>
          <a:p>
            <a:r>
              <a:rPr lang="en-US" altLang="zh-CN" sz="2400" b="1" dirty="0">
                <a:solidFill>
                  <a:srgbClr val="C6383E"/>
                </a:solidFill>
              </a:rPr>
              <a:t>3</a:t>
            </a:r>
          </a:p>
        </p:txBody>
      </p:sp>
      <p:sp>
        <p:nvSpPr>
          <p:cNvPr id="21" name="文本框 20"/>
          <p:cNvSpPr txBox="1"/>
          <p:nvPr/>
        </p:nvSpPr>
        <p:spPr>
          <a:xfrm>
            <a:off x="660400" y="3691792"/>
            <a:ext cx="8231900" cy="2308324"/>
          </a:xfrm>
          <a:prstGeom prst="rect">
            <a:avLst/>
          </a:prstGeom>
          <a:noFill/>
        </p:spPr>
        <p:txBody>
          <a:bodyPr wrap="square" rtlCol="0">
            <a:spAutoFit/>
          </a:bodyPr>
          <a:lstStyle/>
          <a:p>
            <a:r>
              <a:rPr lang="en-US" altLang="zh-CN" sz="2400" spc="-50" dirty="0"/>
              <a:t>The government is trying to lower the taxes to encourage</a:t>
            </a:r>
            <a:r>
              <a:rPr lang="en-US" altLang="zh-CN" sz="2400" dirty="0"/>
              <a:t> ________ companies.</a:t>
            </a:r>
          </a:p>
          <a:p>
            <a:r>
              <a:rPr lang="en-US" altLang="zh-CN" sz="2400" dirty="0"/>
              <a:t>____________ </a:t>
            </a:r>
            <a:r>
              <a:rPr lang="en-US" altLang="zh-CN" sz="2400" spc="-20" dirty="0"/>
              <a:t>this one, he has also written a lot of songs that are</a:t>
            </a:r>
            <a:r>
              <a:rPr lang="en-US" altLang="zh-CN" sz="2400" dirty="0"/>
              <a:t> popular with millions of fans.</a:t>
            </a:r>
          </a:p>
          <a:p>
            <a:r>
              <a:rPr lang="en-US" altLang="zh-CN" sz="2400" spc="-60" dirty="0"/>
              <a:t>In order to attract foreign business, China has made huge investment</a:t>
            </a:r>
            <a:r>
              <a:rPr lang="en-US" altLang="zh-CN" sz="2400" dirty="0"/>
              <a:t> in ____________ recently.</a:t>
            </a:r>
          </a:p>
        </p:txBody>
      </p:sp>
      <p:sp>
        <p:nvSpPr>
          <p:cNvPr id="22" name="文本框 21"/>
          <p:cNvSpPr txBox="1"/>
          <p:nvPr/>
        </p:nvSpPr>
        <p:spPr>
          <a:xfrm>
            <a:off x="360000" y="1133951"/>
            <a:ext cx="8532300" cy="1200329"/>
          </a:xfrm>
          <a:prstGeom prst="rect">
            <a:avLst/>
          </a:prstGeom>
          <a:noFill/>
        </p:spPr>
        <p:txBody>
          <a:bodyPr wrap="square" rtlCol="0">
            <a:spAutoFit/>
          </a:bodyPr>
          <a:lstStyle/>
          <a:p>
            <a:r>
              <a:rPr lang="en-US" altLang="zh-CN" sz="2400" b="1" dirty="0">
                <a:solidFill>
                  <a:srgbClr val="C6383E"/>
                </a:solidFill>
              </a:rPr>
              <a:t>Task 1</a:t>
            </a:r>
          </a:p>
          <a:p>
            <a:pPr algn="just"/>
            <a:r>
              <a:rPr lang="en-US" altLang="zh-CN" sz="2400" spc="30" dirty="0">
                <a:latin typeface="Cambria" panose="02040503050406030204" pitchFamily="18" charset="0"/>
                <a:ea typeface="Cambria" panose="02040503050406030204" pitchFamily="18" charset="0"/>
              </a:rPr>
              <a:t>Fill in the blanks with one of the words or phrases given in the</a:t>
            </a:r>
            <a:r>
              <a:rPr lang="en-US" altLang="zh-CN" sz="2400" dirty="0">
                <a:latin typeface="Cambria" panose="02040503050406030204" pitchFamily="18" charset="0"/>
                <a:ea typeface="Cambria" panose="02040503050406030204" pitchFamily="18" charset="0"/>
              </a:rPr>
              <a:t> box, making possible changes where necessary.</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4" name="圆角矩形 3"/>
          <p:cNvSpPr/>
          <p:nvPr/>
        </p:nvSpPr>
        <p:spPr>
          <a:xfrm>
            <a:off x="467715" y="2420930"/>
            <a:ext cx="8323860" cy="1179520"/>
          </a:xfrm>
          <a:prstGeom prst="roundRect">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557145" y="2527028"/>
            <a:ext cx="1898725" cy="461665"/>
          </a:xfrm>
          <a:prstGeom prst="rect">
            <a:avLst/>
          </a:prstGeom>
          <a:noFill/>
        </p:spPr>
        <p:txBody>
          <a:bodyPr wrap="none" rtlCol="0">
            <a:spAutoFit/>
          </a:bodyPr>
          <a:lstStyle/>
          <a:p>
            <a:pPr algn="just"/>
            <a:r>
              <a:rPr lang="en-US" altLang="zh-CN" sz="2400" dirty="0"/>
              <a:t>infrastructure</a:t>
            </a:r>
            <a:endParaRPr lang="zh-CN" altLang="en-US" sz="2400" dirty="0"/>
          </a:p>
        </p:txBody>
      </p:sp>
      <p:sp>
        <p:nvSpPr>
          <p:cNvPr id="24" name="文本框 23"/>
          <p:cNvSpPr txBox="1"/>
          <p:nvPr/>
        </p:nvSpPr>
        <p:spPr>
          <a:xfrm>
            <a:off x="557144" y="3028718"/>
            <a:ext cx="1898725" cy="461665"/>
          </a:xfrm>
          <a:prstGeom prst="rect">
            <a:avLst/>
          </a:prstGeom>
          <a:noFill/>
        </p:spPr>
        <p:txBody>
          <a:bodyPr wrap="none" rtlCol="0">
            <a:spAutoFit/>
          </a:bodyPr>
          <a:lstStyle/>
          <a:p>
            <a:pPr algn="just"/>
            <a:r>
              <a:rPr lang="en-US" altLang="zh-CN" sz="2400" dirty="0"/>
              <a:t>participate in</a:t>
            </a:r>
            <a:endParaRPr lang="zh-CN" altLang="en-US" sz="2400" dirty="0"/>
          </a:p>
        </p:txBody>
      </p:sp>
      <p:sp>
        <p:nvSpPr>
          <p:cNvPr id="25" name="文本框 24"/>
          <p:cNvSpPr txBox="1"/>
          <p:nvPr/>
        </p:nvSpPr>
        <p:spPr>
          <a:xfrm>
            <a:off x="2756736" y="2527028"/>
            <a:ext cx="1752146" cy="461665"/>
          </a:xfrm>
          <a:prstGeom prst="rect">
            <a:avLst/>
          </a:prstGeom>
          <a:noFill/>
        </p:spPr>
        <p:txBody>
          <a:bodyPr wrap="none" rtlCol="0">
            <a:spAutoFit/>
          </a:bodyPr>
          <a:lstStyle/>
          <a:p>
            <a:pPr algn="just"/>
            <a:r>
              <a:rPr lang="en-US" altLang="zh-CN" sz="2400" dirty="0"/>
              <a:t>deep-rooted</a:t>
            </a:r>
            <a:endParaRPr lang="zh-CN" altLang="en-US" sz="2400" dirty="0"/>
          </a:p>
        </p:txBody>
      </p:sp>
      <p:sp>
        <p:nvSpPr>
          <p:cNvPr id="26" name="文本框 25"/>
          <p:cNvSpPr txBox="1"/>
          <p:nvPr/>
        </p:nvSpPr>
        <p:spPr>
          <a:xfrm>
            <a:off x="2756736" y="3028718"/>
            <a:ext cx="1524776" cy="461665"/>
          </a:xfrm>
          <a:prstGeom prst="rect">
            <a:avLst/>
          </a:prstGeom>
          <a:noFill/>
        </p:spPr>
        <p:txBody>
          <a:bodyPr wrap="none" rtlCol="0">
            <a:spAutoFit/>
          </a:bodyPr>
          <a:lstStyle/>
          <a:p>
            <a:pPr algn="just"/>
            <a:r>
              <a:rPr lang="en-US" altLang="zh-CN" sz="2400" dirty="0"/>
              <a:t>in addition</a:t>
            </a:r>
            <a:endParaRPr lang="zh-CN" altLang="en-US" sz="2400" dirty="0"/>
          </a:p>
        </p:txBody>
      </p:sp>
      <p:sp>
        <p:nvSpPr>
          <p:cNvPr id="27" name="文本框 26"/>
          <p:cNvSpPr txBox="1"/>
          <p:nvPr/>
        </p:nvSpPr>
        <p:spPr>
          <a:xfrm>
            <a:off x="4809748" y="2527028"/>
            <a:ext cx="1176091" cy="461665"/>
          </a:xfrm>
          <a:prstGeom prst="rect">
            <a:avLst/>
          </a:prstGeom>
          <a:noFill/>
        </p:spPr>
        <p:txBody>
          <a:bodyPr wrap="none" rtlCol="0">
            <a:spAutoFit/>
          </a:bodyPr>
          <a:lstStyle/>
          <a:p>
            <a:pPr algn="just"/>
            <a:r>
              <a:rPr lang="en-US" altLang="zh-CN" sz="2400" dirty="0"/>
              <a:t>start-up</a:t>
            </a:r>
            <a:endParaRPr lang="zh-CN" altLang="en-US" sz="2400" dirty="0"/>
          </a:p>
        </p:txBody>
      </p:sp>
      <p:sp>
        <p:nvSpPr>
          <p:cNvPr id="28" name="文本框 27"/>
          <p:cNvSpPr txBox="1"/>
          <p:nvPr/>
        </p:nvSpPr>
        <p:spPr>
          <a:xfrm>
            <a:off x="4809748" y="3028718"/>
            <a:ext cx="1855188" cy="461665"/>
          </a:xfrm>
          <a:prstGeom prst="rect">
            <a:avLst/>
          </a:prstGeom>
          <a:noFill/>
        </p:spPr>
        <p:txBody>
          <a:bodyPr wrap="none" rtlCol="0">
            <a:spAutoFit/>
          </a:bodyPr>
          <a:lstStyle/>
          <a:p>
            <a:pPr algn="just"/>
            <a:r>
              <a:rPr lang="en-US" altLang="zh-CN" sz="2400" dirty="0"/>
              <a:t>in addition to</a:t>
            </a:r>
            <a:endParaRPr lang="zh-CN" altLang="en-US" sz="2400" dirty="0"/>
          </a:p>
        </p:txBody>
      </p:sp>
      <p:sp>
        <p:nvSpPr>
          <p:cNvPr id="29" name="文本框 28"/>
          <p:cNvSpPr txBox="1"/>
          <p:nvPr/>
        </p:nvSpPr>
        <p:spPr>
          <a:xfrm>
            <a:off x="6965803" y="2527028"/>
            <a:ext cx="1079142" cy="461665"/>
          </a:xfrm>
          <a:prstGeom prst="rect">
            <a:avLst/>
          </a:prstGeom>
          <a:noFill/>
        </p:spPr>
        <p:txBody>
          <a:bodyPr wrap="none" rtlCol="0">
            <a:spAutoFit/>
          </a:bodyPr>
          <a:lstStyle/>
          <a:p>
            <a:pPr algn="just"/>
            <a:r>
              <a:rPr lang="en-US" altLang="zh-CN" sz="2400" dirty="0"/>
              <a:t>built-in</a:t>
            </a:r>
            <a:endParaRPr lang="zh-CN" altLang="en-US" sz="2400" dirty="0"/>
          </a:p>
        </p:txBody>
      </p:sp>
      <p:sp>
        <p:nvSpPr>
          <p:cNvPr id="30" name="文本框 29"/>
          <p:cNvSpPr txBox="1"/>
          <p:nvPr/>
        </p:nvSpPr>
        <p:spPr>
          <a:xfrm>
            <a:off x="6965803" y="3028718"/>
            <a:ext cx="1773434" cy="461665"/>
          </a:xfrm>
          <a:prstGeom prst="rect">
            <a:avLst/>
          </a:prstGeom>
          <a:noFill/>
        </p:spPr>
        <p:txBody>
          <a:bodyPr wrap="none" rtlCol="0">
            <a:spAutoFit/>
          </a:bodyPr>
          <a:lstStyle/>
          <a:p>
            <a:pPr algn="just"/>
            <a:r>
              <a:rPr lang="en-US" altLang="zh-CN" sz="2400" dirty="0"/>
              <a:t>accessible to</a:t>
            </a:r>
            <a:endParaRPr lang="zh-CN" altLang="en-US" sz="2400" dirty="0"/>
          </a:p>
        </p:txBody>
      </p:sp>
      <p:sp>
        <p:nvSpPr>
          <p:cNvPr id="2" name="文本框 1"/>
          <p:cNvSpPr txBox="1"/>
          <p:nvPr/>
        </p:nvSpPr>
        <p:spPr>
          <a:xfrm>
            <a:off x="7553131" y="3630319"/>
            <a:ext cx="1176091" cy="461665"/>
          </a:xfrm>
          <a:prstGeom prst="rect">
            <a:avLst/>
          </a:prstGeom>
          <a:noFill/>
        </p:spPr>
        <p:txBody>
          <a:bodyPr wrap="none" rtlCol="0">
            <a:spAutoFit/>
          </a:bodyPr>
          <a:lstStyle/>
          <a:p>
            <a:pPr algn="just"/>
            <a:r>
              <a:rPr lang="en-US" altLang="zh-CN" sz="2400" dirty="0">
                <a:solidFill>
                  <a:srgbClr val="FF0000"/>
                </a:solidFill>
              </a:rPr>
              <a:t>start-up</a:t>
            </a:r>
            <a:endParaRPr lang="zh-CN" altLang="en-US" sz="2400" dirty="0">
              <a:solidFill>
                <a:srgbClr val="FF0000"/>
              </a:solidFill>
            </a:endParaRPr>
          </a:p>
        </p:txBody>
      </p:sp>
      <p:sp>
        <p:nvSpPr>
          <p:cNvPr id="19" name="文本框 18"/>
          <p:cNvSpPr txBox="1"/>
          <p:nvPr/>
        </p:nvSpPr>
        <p:spPr>
          <a:xfrm>
            <a:off x="751025" y="4399815"/>
            <a:ext cx="1861600" cy="461665"/>
          </a:xfrm>
          <a:prstGeom prst="rect">
            <a:avLst/>
          </a:prstGeom>
          <a:noFill/>
        </p:spPr>
        <p:txBody>
          <a:bodyPr wrap="none" rtlCol="0">
            <a:spAutoFit/>
          </a:bodyPr>
          <a:lstStyle/>
          <a:p>
            <a:pPr algn="just"/>
            <a:r>
              <a:rPr lang="en-US" altLang="zh-CN" sz="2400" dirty="0">
                <a:solidFill>
                  <a:srgbClr val="FF0000"/>
                </a:solidFill>
              </a:rPr>
              <a:t>In addition to</a:t>
            </a:r>
            <a:endParaRPr lang="zh-CN" altLang="en-US" sz="2400" dirty="0">
              <a:solidFill>
                <a:srgbClr val="FF0000"/>
              </a:solidFill>
            </a:endParaRPr>
          </a:p>
        </p:txBody>
      </p:sp>
      <p:sp>
        <p:nvSpPr>
          <p:cNvPr id="31" name="文本框 30"/>
          <p:cNvSpPr txBox="1"/>
          <p:nvPr/>
        </p:nvSpPr>
        <p:spPr>
          <a:xfrm>
            <a:off x="1037405" y="5505586"/>
            <a:ext cx="1898725" cy="461665"/>
          </a:xfrm>
          <a:prstGeom prst="rect">
            <a:avLst/>
          </a:prstGeom>
          <a:noFill/>
        </p:spPr>
        <p:txBody>
          <a:bodyPr wrap="none" rtlCol="0">
            <a:spAutoFit/>
          </a:bodyPr>
          <a:lstStyle/>
          <a:p>
            <a:pPr algn="just"/>
            <a:r>
              <a:rPr lang="en-US" altLang="zh-CN" sz="2400" dirty="0">
                <a:solidFill>
                  <a:srgbClr val="FF0000"/>
                </a:solidFill>
              </a:rPr>
              <a:t>infrastructure</a:t>
            </a:r>
            <a:endParaRPr lang="zh-CN" altLang="en-US" sz="2400" dirty="0">
              <a:solidFill>
                <a:srgbClr val="FF0000"/>
              </a:solidFill>
            </a:endParaRPr>
          </a:p>
        </p:txBody>
      </p:sp>
      <p:sp>
        <p:nvSpPr>
          <p:cNvPr id="3" name="矩形 2"/>
          <p:cNvSpPr/>
          <p:nvPr/>
        </p:nvSpPr>
        <p:spPr>
          <a:xfrm>
            <a:off x="7528968" y="3709988"/>
            <a:ext cx="1205457"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765858" y="4452348"/>
            <a:ext cx="1818592"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1050856" y="5540960"/>
            <a:ext cx="1818592"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557145" y="2527028"/>
            <a:ext cx="1898725"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infrastructure</a:t>
            </a:r>
            <a:endParaRPr lang="zh-CN" altLang="en-US" sz="2400" strike="sngStrike" dirty="0">
              <a:solidFill>
                <a:schemeClr val="bg1">
                  <a:lumMod val="65000"/>
                </a:schemeClr>
              </a:solidFill>
            </a:endParaRPr>
          </a:p>
        </p:txBody>
      </p:sp>
      <p:sp>
        <p:nvSpPr>
          <p:cNvPr id="35" name="文本框 34"/>
          <p:cNvSpPr txBox="1"/>
          <p:nvPr/>
        </p:nvSpPr>
        <p:spPr>
          <a:xfrm>
            <a:off x="4809748" y="2527028"/>
            <a:ext cx="1176091"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start-up</a:t>
            </a:r>
            <a:endParaRPr lang="zh-CN" altLang="en-US" sz="2400" strike="sngStrike" dirty="0">
              <a:solidFill>
                <a:schemeClr val="bg1">
                  <a:lumMod val="65000"/>
                </a:schemeClr>
              </a:solidFill>
            </a:endParaRPr>
          </a:p>
        </p:txBody>
      </p:sp>
      <p:sp>
        <p:nvSpPr>
          <p:cNvPr id="36" name="文本框 35"/>
          <p:cNvSpPr txBox="1"/>
          <p:nvPr/>
        </p:nvSpPr>
        <p:spPr>
          <a:xfrm>
            <a:off x="4809748" y="3028718"/>
            <a:ext cx="1855188"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in addition to</a:t>
            </a:r>
            <a:endParaRPr lang="zh-CN" altLang="en-US" sz="2400" strike="sngStrike" dirty="0">
              <a:solidFill>
                <a:schemeClr val="bg1">
                  <a:lumMod val="65000"/>
                </a:schemeClr>
              </a:solidFill>
            </a:endParaRPr>
          </a:p>
        </p:txBody>
      </p:sp>
    </p:spTree>
    <p:extLst>
      <p:ext uri="{BB962C8B-B14F-4D97-AF65-F5344CB8AC3E}">
        <p14:creationId xmlns:p14="http://schemas.microsoft.com/office/powerpoint/2010/main" val="7431086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childTnLst>
              </p:cTn>
              <p:nextCondLst>
                <p:cond evt="onClick" delay="0">
                  <p:tgtEl>
                    <p:spTgt spid="3"/>
                  </p:tgtEl>
                </p:cond>
              </p:nextCondLst>
            </p:seq>
            <p:seq concurrent="1" nextAc="seek">
              <p:cTn id="9" restart="whenNotActive" fill="hold" evtFilter="cancelBubble" nodeType="interactiveSeq">
                <p:stCondLst>
                  <p:cond evt="onClick" delay="0">
                    <p:tgtEl>
                      <p:spTgt spid="32"/>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par>
                                <p:cTn id="14" presetID="1" presetClass="entr" presetSubtype="0" fill="hold" grpId="0" nodeType="withEffect">
                                  <p:stCondLst>
                                    <p:cond delay="0"/>
                                  </p:stCondLst>
                                  <p:childTnLst>
                                    <p:set>
                                      <p:cBhvr>
                                        <p:cTn id="15" dur="1" fill="hold">
                                          <p:stCondLst>
                                            <p:cond delay="0"/>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childTnLst>
              </p:cTn>
              <p:nextCondLst>
                <p:cond evt="onClick" delay="0">
                  <p:tgtEl>
                    <p:spTgt spid="32"/>
                  </p:tgtEl>
                </p:cond>
              </p:nextCondLst>
            </p:seq>
            <p:seq concurrent="1" nextAc="seek">
              <p:cTn id="16" restart="whenNotActive" fill="hold" evtFilter="cancelBubble" nodeType="interactiveSeq">
                <p:stCondLst>
                  <p:cond evt="onClick" delay="0">
                    <p:tgtEl>
                      <p:spTgt spid="33"/>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childTnLst>
              </p:cTn>
              <p:nextCondLst>
                <p:cond evt="onClick" delay="0">
                  <p:tgtEl>
                    <p:spTgt spid="33"/>
                  </p:tgtEl>
                </p:cond>
              </p:nextCondLst>
            </p:seq>
          </p:childTnLst>
        </p:cTn>
      </p:par>
    </p:tnLst>
    <p:bldLst>
      <p:bldP spid="2" grpId="0"/>
      <p:bldP spid="19" grpId="0"/>
      <p:bldP spid="31" grpId="0"/>
      <p:bldP spid="34" grpId="0" animBg="1"/>
      <p:bldP spid="35" grpId="0" animBg="1"/>
      <p:bldP spid="3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4" name="文本框 3"/>
          <p:cNvSpPr txBox="1"/>
          <p:nvPr/>
        </p:nvSpPr>
        <p:spPr>
          <a:xfrm>
            <a:off x="366165" y="2602664"/>
            <a:ext cx="485955" cy="3785652"/>
          </a:xfrm>
          <a:prstGeom prst="rect">
            <a:avLst/>
          </a:prstGeom>
          <a:noFill/>
        </p:spPr>
        <p:txBody>
          <a:bodyPr wrap="square" rtlCol="0">
            <a:spAutoFit/>
          </a:bodyPr>
          <a:lstStyle/>
          <a:p>
            <a:r>
              <a:rPr lang="en-US" altLang="zh-CN" sz="2400" b="1" dirty="0">
                <a:solidFill>
                  <a:srgbClr val="C6383E"/>
                </a:solidFill>
              </a:rPr>
              <a:t>4</a:t>
            </a:r>
          </a:p>
          <a:p>
            <a:endParaRPr lang="en-US" altLang="zh-CN" sz="2400" b="1" dirty="0">
              <a:solidFill>
                <a:srgbClr val="C6383E"/>
              </a:solidFill>
            </a:endParaRPr>
          </a:p>
          <a:p>
            <a:r>
              <a:rPr lang="en-US" altLang="zh-CN" sz="2400" b="1" dirty="0">
                <a:solidFill>
                  <a:srgbClr val="C6383E"/>
                </a:solidFill>
              </a:rPr>
              <a:t>5</a:t>
            </a:r>
          </a:p>
          <a:p>
            <a:endParaRPr lang="en-US" altLang="zh-CN" sz="2400" b="1" dirty="0">
              <a:solidFill>
                <a:srgbClr val="C6383E"/>
              </a:solidFill>
            </a:endParaRPr>
          </a:p>
          <a:p>
            <a:r>
              <a:rPr lang="en-US" altLang="zh-CN" sz="2400" b="1" dirty="0">
                <a:solidFill>
                  <a:srgbClr val="C6383E"/>
                </a:solidFill>
              </a:rPr>
              <a:t>6</a:t>
            </a:r>
          </a:p>
          <a:p>
            <a:endParaRPr lang="en-US" altLang="zh-CN" sz="2400" b="1" dirty="0">
              <a:solidFill>
                <a:srgbClr val="C6383E"/>
              </a:solidFill>
            </a:endParaRPr>
          </a:p>
          <a:p>
            <a:r>
              <a:rPr lang="en-US" altLang="zh-CN" sz="2400" b="1" dirty="0">
                <a:solidFill>
                  <a:srgbClr val="C6383E"/>
                </a:solidFill>
              </a:rPr>
              <a:t>7</a:t>
            </a:r>
            <a:endParaRPr lang="zh-CN" altLang="en-US" sz="2400" b="1" dirty="0">
              <a:solidFill>
                <a:srgbClr val="C6383E"/>
              </a:solidFill>
              <a:latin typeface="Cambria" panose="02040503050406030204" pitchFamily="18" charset="0"/>
              <a:cs typeface="Times New Roman" panose="02020603050405020304" pitchFamily="18" charset="0"/>
            </a:endParaRPr>
          </a:p>
          <a:p>
            <a:endParaRPr lang="en-US" altLang="zh-CN" sz="2400" b="1" dirty="0">
              <a:solidFill>
                <a:srgbClr val="C6383E"/>
              </a:solidFill>
            </a:endParaRPr>
          </a:p>
          <a:p>
            <a:r>
              <a:rPr lang="en-US" altLang="zh-CN" sz="2400" b="1" dirty="0">
                <a:solidFill>
                  <a:srgbClr val="C6383E"/>
                </a:solidFill>
              </a:rPr>
              <a:t>8</a:t>
            </a:r>
            <a:endParaRPr lang="zh-CN" altLang="en-US" sz="2400" b="1" dirty="0">
              <a:solidFill>
                <a:srgbClr val="C6383E"/>
              </a:solidFill>
              <a:latin typeface="Cambria" panose="02040503050406030204" pitchFamily="18" charset="0"/>
              <a:cs typeface="Times New Roman" panose="02020603050405020304" pitchFamily="18" charset="0"/>
            </a:endParaRPr>
          </a:p>
          <a:p>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5" name="文本框 4"/>
          <p:cNvSpPr txBox="1"/>
          <p:nvPr/>
        </p:nvSpPr>
        <p:spPr>
          <a:xfrm>
            <a:off x="660400" y="2602664"/>
            <a:ext cx="8231900" cy="3785652"/>
          </a:xfrm>
          <a:prstGeom prst="rect">
            <a:avLst/>
          </a:prstGeom>
          <a:noFill/>
        </p:spPr>
        <p:txBody>
          <a:bodyPr wrap="square" rtlCol="0">
            <a:spAutoFit/>
          </a:bodyPr>
          <a:lstStyle/>
          <a:p>
            <a:pPr algn="just"/>
            <a:r>
              <a:rPr lang="en-US" altLang="zh-CN" sz="2400" spc="100" dirty="0"/>
              <a:t>A visit to China will change some westerners</a:t>
            </a:r>
            <a:r>
              <a:rPr lang="en-US" altLang="zh-CN" sz="2400" dirty="0"/>
              <a:t>’ ____________ misunderstanding of the oriental giant.</a:t>
            </a:r>
          </a:p>
          <a:p>
            <a:pPr algn="just"/>
            <a:r>
              <a:rPr lang="en-US" altLang="zh-CN" sz="2400" dirty="0"/>
              <a:t>Adding an English interface makes it ____________ more foreign people living in and visiting China.</a:t>
            </a:r>
          </a:p>
          <a:p>
            <a:pPr algn="just"/>
            <a:r>
              <a:rPr lang="en-US" altLang="zh-CN" sz="2400" spc="-60" dirty="0"/>
              <a:t>The company provides cheap Internet access</a:t>
            </a:r>
            <a:r>
              <a:rPr lang="en-US" altLang="zh-CN" sz="2400" dirty="0"/>
              <a:t>. __________, </a:t>
            </a:r>
            <a:r>
              <a:rPr lang="en-US" altLang="zh-CN" sz="2400" spc="-60" dirty="0"/>
              <a:t>it makes</a:t>
            </a:r>
            <a:r>
              <a:rPr lang="en-US" altLang="zh-CN" sz="2400" dirty="0"/>
              <a:t> shareware freely available.</a:t>
            </a:r>
          </a:p>
          <a:p>
            <a:pPr algn="just"/>
            <a:r>
              <a:rPr lang="en-US" altLang="zh-CN" sz="2400" spc="110" dirty="0"/>
              <a:t>Italy is one of the European countries that have decided to</a:t>
            </a:r>
            <a:r>
              <a:rPr lang="en-US" altLang="zh-CN" sz="2400" dirty="0"/>
              <a:t> ____________ the Belt and Road Initiative.</a:t>
            </a:r>
          </a:p>
          <a:p>
            <a:pPr algn="just"/>
            <a:r>
              <a:rPr lang="en-US" altLang="zh-CN" sz="2400" spc="20" dirty="0"/>
              <a:t>This laptop computer has two</a:t>
            </a:r>
            <a:r>
              <a:rPr lang="en-US" altLang="zh-CN" sz="2400" dirty="0"/>
              <a:t> _______ </a:t>
            </a:r>
            <a:r>
              <a:rPr lang="en-US" altLang="zh-CN" sz="2400" spc="20" dirty="0"/>
              <a:t>microphones to improve</a:t>
            </a:r>
            <a:r>
              <a:rPr lang="en-US" altLang="zh-CN" sz="2400" dirty="0"/>
              <a:t> voice input.</a:t>
            </a:r>
          </a:p>
        </p:txBody>
      </p:sp>
      <p:sp>
        <p:nvSpPr>
          <p:cNvPr id="6" name="圆角矩形 5"/>
          <p:cNvSpPr/>
          <p:nvPr/>
        </p:nvSpPr>
        <p:spPr>
          <a:xfrm>
            <a:off x="467715" y="1286537"/>
            <a:ext cx="8323860" cy="1179520"/>
          </a:xfrm>
          <a:prstGeom prst="roundRect">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557145" y="1392635"/>
            <a:ext cx="1898725" cy="461665"/>
          </a:xfrm>
          <a:prstGeom prst="rect">
            <a:avLst/>
          </a:prstGeom>
          <a:noFill/>
        </p:spPr>
        <p:txBody>
          <a:bodyPr wrap="none" rtlCol="0">
            <a:spAutoFit/>
          </a:bodyPr>
          <a:lstStyle/>
          <a:p>
            <a:pPr algn="just"/>
            <a:r>
              <a:rPr lang="en-US" altLang="zh-CN" sz="2400" strike="sngStrike" dirty="0">
                <a:solidFill>
                  <a:schemeClr val="bg1">
                    <a:lumMod val="65000"/>
                  </a:schemeClr>
                </a:solidFill>
              </a:rPr>
              <a:t>infrastructure</a:t>
            </a:r>
            <a:endParaRPr lang="zh-CN" altLang="en-US" sz="2400" strike="sngStrike" dirty="0">
              <a:solidFill>
                <a:schemeClr val="bg1">
                  <a:lumMod val="65000"/>
                </a:schemeClr>
              </a:solidFill>
            </a:endParaRPr>
          </a:p>
        </p:txBody>
      </p:sp>
      <p:sp>
        <p:nvSpPr>
          <p:cNvPr id="8" name="文本框 7"/>
          <p:cNvSpPr txBox="1"/>
          <p:nvPr/>
        </p:nvSpPr>
        <p:spPr>
          <a:xfrm>
            <a:off x="557144" y="1894325"/>
            <a:ext cx="1898725" cy="461665"/>
          </a:xfrm>
          <a:prstGeom prst="rect">
            <a:avLst/>
          </a:prstGeom>
          <a:noFill/>
        </p:spPr>
        <p:txBody>
          <a:bodyPr wrap="none" rtlCol="0">
            <a:spAutoFit/>
          </a:bodyPr>
          <a:lstStyle/>
          <a:p>
            <a:pPr algn="just"/>
            <a:r>
              <a:rPr lang="en-US" altLang="zh-CN" sz="2400" dirty="0"/>
              <a:t>participate in</a:t>
            </a:r>
            <a:endParaRPr lang="zh-CN" altLang="en-US" sz="2400" dirty="0"/>
          </a:p>
        </p:txBody>
      </p:sp>
      <p:sp>
        <p:nvSpPr>
          <p:cNvPr id="9" name="文本框 8"/>
          <p:cNvSpPr txBox="1"/>
          <p:nvPr/>
        </p:nvSpPr>
        <p:spPr>
          <a:xfrm>
            <a:off x="2756736" y="1392635"/>
            <a:ext cx="1752146" cy="461665"/>
          </a:xfrm>
          <a:prstGeom prst="rect">
            <a:avLst/>
          </a:prstGeom>
          <a:noFill/>
        </p:spPr>
        <p:txBody>
          <a:bodyPr wrap="none" rtlCol="0">
            <a:spAutoFit/>
          </a:bodyPr>
          <a:lstStyle/>
          <a:p>
            <a:pPr algn="just"/>
            <a:r>
              <a:rPr lang="en-US" altLang="zh-CN" sz="2400" dirty="0"/>
              <a:t>deep-rooted</a:t>
            </a:r>
            <a:endParaRPr lang="zh-CN" altLang="en-US" sz="2400" dirty="0"/>
          </a:p>
        </p:txBody>
      </p:sp>
      <p:sp>
        <p:nvSpPr>
          <p:cNvPr id="10" name="文本框 9"/>
          <p:cNvSpPr txBox="1"/>
          <p:nvPr/>
        </p:nvSpPr>
        <p:spPr>
          <a:xfrm>
            <a:off x="2756736" y="1894325"/>
            <a:ext cx="1524776" cy="461665"/>
          </a:xfrm>
          <a:prstGeom prst="rect">
            <a:avLst/>
          </a:prstGeom>
          <a:noFill/>
        </p:spPr>
        <p:txBody>
          <a:bodyPr wrap="none" rtlCol="0">
            <a:spAutoFit/>
          </a:bodyPr>
          <a:lstStyle/>
          <a:p>
            <a:pPr algn="just"/>
            <a:r>
              <a:rPr lang="en-US" altLang="zh-CN" sz="2400" dirty="0"/>
              <a:t>in addition</a:t>
            </a:r>
            <a:endParaRPr lang="zh-CN" altLang="en-US" sz="2400" dirty="0"/>
          </a:p>
        </p:txBody>
      </p:sp>
      <p:sp>
        <p:nvSpPr>
          <p:cNvPr id="11" name="文本框 10"/>
          <p:cNvSpPr txBox="1"/>
          <p:nvPr/>
        </p:nvSpPr>
        <p:spPr>
          <a:xfrm>
            <a:off x="4809748" y="1392635"/>
            <a:ext cx="1176091" cy="461665"/>
          </a:xfrm>
          <a:prstGeom prst="rect">
            <a:avLst/>
          </a:prstGeom>
          <a:noFill/>
        </p:spPr>
        <p:txBody>
          <a:bodyPr wrap="none" rtlCol="0">
            <a:spAutoFit/>
          </a:bodyPr>
          <a:lstStyle/>
          <a:p>
            <a:pPr algn="just"/>
            <a:r>
              <a:rPr lang="en-US" altLang="zh-CN" sz="2400" strike="sngStrike" dirty="0">
                <a:solidFill>
                  <a:schemeClr val="bg1">
                    <a:lumMod val="65000"/>
                  </a:schemeClr>
                </a:solidFill>
              </a:rPr>
              <a:t>start-up</a:t>
            </a:r>
            <a:endParaRPr lang="zh-CN" altLang="en-US" sz="2400" strike="sngStrike" dirty="0">
              <a:solidFill>
                <a:schemeClr val="bg1">
                  <a:lumMod val="65000"/>
                </a:schemeClr>
              </a:solidFill>
            </a:endParaRPr>
          </a:p>
        </p:txBody>
      </p:sp>
      <p:sp>
        <p:nvSpPr>
          <p:cNvPr id="12" name="文本框 11"/>
          <p:cNvSpPr txBox="1"/>
          <p:nvPr/>
        </p:nvSpPr>
        <p:spPr>
          <a:xfrm>
            <a:off x="4809748" y="1894325"/>
            <a:ext cx="1855188" cy="461665"/>
          </a:xfrm>
          <a:prstGeom prst="rect">
            <a:avLst/>
          </a:prstGeom>
          <a:noFill/>
        </p:spPr>
        <p:txBody>
          <a:bodyPr wrap="none" rtlCol="0">
            <a:spAutoFit/>
          </a:bodyPr>
          <a:lstStyle/>
          <a:p>
            <a:pPr algn="just"/>
            <a:r>
              <a:rPr lang="en-US" altLang="zh-CN" sz="2400" strike="sngStrike" dirty="0">
                <a:solidFill>
                  <a:schemeClr val="bg1">
                    <a:lumMod val="65000"/>
                  </a:schemeClr>
                </a:solidFill>
              </a:rPr>
              <a:t>in addition to</a:t>
            </a:r>
            <a:endParaRPr lang="zh-CN" altLang="en-US" sz="2400" strike="sngStrike" dirty="0">
              <a:solidFill>
                <a:schemeClr val="bg1">
                  <a:lumMod val="65000"/>
                </a:schemeClr>
              </a:solidFill>
            </a:endParaRPr>
          </a:p>
        </p:txBody>
      </p:sp>
      <p:sp>
        <p:nvSpPr>
          <p:cNvPr id="13" name="文本框 12"/>
          <p:cNvSpPr txBox="1"/>
          <p:nvPr/>
        </p:nvSpPr>
        <p:spPr>
          <a:xfrm>
            <a:off x="6965803" y="1392635"/>
            <a:ext cx="1079142" cy="461665"/>
          </a:xfrm>
          <a:prstGeom prst="rect">
            <a:avLst/>
          </a:prstGeom>
          <a:noFill/>
        </p:spPr>
        <p:txBody>
          <a:bodyPr wrap="none" rtlCol="0">
            <a:spAutoFit/>
          </a:bodyPr>
          <a:lstStyle/>
          <a:p>
            <a:pPr algn="just"/>
            <a:r>
              <a:rPr lang="en-US" altLang="zh-CN" sz="2400" dirty="0"/>
              <a:t>built-in</a:t>
            </a:r>
            <a:endParaRPr lang="zh-CN" altLang="en-US" sz="2400" dirty="0"/>
          </a:p>
        </p:txBody>
      </p:sp>
      <p:sp>
        <p:nvSpPr>
          <p:cNvPr id="14" name="文本框 13"/>
          <p:cNvSpPr txBox="1"/>
          <p:nvPr/>
        </p:nvSpPr>
        <p:spPr>
          <a:xfrm>
            <a:off x="6965803" y="1894325"/>
            <a:ext cx="1773434" cy="461665"/>
          </a:xfrm>
          <a:prstGeom prst="rect">
            <a:avLst/>
          </a:prstGeom>
          <a:noFill/>
        </p:spPr>
        <p:txBody>
          <a:bodyPr wrap="none" rtlCol="0">
            <a:spAutoFit/>
          </a:bodyPr>
          <a:lstStyle/>
          <a:p>
            <a:pPr algn="just"/>
            <a:r>
              <a:rPr lang="en-US" altLang="zh-CN" sz="2400" dirty="0"/>
              <a:t>accessible to</a:t>
            </a:r>
            <a:endParaRPr lang="zh-CN" altLang="en-US" sz="2400" dirty="0"/>
          </a:p>
        </p:txBody>
      </p:sp>
      <p:sp>
        <p:nvSpPr>
          <p:cNvPr id="15" name="文本框 14"/>
          <p:cNvSpPr txBox="1"/>
          <p:nvPr/>
        </p:nvSpPr>
        <p:spPr>
          <a:xfrm>
            <a:off x="7011384" y="2561590"/>
            <a:ext cx="1752146" cy="461665"/>
          </a:xfrm>
          <a:prstGeom prst="rect">
            <a:avLst/>
          </a:prstGeom>
          <a:noFill/>
        </p:spPr>
        <p:txBody>
          <a:bodyPr wrap="none" rtlCol="0">
            <a:spAutoFit/>
          </a:bodyPr>
          <a:lstStyle/>
          <a:p>
            <a:pPr algn="just"/>
            <a:r>
              <a:rPr lang="en-US" altLang="zh-CN" sz="2400" dirty="0">
                <a:solidFill>
                  <a:srgbClr val="FF0000"/>
                </a:solidFill>
              </a:rPr>
              <a:t>deep-rooted</a:t>
            </a:r>
            <a:endParaRPr lang="zh-CN" altLang="en-US" sz="2400" dirty="0">
              <a:solidFill>
                <a:srgbClr val="FF0000"/>
              </a:solidFill>
            </a:endParaRPr>
          </a:p>
        </p:txBody>
      </p:sp>
      <p:sp>
        <p:nvSpPr>
          <p:cNvPr id="16" name="文本框 15"/>
          <p:cNvSpPr txBox="1"/>
          <p:nvPr/>
        </p:nvSpPr>
        <p:spPr>
          <a:xfrm>
            <a:off x="5318741" y="3309435"/>
            <a:ext cx="1773434" cy="461665"/>
          </a:xfrm>
          <a:prstGeom prst="rect">
            <a:avLst/>
          </a:prstGeom>
          <a:noFill/>
        </p:spPr>
        <p:txBody>
          <a:bodyPr wrap="none" rtlCol="0">
            <a:spAutoFit/>
          </a:bodyPr>
          <a:lstStyle/>
          <a:p>
            <a:pPr algn="just"/>
            <a:r>
              <a:rPr lang="en-US" altLang="zh-CN" sz="2400" dirty="0">
                <a:solidFill>
                  <a:srgbClr val="FF0000"/>
                </a:solidFill>
              </a:rPr>
              <a:t>accessible to</a:t>
            </a:r>
            <a:endParaRPr lang="zh-CN" altLang="en-US" sz="2400" dirty="0">
              <a:solidFill>
                <a:srgbClr val="FF0000"/>
              </a:solidFill>
            </a:endParaRPr>
          </a:p>
        </p:txBody>
      </p:sp>
      <p:sp>
        <p:nvSpPr>
          <p:cNvPr id="17" name="文本框 16"/>
          <p:cNvSpPr txBox="1"/>
          <p:nvPr/>
        </p:nvSpPr>
        <p:spPr>
          <a:xfrm>
            <a:off x="6151316" y="4042824"/>
            <a:ext cx="1531188" cy="461665"/>
          </a:xfrm>
          <a:prstGeom prst="rect">
            <a:avLst/>
          </a:prstGeom>
          <a:noFill/>
        </p:spPr>
        <p:txBody>
          <a:bodyPr wrap="none" rtlCol="0">
            <a:spAutoFit/>
          </a:bodyPr>
          <a:lstStyle/>
          <a:p>
            <a:pPr algn="just"/>
            <a:r>
              <a:rPr lang="en-US" altLang="zh-CN" sz="2400" dirty="0">
                <a:solidFill>
                  <a:srgbClr val="FF0000"/>
                </a:solidFill>
              </a:rPr>
              <a:t>In addition</a:t>
            </a:r>
            <a:endParaRPr lang="zh-CN" altLang="en-US" sz="2400" dirty="0">
              <a:solidFill>
                <a:srgbClr val="FF0000"/>
              </a:solidFill>
            </a:endParaRPr>
          </a:p>
        </p:txBody>
      </p:sp>
      <p:sp>
        <p:nvSpPr>
          <p:cNvPr id="18" name="文本框 17"/>
          <p:cNvSpPr txBox="1"/>
          <p:nvPr/>
        </p:nvSpPr>
        <p:spPr>
          <a:xfrm>
            <a:off x="764788" y="5103221"/>
            <a:ext cx="1835952" cy="461665"/>
          </a:xfrm>
          <a:prstGeom prst="rect">
            <a:avLst/>
          </a:prstGeom>
          <a:noFill/>
        </p:spPr>
        <p:txBody>
          <a:bodyPr wrap="none" rtlCol="0">
            <a:spAutoFit/>
          </a:bodyPr>
          <a:lstStyle/>
          <a:p>
            <a:pPr algn="just"/>
            <a:r>
              <a:rPr lang="en-US" altLang="zh-CN" sz="2400" dirty="0">
                <a:solidFill>
                  <a:srgbClr val="FF0000"/>
                </a:solidFill>
              </a:rPr>
              <a:t>participate in</a:t>
            </a:r>
            <a:endParaRPr lang="zh-CN" altLang="en-US" sz="2400" dirty="0">
              <a:solidFill>
                <a:srgbClr val="FF0000"/>
              </a:solidFill>
            </a:endParaRPr>
          </a:p>
        </p:txBody>
      </p:sp>
      <p:sp>
        <p:nvSpPr>
          <p:cNvPr id="19" name="文本框 18"/>
          <p:cNvSpPr txBox="1"/>
          <p:nvPr/>
        </p:nvSpPr>
        <p:spPr>
          <a:xfrm>
            <a:off x="4581986" y="5502451"/>
            <a:ext cx="1079142" cy="461665"/>
          </a:xfrm>
          <a:prstGeom prst="rect">
            <a:avLst/>
          </a:prstGeom>
          <a:noFill/>
        </p:spPr>
        <p:txBody>
          <a:bodyPr wrap="none" rtlCol="0">
            <a:spAutoFit/>
          </a:bodyPr>
          <a:lstStyle/>
          <a:p>
            <a:pPr algn="just"/>
            <a:r>
              <a:rPr lang="en-US" altLang="zh-CN" sz="2400" dirty="0">
                <a:solidFill>
                  <a:srgbClr val="FF0000"/>
                </a:solidFill>
              </a:rPr>
              <a:t>built-in</a:t>
            </a:r>
            <a:endParaRPr lang="zh-CN" altLang="en-US" sz="2400" dirty="0">
              <a:solidFill>
                <a:srgbClr val="FF0000"/>
              </a:solidFill>
            </a:endParaRPr>
          </a:p>
        </p:txBody>
      </p:sp>
      <p:sp>
        <p:nvSpPr>
          <p:cNvPr id="20" name="矩形 19"/>
          <p:cNvSpPr/>
          <p:nvPr/>
        </p:nvSpPr>
        <p:spPr>
          <a:xfrm>
            <a:off x="6971980" y="2650664"/>
            <a:ext cx="1818592"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5306338" y="3373689"/>
            <a:ext cx="1818592"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156204" y="4112553"/>
            <a:ext cx="1516184"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755734" y="5199981"/>
            <a:ext cx="1811253"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576763" y="5565339"/>
            <a:ext cx="1057275" cy="33678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57144" y="1894325"/>
            <a:ext cx="1898725"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participate in</a:t>
            </a:r>
            <a:endParaRPr lang="zh-CN" altLang="en-US" sz="2400" strike="sngStrike" dirty="0">
              <a:solidFill>
                <a:schemeClr val="bg1">
                  <a:lumMod val="65000"/>
                </a:schemeClr>
              </a:solidFill>
            </a:endParaRPr>
          </a:p>
        </p:txBody>
      </p:sp>
      <p:sp>
        <p:nvSpPr>
          <p:cNvPr id="28" name="文本框 27"/>
          <p:cNvSpPr txBox="1"/>
          <p:nvPr/>
        </p:nvSpPr>
        <p:spPr>
          <a:xfrm>
            <a:off x="2756736" y="1392635"/>
            <a:ext cx="1752146"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deep-rooted</a:t>
            </a:r>
            <a:endParaRPr lang="zh-CN" altLang="en-US" sz="2400" strike="sngStrike" dirty="0">
              <a:solidFill>
                <a:schemeClr val="bg1">
                  <a:lumMod val="65000"/>
                </a:schemeClr>
              </a:solidFill>
            </a:endParaRPr>
          </a:p>
        </p:txBody>
      </p:sp>
      <p:sp>
        <p:nvSpPr>
          <p:cNvPr id="29" name="文本框 28"/>
          <p:cNvSpPr txBox="1"/>
          <p:nvPr/>
        </p:nvSpPr>
        <p:spPr>
          <a:xfrm>
            <a:off x="2756736" y="1894325"/>
            <a:ext cx="1524776"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in addition</a:t>
            </a:r>
            <a:endParaRPr lang="zh-CN" altLang="en-US" sz="2400" strike="sngStrike" dirty="0">
              <a:solidFill>
                <a:schemeClr val="bg1">
                  <a:lumMod val="65000"/>
                </a:schemeClr>
              </a:solidFill>
            </a:endParaRPr>
          </a:p>
        </p:txBody>
      </p:sp>
      <p:sp>
        <p:nvSpPr>
          <p:cNvPr id="30" name="文本框 29"/>
          <p:cNvSpPr txBox="1"/>
          <p:nvPr/>
        </p:nvSpPr>
        <p:spPr>
          <a:xfrm>
            <a:off x="6965803" y="1392635"/>
            <a:ext cx="1079142"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built-in</a:t>
            </a:r>
            <a:endParaRPr lang="zh-CN" altLang="en-US" sz="2400" strike="sngStrike" dirty="0">
              <a:solidFill>
                <a:schemeClr val="bg1">
                  <a:lumMod val="65000"/>
                </a:schemeClr>
              </a:solidFill>
            </a:endParaRPr>
          </a:p>
        </p:txBody>
      </p:sp>
      <p:sp>
        <p:nvSpPr>
          <p:cNvPr id="31" name="文本框 30"/>
          <p:cNvSpPr txBox="1"/>
          <p:nvPr/>
        </p:nvSpPr>
        <p:spPr>
          <a:xfrm>
            <a:off x="6965803" y="1894325"/>
            <a:ext cx="1773434"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accessible to</a:t>
            </a:r>
            <a:endParaRPr lang="zh-CN" altLang="en-US" sz="2400" strike="sngStrike" dirty="0">
              <a:solidFill>
                <a:schemeClr val="bg1">
                  <a:lumMod val="65000"/>
                </a:schemeClr>
              </a:solidFill>
            </a:endParaRPr>
          </a:p>
        </p:txBody>
      </p:sp>
      <p:pic>
        <p:nvPicPr>
          <p:cNvPr id="32"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Tree>
    <p:extLst>
      <p:ext uri="{BB962C8B-B14F-4D97-AF65-F5344CB8AC3E}">
        <p14:creationId xmlns:p14="http://schemas.microsoft.com/office/powerpoint/2010/main" val="40563636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9" restart="whenNotActive" fill="hold" evtFilter="cancelBubble" nodeType="interactiveSeq">
                <p:stCondLst>
                  <p:cond evt="onClick" delay="0">
                    <p:tgtEl>
                      <p:spTgt spid="22"/>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par>
                                <p:cTn id="14" presetID="1" presetClass="entr" presetSubtype="0" fill="hold" grpId="0" nodeType="withEffect">
                                  <p:stCondLst>
                                    <p:cond delay="0"/>
                                  </p:stCondLst>
                                  <p:childTnLst>
                                    <p:set>
                                      <p:cBhvr>
                                        <p:cTn id="15"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childTnLst>
              </p:cTn>
              <p:nextCondLst>
                <p:cond evt="onClick" delay="0">
                  <p:tgtEl>
                    <p:spTgt spid="22"/>
                  </p:tgtEl>
                </p:cond>
              </p:nextCondLst>
            </p:seq>
            <p:seq concurrent="1" nextAc="seek">
              <p:cTn id="16" restart="whenNotActive" fill="hold" evtFilter="cancelBubble" nodeType="interactiveSeq">
                <p:stCondLst>
                  <p:cond evt="onClick" delay="0">
                    <p:tgtEl>
                      <p:spTgt spid="23"/>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childTnLst>
              </p:cTn>
              <p:nextCondLst>
                <p:cond evt="onClick" delay="0">
                  <p:tgtEl>
                    <p:spTgt spid="23"/>
                  </p:tgtEl>
                </p:cond>
              </p:nextCondLst>
            </p:seq>
            <p:seq concurrent="1" nextAc="seek">
              <p:cTn id="23" restart="whenNotActive" fill="hold" evtFilter="cancelBubble" nodeType="interactiveSeq">
                <p:stCondLst>
                  <p:cond evt="onClick" delay="0">
                    <p:tgtEl>
                      <p:spTgt spid="24"/>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par>
                                <p:cTn id="28" presetID="1" presetClass="entr" presetSubtype="0" fill="hold" grpId="0" nodeType="withEffect">
                                  <p:stCondLst>
                                    <p:cond delay="0"/>
                                  </p:stCondLst>
                                  <p:childTnLst>
                                    <p:set>
                                      <p:cBhvr>
                                        <p:cTn id="29"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childTnLst>
              </p:cTn>
              <p:nextCondLst>
                <p:cond evt="onClick" delay="0">
                  <p:tgtEl>
                    <p:spTgt spid="24"/>
                  </p:tgtEl>
                </p:cond>
              </p:nextCondLst>
            </p:seq>
            <p:seq concurrent="1" nextAc="seek">
              <p:cTn id="30" restart="whenNotActive" fill="hold" evtFilter="cancelBubble" nodeType="interactiveSeq">
                <p:stCondLst>
                  <p:cond evt="onClick" delay="0">
                    <p:tgtEl>
                      <p:spTgt spid="25"/>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childTnLst>
              </p:cTn>
              <p:nextCondLst>
                <p:cond evt="onClick" delay="0">
                  <p:tgtEl>
                    <p:spTgt spid="25"/>
                  </p:tgtEl>
                </p:cond>
              </p:nextCondLst>
            </p:seq>
          </p:childTnLst>
        </p:cTn>
      </p:par>
    </p:tnLst>
    <p:bldLst>
      <p:bldP spid="15" grpId="0"/>
      <p:bldP spid="16" grpId="0"/>
      <p:bldP spid="17" grpId="0"/>
      <p:bldP spid="18" grpId="0"/>
      <p:bldP spid="19" grpId="0"/>
      <p:bldP spid="27" grpId="0" animBg="1"/>
      <p:bldP spid="28" grpId="0" animBg="1"/>
      <p:bldP spid="29" grpId="0" animBg="1"/>
      <p:bldP spid="30" grpId="0" animBg="1"/>
      <p:bldP spid="3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32" name="文本框 31"/>
          <p:cNvSpPr txBox="1"/>
          <p:nvPr/>
        </p:nvSpPr>
        <p:spPr>
          <a:xfrm>
            <a:off x="360000" y="1133951"/>
            <a:ext cx="8532300" cy="1200329"/>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20" dirty="0">
                <a:latin typeface="Cambria" panose="02040503050406030204" pitchFamily="18" charset="0"/>
                <a:ea typeface="Cambria" panose="02040503050406030204" pitchFamily="18" charset="0"/>
              </a:rPr>
              <a:t>Try to sight interpret the following passage with the help of the</a:t>
            </a:r>
            <a:r>
              <a:rPr lang="en-US" altLang="zh-CN" sz="2400" dirty="0">
                <a:latin typeface="Cambria" panose="02040503050406030204" pitchFamily="18" charset="0"/>
                <a:ea typeface="Cambria" panose="02040503050406030204" pitchFamily="18" charset="0"/>
              </a:rPr>
              <a:t> glossary.</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33" name="文本框 32"/>
          <p:cNvSpPr txBox="1"/>
          <p:nvPr/>
        </p:nvSpPr>
        <p:spPr>
          <a:xfrm>
            <a:off x="366165" y="2592596"/>
            <a:ext cx="8526135" cy="3785652"/>
          </a:xfrm>
          <a:prstGeom prst="rect">
            <a:avLst/>
          </a:prstGeom>
          <a:noFill/>
        </p:spPr>
        <p:txBody>
          <a:bodyPr wrap="square" rtlCol="0">
            <a:spAutoFit/>
          </a:bodyPr>
          <a:lstStyle/>
          <a:p>
            <a:pPr algn="just"/>
            <a:r>
              <a:rPr lang="en-US" altLang="zh-CN" sz="2400" dirty="0"/>
              <a:t>     </a:t>
            </a:r>
            <a:r>
              <a:rPr lang="en-US" altLang="zh-CN" sz="2400" spc="-30" dirty="0"/>
              <a:t>Everyone has an ideal, ambition and dream. We are now all talking</a:t>
            </a:r>
            <a:r>
              <a:rPr lang="en-US" altLang="zh-CN" sz="2400" dirty="0"/>
              <a:t> </a:t>
            </a:r>
            <a:r>
              <a:rPr lang="en-US" altLang="zh-CN" sz="2400" spc="-10" dirty="0"/>
              <a:t>about </a:t>
            </a:r>
            <a:r>
              <a:rPr lang="en-US" altLang="zh-CN" sz="2400" spc="-10" dirty="0">
                <a:solidFill>
                  <a:srgbClr val="C00000"/>
                </a:solidFill>
              </a:rPr>
              <a:t>the Chinese Dream</a:t>
            </a:r>
            <a:r>
              <a:rPr lang="en-US" altLang="zh-CN" sz="2400" spc="-10" dirty="0"/>
              <a:t>. In my opinion, </a:t>
            </a:r>
            <a:r>
              <a:rPr lang="en-US" altLang="zh-CN" sz="2400" spc="-10" dirty="0">
                <a:solidFill>
                  <a:srgbClr val="C00000"/>
                </a:solidFill>
              </a:rPr>
              <a:t>achieving the rejuvenation</a:t>
            </a:r>
            <a:r>
              <a:rPr lang="en-US" altLang="zh-CN" sz="2400" dirty="0">
                <a:solidFill>
                  <a:srgbClr val="C00000"/>
                </a:solidFill>
              </a:rPr>
              <a:t> </a:t>
            </a:r>
            <a:r>
              <a:rPr lang="en-US" altLang="zh-CN" sz="2400" spc="20" dirty="0">
                <a:solidFill>
                  <a:srgbClr val="C00000"/>
                </a:solidFill>
              </a:rPr>
              <a:t>of the Chinese</a:t>
            </a:r>
            <a:r>
              <a:rPr lang="en-US" altLang="zh-CN" sz="2400" spc="20" dirty="0"/>
              <a:t> nation has been the greatest dream of the Chinese</a:t>
            </a:r>
            <a:r>
              <a:rPr lang="en-US" altLang="zh-CN" sz="2400" dirty="0"/>
              <a:t> </a:t>
            </a:r>
            <a:r>
              <a:rPr lang="en-US" altLang="zh-CN" sz="2400" spc="50" dirty="0"/>
              <a:t>people since the advent of modern times. This dream embodies</a:t>
            </a:r>
            <a:r>
              <a:rPr lang="en-US" altLang="zh-CN" sz="2400" dirty="0"/>
              <a:t> </a:t>
            </a:r>
            <a:r>
              <a:rPr lang="en-US" altLang="zh-CN" sz="2400" spc="-40" dirty="0"/>
              <a:t>the </a:t>
            </a:r>
            <a:r>
              <a:rPr lang="en-US" altLang="zh-CN" sz="2400" spc="-40" dirty="0">
                <a:solidFill>
                  <a:srgbClr val="C00000"/>
                </a:solidFill>
              </a:rPr>
              <a:t>long-cherished hope</a:t>
            </a:r>
            <a:r>
              <a:rPr lang="en-US" altLang="zh-CN" sz="2400" spc="-40" dirty="0"/>
              <a:t> of several generations of the Chinese people</a:t>
            </a:r>
            <a:r>
              <a:rPr lang="en-US" altLang="zh-CN" sz="2400" dirty="0"/>
              <a:t>, </a:t>
            </a:r>
            <a:r>
              <a:rPr lang="en-US" altLang="zh-CN" sz="2400" spc="20" dirty="0"/>
              <a:t>gives expression to the overall interests of the Chinese nation and</a:t>
            </a:r>
            <a:r>
              <a:rPr lang="en-US" altLang="zh-CN" sz="2400" dirty="0"/>
              <a:t> the Chinese people, and represents the </a:t>
            </a:r>
            <a:r>
              <a:rPr lang="en-US" altLang="zh-CN" sz="2400" dirty="0">
                <a:solidFill>
                  <a:srgbClr val="C00000"/>
                </a:solidFill>
              </a:rPr>
              <a:t>shared aspiration</a:t>
            </a:r>
            <a:r>
              <a:rPr lang="en-US" altLang="zh-CN" sz="2400" dirty="0"/>
              <a:t> of all the </a:t>
            </a:r>
            <a:r>
              <a:rPr lang="en-US" altLang="zh-CN" sz="2400" spc="30" dirty="0"/>
              <a:t>sons and daughters of the Chinese nation. History shows that the</a:t>
            </a:r>
            <a:r>
              <a:rPr lang="en-US" altLang="zh-CN" sz="2400" dirty="0"/>
              <a:t> future and destiny of each and every one of us are closely linked to </a:t>
            </a:r>
            <a:r>
              <a:rPr lang="en-US" altLang="zh-CN" sz="2400" spc="30" dirty="0"/>
              <a:t>those of our country and </a:t>
            </a:r>
            <a:r>
              <a:rPr lang="en-US" altLang="zh-CN" sz="2400" spc="20" dirty="0"/>
              <a:t>nation. One can do well only when one’s</a:t>
            </a:r>
            <a:endParaRPr lang="en-US" altLang="zh-CN" sz="2400" b="1" spc="20" dirty="0">
              <a:solidFill>
                <a:srgbClr val="C6383E"/>
              </a:solidFill>
            </a:endParaRPr>
          </a:p>
        </p:txBody>
      </p:sp>
      <p:pic>
        <p:nvPicPr>
          <p:cNvPr id="35"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592895"/>
            <a:ext cx="324000" cy="324000"/>
          </a:xfrm>
          <a:prstGeom prst="rect">
            <a:avLst/>
          </a:prstGeom>
          <a:noFill/>
        </p:spPr>
      </p:pic>
      <p:pic>
        <p:nvPicPr>
          <p:cNvPr id="36"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37" name="圆角矩形 36"/>
          <p:cNvSpPr/>
          <p:nvPr/>
        </p:nvSpPr>
        <p:spPr>
          <a:xfrm>
            <a:off x="1211580" y="3026108"/>
            <a:ext cx="238252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标注 37"/>
          <p:cNvSpPr/>
          <p:nvPr/>
        </p:nvSpPr>
        <p:spPr>
          <a:xfrm>
            <a:off x="2123830" y="2531908"/>
            <a:ext cx="885221" cy="341160"/>
          </a:xfrm>
          <a:prstGeom prst="wedgeRectCallout">
            <a:avLst>
              <a:gd name="adj1" fmla="val -35861"/>
              <a:gd name="adj2" fmla="val 82975"/>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中国梦</a:t>
            </a:r>
          </a:p>
        </p:txBody>
      </p:sp>
      <p:grpSp>
        <p:nvGrpSpPr>
          <p:cNvPr id="21" name="组合 20"/>
          <p:cNvGrpSpPr/>
          <p:nvPr/>
        </p:nvGrpSpPr>
        <p:grpSpPr>
          <a:xfrm>
            <a:off x="433428" y="3038807"/>
            <a:ext cx="8390403" cy="679933"/>
            <a:chOff x="433428" y="3038807"/>
            <a:chExt cx="8390403" cy="679933"/>
          </a:xfrm>
        </p:grpSpPr>
        <p:sp>
          <p:nvSpPr>
            <p:cNvPr id="39" name="圆角矩形 38"/>
            <p:cNvSpPr/>
            <p:nvPr/>
          </p:nvSpPr>
          <p:spPr>
            <a:xfrm>
              <a:off x="5513821" y="3038807"/>
              <a:ext cx="3310010"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a:off x="433428" y="3390437"/>
              <a:ext cx="1876385"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标注 40"/>
          <p:cNvSpPr/>
          <p:nvPr/>
        </p:nvSpPr>
        <p:spPr>
          <a:xfrm>
            <a:off x="5730241" y="3533614"/>
            <a:ext cx="2247156" cy="341160"/>
          </a:xfrm>
          <a:prstGeom prst="wedgeRectCallout">
            <a:avLst>
              <a:gd name="adj1" fmla="val 32440"/>
              <a:gd name="adj2" fmla="val -90125"/>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实现中华民族的复兴</a:t>
            </a:r>
          </a:p>
        </p:txBody>
      </p:sp>
      <p:sp>
        <p:nvSpPr>
          <p:cNvPr id="42" name="圆角矩形 41"/>
          <p:cNvSpPr/>
          <p:nvPr/>
        </p:nvSpPr>
        <p:spPr>
          <a:xfrm>
            <a:off x="881063" y="4150590"/>
            <a:ext cx="2521397"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标注 42"/>
          <p:cNvSpPr/>
          <p:nvPr/>
        </p:nvSpPr>
        <p:spPr>
          <a:xfrm>
            <a:off x="2042299" y="4653085"/>
            <a:ext cx="644484" cy="341160"/>
          </a:xfrm>
          <a:prstGeom prst="wedgeRectCallout">
            <a:avLst>
              <a:gd name="adj1" fmla="val -36937"/>
              <a:gd name="adj2" fmla="val -9291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夙愿</a:t>
            </a:r>
          </a:p>
        </p:txBody>
      </p:sp>
      <p:sp>
        <p:nvSpPr>
          <p:cNvPr id="44" name="圆角矩形 43"/>
          <p:cNvSpPr/>
          <p:nvPr/>
        </p:nvSpPr>
        <p:spPr>
          <a:xfrm>
            <a:off x="5433301" y="4880893"/>
            <a:ext cx="2200988"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标注 44"/>
          <p:cNvSpPr/>
          <p:nvPr/>
        </p:nvSpPr>
        <p:spPr>
          <a:xfrm>
            <a:off x="6451750" y="5372682"/>
            <a:ext cx="1101664" cy="341160"/>
          </a:xfrm>
          <a:prstGeom prst="wedgeRectCallout">
            <a:avLst>
              <a:gd name="adj1" fmla="val -36937"/>
              <a:gd name="adj2" fmla="val -9291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共同期盼</a:t>
            </a:r>
          </a:p>
        </p:txBody>
      </p:sp>
      <p:grpSp>
        <p:nvGrpSpPr>
          <p:cNvPr id="48" name="组合 47"/>
          <p:cNvGrpSpPr/>
          <p:nvPr/>
        </p:nvGrpSpPr>
        <p:grpSpPr>
          <a:xfrm>
            <a:off x="9461137" y="1132940"/>
            <a:ext cx="9144000" cy="5171599"/>
            <a:chOff x="9461137" y="1132940"/>
            <a:chExt cx="9144000" cy="5171599"/>
          </a:xfrm>
        </p:grpSpPr>
        <p:sp>
          <p:nvSpPr>
            <p:cNvPr id="47" name="矩形 46"/>
            <p:cNvSpPr/>
            <p:nvPr/>
          </p:nvSpPr>
          <p:spPr>
            <a:xfrm>
              <a:off x="9461137" y="1132940"/>
              <a:ext cx="9144000" cy="51715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p:cNvSpPr txBox="1"/>
            <p:nvPr/>
          </p:nvSpPr>
          <p:spPr>
            <a:xfrm>
              <a:off x="9766987" y="1271916"/>
              <a:ext cx="8532300" cy="4893647"/>
            </a:xfrm>
            <a:prstGeom prst="rect">
              <a:avLst/>
            </a:prstGeom>
            <a:noFill/>
          </p:spPr>
          <p:txBody>
            <a:bodyPr wrap="square" rtlCol="0">
              <a:spAutoFit/>
            </a:bodyPr>
            <a:lstStyle/>
            <a:p>
              <a:r>
                <a:rPr lang="zh-CN" altLang="en-US" sz="2400" dirty="0"/>
                <a:t>         每个人都有理想和追求，都有自己的梦想。现在，大家都在讨论中国梦，我以为，实现中华民族伟大复兴，就是中华民族近代以来最伟大的梦想。这个梦想，凝聚了几代中国人的夙愿，体现了中华民族和中国人民的整体利益，是每一个中华儿女的共同期盼。历史告诉我们，每个人的前途命运都与国家和民族的前途命运紧密相连。国家好，民族好，大家才会好。实现中华民族伟大复兴是一项光荣而艰巨的事业，需要一代又一代中国人共同为之努力。空谈误国，实干兴邦。我们这一代共产党人一定要承前启后、继往开来，把我们的党建设好，团结全体中华儿女把我们国家建设好，把我们民族发展好，继续朝着中华民族伟大复兴的目标奋勇前进。</a:t>
              </a:r>
            </a:p>
            <a:p>
              <a:r>
                <a:rPr lang="zh-CN" altLang="en-US" sz="2400" dirty="0"/>
                <a:t>（习近平</a:t>
              </a:r>
              <a:r>
                <a:rPr lang="en-US" altLang="zh-CN" sz="2400" dirty="0"/>
                <a:t>2012</a:t>
              </a:r>
              <a:r>
                <a:rPr lang="zh-CN" altLang="en-US" sz="2400" dirty="0"/>
                <a:t>年</a:t>
              </a:r>
              <a:r>
                <a:rPr lang="en-US" altLang="zh-CN" sz="2400" dirty="0"/>
                <a:t>11</a:t>
              </a:r>
              <a:r>
                <a:rPr lang="zh-CN" altLang="en-US" sz="2400" dirty="0"/>
                <a:t>月</a:t>
              </a:r>
              <a:r>
                <a:rPr lang="en-US" altLang="zh-CN" sz="2400" dirty="0"/>
                <a:t>29</a:t>
              </a:r>
              <a:r>
                <a:rPr lang="zh-CN" altLang="en-US" sz="2400" dirty="0"/>
                <a:t>日于国家博物馆参观</a:t>
              </a:r>
              <a:r>
                <a:rPr lang="en-US" altLang="zh-CN" sz="2400" dirty="0"/>
                <a:t>《</a:t>
              </a:r>
              <a:r>
                <a:rPr lang="zh-CN" altLang="en-US" sz="2400" dirty="0"/>
                <a:t>复兴之路</a:t>
              </a:r>
              <a:r>
                <a:rPr lang="en-US" altLang="zh-CN" sz="2400" dirty="0"/>
                <a:t>》</a:t>
              </a:r>
              <a:r>
                <a:rPr lang="zh-CN" altLang="en-US" sz="2400" dirty="0"/>
                <a:t>展览时的讲话）</a:t>
              </a:r>
            </a:p>
          </p:txBody>
        </p:sp>
      </p:grpSp>
    </p:spTree>
    <p:extLst>
      <p:ext uri="{BB962C8B-B14F-4D97-AF65-F5344CB8AC3E}">
        <p14:creationId xmlns:p14="http://schemas.microsoft.com/office/powerpoint/2010/main" val="27881425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childTnLst>
              </p:cTn>
              <p:nextCondLst>
                <p:cond evt="onClick" delay="0">
                  <p:tgtEl>
                    <p:spTgt spid="21"/>
                  </p:tgtEl>
                </p:cond>
              </p:nextCondLst>
            </p:seq>
            <p:seq concurrent="1" nextAc="seek">
              <p:cTn id="7" restart="whenNotActive" fill="hold" evtFilter="cancelBubble" nodeType="interactiveSeq">
                <p:stCondLst>
                  <p:cond evt="onClick" delay="0">
                    <p:tgtEl>
                      <p:spTgt spid="37"/>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8"/>
                                        </p:tgtEl>
                                        <p:attrNameLst>
                                          <p:attrName>style.visibility</p:attrName>
                                        </p:attrNameLst>
                                      </p:cBhvr>
                                      <p:to>
                                        <p:strVal val="visible"/>
                                      </p:to>
                                    </p:set>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childTnLst>
              </p:cTn>
              <p:nextCondLst>
                <p:cond evt="onClick" delay="0">
                  <p:tgtEl>
                    <p:spTgt spid="37"/>
                  </p:tgtEl>
                </p:cond>
              </p:nextCondLst>
            </p:seq>
            <p:seq concurrent="1" nextAc="seek">
              <p:cTn id="12" restart="whenNotActive" fill="hold" evtFilter="cancelBubble" nodeType="interactiveSeq">
                <p:stCondLst>
                  <p:cond evt="onClick" delay="0">
                    <p:tgtEl>
                      <p:spTgt spid="42"/>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
                                        </p:tgtEl>
                                        <p:attrNameLst>
                                          <p:attrName>style.visibility</p:attrName>
                                        </p:attrNameLst>
                                      </p:cBhvr>
                                      <p:to>
                                        <p:strVal val="visible"/>
                                      </p:to>
                                    </p:se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childTnLst>
              </p:cTn>
              <p:nextCondLst>
                <p:cond evt="onClick" delay="0">
                  <p:tgtEl>
                    <p:spTgt spid="42"/>
                  </p:tgtEl>
                </p:cond>
              </p:nextCondLst>
            </p:seq>
            <p:seq concurrent="1" nextAc="seek">
              <p:cTn id="17" restart="whenNotActive" fill="hold" evtFilter="cancelBubble" nodeType="interactiveSeq">
                <p:stCondLst>
                  <p:cond evt="onClick" delay="0">
                    <p:tgtEl>
                      <p:spTgt spid="44"/>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childTnLst>
              </p:cTn>
              <p:nextCondLst>
                <p:cond evt="onClick" delay="0">
                  <p:tgtEl>
                    <p:spTgt spid="44"/>
                  </p:tgtEl>
                </p:cond>
              </p:nextCondLst>
            </p:seq>
            <p:seq concurrent="1" nextAc="seek">
              <p:cTn id="22" restart="whenNotActive" fill="hold" evtFilter="cancelBubble" nodeType="interactiveSeq">
                <p:stCondLst>
                  <p:cond evt="onClick" delay="0">
                    <p:tgtEl>
                      <p:spTgt spid="35"/>
                    </p:tgtEl>
                  </p:cond>
                </p:stCondLst>
                <p:endSync evt="end" delay="0">
                  <p:rtn val="all"/>
                </p:endSync>
                <p:childTnLst>
                  <p:par>
                    <p:cTn id="23" fill="hold">
                      <p:stCondLst>
                        <p:cond delay="0"/>
                      </p:stCondLst>
                      <p:childTnLst>
                        <p:par>
                          <p:cTn id="24" fill="hold">
                            <p:stCondLst>
                              <p:cond delay="0"/>
                            </p:stCondLst>
                            <p:childTnLst>
                              <p:par>
                                <p:cTn id="25" presetID="35" presetClass="path" presetSubtype="0" accel="50000" decel="50000" fill="hold" nodeType="clickEffect">
                                  <p:stCondLst>
                                    <p:cond delay="0"/>
                                  </p:stCondLst>
                                  <p:childTnLst>
                                    <p:animMotion origin="layout" path="M -2.22222E-6 3.7037E-7 L -1.03472 0.00023 " pathEditMode="relative" rAng="0" ptsTypes="AA">
                                      <p:cBhvr>
                                        <p:cTn id="26" dur="500" fill="hold"/>
                                        <p:tgtEl>
                                          <p:spTgt spid="48"/>
                                        </p:tgtEl>
                                        <p:attrNameLst>
                                          <p:attrName>ppt_x</p:attrName>
                                          <p:attrName>ppt_y</p:attrName>
                                        </p:attrNameLst>
                                      </p:cBhvr>
                                      <p:rCtr x="-51736" y="0"/>
                                    </p:animMotion>
                                  </p:childTnLst>
                                </p:cTn>
                              </p:par>
                            </p:childTnLst>
                          </p:cTn>
                        </p:par>
                      </p:childTnLst>
                    </p:cTn>
                  </p:par>
                </p:childTnLst>
              </p:cTn>
              <p:nextCondLst>
                <p:cond evt="onClick" delay="0">
                  <p:tgtEl>
                    <p:spTgt spid="35"/>
                  </p:tgtEl>
                </p:cond>
              </p:nextCondLst>
            </p:seq>
            <p:seq concurrent="1" nextAc="seek">
              <p:cTn id="27" restart="whenNotActive" fill="hold" evtFilter="cancelBubble" nodeType="interactiveSeq">
                <p:stCondLst>
                  <p:cond evt="onClick" delay="0">
                    <p:tgtEl>
                      <p:spTgt spid="48"/>
                    </p:tgtEl>
                  </p:cond>
                </p:stCondLst>
                <p:endSync evt="end" delay="0">
                  <p:rtn val="all"/>
                </p:endSync>
                <p:childTnLst>
                  <p:par>
                    <p:cTn id="28" fill="hold">
                      <p:stCondLst>
                        <p:cond delay="0"/>
                      </p:stCondLst>
                      <p:childTnLst>
                        <p:par>
                          <p:cTn id="29" fill="hold">
                            <p:stCondLst>
                              <p:cond delay="0"/>
                            </p:stCondLst>
                            <p:childTnLst>
                              <p:par>
                                <p:cTn id="30" presetID="42" presetClass="path" presetSubtype="0" accel="50000" decel="50000" fill="hold" nodeType="clickEffect">
                                  <p:stCondLst>
                                    <p:cond delay="0"/>
                                  </p:stCondLst>
                                  <p:childTnLst>
                                    <p:animMotion origin="layout" path="M 0 0 L 0 0.25 E" pathEditMode="relative" ptsTypes="">
                                      <p:cBhvr>
                                        <p:cTn id="31" dur="500" fill="hold"/>
                                        <p:tgtEl>
                                          <p:spTgt spid="48"/>
                                        </p:tgtEl>
                                        <p:attrNameLst>
                                          <p:attrName>ppt_x</p:attrName>
                                          <p:attrName>ppt_y</p:attrName>
                                        </p:attrNameLst>
                                      </p:cBhvr>
                                    </p:animMotion>
                                  </p:childTnLst>
                                </p:cTn>
                              </p:par>
                            </p:childTnLst>
                          </p:cTn>
                        </p:par>
                      </p:childTnLst>
                    </p:cTn>
                  </p:par>
                </p:childTnLst>
              </p:cTn>
              <p:nextCondLst>
                <p:cond evt="onClick" delay="0">
                  <p:tgtEl>
                    <p:spTgt spid="48"/>
                  </p:tgtEl>
                </p:cond>
              </p:nextCondLst>
            </p:seq>
          </p:childTnLst>
        </p:cTn>
      </p:par>
    </p:tnLst>
    <p:bldLst>
      <p:bldP spid="38" grpId="0" animBg="1"/>
      <p:bldP spid="41" grpId="0" animBg="1"/>
      <p:bldP spid="43" grpId="0" animBg="1"/>
      <p:bldP spid="4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32" name="文本框 31"/>
          <p:cNvSpPr txBox="1"/>
          <p:nvPr/>
        </p:nvSpPr>
        <p:spPr>
          <a:xfrm>
            <a:off x="366165" y="1155320"/>
            <a:ext cx="8526135" cy="3785652"/>
          </a:xfrm>
          <a:prstGeom prst="rect">
            <a:avLst/>
          </a:prstGeom>
          <a:noFill/>
        </p:spPr>
        <p:txBody>
          <a:bodyPr wrap="square" rtlCol="0">
            <a:spAutoFit/>
          </a:bodyPr>
          <a:lstStyle/>
          <a:p>
            <a:pPr algn="just"/>
            <a:r>
              <a:rPr lang="en-US" altLang="zh-CN" sz="2400" spc="-40" dirty="0"/>
              <a:t>country and nation do well. Achieving the rejuvenation of the Chinese</a:t>
            </a:r>
            <a:r>
              <a:rPr lang="en-US" altLang="zh-CN" sz="2400" dirty="0"/>
              <a:t> </a:t>
            </a:r>
            <a:r>
              <a:rPr lang="en-US" altLang="zh-CN" sz="2400" spc="70" dirty="0"/>
              <a:t>nation is both a </a:t>
            </a:r>
            <a:r>
              <a:rPr lang="en-US" altLang="zh-CN" sz="2400" spc="70" dirty="0">
                <a:solidFill>
                  <a:srgbClr val="C00000"/>
                </a:solidFill>
              </a:rPr>
              <a:t>glorious and arduous mission</a:t>
            </a:r>
            <a:r>
              <a:rPr lang="en-US" altLang="zh-CN" sz="2400" spc="70" dirty="0"/>
              <a:t> that requires the</a:t>
            </a:r>
            <a:r>
              <a:rPr lang="en-US" altLang="zh-CN" sz="2400" dirty="0"/>
              <a:t> </a:t>
            </a:r>
            <a:r>
              <a:rPr lang="en-US" altLang="zh-CN" sz="2400" spc="-30" dirty="0"/>
              <a:t>dedicated efforts of the Chinese people one generation after another</a:t>
            </a:r>
            <a:r>
              <a:rPr lang="en-US" altLang="zh-CN" sz="2400" dirty="0"/>
              <a:t>. </a:t>
            </a:r>
            <a:r>
              <a:rPr lang="en-US" altLang="zh-CN" sz="2400" spc="40" dirty="0">
                <a:solidFill>
                  <a:srgbClr val="C00000"/>
                </a:solidFill>
              </a:rPr>
              <a:t>Empty talk harms the country, while hard</a:t>
            </a:r>
            <a:r>
              <a:rPr lang="en-US" altLang="zh-CN" sz="2400" spc="40" dirty="0"/>
              <a:t> work makes it flourish</a:t>
            </a:r>
            <a:r>
              <a:rPr lang="en-US" altLang="zh-CN" sz="2400" dirty="0"/>
              <a:t>. </a:t>
            </a:r>
            <a:r>
              <a:rPr lang="en-US" altLang="zh-CN" sz="2400" spc="30" dirty="0"/>
              <a:t>Our generation of Communists should draw on past progress and</a:t>
            </a:r>
            <a:r>
              <a:rPr lang="en-US" altLang="zh-CN" sz="2400" dirty="0"/>
              <a:t> </a:t>
            </a:r>
            <a:r>
              <a:rPr lang="en-US" altLang="zh-CN" sz="2400" spc="80" dirty="0"/>
              <a:t>chart a new course for the future. We should strengthen Party</a:t>
            </a:r>
            <a:r>
              <a:rPr lang="en-US" altLang="zh-CN" sz="2400" dirty="0"/>
              <a:t> </a:t>
            </a:r>
            <a:r>
              <a:rPr lang="en-US" altLang="zh-CN" sz="2400" spc="80" dirty="0"/>
              <a:t>building, rally all the sons and daughters of the Chinese nation</a:t>
            </a:r>
            <a:r>
              <a:rPr lang="en-US" altLang="zh-CN" sz="2400" dirty="0"/>
              <a:t> around us in a common effort to build our country and develop our </a:t>
            </a:r>
            <a:r>
              <a:rPr lang="en-US" altLang="zh-CN" sz="2400" spc="70" dirty="0"/>
              <a:t>nation, and continue to boldly advance towards the goal of the</a:t>
            </a:r>
            <a:r>
              <a:rPr lang="en-US" altLang="zh-CN" sz="2400" dirty="0"/>
              <a:t> rejuvenation of the Chinese nation.</a:t>
            </a:r>
            <a:endParaRPr lang="en-US" altLang="zh-CN" sz="2400" b="1" dirty="0">
              <a:solidFill>
                <a:srgbClr val="C6383E"/>
              </a:solidFill>
            </a:endParaRPr>
          </a:p>
        </p:txBody>
      </p:sp>
      <p:pic>
        <p:nvPicPr>
          <p:cNvPr id="40"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41" name="圆角矩形 40"/>
          <p:cNvSpPr/>
          <p:nvPr/>
        </p:nvSpPr>
        <p:spPr>
          <a:xfrm>
            <a:off x="2584438" y="1614586"/>
            <a:ext cx="3911612"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a:off x="444844" y="2336723"/>
            <a:ext cx="5371756"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标注 43"/>
          <p:cNvSpPr/>
          <p:nvPr/>
        </p:nvSpPr>
        <p:spPr>
          <a:xfrm>
            <a:off x="2609482" y="2828512"/>
            <a:ext cx="2250538" cy="341160"/>
          </a:xfrm>
          <a:prstGeom prst="wedgeRectCallout">
            <a:avLst>
              <a:gd name="adj1" fmla="val -36937"/>
              <a:gd name="adj2" fmla="val -9291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空谈误国，实干兴邦</a:t>
            </a:r>
          </a:p>
        </p:txBody>
      </p:sp>
      <p:sp>
        <p:nvSpPr>
          <p:cNvPr id="42" name="矩形标注 41"/>
          <p:cNvSpPr/>
          <p:nvPr/>
        </p:nvSpPr>
        <p:spPr>
          <a:xfrm>
            <a:off x="4572000" y="2065520"/>
            <a:ext cx="2016864" cy="341160"/>
          </a:xfrm>
          <a:prstGeom prst="wedgeRectCallout">
            <a:avLst>
              <a:gd name="adj1" fmla="val -36937"/>
              <a:gd name="adj2" fmla="val -9291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光荣而艰巨的事业</a:t>
            </a:r>
          </a:p>
        </p:txBody>
      </p:sp>
      <p:pic>
        <p:nvPicPr>
          <p:cNvPr id="45"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253995"/>
            <a:ext cx="324000" cy="324000"/>
          </a:xfrm>
          <a:prstGeom prst="rect">
            <a:avLst/>
          </a:prstGeom>
          <a:noFill/>
        </p:spPr>
      </p:pic>
      <p:grpSp>
        <p:nvGrpSpPr>
          <p:cNvPr id="46" name="组合 45"/>
          <p:cNvGrpSpPr/>
          <p:nvPr/>
        </p:nvGrpSpPr>
        <p:grpSpPr>
          <a:xfrm>
            <a:off x="9461137" y="1132940"/>
            <a:ext cx="9144000" cy="5171599"/>
            <a:chOff x="9461137" y="1132940"/>
            <a:chExt cx="9144000" cy="5171599"/>
          </a:xfrm>
        </p:grpSpPr>
        <p:sp>
          <p:nvSpPr>
            <p:cNvPr id="47" name="矩形 46"/>
            <p:cNvSpPr/>
            <p:nvPr/>
          </p:nvSpPr>
          <p:spPr>
            <a:xfrm>
              <a:off x="9461137" y="1132940"/>
              <a:ext cx="9144000" cy="51715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9766987" y="1271916"/>
              <a:ext cx="8532300" cy="4893647"/>
            </a:xfrm>
            <a:prstGeom prst="rect">
              <a:avLst/>
            </a:prstGeom>
            <a:noFill/>
          </p:spPr>
          <p:txBody>
            <a:bodyPr wrap="square" rtlCol="0">
              <a:spAutoFit/>
            </a:bodyPr>
            <a:lstStyle/>
            <a:p>
              <a:r>
                <a:rPr lang="zh-CN" altLang="en-US" sz="2400" dirty="0"/>
                <a:t>         每个人都有理想和追求，都有自己的梦想。现在，大家都在讨论中国梦，我以为，实现中华民族伟大复兴，就是中华民族近代以来最伟大的梦想。这个梦想，凝聚了几代中国人的夙愿，体现了中华民族和中国人民的整体利益，是每一个中华儿女的共同期盼。历史告诉我们，每个人的前途命运都与国家和民族的前途命运紧密相连。国家好，民族好，大家才会好。实现中华民族伟大复兴是一项光荣而艰巨的事业，需要一代又一代中国人共同为之努力。空谈误国，实干兴邦。我们这一代共产党人一定要承前启后、继往开来，把我们的党建设好，团结全体中华儿女把我们国家建设好，把我们民族发展好，继续朝着中华民族伟大复兴的目标奋勇前进。</a:t>
              </a:r>
            </a:p>
            <a:p>
              <a:r>
                <a:rPr lang="zh-CN" altLang="en-US" sz="2400" dirty="0"/>
                <a:t>（习近平</a:t>
              </a:r>
              <a:r>
                <a:rPr lang="en-US" altLang="zh-CN" sz="2400" dirty="0"/>
                <a:t>2012</a:t>
              </a:r>
              <a:r>
                <a:rPr lang="zh-CN" altLang="en-US" sz="2400" dirty="0"/>
                <a:t>年</a:t>
              </a:r>
              <a:r>
                <a:rPr lang="en-US" altLang="zh-CN" sz="2400" dirty="0"/>
                <a:t>11</a:t>
              </a:r>
              <a:r>
                <a:rPr lang="zh-CN" altLang="en-US" sz="2400" dirty="0"/>
                <a:t>月</a:t>
              </a:r>
              <a:r>
                <a:rPr lang="en-US" altLang="zh-CN" sz="2400" dirty="0"/>
                <a:t>29</a:t>
              </a:r>
              <a:r>
                <a:rPr lang="zh-CN" altLang="en-US" sz="2400" dirty="0"/>
                <a:t>日于国家博物馆参观</a:t>
              </a:r>
              <a:r>
                <a:rPr lang="en-US" altLang="zh-CN" sz="2400" dirty="0"/>
                <a:t>《</a:t>
              </a:r>
              <a:r>
                <a:rPr lang="zh-CN" altLang="en-US" sz="2400" dirty="0"/>
                <a:t>复兴之路</a:t>
              </a:r>
              <a:r>
                <a:rPr lang="en-US" altLang="zh-CN" sz="2400" dirty="0"/>
                <a:t>》</a:t>
              </a:r>
              <a:r>
                <a:rPr lang="zh-CN" altLang="en-US" sz="2400" dirty="0"/>
                <a:t>展览时的讲话）</a:t>
              </a:r>
            </a:p>
          </p:txBody>
        </p:sp>
      </p:grpSp>
    </p:spTree>
    <p:extLst>
      <p:ext uri="{BB962C8B-B14F-4D97-AF65-F5344CB8AC3E}">
        <p14:creationId xmlns:p14="http://schemas.microsoft.com/office/powerpoint/2010/main" val="363941990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childTnLst>
              </p:cTn>
              <p:nextCondLst>
                <p:cond evt="onClick" delay="0">
                  <p:tgtEl>
                    <p:spTgt spid="41"/>
                  </p:tgtEl>
                </p:cond>
              </p:nextCondLst>
            </p:seq>
            <p:seq concurrent="1" nextAc="seek">
              <p:cTn id="7" restart="whenNotActive" fill="hold" evtFilter="cancelBubble" nodeType="interactiveSeq">
                <p:stCondLst>
                  <p:cond evt="onClick" delay="0">
                    <p:tgtEl>
                      <p:spTgt spid="43"/>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childTnLst>
                          </p:cTn>
                        </p:par>
                      </p:childTnLst>
                    </p:cTn>
                  </p:par>
                </p:childTnLst>
              </p:cTn>
              <p:nextCondLst>
                <p:cond evt="onClick" delay="0">
                  <p:tgtEl>
                    <p:spTgt spid="43"/>
                  </p:tgtEl>
                </p:cond>
              </p:nextCondLst>
            </p:seq>
            <p:seq concurrent="1" nextAc="seek">
              <p:cTn id="12" restart="whenNotActive" fill="hold" evtFilter="cancelBubble" nodeType="interactiveSeq">
                <p:stCondLst>
                  <p:cond evt="onClick" delay="0">
                    <p:tgtEl>
                      <p:spTgt spid="45"/>
                    </p:tgtEl>
                  </p:cond>
                </p:stCondLst>
                <p:endSync evt="end" delay="0">
                  <p:rtn val="all"/>
                </p:endSync>
                <p:childTnLst>
                  <p:par>
                    <p:cTn id="13" fill="hold">
                      <p:stCondLst>
                        <p:cond delay="0"/>
                      </p:stCondLst>
                      <p:childTnLst>
                        <p:par>
                          <p:cTn id="14" fill="hold">
                            <p:stCondLst>
                              <p:cond delay="0"/>
                            </p:stCondLst>
                            <p:childTnLst>
                              <p:par>
                                <p:cTn id="15" presetID="35" presetClass="path" presetSubtype="0" accel="50000" decel="50000" fill="hold" nodeType="clickEffect">
                                  <p:stCondLst>
                                    <p:cond delay="0"/>
                                  </p:stCondLst>
                                  <p:childTnLst>
                                    <p:animMotion origin="layout" path="M -2.22222E-6 3.7037E-7 L -1.03472 0.00023 " pathEditMode="relative" rAng="0" ptsTypes="AA">
                                      <p:cBhvr>
                                        <p:cTn id="16" dur="500" fill="hold"/>
                                        <p:tgtEl>
                                          <p:spTgt spid="46"/>
                                        </p:tgtEl>
                                        <p:attrNameLst>
                                          <p:attrName>ppt_x</p:attrName>
                                          <p:attrName>ppt_y</p:attrName>
                                        </p:attrNameLst>
                                      </p:cBhvr>
                                      <p:rCtr x="-51736" y="0"/>
                                    </p:animMotion>
                                  </p:childTnLst>
                                </p:cTn>
                              </p:par>
                            </p:childTnLst>
                          </p:cTn>
                        </p:par>
                      </p:childTnLst>
                    </p:cTn>
                  </p:par>
                </p:childTnLst>
              </p:cTn>
              <p:nextCondLst>
                <p:cond evt="onClick" delay="0">
                  <p:tgtEl>
                    <p:spTgt spid="45"/>
                  </p:tgtEl>
                </p:cond>
              </p:nextCondLst>
            </p:seq>
            <p:seq concurrent="1" nextAc="seek">
              <p:cTn id="17" restart="whenNotActive" fill="hold" evtFilter="cancelBubble" nodeType="interactiveSeq">
                <p:stCondLst>
                  <p:cond evt="onClick" delay="0">
                    <p:tgtEl>
                      <p:spTgt spid="46"/>
                    </p:tgtEl>
                  </p:cond>
                </p:stCondLst>
                <p:endSync evt="end" delay="0">
                  <p:rtn val="all"/>
                </p:endSync>
                <p:childTnLst>
                  <p:par>
                    <p:cTn id="18" fill="hold">
                      <p:stCondLst>
                        <p:cond delay="0"/>
                      </p:stCondLst>
                      <p:childTnLst>
                        <p:par>
                          <p:cTn id="19" fill="hold">
                            <p:stCondLst>
                              <p:cond delay="0"/>
                            </p:stCondLst>
                            <p:childTnLst>
                              <p:par>
                                <p:cTn id="20" presetID="42" presetClass="path" presetSubtype="0" accel="50000" decel="50000" fill="hold" nodeType="clickEffect">
                                  <p:stCondLst>
                                    <p:cond delay="0"/>
                                  </p:stCondLst>
                                  <p:childTnLst>
                                    <p:animMotion origin="layout" path="M 0 0 L 0 0.25 E" pathEditMode="relative" ptsTypes="">
                                      <p:cBhvr>
                                        <p:cTn id="21" dur="500" fill="hold"/>
                                        <p:tgtEl>
                                          <p:spTgt spid="46"/>
                                        </p:tgtEl>
                                        <p:attrNameLst>
                                          <p:attrName>ppt_x</p:attrName>
                                          <p:attrName>ppt_y</p:attrName>
                                        </p:attrNameLst>
                                      </p:cBhvr>
                                    </p:animMotion>
                                  </p:childTnLst>
                                </p:cTn>
                              </p:par>
                            </p:childTnLst>
                          </p:cTn>
                        </p:par>
                      </p:childTnLst>
                    </p:cTn>
                  </p:par>
                </p:childTnLst>
              </p:cTn>
              <p:nextCondLst>
                <p:cond evt="onClick" delay="0">
                  <p:tgtEl>
                    <p:spTgt spid="46"/>
                  </p:tgtEl>
                </p:cond>
              </p:nextCondLst>
            </p:seq>
          </p:childTnLst>
        </p:cTn>
      </p:par>
    </p:tnLst>
    <p:bldLst>
      <p:bldP spid="44" grpId="0" animBg="1"/>
      <p:bldP spid="4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32" name="文本框 31"/>
          <p:cNvSpPr txBox="1"/>
          <p:nvPr/>
        </p:nvSpPr>
        <p:spPr>
          <a:xfrm>
            <a:off x="360000" y="1133951"/>
            <a:ext cx="8532300" cy="830997"/>
          </a:xfrm>
          <a:prstGeom prst="rect">
            <a:avLst/>
          </a:prstGeom>
          <a:noFill/>
        </p:spPr>
        <p:txBody>
          <a:bodyPr wrap="square" rtlCol="0">
            <a:spAutoFit/>
          </a:bodyPr>
          <a:lstStyle/>
          <a:p>
            <a:pPr algn="just"/>
            <a:r>
              <a:rPr lang="en-US" altLang="zh-CN" sz="2400" b="1" dirty="0">
                <a:solidFill>
                  <a:srgbClr val="C6383E"/>
                </a:solidFill>
              </a:rPr>
              <a:t>Task 3</a:t>
            </a:r>
          </a:p>
          <a:p>
            <a:r>
              <a:rPr lang="en-US" altLang="zh-CN" sz="2400" b="1" spc="20" dirty="0">
                <a:solidFill>
                  <a:srgbClr val="C6383E"/>
                </a:solidFill>
                <a:latin typeface="Cambria" panose="02040503050406030204" pitchFamily="18" charset="0"/>
                <a:ea typeface="Cambria" panose="02040503050406030204" pitchFamily="18" charset="0"/>
              </a:rPr>
              <a:t>A</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35"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592895"/>
            <a:ext cx="324000" cy="324000"/>
          </a:xfrm>
          <a:prstGeom prst="rect">
            <a:avLst/>
          </a:prstGeom>
          <a:noFill/>
        </p:spPr>
      </p:pic>
      <p:pic>
        <p:nvPicPr>
          <p:cNvPr id="36"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7" name="文本框 6"/>
          <p:cNvSpPr txBox="1"/>
          <p:nvPr/>
        </p:nvSpPr>
        <p:spPr>
          <a:xfrm>
            <a:off x="701040" y="1133951"/>
            <a:ext cx="8191259" cy="1200329"/>
          </a:xfrm>
          <a:prstGeom prst="rect">
            <a:avLst/>
          </a:prstGeom>
          <a:noFill/>
        </p:spPr>
        <p:txBody>
          <a:bodyPr wrap="square" rtlCol="0">
            <a:spAutoFit/>
          </a:bodyPr>
          <a:lstStyle/>
          <a:p>
            <a:endParaRPr lang="en-US" altLang="zh-CN" sz="2400" dirty="0">
              <a:latin typeface="Cambria" panose="02040503050406030204" pitchFamily="18" charset="0"/>
              <a:ea typeface="Cambria" panose="02040503050406030204" pitchFamily="18" charset="0"/>
            </a:endParaRPr>
          </a:p>
          <a:p>
            <a:r>
              <a:rPr lang="en-US" altLang="zh-CN" sz="2400" spc="-20" dirty="0">
                <a:latin typeface="Cambria" panose="02040503050406030204" pitchFamily="18" charset="0"/>
                <a:ea typeface="Cambria" panose="02040503050406030204" pitchFamily="18" charset="0"/>
              </a:rPr>
              <a:t>Translate the following sentences into English, using the words</a:t>
            </a:r>
            <a:r>
              <a:rPr lang="en-US" altLang="zh-CN" sz="2400" dirty="0">
                <a:latin typeface="Cambria" panose="02040503050406030204" pitchFamily="18" charset="0"/>
                <a:ea typeface="Cambria" panose="02040503050406030204" pitchFamily="18" charset="0"/>
              </a:rPr>
              <a:t> or phrases given in brackets.</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8" name="文本框 7"/>
          <p:cNvSpPr txBox="1"/>
          <p:nvPr/>
        </p:nvSpPr>
        <p:spPr>
          <a:xfrm>
            <a:off x="366165" y="2600733"/>
            <a:ext cx="485955" cy="2308324"/>
          </a:xfrm>
          <a:prstGeom prst="rect">
            <a:avLst/>
          </a:prstGeom>
          <a:noFill/>
        </p:spPr>
        <p:txBody>
          <a:bodyPr wrap="square" rtlCol="0">
            <a:spAutoFit/>
          </a:bodyPr>
          <a:lstStyle/>
          <a:p>
            <a:r>
              <a:rPr lang="en-US" altLang="zh-CN" sz="2400" b="1" dirty="0">
                <a:solidFill>
                  <a:srgbClr val="C6383E"/>
                </a:solidFill>
                <a:latin typeface="+mn-ea"/>
                <a:ea typeface="+mn-ea"/>
              </a:rPr>
              <a:t>1</a:t>
            </a:r>
          </a:p>
          <a:p>
            <a:endParaRPr lang="en-US" altLang="zh-CN" sz="2400" b="1" dirty="0">
              <a:solidFill>
                <a:srgbClr val="C6383E"/>
              </a:solidFill>
              <a:latin typeface="+mn-ea"/>
              <a:ea typeface="+mn-ea"/>
            </a:endParaRPr>
          </a:p>
          <a:p>
            <a:endParaRPr lang="en-US" altLang="zh-CN" sz="2400" b="1" dirty="0">
              <a:solidFill>
                <a:srgbClr val="C6383E"/>
              </a:solidFill>
              <a:latin typeface="+mn-ea"/>
              <a:ea typeface="+mn-ea"/>
            </a:endParaRPr>
          </a:p>
          <a:p>
            <a:endParaRPr lang="en-US" altLang="zh-CN" sz="2400" b="1" dirty="0">
              <a:solidFill>
                <a:srgbClr val="C6383E"/>
              </a:solidFill>
              <a:latin typeface="+mn-ea"/>
              <a:ea typeface="+mn-ea"/>
            </a:endParaRPr>
          </a:p>
          <a:p>
            <a:endParaRPr lang="en-US" altLang="zh-CN" sz="2400" b="1" dirty="0">
              <a:solidFill>
                <a:srgbClr val="C6383E"/>
              </a:solidFill>
              <a:latin typeface="+mn-ea"/>
              <a:ea typeface="+mn-ea"/>
            </a:endParaRPr>
          </a:p>
          <a:p>
            <a:r>
              <a:rPr lang="en-US" altLang="zh-CN" sz="2400" b="1" dirty="0">
                <a:solidFill>
                  <a:srgbClr val="C6383E"/>
                </a:solidFill>
                <a:latin typeface="+mn-ea"/>
                <a:ea typeface="+mn-ea"/>
              </a:rPr>
              <a:t>2</a:t>
            </a:r>
            <a:endParaRPr lang="zh-CN" altLang="en-US" sz="2400" b="1" dirty="0">
              <a:solidFill>
                <a:srgbClr val="C6383E"/>
              </a:solidFill>
              <a:latin typeface="+mn-ea"/>
              <a:ea typeface="+mn-ea"/>
              <a:cs typeface="Times New Roman" panose="02020603050405020304" pitchFamily="18" charset="0"/>
            </a:endParaRPr>
          </a:p>
        </p:txBody>
      </p:sp>
      <p:sp>
        <p:nvSpPr>
          <p:cNvPr id="9" name="文本框 8"/>
          <p:cNvSpPr txBox="1"/>
          <p:nvPr/>
        </p:nvSpPr>
        <p:spPr>
          <a:xfrm>
            <a:off x="660400" y="2600733"/>
            <a:ext cx="8231900" cy="3046988"/>
          </a:xfrm>
          <a:prstGeom prst="rect">
            <a:avLst/>
          </a:prstGeom>
          <a:noFill/>
        </p:spPr>
        <p:txBody>
          <a:bodyPr wrap="square" rtlCol="0">
            <a:spAutoFit/>
          </a:bodyPr>
          <a:lstStyle/>
          <a:p>
            <a:pPr algn="just"/>
            <a:r>
              <a:rPr lang="zh-CN" altLang="en-US" sz="2400" dirty="0"/>
              <a:t>位于北京市丰台区的中国航天博物馆重点展示了中国航天工业的历史和未来。</a:t>
            </a:r>
            <a:r>
              <a:rPr lang="en-US" altLang="zh-CN" sz="2400" dirty="0"/>
              <a:t>(feature)</a:t>
            </a:r>
          </a:p>
          <a:p>
            <a:pPr algn="just"/>
            <a:r>
              <a:rPr lang="en-US" altLang="zh-CN" sz="2400" spc="-10" dirty="0"/>
              <a:t>__________________________________________________________________________________________________________</a:t>
            </a:r>
          </a:p>
          <a:p>
            <a:pPr algn="just"/>
            <a:endParaRPr lang="en-US" altLang="zh-CN" sz="2400" spc="-10" dirty="0"/>
          </a:p>
          <a:p>
            <a:pPr algn="just"/>
            <a:r>
              <a:rPr lang="zh-CN" altLang="en-US" sz="2400" spc="-30" dirty="0"/>
              <a:t>“一带一路”倡议促进了沿线国家的经济发展。</a:t>
            </a:r>
            <a:r>
              <a:rPr lang="en-US" altLang="zh-CN" sz="2400" spc="-30" dirty="0"/>
              <a:t>(along its path)</a:t>
            </a:r>
          </a:p>
          <a:p>
            <a:pPr algn="just"/>
            <a:r>
              <a:rPr lang="en-US" altLang="zh-CN" sz="2400" spc="-10" dirty="0"/>
              <a:t>__________________________________________________________________________________________________________</a:t>
            </a:r>
          </a:p>
        </p:txBody>
      </p:sp>
      <p:sp>
        <p:nvSpPr>
          <p:cNvPr id="11" name="文本框 10"/>
          <p:cNvSpPr txBox="1"/>
          <p:nvPr/>
        </p:nvSpPr>
        <p:spPr>
          <a:xfrm>
            <a:off x="660400" y="3280390"/>
            <a:ext cx="8159895" cy="830997"/>
          </a:xfrm>
          <a:prstGeom prst="rect">
            <a:avLst/>
          </a:prstGeom>
          <a:noFill/>
        </p:spPr>
        <p:txBody>
          <a:bodyPr wrap="square" rtlCol="0">
            <a:spAutoFit/>
          </a:bodyPr>
          <a:lstStyle/>
          <a:p>
            <a:pPr algn="just"/>
            <a:r>
              <a:rPr lang="en-US" altLang="zh-CN" sz="2400" spc="-20" dirty="0">
                <a:solidFill>
                  <a:srgbClr val="FF0000"/>
                </a:solidFill>
              </a:rPr>
              <a:t>The China Space Museum in Beijing’s </a:t>
            </a:r>
            <a:r>
              <a:rPr lang="en-US" altLang="zh-CN" sz="2400" spc="-20" dirty="0" err="1">
                <a:solidFill>
                  <a:srgbClr val="FF0000"/>
                </a:solidFill>
              </a:rPr>
              <a:t>Fengtai</a:t>
            </a:r>
            <a:r>
              <a:rPr lang="en-US" altLang="zh-CN" sz="2400" spc="-20" dirty="0">
                <a:solidFill>
                  <a:srgbClr val="FF0000"/>
                </a:solidFill>
              </a:rPr>
              <a:t> District features the</a:t>
            </a:r>
            <a:r>
              <a:rPr lang="en-US" altLang="zh-CN" sz="2400" dirty="0">
                <a:solidFill>
                  <a:srgbClr val="FF0000"/>
                </a:solidFill>
              </a:rPr>
              <a:t> history and future of the space industry in China.</a:t>
            </a:r>
          </a:p>
        </p:txBody>
      </p:sp>
      <p:sp>
        <p:nvSpPr>
          <p:cNvPr id="12" name="文本框 11"/>
          <p:cNvSpPr txBox="1"/>
          <p:nvPr/>
        </p:nvSpPr>
        <p:spPr>
          <a:xfrm>
            <a:off x="656496" y="4748628"/>
            <a:ext cx="8159895" cy="830997"/>
          </a:xfrm>
          <a:prstGeom prst="rect">
            <a:avLst/>
          </a:prstGeom>
          <a:noFill/>
        </p:spPr>
        <p:txBody>
          <a:bodyPr wrap="square" rtlCol="0">
            <a:spAutoFit/>
          </a:bodyPr>
          <a:lstStyle/>
          <a:p>
            <a:pPr algn="just"/>
            <a:r>
              <a:rPr lang="en-US" altLang="zh-CN" sz="2400" spc="-30" dirty="0">
                <a:solidFill>
                  <a:srgbClr val="FF0000"/>
                </a:solidFill>
              </a:rPr>
              <a:t>The Belt and Road Initiative promoted the economic development</a:t>
            </a:r>
            <a:r>
              <a:rPr lang="en-US" altLang="zh-CN" sz="2400" dirty="0">
                <a:solidFill>
                  <a:srgbClr val="FF0000"/>
                </a:solidFill>
              </a:rPr>
              <a:t> of the countries along its path.</a:t>
            </a:r>
          </a:p>
        </p:txBody>
      </p:sp>
      <p:sp>
        <p:nvSpPr>
          <p:cNvPr id="13" name="矩形 12"/>
          <p:cNvSpPr/>
          <p:nvPr/>
        </p:nvSpPr>
        <p:spPr>
          <a:xfrm>
            <a:off x="736497" y="3367154"/>
            <a:ext cx="8060656" cy="71090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36497" y="4840525"/>
            <a:ext cx="8060656" cy="71090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586061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35"/>
                  </p:tgtEl>
                </p:cond>
              </p:nextCondLst>
            </p:seq>
            <p:seq concurrent="1" nextAc="seek">
              <p:cTn id="9" restart="whenNotActive" fill="hold" evtFilter="cancelBubble" nodeType="interactiveSeq">
                <p:stCondLst>
                  <p:cond evt="onClick" delay="0">
                    <p:tgtEl>
                      <p:spTgt spid="13"/>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1" nodeType="clickEffect">
                                  <p:stCondLst>
                                    <p:cond delay="0"/>
                                  </p:stCondLst>
                                  <p:childTnLst>
                                    <p:set>
                                      <p:cBhvr>
                                        <p:cTn id="13"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4" restart="whenNotActive" fill="hold" evtFilter="cancelBubble" nodeType="interactiveSeq">
                <p:stCondLst>
                  <p:cond evt="onClick" delay="0">
                    <p:tgtEl>
                      <p:spTgt spid="14"/>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4"/>
                  </p:tgtEl>
                </p:cond>
              </p:nextCondLst>
            </p:seq>
          </p:childTnLst>
        </p:cTn>
      </p:par>
    </p:tnLst>
    <p:bldLst>
      <p:bldP spid="11" grpId="0"/>
      <p:bldP spid="11" grpId="1"/>
      <p:bldP spid="12" grpId="0"/>
      <p:bldP spid="12"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36"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7" name="文本框 6"/>
          <p:cNvSpPr txBox="1"/>
          <p:nvPr/>
        </p:nvSpPr>
        <p:spPr>
          <a:xfrm>
            <a:off x="366165" y="1162940"/>
            <a:ext cx="485955" cy="3785652"/>
          </a:xfrm>
          <a:prstGeom prst="rect">
            <a:avLst/>
          </a:prstGeom>
          <a:noFill/>
        </p:spPr>
        <p:txBody>
          <a:bodyPr wrap="square" rtlCol="0">
            <a:spAutoFit/>
          </a:bodyPr>
          <a:lstStyle/>
          <a:p>
            <a:r>
              <a:rPr lang="en-US" altLang="zh-CN" sz="2400" b="1" dirty="0">
                <a:solidFill>
                  <a:srgbClr val="C6383E"/>
                </a:solidFill>
                <a:latin typeface="+mn-ea"/>
                <a:ea typeface="+mn-ea"/>
              </a:rPr>
              <a:t>3</a:t>
            </a:r>
            <a:r>
              <a:rPr lang="zh-CN" altLang="en-US" sz="2400" dirty="0">
                <a:latin typeface="+mn-ea"/>
                <a:ea typeface="+mn-ea"/>
              </a:rPr>
              <a:t> </a:t>
            </a:r>
            <a:endParaRPr lang="en-US" altLang="zh-CN" sz="2400" b="1" dirty="0">
              <a:solidFill>
                <a:srgbClr val="C6383E"/>
              </a:solidFill>
              <a:latin typeface="+mn-ea"/>
              <a:ea typeface="+mn-ea"/>
            </a:endParaRPr>
          </a:p>
          <a:p>
            <a:r>
              <a:rPr lang="zh-CN" altLang="en-US" sz="2400" dirty="0">
                <a:latin typeface="+mn-ea"/>
                <a:ea typeface="+mn-ea"/>
              </a:rPr>
              <a:t> </a:t>
            </a:r>
            <a:endParaRPr lang="en-US" altLang="zh-CN" sz="2400" b="1" dirty="0">
              <a:solidFill>
                <a:srgbClr val="C6383E"/>
              </a:solidFill>
              <a:latin typeface="+mn-ea"/>
              <a:ea typeface="+mn-ea"/>
            </a:endParaRPr>
          </a:p>
          <a:p>
            <a:r>
              <a:rPr lang="zh-CN" altLang="en-US" sz="2400" dirty="0">
                <a:latin typeface="+mn-ea"/>
                <a:ea typeface="+mn-ea"/>
              </a:rPr>
              <a:t> </a:t>
            </a:r>
            <a:endParaRPr lang="en-US" altLang="zh-CN" sz="2400" b="1" dirty="0">
              <a:solidFill>
                <a:srgbClr val="C6383E"/>
              </a:solidFill>
              <a:latin typeface="+mn-ea"/>
              <a:ea typeface="+mn-ea"/>
            </a:endParaRPr>
          </a:p>
          <a:p>
            <a:r>
              <a:rPr lang="zh-CN" altLang="en-US" sz="2400" dirty="0">
                <a:latin typeface="+mn-ea"/>
                <a:ea typeface="+mn-ea"/>
              </a:rPr>
              <a:t> </a:t>
            </a:r>
            <a:endParaRPr lang="en-US" altLang="zh-CN" sz="2400" b="1" dirty="0">
              <a:solidFill>
                <a:srgbClr val="C6383E"/>
              </a:solidFill>
              <a:latin typeface="+mn-ea"/>
              <a:ea typeface="+mn-ea"/>
            </a:endParaRPr>
          </a:p>
          <a:p>
            <a:r>
              <a:rPr lang="en-US" altLang="zh-CN" sz="2400" b="1" dirty="0">
                <a:solidFill>
                  <a:srgbClr val="C6383E"/>
                </a:solidFill>
                <a:latin typeface="+mn-ea"/>
                <a:ea typeface="+mn-ea"/>
                <a:cs typeface="Times New Roman" panose="02020603050405020304" pitchFamily="18" charset="0"/>
              </a:rPr>
              <a:t>4</a:t>
            </a:r>
            <a:r>
              <a:rPr lang="zh-CN" altLang="en-US" sz="2400" dirty="0">
                <a:latin typeface="+mn-ea"/>
                <a:ea typeface="+mn-ea"/>
              </a:rPr>
              <a:t> </a:t>
            </a:r>
            <a:endParaRPr lang="en-US" altLang="zh-CN" sz="2400" b="1" dirty="0">
              <a:solidFill>
                <a:srgbClr val="C6383E"/>
              </a:solidFill>
              <a:latin typeface="+mn-ea"/>
              <a:ea typeface="+mn-ea"/>
              <a:cs typeface="Times New Roman" panose="02020603050405020304" pitchFamily="18" charset="0"/>
            </a:endParaRPr>
          </a:p>
          <a:p>
            <a:r>
              <a:rPr lang="zh-CN" altLang="en-US" sz="2400" dirty="0">
                <a:latin typeface="+mn-ea"/>
                <a:ea typeface="+mn-ea"/>
              </a:rPr>
              <a:t> </a:t>
            </a:r>
            <a:endParaRPr lang="en-US" altLang="zh-CN" sz="2400" b="1" dirty="0">
              <a:solidFill>
                <a:srgbClr val="C6383E"/>
              </a:solidFill>
              <a:latin typeface="+mn-ea"/>
              <a:ea typeface="+mn-ea"/>
              <a:cs typeface="Times New Roman" panose="02020603050405020304" pitchFamily="18" charset="0"/>
            </a:endParaRPr>
          </a:p>
          <a:p>
            <a:r>
              <a:rPr lang="zh-CN" altLang="en-US" sz="2400" dirty="0">
                <a:latin typeface="+mn-ea"/>
                <a:ea typeface="+mn-ea"/>
              </a:rPr>
              <a:t> </a:t>
            </a:r>
            <a:endParaRPr lang="en-US" altLang="zh-CN" sz="2400" b="1" dirty="0">
              <a:solidFill>
                <a:srgbClr val="C6383E"/>
              </a:solidFill>
              <a:latin typeface="+mn-ea"/>
              <a:ea typeface="+mn-ea"/>
              <a:cs typeface="Times New Roman" panose="02020603050405020304" pitchFamily="18" charset="0"/>
            </a:endParaRPr>
          </a:p>
          <a:p>
            <a:r>
              <a:rPr lang="zh-CN" altLang="en-US" sz="2400" dirty="0">
                <a:latin typeface="+mn-ea"/>
                <a:ea typeface="+mn-ea"/>
              </a:rPr>
              <a:t> </a:t>
            </a:r>
            <a:endParaRPr lang="en-US" altLang="zh-CN" sz="2400" b="1" dirty="0">
              <a:solidFill>
                <a:srgbClr val="C6383E"/>
              </a:solidFill>
              <a:latin typeface="+mn-ea"/>
              <a:ea typeface="+mn-ea"/>
              <a:cs typeface="Times New Roman" panose="02020603050405020304" pitchFamily="18" charset="0"/>
            </a:endParaRPr>
          </a:p>
          <a:p>
            <a:r>
              <a:rPr lang="zh-CN" altLang="en-US" sz="2400" dirty="0">
                <a:latin typeface="+mn-ea"/>
                <a:ea typeface="+mn-ea"/>
              </a:rPr>
              <a:t> </a:t>
            </a:r>
            <a:endParaRPr lang="en-US" altLang="zh-CN" sz="2400" b="1" dirty="0">
              <a:solidFill>
                <a:srgbClr val="C6383E"/>
              </a:solidFill>
              <a:latin typeface="+mn-ea"/>
              <a:ea typeface="+mn-ea"/>
              <a:cs typeface="Times New Roman" panose="02020603050405020304" pitchFamily="18" charset="0"/>
            </a:endParaRPr>
          </a:p>
          <a:p>
            <a:r>
              <a:rPr lang="en-US" altLang="zh-CN" sz="2400" b="1" dirty="0">
                <a:solidFill>
                  <a:srgbClr val="C6383E"/>
                </a:solidFill>
                <a:latin typeface="+mn-ea"/>
                <a:ea typeface="+mn-ea"/>
                <a:cs typeface="Times New Roman" panose="02020603050405020304" pitchFamily="18" charset="0"/>
              </a:rPr>
              <a:t>5</a:t>
            </a:r>
            <a:r>
              <a:rPr lang="zh-CN" altLang="en-US" sz="2400" dirty="0">
                <a:latin typeface="+mn-ea"/>
                <a:ea typeface="+mn-ea"/>
              </a:rPr>
              <a:t> </a:t>
            </a:r>
            <a:endParaRPr lang="en-US" altLang="zh-CN" sz="2400" b="1" dirty="0">
              <a:solidFill>
                <a:srgbClr val="C6383E"/>
              </a:solidFill>
              <a:latin typeface="+mn-ea"/>
              <a:ea typeface="+mn-ea"/>
            </a:endParaRPr>
          </a:p>
        </p:txBody>
      </p:sp>
      <p:sp>
        <p:nvSpPr>
          <p:cNvPr id="8" name="文本框 7"/>
          <p:cNvSpPr txBox="1"/>
          <p:nvPr/>
        </p:nvSpPr>
        <p:spPr>
          <a:xfrm>
            <a:off x="660400" y="1162940"/>
            <a:ext cx="8231900" cy="4893647"/>
          </a:xfrm>
          <a:prstGeom prst="rect">
            <a:avLst/>
          </a:prstGeom>
          <a:noFill/>
        </p:spPr>
        <p:txBody>
          <a:bodyPr wrap="square" rtlCol="0">
            <a:spAutoFit/>
          </a:bodyPr>
          <a:lstStyle/>
          <a:p>
            <a:pPr algn="just"/>
            <a:r>
              <a:rPr lang="zh-CN" altLang="en-US" sz="2400" dirty="0"/>
              <a:t>据估计，这款社交软件有大约</a:t>
            </a:r>
            <a:r>
              <a:rPr lang="en-US" altLang="zh-CN" sz="2400" dirty="0">
                <a:latin typeface="+mn-ea"/>
                <a:ea typeface="+mn-ea"/>
              </a:rPr>
              <a:t>9.8</a:t>
            </a:r>
            <a:r>
              <a:rPr lang="zh-CN" altLang="en-US" sz="2400" dirty="0"/>
              <a:t>亿活跃用户。</a:t>
            </a:r>
            <a:r>
              <a:rPr lang="en-US" altLang="zh-CN" sz="2400" dirty="0"/>
              <a:t>(active)</a:t>
            </a:r>
          </a:p>
          <a:p>
            <a:pPr algn="just"/>
            <a:r>
              <a:rPr lang="en-US" altLang="zh-CN" sz="2400" spc="-10" dirty="0"/>
              <a:t>__________________________________________________________________________________________________________</a:t>
            </a:r>
          </a:p>
          <a:p>
            <a:pPr algn="just"/>
            <a:endParaRPr lang="en-US" altLang="zh-CN" sz="2400" spc="-10" dirty="0"/>
          </a:p>
          <a:p>
            <a:pPr algn="just"/>
            <a:r>
              <a:rPr lang="zh-CN" altLang="en-US" sz="2400" dirty="0"/>
              <a:t>有了共享单车，从地铁站回家的恼人旅程变成了愉快的短途旅行。</a:t>
            </a:r>
            <a:r>
              <a:rPr lang="en-US" altLang="zh-CN" sz="2400" dirty="0"/>
              <a:t>(turn into)</a:t>
            </a:r>
          </a:p>
          <a:p>
            <a:pPr algn="just"/>
            <a:r>
              <a:rPr lang="en-US" altLang="zh-CN" sz="2400" spc="-10" dirty="0"/>
              <a:t>__________________________________________________________________________________________________________</a:t>
            </a:r>
          </a:p>
          <a:p>
            <a:pPr algn="just"/>
            <a:endParaRPr lang="en-US" altLang="zh-CN" sz="2400" spc="-10" dirty="0"/>
          </a:p>
          <a:p>
            <a:pPr algn="just"/>
            <a:r>
              <a:rPr lang="en-US" altLang="zh-CN" sz="2400" dirty="0">
                <a:latin typeface="+mn-ea"/>
                <a:ea typeface="+mn-ea"/>
              </a:rPr>
              <a:t>2017</a:t>
            </a:r>
            <a:r>
              <a:rPr lang="zh-CN" altLang="en-US" sz="2400" dirty="0"/>
              <a:t>年，这款叫车软件增设了英文界面，方便了在中国旅行的外国游客使用 。</a:t>
            </a:r>
            <a:r>
              <a:rPr lang="en-US" altLang="zh-CN" sz="2400" dirty="0"/>
              <a:t>(interface)</a:t>
            </a:r>
          </a:p>
          <a:p>
            <a:pPr algn="just"/>
            <a:r>
              <a:rPr lang="en-US" altLang="zh-CN" sz="2400" spc="-10" dirty="0"/>
              <a:t>__________________________________________________________________________________________________________</a:t>
            </a:r>
          </a:p>
        </p:txBody>
      </p:sp>
      <p:pic>
        <p:nvPicPr>
          <p:cNvPr id="9"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242395"/>
            <a:ext cx="324000" cy="324000"/>
          </a:xfrm>
          <a:prstGeom prst="rect">
            <a:avLst/>
          </a:prstGeom>
          <a:noFill/>
        </p:spPr>
      </p:pic>
      <p:sp>
        <p:nvSpPr>
          <p:cNvPr id="10" name="文本框 9"/>
          <p:cNvSpPr txBox="1"/>
          <p:nvPr/>
        </p:nvSpPr>
        <p:spPr>
          <a:xfrm>
            <a:off x="656496" y="1489353"/>
            <a:ext cx="8159895" cy="830997"/>
          </a:xfrm>
          <a:prstGeom prst="rect">
            <a:avLst/>
          </a:prstGeom>
          <a:noFill/>
        </p:spPr>
        <p:txBody>
          <a:bodyPr wrap="square" rtlCol="0">
            <a:spAutoFit/>
          </a:bodyPr>
          <a:lstStyle/>
          <a:p>
            <a:pPr algn="just"/>
            <a:r>
              <a:rPr lang="en-US" altLang="zh-CN" sz="2400" spc="30" dirty="0">
                <a:solidFill>
                  <a:srgbClr val="FF0000"/>
                </a:solidFill>
              </a:rPr>
              <a:t>It is estimated that this social app has about 980 million active</a:t>
            </a:r>
            <a:r>
              <a:rPr lang="en-US" altLang="zh-CN" sz="2400" dirty="0">
                <a:solidFill>
                  <a:srgbClr val="FF0000"/>
                </a:solidFill>
              </a:rPr>
              <a:t> users.</a:t>
            </a:r>
          </a:p>
        </p:txBody>
      </p:sp>
      <p:sp>
        <p:nvSpPr>
          <p:cNvPr id="11" name="文本框 10"/>
          <p:cNvSpPr txBox="1"/>
          <p:nvPr/>
        </p:nvSpPr>
        <p:spPr>
          <a:xfrm>
            <a:off x="656496" y="3318895"/>
            <a:ext cx="8159895" cy="830997"/>
          </a:xfrm>
          <a:prstGeom prst="rect">
            <a:avLst/>
          </a:prstGeom>
          <a:noFill/>
        </p:spPr>
        <p:txBody>
          <a:bodyPr wrap="square" rtlCol="0">
            <a:spAutoFit/>
          </a:bodyPr>
          <a:lstStyle/>
          <a:p>
            <a:pPr algn="just"/>
            <a:r>
              <a:rPr lang="en-US" altLang="zh-CN" sz="2400" spc="-10" dirty="0">
                <a:solidFill>
                  <a:srgbClr val="FF0000"/>
                </a:solidFill>
              </a:rPr>
              <a:t>With shared bikes, the pesky journey from the subway home has</a:t>
            </a:r>
            <a:r>
              <a:rPr lang="en-US" altLang="zh-CN" sz="2400" dirty="0">
                <a:solidFill>
                  <a:srgbClr val="FF0000"/>
                </a:solidFill>
              </a:rPr>
              <a:t> turned into a pleasant jaunt.</a:t>
            </a:r>
          </a:p>
        </p:txBody>
      </p:sp>
      <p:sp>
        <p:nvSpPr>
          <p:cNvPr id="12" name="文本框 11"/>
          <p:cNvSpPr txBox="1"/>
          <p:nvPr/>
        </p:nvSpPr>
        <p:spPr>
          <a:xfrm>
            <a:off x="656496" y="5143107"/>
            <a:ext cx="8159895" cy="830997"/>
          </a:xfrm>
          <a:prstGeom prst="rect">
            <a:avLst/>
          </a:prstGeom>
          <a:noFill/>
        </p:spPr>
        <p:txBody>
          <a:bodyPr wrap="square" rtlCol="0">
            <a:spAutoFit/>
          </a:bodyPr>
          <a:lstStyle/>
          <a:p>
            <a:pPr algn="just"/>
            <a:r>
              <a:rPr lang="en-US" altLang="zh-CN" sz="2400" spc="-10" dirty="0">
                <a:solidFill>
                  <a:srgbClr val="FF0000"/>
                </a:solidFill>
              </a:rPr>
              <a:t>In 2017, the car-hailing app added an English interface, making it</a:t>
            </a:r>
            <a:r>
              <a:rPr lang="en-US" altLang="zh-CN" sz="2400" dirty="0">
                <a:solidFill>
                  <a:srgbClr val="FF0000"/>
                </a:solidFill>
              </a:rPr>
              <a:t> accessible to foreigners visiting China.</a:t>
            </a:r>
          </a:p>
        </p:txBody>
      </p:sp>
      <p:sp>
        <p:nvSpPr>
          <p:cNvPr id="13" name="矩形 12"/>
          <p:cNvSpPr/>
          <p:nvPr/>
        </p:nvSpPr>
        <p:spPr>
          <a:xfrm>
            <a:off x="736497" y="1594970"/>
            <a:ext cx="8060656" cy="71090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736497" y="3404620"/>
            <a:ext cx="8060656" cy="71090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36497" y="5248175"/>
            <a:ext cx="8060656" cy="71090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422433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9"/>
                  </p:tgtEl>
                </p:cond>
              </p:nextCondLst>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6" restart="whenNotActive" fill="hold" evtFilter="cancelBubble" nodeType="interactiveSeq">
                <p:stCondLst>
                  <p:cond evt="onClick" delay="0">
                    <p:tgtEl>
                      <p:spTgt spid="14"/>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21" restart="whenNotActive" fill="hold" evtFilter="cancelBubble" nodeType="interactiveSeq">
                <p:stCondLst>
                  <p:cond evt="onClick" delay="0">
                    <p:tgtEl>
                      <p:spTgt spid="15"/>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5"/>
                  </p:tgtEl>
                </p:cond>
              </p:nextCondLst>
            </p:seq>
          </p:childTnLst>
        </p:cTn>
      </p:par>
    </p:tnLst>
    <p:bldLst>
      <p:bldP spid="10" grpId="0"/>
      <p:bldP spid="10" grpId="1"/>
      <p:bldP spid="11" grpId="0"/>
      <p:bldP spid="11" grpId="1"/>
      <p:bldP spid="12" grpId="0"/>
      <p:bldP spid="12"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60000" y="1671245"/>
            <a:ext cx="8532300" cy="4154984"/>
          </a:xfrm>
          <a:prstGeom prst="rect">
            <a:avLst/>
          </a:prstGeom>
          <a:noFill/>
        </p:spPr>
        <p:txBody>
          <a:bodyPr wrap="square" rtlCol="0">
            <a:spAutoFit/>
          </a:bodyPr>
          <a:lstStyle/>
          <a:p>
            <a:pPr algn="just"/>
            <a:r>
              <a:rPr lang="zh-CN" altLang="en-US" sz="2400" dirty="0"/>
              <a:t>         </a:t>
            </a:r>
            <a:r>
              <a:rPr lang="zh-CN" altLang="en-US" sz="2400" spc="160" dirty="0"/>
              <a:t>“一带”，指的是“丝绸之路经济带”（</a:t>
            </a:r>
            <a:r>
              <a:rPr lang="en-US" altLang="zh-CN" sz="2400" spc="160" dirty="0"/>
              <a:t>the Silk Road</a:t>
            </a:r>
            <a:r>
              <a:rPr lang="en-US" altLang="zh-CN" sz="2400" dirty="0"/>
              <a:t> </a:t>
            </a:r>
            <a:r>
              <a:rPr lang="en-US" altLang="zh-CN" sz="2400" spc="-30" dirty="0"/>
              <a:t>Economic Belt</a:t>
            </a:r>
            <a:r>
              <a:rPr lang="zh-CN" altLang="en-US" sz="2400" spc="-30" dirty="0"/>
              <a:t>），是在陆地上。它有三大走向：从中国出发，一</a:t>
            </a:r>
            <a:r>
              <a:rPr lang="zh-CN" altLang="en-US" sz="2400" dirty="0"/>
              <a:t>是经中亚、俄罗斯到达欧洲；二是经中亚、西亚至波斯湾（</a:t>
            </a:r>
            <a:r>
              <a:rPr lang="en-US" altLang="zh-CN" sz="2400" dirty="0"/>
              <a:t>the </a:t>
            </a:r>
            <a:r>
              <a:rPr lang="en-US" altLang="zh-CN" sz="2400" spc="-10" dirty="0"/>
              <a:t>Persian Gulf</a:t>
            </a:r>
            <a:r>
              <a:rPr lang="zh-CN" altLang="en-US" sz="2400" spc="-10" dirty="0"/>
              <a:t>）、地中海（</a:t>
            </a:r>
            <a:r>
              <a:rPr lang="en-US" altLang="zh-CN" sz="2400" spc="-10" dirty="0"/>
              <a:t>the Mediterranean</a:t>
            </a:r>
            <a:r>
              <a:rPr lang="zh-CN" altLang="en-US" sz="2400" spc="-10" dirty="0"/>
              <a:t>）；三是从中国到东</a:t>
            </a:r>
            <a:r>
              <a:rPr lang="zh-CN" altLang="en-US" sz="2400" dirty="0"/>
              <a:t>南亚、南亚、印度洋。“一路”，指的是“</a:t>
            </a:r>
            <a:r>
              <a:rPr lang="en-US" altLang="zh-CN" sz="2400" dirty="0">
                <a:latin typeface="+mn-ea"/>
                <a:ea typeface="+mn-ea"/>
              </a:rPr>
              <a:t>21</a:t>
            </a:r>
            <a:r>
              <a:rPr lang="zh-CN" altLang="en-US" sz="2400" dirty="0"/>
              <a:t>世纪海上丝绸之路</a:t>
            </a:r>
            <a:r>
              <a:rPr lang="zh-CN" altLang="en-US" sz="2400" spc="-40" dirty="0"/>
              <a:t>”（</a:t>
            </a:r>
            <a:r>
              <a:rPr lang="en-US" altLang="zh-CN" sz="2400" spc="-40" dirty="0"/>
              <a:t>the 21st-Century Maritime Silk Road</a:t>
            </a:r>
            <a:r>
              <a:rPr lang="zh-CN" altLang="en-US" sz="2400" spc="-40" dirty="0"/>
              <a:t>），重点方向是两</a:t>
            </a:r>
            <a:r>
              <a:rPr lang="zh-CN" altLang="en-US" sz="2400" dirty="0"/>
              <a:t>条：一是从中国沿海港口过南海（</a:t>
            </a:r>
            <a:r>
              <a:rPr lang="en-US" altLang="zh-CN" sz="2400" dirty="0"/>
              <a:t>the South China Sea</a:t>
            </a:r>
            <a:r>
              <a:rPr lang="zh-CN" altLang="en-US" sz="2400" dirty="0"/>
              <a:t>）到印度洋，延伸至欧洲；二是从中国沿海港口过南海到南太平洋。“一带一路”（</a:t>
            </a:r>
            <a:r>
              <a:rPr lang="en-US" altLang="zh-CN" sz="2400" dirty="0"/>
              <a:t>the Belt and Road</a:t>
            </a:r>
            <a:r>
              <a:rPr lang="zh-CN" altLang="en-US" sz="2400" dirty="0"/>
              <a:t>）沿线国家大多属于发展中国家和转型经济体（</a:t>
            </a:r>
            <a:r>
              <a:rPr lang="en-US" altLang="zh-CN" sz="2400" dirty="0"/>
              <a:t>transitional economy</a:t>
            </a:r>
            <a:r>
              <a:rPr lang="zh-CN" altLang="en-US" sz="2400" dirty="0"/>
              <a:t>），经济发展后发优势强劲，与中国经济具有良好的互补性。</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3" name="图片 2">
            <a:hlinkClick r:id="rId2" action="ppaction://hlinksldjump"/>
            <a:extLst>
              <a:ext uri="{FF2B5EF4-FFF2-40B4-BE49-F238E27FC236}">
                <a16:creationId xmlns:a16="http://schemas.microsoft.com/office/drawing/2014/main" id="{86EB9A80-94E3-FC9C-3756-6AA0853DFD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63825" y="5420809"/>
            <a:ext cx="239040" cy="288000"/>
          </a:xfrm>
          <a:prstGeom prst="rect">
            <a:avLst/>
          </a:prstGeom>
        </p:spPr>
      </p:pic>
      <p:pic>
        <p:nvPicPr>
          <p:cNvPr id="2"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文本框 6"/>
          <p:cNvSpPr txBox="1"/>
          <p:nvPr/>
        </p:nvSpPr>
        <p:spPr>
          <a:xfrm>
            <a:off x="360000" y="1133951"/>
            <a:ext cx="8532300" cy="461665"/>
          </a:xfrm>
          <a:prstGeom prst="rect">
            <a:avLst/>
          </a:prstGeom>
          <a:noFill/>
        </p:spPr>
        <p:txBody>
          <a:bodyPr wrap="square" rtlCol="0">
            <a:spAutoFit/>
          </a:bodyPr>
          <a:lstStyle/>
          <a:p>
            <a:r>
              <a:rPr lang="en-US" altLang="zh-CN" sz="2400" b="1" spc="20" dirty="0">
                <a:solidFill>
                  <a:srgbClr val="C6383E"/>
                </a:solidFill>
                <a:latin typeface="Cambria" panose="02040503050406030204" pitchFamily="18" charset="0"/>
                <a:ea typeface="Cambria" panose="02040503050406030204" pitchFamily="18" charset="0"/>
              </a:rPr>
              <a:t>B</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8" name="文本框 7"/>
          <p:cNvSpPr txBox="1"/>
          <p:nvPr/>
        </p:nvSpPr>
        <p:spPr>
          <a:xfrm>
            <a:off x="701040" y="1133951"/>
            <a:ext cx="8191259" cy="461665"/>
          </a:xfrm>
          <a:prstGeom prst="rect">
            <a:avLst/>
          </a:prstGeom>
          <a:noFill/>
        </p:spPr>
        <p:txBody>
          <a:bodyPr wrap="square" rtlCol="0">
            <a:spAutoFit/>
          </a:bodyPr>
          <a:lstStyle/>
          <a:p>
            <a:r>
              <a:rPr lang="en-US" altLang="zh-CN" sz="2400" dirty="0">
                <a:latin typeface="Cambria" panose="02040503050406030204" pitchFamily="18" charset="0"/>
                <a:ea typeface="Cambria" panose="02040503050406030204" pitchFamily="18" charset="0"/>
              </a:rPr>
              <a:t>Translate the following passage into English.</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0" name="钥匙2" descr="C:\Users\senj\Desktop\新建文件夹\答案.png">
            <a:hlinkClick r:id="" action="ppaction://noaction"/>
          </p:cNvPr>
          <p:cNvPicPr>
            <a:picLocks noChangeAspect="1" noChangeArrowheads="1"/>
          </p:cNvPicPr>
          <p:nvPr/>
        </p:nvPicPr>
        <p:blipFill>
          <a:blip r:embed="rId6" cstate="print"/>
          <a:srcRect/>
          <a:stretch>
            <a:fillRect/>
          </a:stretch>
        </p:blipFill>
        <p:spPr bwMode="auto">
          <a:xfrm>
            <a:off x="95139" y="1212085"/>
            <a:ext cx="324000" cy="324000"/>
          </a:xfrm>
          <a:prstGeom prst="rect">
            <a:avLst/>
          </a:prstGeom>
          <a:noFill/>
        </p:spPr>
      </p:pic>
      <p:grpSp>
        <p:nvGrpSpPr>
          <p:cNvPr id="11" name="组合 10"/>
          <p:cNvGrpSpPr/>
          <p:nvPr/>
        </p:nvGrpSpPr>
        <p:grpSpPr>
          <a:xfrm>
            <a:off x="9461137" y="1132940"/>
            <a:ext cx="9144000" cy="5171599"/>
            <a:chOff x="9461137" y="1132940"/>
            <a:chExt cx="9144000" cy="5171599"/>
          </a:xfrm>
        </p:grpSpPr>
        <p:sp>
          <p:nvSpPr>
            <p:cNvPr id="12" name="矩形 11"/>
            <p:cNvSpPr/>
            <p:nvPr/>
          </p:nvSpPr>
          <p:spPr>
            <a:xfrm>
              <a:off x="9461137" y="1132940"/>
              <a:ext cx="9144000" cy="51715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9766987" y="1271916"/>
              <a:ext cx="8532300" cy="4893647"/>
            </a:xfrm>
            <a:prstGeom prst="rect">
              <a:avLst/>
            </a:prstGeom>
            <a:noFill/>
          </p:spPr>
          <p:txBody>
            <a:bodyPr wrap="square" rtlCol="0">
              <a:spAutoFit/>
            </a:bodyPr>
            <a:lstStyle/>
            <a:p>
              <a:pPr algn="just"/>
              <a:r>
                <a:rPr lang="en-US" altLang="zh-CN" sz="2400" dirty="0"/>
                <a:t>     </a:t>
              </a:r>
              <a:r>
                <a:rPr lang="en-US" altLang="zh-CN" sz="2400" spc="-30" dirty="0"/>
                <a:t>The “Belt” refers to the “Silk Road Economic Belt”, which is on land</a:t>
              </a:r>
              <a:r>
                <a:rPr lang="en-US" altLang="zh-CN" sz="2400" dirty="0"/>
                <a:t>. </a:t>
              </a:r>
              <a:r>
                <a:rPr lang="en-US" altLang="zh-CN" sz="2400" spc="-30" dirty="0"/>
                <a:t>It has three directions, starting from China. One goes through Central</a:t>
              </a:r>
              <a:r>
                <a:rPr lang="en-US" altLang="zh-CN" sz="2400" dirty="0"/>
                <a:t> </a:t>
              </a:r>
              <a:r>
                <a:rPr lang="en-US" altLang="zh-CN" sz="2400" spc="-30" dirty="0"/>
                <a:t>Asia and Russia to Europe; another passes through Central Asia, West</a:t>
              </a:r>
              <a:r>
                <a:rPr lang="en-US" altLang="zh-CN" sz="2400" dirty="0"/>
                <a:t> </a:t>
              </a:r>
              <a:r>
                <a:rPr lang="en-US" altLang="zh-CN" sz="2400" spc="-50" dirty="0"/>
                <a:t>Asia to the Persian Gulf and the Mediterranean; the third one connects</a:t>
              </a:r>
              <a:r>
                <a:rPr lang="en-US" altLang="zh-CN" sz="2400" dirty="0"/>
                <a:t> </a:t>
              </a:r>
              <a:r>
                <a:rPr lang="en-US" altLang="zh-CN" sz="2400" spc="40" dirty="0"/>
                <a:t>China with Southeast Asia, South Asia and the Indian Ocean. The</a:t>
              </a:r>
              <a:r>
                <a:rPr lang="en-US" altLang="zh-CN" sz="2400" dirty="0"/>
                <a:t> </a:t>
              </a:r>
              <a:r>
                <a:rPr lang="en-US" altLang="zh-CN" sz="2400" spc="-20" dirty="0"/>
                <a:t>“Road” refers to the “21st-Century Maritime Silk Road” with two key</a:t>
              </a:r>
              <a:r>
                <a:rPr lang="en-US" altLang="zh-CN" sz="2400" dirty="0"/>
                <a:t> </a:t>
              </a:r>
              <a:r>
                <a:rPr lang="en-US" altLang="zh-CN" sz="2400" spc="10" dirty="0"/>
                <a:t>directions: one is from China’s coastal ports across the South China</a:t>
              </a:r>
              <a:r>
                <a:rPr lang="en-US" altLang="zh-CN" sz="2400" dirty="0"/>
                <a:t> Sea to the Indian Ocean, reaching Europe; the other is from China’s coastal ports across the South China Sea to the South Pacific. Most </a:t>
              </a:r>
              <a:r>
                <a:rPr lang="en-US" altLang="zh-CN" sz="2400" spc="-10" dirty="0"/>
                <a:t>of the countries along the “Belt and Road” are developing countries</a:t>
              </a:r>
              <a:r>
                <a:rPr lang="en-US" altLang="zh-CN" sz="2400" dirty="0"/>
                <a:t> or transitional economies. They have strong late-mover advantages </a:t>
              </a:r>
              <a:r>
                <a:rPr lang="en-US" altLang="zh-CN" sz="2400" spc="10" dirty="0"/>
                <a:t>in economic development and good complementarity with China’s</a:t>
              </a:r>
              <a:r>
                <a:rPr lang="en-US" altLang="zh-CN" sz="2400" dirty="0"/>
                <a:t> economy.</a:t>
              </a:r>
              <a:endParaRPr lang="zh-CN" altLang="en-US" sz="2400" dirty="0"/>
            </a:p>
          </p:txBody>
        </p:sp>
      </p:grpSp>
      <p:pic>
        <p:nvPicPr>
          <p:cNvPr id="4" name="Picture 3" descr="C:\Users\senj\Desktop\按钮.png">
            <a:extLst>
              <a:ext uri="{FF2B5EF4-FFF2-40B4-BE49-F238E27FC236}">
                <a16:creationId xmlns:a16="http://schemas.microsoft.com/office/drawing/2014/main" id="{4D518791-8EA1-15ED-56B5-A664AB08F141}"/>
              </a:ext>
            </a:extLst>
          </p:cNvPr>
          <p:cNvPicPr>
            <a:picLocks noChangeAspect="1" noChangeArrowheads="1"/>
          </p:cNvPicPr>
          <p:nvPr/>
        </p:nvPicPr>
        <p:blipFill>
          <a:blip r:embed="rId7" cstate="print"/>
          <a:srcRect l="12911" t="21436" r="39626" b="60503"/>
          <a:stretch>
            <a:fillRect/>
          </a:stretch>
        </p:blipFill>
        <p:spPr bwMode="auto">
          <a:xfrm rot="10800000">
            <a:off x="8721754" y="6429396"/>
            <a:ext cx="259557" cy="254794"/>
          </a:xfrm>
          <a:prstGeom prst="rect">
            <a:avLst/>
          </a:prstGeom>
          <a:noFill/>
        </p:spPr>
      </p:pic>
    </p:spTree>
    <p:extLst>
      <p:ext uri="{BB962C8B-B14F-4D97-AF65-F5344CB8AC3E}">
        <p14:creationId xmlns:p14="http://schemas.microsoft.com/office/powerpoint/2010/main" val="197870199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22222E-6 3.7037E-7 L -1.03472 0.00023 " pathEditMode="relative" rAng="0" ptsTypes="AA">
                                      <p:cBhvr>
                                        <p:cTn id="6" dur="500" fill="hold"/>
                                        <p:tgtEl>
                                          <p:spTgt spid="11"/>
                                        </p:tgtEl>
                                        <p:attrNameLst>
                                          <p:attrName>ppt_x</p:attrName>
                                          <p:attrName>ppt_y</p:attrName>
                                        </p:attrNameLst>
                                      </p:cBhvr>
                                      <p:rCtr x="-51736" y="0"/>
                                    </p:animMotion>
                                  </p:childTnLst>
                                </p:cTn>
                              </p:par>
                            </p:childTnLst>
                          </p:cTn>
                        </p:par>
                      </p:childTnLst>
                    </p:cTn>
                  </p:par>
                </p:childTnLst>
              </p:cTn>
              <p:nextCondLst>
                <p:cond evt="onClick" delay="0">
                  <p:tgtEl>
                    <p:spTgt spid="1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2.22222E-6 3.7037E-7 L -2.22222E-6 0.25 " pathEditMode="relative" rAng="0" ptsTypes="AA">
                                      <p:cBhvr>
                                        <p:cTn id="11" dur="500" fill="hold"/>
                                        <p:tgtEl>
                                          <p:spTgt spid="11"/>
                                        </p:tgtEl>
                                        <p:attrNameLst>
                                          <p:attrName>ppt_x</p:attrName>
                                          <p:attrName>ppt_y</p:attrName>
                                        </p:attrNameLst>
                                      </p:cBhvr>
                                      <p:rCtr x="0" y="12500"/>
                                    </p:animMotion>
                                  </p:childTnLst>
                                </p:cTn>
                              </p:par>
                            </p:childTnLst>
                          </p:cTn>
                        </p:par>
                      </p:childTnLst>
                    </p:cTn>
                  </p:par>
                </p:childTnLst>
              </p:cTn>
              <p:nextCondLst>
                <p:cond evt="onClick" delay="0">
                  <p:tgtEl>
                    <p:spTgt spid="11"/>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p:cNvPicPr>
            <a:picLocks noChangeAspect="1" noChangeArrowheads="1"/>
          </p:cNvPicPr>
          <p:nvPr/>
        </p:nvPicPr>
        <p:blipFill>
          <a:blip r:embed="rId2" cstate="print"/>
          <a:srcRect l="12911" t="21436" r="39626" b="60503"/>
          <a:stretch>
            <a:fillRect/>
          </a:stretch>
        </p:blipFill>
        <p:spPr bwMode="auto">
          <a:xfrm>
            <a:off x="8366400" y="6429396"/>
            <a:ext cx="259557" cy="254794"/>
          </a:xfrm>
          <a:prstGeom prst="rect">
            <a:avLst/>
          </a:prstGeom>
          <a:noFill/>
        </p:spPr>
      </p:pic>
      <p:pic>
        <p:nvPicPr>
          <p:cNvPr id="10"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4" name="文本框 3"/>
          <p:cNvSpPr txBox="1"/>
          <p:nvPr/>
        </p:nvSpPr>
        <p:spPr>
          <a:xfrm>
            <a:off x="360000" y="1133951"/>
            <a:ext cx="8532300" cy="1569660"/>
          </a:xfrm>
          <a:prstGeom prst="rect">
            <a:avLst/>
          </a:prstGeom>
          <a:noFill/>
        </p:spPr>
        <p:txBody>
          <a:bodyPr wrap="square" rtlCol="0">
            <a:spAutoFit/>
          </a:bodyPr>
          <a:lstStyle/>
          <a:p>
            <a:pPr algn="just"/>
            <a:r>
              <a:rPr lang="en-US" altLang="zh-CN" sz="2400" b="1" dirty="0">
                <a:solidFill>
                  <a:srgbClr val="C6383E"/>
                </a:solidFill>
              </a:rPr>
              <a:t>Task 1</a:t>
            </a:r>
          </a:p>
          <a:p>
            <a:pPr algn="just"/>
            <a:r>
              <a:rPr lang="en-US" altLang="zh-CN" sz="2400" spc="10" dirty="0">
                <a:latin typeface="Cambria" panose="02040503050406030204" pitchFamily="18" charset="0"/>
                <a:ea typeface="Cambria" panose="02040503050406030204" pitchFamily="18" charset="0"/>
              </a:rPr>
              <a:t>Transportation is of vital importance in economic development</a:t>
            </a:r>
            <a:r>
              <a:rPr lang="en-US" altLang="zh-CN" sz="2400" dirty="0">
                <a:latin typeface="Cambria" panose="02040503050406030204" pitchFamily="18" charset="0"/>
                <a:ea typeface="Cambria" panose="02040503050406030204" pitchFamily="18" charset="0"/>
              </a:rPr>
              <a:t>. </a:t>
            </a:r>
            <a:r>
              <a:rPr lang="en-US" altLang="zh-CN" sz="2400" spc="-20" dirty="0">
                <a:latin typeface="Cambria" panose="02040503050406030204" pitchFamily="18" charset="0"/>
                <a:ea typeface="Cambria" panose="02040503050406030204" pitchFamily="18" charset="0"/>
              </a:rPr>
              <a:t>Read the list of some facts about the ancient Grand Canal in China</a:t>
            </a:r>
            <a:r>
              <a:rPr lang="en-US" altLang="zh-CN" sz="2400" dirty="0">
                <a:latin typeface="Cambria" panose="02040503050406030204" pitchFamily="18" charset="0"/>
                <a:ea typeface="Cambria" panose="02040503050406030204" pitchFamily="18" charset="0"/>
              </a:rPr>
              <a:t> and try to answer the questions.</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5" name="圆角矩形 4"/>
          <p:cNvSpPr/>
          <p:nvPr/>
        </p:nvSpPr>
        <p:spPr>
          <a:xfrm>
            <a:off x="467715" y="2825520"/>
            <a:ext cx="8323860" cy="3475692"/>
          </a:xfrm>
          <a:prstGeom prst="roundRect">
            <a:avLst>
              <a:gd name="adj" fmla="val 5727"/>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39720" y="2857760"/>
            <a:ext cx="8169714" cy="3416320"/>
          </a:xfrm>
          <a:prstGeom prst="rect">
            <a:avLst/>
          </a:prstGeom>
          <a:noFill/>
        </p:spPr>
        <p:txBody>
          <a:bodyPr wrap="square" rtlCol="0">
            <a:spAutoFit/>
          </a:bodyPr>
          <a:lstStyle/>
          <a:p>
            <a:pPr algn="just">
              <a:buClr>
                <a:srgbClr val="C6383E"/>
              </a:buClr>
              <a:buSzPct val="75000"/>
            </a:pPr>
            <a:r>
              <a:rPr lang="en-US" altLang="zh-CN" sz="2400" dirty="0"/>
              <a:t>Some Interesting Facts about the Grand Canal</a:t>
            </a:r>
          </a:p>
          <a:p>
            <a:pPr marL="252000" indent="-252000" algn="just">
              <a:buClr>
                <a:srgbClr val="C6383E"/>
              </a:buClr>
              <a:buSzPct val="75000"/>
              <a:buFont typeface="Wingdings" panose="05000000000000000000" pitchFamily="2" charset="2"/>
              <a:buChar char="l"/>
            </a:pPr>
            <a:r>
              <a:rPr lang="en-US" altLang="zh-CN" sz="2400" spc="30" dirty="0"/>
              <a:t>Historians estimate that the oldest section of the canal was</a:t>
            </a:r>
            <a:r>
              <a:rPr lang="en-US" altLang="zh-CN" sz="2400" dirty="0"/>
              <a:t> built around the 6th century BC.</a:t>
            </a:r>
          </a:p>
          <a:p>
            <a:pPr marL="252000" indent="-252000" algn="just">
              <a:buClr>
                <a:srgbClr val="C6383E"/>
              </a:buClr>
              <a:buSzPct val="75000"/>
              <a:buFont typeface="Wingdings" panose="05000000000000000000" pitchFamily="2" charset="2"/>
              <a:buChar char="l"/>
            </a:pPr>
            <a:r>
              <a:rPr lang="en-US" altLang="zh-CN" sz="2400" spc="30" dirty="0"/>
              <a:t>Emperors would sometimes travel along the Grand Canal to</a:t>
            </a:r>
            <a:r>
              <a:rPr lang="en-US" altLang="zh-CN" sz="2400" dirty="0"/>
              <a:t> inspect the locks.</a:t>
            </a:r>
          </a:p>
          <a:p>
            <a:pPr marL="252000" indent="-252000" algn="just">
              <a:buClr>
                <a:srgbClr val="C6383E"/>
              </a:buClr>
              <a:buSzPct val="75000"/>
              <a:buFont typeface="Wingdings" panose="05000000000000000000" pitchFamily="2" charset="2"/>
              <a:buChar char="l"/>
            </a:pPr>
            <a:r>
              <a:rPr lang="en-US" altLang="zh-CN" sz="2400" spc="40" dirty="0"/>
              <a:t>It is estimated that it took over 45,000 full-time laborers to</a:t>
            </a:r>
            <a:r>
              <a:rPr lang="en-US" altLang="zh-CN" sz="2400" dirty="0"/>
              <a:t> maintain the canal during the Ming dynasty.</a:t>
            </a:r>
          </a:p>
          <a:p>
            <a:pPr marL="252000" indent="-252000" algn="just">
              <a:buClr>
                <a:srgbClr val="C6383E"/>
              </a:buClr>
              <a:buSzPct val="75000"/>
              <a:buFont typeface="Wingdings" panose="05000000000000000000" pitchFamily="2" charset="2"/>
              <a:buChar char="l"/>
            </a:pPr>
            <a:r>
              <a:rPr lang="en-US" altLang="zh-CN" sz="2400" spc="-50" dirty="0"/>
              <a:t>The canal was also used as a courier route for carrying important</a:t>
            </a:r>
            <a:r>
              <a:rPr lang="en-US" altLang="zh-CN" sz="2400" dirty="0"/>
              <a:t> government messages.</a:t>
            </a:r>
            <a:endParaRPr lang="en-US" altLang="zh-CN" sz="2400" b="1" dirty="0">
              <a:solidFill>
                <a:srgbClr val="C6383E"/>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393993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1" name="圆角矩形 10"/>
          <p:cNvSpPr/>
          <p:nvPr/>
        </p:nvSpPr>
        <p:spPr>
          <a:xfrm>
            <a:off x="467715" y="1279410"/>
            <a:ext cx="8323860" cy="3197340"/>
          </a:xfrm>
          <a:prstGeom prst="roundRect">
            <a:avLst>
              <a:gd name="adj" fmla="val 5727"/>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539720" y="1359275"/>
            <a:ext cx="8169714" cy="3046988"/>
          </a:xfrm>
          <a:prstGeom prst="rect">
            <a:avLst/>
          </a:prstGeom>
          <a:noFill/>
        </p:spPr>
        <p:txBody>
          <a:bodyPr wrap="square" rtlCol="0">
            <a:spAutoFit/>
          </a:bodyPr>
          <a:lstStyle/>
          <a:p>
            <a:pPr marL="252000" indent="-252000" algn="just">
              <a:buClr>
                <a:srgbClr val="C6383E"/>
              </a:buClr>
              <a:buSzPct val="75000"/>
              <a:buFont typeface="Wingdings" panose="05000000000000000000" pitchFamily="2" charset="2"/>
              <a:buChar char="l"/>
            </a:pPr>
            <a:r>
              <a:rPr lang="en-US" altLang="zh-CN" sz="2400" spc="20" dirty="0"/>
              <a:t>In the 1400s, the Chinese government operated over 11,000</a:t>
            </a:r>
            <a:r>
              <a:rPr lang="en-US" altLang="zh-CN" sz="2400" dirty="0"/>
              <a:t> grain barges on the canal to transport food to the north.</a:t>
            </a:r>
          </a:p>
          <a:p>
            <a:pPr marL="252000" indent="-252000" algn="just">
              <a:buClr>
                <a:srgbClr val="C6383E"/>
              </a:buClr>
              <a:buSzPct val="75000"/>
              <a:buFont typeface="Wingdings" panose="05000000000000000000" pitchFamily="2" charset="2"/>
              <a:buChar char="l"/>
            </a:pPr>
            <a:r>
              <a:rPr lang="en-US" altLang="zh-CN" sz="2400" spc="-20" dirty="0"/>
              <a:t>The Grand Canal also proved to be an excellent source of taxes</a:t>
            </a:r>
            <a:r>
              <a:rPr lang="en-US" altLang="zh-CN" sz="2400" dirty="0"/>
              <a:t> for the Chinese government.</a:t>
            </a:r>
          </a:p>
          <a:p>
            <a:pPr marL="252000" indent="-252000" algn="just">
              <a:buClr>
                <a:srgbClr val="C6383E"/>
              </a:buClr>
              <a:buSzPct val="75000"/>
              <a:buFont typeface="Wingdings" panose="05000000000000000000" pitchFamily="2" charset="2"/>
              <a:buChar char="l"/>
            </a:pPr>
            <a:r>
              <a:rPr lang="en-US" altLang="zh-CN" sz="2400" spc="20" dirty="0"/>
              <a:t>Portions of the canal fell into disrepair after the Yellow River</a:t>
            </a:r>
            <a:r>
              <a:rPr lang="en-US" altLang="zh-CN" sz="2400" dirty="0"/>
              <a:t> flooded in 1855.</a:t>
            </a:r>
          </a:p>
          <a:p>
            <a:pPr marL="252000" indent="-252000" algn="just">
              <a:buClr>
                <a:srgbClr val="C6383E"/>
              </a:buClr>
              <a:buSzPct val="75000"/>
              <a:buFont typeface="Wingdings" panose="05000000000000000000" pitchFamily="2" charset="2"/>
              <a:buChar char="l"/>
            </a:pPr>
            <a:r>
              <a:rPr lang="en-US" altLang="zh-CN" sz="2400" spc="10" dirty="0"/>
              <a:t>The pound lock was invented during the Song dynasty in 984</a:t>
            </a:r>
            <a:r>
              <a:rPr lang="en-US" altLang="zh-CN" sz="2400" dirty="0"/>
              <a:t> AD to help raise and lower the water level of the canal.</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3" name="文本框 12"/>
          <p:cNvSpPr txBox="1"/>
          <p:nvPr/>
        </p:nvSpPr>
        <p:spPr>
          <a:xfrm>
            <a:off x="366165" y="4702312"/>
            <a:ext cx="485955" cy="1200329"/>
          </a:xfrm>
          <a:prstGeom prst="rect">
            <a:avLst/>
          </a:prstGeom>
          <a:noFill/>
        </p:spPr>
        <p:txBody>
          <a:bodyPr wrap="square" rtlCol="0">
            <a:spAutoFit/>
          </a:bodyPr>
          <a:lstStyle/>
          <a:p>
            <a:r>
              <a:rPr lang="en-US" altLang="zh-CN" sz="2400" b="1" dirty="0">
                <a:solidFill>
                  <a:srgbClr val="C6383E"/>
                </a:solidFill>
                <a:latin typeface="+mn-lt"/>
                <a:ea typeface="+mn-ea"/>
              </a:rPr>
              <a:t>1</a:t>
            </a:r>
          </a:p>
          <a:p>
            <a:endParaRPr lang="en-US" altLang="zh-CN" sz="2400" b="1" dirty="0">
              <a:solidFill>
                <a:srgbClr val="C6383E"/>
              </a:solidFill>
              <a:latin typeface="+mn-lt"/>
              <a:ea typeface="+mn-ea"/>
            </a:endParaRPr>
          </a:p>
          <a:p>
            <a:r>
              <a:rPr lang="en-US" altLang="zh-CN" sz="2400" b="1" dirty="0">
                <a:solidFill>
                  <a:srgbClr val="C6383E"/>
                </a:solidFill>
                <a:latin typeface="+mn-lt"/>
                <a:ea typeface="+mn-ea"/>
              </a:rPr>
              <a:t>2</a:t>
            </a:r>
            <a:endParaRPr lang="zh-CN" altLang="en-US" sz="2400" b="1" dirty="0">
              <a:solidFill>
                <a:srgbClr val="C6383E"/>
              </a:solidFill>
              <a:latin typeface="+mn-lt"/>
              <a:ea typeface="+mn-ea"/>
              <a:cs typeface="Times New Roman" panose="02020603050405020304" pitchFamily="18" charset="0"/>
            </a:endParaRPr>
          </a:p>
        </p:txBody>
      </p:sp>
      <p:sp>
        <p:nvSpPr>
          <p:cNvPr id="17" name="文本框 16"/>
          <p:cNvSpPr txBox="1"/>
          <p:nvPr/>
        </p:nvSpPr>
        <p:spPr>
          <a:xfrm>
            <a:off x="660400" y="4702312"/>
            <a:ext cx="8231900" cy="1200329"/>
          </a:xfrm>
          <a:prstGeom prst="rect">
            <a:avLst/>
          </a:prstGeom>
          <a:noFill/>
        </p:spPr>
        <p:txBody>
          <a:bodyPr wrap="square" rtlCol="0">
            <a:spAutoFit/>
          </a:bodyPr>
          <a:lstStyle/>
          <a:p>
            <a:r>
              <a:rPr lang="en-US" altLang="zh-CN" sz="2400" spc="-50" dirty="0"/>
              <a:t>What are the similarities between the ancient canal and the modern</a:t>
            </a:r>
            <a:r>
              <a:rPr lang="en-US" altLang="zh-CN" sz="2400" dirty="0"/>
              <a:t> railway in terms of their economic function?</a:t>
            </a:r>
          </a:p>
          <a:p>
            <a:r>
              <a:rPr lang="en-US" altLang="zh-CN" sz="2400" dirty="0"/>
              <a:t>Is the Grand Canal still functional nowadays?</a:t>
            </a:r>
            <a:endParaRPr lang="en-US" altLang="zh-CN" sz="2400" spc="-10" dirty="0"/>
          </a:p>
        </p:txBody>
      </p:sp>
      <p:pic>
        <p:nvPicPr>
          <p:cNvPr id="1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Tree>
    <p:extLst>
      <p:ext uri="{BB962C8B-B14F-4D97-AF65-F5344CB8AC3E}">
        <p14:creationId xmlns:p14="http://schemas.microsoft.com/office/powerpoint/2010/main" val="13363944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10"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sp>
        <p:nvSpPr>
          <p:cNvPr id="9" name="文本框 8"/>
          <p:cNvSpPr txBox="1"/>
          <p:nvPr/>
        </p:nvSpPr>
        <p:spPr>
          <a:xfrm>
            <a:off x="360000" y="1133951"/>
            <a:ext cx="8532300" cy="1938992"/>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20" dirty="0">
                <a:latin typeface="Cambria" panose="02040503050406030204" pitchFamily="18" charset="0"/>
                <a:ea typeface="Cambria" panose="02040503050406030204" pitchFamily="18" charset="0"/>
              </a:rPr>
              <a:t>Compare the two photos. What do you know about the Oriental</a:t>
            </a:r>
            <a:r>
              <a:rPr lang="en-US" altLang="zh-CN" sz="2400" dirty="0">
                <a:latin typeface="Cambria" panose="02040503050406030204" pitchFamily="18" charset="0"/>
                <a:ea typeface="Cambria" panose="02040503050406030204" pitchFamily="18" charset="0"/>
              </a:rPr>
              <a:t> </a:t>
            </a:r>
            <a:r>
              <a:rPr lang="en-US" altLang="zh-CN" sz="2400" spc="20" dirty="0">
                <a:latin typeface="Cambria" panose="02040503050406030204" pitchFamily="18" charset="0"/>
                <a:ea typeface="Cambria" panose="02040503050406030204" pitchFamily="18" charset="0"/>
              </a:rPr>
              <a:t>Pearl Tower in Shanghai and the CN Tower in Toronto? In what</a:t>
            </a:r>
            <a:r>
              <a:rPr lang="en-US" altLang="zh-CN" sz="2400" dirty="0">
                <a:latin typeface="Cambria" panose="02040503050406030204" pitchFamily="18" charset="0"/>
                <a:ea typeface="Cambria" panose="02040503050406030204" pitchFamily="18" charset="0"/>
              </a:rPr>
              <a:t> </a:t>
            </a:r>
            <a:r>
              <a:rPr lang="en-US" altLang="zh-CN" sz="2400" spc="20" dirty="0">
                <a:latin typeface="Cambria" panose="02040503050406030204" pitchFamily="18" charset="0"/>
                <a:ea typeface="Cambria" panose="02040503050406030204" pitchFamily="18" charset="0"/>
              </a:rPr>
              <a:t>ways do these iconic structures reflect the cultural identity and</a:t>
            </a:r>
            <a:r>
              <a:rPr lang="en-US" altLang="zh-CN" sz="2400" dirty="0">
                <a:latin typeface="Cambria" panose="02040503050406030204" pitchFamily="18" charset="0"/>
                <a:ea typeface="Cambria" panose="02040503050406030204" pitchFamily="18" charset="0"/>
              </a:rPr>
              <a:t> architectural styles of their respective regions?</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4"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5735" y="3396548"/>
            <a:ext cx="3657594" cy="2687112"/>
          </a:xfrm>
          <a:prstGeom prst="rect">
            <a:avLst/>
          </a:prstGeom>
          <a:ln>
            <a:noFill/>
          </a:ln>
          <a:effectLst>
            <a:softEdge rad="112500"/>
          </a:effectLst>
        </p:spPr>
      </p:pic>
      <p:pic>
        <p:nvPicPr>
          <p:cNvPr id="3" name="图片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572000" y="3429000"/>
            <a:ext cx="3726541" cy="2539016"/>
          </a:xfrm>
          <a:prstGeom prst="rect">
            <a:avLst/>
          </a:prstGeom>
          <a:ln>
            <a:noFill/>
          </a:ln>
          <a:effectLst>
            <a:softEdge rad="112500"/>
          </a:effectLst>
        </p:spPr>
      </p:pic>
    </p:spTree>
    <p:extLst>
      <p:ext uri="{BB962C8B-B14F-4D97-AF65-F5344CB8AC3E}">
        <p14:creationId xmlns:p14="http://schemas.microsoft.com/office/powerpoint/2010/main" val="23190180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p:cNvPicPr>
            <a:picLocks noChangeAspect="1" noChangeArrowheads="1"/>
          </p:cNvPicPr>
          <p:nvPr/>
        </p:nvPicPr>
        <p:blipFill>
          <a:blip r:embed="rId2" cstate="print"/>
          <a:srcRect l="12911" t="21436" r="39626" b="60503"/>
          <a:stretch>
            <a:fillRect/>
          </a:stretch>
        </p:blipFill>
        <p:spPr bwMode="auto">
          <a:xfrm>
            <a:off x="8366400" y="6429396"/>
            <a:ext cx="259557" cy="254794"/>
          </a:xfrm>
          <a:prstGeom prst="rect">
            <a:avLst/>
          </a:prstGeom>
          <a:noFill/>
        </p:spPr>
      </p:pic>
      <p:pic>
        <p:nvPicPr>
          <p:cNvPr id="10"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1" name="文本框 10"/>
          <p:cNvSpPr txBox="1"/>
          <p:nvPr/>
        </p:nvSpPr>
        <p:spPr>
          <a:xfrm>
            <a:off x="287510" y="5365280"/>
            <a:ext cx="837986" cy="369332"/>
          </a:xfrm>
          <a:prstGeom prst="rect">
            <a:avLst/>
          </a:prstGeom>
          <a:noFill/>
        </p:spPr>
        <p:txBody>
          <a:bodyPr wrap="none" rtlCol="0">
            <a:spAutoFit/>
          </a:bodyPr>
          <a:lstStyle/>
          <a:p>
            <a:pPr algn="just"/>
            <a:r>
              <a:rPr lang="en-US" altLang="zh-CN" sz="1800" b="1" i="0" u="none" strike="noStrike" kern="1200" baseline="0" dirty="0">
                <a:solidFill>
                  <a:schemeClr val="bg1"/>
                </a:solidFill>
                <a:latin typeface="Cambria" panose="02040503050406030204" pitchFamily="18" charset="0"/>
                <a:ea typeface="Cambria" panose="02040503050406030204" pitchFamily="18" charset="0"/>
                <a:cs typeface="+mn-cs"/>
              </a:rPr>
              <a:t>Text B</a:t>
            </a:r>
            <a:endParaRPr lang="zh-CN" altLang="en-US" sz="1800" dirty="0">
              <a:solidFill>
                <a:schemeClr val="bg1"/>
              </a:solidFill>
              <a:latin typeface="Cambria" panose="02040503050406030204" pitchFamily="18" charset="0"/>
            </a:endParaRPr>
          </a:p>
        </p:txBody>
      </p:sp>
      <p:sp>
        <p:nvSpPr>
          <p:cNvPr id="12" name="文本框 11"/>
          <p:cNvSpPr txBox="1"/>
          <p:nvPr/>
        </p:nvSpPr>
        <p:spPr>
          <a:xfrm>
            <a:off x="287510" y="5682844"/>
            <a:ext cx="6156620" cy="707886"/>
          </a:xfrm>
          <a:prstGeom prst="rect">
            <a:avLst/>
          </a:prstGeom>
          <a:noFill/>
        </p:spPr>
        <p:txBody>
          <a:bodyPr wrap="square" rtlCol="0">
            <a:spAutoFit/>
          </a:bodyPr>
          <a:lstStyle/>
          <a:p>
            <a:r>
              <a:rPr lang="en-US" altLang="zh-CN" sz="4000" b="0" i="0" u="none" strike="noStrike" kern="1200" baseline="0" dirty="0">
                <a:solidFill>
                  <a:srgbClr val="0A2E4A"/>
                </a:solidFill>
                <a:latin typeface="Cambria" panose="02040503050406030204" pitchFamily="18" charset="0"/>
                <a:ea typeface="Cambria" panose="02040503050406030204" pitchFamily="18" charset="0"/>
                <a:cs typeface="+mn-cs"/>
              </a:rPr>
              <a:t>A</a:t>
            </a:r>
            <a:r>
              <a:rPr lang="en-US" altLang="zh-CN" sz="2400" dirty="0">
                <a:solidFill>
                  <a:srgbClr val="0A2E4A"/>
                </a:solidFill>
                <a:latin typeface="Cambria" panose="02040503050406030204" pitchFamily="18" charset="0"/>
                <a:ea typeface="Cambria" panose="02040503050406030204" pitchFamily="18" charset="0"/>
              </a:rPr>
              <a:t>ncient China – Prehistory</a:t>
            </a:r>
            <a:endParaRPr lang="zh-CN" altLang="en-US" sz="2400" dirty="0">
              <a:solidFill>
                <a:srgbClr val="0A2E4A"/>
              </a:solidFill>
              <a:latin typeface="Cambria" panose="02040503050406030204" pitchFamily="18" charset="0"/>
            </a:endParaRPr>
          </a:p>
        </p:txBody>
      </p:sp>
      <p:sp>
        <p:nvSpPr>
          <p:cNvPr id="13" name="文本框 12"/>
          <p:cNvSpPr txBox="1"/>
          <p:nvPr/>
        </p:nvSpPr>
        <p:spPr>
          <a:xfrm>
            <a:off x="5728817" y="5955667"/>
            <a:ext cx="1581330" cy="369332"/>
          </a:xfrm>
          <a:prstGeom prst="rect">
            <a:avLst/>
          </a:prstGeom>
          <a:noFill/>
        </p:spPr>
        <p:txBody>
          <a:bodyPr wrap="none" rtlCol="0">
            <a:spAutoFit/>
          </a:bodyPr>
          <a:lstStyle/>
          <a:p>
            <a:pPr algn="just"/>
            <a:r>
              <a:rPr lang="en-US" altLang="zh-CN" dirty="0">
                <a:solidFill>
                  <a:srgbClr val="0A2E4A"/>
                </a:solidFill>
                <a:latin typeface="Cambria" panose="02040503050406030204" pitchFamily="18" charset="0"/>
                <a:ea typeface="Cambria" panose="02040503050406030204" pitchFamily="18" charset="0"/>
              </a:rPr>
              <a:t>Joshua J. Mark</a:t>
            </a:r>
            <a:endParaRPr lang="zh-CN" altLang="en-US" sz="1800" dirty="0">
              <a:solidFill>
                <a:srgbClr val="0A2E4A"/>
              </a:solidFill>
              <a:latin typeface="Cambria" panose="02040503050406030204" pitchFamily="18" charset="0"/>
            </a:endParaRPr>
          </a:p>
        </p:txBody>
      </p:sp>
      <p:pic>
        <p:nvPicPr>
          <p:cNvPr id="17" name="超链接" descr="C:\Users\senj\Desktop\新建文件夹\外链音频.png">
            <a:hlinkClick r:id="rId5" action="ppaction://hlinkfile"/>
          </p:cNvPr>
          <p:cNvPicPr>
            <a:picLocks noChangeAspect="1" noChangeArrowheads="1"/>
          </p:cNvPicPr>
          <p:nvPr/>
        </p:nvPicPr>
        <p:blipFill>
          <a:blip r:embed="rId6" cstate="print"/>
          <a:srcRect/>
          <a:stretch>
            <a:fillRect/>
          </a:stretch>
        </p:blipFill>
        <p:spPr bwMode="auto">
          <a:xfrm>
            <a:off x="1259790" y="5410709"/>
            <a:ext cx="288000" cy="288000"/>
          </a:xfrm>
          <a:prstGeom prst="rect">
            <a:avLst/>
          </a:prstGeom>
          <a:noFill/>
        </p:spPr>
      </p:pic>
      <p:pic>
        <p:nvPicPr>
          <p:cNvPr id="18" name="图片 17">
            <a:hlinkClick r:id="rId7" action="ppaction://hlinksldjump"/>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22971" y="5423409"/>
            <a:ext cx="228582" cy="275300"/>
          </a:xfrm>
          <a:prstGeom prst="rect">
            <a:avLst/>
          </a:prstGeom>
        </p:spPr>
      </p:pic>
    </p:spTree>
    <p:extLst>
      <p:ext uri="{BB962C8B-B14F-4D97-AF65-F5344CB8AC3E}">
        <p14:creationId xmlns:p14="http://schemas.microsoft.com/office/powerpoint/2010/main" val="8737419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2030" y="1147670"/>
            <a:ext cx="8100270" cy="5632311"/>
          </a:xfrm>
          <a:prstGeom prst="rect">
            <a:avLst/>
          </a:prstGeom>
          <a:noFill/>
        </p:spPr>
        <p:txBody>
          <a:bodyPr wrap="square" rtlCol="0">
            <a:spAutoFit/>
          </a:bodyPr>
          <a:lstStyle/>
          <a:p>
            <a:pPr algn="just"/>
            <a:r>
              <a:rPr lang="en-US" altLang="zh-CN" sz="2400" b="1" dirty="0">
                <a:solidFill>
                  <a:srgbClr val="C6383E"/>
                </a:solidFill>
              </a:rPr>
              <a:t>1</a:t>
            </a:r>
            <a:r>
              <a:rPr lang="en-US" altLang="zh-CN" sz="2400" dirty="0"/>
              <a:t>     Ancient China produced what has become the oldest </a:t>
            </a:r>
            <a:r>
              <a:rPr lang="en-US" altLang="zh-CN" sz="2400" dirty="0">
                <a:solidFill>
                  <a:srgbClr val="C00000"/>
                </a:solidFill>
              </a:rPr>
              <a:t>extant</a:t>
            </a:r>
            <a:r>
              <a:rPr lang="en-US" altLang="zh-CN" sz="2400" dirty="0"/>
              <a:t> culture in the world. The name “China” comes from the </a:t>
            </a:r>
            <a:r>
              <a:rPr lang="en-US" altLang="zh-CN" sz="2400" dirty="0">
                <a:solidFill>
                  <a:srgbClr val="C00000"/>
                </a:solidFill>
              </a:rPr>
              <a:t>Sanskrit</a:t>
            </a:r>
            <a:r>
              <a:rPr lang="en-US" altLang="zh-CN" sz="2400" dirty="0"/>
              <a:t> </a:t>
            </a:r>
            <a:r>
              <a:rPr lang="en-US" altLang="zh-CN" sz="2400" i="1" spc="-80" dirty="0" err="1"/>
              <a:t>Cina</a:t>
            </a:r>
            <a:r>
              <a:rPr lang="en-US" altLang="zh-CN" sz="2400" i="1" spc="-80" dirty="0"/>
              <a:t> </a:t>
            </a:r>
            <a:r>
              <a:rPr lang="en-US" altLang="zh-CN" sz="2400" spc="-80" dirty="0"/>
              <a:t>(derived from the name of the Chinese Qin dynasty, pronounced</a:t>
            </a:r>
            <a:r>
              <a:rPr lang="en-US" altLang="zh-CN" sz="2400" dirty="0"/>
              <a:t> </a:t>
            </a:r>
            <a:r>
              <a:rPr lang="en-US" altLang="zh-CN" sz="2400" spc="-10" dirty="0"/>
              <a:t>“Chin”) which was translated as “</a:t>
            </a:r>
            <a:r>
              <a:rPr lang="en-US" altLang="zh-CN" sz="2400" spc="-10" dirty="0" err="1"/>
              <a:t>Cin</a:t>
            </a:r>
            <a:r>
              <a:rPr lang="en-US" altLang="zh-CN" sz="2400" spc="-10" dirty="0"/>
              <a:t>” by the Persians and seems</a:t>
            </a:r>
            <a:r>
              <a:rPr lang="en-US" altLang="zh-CN" sz="2400" dirty="0"/>
              <a:t> </a:t>
            </a:r>
            <a:r>
              <a:rPr lang="en-US" altLang="zh-CN" sz="2400" spc="20" dirty="0"/>
              <a:t>to have become popularized through trade along the Silk Road</a:t>
            </a:r>
            <a:r>
              <a:rPr lang="en-US" altLang="zh-CN" sz="2400" dirty="0"/>
              <a:t> from China to the rest of the world.</a:t>
            </a:r>
          </a:p>
          <a:p>
            <a:pPr algn="just"/>
            <a:r>
              <a:rPr lang="en-US" altLang="zh-CN" sz="2400" b="1" dirty="0">
                <a:solidFill>
                  <a:srgbClr val="C6383E"/>
                </a:solidFill>
              </a:rPr>
              <a:t>2</a:t>
            </a:r>
            <a:r>
              <a:rPr lang="en-US" altLang="zh-CN" sz="2400" dirty="0"/>
              <a:t>     </a:t>
            </a:r>
            <a:r>
              <a:rPr lang="en-US" altLang="zh-CN" sz="2400" spc="50" dirty="0"/>
              <a:t>The Romans and the Greeks knew the country as “</a:t>
            </a:r>
            <a:r>
              <a:rPr lang="en-US" altLang="zh-CN" sz="2400" spc="50" dirty="0" err="1"/>
              <a:t>Seres</a:t>
            </a:r>
            <a:r>
              <a:rPr lang="en-US" altLang="zh-CN" sz="2400" spc="50" dirty="0"/>
              <a:t>”</a:t>
            </a:r>
            <a:r>
              <a:rPr lang="en-US" altLang="zh-CN" sz="2400" dirty="0"/>
              <a:t>, </a:t>
            </a:r>
            <a:r>
              <a:rPr lang="en-US" altLang="zh-CN" sz="2400" spc="30" dirty="0"/>
              <a:t>“the land where silk comes from”. The name “China” does not</a:t>
            </a:r>
            <a:r>
              <a:rPr lang="en-US" altLang="zh-CN" sz="2400" dirty="0"/>
              <a:t> </a:t>
            </a:r>
            <a:r>
              <a:rPr lang="en-US" altLang="zh-CN" sz="2400" spc="30" dirty="0"/>
              <a:t>appear in print in the West until 1516 CE in Barbosa’s journals</a:t>
            </a:r>
            <a:r>
              <a:rPr lang="en-US" altLang="zh-CN" sz="2400" dirty="0"/>
              <a:t> narrating his travels in the East (though the Europeans had long </a:t>
            </a:r>
            <a:r>
              <a:rPr lang="en-US" altLang="zh-CN" sz="2400" spc="-10" dirty="0"/>
              <a:t>known of China through trade via the Silk Road). </a:t>
            </a:r>
            <a:r>
              <a:rPr lang="en-US" altLang="zh-CN" sz="2400" u="sng" spc="-10" dirty="0">
                <a:solidFill>
                  <a:srgbClr val="0070C0"/>
                </a:solidFill>
              </a:rPr>
              <a:t>Marco Polo, the</a:t>
            </a:r>
            <a:r>
              <a:rPr lang="en-US" altLang="zh-CN" sz="2400" u="sng" dirty="0">
                <a:solidFill>
                  <a:srgbClr val="0070C0"/>
                </a:solidFill>
              </a:rPr>
              <a:t> famous explorer who familiarized Europe with China in the 13th </a:t>
            </a:r>
            <a:r>
              <a:rPr lang="en-US" altLang="zh-CN" sz="2400" u="sng" spc="-30" dirty="0">
                <a:solidFill>
                  <a:srgbClr val="0070C0"/>
                </a:solidFill>
              </a:rPr>
              <a:t>century CE, referred to the land as “</a:t>
            </a:r>
            <a:r>
              <a:rPr lang="en-US" altLang="zh-CN" sz="2400" u="sng" spc="-30" dirty="0">
                <a:solidFill>
                  <a:srgbClr val="C00000"/>
                </a:solidFill>
              </a:rPr>
              <a:t>Cathay</a:t>
            </a:r>
            <a:r>
              <a:rPr lang="en-US" altLang="zh-CN" sz="2400" u="sng" spc="-30" dirty="0">
                <a:solidFill>
                  <a:srgbClr val="0070C0"/>
                </a:solidFill>
              </a:rPr>
              <a:t>”.</a:t>
            </a:r>
            <a:r>
              <a:rPr lang="en-US" altLang="zh-CN" sz="2400" spc="-30" dirty="0">
                <a:solidFill>
                  <a:srgbClr val="0070C0"/>
                </a:solidFill>
              </a:rPr>
              <a:t> </a:t>
            </a:r>
            <a:r>
              <a:rPr lang="en-US" altLang="zh-CN" sz="2400" spc="-30" dirty="0"/>
              <a:t>In </a:t>
            </a:r>
            <a:r>
              <a:rPr lang="en-US" altLang="zh-CN" sz="2400" spc="-30" dirty="0">
                <a:solidFill>
                  <a:srgbClr val="C00000"/>
                </a:solidFill>
              </a:rPr>
              <a:t>Mandarin</a:t>
            </a:r>
            <a:r>
              <a:rPr lang="en-US" altLang="zh-CN" sz="2400" spc="-30" dirty="0"/>
              <a:t> Chinese</a:t>
            </a:r>
            <a:r>
              <a:rPr lang="en-US" altLang="zh-CN" sz="2400" dirty="0"/>
              <a:t>, </a:t>
            </a:r>
            <a:r>
              <a:rPr lang="en-US" altLang="zh-CN" sz="2400" spc="10" dirty="0"/>
              <a:t>the country is known as “</a:t>
            </a:r>
            <a:r>
              <a:rPr lang="en-US" altLang="zh-CN" sz="2400" spc="10" dirty="0" err="1"/>
              <a:t>Zhongguo</a:t>
            </a:r>
            <a:r>
              <a:rPr lang="en-US" altLang="zh-CN" sz="2400" spc="10" dirty="0"/>
              <a:t>” meaning “central state” or</a:t>
            </a:r>
            <a:r>
              <a:rPr lang="en-US" altLang="zh-CN" sz="2400" dirty="0"/>
              <a:t> “middle empire”.</a:t>
            </a:r>
          </a:p>
        </p:txBody>
      </p:sp>
      <p:pic>
        <p:nvPicPr>
          <p:cNvPr id="5" name="图片 4">
            <a:hlinkClick r:id="rId6"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460" y="1232638"/>
            <a:ext cx="268800" cy="288000"/>
          </a:xfrm>
          <a:prstGeom prst="rect">
            <a:avLst/>
          </a:prstGeom>
        </p:spPr>
      </p:pic>
      <p:sp>
        <p:nvSpPr>
          <p:cNvPr id="19" name="矩形 18">
            <a:hlinkClick r:id="rId8" action="ppaction://hlinksldjump"/>
          </p:cNvPr>
          <p:cNvSpPr/>
          <p:nvPr/>
        </p:nvSpPr>
        <p:spPr>
          <a:xfrm>
            <a:off x="6849220" y="4878846"/>
            <a:ext cx="196966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hlinkClick r:id="rId8" action="ppaction://hlinksldjump"/>
          </p:cNvPr>
          <p:cNvSpPr/>
          <p:nvPr/>
        </p:nvSpPr>
        <p:spPr>
          <a:xfrm>
            <a:off x="849180" y="5238294"/>
            <a:ext cx="7975958"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hlinkClick r:id="rId8" action="ppaction://hlinksldjump"/>
          </p:cNvPr>
          <p:cNvSpPr/>
          <p:nvPr/>
        </p:nvSpPr>
        <p:spPr>
          <a:xfrm>
            <a:off x="842922" y="5604213"/>
            <a:ext cx="5338803"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7783158" y="1585417"/>
            <a:ext cx="1056042"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标注 7"/>
          <p:cNvSpPr/>
          <p:nvPr/>
        </p:nvSpPr>
        <p:spPr>
          <a:xfrm>
            <a:off x="7806896" y="2028100"/>
            <a:ext cx="640534" cy="341160"/>
          </a:xfrm>
          <a:prstGeom prst="wedgeRectCallout">
            <a:avLst>
              <a:gd name="adj1" fmla="val 32644"/>
              <a:gd name="adj2" fmla="val -7802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梵文</a:t>
            </a:r>
          </a:p>
        </p:txBody>
      </p:sp>
      <p:sp>
        <p:nvSpPr>
          <p:cNvPr id="9" name="圆角矩形 8"/>
          <p:cNvSpPr/>
          <p:nvPr/>
        </p:nvSpPr>
        <p:spPr>
          <a:xfrm>
            <a:off x="5172073" y="5632294"/>
            <a:ext cx="840583"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标注 9"/>
          <p:cNvSpPr/>
          <p:nvPr/>
        </p:nvSpPr>
        <p:spPr>
          <a:xfrm>
            <a:off x="2740125" y="6185464"/>
            <a:ext cx="3434975" cy="341160"/>
          </a:xfrm>
          <a:prstGeom prst="wedgeRectCallout">
            <a:avLst>
              <a:gd name="adj1" fmla="val 33975"/>
              <a:gd name="adj2" fmla="val -109297"/>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中国（中世纪欧洲对中国的称呼）</a:t>
            </a:r>
          </a:p>
        </p:txBody>
      </p:sp>
      <p:sp>
        <p:nvSpPr>
          <p:cNvPr id="11" name="圆角矩形 10"/>
          <p:cNvSpPr/>
          <p:nvPr/>
        </p:nvSpPr>
        <p:spPr>
          <a:xfrm>
            <a:off x="6503088" y="5632294"/>
            <a:ext cx="1224862"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标注 11"/>
          <p:cNvSpPr/>
          <p:nvPr/>
        </p:nvSpPr>
        <p:spPr>
          <a:xfrm>
            <a:off x="5566964" y="5097815"/>
            <a:ext cx="1793000" cy="341160"/>
          </a:xfrm>
          <a:prstGeom prst="wedgeRectCallout">
            <a:avLst>
              <a:gd name="adj1" fmla="val 35037"/>
              <a:gd name="adj2" fmla="val 93584"/>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（中文）普通话</a:t>
            </a:r>
          </a:p>
        </p:txBody>
      </p:sp>
      <p:pic>
        <p:nvPicPr>
          <p:cNvPr id="2" name="Picture 3" descr="C:\Users\senj\Desktop\按钮.png">
            <a:hlinkClick r:id="" action="ppaction://hlinkshowjump?jump=previousslide"/>
          </p:cNvPr>
          <p:cNvPicPr>
            <a:picLocks noChangeAspect="1" noChangeArrowheads="1"/>
          </p:cNvPicPr>
          <p:nvPr/>
        </p:nvPicPr>
        <p:blipFill>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3" name="Picture 3" descr="C:\Users\senj\Desktop\按钮.png">
            <a:hlinkClick r:id="" action="ppaction://hlinkshowjump?jump=nextslide"/>
          </p:cNvPr>
          <p:cNvPicPr>
            <a:picLocks noChangeAspect="1" noChangeArrowheads="1"/>
          </p:cNvPicPr>
          <p:nvPr/>
        </p:nvPicPr>
        <p:blipFill>
          <a:blip r:embed="rId9" cstate="print">
            <a:duotone>
              <a:schemeClr val="bg2">
                <a:shade val="45000"/>
                <a:satMod val="135000"/>
              </a:schemeClr>
              <a:prstClr val="white"/>
            </a:duotone>
            <a:extLst>
              <a:ext uri="{BEBA8EAE-BF5A-486C-A8C5-ECC9F3942E4B}">
                <a14:imgProps xmlns:a14="http://schemas.microsoft.com/office/drawing/2010/main">
                  <a14:imgLayer r:embed="rId10">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3" name="图片 12">
            <a:hlinkClick r:id="rId11"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460" y="3423655"/>
            <a:ext cx="268800" cy="288000"/>
          </a:xfrm>
          <a:prstGeom prst="rect">
            <a:avLst/>
          </a:prstGeom>
        </p:spPr>
      </p:pic>
      <p:pic>
        <p:nvPicPr>
          <p:cNvPr id="15" name="Text B_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cstate="print">
            <a:extLst>
              <a:ext uri="{28A0092B-C50C-407E-A947-70E740481C1C}">
                <a14:useLocalDpi xmlns:a14="http://schemas.microsoft.com/office/drawing/2010/main" val="0"/>
              </a:ext>
            </a:extLst>
          </a:blip>
          <a:stretch>
            <a:fillRect/>
          </a:stretch>
        </p:blipFill>
        <p:spPr>
          <a:xfrm>
            <a:off x="173345" y="1235518"/>
            <a:ext cx="288000" cy="285120"/>
          </a:xfrm>
          <a:prstGeom prst="rect">
            <a:avLst/>
          </a:prstGeom>
        </p:spPr>
      </p:pic>
      <p:pic>
        <p:nvPicPr>
          <p:cNvPr id="16" name="Text B_2">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cstate="print">
            <a:extLst>
              <a:ext uri="{28A0092B-C50C-407E-A947-70E740481C1C}">
                <a14:useLocalDpi xmlns:a14="http://schemas.microsoft.com/office/drawing/2010/main" val="0"/>
              </a:ext>
            </a:extLst>
          </a:blip>
          <a:stretch>
            <a:fillRect/>
          </a:stretch>
        </p:blipFill>
        <p:spPr>
          <a:xfrm>
            <a:off x="173345" y="3429000"/>
            <a:ext cx="288000" cy="285120"/>
          </a:xfrm>
          <a:prstGeom prst="rect">
            <a:avLst/>
          </a:prstGeom>
        </p:spPr>
      </p:pic>
      <p:sp>
        <p:nvSpPr>
          <p:cNvPr id="18" name="矩形 17">
            <a:hlinkClick r:id="rId13" action="ppaction://hlinksldjump"/>
          </p:cNvPr>
          <p:cNvSpPr/>
          <p:nvPr/>
        </p:nvSpPr>
        <p:spPr>
          <a:xfrm>
            <a:off x="7996614" y="1214211"/>
            <a:ext cx="84258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36766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nextCondLst>
                <p:cond evt="onClick" delay="0">
                  <p:tgtEl>
                    <p:spTgt spid="7"/>
                  </p:tgtEl>
                </p:cond>
              </p:nextCondLst>
            </p:seq>
            <p:seq concurrent="1" nextAc="seek">
              <p:cTn id="7" restart="whenNotActive" fill="hold" evtFilter="cancelBubble" nodeType="interactiveSeq">
                <p:stCondLst>
                  <p:cond evt="onClick" delay="0">
                    <p:tgtEl>
                      <p:spTgt spid="9"/>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9"/>
                  </p:tgtEl>
                </p:cond>
              </p:nextCondLst>
            </p:seq>
            <p:seq concurrent="1" nextAc="seek">
              <p:cTn id="12" restart="whenNotActive" fill="hold" evtFilter="cancelBubble" nodeType="interactiveSeq">
                <p:stCondLst>
                  <p:cond evt="onClick" delay="0">
                    <p:tgtEl>
                      <p:spTgt spid="11"/>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17" restart="whenNotActive" fill="hold" evtFilter="cancelBubble" nodeType="interactiveSeq">
                <p:stCondLst>
                  <p:cond evt="onClick" delay="0">
                    <p:tgtEl>
                      <p:spTgt spid="15"/>
                    </p:tgtEl>
                  </p:cond>
                </p:stCondLst>
                <p:endSync evt="end" delay="0">
                  <p:rtn val="all"/>
                </p:endSync>
                <p:childTnLst>
                  <p:par>
                    <p:cTn id="18" fill="hold">
                      <p:stCondLst>
                        <p:cond delay="0"/>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26305" fill="hold"/>
                                        <p:tgtEl>
                                          <p:spTgt spid="15"/>
                                        </p:tgtEl>
                                      </p:cBhvr>
                                    </p:cmd>
                                  </p:childTnLst>
                                </p:cTn>
                              </p:par>
                            </p:childTnLst>
                          </p:cTn>
                        </p:par>
                      </p:childTnLst>
                    </p:cTn>
                  </p:par>
                </p:childTnLst>
              </p:cTn>
              <p:nextCondLst>
                <p:cond evt="onClick" delay="0">
                  <p:tgtEl>
                    <p:spTgt spid="15"/>
                  </p:tgtEl>
                </p:cond>
              </p:nextCondLst>
            </p:seq>
            <p:audio>
              <p:cMediaNode vol="80000">
                <p:cTn id="22" fill="hold" display="0">
                  <p:stCondLst>
                    <p:cond delay="indefinite"/>
                  </p:stCondLst>
                  <p:endCondLst>
                    <p:cond evt="onStopAudio" delay="0">
                      <p:tgtEl>
                        <p:sldTgt/>
                      </p:tgtEl>
                    </p:cond>
                  </p:endCondLst>
                </p:cTn>
                <p:tgtEl>
                  <p:spTgt spid="15"/>
                </p:tgtEl>
              </p:cMediaNode>
            </p:audio>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1" presetClass="mediacall" presetSubtype="0" fill="hold" nodeType="clickEffect">
                                  <p:stCondLst>
                                    <p:cond delay="0"/>
                                  </p:stCondLst>
                                  <p:childTnLst>
                                    <p:cmd type="call" cmd="playFrom(0.0)">
                                      <p:cBhvr>
                                        <p:cTn id="27" dur="40881" fill="hold"/>
                                        <p:tgtEl>
                                          <p:spTgt spid="16"/>
                                        </p:tgtEl>
                                      </p:cBhvr>
                                    </p:cmd>
                                  </p:childTnLst>
                                </p:cTn>
                              </p:par>
                            </p:childTnLst>
                          </p:cTn>
                        </p:par>
                      </p:childTnLst>
                    </p:cTn>
                  </p:par>
                </p:childTnLst>
              </p:cTn>
              <p:nextCondLst>
                <p:cond evt="onClick" delay="0">
                  <p:tgtEl>
                    <p:spTgt spid="16"/>
                  </p:tgtEl>
                </p:cond>
              </p:nextCondLst>
            </p:seq>
            <p:audio>
              <p:cMediaNode vol="80000">
                <p:cTn id="28" fill="hold" display="0">
                  <p:stCondLst>
                    <p:cond delay="indefinite"/>
                  </p:stCondLst>
                  <p:endCondLst>
                    <p:cond evt="onStopAudio" delay="0">
                      <p:tgtEl>
                        <p:sldTgt/>
                      </p:tgtEl>
                    </p:cond>
                  </p:endCondLst>
                </p:cTn>
                <p:tgtEl>
                  <p:spTgt spid="16"/>
                </p:tgtEl>
              </p:cMediaNode>
            </p:audio>
          </p:childTnLst>
        </p:cTn>
      </p:par>
    </p:tnLst>
    <p:bldLst>
      <p:bldP spid="8" grpId="0" animBg="1"/>
      <p:bldP spid="10"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3" name="Picture 3" descr="C:\Users\senj\Desktop\按钮.png">
            <a:hlinkClick r:id="" action="ppaction://hlinkshowjump?jump=next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4" name="文本框 3"/>
          <p:cNvSpPr txBox="1"/>
          <p:nvPr/>
        </p:nvSpPr>
        <p:spPr>
          <a:xfrm>
            <a:off x="792030" y="1147670"/>
            <a:ext cx="8100270" cy="5262979"/>
          </a:xfrm>
          <a:prstGeom prst="rect">
            <a:avLst/>
          </a:prstGeom>
          <a:noFill/>
        </p:spPr>
        <p:txBody>
          <a:bodyPr wrap="square" rtlCol="0">
            <a:spAutoFit/>
          </a:bodyPr>
          <a:lstStyle/>
          <a:p>
            <a:pPr algn="just"/>
            <a:r>
              <a:rPr lang="en-US" altLang="zh-CN" sz="2400" b="1" dirty="0">
                <a:solidFill>
                  <a:srgbClr val="C6383E"/>
                </a:solidFill>
              </a:rPr>
              <a:t>3</a:t>
            </a:r>
            <a:r>
              <a:rPr lang="en-US" altLang="zh-CN" sz="2400" dirty="0"/>
              <a:t>     </a:t>
            </a:r>
            <a:r>
              <a:rPr lang="en-US" altLang="zh-CN" sz="2400" spc="60" dirty="0"/>
              <a:t>Well before the </a:t>
            </a:r>
            <a:r>
              <a:rPr lang="en-US" altLang="zh-CN" sz="2400" spc="60" dirty="0">
                <a:solidFill>
                  <a:srgbClr val="C00000"/>
                </a:solidFill>
              </a:rPr>
              <a:t>advent</a:t>
            </a:r>
            <a:r>
              <a:rPr lang="en-US" altLang="zh-CN" sz="2400" spc="60" dirty="0"/>
              <a:t> of recognizable civilization in the</a:t>
            </a:r>
            <a:r>
              <a:rPr lang="en-US" altLang="zh-CN" sz="2400" dirty="0"/>
              <a:t> </a:t>
            </a:r>
            <a:r>
              <a:rPr lang="en-US" altLang="zh-CN" sz="2400" spc="10" dirty="0"/>
              <a:t>region, the land was occupied by hominids. Peking Man, a skull</a:t>
            </a:r>
            <a:r>
              <a:rPr lang="en-US" altLang="zh-CN" sz="2400" dirty="0"/>
              <a:t> </a:t>
            </a:r>
            <a:r>
              <a:rPr lang="en-US" altLang="zh-CN" sz="2400" spc="-40" dirty="0"/>
              <a:t>fossil discovered in 1927 CE near Beijing, lived in the area between</a:t>
            </a:r>
            <a:r>
              <a:rPr lang="en-US" altLang="zh-CN" sz="2400" dirty="0"/>
              <a:t> </a:t>
            </a:r>
            <a:r>
              <a:rPr lang="en-US" altLang="zh-CN" sz="2400" spc="-30" dirty="0"/>
              <a:t>700,000 to 200,000 years ago, and </a:t>
            </a:r>
            <a:r>
              <a:rPr lang="en-US" altLang="zh-CN" sz="2400" spc="-30" dirty="0" err="1"/>
              <a:t>Yuanmou</a:t>
            </a:r>
            <a:r>
              <a:rPr lang="en-US" altLang="zh-CN" sz="2400" spc="-30" dirty="0"/>
              <a:t> Man, whose remains</a:t>
            </a:r>
            <a:r>
              <a:rPr lang="en-US" altLang="zh-CN" sz="2400" dirty="0"/>
              <a:t> </a:t>
            </a:r>
            <a:r>
              <a:rPr lang="en-US" altLang="zh-CN" sz="2400" spc="-30" dirty="0"/>
              <a:t>were found in </a:t>
            </a:r>
            <a:r>
              <a:rPr lang="en-US" altLang="zh-CN" sz="2400" spc="-30" dirty="0" err="1"/>
              <a:t>Yuanmou</a:t>
            </a:r>
            <a:r>
              <a:rPr lang="en-US" altLang="zh-CN" sz="2400" spc="-30" dirty="0"/>
              <a:t> in 1965 CE, </a:t>
            </a:r>
            <a:r>
              <a:rPr lang="en-US" altLang="zh-CN" sz="2400" spc="-30" dirty="0">
                <a:solidFill>
                  <a:srgbClr val="C00000"/>
                </a:solidFill>
              </a:rPr>
              <a:t>inhabited</a:t>
            </a:r>
            <a:r>
              <a:rPr lang="en-US" altLang="zh-CN" sz="2400" spc="-30" dirty="0"/>
              <a:t> the land 1.7 million</a:t>
            </a:r>
            <a:r>
              <a:rPr lang="en-US" altLang="zh-CN" sz="2400" dirty="0"/>
              <a:t> </a:t>
            </a:r>
            <a:r>
              <a:rPr lang="en-US" altLang="zh-CN" sz="2400" spc="-20" dirty="0"/>
              <a:t>years ago. Evidence uncovered with these finds shows that these</a:t>
            </a:r>
            <a:r>
              <a:rPr lang="en-US" altLang="zh-CN" sz="2400" dirty="0"/>
              <a:t> early inhabitants knew how to fashion stone tools and use fire.</a:t>
            </a:r>
          </a:p>
          <a:p>
            <a:pPr algn="just"/>
            <a:r>
              <a:rPr lang="en-US" altLang="zh-CN" sz="2400" b="1" dirty="0">
                <a:solidFill>
                  <a:srgbClr val="C6383E"/>
                </a:solidFill>
              </a:rPr>
              <a:t>4</a:t>
            </a:r>
            <a:r>
              <a:rPr lang="en-US" altLang="zh-CN" sz="2400" dirty="0"/>
              <a:t>     </a:t>
            </a:r>
            <a:r>
              <a:rPr lang="en-US" altLang="zh-CN" sz="2400" spc="-20" dirty="0"/>
              <a:t>While it is commonly accepted that human beings originated</a:t>
            </a:r>
            <a:r>
              <a:rPr lang="en-US" altLang="zh-CN" sz="2400" dirty="0"/>
              <a:t> </a:t>
            </a:r>
            <a:r>
              <a:rPr lang="en-US" altLang="zh-CN" sz="2400" spc="40" dirty="0"/>
              <a:t>in Africa and then migrated to other points around the globe</a:t>
            </a:r>
            <a:r>
              <a:rPr lang="en-US" altLang="zh-CN" sz="2400" dirty="0"/>
              <a:t>, </a:t>
            </a:r>
            <a:r>
              <a:rPr lang="en-US" altLang="zh-CN" sz="2400" spc="40" dirty="0"/>
              <a:t>China’s paleoanthropologists “support the theory of ‘regional</a:t>
            </a:r>
            <a:r>
              <a:rPr lang="en-US" altLang="zh-CN" sz="2400" dirty="0"/>
              <a:t> </a:t>
            </a:r>
            <a:r>
              <a:rPr lang="en-US" altLang="zh-CN" sz="2400" spc="40" dirty="0"/>
              <a:t>evolution’ of the origin of man” which claims an independent</a:t>
            </a:r>
            <a:r>
              <a:rPr lang="en-US" altLang="zh-CN" sz="2400" dirty="0"/>
              <a:t> </a:t>
            </a:r>
            <a:r>
              <a:rPr lang="en-US" altLang="zh-CN" sz="2400" spc="50" dirty="0"/>
              <a:t>basis for the birth of human beings. “The Shu Ape, a primate</a:t>
            </a:r>
            <a:r>
              <a:rPr lang="en-US" altLang="zh-CN" sz="2400" dirty="0"/>
              <a:t> weighing only 100 to 150 grams and being similar to a mouse in </a:t>
            </a:r>
            <a:r>
              <a:rPr lang="en-US" altLang="zh-CN" sz="2400" spc="30" dirty="0"/>
              <a:t>size, lived in China in the </a:t>
            </a:r>
            <a:r>
              <a:rPr lang="en-US" altLang="zh-CN" sz="2400" spc="30" dirty="0">
                <a:solidFill>
                  <a:srgbClr val="C00000"/>
                </a:solidFill>
              </a:rPr>
              <a:t>Middle Eocene Epoch</a:t>
            </a:r>
            <a:r>
              <a:rPr lang="en-US" altLang="zh-CN" sz="2400" spc="30" dirty="0"/>
              <a:t> 4.5 to </a:t>
            </a:r>
            <a:r>
              <a:rPr lang="en-US" altLang="zh-CN" sz="2400" spc="20" dirty="0"/>
              <a:t>4 million</a:t>
            </a:r>
            <a:r>
              <a:rPr lang="en-US" altLang="zh-CN" sz="2400" dirty="0"/>
              <a:t> </a:t>
            </a:r>
          </a:p>
        </p:txBody>
      </p:sp>
      <p:sp>
        <p:nvSpPr>
          <p:cNvPr id="7" name="圆角矩形 6"/>
          <p:cNvSpPr/>
          <p:nvPr/>
        </p:nvSpPr>
        <p:spPr>
          <a:xfrm>
            <a:off x="4071938" y="5998164"/>
            <a:ext cx="2776421"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标注 7"/>
          <p:cNvSpPr/>
          <p:nvPr/>
        </p:nvSpPr>
        <p:spPr>
          <a:xfrm>
            <a:off x="3131900" y="5445140"/>
            <a:ext cx="4462978" cy="341160"/>
          </a:xfrm>
          <a:prstGeom prst="wedgeRectCallout">
            <a:avLst>
              <a:gd name="adj1" fmla="val 3593"/>
              <a:gd name="adj2" fmla="val 101029"/>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中始新世时期（地质年代学中的一个时期）</a:t>
            </a:r>
          </a:p>
        </p:txBody>
      </p:sp>
      <p:pic>
        <p:nvPicPr>
          <p:cNvPr id="9" name="图片 8">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1232638"/>
            <a:ext cx="268800" cy="288000"/>
          </a:xfrm>
          <a:prstGeom prst="rect">
            <a:avLst/>
          </a:prstGeom>
        </p:spPr>
      </p:pic>
      <p:pic>
        <p:nvPicPr>
          <p:cNvPr id="10" name="图片 9">
            <a:hlinkClick r:id="rId10"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230" y="3779159"/>
            <a:ext cx="268800" cy="288000"/>
          </a:xfrm>
          <a:prstGeom prst="rect">
            <a:avLst/>
          </a:prstGeom>
        </p:spPr>
      </p:pic>
      <p:pic>
        <p:nvPicPr>
          <p:cNvPr id="14" name="Text B_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cstate="print">
            <a:extLst>
              <a:ext uri="{28A0092B-C50C-407E-A947-70E740481C1C}">
                <a14:useLocalDpi xmlns:a14="http://schemas.microsoft.com/office/drawing/2010/main" val="0"/>
              </a:ext>
            </a:extLst>
          </a:blip>
          <a:stretch>
            <a:fillRect/>
          </a:stretch>
        </p:blipFill>
        <p:spPr>
          <a:xfrm>
            <a:off x="173345" y="1235518"/>
            <a:ext cx="288000" cy="285120"/>
          </a:xfrm>
          <a:prstGeom prst="rect">
            <a:avLst/>
          </a:prstGeom>
        </p:spPr>
      </p:pic>
      <p:pic>
        <p:nvPicPr>
          <p:cNvPr id="15" name="Text B_4">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cstate="print">
            <a:extLst>
              <a:ext uri="{28A0092B-C50C-407E-A947-70E740481C1C}">
                <a14:useLocalDpi xmlns:a14="http://schemas.microsoft.com/office/drawing/2010/main" val="0"/>
              </a:ext>
            </a:extLst>
          </a:blip>
          <a:stretch>
            <a:fillRect/>
          </a:stretch>
        </p:blipFill>
        <p:spPr>
          <a:xfrm>
            <a:off x="173345" y="3782039"/>
            <a:ext cx="288000" cy="285120"/>
          </a:xfrm>
          <a:prstGeom prst="rect">
            <a:avLst/>
          </a:prstGeom>
        </p:spPr>
      </p:pic>
      <p:sp>
        <p:nvSpPr>
          <p:cNvPr id="16" name="矩形 15">
            <a:hlinkClick r:id="rId13" action="ppaction://hlinksldjump"/>
          </p:cNvPr>
          <p:cNvSpPr/>
          <p:nvPr/>
        </p:nvSpPr>
        <p:spPr>
          <a:xfrm>
            <a:off x="3494350" y="1215895"/>
            <a:ext cx="95700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hlinkClick r:id="rId14" action="ppaction://hlinksldjump"/>
          </p:cNvPr>
          <p:cNvSpPr/>
          <p:nvPr/>
        </p:nvSpPr>
        <p:spPr>
          <a:xfrm>
            <a:off x="5227664" y="2668281"/>
            <a:ext cx="120361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365130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childTnLst>
                    </p:cTn>
                  </p:par>
                </p:childTnLst>
              </p:cTn>
              <p:nextCondLst>
                <p:cond evt="onClick" delay="0">
                  <p:tgtEl>
                    <p:spTgt spid="7"/>
                  </p:tgtEl>
                </p:cond>
              </p:nextCondLst>
            </p:seq>
            <p:seq concurrent="1" nextAc="seek">
              <p:cTn id="7" restart="whenNotActive" fill="hold" evtFilter="cancelBubble" nodeType="interactiveSeq">
                <p:stCondLst>
                  <p:cond evt="onClick" delay="0">
                    <p:tgtEl>
                      <p:spTgt spid="14"/>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40411" fill="hold"/>
                                        <p:tgtEl>
                                          <p:spTgt spid="14"/>
                                        </p:tgtEl>
                                      </p:cBhvr>
                                    </p:cmd>
                                  </p:childTnLst>
                                </p:cTn>
                              </p:par>
                            </p:childTnLst>
                          </p:cTn>
                        </p:par>
                      </p:childTnLst>
                    </p:cTn>
                  </p:par>
                </p:childTnLst>
              </p:cTn>
              <p:nextCondLst>
                <p:cond evt="onClick" delay="0">
                  <p:tgtEl>
                    <p:spTgt spid="14"/>
                  </p:tgtEl>
                </p:cond>
              </p:nextCondLst>
            </p:seq>
            <p:audio>
              <p:cMediaNode vol="80000">
                <p:cTn id="12" fill="hold" display="0">
                  <p:stCondLst>
                    <p:cond delay="indefinite"/>
                  </p:stCondLst>
                  <p:endCondLst>
                    <p:cond evt="onStopAudio" delay="0">
                      <p:tgtEl>
                        <p:sldTgt/>
                      </p:tgtEl>
                    </p:cond>
                  </p:endCondLst>
                </p:cTn>
                <p:tgtEl>
                  <p:spTgt spid="14"/>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 fill="hold"/>
                                        <p:tgtEl>
                                          <p:spTgt spid="15"/>
                                        </p:tgtEl>
                                      </p:cBhvr>
                                    </p:cmd>
                                  </p:childTnLst>
                                </p:cTn>
                              </p:par>
                            </p:childTnLst>
                          </p:cTn>
                        </p:par>
                      </p:childTnLst>
                    </p:cTn>
                  </p:par>
                </p:childTnLst>
              </p:cTn>
              <p:nextCondLst>
                <p:cond evt="onClick" delay="0">
                  <p:tgtEl>
                    <p:spTgt spid="15"/>
                  </p:tgtEl>
                </p:cond>
              </p:nextCondLst>
            </p:seq>
            <p:audio>
              <p:cMediaNode vol="80000" numSld="2">
                <p:cTn id="18" fill="hold" display="0">
                  <p:stCondLst>
                    <p:cond delay="indefinite"/>
                  </p:stCondLst>
                  <p:endCondLst>
                    <p:cond evt="onStopAudio" delay="0">
                      <p:tgtEl>
                        <p:sldTgt/>
                      </p:tgtEl>
                    </p:cond>
                  </p:endCondLst>
                </p:cTn>
                <p:tgtEl>
                  <p:spTgt spid="15"/>
                </p:tgtEl>
              </p:cMediaNode>
            </p:audio>
          </p:childTnLst>
        </p:cTn>
      </p:par>
    </p:tnLst>
    <p:bldLst>
      <p:bldP spid="8"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3" name="Picture 3" descr="C:\Users\senj\Desktop\按钮.png">
            <a:hlinkClick r:id="" action="ppaction://hlinkshowjump?jump=next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4" name="文本框 3"/>
          <p:cNvSpPr txBox="1"/>
          <p:nvPr/>
        </p:nvSpPr>
        <p:spPr>
          <a:xfrm>
            <a:off x="792030" y="1147670"/>
            <a:ext cx="8100270" cy="5262979"/>
          </a:xfrm>
          <a:prstGeom prst="rect">
            <a:avLst/>
          </a:prstGeom>
          <a:noFill/>
        </p:spPr>
        <p:txBody>
          <a:bodyPr wrap="square" rtlCol="0">
            <a:spAutoFit/>
          </a:bodyPr>
          <a:lstStyle/>
          <a:p>
            <a:pPr algn="just"/>
            <a:r>
              <a:rPr lang="en-US" altLang="zh-CN" sz="2400" dirty="0"/>
              <a:t>years ago. </a:t>
            </a:r>
            <a:r>
              <a:rPr lang="en-US" altLang="zh-CN" sz="2400" u="sng" dirty="0">
                <a:solidFill>
                  <a:srgbClr val="0070C0"/>
                </a:solidFill>
              </a:rPr>
              <a:t>Its discovery posed a great challenge to the theory of </a:t>
            </a:r>
            <a:r>
              <a:rPr lang="en-US" altLang="zh-CN" sz="2400" u="sng" spc="-30" dirty="0">
                <a:solidFill>
                  <a:srgbClr val="0070C0"/>
                </a:solidFill>
              </a:rPr>
              <a:t>the African origin of the human race”.</a:t>
            </a:r>
            <a:r>
              <a:rPr lang="en-US" altLang="zh-CN" sz="2400" spc="-30" dirty="0"/>
              <a:t> This challenge is considered</a:t>
            </a:r>
            <a:r>
              <a:rPr lang="en-US" altLang="zh-CN" sz="2400" dirty="0"/>
              <a:t> </a:t>
            </a:r>
            <a:r>
              <a:rPr lang="en-US" altLang="zh-CN" sz="2400" spc="-40" dirty="0">
                <a:solidFill>
                  <a:srgbClr val="C00000"/>
                </a:solidFill>
              </a:rPr>
              <a:t>plausible</a:t>
            </a:r>
            <a:r>
              <a:rPr lang="en-US" altLang="zh-CN" sz="2400" spc="-40" dirty="0"/>
              <a:t> due to genetic links between the Shu Ape fossil and both</a:t>
            </a:r>
            <a:r>
              <a:rPr lang="en-US" altLang="zh-CN" sz="2400" dirty="0"/>
              <a:t> </a:t>
            </a:r>
            <a:r>
              <a:rPr lang="en-US" altLang="zh-CN" sz="2400" spc="-10" dirty="0"/>
              <a:t>advanced and lower primates, standing, then, as a “missing link” </a:t>
            </a:r>
            <a:r>
              <a:rPr lang="en-US" altLang="zh-CN" sz="2400" dirty="0"/>
              <a:t>in the evolutionary process.</a:t>
            </a:r>
          </a:p>
          <a:p>
            <a:pPr algn="just"/>
            <a:r>
              <a:rPr lang="en-US" altLang="zh-CN" sz="2400" b="1" dirty="0">
                <a:solidFill>
                  <a:srgbClr val="C6383E"/>
                </a:solidFill>
              </a:rPr>
              <a:t>5</a:t>
            </a:r>
            <a:r>
              <a:rPr lang="en-US" altLang="zh-CN" sz="2400" dirty="0"/>
              <a:t>     </a:t>
            </a:r>
            <a:r>
              <a:rPr lang="en-US" altLang="zh-CN" sz="2400" spc="30" dirty="0"/>
              <a:t>However one interprets this data (the Chinese conclusions</a:t>
            </a:r>
            <a:r>
              <a:rPr lang="en-US" altLang="zh-CN" sz="2400" dirty="0"/>
              <a:t> </a:t>
            </a:r>
            <a:r>
              <a:rPr lang="en-US" altLang="zh-CN" sz="2400" spc="20" dirty="0"/>
              <a:t>have been </a:t>
            </a:r>
            <a:r>
              <a:rPr lang="en-US" altLang="zh-CN" sz="2400" spc="20" dirty="0">
                <a:solidFill>
                  <a:srgbClr val="C00000"/>
                </a:solidFill>
              </a:rPr>
              <a:t>disputed</a:t>
            </a:r>
            <a:r>
              <a:rPr lang="en-US" altLang="zh-CN" sz="2400" spc="20" dirty="0"/>
              <a:t> by the international community), the solid</a:t>
            </a:r>
            <a:r>
              <a:rPr lang="en-US" altLang="zh-CN" sz="2400" dirty="0"/>
              <a:t> </a:t>
            </a:r>
            <a:r>
              <a:rPr lang="en-US" altLang="zh-CN" sz="2400" spc="40" dirty="0"/>
              <a:t>evidence provided by other finds </a:t>
            </a:r>
            <a:r>
              <a:rPr lang="en-US" altLang="zh-CN" sz="2400" spc="40" dirty="0">
                <a:solidFill>
                  <a:srgbClr val="C00000"/>
                </a:solidFill>
              </a:rPr>
              <a:t>substantiates</a:t>
            </a:r>
            <a:r>
              <a:rPr lang="en-US" altLang="zh-CN" sz="2400" spc="40" dirty="0"/>
              <a:t> a very ancient</a:t>
            </a:r>
            <a:r>
              <a:rPr lang="en-US" altLang="zh-CN" sz="2400" dirty="0"/>
              <a:t> lineage of hominids and Homo sapiens in China and a high level </a:t>
            </a:r>
            <a:r>
              <a:rPr lang="en-US" altLang="zh-CN" sz="2400" spc="20" dirty="0"/>
              <a:t>of sophistication in early culture. One example of this is </a:t>
            </a:r>
            <a:r>
              <a:rPr lang="en-US" altLang="zh-CN" sz="2400" spc="20" dirty="0" err="1">
                <a:solidFill>
                  <a:srgbClr val="C00000"/>
                </a:solidFill>
              </a:rPr>
              <a:t>Banpo</a:t>
            </a:r>
            <a:r>
              <a:rPr lang="en-US" altLang="zh-CN" sz="2400" dirty="0">
                <a:solidFill>
                  <a:srgbClr val="C00000"/>
                </a:solidFill>
              </a:rPr>
              <a:t> </a:t>
            </a:r>
            <a:r>
              <a:rPr lang="en-US" altLang="zh-CN" sz="2400" spc="30" dirty="0">
                <a:solidFill>
                  <a:srgbClr val="C00000"/>
                </a:solidFill>
              </a:rPr>
              <a:t>Village</a:t>
            </a:r>
            <a:r>
              <a:rPr lang="en-US" altLang="zh-CN" sz="2400" spc="30" dirty="0"/>
              <a:t>, near Xi’an, discovered in 1953 CE. </a:t>
            </a:r>
            <a:r>
              <a:rPr lang="en-US" altLang="zh-CN" sz="2400" spc="30" dirty="0" err="1"/>
              <a:t>Banpo</a:t>
            </a:r>
            <a:r>
              <a:rPr lang="en-US" altLang="zh-CN" sz="2400" spc="30" dirty="0"/>
              <a:t> is a Neolithic</a:t>
            </a:r>
            <a:r>
              <a:rPr lang="en-US" altLang="zh-CN" sz="2400" dirty="0"/>
              <a:t> </a:t>
            </a:r>
            <a:r>
              <a:rPr lang="en-US" altLang="zh-CN" sz="2400" spc="80" dirty="0"/>
              <a:t>village that was inhabited between 4500 and 3750 BCE and</a:t>
            </a:r>
            <a:r>
              <a:rPr lang="en-US" altLang="zh-CN" sz="2400" dirty="0"/>
              <a:t> </a:t>
            </a:r>
            <a:r>
              <a:rPr lang="en-US" altLang="zh-CN" sz="2400" spc="-10" dirty="0">
                <a:solidFill>
                  <a:srgbClr val="C00000"/>
                </a:solidFill>
              </a:rPr>
              <a:t>comprises</a:t>
            </a:r>
            <a:r>
              <a:rPr lang="en-US" altLang="zh-CN" sz="2400" spc="-10" dirty="0"/>
              <a:t> 45 houses with floors sunk into the ground for greater</a:t>
            </a:r>
            <a:r>
              <a:rPr lang="en-US" altLang="zh-CN" sz="2400" dirty="0"/>
              <a:t> stability. A trench encircling the village provided both protection </a:t>
            </a:r>
          </a:p>
        </p:txBody>
      </p:sp>
      <p:sp>
        <p:nvSpPr>
          <p:cNvPr id="6" name="矩形标注 5"/>
          <p:cNvSpPr/>
          <p:nvPr/>
        </p:nvSpPr>
        <p:spPr>
          <a:xfrm>
            <a:off x="7699942" y="4008032"/>
            <a:ext cx="871995" cy="341160"/>
          </a:xfrm>
          <a:prstGeom prst="wedgeRectCallout">
            <a:avLst>
              <a:gd name="adj1" fmla="val 35037"/>
              <a:gd name="adj2" fmla="val 93584"/>
            </a:avLst>
          </a:prstGeom>
          <a:solidFill>
            <a:schemeClr val="bg1"/>
          </a:solidFill>
          <a:ln>
            <a:solidFill>
              <a:srgbClr val="C6383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rgbClr val="D2553C"/>
                </a:solidFill>
              </a:rPr>
              <a:t>半坡村</a:t>
            </a:r>
          </a:p>
        </p:txBody>
      </p:sp>
      <p:grpSp>
        <p:nvGrpSpPr>
          <p:cNvPr id="8" name="组合 7"/>
          <p:cNvGrpSpPr/>
          <p:nvPr/>
        </p:nvGrpSpPr>
        <p:grpSpPr>
          <a:xfrm>
            <a:off x="856318" y="4534447"/>
            <a:ext cx="7975262" cy="689915"/>
            <a:chOff x="856318" y="4534447"/>
            <a:chExt cx="7975262" cy="689915"/>
          </a:xfrm>
        </p:grpSpPr>
        <p:sp>
          <p:nvSpPr>
            <p:cNvPr id="5" name="圆角矩形 4"/>
            <p:cNvSpPr/>
            <p:nvPr/>
          </p:nvSpPr>
          <p:spPr>
            <a:xfrm>
              <a:off x="7988929" y="4534447"/>
              <a:ext cx="842651"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856318" y="4896059"/>
              <a:ext cx="886757" cy="328303"/>
            </a:xfrm>
            <a:prstGeom prst="roundRect">
              <a:avLst/>
            </a:prstGeom>
            <a:solidFill>
              <a:srgbClr val="EDB89B">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9" name="图片 8">
            <a:hlinkClick r:id="rId6"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460" y="3048675"/>
            <a:ext cx="268800" cy="288000"/>
          </a:xfrm>
          <a:prstGeom prst="rect">
            <a:avLst/>
          </a:prstGeom>
        </p:spPr>
      </p:pic>
      <p:pic>
        <p:nvPicPr>
          <p:cNvPr id="10" name="Text B_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cstate="print">
            <a:extLst>
              <a:ext uri="{28A0092B-C50C-407E-A947-70E740481C1C}">
                <a14:useLocalDpi xmlns:a14="http://schemas.microsoft.com/office/drawing/2010/main" val="0"/>
              </a:ext>
            </a:extLst>
          </a:blip>
          <a:stretch>
            <a:fillRect/>
          </a:stretch>
        </p:blipFill>
        <p:spPr>
          <a:xfrm>
            <a:off x="173345" y="3051555"/>
            <a:ext cx="288000" cy="285120"/>
          </a:xfrm>
          <a:prstGeom prst="rect">
            <a:avLst/>
          </a:prstGeom>
        </p:spPr>
      </p:pic>
      <p:sp>
        <p:nvSpPr>
          <p:cNvPr id="12" name="矩形 11">
            <a:hlinkClick r:id="rId9" action="ppaction://hlinksldjump"/>
          </p:cNvPr>
          <p:cNvSpPr/>
          <p:nvPr/>
        </p:nvSpPr>
        <p:spPr>
          <a:xfrm>
            <a:off x="863451" y="1960498"/>
            <a:ext cx="110251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hlinkClick r:id="rId10" action="ppaction://hlinksldjump"/>
          </p:cNvPr>
          <p:cNvSpPr/>
          <p:nvPr/>
        </p:nvSpPr>
        <p:spPr>
          <a:xfrm>
            <a:off x="2267840" y="3429000"/>
            <a:ext cx="110251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hlinkClick r:id="rId11" action="ppaction://hlinksldjump"/>
          </p:cNvPr>
          <p:cNvSpPr/>
          <p:nvPr/>
        </p:nvSpPr>
        <p:spPr>
          <a:xfrm>
            <a:off x="5189564" y="3765309"/>
            <a:ext cx="172939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hlinkClick r:id="rId12" action="ppaction://hlinksldjump"/>
          </p:cNvPr>
          <p:cNvSpPr/>
          <p:nvPr/>
        </p:nvSpPr>
        <p:spPr>
          <a:xfrm>
            <a:off x="866721" y="5618668"/>
            <a:ext cx="125711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hlinkClick r:id="rId13" action="ppaction://hlinksldjump"/>
          </p:cNvPr>
          <p:cNvSpPr/>
          <p:nvPr/>
        </p:nvSpPr>
        <p:spPr>
          <a:xfrm>
            <a:off x="2164470" y="1196845"/>
            <a:ext cx="666711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hlinkClick r:id="rId13" action="ppaction://hlinksldjump"/>
          </p:cNvPr>
          <p:cNvSpPr/>
          <p:nvPr/>
        </p:nvSpPr>
        <p:spPr>
          <a:xfrm>
            <a:off x="877415" y="1562152"/>
            <a:ext cx="448664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8102736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nextCondLst>
                <p:cond evt="onClick" delay="0">
                  <p:tgtEl>
                    <p:spTgt spid="8"/>
                  </p:tgtEl>
                </p:cond>
              </p:nextCondLst>
            </p:seq>
            <p:seq concurrent="1" nextAc="seek">
              <p:cTn id="7" restart="whenNotActive" fill="hold" evtFilter="cancelBubble" nodeType="interactiveSeq">
                <p:stCondLst>
                  <p:cond evt="onClick" delay="0">
                    <p:tgtEl>
                      <p:spTgt spid="10"/>
                    </p:tgtEl>
                  </p:cond>
                </p:stCondLst>
                <p:endSync evt="end" delay="0">
                  <p:rtn val="all"/>
                </p:endSync>
                <p:childTnLst>
                  <p:par>
                    <p:cTn id="8" fill="hold">
                      <p:stCondLst>
                        <p:cond delay="0"/>
                      </p:stCondLst>
                      <p:childTnLst>
                        <p:par>
                          <p:cTn id="9" fill="hold">
                            <p:stCondLst>
                              <p:cond delay="0"/>
                            </p:stCondLst>
                            <p:childTnLst>
                              <p:par>
                                <p:cTn id="10" presetID="1" presetClass="mediacall" presetSubtype="0" fill="hold" nodeType="clickEffect">
                                  <p:stCondLst>
                                    <p:cond delay="0"/>
                                  </p:stCondLst>
                                  <p:childTnLst>
                                    <p:cmd type="call" cmd="playFrom(0.0)">
                                      <p:cBhvr>
                                        <p:cTn id="11" dur="1" fill="hold"/>
                                        <p:tgtEl>
                                          <p:spTgt spid="10"/>
                                        </p:tgtEl>
                                      </p:cBhvr>
                                    </p:cmd>
                                  </p:childTnLst>
                                </p:cTn>
                              </p:par>
                            </p:childTnLst>
                          </p:cTn>
                        </p:par>
                      </p:childTnLst>
                    </p:cTn>
                  </p:par>
                </p:childTnLst>
              </p:cTn>
              <p:nextCondLst>
                <p:cond evt="onClick" delay="0">
                  <p:tgtEl>
                    <p:spTgt spid="10"/>
                  </p:tgtEl>
                </p:cond>
              </p:nextCondLst>
            </p:seq>
            <p:audio>
              <p:cMediaNode vol="80000" numSld="2">
                <p:cTn id="12" fill="hold" display="0">
                  <p:stCondLst>
                    <p:cond delay="indefinite"/>
                  </p:stCondLst>
                  <p:endCondLst>
                    <p:cond evt="onStopAudio" delay="0">
                      <p:tgtEl>
                        <p:sldTgt/>
                      </p:tgtEl>
                    </p:cond>
                  </p:endCondLst>
                </p:cTn>
                <p:tgtEl>
                  <p:spTgt spid="10"/>
                </p:tgtEl>
              </p:cMediaNode>
            </p:audio>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C:\Users\senj\Desktop\按钮.png">
            <a:hlinkClick r:id="" action="ppaction://hlinkshowjump?jump=previous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3" name="Picture 3" descr="C:\Users\senj\Desktop\按钮.png">
            <a:hlinkClick r:id="" action="ppaction://hlinkshowjump?jump=next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4" name="文本框 3"/>
          <p:cNvSpPr txBox="1"/>
          <p:nvPr/>
        </p:nvSpPr>
        <p:spPr>
          <a:xfrm>
            <a:off x="792030" y="1147670"/>
            <a:ext cx="8100270" cy="5262979"/>
          </a:xfrm>
          <a:prstGeom prst="rect">
            <a:avLst/>
          </a:prstGeom>
          <a:noFill/>
        </p:spPr>
        <p:txBody>
          <a:bodyPr wrap="square" rtlCol="0">
            <a:spAutoFit/>
          </a:bodyPr>
          <a:lstStyle/>
          <a:p>
            <a:pPr algn="just"/>
            <a:r>
              <a:rPr lang="en-US" altLang="zh-CN" sz="2400" spc="-20" dirty="0"/>
              <a:t>from attack and </a:t>
            </a:r>
            <a:r>
              <a:rPr lang="en-US" altLang="zh-CN" sz="2400" spc="-20" dirty="0">
                <a:solidFill>
                  <a:srgbClr val="C00000"/>
                </a:solidFill>
              </a:rPr>
              <a:t>drainage</a:t>
            </a:r>
            <a:r>
              <a:rPr lang="en-US" altLang="zh-CN" sz="2400" spc="-20" dirty="0"/>
              <a:t> (while also helping to fence in domestic</a:t>
            </a:r>
            <a:r>
              <a:rPr lang="en-US" altLang="zh-CN" sz="2400" dirty="0"/>
              <a:t> animals) while man-made caves dug underground were used to </a:t>
            </a:r>
            <a:r>
              <a:rPr lang="en-US" altLang="zh-CN" sz="2400" spc="-10" dirty="0"/>
              <a:t>store food. The design of the village, and the </a:t>
            </a:r>
            <a:r>
              <a:rPr lang="en-US" altLang="zh-CN" sz="2400" spc="-10" dirty="0">
                <a:solidFill>
                  <a:srgbClr val="C00000"/>
                </a:solidFill>
              </a:rPr>
              <a:t>artifacts</a:t>
            </a:r>
            <a:r>
              <a:rPr lang="en-US" altLang="zh-CN" sz="2400" spc="-10" dirty="0"/>
              <a:t> discovered</a:t>
            </a:r>
            <a:r>
              <a:rPr lang="en-US" altLang="zh-CN" sz="2400" dirty="0"/>
              <a:t> </a:t>
            </a:r>
            <a:r>
              <a:rPr lang="en-US" altLang="zh-CN" sz="2400" spc="-50" dirty="0"/>
              <a:t>there (such as pottery and tools), argue for a very advanced culture</a:t>
            </a:r>
            <a:r>
              <a:rPr lang="en-US" altLang="zh-CN" sz="2400" dirty="0"/>
              <a:t> at the time it was constructed.</a:t>
            </a:r>
          </a:p>
          <a:p>
            <a:pPr algn="just"/>
            <a:r>
              <a:rPr lang="en-US" altLang="zh-CN" sz="2400" b="1" dirty="0">
                <a:solidFill>
                  <a:srgbClr val="C6383E"/>
                </a:solidFill>
              </a:rPr>
              <a:t>6</a:t>
            </a:r>
            <a:r>
              <a:rPr lang="en-US" altLang="zh-CN" sz="2400" dirty="0"/>
              <a:t>     </a:t>
            </a:r>
            <a:r>
              <a:rPr lang="en-US" altLang="zh-CN" sz="2400" spc="30" dirty="0"/>
              <a:t>It has generally been accepted that the Chinese “Cradle of</a:t>
            </a:r>
            <a:r>
              <a:rPr lang="en-US" altLang="zh-CN" sz="2400" dirty="0"/>
              <a:t> Civilization” is the Yellow River Valley, which gave rise to villages </a:t>
            </a:r>
            <a:r>
              <a:rPr lang="en-US" altLang="zh-CN" sz="2400" spc="20" dirty="0"/>
              <a:t>sometime around 5000 BCE. While this has been disputed, and</a:t>
            </a:r>
            <a:r>
              <a:rPr lang="en-US" altLang="zh-CN" sz="2400" dirty="0"/>
              <a:t> </a:t>
            </a:r>
            <a:r>
              <a:rPr lang="en-US" altLang="zh-CN" sz="2400" spc="-50" dirty="0"/>
              <a:t>arguments have been made for the more widespread development</a:t>
            </a:r>
            <a:r>
              <a:rPr lang="en-US" altLang="zh-CN" sz="2400" dirty="0"/>
              <a:t> </a:t>
            </a:r>
            <a:r>
              <a:rPr lang="en-US" altLang="zh-CN" sz="2400" spc="30" dirty="0"/>
              <a:t>of communities, there is no doubt that Henan Province, in the</a:t>
            </a:r>
            <a:r>
              <a:rPr lang="en-US" altLang="zh-CN" sz="2400" dirty="0"/>
              <a:t> </a:t>
            </a:r>
            <a:r>
              <a:rPr lang="en-US" altLang="zh-CN" sz="2400" spc="-30" dirty="0"/>
              <a:t>Yellow River Valley, was the site of many early villages and farming</a:t>
            </a:r>
            <a:r>
              <a:rPr lang="en-US" altLang="zh-CN" sz="2400" dirty="0"/>
              <a:t> communities.</a:t>
            </a:r>
          </a:p>
          <a:p>
            <a:pPr algn="just"/>
            <a:r>
              <a:rPr lang="en-US" altLang="zh-CN" sz="2400" b="1" dirty="0">
                <a:solidFill>
                  <a:srgbClr val="C6383E"/>
                </a:solidFill>
              </a:rPr>
              <a:t>7</a:t>
            </a:r>
            <a:r>
              <a:rPr lang="en-US" altLang="zh-CN" sz="2400" dirty="0"/>
              <a:t>     In 2001 CE, archaeologists uncovered two </a:t>
            </a:r>
            <a:r>
              <a:rPr lang="en-US" altLang="zh-CN" sz="2400" dirty="0">
                <a:solidFill>
                  <a:srgbClr val="C00000"/>
                </a:solidFill>
              </a:rPr>
              <a:t>skeletons</a:t>
            </a:r>
            <a:r>
              <a:rPr lang="en-US" altLang="zh-CN" sz="2400" dirty="0"/>
              <a:t> “buried in a collapsed house, which was covered with a thick layer of silt </a:t>
            </a:r>
          </a:p>
        </p:txBody>
      </p:sp>
      <p:pic>
        <p:nvPicPr>
          <p:cNvPr id="6" name="图片 5">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5609470"/>
            <a:ext cx="268800" cy="288000"/>
          </a:xfrm>
          <a:prstGeom prst="rect">
            <a:avLst/>
          </a:prstGeom>
        </p:spPr>
      </p:pic>
      <p:pic>
        <p:nvPicPr>
          <p:cNvPr id="7" name="图片 6">
            <a:hlinkClick r:id="rId10"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3048675"/>
            <a:ext cx="268800" cy="288000"/>
          </a:xfrm>
          <a:prstGeom prst="rect">
            <a:avLst/>
          </a:prstGeom>
        </p:spPr>
      </p:pic>
      <p:pic>
        <p:nvPicPr>
          <p:cNvPr id="9" name="Text B_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1" cstate="print">
            <a:extLst>
              <a:ext uri="{28A0092B-C50C-407E-A947-70E740481C1C}">
                <a14:useLocalDpi xmlns:a14="http://schemas.microsoft.com/office/drawing/2010/main" val="0"/>
              </a:ext>
            </a:extLst>
          </a:blip>
          <a:stretch>
            <a:fillRect/>
          </a:stretch>
        </p:blipFill>
        <p:spPr>
          <a:xfrm>
            <a:off x="173345" y="3051555"/>
            <a:ext cx="288000" cy="285120"/>
          </a:xfrm>
          <a:prstGeom prst="rect">
            <a:avLst/>
          </a:prstGeom>
        </p:spPr>
      </p:pic>
      <p:pic>
        <p:nvPicPr>
          <p:cNvPr id="10" name="Text B_7">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1" cstate="print">
            <a:extLst>
              <a:ext uri="{28A0092B-C50C-407E-A947-70E740481C1C}">
                <a14:useLocalDpi xmlns:a14="http://schemas.microsoft.com/office/drawing/2010/main" val="0"/>
              </a:ext>
            </a:extLst>
          </a:blip>
          <a:stretch>
            <a:fillRect/>
          </a:stretch>
        </p:blipFill>
        <p:spPr>
          <a:xfrm>
            <a:off x="170433" y="5609470"/>
            <a:ext cx="288000" cy="285120"/>
          </a:xfrm>
          <a:prstGeom prst="rect">
            <a:avLst/>
          </a:prstGeom>
        </p:spPr>
      </p:pic>
      <p:sp>
        <p:nvSpPr>
          <p:cNvPr id="11" name="矩形 10">
            <a:hlinkClick r:id="rId12" action="ppaction://hlinksldjump"/>
          </p:cNvPr>
          <p:cNvSpPr/>
          <p:nvPr/>
        </p:nvSpPr>
        <p:spPr>
          <a:xfrm>
            <a:off x="2857460" y="1230750"/>
            <a:ext cx="109859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hlinkClick r:id="rId13" action="ppaction://hlinksldjump"/>
          </p:cNvPr>
          <p:cNvSpPr/>
          <p:nvPr/>
        </p:nvSpPr>
        <p:spPr>
          <a:xfrm>
            <a:off x="6376888" y="1950137"/>
            <a:ext cx="102880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hlinkClick r:id="rId14" action="ppaction://hlinksldjump"/>
          </p:cNvPr>
          <p:cNvSpPr/>
          <p:nvPr/>
        </p:nvSpPr>
        <p:spPr>
          <a:xfrm>
            <a:off x="6600840" y="5593816"/>
            <a:ext cx="122236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342474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8186" fill="hold"/>
                                        <p:tgtEl>
                                          <p:spTgt spid="9"/>
                                        </p:tgtEl>
                                      </p:cBhvr>
                                    </p:cmd>
                                  </p:childTnLst>
                                </p:cTn>
                              </p:par>
                            </p:childTnLst>
                          </p:cTn>
                        </p:par>
                      </p:childTnLst>
                    </p:cTn>
                  </p:par>
                </p:childTnLst>
              </p:cTn>
              <p:nextCondLst>
                <p:cond evt="onClick" delay="0">
                  <p:tgtEl>
                    <p:spTgt spid="9"/>
                  </p:tgtEl>
                </p:cond>
              </p:nextCondLst>
            </p:seq>
            <p:audio>
              <p:cMediaNode vol="80000">
                <p:cTn id="7" fill="hold" display="0">
                  <p:stCondLst>
                    <p:cond delay="indefinite"/>
                  </p:stCondLst>
                  <p:endCondLst>
                    <p:cond evt="onStopAudio" delay="0">
                      <p:tgtEl>
                        <p:sldTgt/>
                      </p:tgtEl>
                    </p:cond>
                  </p:endCondLst>
                </p:cTn>
                <p:tgtEl>
                  <p:spTgt spid="9"/>
                </p:tgtEl>
              </p:cMediaNode>
            </p:audi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 fill="hold"/>
                                        <p:tgtEl>
                                          <p:spTgt spid="10"/>
                                        </p:tgtEl>
                                      </p:cBhvr>
                                    </p:cmd>
                                  </p:childTnLst>
                                </p:cTn>
                              </p:par>
                            </p:childTnLst>
                          </p:cTn>
                        </p:par>
                      </p:childTnLst>
                    </p:cTn>
                  </p:par>
                </p:childTnLst>
              </p:cTn>
              <p:nextCondLst>
                <p:cond evt="onClick" delay="0">
                  <p:tgtEl>
                    <p:spTgt spid="10"/>
                  </p:tgtEl>
                </p:cond>
              </p:nextCondLst>
            </p:seq>
            <p:audio>
              <p:cMediaNode vol="80000" numSld="2">
                <p:cTn id="13" fill="hold" display="0">
                  <p:stCondLst>
                    <p:cond delay="indefinite"/>
                  </p:stCondLst>
                  <p:endCondLst>
                    <p:cond evt="onStopAudio" delay="0">
                      <p:tgtEl>
                        <p:sldTgt/>
                      </p:tgtEl>
                    </p:cond>
                  </p:endCondLst>
                </p:cTn>
                <p:tgtEl>
                  <p:spTgt spid="10"/>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92030" y="1147670"/>
            <a:ext cx="8100270" cy="4524315"/>
          </a:xfrm>
          <a:prstGeom prst="rect">
            <a:avLst/>
          </a:prstGeom>
          <a:noFill/>
        </p:spPr>
        <p:txBody>
          <a:bodyPr wrap="square" rtlCol="0">
            <a:spAutoFit/>
          </a:bodyPr>
          <a:lstStyle/>
          <a:p>
            <a:pPr algn="just"/>
            <a:r>
              <a:rPr lang="en-US" altLang="zh-CN" sz="2400" spc="-80" dirty="0"/>
              <a:t>deposits from the Yellow River. In the layer of deposits, archaeologists</a:t>
            </a:r>
            <a:r>
              <a:rPr lang="en-US" altLang="zh-CN" sz="2400" dirty="0"/>
              <a:t> </a:t>
            </a:r>
            <a:r>
              <a:rPr lang="en-US" altLang="zh-CN" sz="2400" spc="40" dirty="0"/>
              <a:t>found more than 20 skeletons, an altar, a square, pottery, and</a:t>
            </a:r>
            <a:r>
              <a:rPr lang="en-US" altLang="zh-CN" sz="2400" dirty="0"/>
              <a:t> </a:t>
            </a:r>
            <a:r>
              <a:rPr lang="en-US" altLang="zh-CN" sz="2400" spc="-40" dirty="0"/>
              <a:t>stone and jade </a:t>
            </a:r>
            <a:r>
              <a:rPr lang="en-US" altLang="zh-CN" sz="2400" spc="-40" dirty="0">
                <a:solidFill>
                  <a:srgbClr val="C00000"/>
                </a:solidFill>
              </a:rPr>
              <a:t>utensils</a:t>
            </a:r>
            <a:r>
              <a:rPr lang="en-US" altLang="zh-CN" sz="2400" spc="-40" dirty="0"/>
              <a:t>”. This site was only one of many prehistoric</a:t>
            </a:r>
            <a:r>
              <a:rPr lang="en-US" altLang="zh-CN" sz="2400" dirty="0"/>
              <a:t> villages in the area.</a:t>
            </a:r>
          </a:p>
          <a:p>
            <a:pPr algn="just"/>
            <a:r>
              <a:rPr lang="en-US" altLang="zh-CN" sz="2400" b="1" dirty="0">
                <a:solidFill>
                  <a:srgbClr val="C6383E"/>
                </a:solidFill>
              </a:rPr>
              <a:t>8</a:t>
            </a:r>
            <a:r>
              <a:rPr lang="en-US" altLang="zh-CN" sz="2400" dirty="0"/>
              <a:t>     </a:t>
            </a:r>
            <a:r>
              <a:rPr lang="en-US" altLang="zh-CN" sz="2400" spc="60" dirty="0"/>
              <a:t>From these small villages and farming communities grew</a:t>
            </a:r>
            <a:r>
              <a:rPr lang="en-US" altLang="zh-CN" sz="2400" dirty="0"/>
              <a:t> </a:t>
            </a:r>
            <a:r>
              <a:rPr lang="en-US" altLang="zh-CN" sz="2400" spc="40" dirty="0"/>
              <a:t>centralized government; the first of which was the prehistoric</a:t>
            </a:r>
            <a:r>
              <a:rPr lang="en-US" altLang="zh-CN" sz="2400" dirty="0"/>
              <a:t> </a:t>
            </a:r>
            <a:r>
              <a:rPr lang="en-US" altLang="zh-CN" sz="2400" spc="-10" dirty="0"/>
              <a:t>Xia dynasty (c. 2070–1600 BCE). </a:t>
            </a:r>
            <a:r>
              <a:rPr lang="en-US" altLang="zh-CN" sz="2400" u="sng" spc="-10" dirty="0">
                <a:solidFill>
                  <a:srgbClr val="0070C0"/>
                </a:solidFill>
              </a:rPr>
              <a:t>The Xia dynasty was considered</a:t>
            </a:r>
            <a:r>
              <a:rPr lang="en-US" altLang="zh-CN" sz="2400" u="sng" dirty="0">
                <a:solidFill>
                  <a:srgbClr val="0070C0"/>
                </a:solidFill>
              </a:rPr>
              <a:t>, </a:t>
            </a:r>
            <a:r>
              <a:rPr lang="en-US" altLang="zh-CN" sz="2400" u="sng" spc="60" dirty="0">
                <a:solidFill>
                  <a:srgbClr val="0070C0"/>
                </a:solidFill>
              </a:rPr>
              <a:t>for many years, more myth than fact until </a:t>
            </a:r>
            <a:r>
              <a:rPr lang="en-US" altLang="zh-CN" sz="2400" u="sng" spc="60" dirty="0">
                <a:solidFill>
                  <a:srgbClr val="C00000"/>
                </a:solidFill>
              </a:rPr>
              <a:t>excavations</a:t>
            </a:r>
            <a:r>
              <a:rPr lang="en-US" altLang="zh-CN" sz="2400" u="sng" spc="60" dirty="0">
                <a:solidFill>
                  <a:srgbClr val="0070C0"/>
                </a:solidFill>
              </a:rPr>
              <a:t> in the</a:t>
            </a:r>
            <a:r>
              <a:rPr lang="en-US" altLang="zh-CN" sz="2400" u="sng" dirty="0">
                <a:solidFill>
                  <a:srgbClr val="0070C0"/>
                </a:solidFill>
              </a:rPr>
              <a:t> </a:t>
            </a:r>
            <a:r>
              <a:rPr lang="en-US" altLang="zh-CN" sz="2400" u="sng" spc="10" dirty="0">
                <a:solidFill>
                  <a:srgbClr val="0070C0"/>
                </a:solidFill>
              </a:rPr>
              <a:t>1960s and 1970s CE uncovered sites that argued strongly for its</a:t>
            </a:r>
            <a:r>
              <a:rPr lang="en-US" altLang="zh-CN" sz="2400" u="sng" dirty="0">
                <a:solidFill>
                  <a:srgbClr val="0070C0"/>
                </a:solidFill>
              </a:rPr>
              <a:t> </a:t>
            </a:r>
            <a:r>
              <a:rPr lang="en-US" altLang="zh-CN" sz="2400" u="sng" spc="-50" dirty="0">
                <a:solidFill>
                  <a:srgbClr val="0070C0"/>
                </a:solidFill>
              </a:rPr>
              <a:t>existence.</a:t>
            </a:r>
            <a:r>
              <a:rPr lang="en-US" altLang="zh-CN" sz="2400" spc="-50" dirty="0"/>
              <a:t> Bronze works and tombs clearly point to an evolutionary</a:t>
            </a:r>
            <a:r>
              <a:rPr lang="en-US" altLang="zh-CN" sz="2400" dirty="0"/>
              <a:t> </a:t>
            </a:r>
            <a:r>
              <a:rPr lang="en-US" altLang="zh-CN" sz="2400" spc="-20" dirty="0"/>
              <a:t>period of development between </a:t>
            </a:r>
            <a:r>
              <a:rPr lang="en-US" altLang="zh-CN" sz="2400" spc="-20" dirty="0">
                <a:solidFill>
                  <a:srgbClr val="C00000"/>
                </a:solidFill>
              </a:rPr>
              <a:t>disparate</a:t>
            </a:r>
            <a:r>
              <a:rPr lang="en-US" altLang="zh-CN" sz="2400" spc="-20" dirty="0"/>
              <a:t> Stone Age villages and</a:t>
            </a:r>
            <a:r>
              <a:rPr lang="en-US" altLang="zh-CN" sz="2400" dirty="0"/>
              <a:t> a recognizable </a:t>
            </a:r>
            <a:r>
              <a:rPr lang="en-US" altLang="zh-CN" sz="2400" dirty="0">
                <a:solidFill>
                  <a:srgbClr val="C00000"/>
                </a:solidFill>
              </a:rPr>
              <a:t>cohesive</a:t>
            </a:r>
            <a:r>
              <a:rPr lang="en-US" altLang="zh-CN" sz="2400" dirty="0"/>
              <a:t> civilization.</a:t>
            </a:r>
          </a:p>
        </p:txBody>
      </p:sp>
      <p:pic>
        <p:nvPicPr>
          <p:cNvPr id="5"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6" name="Picture 3" descr="C:\Users\senj\Desktop\按钮.png"/>
          <p:cNvPicPr>
            <a:picLocks noChangeAspect="1" noChangeArrowheads="1"/>
          </p:cNvPicPr>
          <p:nvPr/>
        </p:nvPicPr>
        <p:blipFill>
          <a:blip r:embed="rId6" cstate="print"/>
          <a:srcRect l="12911" t="21436" r="39626" b="60503"/>
          <a:stretch>
            <a:fillRect/>
          </a:stretch>
        </p:blipFill>
        <p:spPr bwMode="auto">
          <a:xfrm rot="10800000">
            <a:off x="8721754" y="6429396"/>
            <a:ext cx="259557" cy="254794"/>
          </a:xfrm>
          <a:prstGeom prst="rect">
            <a:avLst/>
          </a:prstGeom>
          <a:noFill/>
        </p:spPr>
      </p:pic>
      <p:pic>
        <p:nvPicPr>
          <p:cNvPr id="7" name="图片 6">
            <a:hlinkClick r:id="rId7" action="ppaction://hlinksldjump"/>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28460" y="2688650"/>
            <a:ext cx="268800" cy="288000"/>
          </a:xfrm>
          <a:prstGeom prst="rect">
            <a:avLst/>
          </a:prstGeom>
        </p:spPr>
      </p:pic>
      <p:pic>
        <p:nvPicPr>
          <p:cNvPr id="2" name="Text B_8">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cstate="print">
            <a:extLst>
              <a:ext uri="{28A0092B-C50C-407E-A947-70E740481C1C}">
                <a14:useLocalDpi xmlns:a14="http://schemas.microsoft.com/office/drawing/2010/main" val="0"/>
              </a:ext>
            </a:extLst>
          </a:blip>
          <a:stretch>
            <a:fillRect/>
          </a:stretch>
        </p:blipFill>
        <p:spPr>
          <a:xfrm>
            <a:off x="173345" y="2687995"/>
            <a:ext cx="288000" cy="285120"/>
          </a:xfrm>
          <a:prstGeom prst="rect">
            <a:avLst/>
          </a:prstGeom>
        </p:spPr>
      </p:pic>
      <p:sp>
        <p:nvSpPr>
          <p:cNvPr id="9" name="矩形 8">
            <a:hlinkClick r:id="rId10" action="ppaction://hlinksldjump"/>
          </p:cNvPr>
          <p:cNvSpPr/>
          <p:nvPr/>
        </p:nvSpPr>
        <p:spPr>
          <a:xfrm>
            <a:off x="2678735" y="1932135"/>
            <a:ext cx="95720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hlinkClick r:id="rId11" action="ppaction://hlinksldjump"/>
          </p:cNvPr>
          <p:cNvSpPr/>
          <p:nvPr/>
        </p:nvSpPr>
        <p:spPr>
          <a:xfrm>
            <a:off x="4805329" y="3410956"/>
            <a:ext cx="4014965"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hlinkClick r:id="rId11" action="ppaction://hlinksldjump"/>
          </p:cNvPr>
          <p:cNvSpPr/>
          <p:nvPr/>
        </p:nvSpPr>
        <p:spPr>
          <a:xfrm>
            <a:off x="820606" y="3782261"/>
            <a:ext cx="8028264"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hlinkClick r:id="rId11" action="ppaction://hlinksldjump"/>
          </p:cNvPr>
          <p:cNvSpPr/>
          <p:nvPr/>
        </p:nvSpPr>
        <p:spPr>
          <a:xfrm>
            <a:off x="820606" y="4133810"/>
            <a:ext cx="8028264"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hlinkClick r:id="rId11" action="ppaction://hlinksldjump"/>
          </p:cNvPr>
          <p:cNvSpPr/>
          <p:nvPr/>
        </p:nvSpPr>
        <p:spPr>
          <a:xfrm>
            <a:off x="820606" y="4523266"/>
            <a:ext cx="1231219"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hlinkClick r:id="rId12" action="ppaction://hlinksldjump"/>
          </p:cNvPr>
          <p:cNvSpPr/>
          <p:nvPr/>
        </p:nvSpPr>
        <p:spPr>
          <a:xfrm>
            <a:off x="6417845" y="3770125"/>
            <a:ext cx="153839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hlinkClick r:id="rId13" action="ppaction://hlinksldjump"/>
          </p:cNvPr>
          <p:cNvSpPr/>
          <p:nvPr/>
        </p:nvSpPr>
        <p:spPr>
          <a:xfrm>
            <a:off x="4860020" y="4886466"/>
            <a:ext cx="115208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hlinkClick r:id="rId14" action="ppaction://hlinksldjump"/>
          </p:cNvPr>
          <p:cNvSpPr/>
          <p:nvPr/>
        </p:nvSpPr>
        <p:spPr>
          <a:xfrm>
            <a:off x="2691435" y="5240141"/>
            <a:ext cx="1152080" cy="33630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752921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42109"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60000" y="1133951"/>
            <a:ext cx="8532300" cy="1938992"/>
          </a:xfrm>
          <a:prstGeom prst="rect">
            <a:avLst/>
          </a:prstGeom>
          <a:noFill/>
        </p:spPr>
        <p:txBody>
          <a:bodyPr wrap="square" rtlCol="0">
            <a:spAutoFit/>
          </a:bodyPr>
          <a:lstStyle/>
          <a:p>
            <a:pPr algn="just"/>
            <a:r>
              <a:rPr lang="en-US" altLang="zh-CN" sz="2400" b="1" dirty="0">
                <a:solidFill>
                  <a:srgbClr val="C6383E"/>
                </a:solidFill>
              </a:rPr>
              <a:t>Task 1</a:t>
            </a:r>
          </a:p>
          <a:p>
            <a:pPr algn="just"/>
            <a:r>
              <a:rPr lang="en-US" altLang="zh-CN" sz="2400" spc="30" dirty="0">
                <a:latin typeface="Cambria" panose="02040503050406030204" pitchFamily="18" charset="0"/>
                <a:ea typeface="Cambria" panose="02040503050406030204" pitchFamily="18" charset="0"/>
              </a:rPr>
              <a:t>Each of the following statements contains information given in</a:t>
            </a:r>
            <a:r>
              <a:rPr lang="en-US" altLang="zh-CN" sz="2400" dirty="0">
                <a:latin typeface="Cambria" panose="02040503050406030204" pitchFamily="18" charset="0"/>
                <a:ea typeface="Cambria" panose="02040503050406030204" pitchFamily="18" charset="0"/>
              </a:rPr>
              <a:t> </a:t>
            </a:r>
            <a:r>
              <a:rPr lang="en-US" altLang="zh-CN" sz="2400" spc="-40" dirty="0">
                <a:latin typeface="Cambria" panose="02040503050406030204" pitchFamily="18" charset="0"/>
                <a:ea typeface="Cambria" panose="02040503050406030204" pitchFamily="18" charset="0"/>
              </a:rPr>
              <a:t>one of the paragraphs of Text B. Identify the paragraph from which</a:t>
            </a:r>
            <a:r>
              <a:rPr lang="en-US" altLang="zh-CN" sz="2400" dirty="0">
                <a:latin typeface="Cambria" panose="02040503050406030204" pitchFamily="18" charset="0"/>
                <a:ea typeface="Cambria" panose="02040503050406030204" pitchFamily="18" charset="0"/>
              </a:rPr>
              <a:t> </a:t>
            </a:r>
            <a:r>
              <a:rPr lang="en-US" altLang="zh-CN" sz="2400" spc="30" dirty="0">
                <a:latin typeface="Cambria" panose="02040503050406030204" pitchFamily="18" charset="0"/>
                <a:ea typeface="Cambria" panose="02040503050406030204" pitchFamily="18" charset="0"/>
              </a:rPr>
              <a:t>the information is derived, and write the paragraph number in</a:t>
            </a:r>
            <a:r>
              <a:rPr lang="en-US" altLang="zh-CN" sz="2400" dirty="0">
                <a:latin typeface="Cambria" panose="02040503050406030204" pitchFamily="18" charset="0"/>
                <a:ea typeface="Cambria" panose="02040503050406030204" pitchFamily="18" charset="0"/>
              </a:rPr>
              <a:t> the blank. You may choose a paragraph more than once.</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7" name="文本框 16"/>
          <p:cNvSpPr txBox="1"/>
          <p:nvPr/>
        </p:nvSpPr>
        <p:spPr>
          <a:xfrm>
            <a:off x="366165" y="3303657"/>
            <a:ext cx="1757665" cy="2677656"/>
          </a:xfrm>
          <a:prstGeom prst="rect">
            <a:avLst/>
          </a:prstGeom>
          <a:noFill/>
        </p:spPr>
        <p:txBody>
          <a:bodyPr wrap="square" rtlCol="0">
            <a:spAutoFit/>
          </a:bodyPr>
          <a:lstStyle/>
          <a:p>
            <a:r>
              <a:rPr lang="en-US" altLang="zh-CN" sz="2400" dirty="0"/>
              <a:t>____</a:t>
            </a:r>
            <a:r>
              <a:rPr lang="en-US" altLang="zh-CN" sz="2400" b="1" dirty="0">
                <a:solidFill>
                  <a:srgbClr val="D2553C"/>
                </a:solidFill>
              </a:rPr>
              <a:t> </a:t>
            </a:r>
            <a:r>
              <a:rPr lang="en-US" altLang="zh-CN" sz="2400" b="1" dirty="0">
                <a:solidFill>
                  <a:srgbClr val="C6383E"/>
                </a:solidFill>
              </a:rPr>
              <a:t>A</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B</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C</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D</a:t>
            </a:r>
          </a:p>
        </p:txBody>
      </p:sp>
      <p:sp>
        <p:nvSpPr>
          <p:cNvPr id="18" name="文本框 17"/>
          <p:cNvSpPr txBox="1"/>
          <p:nvPr/>
        </p:nvSpPr>
        <p:spPr>
          <a:xfrm>
            <a:off x="1343025" y="3303657"/>
            <a:ext cx="7549275" cy="3046988"/>
          </a:xfrm>
          <a:prstGeom prst="rect">
            <a:avLst/>
          </a:prstGeom>
          <a:noFill/>
        </p:spPr>
        <p:txBody>
          <a:bodyPr wrap="square" rtlCol="0">
            <a:spAutoFit/>
          </a:bodyPr>
          <a:lstStyle/>
          <a:p>
            <a:r>
              <a:rPr lang="en-US" altLang="zh-CN" sz="2400" spc="-20" dirty="0"/>
              <a:t>The Yellow River Valley is considered as the cradle of Chinese</a:t>
            </a:r>
            <a:r>
              <a:rPr lang="en-US" altLang="zh-CN" sz="2400" dirty="0"/>
              <a:t> civilization.</a:t>
            </a:r>
          </a:p>
          <a:p>
            <a:r>
              <a:rPr lang="en-US" altLang="zh-CN" sz="2400" spc="-20" dirty="0"/>
              <a:t>Before the 1960s, there was not much proof of the existence</a:t>
            </a:r>
            <a:r>
              <a:rPr lang="en-US" altLang="zh-CN" sz="2400" dirty="0"/>
              <a:t> of the Xia dynasty.</a:t>
            </a:r>
          </a:p>
          <a:p>
            <a:r>
              <a:rPr lang="en-US" altLang="zh-CN" sz="2400" spc="-60" dirty="0"/>
              <a:t>Some Chinese paleoanthropologists disagree with the common</a:t>
            </a:r>
            <a:r>
              <a:rPr lang="en-US" altLang="zh-CN" sz="2400" dirty="0"/>
              <a:t> belief that human beings originated in Africa.</a:t>
            </a:r>
          </a:p>
          <a:p>
            <a:r>
              <a:rPr lang="en-US" altLang="zh-CN" sz="2400" spc="-10" dirty="0"/>
              <a:t>The artifacts discovered in </a:t>
            </a:r>
            <a:r>
              <a:rPr lang="en-US" altLang="zh-CN" sz="2400" spc="-10" dirty="0" err="1"/>
              <a:t>Banpo</a:t>
            </a:r>
            <a:r>
              <a:rPr lang="en-US" altLang="zh-CN" sz="2400" spc="-10" dirty="0"/>
              <a:t> Village indicate that a very</a:t>
            </a:r>
            <a:r>
              <a:rPr lang="en-US" altLang="zh-CN" sz="2400" dirty="0"/>
              <a:t> advanced culture existed there.</a:t>
            </a:r>
          </a:p>
        </p:txBody>
      </p:sp>
      <p:sp>
        <p:nvSpPr>
          <p:cNvPr id="20" name="文本框 19"/>
          <p:cNvSpPr txBox="1"/>
          <p:nvPr/>
        </p:nvSpPr>
        <p:spPr>
          <a:xfrm>
            <a:off x="595746" y="3306008"/>
            <a:ext cx="340158" cy="461665"/>
          </a:xfrm>
          <a:prstGeom prst="rect">
            <a:avLst/>
          </a:prstGeom>
          <a:noFill/>
        </p:spPr>
        <p:txBody>
          <a:bodyPr wrap="none" rtlCol="0">
            <a:spAutoFit/>
          </a:bodyPr>
          <a:lstStyle/>
          <a:p>
            <a:pPr algn="just"/>
            <a:r>
              <a:rPr lang="en-US" altLang="zh-CN" sz="2400" dirty="0">
                <a:solidFill>
                  <a:srgbClr val="FF0000"/>
                </a:solidFill>
              </a:rPr>
              <a:t>6</a:t>
            </a:r>
            <a:endParaRPr lang="zh-CN" altLang="en-US" sz="2400" dirty="0">
              <a:solidFill>
                <a:srgbClr val="FF0000"/>
              </a:solidFill>
            </a:endParaRPr>
          </a:p>
        </p:txBody>
      </p:sp>
      <p:pic>
        <p:nvPicPr>
          <p:cNvPr id="21" name="钥匙2" descr="C:\Users\senj\Desktop\新建文件夹\答案.png" hidden="1">
            <a:hlinkClick r:id="" action="ppaction://noaction"/>
          </p:cNvPr>
          <p:cNvPicPr>
            <a:picLocks noChangeAspect="1" noChangeArrowheads="1"/>
          </p:cNvPicPr>
          <p:nvPr/>
        </p:nvPicPr>
        <p:blipFill>
          <a:blip r:embed="rId2" cstate="print"/>
          <a:srcRect/>
          <a:stretch>
            <a:fillRect/>
          </a:stretch>
        </p:blipFill>
        <p:spPr bwMode="auto">
          <a:xfrm>
            <a:off x="95139" y="1592895"/>
            <a:ext cx="324000" cy="324000"/>
          </a:xfrm>
          <a:prstGeom prst="rect">
            <a:avLst/>
          </a:prstGeom>
          <a:noFill/>
        </p:spPr>
      </p:pic>
      <p:pic>
        <p:nvPicPr>
          <p:cNvPr id="22" name="Picture 3" descr="C:\Users\senj\Desktop\按钮.png"/>
          <p:cNvPicPr>
            <a:picLocks noChangeAspect="1" noChangeArrowheads="1"/>
          </p:cNvPicPr>
          <p:nvPr/>
        </p:nvPicPr>
        <p:blipFill>
          <a:blip r:embed="rId3" cstate="print"/>
          <a:srcRect l="12911" t="21436" r="39626" b="60503"/>
          <a:stretch>
            <a:fillRect/>
          </a:stretch>
        </p:blipFill>
        <p:spPr bwMode="auto">
          <a:xfrm>
            <a:off x="8366400" y="6429396"/>
            <a:ext cx="259557" cy="254794"/>
          </a:xfrm>
          <a:prstGeom prst="rect">
            <a:avLst/>
          </a:prstGeom>
          <a:noFill/>
        </p:spPr>
      </p:pic>
      <p:pic>
        <p:nvPicPr>
          <p:cNvPr id="23" name="Picture 3" descr="C:\Users\senj\Desktop\按钮.png">
            <a:hlinkClick r:id="" action="ppaction://hlinkshowjump?jump=next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24" name="文本框 23"/>
          <p:cNvSpPr txBox="1"/>
          <p:nvPr/>
        </p:nvSpPr>
        <p:spPr>
          <a:xfrm>
            <a:off x="595746" y="4041254"/>
            <a:ext cx="340158" cy="461665"/>
          </a:xfrm>
          <a:prstGeom prst="rect">
            <a:avLst/>
          </a:prstGeom>
          <a:noFill/>
        </p:spPr>
        <p:txBody>
          <a:bodyPr wrap="none" rtlCol="0">
            <a:spAutoFit/>
          </a:bodyPr>
          <a:lstStyle/>
          <a:p>
            <a:pPr algn="just"/>
            <a:r>
              <a:rPr lang="en-US" altLang="zh-CN" sz="2400" dirty="0">
                <a:solidFill>
                  <a:srgbClr val="FF0000"/>
                </a:solidFill>
              </a:rPr>
              <a:t>8</a:t>
            </a:r>
            <a:endParaRPr lang="zh-CN" altLang="en-US" sz="2400" dirty="0">
              <a:solidFill>
                <a:srgbClr val="FF0000"/>
              </a:solidFill>
            </a:endParaRPr>
          </a:p>
        </p:txBody>
      </p:sp>
      <p:sp>
        <p:nvSpPr>
          <p:cNvPr id="25" name="文本框 24"/>
          <p:cNvSpPr txBox="1"/>
          <p:nvPr/>
        </p:nvSpPr>
        <p:spPr>
          <a:xfrm>
            <a:off x="595746" y="4776500"/>
            <a:ext cx="340158" cy="461665"/>
          </a:xfrm>
          <a:prstGeom prst="rect">
            <a:avLst/>
          </a:prstGeom>
          <a:noFill/>
        </p:spPr>
        <p:txBody>
          <a:bodyPr wrap="none" rtlCol="0">
            <a:spAutoFit/>
          </a:bodyPr>
          <a:lstStyle/>
          <a:p>
            <a:pPr algn="just"/>
            <a:r>
              <a:rPr lang="en-US" altLang="zh-CN" sz="2400" dirty="0">
                <a:solidFill>
                  <a:srgbClr val="FF0000"/>
                </a:solidFill>
              </a:rPr>
              <a:t>4</a:t>
            </a:r>
            <a:endParaRPr lang="zh-CN" altLang="en-US" sz="2400" dirty="0">
              <a:solidFill>
                <a:srgbClr val="FF0000"/>
              </a:solidFill>
            </a:endParaRPr>
          </a:p>
        </p:txBody>
      </p:sp>
      <p:sp>
        <p:nvSpPr>
          <p:cNvPr id="26" name="文本框 25"/>
          <p:cNvSpPr txBox="1"/>
          <p:nvPr/>
        </p:nvSpPr>
        <p:spPr>
          <a:xfrm>
            <a:off x="595746" y="5511746"/>
            <a:ext cx="340158" cy="461665"/>
          </a:xfrm>
          <a:prstGeom prst="rect">
            <a:avLst/>
          </a:prstGeom>
          <a:noFill/>
        </p:spPr>
        <p:txBody>
          <a:bodyPr wrap="none" rtlCol="0">
            <a:spAutoFit/>
          </a:bodyPr>
          <a:lstStyle/>
          <a:p>
            <a:pPr algn="just"/>
            <a:r>
              <a:rPr lang="en-US" altLang="zh-CN" sz="2400" dirty="0">
                <a:solidFill>
                  <a:srgbClr val="FF0000"/>
                </a:solidFill>
              </a:rPr>
              <a:t>5</a:t>
            </a:r>
            <a:endParaRPr lang="zh-CN" altLang="en-US" sz="2400" dirty="0">
              <a:solidFill>
                <a:srgbClr val="FF0000"/>
              </a:solidFill>
            </a:endParaRPr>
          </a:p>
        </p:txBody>
      </p:sp>
      <p:sp>
        <p:nvSpPr>
          <p:cNvPr id="12" name="矩形 11"/>
          <p:cNvSpPr/>
          <p:nvPr/>
        </p:nvSpPr>
        <p:spPr>
          <a:xfrm>
            <a:off x="461365" y="3371850"/>
            <a:ext cx="599085" cy="30707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60118" y="3400425"/>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67337" y="4133401"/>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67337" y="4841623"/>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467337" y="5583219"/>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8198396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childTnLst>
              </p:cTn>
              <p:nextCondLst>
                <p:cond evt="onClick" delay="0">
                  <p:tgtEl>
                    <p:spTgt spid="21"/>
                  </p:tgtEl>
                </p:cond>
              </p:nextCondLst>
            </p:seq>
            <p:seq concurrent="1" nextAc="seek">
              <p:cTn id="13" restart="whenNotActive" fill="hold" evtFilter="cancelBubble" nodeType="interactiveSeq">
                <p:stCondLst>
                  <p:cond evt="onClick" delay="0">
                    <p:tgtEl>
                      <p:spTgt spid="13"/>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grpId="1" nodeType="clickEffect">
                                  <p:stCondLst>
                                    <p:cond delay="0"/>
                                  </p:stCondLst>
                                  <p:childTnLst>
                                    <p:set>
                                      <p:cBhvr>
                                        <p:cTn id="17" dur="1" fill="hold">
                                          <p:stCondLst>
                                            <p:cond delay="0"/>
                                          </p:stCondLst>
                                        </p:cTn>
                                        <p:tgtEl>
                                          <p:spTgt spid="20"/>
                                        </p:tgtEl>
                                        <p:attrNameLst>
                                          <p:attrName>style.visibility</p:attrName>
                                        </p:attrNameLst>
                                      </p:cBhvr>
                                      <p:to>
                                        <p:strVal val="visible"/>
                                      </p:to>
                                    </p:set>
                                  </p:childTnLst>
                                </p:cTn>
                              </p:par>
                            </p:childTnLst>
                          </p:cTn>
                        </p:par>
                      </p:childTnLst>
                    </p:cTn>
                  </p:par>
                </p:childTnLst>
              </p:cTn>
              <p:nextCondLst>
                <p:cond evt="onClick" delay="0">
                  <p:tgtEl>
                    <p:spTgt spid="13"/>
                  </p:tgtEl>
                </p:cond>
              </p:nextCondLst>
            </p:seq>
            <p:seq concurrent="1" nextAc="seek">
              <p:cTn id="18" restart="whenNotActive" fill="hold" evtFilter="cancelBubble" nodeType="interactiveSeq">
                <p:stCondLst>
                  <p:cond evt="onClick" delay="0">
                    <p:tgtEl>
                      <p:spTgt spid="14"/>
                    </p:tgtEl>
                  </p:cond>
                </p:stCondLst>
                <p:endSync evt="end" delay="0">
                  <p:rtn val="all"/>
                </p:endSync>
                <p:childTnLst>
                  <p:par>
                    <p:cTn id="19" fill="hold">
                      <p:stCondLst>
                        <p:cond delay="0"/>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23" restart="whenNotActive" fill="hold" evtFilter="cancelBubble" nodeType="interactiveSeq">
                <p:stCondLst>
                  <p:cond evt="onClick" delay="0">
                    <p:tgtEl>
                      <p:spTgt spid="15"/>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1" nodeType="clickEffect">
                                  <p:stCondLst>
                                    <p:cond delay="0"/>
                                  </p:stCondLst>
                                  <p:childTnLst>
                                    <p:set>
                                      <p:cBhvr>
                                        <p:cTn id="27"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childTnLst>
        </p:cTn>
      </p:par>
    </p:tnLst>
    <p:bldLst>
      <p:bldP spid="20" grpId="0"/>
      <p:bldP spid="20" grpId="1"/>
      <p:bldP spid="24" grpId="0"/>
      <p:bldP spid="24" grpId="1"/>
      <p:bldP spid="25" grpId="0"/>
      <p:bldP spid="25" grpId="1"/>
      <p:bldP spid="26" grpId="0"/>
      <p:bldP spid="26" grpId="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366165" y="1124840"/>
            <a:ext cx="1757665" cy="4154984"/>
          </a:xfrm>
          <a:prstGeom prst="rect">
            <a:avLst/>
          </a:prstGeom>
          <a:noFill/>
        </p:spPr>
        <p:txBody>
          <a:bodyPr wrap="square" rtlCol="0">
            <a:spAutoFit/>
          </a:bodyPr>
          <a:lstStyle/>
          <a:p>
            <a:r>
              <a:rPr lang="en-US" altLang="zh-CN" sz="2400" dirty="0"/>
              <a:t>____</a:t>
            </a:r>
            <a:r>
              <a:rPr lang="en-US" altLang="zh-CN" sz="2400" b="1" dirty="0">
                <a:solidFill>
                  <a:srgbClr val="D2553C"/>
                </a:solidFill>
              </a:rPr>
              <a:t> </a:t>
            </a:r>
            <a:r>
              <a:rPr lang="en-US" altLang="zh-CN" sz="2400" b="1" dirty="0">
                <a:solidFill>
                  <a:srgbClr val="C6383E"/>
                </a:solidFill>
              </a:rPr>
              <a:t>E</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F</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G</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H</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I</a:t>
            </a:r>
          </a:p>
          <a:p>
            <a:endParaRPr lang="en-US" altLang="zh-CN" sz="2400" b="1" dirty="0">
              <a:solidFill>
                <a:srgbClr val="C6383E"/>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J</a:t>
            </a:r>
          </a:p>
        </p:txBody>
      </p:sp>
      <p:sp>
        <p:nvSpPr>
          <p:cNvPr id="18" name="文本框 17"/>
          <p:cNvSpPr txBox="1"/>
          <p:nvPr/>
        </p:nvSpPr>
        <p:spPr>
          <a:xfrm>
            <a:off x="1343025" y="1124840"/>
            <a:ext cx="7549275" cy="4524315"/>
          </a:xfrm>
          <a:prstGeom prst="rect">
            <a:avLst/>
          </a:prstGeom>
          <a:noFill/>
        </p:spPr>
        <p:txBody>
          <a:bodyPr wrap="square" rtlCol="0">
            <a:spAutoFit/>
          </a:bodyPr>
          <a:lstStyle/>
          <a:p>
            <a:pPr algn="just"/>
            <a:r>
              <a:rPr lang="en-US" altLang="zh-CN" sz="2400" spc="-40" dirty="0"/>
              <a:t>As early as 1.7 million years ago, the early inhabitants in China</a:t>
            </a:r>
            <a:r>
              <a:rPr lang="en-US" altLang="zh-CN" sz="2400" dirty="0"/>
              <a:t> knew how to use fire.</a:t>
            </a:r>
          </a:p>
          <a:p>
            <a:pPr algn="just"/>
            <a:r>
              <a:rPr lang="en-US" altLang="zh-CN" sz="2400" spc="-40" dirty="0"/>
              <a:t>For the Romans and the Greeks, China was known as the land</a:t>
            </a:r>
            <a:r>
              <a:rPr lang="en-US" altLang="zh-CN" sz="2400" dirty="0"/>
              <a:t> that produced silk.</a:t>
            </a:r>
          </a:p>
          <a:p>
            <a:pPr algn="just"/>
            <a:r>
              <a:rPr lang="en-US" altLang="zh-CN" sz="2400" spc="70" dirty="0"/>
              <a:t>Henan Province was undoubtedly the site of many early</a:t>
            </a:r>
            <a:r>
              <a:rPr lang="en-US" altLang="zh-CN" sz="2400" dirty="0"/>
              <a:t> farming villages in prehistoric China.</a:t>
            </a:r>
          </a:p>
          <a:p>
            <a:pPr algn="just"/>
            <a:r>
              <a:rPr lang="en-US" altLang="zh-CN" sz="2400" spc="100" dirty="0"/>
              <a:t>The word “China” is derived from the name of the Qin</a:t>
            </a:r>
            <a:r>
              <a:rPr lang="en-US" altLang="zh-CN" sz="2400" dirty="0"/>
              <a:t> dynasty.</a:t>
            </a:r>
          </a:p>
          <a:p>
            <a:pPr algn="just"/>
            <a:r>
              <a:rPr lang="en-US" altLang="zh-CN" sz="2400" spc="10" dirty="0"/>
              <a:t>Peking Man is the name given to a skull fossil discovered in</a:t>
            </a:r>
            <a:r>
              <a:rPr lang="en-US" altLang="zh-CN" sz="2400" dirty="0"/>
              <a:t> the 1920s.</a:t>
            </a:r>
          </a:p>
          <a:p>
            <a:pPr algn="just"/>
            <a:r>
              <a:rPr lang="en-US" altLang="zh-CN" sz="2400" spc="30" dirty="0"/>
              <a:t>The Shu Ape is believed to stand as a “missing link” in the</a:t>
            </a:r>
            <a:r>
              <a:rPr lang="en-US" altLang="zh-CN" sz="2400" dirty="0"/>
              <a:t> evolutionary process.</a:t>
            </a:r>
          </a:p>
        </p:txBody>
      </p:sp>
      <p:sp>
        <p:nvSpPr>
          <p:cNvPr id="20" name="文本框 19"/>
          <p:cNvSpPr txBox="1"/>
          <p:nvPr/>
        </p:nvSpPr>
        <p:spPr>
          <a:xfrm>
            <a:off x="595746" y="1127191"/>
            <a:ext cx="340158" cy="461665"/>
          </a:xfrm>
          <a:prstGeom prst="rect">
            <a:avLst/>
          </a:prstGeom>
          <a:noFill/>
        </p:spPr>
        <p:txBody>
          <a:bodyPr wrap="none" rtlCol="0">
            <a:spAutoFit/>
          </a:bodyPr>
          <a:lstStyle/>
          <a:p>
            <a:pPr algn="just"/>
            <a:r>
              <a:rPr lang="en-US" altLang="zh-CN" sz="2400" dirty="0">
                <a:solidFill>
                  <a:srgbClr val="FF0000"/>
                </a:solidFill>
              </a:rPr>
              <a:t>3</a:t>
            </a:r>
            <a:endParaRPr lang="zh-CN" altLang="en-US" sz="2400" dirty="0">
              <a:solidFill>
                <a:srgbClr val="FF0000"/>
              </a:solidFill>
            </a:endParaRPr>
          </a:p>
        </p:txBody>
      </p:sp>
      <p:pic>
        <p:nvPicPr>
          <p:cNvPr id="7"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9" name="文本框 8"/>
          <p:cNvSpPr txBox="1"/>
          <p:nvPr/>
        </p:nvSpPr>
        <p:spPr>
          <a:xfrm>
            <a:off x="595746" y="1844890"/>
            <a:ext cx="340158" cy="461665"/>
          </a:xfrm>
          <a:prstGeom prst="rect">
            <a:avLst/>
          </a:prstGeom>
          <a:noFill/>
        </p:spPr>
        <p:txBody>
          <a:bodyPr wrap="none" rtlCol="0">
            <a:spAutoFit/>
          </a:bodyPr>
          <a:lstStyle/>
          <a:p>
            <a:pPr algn="just"/>
            <a:r>
              <a:rPr lang="en-US" altLang="zh-CN" sz="2400" dirty="0">
                <a:solidFill>
                  <a:srgbClr val="FF0000"/>
                </a:solidFill>
              </a:rPr>
              <a:t>2</a:t>
            </a:r>
            <a:endParaRPr lang="zh-CN" altLang="en-US" sz="2400" dirty="0">
              <a:solidFill>
                <a:srgbClr val="FF0000"/>
              </a:solidFill>
            </a:endParaRPr>
          </a:p>
        </p:txBody>
      </p:sp>
      <p:sp>
        <p:nvSpPr>
          <p:cNvPr id="10" name="文本框 9"/>
          <p:cNvSpPr txBox="1"/>
          <p:nvPr/>
        </p:nvSpPr>
        <p:spPr>
          <a:xfrm>
            <a:off x="595746" y="2593919"/>
            <a:ext cx="340158" cy="461665"/>
          </a:xfrm>
          <a:prstGeom prst="rect">
            <a:avLst/>
          </a:prstGeom>
          <a:noFill/>
        </p:spPr>
        <p:txBody>
          <a:bodyPr wrap="none" rtlCol="0">
            <a:spAutoFit/>
          </a:bodyPr>
          <a:lstStyle/>
          <a:p>
            <a:pPr algn="just"/>
            <a:r>
              <a:rPr lang="en-US" altLang="zh-CN" sz="2400" dirty="0">
                <a:solidFill>
                  <a:srgbClr val="FF0000"/>
                </a:solidFill>
              </a:rPr>
              <a:t>6</a:t>
            </a:r>
            <a:endParaRPr lang="zh-CN" altLang="en-US" sz="2400" dirty="0">
              <a:solidFill>
                <a:srgbClr val="FF0000"/>
              </a:solidFill>
            </a:endParaRPr>
          </a:p>
        </p:txBody>
      </p:sp>
      <p:sp>
        <p:nvSpPr>
          <p:cNvPr id="12" name="文本框 11"/>
          <p:cNvSpPr txBox="1"/>
          <p:nvPr/>
        </p:nvSpPr>
        <p:spPr>
          <a:xfrm>
            <a:off x="595746" y="3315587"/>
            <a:ext cx="340158" cy="461665"/>
          </a:xfrm>
          <a:prstGeom prst="rect">
            <a:avLst/>
          </a:prstGeom>
          <a:noFill/>
        </p:spPr>
        <p:txBody>
          <a:bodyPr wrap="none" rtlCol="0">
            <a:spAutoFit/>
          </a:bodyPr>
          <a:lstStyle/>
          <a:p>
            <a:pPr algn="just"/>
            <a:r>
              <a:rPr lang="en-US" altLang="zh-CN" sz="2400" dirty="0">
                <a:solidFill>
                  <a:srgbClr val="FF0000"/>
                </a:solidFill>
              </a:rPr>
              <a:t>1</a:t>
            </a:r>
            <a:endParaRPr lang="zh-CN" altLang="en-US" sz="2400" dirty="0">
              <a:solidFill>
                <a:srgbClr val="FF0000"/>
              </a:solidFill>
            </a:endParaRPr>
          </a:p>
        </p:txBody>
      </p:sp>
      <p:sp>
        <p:nvSpPr>
          <p:cNvPr id="13" name="文本框 12"/>
          <p:cNvSpPr txBox="1"/>
          <p:nvPr/>
        </p:nvSpPr>
        <p:spPr>
          <a:xfrm>
            <a:off x="592906" y="4037255"/>
            <a:ext cx="340158" cy="461665"/>
          </a:xfrm>
          <a:prstGeom prst="rect">
            <a:avLst/>
          </a:prstGeom>
          <a:noFill/>
        </p:spPr>
        <p:txBody>
          <a:bodyPr wrap="none" rtlCol="0">
            <a:spAutoFit/>
          </a:bodyPr>
          <a:lstStyle/>
          <a:p>
            <a:pPr algn="just"/>
            <a:r>
              <a:rPr lang="en-US" altLang="zh-CN" sz="2400" dirty="0">
                <a:solidFill>
                  <a:srgbClr val="FF0000"/>
                </a:solidFill>
              </a:rPr>
              <a:t>3</a:t>
            </a:r>
            <a:endParaRPr lang="zh-CN" altLang="en-US" sz="2400" dirty="0">
              <a:solidFill>
                <a:srgbClr val="FF0000"/>
              </a:solidFill>
            </a:endParaRPr>
          </a:p>
        </p:txBody>
      </p:sp>
      <p:sp>
        <p:nvSpPr>
          <p:cNvPr id="14" name="文本框 13"/>
          <p:cNvSpPr txBox="1"/>
          <p:nvPr/>
        </p:nvSpPr>
        <p:spPr>
          <a:xfrm>
            <a:off x="592906" y="4784089"/>
            <a:ext cx="340158" cy="461665"/>
          </a:xfrm>
          <a:prstGeom prst="rect">
            <a:avLst/>
          </a:prstGeom>
          <a:noFill/>
        </p:spPr>
        <p:txBody>
          <a:bodyPr wrap="none" rtlCol="0">
            <a:spAutoFit/>
          </a:bodyPr>
          <a:lstStyle/>
          <a:p>
            <a:pPr algn="just"/>
            <a:r>
              <a:rPr lang="en-US" altLang="zh-CN" sz="2400" dirty="0">
                <a:solidFill>
                  <a:srgbClr val="FF0000"/>
                </a:solidFill>
              </a:rPr>
              <a:t>4</a:t>
            </a:r>
            <a:endParaRPr lang="zh-CN" altLang="en-US" sz="2400" dirty="0">
              <a:solidFill>
                <a:srgbClr val="FF0000"/>
              </a:solidFill>
            </a:endParaRPr>
          </a:p>
        </p:txBody>
      </p:sp>
      <p:pic>
        <p:nvPicPr>
          <p:cNvPr id="16" name="钥匙2" descr="C:\Users\senj\Desktop\新建文件夹\答案.png" hidden="1">
            <a:hlinkClick r:id="" action="ppaction://noaction"/>
          </p:cNvPr>
          <p:cNvPicPr>
            <a:picLocks noChangeAspect="1" noChangeArrowheads="1"/>
          </p:cNvPicPr>
          <p:nvPr/>
        </p:nvPicPr>
        <p:blipFill>
          <a:blip r:embed="rId4" cstate="print"/>
          <a:srcRect/>
          <a:stretch>
            <a:fillRect/>
          </a:stretch>
        </p:blipFill>
        <p:spPr bwMode="auto">
          <a:xfrm>
            <a:off x="95139" y="1205898"/>
            <a:ext cx="324000" cy="324000"/>
          </a:xfrm>
          <a:prstGeom prst="rect">
            <a:avLst/>
          </a:prstGeom>
          <a:noFill/>
        </p:spPr>
      </p:pic>
      <p:pic>
        <p:nvPicPr>
          <p:cNvPr id="19"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5" name="矩形 14"/>
          <p:cNvSpPr/>
          <p:nvPr/>
        </p:nvSpPr>
        <p:spPr>
          <a:xfrm>
            <a:off x="467715" y="1222988"/>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463216" y="1944111"/>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63216" y="2697004"/>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463216" y="3404787"/>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63292" y="4148251"/>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0512" y="4878625"/>
            <a:ext cx="599538" cy="27985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7438053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16"/>
                  </p:tgtEl>
                </p:cond>
              </p:nextCondLst>
            </p:seq>
            <p:seq concurrent="1" nextAc="seek">
              <p:cTn id="17" restart="whenNotActive" fill="hold" evtFilter="cancelBubble" nodeType="interactiveSeq">
                <p:stCondLst>
                  <p:cond evt="onClick" delay="0">
                    <p:tgtEl>
                      <p:spTgt spid="15"/>
                    </p:tgtEl>
                  </p:cond>
                </p:stCondLst>
                <p:endSync evt="end" delay="0">
                  <p:rtn val="all"/>
                </p:endSync>
                <p:childTnLst>
                  <p:par>
                    <p:cTn id="18" fill="hold">
                      <p:stCondLst>
                        <p:cond delay="0"/>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22" restart="whenNotActive" fill="hold" evtFilter="cancelBubble" nodeType="interactiveSeq">
                <p:stCondLst>
                  <p:cond evt="onClick" delay="0">
                    <p:tgtEl>
                      <p:spTgt spid="21"/>
                    </p:tgtEl>
                  </p:cond>
                </p:stCondLst>
                <p:endSync evt="end" delay="0">
                  <p:rtn val="all"/>
                </p:endSync>
                <p:childTnLst>
                  <p:par>
                    <p:cTn id="23" fill="hold">
                      <p:stCondLst>
                        <p:cond delay="0"/>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nextCondLst>
                <p:cond evt="onClick" delay="0">
                  <p:tgtEl>
                    <p:spTgt spid="21"/>
                  </p:tgtEl>
                </p:cond>
              </p:nextCondLst>
            </p:seq>
            <p:seq concurrent="1" nextAc="seek">
              <p:cTn id="27" restart="whenNotActive" fill="hold" evtFilter="cancelBubble" nodeType="interactiveSeq">
                <p:stCondLst>
                  <p:cond evt="onClick" delay="0">
                    <p:tgtEl>
                      <p:spTgt spid="22"/>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1" nodeType="clickEffect">
                                  <p:stCondLst>
                                    <p:cond delay="0"/>
                                  </p:stCondLst>
                                  <p:childTnLst>
                                    <p:set>
                                      <p:cBhvr>
                                        <p:cTn id="31"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22"/>
                  </p:tgtEl>
                </p:cond>
              </p:nextCondLst>
            </p:seq>
            <p:seq concurrent="1" nextAc="seek">
              <p:cTn id="32" restart="whenNotActive" fill="hold" evtFilter="cancelBubble" nodeType="interactiveSeq">
                <p:stCondLst>
                  <p:cond evt="onClick" delay="0">
                    <p:tgtEl>
                      <p:spTgt spid="23"/>
                    </p:tgtEl>
                  </p:cond>
                </p:stCondLst>
                <p:endSync evt="end" delay="0">
                  <p:rtn val="all"/>
                </p:endSync>
                <p:childTnLst>
                  <p:par>
                    <p:cTn id="33" fill="hold">
                      <p:stCondLst>
                        <p:cond delay="0"/>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23"/>
                  </p:tgtEl>
                </p:cond>
              </p:nextCondLst>
            </p:seq>
            <p:seq concurrent="1" nextAc="seek">
              <p:cTn id="37" restart="whenNotActive" fill="hold" evtFilter="cancelBubble" nodeType="interactiveSeq">
                <p:stCondLst>
                  <p:cond evt="onClick" delay="0">
                    <p:tgtEl>
                      <p:spTgt spid="24"/>
                    </p:tgtEl>
                  </p:cond>
                </p:stCondLst>
                <p:endSync evt="end" delay="0">
                  <p:rtn val="all"/>
                </p:endSync>
                <p:childTnLst>
                  <p:par>
                    <p:cTn id="38" fill="hold">
                      <p:stCondLst>
                        <p:cond delay="0"/>
                      </p:stCondLst>
                      <p:childTnLst>
                        <p:par>
                          <p:cTn id="39" fill="hold">
                            <p:stCondLst>
                              <p:cond delay="0"/>
                            </p:stCondLst>
                            <p:childTnLst>
                              <p:par>
                                <p:cTn id="40" presetID="1" presetClass="entr" presetSubtype="0" fill="hold" grpId="1" nodeType="clickEffect">
                                  <p:stCondLst>
                                    <p:cond delay="0"/>
                                  </p:stCondLst>
                                  <p:childTnLst>
                                    <p:set>
                                      <p:cBhvr>
                                        <p:cTn id="41"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24"/>
                  </p:tgtEl>
                </p:cond>
              </p:nextCondLst>
            </p:seq>
            <p:seq concurrent="1" nextAc="seek">
              <p:cTn id="42" restart="whenNotActive" fill="hold" evtFilter="cancelBubble" nodeType="interactiveSeq">
                <p:stCondLst>
                  <p:cond evt="onClick" delay="0">
                    <p:tgtEl>
                      <p:spTgt spid="25"/>
                    </p:tgtEl>
                  </p:cond>
                </p:stCondLst>
                <p:endSync evt="end" delay="0">
                  <p:rtn val="all"/>
                </p:endSync>
                <p:childTnLst>
                  <p:par>
                    <p:cTn id="43" fill="hold">
                      <p:stCondLst>
                        <p:cond delay="0"/>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25"/>
                  </p:tgtEl>
                </p:cond>
              </p:nextCondLst>
            </p:seq>
          </p:childTnLst>
        </p:cTn>
      </p:par>
    </p:tnLst>
    <p:bldLst>
      <p:bldP spid="20" grpId="0"/>
      <p:bldP spid="20" grpId="1"/>
      <p:bldP spid="9" grpId="0"/>
      <p:bldP spid="9" grpId="1"/>
      <p:bldP spid="10" grpId="0"/>
      <p:bldP spid="10" grpId="1"/>
      <p:bldP spid="12" grpId="0"/>
      <p:bldP spid="12" grpId="1"/>
      <p:bldP spid="13" grpId="0"/>
      <p:bldP spid="13" grpId="1"/>
      <p:bldP spid="14" grpId="0"/>
      <p:bldP spid="14"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3" name="文本框 12"/>
          <p:cNvSpPr txBox="1"/>
          <p:nvPr/>
        </p:nvSpPr>
        <p:spPr>
          <a:xfrm>
            <a:off x="366165" y="2604352"/>
            <a:ext cx="485955" cy="2308324"/>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2</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14" name="文本框 13"/>
          <p:cNvSpPr txBox="1"/>
          <p:nvPr/>
        </p:nvSpPr>
        <p:spPr>
          <a:xfrm>
            <a:off x="660400" y="2604352"/>
            <a:ext cx="8231900" cy="3416320"/>
          </a:xfrm>
          <a:prstGeom prst="rect">
            <a:avLst/>
          </a:prstGeom>
          <a:noFill/>
        </p:spPr>
        <p:txBody>
          <a:bodyPr wrap="square" rtlCol="0">
            <a:spAutoFit/>
          </a:bodyPr>
          <a:lstStyle/>
          <a:p>
            <a:r>
              <a:rPr lang="en-US" altLang="zh-CN" sz="2400" spc="20" dirty="0"/>
              <a:t>Evidence shows that the early inhabitants in China knew how to</a:t>
            </a:r>
            <a:r>
              <a:rPr lang="en-US" altLang="zh-CN" sz="2400" dirty="0"/>
              <a:t> ______ stone tools.</a:t>
            </a:r>
          </a:p>
          <a:p>
            <a:r>
              <a:rPr lang="en-US" altLang="zh-CN" sz="2400" dirty="0"/>
              <a:t>A. make</a:t>
            </a:r>
          </a:p>
          <a:p>
            <a:r>
              <a:rPr lang="en-US" altLang="zh-CN" sz="2400" dirty="0"/>
              <a:t>C. discover </a:t>
            </a:r>
          </a:p>
          <a:p>
            <a:endParaRPr lang="en-US" altLang="zh-CN" sz="2400" dirty="0"/>
          </a:p>
          <a:p>
            <a:r>
              <a:rPr lang="en-US" altLang="zh-CN" sz="2400" spc="30" dirty="0"/>
              <a:t>It is commonly accepted that human beings originated in Africa</a:t>
            </a:r>
            <a:r>
              <a:rPr lang="en-US" altLang="zh-CN" sz="2400" dirty="0"/>
              <a:t> and then ______ other parts of the world.</a:t>
            </a:r>
          </a:p>
          <a:p>
            <a:r>
              <a:rPr lang="en-US" altLang="zh-CN" sz="2400" dirty="0"/>
              <a:t>A. left </a:t>
            </a:r>
          </a:p>
          <a:p>
            <a:r>
              <a:rPr lang="en-US" altLang="zh-CN" sz="2400" dirty="0"/>
              <a:t>C. moved to </a:t>
            </a:r>
          </a:p>
        </p:txBody>
      </p:sp>
      <p:sp>
        <p:nvSpPr>
          <p:cNvPr id="15" name="文本框 14"/>
          <p:cNvSpPr txBox="1"/>
          <p:nvPr/>
        </p:nvSpPr>
        <p:spPr>
          <a:xfrm>
            <a:off x="360000" y="1133951"/>
            <a:ext cx="8532300" cy="1200329"/>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20" dirty="0">
                <a:latin typeface="Cambria" panose="02040503050406030204" pitchFamily="18" charset="0"/>
                <a:ea typeface="Cambria" panose="02040503050406030204" pitchFamily="18" charset="0"/>
              </a:rPr>
              <a:t>Complete the following sentences according to the information</a:t>
            </a:r>
            <a:r>
              <a:rPr lang="en-US" altLang="zh-CN" sz="2400" dirty="0">
                <a:latin typeface="Cambria" panose="02040503050406030204" pitchFamily="18" charset="0"/>
                <a:ea typeface="Cambria" panose="02040503050406030204" pitchFamily="18" charset="0"/>
              </a:rPr>
              <a:t> given in Text B.</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6" name="钥匙2" descr="C:\Users\senj\Desktop\新建文件夹\答案.png" hidden="1">
            <a:hlinkClick r:id="" action="ppaction://noaction"/>
          </p:cNvPr>
          <p:cNvPicPr>
            <a:picLocks noChangeAspect="1" noChangeArrowheads="1"/>
          </p:cNvPicPr>
          <p:nvPr/>
        </p:nvPicPr>
        <p:blipFill>
          <a:blip r:embed="rId4" cstate="print"/>
          <a:srcRect/>
          <a:stretch>
            <a:fillRect/>
          </a:stretch>
        </p:blipFill>
        <p:spPr bwMode="auto">
          <a:xfrm>
            <a:off x="95139" y="1592481"/>
            <a:ext cx="324000" cy="324000"/>
          </a:xfrm>
          <a:prstGeom prst="rect">
            <a:avLst/>
          </a:prstGeom>
          <a:noFill/>
        </p:spPr>
      </p:pic>
      <p:pic>
        <p:nvPicPr>
          <p:cNvPr id="19" name="选择1" descr="圈圈.png"/>
          <p:cNvPicPr>
            <a:picLocks noChangeAspect="1"/>
          </p:cNvPicPr>
          <p:nvPr/>
        </p:nvPicPr>
        <p:blipFill>
          <a:blip r:embed="rId5" cstate="print"/>
          <a:stretch>
            <a:fillRect/>
          </a:stretch>
        </p:blipFill>
        <p:spPr>
          <a:xfrm>
            <a:off x="648442" y="3403676"/>
            <a:ext cx="459698" cy="361192"/>
          </a:xfrm>
          <a:prstGeom prst="rect">
            <a:avLst/>
          </a:prstGeom>
        </p:spPr>
      </p:pic>
      <p:sp>
        <p:nvSpPr>
          <p:cNvPr id="27" name="文本框 26"/>
          <p:cNvSpPr txBox="1"/>
          <p:nvPr/>
        </p:nvSpPr>
        <p:spPr>
          <a:xfrm>
            <a:off x="4572000" y="2604352"/>
            <a:ext cx="4320300" cy="3416320"/>
          </a:xfrm>
          <a:prstGeom prst="rect">
            <a:avLst/>
          </a:prstGeom>
          <a:noFill/>
        </p:spPr>
        <p:txBody>
          <a:bodyPr wrap="square" rtlCol="0">
            <a:spAutoFit/>
          </a:bodyPr>
          <a:lstStyle/>
          <a:p>
            <a:endParaRPr lang="en-US" altLang="zh-CN" sz="2400" dirty="0"/>
          </a:p>
          <a:p>
            <a:endParaRPr lang="en-US" altLang="zh-CN" sz="2400" dirty="0"/>
          </a:p>
          <a:p>
            <a:r>
              <a:rPr lang="en-US" altLang="zh-CN" sz="2400" dirty="0"/>
              <a:t>B. use </a:t>
            </a:r>
          </a:p>
          <a:p>
            <a:r>
              <a:rPr lang="en-US" altLang="zh-CN" sz="2400" dirty="0"/>
              <a:t>D. buy and sell</a:t>
            </a:r>
          </a:p>
          <a:p>
            <a:endParaRPr lang="en-US" altLang="zh-CN" sz="2400" dirty="0"/>
          </a:p>
          <a:p>
            <a:endParaRPr lang="en-US" altLang="zh-CN" sz="2400" dirty="0"/>
          </a:p>
          <a:p>
            <a:endParaRPr lang="en-US" altLang="zh-CN" sz="2400" dirty="0"/>
          </a:p>
          <a:p>
            <a:r>
              <a:rPr lang="en-US" altLang="zh-CN" sz="2400" dirty="0"/>
              <a:t>B. invaded</a:t>
            </a:r>
          </a:p>
          <a:p>
            <a:r>
              <a:rPr lang="en-US" altLang="zh-CN" sz="2400" dirty="0"/>
              <a:t>D. changed</a:t>
            </a:r>
          </a:p>
        </p:txBody>
      </p:sp>
      <p:pic>
        <p:nvPicPr>
          <p:cNvPr id="28" name="选择1" descr="圈圈.png"/>
          <p:cNvPicPr>
            <a:picLocks noChangeAspect="1"/>
          </p:cNvPicPr>
          <p:nvPr/>
        </p:nvPicPr>
        <p:blipFill>
          <a:blip r:embed="rId5" cstate="print"/>
          <a:stretch>
            <a:fillRect/>
          </a:stretch>
        </p:blipFill>
        <p:spPr>
          <a:xfrm>
            <a:off x="660400" y="5585935"/>
            <a:ext cx="459698" cy="361192"/>
          </a:xfrm>
          <a:prstGeom prst="rect">
            <a:avLst/>
          </a:prstGeom>
        </p:spPr>
      </p:pic>
      <p:sp>
        <p:nvSpPr>
          <p:cNvPr id="11" name="矩形 10"/>
          <p:cNvSpPr/>
          <p:nvPr/>
        </p:nvSpPr>
        <p:spPr>
          <a:xfrm>
            <a:off x="419139" y="2684569"/>
            <a:ext cx="8401155" cy="139247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19139" y="4537650"/>
            <a:ext cx="8401155" cy="139247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566526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childTnLst>
              </p:cTn>
              <p:nextCondLst>
                <p:cond evt="onClick" delay="0">
                  <p:tgtEl>
                    <p:spTgt spid="16"/>
                  </p:tgtEl>
                </p:cond>
              </p:nextCondLst>
            </p:seq>
            <p:seq concurrent="1" nextAc="seek">
              <p:cTn id="9" restart="whenNotActive" fill="hold" evtFilter="cancelBubble" nodeType="interactiveSeq">
                <p:stCondLst>
                  <p:cond evt="onClick" delay="0">
                    <p:tgtEl>
                      <p:spTgt spid="11"/>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14" restart="whenNotActive" fill="hold" evtFilter="cancelBubble" nodeType="interactiveSeq">
                <p:stCondLst>
                  <p:cond evt="onClick" delay="0">
                    <p:tgtEl>
                      <p:spTgt spid="17"/>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childTnLst>
              </p:cTn>
              <p:nextCondLst>
                <p:cond evt="onClick" delay="0">
                  <p:tgtEl>
                    <p:spTgt spid="17"/>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3" name="文本框 12"/>
          <p:cNvSpPr txBox="1"/>
          <p:nvPr/>
        </p:nvSpPr>
        <p:spPr>
          <a:xfrm>
            <a:off x="366165" y="1142946"/>
            <a:ext cx="485955" cy="4154984"/>
          </a:xfrm>
          <a:prstGeom prst="rect">
            <a:avLst/>
          </a:prstGeom>
          <a:noFill/>
        </p:spPr>
        <p:txBody>
          <a:bodyPr wrap="square" rtlCol="0">
            <a:spAutoFit/>
          </a:bodyPr>
          <a:lstStyle/>
          <a:p>
            <a:r>
              <a:rPr lang="en-US" altLang="zh-CN" sz="2400" b="1" dirty="0">
                <a:solidFill>
                  <a:srgbClr val="C6383E"/>
                </a:solidFill>
                <a:latin typeface="+mn-lt"/>
              </a:rPr>
              <a:t>3</a:t>
            </a:r>
          </a:p>
          <a:p>
            <a:endParaRPr lang="en-US" altLang="zh-CN" sz="2400" b="1" dirty="0">
              <a:solidFill>
                <a:srgbClr val="C6383E"/>
              </a:solidFill>
              <a:latin typeface="+mn-lt"/>
            </a:endParaRPr>
          </a:p>
          <a:p>
            <a:endParaRPr lang="en-US" altLang="zh-CN" sz="2400" b="1" dirty="0">
              <a:solidFill>
                <a:srgbClr val="C6383E"/>
              </a:solidFill>
              <a:latin typeface="+mn-lt"/>
            </a:endParaRPr>
          </a:p>
          <a:p>
            <a:endParaRPr lang="en-US" altLang="zh-CN" sz="2400" b="1" dirty="0">
              <a:solidFill>
                <a:srgbClr val="C6383E"/>
              </a:solidFill>
              <a:latin typeface="+mn-lt"/>
            </a:endParaRPr>
          </a:p>
          <a:p>
            <a:endParaRPr lang="en-US" altLang="zh-CN" sz="2400" b="1" dirty="0">
              <a:solidFill>
                <a:srgbClr val="C6383E"/>
              </a:solidFill>
              <a:latin typeface="+mn-lt"/>
            </a:endParaRPr>
          </a:p>
          <a:p>
            <a:r>
              <a:rPr lang="en-US" altLang="zh-CN" sz="2400" b="1" dirty="0">
                <a:solidFill>
                  <a:srgbClr val="C6383E"/>
                </a:solidFill>
                <a:latin typeface="+mn-lt"/>
              </a:rPr>
              <a:t>4</a:t>
            </a: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5</a:t>
            </a:r>
            <a:endParaRPr lang="zh-CN" altLang="en-US" sz="2400" b="1" dirty="0">
              <a:solidFill>
                <a:srgbClr val="C6383E"/>
              </a:solidFill>
              <a:latin typeface="+mn-lt"/>
              <a:cs typeface="Times New Roman" panose="02020603050405020304" pitchFamily="18" charset="0"/>
            </a:endParaRPr>
          </a:p>
        </p:txBody>
      </p:sp>
      <p:sp>
        <p:nvSpPr>
          <p:cNvPr id="14" name="文本框 13"/>
          <p:cNvSpPr txBox="1"/>
          <p:nvPr/>
        </p:nvSpPr>
        <p:spPr>
          <a:xfrm>
            <a:off x="660400" y="1142946"/>
            <a:ext cx="8231900" cy="5262979"/>
          </a:xfrm>
          <a:prstGeom prst="rect">
            <a:avLst/>
          </a:prstGeom>
          <a:noFill/>
        </p:spPr>
        <p:txBody>
          <a:bodyPr wrap="square" rtlCol="0">
            <a:spAutoFit/>
          </a:bodyPr>
          <a:lstStyle/>
          <a:p>
            <a:pPr algn="just"/>
            <a:r>
              <a:rPr lang="en-US" altLang="zh-CN" sz="2400" dirty="0"/>
              <a:t>The ancient houses in </a:t>
            </a:r>
            <a:r>
              <a:rPr lang="en-US" altLang="zh-CN" sz="2400" dirty="0" err="1"/>
              <a:t>Banpo</a:t>
            </a:r>
            <a:r>
              <a:rPr lang="en-US" altLang="zh-CN" sz="2400" dirty="0"/>
              <a:t> Village had sunk floors to make the houses ______.</a:t>
            </a:r>
          </a:p>
          <a:p>
            <a:pPr marL="342900" indent="-342900" algn="just">
              <a:buAutoNum type="alphaUcPeriod"/>
            </a:pPr>
            <a:r>
              <a:rPr lang="en-US" altLang="zh-CN" sz="2400" dirty="0"/>
              <a:t>more stable </a:t>
            </a:r>
          </a:p>
          <a:p>
            <a:pPr marL="342900" indent="-342900" algn="just">
              <a:buAutoNum type="alphaUcPeriod"/>
            </a:pPr>
            <a:r>
              <a:rPr lang="en-US" altLang="zh-CN" sz="2400" dirty="0"/>
              <a:t>C. more humid </a:t>
            </a:r>
          </a:p>
          <a:p>
            <a:pPr marL="342900" indent="-342900" algn="just">
              <a:buAutoNum type="alphaUcPeriod"/>
            </a:pPr>
            <a:endParaRPr lang="en-US" altLang="zh-CN" sz="2400" dirty="0"/>
          </a:p>
          <a:p>
            <a:pPr algn="just"/>
            <a:r>
              <a:rPr lang="en-US" altLang="zh-CN" sz="2400" dirty="0"/>
              <a:t>Marco Polo, the famous explorer, ______ China to Europe in the 13th century CE.</a:t>
            </a:r>
          </a:p>
          <a:p>
            <a:pPr algn="just"/>
            <a:r>
              <a:rPr lang="en-US" altLang="zh-CN" sz="2400" dirty="0"/>
              <a:t>A. connected </a:t>
            </a:r>
          </a:p>
          <a:p>
            <a:pPr algn="just"/>
            <a:r>
              <a:rPr lang="en-US" altLang="zh-CN" sz="2400" dirty="0"/>
              <a:t>C. estranged </a:t>
            </a:r>
          </a:p>
          <a:p>
            <a:pPr algn="just"/>
            <a:endParaRPr lang="en-US" altLang="zh-CN" sz="2400" dirty="0"/>
          </a:p>
          <a:p>
            <a:pPr algn="just"/>
            <a:r>
              <a:rPr lang="en-US" altLang="zh-CN" sz="2400" spc="-70" dirty="0"/>
              <a:t>Excavations in the 1960s and 1970s CE uncovered sites which</a:t>
            </a:r>
            <a:r>
              <a:rPr lang="en-US" altLang="zh-CN" sz="2400" dirty="0"/>
              <a:t> ______ the existence of the Xia dynasty.</a:t>
            </a:r>
          </a:p>
          <a:p>
            <a:pPr algn="just"/>
            <a:r>
              <a:rPr lang="en-US" altLang="zh-CN" sz="2400" dirty="0"/>
              <a:t>A. provided explanation of </a:t>
            </a:r>
          </a:p>
          <a:p>
            <a:pPr algn="just"/>
            <a:r>
              <a:rPr lang="en-US" altLang="zh-CN" sz="2400" dirty="0"/>
              <a:t>C. gave proof of </a:t>
            </a:r>
          </a:p>
        </p:txBody>
      </p:sp>
      <p:pic>
        <p:nvPicPr>
          <p:cNvPr id="15" name="钥匙2" descr="C:\Users\senj\Desktop\新建文件夹\答案.png" hidden="1">
            <a:hlinkClick r:id="" action="ppaction://noaction"/>
          </p:cNvPr>
          <p:cNvPicPr>
            <a:picLocks noChangeAspect="1" noChangeArrowheads="1"/>
          </p:cNvPicPr>
          <p:nvPr/>
        </p:nvPicPr>
        <p:blipFill>
          <a:blip r:embed="rId4" cstate="print"/>
          <a:srcRect/>
          <a:stretch>
            <a:fillRect/>
          </a:stretch>
        </p:blipFill>
        <p:spPr bwMode="auto">
          <a:xfrm>
            <a:off x="95139" y="1224004"/>
            <a:ext cx="324000" cy="324000"/>
          </a:xfrm>
          <a:prstGeom prst="rect">
            <a:avLst/>
          </a:prstGeom>
          <a:noFill/>
        </p:spPr>
      </p:pic>
      <p:pic>
        <p:nvPicPr>
          <p:cNvPr id="16" name="选择1" descr="圈圈.png"/>
          <p:cNvPicPr>
            <a:picLocks noChangeAspect="1"/>
          </p:cNvPicPr>
          <p:nvPr/>
        </p:nvPicPr>
        <p:blipFill>
          <a:blip r:embed="rId5" cstate="print"/>
          <a:stretch>
            <a:fillRect/>
          </a:stretch>
        </p:blipFill>
        <p:spPr>
          <a:xfrm>
            <a:off x="648442" y="1942270"/>
            <a:ext cx="459698" cy="361192"/>
          </a:xfrm>
          <a:prstGeom prst="rect">
            <a:avLst/>
          </a:prstGeom>
        </p:spPr>
      </p:pic>
      <p:sp>
        <p:nvSpPr>
          <p:cNvPr id="19" name="文本框 18"/>
          <p:cNvSpPr txBox="1"/>
          <p:nvPr/>
        </p:nvSpPr>
        <p:spPr>
          <a:xfrm>
            <a:off x="4572000" y="1142946"/>
            <a:ext cx="4320300" cy="5262979"/>
          </a:xfrm>
          <a:prstGeom prst="rect">
            <a:avLst/>
          </a:prstGeom>
          <a:noFill/>
        </p:spPr>
        <p:txBody>
          <a:bodyPr wrap="square" rtlCol="0">
            <a:spAutoFit/>
          </a:bodyPr>
          <a:lstStyle/>
          <a:p>
            <a:endParaRPr lang="en-US" altLang="zh-CN" sz="2400" dirty="0"/>
          </a:p>
          <a:p>
            <a:endParaRPr lang="en-US" altLang="zh-CN" sz="2400" dirty="0"/>
          </a:p>
          <a:p>
            <a:r>
              <a:rPr lang="en-US" altLang="zh-CN" sz="2400" dirty="0"/>
              <a:t>B. more spacious</a:t>
            </a:r>
          </a:p>
          <a:p>
            <a:r>
              <a:rPr lang="en-US" altLang="zh-CN" sz="2400" dirty="0"/>
              <a:t>D. better </a:t>
            </a:r>
          </a:p>
          <a:p>
            <a:endParaRPr lang="en-US" altLang="zh-CN" sz="2400" dirty="0"/>
          </a:p>
          <a:p>
            <a:endParaRPr lang="en-US" altLang="zh-CN" sz="2400" dirty="0"/>
          </a:p>
          <a:p>
            <a:endParaRPr lang="en-US" altLang="zh-CN" sz="2400" dirty="0"/>
          </a:p>
          <a:p>
            <a:r>
              <a:rPr lang="en-US" altLang="zh-CN" sz="2400" dirty="0"/>
              <a:t>B. introduced </a:t>
            </a:r>
          </a:p>
          <a:p>
            <a:r>
              <a:rPr lang="en-US" altLang="zh-CN" sz="2400" dirty="0"/>
              <a:t>D. Compared</a:t>
            </a:r>
          </a:p>
          <a:p>
            <a:endParaRPr lang="en-US" altLang="zh-CN" sz="2400" dirty="0"/>
          </a:p>
          <a:p>
            <a:endParaRPr lang="en-US" altLang="zh-CN" sz="2400" dirty="0"/>
          </a:p>
          <a:p>
            <a:endParaRPr lang="en-US" altLang="zh-CN" sz="2400" dirty="0"/>
          </a:p>
          <a:p>
            <a:r>
              <a:rPr lang="en-US" altLang="zh-CN" sz="2400" dirty="0"/>
              <a:t>B. argued</a:t>
            </a:r>
          </a:p>
          <a:p>
            <a:r>
              <a:rPr lang="en-US" altLang="zh-CN" sz="2400" dirty="0"/>
              <a:t>D. denied</a:t>
            </a:r>
          </a:p>
        </p:txBody>
      </p:sp>
      <p:pic>
        <p:nvPicPr>
          <p:cNvPr id="22" name="选择1" descr="圈圈.png"/>
          <p:cNvPicPr>
            <a:picLocks noChangeAspect="1"/>
          </p:cNvPicPr>
          <p:nvPr/>
        </p:nvPicPr>
        <p:blipFill>
          <a:blip r:embed="rId5" cstate="print"/>
          <a:stretch>
            <a:fillRect/>
          </a:stretch>
        </p:blipFill>
        <p:spPr>
          <a:xfrm>
            <a:off x="4518101" y="3779972"/>
            <a:ext cx="459698" cy="361192"/>
          </a:xfrm>
          <a:prstGeom prst="rect">
            <a:avLst/>
          </a:prstGeom>
        </p:spPr>
      </p:pic>
      <p:pic>
        <p:nvPicPr>
          <p:cNvPr id="27" name="选择1" descr="圈圈.png"/>
          <p:cNvPicPr>
            <a:picLocks noChangeAspect="1"/>
          </p:cNvPicPr>
          <p:nvPr/>
        </p:nvPicPr>
        <p:blipFill>
          <a:blip r:embed="rId5" cstate="print"/>
          <a:stretch>
            <a:fillRect/>
          </a:stretch>
        </p:blipFill>
        <p:spPr>
          <a:xfrm>
            <a:off x="660400" y="5962231"/>
            <a:ext cx="459698" cy="361192"/>
          </a:xfrm>
          <a:prstGeom prst="rect">
            <a:avLst/>
          </a:prstGeom>
        </p:spPr>
      </p:pic>
      <p:pic>
        <p:nvPicPr>
          <p:cNvPr id="28" name="Picture 3" descr="C:\Users\senj\Desktop\按钮.png"/>
          <p:cNvPicPr>
            <a:picLocks noChangeAspect="1" noChangeArrowheads="1"/>
          </p:cNvPicPr>
          <p:nvPr/>
        </p:nvPicPr>
        <p:blipFill>
          <a:blip r:embed="rId6" cstate="print"/>
          <a:srcRect l="12911" t="21436" r="39626" b="60503"/>
          <a:stretch>
            <a:fillRect/>
          </a:stretch>
        </p:blipFill>
        <p:spPr bwMode="auto">
          <a:xfrm rot="10800000">
            <a:off x="8721754" y="6429396"/>
            <a:ext cx="259557" cy="254794"/>
          </a:xfrm>
          <a:prstGeom prst="rect">
            <a:avLst/>
          </a:prstGeom>
          <a:noFill/>
        </p:spPr>
      </p:pic>
      <p:sp>
        <p:nvSpPr>
          <p:cNvPr id="11" name="矩形 10"/>
          <p:cNvSpPr/>
          <p:nvPr/>
        </p:nvSpPr>
        <p:spPr>
          <a:xfrm>
            <a:off x="419139" y="1244470"/>
            <a:ext cx="8401155" cy="139247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469940" y="3054755"/>
            <a:ext cx="8401155" cy="139247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19139" y="4879260"/>
            <a:ext cx="8401155" cy="139247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01793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11" restart="whenNotActive" fill="hold" evtFilter="cancelBubble" nodeType="interactiveSeq">
                <p:stCondLst>
                  <p:cond evt="onClick" delay="0">
                    <p:tgtEl>
                      <p:spTgt spid="11"/>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16" restart="whenNotActive" fill="hold" evtFilter="cancelBubble" nodeType="interactiveSeq">
                <p:stCondLst>
                  <p:cond evt="onClick" delay="0">
                    <p:tgtEl>
                      <p:spTgt spid="17"/>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childTnLst>
              </p:cTn>
              <p:nextCondLst>
                <p:cond evt="onClick" delay="0">
                  <p:tgtEl>
                    <p:spTgt spid="17"/>
                  </p:tgtEl>
                </p:cond>
              </p:nextCondLst>
            </p:seq>
            <p:seq concurrent="1" nextAc="seek">
              <p:cTn id="21" restart="whenNotActive" fill="hold" evtFilter="cancelBubble" nodeType="interactiveSeq">
                <p:stCondLst>
                  <p:cond evt="onClick" delay="0">
                    <p:tgtEl>
                      <p:spTgt spid="18"/>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childTnLst>
              </p:cTn>
              <p:nextCondLst>
                <p:cond evt="onClick" delay="0">
                  <p:tgtEl>
                    <p:spTgt spid="18"/>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0000" y="1133951"/>
            <a:ext cx="8532300" cy="1200329"/>
          </a:xfrm>
          <a:prstGeom prst="rect">
            <a:avLst/>
          </a:prstGeom>
          <a:noFill/>
        </p:spPr>
        <p:txBody>
          <a:bodyPr wrap="square" rtlCol="0">
            <a:spAutoFit/>
          </a:bodyPr>
          <a:lstStyle/>
          <a:p>
            <a:r>
              <a:rPr lang="en-US" altLang="zh-CN" sz="2400" b="1" dirty="0">
                <a:solidFill>
                  <a:srgbClr val="C6383E"/>
                </a:solidFill>
              </a:rPr>
              <a:t>Task 1</a:t>
            </a:r>
          </a:p>
          <a:p>
            <a:pPr algn="just"/>
            <a:r>
              <a:rPr lang="en-US" altLang="zh-CN" sz="2400" spc="50" dirty="0">
                <a:latin typeface="Cambria" panose="02040503050406030204" pitchFamily="18" charset="0"/>
                <a:ea typeface="Cambria" panose="02040503050406030204" pitchFamily="18" charset="0"/>
              </a:rPr>
              <a:t>Complete the following table and then fill in the blank of each</a:t>
            </a:r>
            <a:r>
              <a:rPr lang="en-US" altLang="zh-CN" sz="2400" dirty="0">
                <a:latin typeface="Cambria" panose="02040503050406030204" pitchFamily="18" charset="0"/>
                <a:ea typeface="Cambria" panose="02040503050406030204" pitchFamily="18" charset="0"/>
              </a:rPr>
              <a:t> sentence with a word from the table.</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0" name="钥匙2" descr="C:\Users\senj\Desktop\新建文件夹\答案.png">
            <a:hlinkClick r:id="" action="ppaction://noaction"/>
          </p:cNvPr>
          <p:cNvPicPr>
            <a:picLocks noChangeAspect="1" noChangeArrowheads="1"/>
          </p:cNvPicPr>
          <p:nvPr/>
        </p:nvPicPr>
        <p:blipFill>
          <a:blip r:embed="rId2" cstate="print"/>
          <a:srcRect/>
          <a:stretch>
            <a:fillRect/>
          </a:stretch>
        </p:blipFill>
        <p:spPr bwMode="auto">
          <a:xfrm>
            <a:off x="95139" y="1592895"/>
            <a:ext cx="324000" cy="324000"/>
          </a:xfrm>
          <a:prstGeom prst="rect">
            <a:avLst/>
          </a:prstGeom>
          <a:noFill/>
        </p:spPr>
      </p:pic>
      <p:graphicFrame>
        <p:nvGraphicFramePr>
          <p:cNvPr id="3" name="表格 2"/>
          <p:cNvGraphicFramePr>
            <a:graphicFrameLocks noGrp="1"/>
          </p:cNvGraphicFramePr>
          <p:nvPr>
            <p:extLst>
              <p:ext uri="{D42A27DB-BD31-4B8C-83A1-F6EECF244321}">
                <p14:modId xmlns:p14="http://schemas.microsoft.com/office/powerpoint/2010/main" val="601735526"/>
              </p:ext>
            </p:extLst>
          </p:nvPr>
        </p:nvGraphicFramePr>
        <p:xfrm>
          <a:off x="1031860" y="2631924"/>
          <a:ext cx="7080280" cy="3200400"/>
        </p:xfrm>
        <a:graphic>
          <a:graphicData uri="http://schemas.openxmlformats.org/drawingml/2006/table">
            <a:tbl>
              <a:tblPr firstRow="1" bandRow="1">
                <a:tableStyleId>{5940675A-B579-460E-94D1-54222C63F5DA}</a:tableStyleId>
              </a:tblPr>
              <a:tblGrid>
                <a:gridCol w="3540140">
                  <a:extLst>
                    <a:ext uri="{9D8B030D-6E8A-4147-A177-3AD203B41FA5}">
                      <a16:colId xmlns:a16="http://schemas.microsoft.com/office/drawing/2014/main" val="3823967904"/>
                    </a:ext>
                  </a:extLst>
                </a:gridCol>
                <a:gridCol w="3540140">
                  <a:extLst>
                    <a:ext uri="{9D8B030D-6E8A-4147-A177-3AD203B41FA5}">
                      <a16:colId xmlns:a16="http://schemas.microsoft.com/office/drawing/2014/main" val="3437884784"/>
                    </a:ext>
                  </a:extLst>
                </a:gridCol>
              </a:tblGrid>
              <a:tr h="370840">
                <a:tc>
                  <a:txBody>
                    <a:bodyPr/>
                    <a:lstStyle/>
                    <a:p>
                      <a:pPr algn="ctr"/>
                      <a:r>
                        <a:rPr lang="en-US" altLang="zh-CN" sz="2400" b="1" i="0" u="none" strike="noStrike" kern="1200" baseline="0" dirty="0">
                          <a:solidFill>
                            <a:schemeClr val="tx1"/>
                          </a:solidFill>
                          <a:latin typeface="+mn-lt"/>
                          <a:ea typeface="+mn-ea"/>
                          <a:cs typeface="+mn-cs"/>
                        </a:rPr>
                        <a:t>Noun</a:t>
                      </a:r>
                      <a:endParaRPr lang="zh-CN" altLang="en-US" sz="2400" b="1" dirty="0"/>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rgbClr val="F9E7DD"/>
                    </a:solidFill>
                  </a:tcPr>
                </a:tc>
                <a:tc>
                  <a:txBody>
                    <a:bodyPr/>
                    <a:lstStyle/>
                    <a:p>
                      <a:pPr algn="ctr"/>
                      <a:r>
                        <a:rPr lang="en-US" altLang="zh-CN" sz="2400" b="1" i="0" u="none" strike="noStrike" kern="1200" baseline="0" dirty="0">
                          <a:solidFill>
                            <a:schemeClr val="tx1"/>
                          </a:solidFill>
                          <a:latin typeface="+mn-lt"/>
                          <a:ea typeface="+mn-ea"/>
                          <a:cs typeface="+mn-cs"/>
                        </a:rPr>
                        <a:t>Verb</a:t>
                      </a:r>
                      <a:endParaRPr lang="zh-CN" altLang="en-US" sz="2400" b="1"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rgbClr val="F9E7DD"/>
                    </a:solidFill>
                  </a:tcPr>
                </a:tc>
                <a:extLst>
                  <a:ext uri="{0D108BD9-81ED-4DB2-BD59-A6C34878D82A}">
                    <a16:rowId xmlns:a16="http://schemas.microsoft.com/office/drawing/2014/main" val="3797758373"/>
                  </a:ext>
                </a:extLst>
              </a:tr>
              <a:tr h="370840">
                <a:tc>
                  <a:txBody>
                    <a:bodyPr/>
                    <a:lstStyle/>
                    <a:p>
                      <a:pPr algn="ctr"/>
                      <a:r>
                        <a:rPr lang="en-US" altLang="zh-CN" sz="2400" b="0" i="0" u="none" strike="noStrike" kern="1200" baseline="0" dirty="0">
                          <a:solidFill>
                            <a:schemeClr val="tx1"/>
                          </a:solidFill>
                          <a:latin typeface="+mn-lt"/>
                          <a:ea typeface="+mn-ea"/>
                          <a:cs typeface="+mn-cs"/>
                        </a:rPr>
                        <a:t>alleviation</a:t>
                      </a:r>
                      <a:endParaRPr lang="zh-CN" altLang="en-US" sz="2400" dirty="0"/>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ctr"/>
                      <a:r>
                        <a:rPr lang="en-US" altLang="zh-CN" sz="2400" b="0" i="0" u="none" strike="noStrike" kern="1200" baseline="0" dirty="0">
                          <a:solidFill>
                            <a:srgbClr val="FF0000"/>
                          </a:solidFill>
                          <a:latin typeface="+mn-lt"/>
                          <a:ea typeface="+mn-ea"/>
                          <a:cs typeface="+mn-cs"/>
                        </a:rPr>
                        <a:t>alleviate</a:t>
                      </a:r>
                      <a:endParaRPr lang="zh-CN" altLang="en-US" sz="2400" dirty="0">
                        <a:solidFill>
                          <a:srgbClr val="FF0000"/>
                        </a:solidFill>
                      </a:endParaRPr>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543618640"/>
                  </a:ext>
                </a:extLst>
              </a:tr>
              <a:tr h="370840">
                <a:tc>
                  <a:txBody>
                    <a:bodyPr/>
                    <a:lstStyle/>
                    <a:p>
                      <a:pPr algn="ctr"/>
                      <a:r>
                        <a:rPr lang="en-US" altLang="zh-CN" sz="2400" b="0" i="0" u="none" strike="noStrike" kern="1200" baseline="0" dirty="0">
                          <a:solidFill>
                            <a:srgbClr val="FF0000"/>
                          </a:solidFill>
                          <a:latin typeface="+mn-lt"/>
                          <a:ea typeface="+mn-ea"/>
                          <a:cs typeface="+mn-cs"/>
                        </a:rPr>
                        <a:t>participation</a:t>
                      </a:r>
                      <a:endParaRPr lang="zh-CN" altLang="en-US" sz="2400" dirty="0">
                        <a:solidFill>
                          <a:srgbClr val="FF0000"/>
                        </a:solidFill>
                      </a:endParaRPr>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ctr"/>
                      <a:r>
                        <a:rPr lang="en-US" altLang="zh-CN" sz="2400" b="0" i="0" u="none" strike="noStrike" kern="1200" baseline="0" dirty="0">
                          <a:solidFill>
                            <a:schemeClr val="tx1"/>
                          </a:solidFill>
                          <a:latin typeface="+mn-lt"/>
                          <a:ea typeface="+mn-ea"/>
                          <a:cs typeface="+mn-cs"/>
                        </a:rPr>
                        <a:t>participate</a:t>
                      </a:r>
                      <a:endParaRPr lang="zh-CN" altLang="en-US" sz="2400"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462671871"/>
                  </a:ext>
                </a:extLst>
              </a:tr>
              <a:tr h="370840">
                <a:tc>
                  <a:txBody>
                    <a:bodyPr/>
                    <a:lstStyle/>
                    <a:p>
                      <a:pPr algn="ctr"/>
                      <a:r>
                        <a:rPr lang="en-US" altLang="zh-CN" sz="2400" b="0" i="0" u="none" strike="noStrike" kern="1200" baseline="0" dirty="0">
                          <a:solidFill>
                            <a:srgbClr val="FF0000"/>
                          </a:solidFill>
                          <a:latin typeface="+mn-lt"/>
                          <a:ea typeface="+mn-ea"/>
                          <a:cs typeface="+mn-cs"/>
                        </a:rPr>
                        <a:t>innovation</a:t>
                      </a:r>
                      <a:endParaRPr lang="zh-CN" altLang="en-US" sz="2400" dirty="0">
                        <a:solidFill>
                          <a:srgbClr val="FF0000"/>
                        </a:solidFill>
                      </a:endParaRPr>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ctr"/>
                      <a:r>
                        <a:rPr lang="en-US" altLang="zh-CN" sz="2400" b="0" i="0" u="none" strike="noStrike" kern="1200" baseline="0" dirty="0">
                          <a:solidFill>
                            <a:schemeClr val="tx1"/>
                          </a:solidFill>
                          <a:latin typeface="+mn-lt"/>
                          <a:ea typeface="+mn-ea"/>
                          <a:cs typeface="+mn-cs"/>
                        </a:rPr>
                        <a:t>innovate</a:t>
                      </a:r>
                      <a:endParaRPr lang="zh-CN" altLang="en-US" sz="2400"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21976900"/>
                  </a:ext>
                </a:extLst>
              </a:tr>
              <a:tr h="370840">
                <a:tc>
                  <a:txBody>
                    <a:bodyPr/>
                    <a:lstStyle/>
                    <a:p>
                      <a:pPr algn="ctr"/>
                      <a:r>
                        <a:rPr lang="en-US" altLang="zh-CN" sz="2400" b="0" i="0" u="none" strike="noStrike" kern="1200" baseline="0" dirty="0">
                          <a:solidFill>
                            <a:schemeClr val="tx1"/>
                          </a:solidFill>
                          <a:latin typeface="+mn-lt"/>
                          <a:ea typeface="+mn-ea"/>
                          <a:cs typeface="+mn-cs"/>
                        </a:rPr>
                        <a:t>drainage</a:t>
                      </a:r>
                      <a:endParaRPr lang="zh-CN" altLang="en-US" sz="2400" dirty="0"/>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ctr"/>
                      <a:r>
                        <a:rPr lang="en-US" altLang="zh-CN" sz="2400" b="0" i="0" u="none" strike="noStrike" kern="1200" baseline="0" dirty="0">
                          <a:solidFill>
                            <a:srgbClr val="FF0000"/>
                          </a:solidFill>
                          <a:latin typeface="+mn-lt"/>
                          <a:ea typeface="+mn-ea"/>
                          <a:cs typeface="+mn-cs"/>
                        </a:rPr>
                        <a:t>drain</a:t>
                      </a:r>
                      <a:endParaRPr lang="zh-CN" altLang="en-US" sz="2400" dirty="0">
                        <a:solidFill>
                          <a:srgbClr val="FF0000"/>
                        </a:solidFill>
                      </a:endParaRPr>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412311195"/>
                  </a:ext>
                </a:extLst>
              </a:tr>
              <a:tr h="370840">
                <a:tc>
                  <a:txBody>
                    <a:bodyPr/>
                    <a:lstStyle/>
                    <a:p>
                      <a:pPr algn="ctr"/>
                      <a:r>
                        <a:rPr lang="en-US" altLang="zh-CN" sz="2400" b="0" i="0" u="none" strike="noStrike" kern="1200" baseline="0" dirty="0">
                          <a:solidFill>
                            <a:srgbClr val="FF0000"/>
                          </a:solidFill>
                          <a:latin typeface="+mn-lt"/>
                          <a:ea typeface="+mn-ea"/>
                          <a:cs typeface="+mn-cs"/>
                        </a:rPr>
                        <a:t>standard</a:t>
                      </a:r>
                      <a:endParaRPr lang="zh-CN" altLang="en-US" sz="2400" dirty="0">
                        <a:solidFill>
                          <a:srgbClr val="FF0000"/>
                        </a:solidFill>
                      </a:endParaRPr>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ctr"/>
                      <a:r>
                        <a:rPr lang="en-US" altLang="zh-CN" sz="2400" b="0" i="0" u="none" strike="noStrike" kern="1200" baseline="0" dirty="0">
                          <a:solidFill>
                            <a:schemeClr val="tx1"/>
                          </a:solidFill>
                          <a:latin typeface="+mn-lt"/>
                          <a:ea typeface="+mn-ea"/>
                          <a:cs typeface="+mn-cs"/>
                        </a:rPr>
                        <a:t>standardize</a:t>
                      </a:r>
                      <a:endParaRPr lang="zh-CN" altLang="en-US" sz="2400"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4223603407"/>
                  </a:ext>
                </a:extLst>
              </a:tr>
              <a:tr h="370840">
                <a:tc>
                  <a:txBody>
                    <a:bodyPr/>
                    <a:lstStyle/>
                    <a:p>
                      <a:pPr algn="ctr"/>
                      <a:r>
                        <a:rPr lang="en-US" altLang="zh-CN" sz="2400" b="0" i="0" u="none" strike="noStrike" kern="1200" baseline="0" dirty="0">
                          <a:solidFill>
                            <a:schemeClr val="tx1"/>
                          </a:solidFill>
                          <a:latin typeface="+mn-lt"/>
                          <a:ea typeface="+mn-ea"/>
                          <a:cs typeface="+mn-cs"/>
                        </a:rPr>
                        <a:t>inhabitant</a:t>
                      </a:r>
                      <a:endParaRPr lang="zh-CN" altLang="en-US" sz="2400" dirty="0"/>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ctr"/>
                      <a:r>
                        <a:rPr lang="en-US" altLang="zh-CN" sz="2400" b="0" i="0" u="none" strike="noStrike" kern="1200" baseline="0" dirty="0">
                          <a:solidFill>
                            <a:srgbClr val="FF0000"/>
                          </a:solidFill>
                          <a:latin typeface="+mn-lt"/>
                          <a:ea typeface="+mn-ea"/>
                          <a:cs typeface="+mn-cs"/>
                        </a:rPr>
                        <a:t>inhabit</a:t>
                      </a:r>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1126259609"/>
                  </a:ext>
                </a:extLst>
              </a:tr>
            </a:tbl>
          </a:graphicData>
        </a:graphic>
      </p:graphicFrame>
      <p:pic>
        <p:nvPicPr>
          <p:cNvPr id="12" name="Picture 3" descr="C:\Users\senj\Desktop\按钮.png"/>
          <p:cNvPicPr>
            <a:picLocks noChangeAspect="1" noChangeArrowheads="1"/>
          </p:cNvPicPr>
          <p:nvPr/>
        </p:nvPicPr>
        <p:blipFill>
          <a:blip r:embed="rId3" cstate="print"/>
          <a:srcRect l="12911" t="21436" r="39626" b="60503"/>
          <a:stretch>
            <a:fillRect/>
          </a:stretch>
        </p:blipFill>
        <p:spPr bwMode="auto">
          <a:xfrm>
            <a:off x="8366400" y="6429396"/>
            <a:ext cx="259557" cy="254794"/>
          </a:xfrm>
          <a:prstGeom prst="rect">
            <a:avLst/>
          </a:prstGeom>
          <a:noFill/>
        </p:spPr>
      </p:pic>
      <p:pic>
        <p:nvPicPr>
          <p:cNvPr id="13" name="Picture 3" descr="C:\Users\senj\Desktop\按钮.png">
            <a:hlinkClick r:id="" action="ppaction://hlinkshowjump?jump=next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5" name="矩形 4"/>
          <p:cNvSpPr/>
          <p:nvPr/>
        </p:nvSpPr>
        <p:spPr>
          <a:xfrm>
            <a:off x="4584700" y="3105261"/>
            <a:ext cx="3533775" cy="428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23936" y="3563484"/>
            <a:ext cx="3533775" cy="428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31860" y="4018081"/>
            <a:ext cx="3533775" cy="428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4584700" y="4477325"/>
            <a:ext cx="3533775" cy="428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024188" y="4930593"/>
            <a:ext cx="3533775" cy="428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4585501" y="5389919"/>
            <a:ext cx="3533775" cy="4285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4603395" y="3105262"/>
            <a:ext cx="3515881" cy="42851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52145" y="3560104"/>
            <a:ext cx="3515881" cy="42851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54880" y="4016176"/>
            <a:ext cx="3515881" cy="42851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590665" y="4480016"/>
            <a:ext cx="3515881" cy="42851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040879" y="4930593"/>
            <a:ext cx="3515881" cy="42851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574470" y="5389587"/>
            <a:ext cx="3515881" cy="42851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869874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grpId="1"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10"/>
                  </p:tgtEl>
                </p:cond>
              </p:nextCondLst>
            </p:seq>
            <p:seq concurrent="1" nextAc="seek">
              <p:cTn id="31" restart="whenNotActive" fill="hold" evtFilter="cancelBubble" nodeType="interactiveSeq">
                <p:stCondLst>
                  <p:cond evt="onClick" delay="0">
                    <p:tgtEl>
                      <p:spTgt spid="14"/>
                    </p:tgtEl>
                  </p:cond>
                </p:stCondLst>
                <p:endSync evt="end" delay="0">
                  <p:rtn val="all"/>
                </p:endSync>
                <p:childTnLst>
                  <p:par>
                    <p:cTn id="32" fill="hold">
                      <p:stCondLst>
                        <p:cond delay="0"/>
                      </p:stCondLst>
                      <p:childTnLst>
                        <p:par>
                          <p:cTn id="33" fill="hold">
                            <p:stCondLst>
                              <p:cond delay="0"/>
                            </p:stCondLst>
                            <p:childTnLst>
                              <p:par>
                                <p:cTn id="34" presetID="1" presetClass="exit" presetSubtype="0" fill="hold" grpId="2" nodeType="clickEffect">
                                  <p:stCondLst>
                                    <p:cond delay="0"/>
                                  </p:stCondLst>
                                  <p:childTnLst>
                                    <p:set>
                                      <p:cBhvr>
                                        <p:cTn id="35" dur="1" fill="hold">
                                          <p:stCondLst>
                                            <p:cond delay="0"/>
                                          </p:stCondLst>
                                        </p:cTn>
                                        <p:tgtEl>
                                          <p:spTgt spid="5"/>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3" nodeType="clickEffect">
                                  <p:stCondLst>
                                    <p:cond delay="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40" restart="whenNotActive" fill="hold" evtFilter="cancelBubble" nodeType="interactiveSeq">
                <p:stCondLst>
                  <p:cond evt="onClick" delay="0">
                    <p:tgtEl>
                      <p:spTgt spid="15"/>
                    </p:tgtEl>
                  </p:cond>
                </p:stCondLst>
                <p:endSync evt="end" delay="0">
                  <p:rtn val="all"/>
                </p:endSync>
                <p:childTnLst>
                  <p:par>
                    <p:cTn id="41" fill="hold">
                      <p:stCondLst>
                        <p:cond delay="0"/>
                      </p:stCondLst>
                      <p:childTnLst>
                        <p:par>
                          <p:cTn id="42" fill="hold">
                            <p:stCondLst>
                              <p:cond delay="0"/>
                            </p:stCondLst>
                            <p:childTnLst>
                              <p:par>
                                <p:cTn id="43" presetID="1" presetClass="exit" presetSubtype="0" fill="hold" grpId="2" nodeType="clickEffect">
                                  <p:stCondLst>
                                    <p:cond delay="0"/>
                                  </p:stCondLst>
                                  <p:childTnLst>
                                    <p:set>
                                      <p:cBhvr>
                                        <p:cTn id="44" dur="1" fill="hold">
                                          <p:stCondLst>
                                            <p:cond delay="0"/>
                                          </p:stCondLst>
                                        </p:cTn>
                                        <p:tgtEl>
                                          <p:spTgt spid="1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3" nodeType="click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childTnLst>
              </p:cTn>
              <p:nextCondLst>
                <p:cond evt="onClick" delay="0">
                  <p:tgtEl>
                    <p:spTgt spid="15"/>
                  </p:tgtEl>
                </p:cond>
              </p:nextCondLst>
            </p:seq>
            <p:seq concurrent="1" nextAc="seek">
              <p:cTn id="49" restart="whenNotActive" fill="hold" evtFilter="cancelBubble" nodeType="interactiveSeq">
                <p:stCondLst>
                  <p:cond evt="onClick" delay="0">
                    <p:tgtEl>
                      <p:spTgt spid="16"/>
                    </p:tgtEl>
                  </p:cond>
                </p:stCondLst>
                <p:endSync evt="end" delay="0">
                  <p:rtn val="all"/>
                </p:endSync>
                <p:childTnLst>
                  <p:par>
                    <p:cTn id="50" fill="hold">
                      <p:stCondLst>
                        <p:cond delay="0"/>
                      </p:stCondLst>
                      <p:childTnLst>
                        <p:par>
                          <p:cTn id="51" fill="hold">
                            <p:stCondLst>
                              <p:cond delay="0"/>
                            </p:stCondLst>
                            <p:childTnLst>
                              <p:par>
                                <p:cTn id="52" presetID="1" presetClass="exit" presetSubtype="0" fill="hold" grpId="2" nodeType="clickEffect">
                                  <p:stCondLst>
                                    <p:cond delay="0"/>
                                  </p:stCondLst>
                                  <p:childTnLst>
                                    <p:set>
                                      <p:cBhvr>
                                        <p:cTn id="53" dur="1" fill="hold">
                                          <p:stCondLst>
                                            <p:cond delay="0"/>
                                          </p:stCondLst>
                                        </p:cTn>
                                        <p:tgtEl>
                                          <p:spTgt spid="18"/>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3" nodeType="clickEffect">
                                  <p:stCondLst>
                                    <p:cond delay="0"/>
                                  </p:stCondLst>
                                  <p:childTnLst>
                                    <p:set>
                                      <p:cBhvr>
                                        <p:cTn id="57" dur="1" fill="hold">
                                          <p:stCondLst>
                                            <p:cond delay="0"/>
                                          </p:stCondLst>
                                        </p:cTn>
                                        <p:tgtEl>
                                          <p:spTgt spid="18"/>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seq concurrent="1" nextAc="seek">
              <p:cTn id="58" restart="whenNotActive" fill="hold" evtFilter="cancelBubble" nodeType="interactiveSeq">
                <p:stCondLst>
                  <p:cond evt="onClick" delay="0">
                    <p:tgtEl>
                      <p:spTgt spid="19"/>
                    </p:tgtEl>
                  </p:cond>
                </p:stCondLst>
                <p:endSync evt="end" delay="0">
                  <p:rtn val="all"/>
                </p:endSync>
                <p:childTnLst>
                  <p:par>
                    <p:cTn id="59" fill="hold">
                      <p:stCondLst>
                        <p:cond delay="0"/>
                      </p:stCondLst>
                      <p:childTnLst>
                        <p:par>
                          <p:cTn id="60" fill="hold">
                            <p:stCondLst>
                              <p:cond delay="0"/>
                            </p:stCondLst>
                            <p:childTnLst>
                              <p:par>
                                <p:cTn id="61" presetID="1" presetClass="exit" presetSubtype="0" fill="hold" grpId="2" nodeType="clickEffect">
                                  <p:stCondLst>
                                    <p:cond delay="0"/>
                                  </p:stCondLst>
                                  <p:childTnLst>
                                    <p:set>
                                      <p:cBhvr>
                                        <p:cTn id="62" dur="1" fill="hold">
                                          <p:stCondLst>
                                            <p:cond delay="0"/>
                                          </p:stCondLst>
                                        </p:cTn>
                                        <p:tgtEl>
                                          <p:spTgt spid="2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3" nodeType="click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childTnLst>
              </p:cTn>
              <p:nextCondLst>
                <p:cond evt="onClick" delay="0">
                  <p:tgtEl>
                    <p:spTgt spid="19"/>
                  </p:tgtEl>
                </p:cond>
              </p:nextCondLst>
            </p:seq>
            <p:seq concurrent="1" nextAc="seek">
              <p:cTn id="67" restart="whenNotActive" fill="hold" evtFilter="cancelBubble" nodeType="interactiveSeq">
                <p:stCondLst>
                  <p:cond evt="onClick" delay="0">
                    <p:tgtEl>
                      <p:spTgt spid="23"/>
                    </p:tgtEl>
                  </p:cond>
                </p:stCondLst>
                <p:endSync evt="end" delay="0">
                  <p:rtn val="all"/>
                </p:endSync>
                <p:childTnLst>
                  <p:par>
                    <p:cTn id="68" fill="hold">
                      <p:stCondLst>
                        <p:cond delay="0"/>
                      </p:stCondLst>
                      <p:childTnLst>
                        <p:par>
                          <p:cTn id="69" fill="hold">
                            <p:stCondLst>
                              <p:cond delay="0"/>
                            </p:stCondLst>
                            <p:childTnLst>
                              <p:par>
                                <p:cTn id="70" presetID="1" presetClass="exit" presetSubtype="0" fill="hold" grpId="2" nodeType="clickEffect">
                                  <p:stCondLst>
                                    <p:cond delay="0"/>
                                  </p:stCondLst>
                                  <p:childTnLst>
                                    <p:set>
                                      <p:cBhvr>
                                        <p:cTn id="71" dur="1" fill="hold">
                                          <p:stCondLst>
                                            <p:cond delay="0"/>
                                          </p:stCondLst>
                                        </p:cTn>
                                        <p:tgtEl>
                                          <p:spTgt spid="21"/>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3" nodeType="clickEffect">
                                  <p:stCondLst>
                                    <p:cond delay="0"/>
                                  </p:stCondLst>
                                  <p:childTnLst>
                                    <p:set>
                                      <p:cBhvr>
                                        <p:cTn id="75" dur="1" fill="hold">
                                          <p:stCondLst>
                                            <p:cond delay="0"/>
                                          </p:stCondLst>
                                        </p:cTn>
                                        <p:tgtEl>
                                          <p:spTgt spid="21"/>
                                        </p:tgtEl>
                                        <p:attrNameLst>
                                          <p:attrName>style.visibility</p:attrName>
                                        </p:attrNameLst>
                                      </p:cBhvr>
                                      <p:to>
                                        <p:strVal val="visible"/>
                                      </p:to>
                                    </p:set>
                                  </p:childTnLst>
                                </p:cTn>
                              </p:par>
                            </p:childTnLst>
                          </p:cTn>
                        </p:par>
                      </p:childTnLst>
                    </p:cTn>
                  </p:par>
                </p:childTnLst>
              </p:cTn>
              <p:nextCondLst>
                <p:cond evt="onClick" delay="0">
                  <p:tgtEl>
                    <p:spTgt spid="23"/>
                  </p:tgtEl>
                </p:cond>
              </p:nextCondLst>
            </p:seq>
            <p:seq concurrent="1" nextAc="seek">
              <p:cTn id="76" restart="whenNotActive" fill="hold" evtFilter="cancelBubble" nodeType="interactiveSeq">
                <p:stCondLst>
                  <p:cond evt="onClick" delay="0">
                    <p:tgtEl>
                      <p:spTgt spid="24"/>
                    </p:tgtEl>
                  </p:cond>
                </p:stCondLst>
                <p:endSync evt="end" delay="0">
                  <p:rtn val="all"/>
                </p:endSync>
                <p:childTnLst>
                  <p:par>
                    <p:cTn id="77" fill="hold">
                      <p:stCondLst>
                        <p:cond delay="0"/>
                      </p:stCondLst>
                      <p:childTnLst>
                        <p:par>
                          <p:cTn id="78" fill="hold">
                            <p:stCondLst>
                              <p:cond delay="0"/>
                            </p:stCondLst>
                            <p:childTnLst>
                              <p:par>
                                <p:cTn id="79" presetID="1" presetClass="exit" presetSubtype="0" fill="hold" grpId="2" nodeType="clickEffect">
                                  <p:stCondLst>
                                    <p:cond delay="0"/>
                                  </p:stCondLst>
                                  <p:childTnLst>
                                    <p:set>
                                      <p:cBhvr>
                                        <p:cTn id="80" dur="1" fill="hold">
                                          <p:stCondLst>
                                            <p:cond delay="0"/>
                                          </p:stCondLst>
                                        </p:cTn>
                                        <p:tgtEl>
                                          <p:spTgt spid="22"/>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3" nodeType="clickEffect">
                                  <p:stCondLst>
                                    <p:cond delay="0"/>
                                  </p:stCondLst>
                                  <p:childTnLst>
                                    <p:set>
                                      <p:cBhvr>
                                        <p:cTn id="84"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24"/>
                  </p:tgtEl>
                </p:cond>
              </p:nextCondLst>
            </p:seq>
          </p:childTnLst>
        </p:cTn>
      </p:par>
    </p:tnLst>
    <p:bldLst>
      <p:bldP spid="5" grpId="0" animBg="1"/>
      <p:bldP spid="5" grpId="1" animBg="1"/>
      <p:bldP spid="5" grpId="2" animBg="1"/>
      <p:bldP spid="5" grpId="3" animBg="1"/>
      <p:bldP spid="17" grpId="0" animBg="1"/>
      <p:bldP spid="17" grpId="1" animBg="1"/>
      <p:bldP spid="17" grpId="2" animBg="1"/>
      <p:bldP spid="17" grpId="3" animBg="1"/>
      <p:bldP spid="18" grpId="0" animBg="1"/>
      <p:bldP spid="18" grpId="1" animBg="1"/>
      <p:bldP spid="18" grpId="2" animBg="1"/>
      <p:bldP spid="18" grpId="3" animBg="1"/>
      <p:bldP spid="20" grpId="0" animBg="1"/>
      <p:bldP spid="20" grpId="1" animBg="1"/>
      <p:bldP spid="20" grpId="2" animBg="1"/>
      <p:bldP spid="20" grpId="3" animBg="1"/>
      <p:bldP spid="21" grpId="0" animBg="1"/>
      <p:bldP spid="21" grpId="1" animBg="1"/>
      <p:bldP spid="21" grpId="2" animBg="1"/>
      <p:bldP spid="21" grpId="3" animBg="1"/>
      <p:bldP spid="22" grpId="0" animBg="1"/>
      <p:bldP spid="22" grpId="1" animBg="1"/>
      <p:bldP spid="22" grpId="2" animBg="1"/>
      <p:bldP spid="22" grpId="3"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EF00891-F638-F212-B31A-997FF27788A0}"/>
              </a:ext>
            </a:extLst>
          </p:cNvPr>
          <p:cNvSpPr txBox="1"/>
          <p:nvPr/>
        </p:nvSpPr>
        <p:spPr>
          <a:xfrm>
            <a:off x="2747821" y="1382834"/>
            <a:ext cx="1233351" cy="461665"/>
          </a:xfrm>
          <a:prstGeom prst="rect">
            <a:avLst/>
          </a:prstGeom>
          <a:noFill/>
        </p:spPr>
        <p:txBody>
          <a:bodyPr wrap="none" rtlCol="0">
            <a:spAutoFit/>
          </a:bodyPr>
          <a:lstStyle/>
          <a:p>
            <a:pPr algn="just"/>
            <a:r>
              <a:rPr lang="en-US" altLang="zh-CN" sz="2400" dirty="0"/>
              <a:t>alleviate</a:t>
            </a:r>
            <a:endParaRPr lang="zh-CN" altLang="en-US" sz="2400" dirty="0"/>
          </a:p>
        </p:txBody>
      </p:sp>
      <p:sp>
        <p:nvSpPr>
          <p:cNvPr id="6" name="文本框 5">
            <a:extLst>
              <a:ext uri="{FF2B5EF4-FFF2-40B4-BE49-F238E27FC236}">
                <a16:creationId xmlns:a16="http://schemas.microsoft.com/office/drawing/2014/main" id="{D077D5F3-8732-816A-5EF8-8AE12A98DA00}"/>
              </a:ext>
            </a:extLst>
          </p:cNvPr>
          <p:cNvSpPr txBox="1"/>
          <p:nvPr/>
        </p:nvSpPr>
        <p:spPr>
          <a:xfrm>
            <a:off x="6891467" y="1381366"/>
            <a:ext cx="1534587" cy="461665"/>
          </a:xfrm>
          <a:prstGeom prst="rect">
            <a:avLst/>
          </a:prstGeom>
          <a:noFill/>
        </p:spPr>
        <p:txBody>
          <a:bodyPr wrap="none" rtlCol="0">
            <a:spAutoFit/>
          </a:bodyPr>
          <a:lstStyle/>
          <a:p>
            <a:pPr algn="ctr"/>
            <a:r>
              <a:rPr lang="en-US" altLang="zh-CN" sz="2400" dirty="0"/>
              <a:t>participate</a:t>
            </a:r>
          </a:p>
        </p:txBody>
      </p:sp>
      <p:sp>
        <p:nvSpPr>
          <p:cNvPr id="8" name="文本框 7">
            <a:extLst>
              <a:ext uri="{FF2B5EF4-FFF2-40B4-BE49-F238E27FC236}">
                <a16:creationId xmlns:a16="http://schemas.microsoft.com/office/drawing/2014/main" id="{61AAA86F-FC87-60E7-8353-EDE7B633636C}"/>
              </a:ext>
            </a:extLst>
          </p:cNvPr>
          <p:cNvSpPr txBox="1"/>
          <p:nvPr/>
        </p:nvSpPr>
        <p:spPr>
          <a:xfrm>
            <a:off x="2747821" y="1954702"/>
            <a:ext cx="1272271" cy="461665"/>
          </a:xfrm>
          <a:prstGeom prst="rect">
            <a:avLst/>
          </a:prstGeom>
          <a:noFill/>
        </p:spPr>
        <p:txBody>
          <a:bodyPr wrap="none" rtlCol="0">
            <a:spAutoFit/>
          </a:bodyPr>
          <a:lstStyle/>
          <a:p>
            <a:pPr algn="ctr"/>
            <a:r>
              <a:rPr lang="en-US" altLang="zh-CN" sz="2400" dirty="0"/>
              <a:t>innovate</a:t>
            </a:r>
          </a:p>
        </p:txBody>
      </p:sp>
      <p:sp>
        <p:nvSpPr>
          <p:cNvPr id="10" name="文本框 9">
            <a:extLst>
              <a:ext uri="{FF2B5EF4-FFF2-40B4-BE49-F238E27FC236}">
                <a16:creationId xmlns:a16="http://schemas.microsoft.com/office/drawing/2014/main" id="{E989F40B-0648-97CA-4174-B9AAD18D3F76}"/>
              </a:ext>
            </a:extLst>
          </p:cNvPr>
          <p:cNvSpPr txBox="1"/>
          <p:nvPr/>
        </p:nvSpPr>
        <p:spPr>
          <a:xfrm>
            <a:off x="6891467" y="1954702"/>
            <a:ext cx="827599" cy="461665"/>
          </a:xfrm>
          <a:prstGeom prst="rect">
            <a:avLst/>
          </a:prstGeom>
          <a:noFill/>
        </p:spPr>
        <p:txBody>
          <a:bodyPr wrap="none" rtlCol="0">
            <a:spAutoFit/>
          </a:bodyPr>
          <a:lstStyle/>
          <a:p>
            <a:pPr algn="ctr"/>
            <a:r>
              <a:rPr lang="en-US" altLang="zh-CN" sz="2400" dirty="0"/>
              <a:t>drain</a:t>
            </a:r>
            <a:endParaRPr lang="zh-CN" altLang="en-US" sz="2400" dirty="0"/>
          </a:p>
        </p:txBody>
      </p:sp>
      <p:sp>
        <p:nvSpPr>
          <p:cNvPr id="12" name="文本框 11">
            <a:extLst>
              <a:ext uri="{FF2B5EF4-FFF2-40B4-BE49-F238E27FC236}">
                <a16:creationId xmlns:a16="http://schemas.microsoft.com/office/drawing/2014/main" id="{4393E553-3155-DC85-BADB-9D869689D6EE}"/>
              </a:ext>
            </a:extLst>
          </p:cNvPr>
          <p:cNvSpPr txBox="1"/>
          <p:nvPr/>
        </p:nvSpPr>
        <p:spPr>
          <a:xfrm>
            <a:off x="2747821" y="2528037"/>
            <a:ext cx="1623393" cy="461665"/>
          </a:xfrm>
          <a:prstGeom prst="rect">
            <a:avLst/>
          </a:prstGeom>
          <a:noFill/>
        </p:spPr>
        <p:txBody>
          <a:bodyPr wrap="none" rtlCol="0">
            <a:spAutoFit/>
          </a:bodyPr>
          <a:lstStyle/>
          <a:p>
            <a:pPr algn="ctr"/>
            <a:r>
              <a:rPr lang="en-US" altLang="zh-CN" sz="2400" dirty="0"/>
              <a:t>standardize</a:t>
            </a:r>
          </a:p>
        </p:txBody>
      </p:sp>
      <p:sp>
        <p:nvSpPr>
          <p:cNvPr id="13" name="文本框 12">
            <a:extLst>
              <a:ext uri="{FF2B5EF4-FFF2-40B4-BE49-F238E27FC236}">
                <a16:creationId xmlns:a16="http://schemas.microsoft.com/office/drawing/2014/main" id="{E94A4AAD-B193-7956-F4E6-DD8008591024}"/>
              </a:ext>
            </a:extLst>
          </p:cNvPr>
          <p:cNvSpPr txBox="1"/>
          <p:nvPr/>
        </p:nvSpPr>
        <p:spPr>
          <a:xfrm>
            <a:off x="6891467" y="2528037"/>
            <a:ext cx="1061508" cy="461665"/>
          </a:xfrm>
          <a:prstGeom prst="rect">
            <a:avLst/>
          </a:prstGeom>
          <a:noFill/>
        </p:spPr>
        <p:txBody>
          <a:bodyPr wrap="none" rtlCol="0">
            <a:spAutoFit/>
          </a:bodyPr>
          <a:lstStyle/>
          <a:p>
            <a:pPr algn="ctr"/>
            <a:r>
              <a:rPr lang="en-US" altLang="zh-CN" sz="2400" dirty="0"/>
              <a:t>inhabit</a:t>
            </a:r>
          </a:p>
        </p:txBody>
      </p:sp>
      <p:sp>
        <p:nvSpPr>
          <p:cNvPr id="11" name="圆角矩形 10"/>
          <p:cNvSpPr/>
          <p:nvPr/>
        </p:nvSpPr>
        <p:spPr>
          <a:xfrm>
            <a:off x="467715" y="1286955"/>
            <a:ext cx="8323860" cy="1834191"/>
          </a:xfrm>
          <a:prstGeom prst="roundRect">
            <a:avLst>
              <a:gd name="adj" fmla="val 10517"/>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899745" y="1381367"/>
            <a:ext cx="1477136" cy="461665"/>
          </a:xfrm>
          <a:prstGeom prst="rect">
            <a:avLst/>
          </a:prstGeom>
          <a:noFill/>
        </p:spPr>
        <p:txBody>
          <a:bodyPr wrap="none" rtlCol="0">
            <a:spAutoFit/>
          </a:bodyPr>
          <a:lstStyle/>
          <a:p>
            <a:r>
              <a:rPr lang="en-US" altLang="zh-CN" sz="2400" dirty="0"/>
              <a:t>alleviation</a:t>
            </a:r>
          </a:p>
        </p:txBody>
      </p:sp>
      <p:sp>
        <p:nvSpPr>
          <p:cNvPr id="14" name="文本框 13"/>
          <p:cNvSpPr txBox="1"/>
          <p:nvPr/>
        </p:nvSpPr>
        <p:spPr>
          <a:xfrm>
            <a:off x="4742154" y="1381367"/>
            <a:ext cx="1778372" cy="461665"/>
          </a:xfrm>
          <a:prstGeom prst="rect">
            <a:avLst/>
          </a:prstGeom>
          <a:noFill/>
        </p:spPr>
        <p:txBody>
          <a:bodyPr wrap="none" rtlCol="0">
            <a:spAutoFit/>
          </a:bodyPr>
          <a:lstStyle/>
          <a:p>
            <a:pPr algn="ctr"/>
            <a:r>
              <a:rPr lang="en-US" altLang="zh-CN" sz="2400" dirty="0"/>
              <a:t>participation</a:t>
            </a:r>
            <a:endParaRPr lang="zh-CN" altLang="en-US" sz="2400" dirty="0"/>
          </a:p>
        </p:txBody>
      </p:sp>
      <p:sp>
        <p:nvSpPr>
          <p:cNvPr id="15" name="文本框 14"/>
          <p:cNvSpPr txBox="1"/>
          <p:nvPr/>
        </p:nvSpPr>
        <p:spPr>
          <a:xfrm>
            <a:off x="899745" y="1954702"/>
            <a:ext cx="1516056" cy="461665"/>
          </a:xfrm>
          <a:prstGeom prst="rect">
            <a:avLst/>
          </a:prstGeom>
          <a:noFill/>
        </p:spPr>
        <p:txBody>
          <a:bodyPr wrap="none" rtlCol="0">
            <a:spAutoFit/>
          </a:bodyPr>
          <a:lstStyle/>
          <a:p>
            <a:pPr algn="ctr"/>
            <a:r>
              <a:rPr lang="en-US" altLang="zh-CN" sz="2400" dirty="0"/>
              <a:t>innovation</a:t>
            </a:r>
            <a:endParaRPr lang="zh-CN" altLang="en-US" sz="2400" dirty="0"/>
          </a:p>
        </p:txBody>
      </p:sp>
      <p:sp>
        <p:nvSpPr>
          <p:cNvPr id="16" name="文本框 15"/>
          <p:cNvSpPr txBox="1"/>
          <p:nvPr/>
        </p:nvSpPr>
        <p:spPr>
          <a:xfrm>
            <a:off x="4742154" y="1954702"/>
            <a:ext cx="1270669" cy="461665"/>
          </a:xfrm>
          <a:prstGeom prst="rect">
            <a:avLst/>
          </a:prstGeom>
          <a:noFill/>
        </p:spPr>
        <p:txBody>
          <a:bodyPr wrap="none" rtlCol="0">
            <a:spAutoFit/>
          </a:bodyPr>
          <a:lstStyle/>
          <a:p>
            <a:pPr algn="ctr"/>
            <a:r>
              <a:rPr lang="en-US" altLang="zh-CN" sz="2400" dirty="0"/>
              <a:t>drainage</a:t>
            </a:r>
          </a:p>
        </p:txBody>
      </p:sp>
      <p:sp>
        <p:nvSpPr>
          <p:cNvPr id="17" name="文本框 16"/>
          <p:cNvSpPr txBox="1"/>
          <p:nvPr/>
        </p:nvSpPr>
        <p:spPr>
          <a:xfrm>
            <a:off x="899745" y="2528037"/>
            <a:ext cx="1284069" cy="461665"/>
          </a:xfrm>
          <a:prstGeom prst="rect">
            <a:avLst/>
          </a:prstGeom>
          <a:noFill/>
        </p:spPr>
        <p:txBody>
          <a:bodyPr wrap="none" rtlCol="0">
            <a:spAutoFit/>
          </a:bodyPr>
          <a:lstStyle/>
          <a:p>
            <a:pPr algn="ctr"/>
            <a:r>
              <a:rPr lang="en-US" altLang="zh-CN" sz="2400" dirty="0"/>
              <a:t>standard</a:t>
            </a:r>
            <a:endParaRPr lang="zh-CN" altLang="en-US" sz="2400" dirty="0"/>
          </a:p>
        </p:txBody>
      </p:sp>
      <p:sp>
        <p:nvSpPr>
          <p:cNvPr id="18" name="文本框 17"/>
          <p:cNvSpPr txBox="1"/>
          <p:nvPr/>
        </p:nvSpPr>
        <p:spPr>
          <a:xfrm>
            <a:off x="4742154" y="2528037"/>
            <a:ext cx="1466813" cy="461665"/>
          </a:xfrm>
          <a:prstGeom prst="rect">
            <a:avLst/>
          </a:prstGeom>
          <a:noFill/>
        </p:spPr>
        <p:txBody>
          <a:bodyPr wrap="none" rtlCol="0">
            <a:spAutoFit/>
          </a:bodyPr>
          <a:lstStyle/>
          <a:p>
            <a:pPr algn="ctr"/>
            <a:r>
              <a:rPr lang="en-US" altLang="zh-CN" sz="2400" dirty="0"/>
              <a:t>inhabitant</a:t>
            </a:r>
          </a:p>
        </p:txBody>
      </p:sp>
      <p:sp>
        <p:nvSpPr>
          <p:cNvPr id="19" name="文本框 18"/>
          <p:cNvSpPr txBox="1"/>
          <p:nvPr/>
        </p:nvSpPr>
        <p:spPr>
          <a:xfrm>
            <a:off x="366165" y="3448524"/>
            <a:ext cx="485955" cy="2908489"/>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pPr>
              <a:lnSpc>
                <a:spcPts val="600"/>
              </a:lnSpc>
            </a:pPr>
            <a:endParaRPr lang="en-US" altLang="zh-CN" sz="2400" b="1" dirty="0">
              <a:solidFill>
                <a:srgbClr val="C6383E"/>
              </a:solidFill>
            </a:endParaRPr>
          </a:p>
          <a:p>
            <a:r>
              <a:rPr lang="en-US" altLang="zh-CN" sz="2400" b="1" dirty="0">
                <a:solidFill>
                  <a:srgbClr val="C6383E"/>
                </a:solidFill>
              </a:rPr>
              <a:t>2</a:t>
            </a:r>
          </a:p>
          <a:p>
            <a:endParaRPr lang="en-US" altLang="zh-CN" sz="2400" b="1" dirty="0">
              <a:solidFill>
                <a:srgbClr val="C6383E"/>
              </a:solidFill>
              <a:latin typeface="Cambria" panose="02040503050406030204" pitchFamily="18" charset="0"/>
              <a:cs typeface="Times New Roman" panose="02020603050405020304" pitchFamily="18" charset="0"/>
            </a:endParaRPr>
          </a:p>
          <a:p>
            <a:pPr>
              <a:lnSpc>
                <a:spcPts val="600"/>
              </a:lnSpc>
            </a:pPr>
            <a:endParaRPr lang="en-US" altLang="zh-CN" sz="2400" b="1" dirty="0">
              <a:solidFill>
                <a:srgbClr val="C6383E"/>
              </a:solidFill>
              <a:latin typeface="Cambria" panose="02040503050406030204" pitchFamily="18" charset="0"/>
              <a:cs typeface="Times New Roman" panose="02020603050405020304" pitchFamily="18" charset="0"/>
            </a:endParaRPr>
          </a:p>
          <a:p>
            <a:r>
              <a:rPr lang="en-US" altLang="zh-CN" sz="2400" b="1" dirty="0">
                <a:solidFill>
                  <a:srgbClr val="C6383E"/>
                </a:solidFill>
              </a:rPr>
              <a:t>3</a:t>
            </a:r>
          </a:p>
          <a:p>
            <a:endParaRPr lang="en-US" altLang="zh-CN" sz="2400" b="1" dirty="0">
              <a:solidFill>
                <a:srgbClr val="C6383E"/>
              </a:solidFill>
            </a:endParaRPr>
          </a:p>
          <a:p>
            <a:pPr>
              <a:lnSpc>
                <a:spcPts val="600"/>
              </a:lnSpc>
            </a:pPr>
            <a:endParaRPr lang="en-US" altLang="zh-CN" sz="2400" b="1" dirty="0">
              <a:solidFill>
                <a:srgbClr val="C6383E"/>
              </a:solidFill>
            </a:endParaRPr>
          </a:p>
          <a:p>
            <a:r>
              <a:rPr lang="en-US" altLang="zh-CN" sz="2400" b="1" dirty="0">
                <a:solidFill>
                  <a:srgbClr val="C6383E"/>
                </a:solidFill>
              </a:rPr>
              <a:t>4</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20" name="文本框 19"/>
          <p:cNvSpPr txBox="1"/>
          <p:nvPr/>
        </p:nvSpPr>
        <p:spPr>
          <a:xfrm>
            <a:off x="660400" y="3448524"/>
            <a:ext cx="8231900" cy="2908489"/>
          </a:xfrm>
          <a:prstGeom prst="rect">
            <a:avLst/>
          </a:prstGeom>
          <a:noFill/>
        </p:spPr>
        <p:txBody>
          <a:bodyPr wrap="square" rtlCol="0">
            <a:spAutoFit/>
          </a:bodyPr>
          <a:lstStyle/>
          <a:p>
            <a:pPr algn="just"/>
            <a:r>
              <a:rPr lang="en-US" altLang="zh-CN" sz="2400" dirty="0"/>
              <a:t>This medicine is used to _________ the symptoms of the flu, but it cannot completely cure it.</a:t>
            </a:r>
          </a:p>
          <a:p>
            <a:pPr algn="just">
              <a:lnSpc>
                <a:spcPts val="600"/>
              </a:lnSpc>
            </a:pPr>
            <a:endParaRPr lang="en-US" altLang="zh-CN" sz="2400" dirty="0"/>
          </a:p>
          <a:p>
            <a:pPr algn="just"/>
            <a:r>
              <a:rPr lang="en-US" altLang="zh-CN" sz="2400" spc="-50" dirty="0"/>
              <a:t>The “New World” was actually</a:t>
            </a:r>
            <a:r>
              <a:rPr lang="en-US" altLang="zh-CN" sz="2400" dirty="0"/>
              <a:t> _________ </a:t>
            </a:r>
            <a:r>
              <a:rPr lang="en-US" altLang="zh-CN" sz="2400" spc="-50" dirty="0"/>
              <a:t>by some aboriginal tribes</a:t>
            </a:r>
            <a:r>
              <a:rPr lang="en-US" altLang="zh-CN" sz="2400" dirty="0"/>
              <a:t> long before the “discovery” made by those European colonists.</a:t>
            </a:r>
          </a:p>
          <a:p>
            <a:pPr algn="just">
              <a:lnSpc>
                <a:spcPts val="600"/>
              </a:lnSpc>
            </a:pPr>
            <a:endParaRPr lang="en-US" altLang="zh-CN" sz="2400" dirty="0"/>
          </a:p>
          <a:p>
            <a:pPr algn="just"/>
            <a:r>
              <a:rPr lang="en-US" altLang="zh-CN" sz="2400" spc="10" dirty="0"/>
              <a:t>The doctor said I should stop my</a:t>
            </a:r>
            <a:r>
              <a:rPr lang="en-US" altLang="zh-CN" sz="2400" dirty="0"/>
              <a:t> ____________ </a:t>
            </a:r>
            <a:r>
              <a:rPr lang="en-US" altLang="zh-CN" sz="2400" spc="10" dirty="0"/>
              <a:t>in any sports for</a:t>
            </a:r>
            <a:r>
              <a:rPr lang="en-US" altLang="zh-CN" sz="2400" dirty="0"/>
              <a:t> at least two months.</a:t>
            </a:r>
          </a:p>
          <a:p>
            <a:pPr algn="just">
              <a:lnSpc>
                <a:spcPts val="600"/>
              </a:lnSpc>
            </a:pPr>
            <a:endParaRPr lang="en-US" altLang="zh-CN" sz="2400" dirty="0"/>
          </a:p>
          <a:p>
            <a:pPr algn="just"/>
            <a:r>
              <a:rPr lang="en-US" altLang="zh-CN" sz="2400" dirty="0"/>
              <a:t>The system is designed to ______ the rain water away quickly.</a:t>
            </a:r>
          </a:p>
        </p:txBody>
      </p:sp>
      <p:sp>
        <p:nvSpPr>
          <p:cNvPr id="4" name="文本框 3"/>
          <p:cNvSpPr txBox="1"/>
          <p:nvPr/>
        </p:nvSpPr>
        <p:spPr>
          <a:xfrm>
            <a:off x="3869198" y="3429000"/>
            <a:ext cx="1233351" cy="461665"/>
          </a:xfrm>
          <a:prstGeom prst="rect">
            <a:avLst/>
          </a:prstGeom>
          <a:noFill/>
        </p:spPr>
        <p:txBody>
          <a:bodyPr wrap="none" rtlCol="0">
            <a:spAutoFit/>
          </a:bodyPr>
          <a:lstStyle/>
          <a:p>
            <a:pPr algn="just"/>
            <a:r>
              <a:rPr lang="en-US" altLang="zh-CN" sz="2400" dirty="0">
                <a:solidFill>
                  <a:srgbClr val="FF0000"/>
                </a:solidFill>
              </a:rPr>
              <a:t>alleviate</a:t>
            </a:r>
            <a:endParaRPr lang="zh-CN" altLang="en-US" sz="2400" dirty="0">
              <a:solidFill>
                <a:srgbClr val="FF0000"/>
              </a:solidFill>
            </a:endParaRPr>
          </a:p>
        </p:txBody>
      </p:sp>
      <p:sp>
        <p:nvSpPr>
          <p:cNvPr id="21" name="文本框 20"/>
          <p:cNvSpPr txBox="1"/>
          <p:nvPr/>
        </p:nvSpPr>
        <p:spPr>
          <a:xfrm>
            <a:off x="4396236" y="4234206"/>
            <a:ext cx="1373966" cy="461665"/>
          </a:xfrm>
          <a:prstGeom prst="rect">
            <a:avLst/>
          </a:prstGeom>
          <a:noFill/>
        </p:spPr>
        <p:txBody>
          <a:bodyPr wrap="none" rtlCol="0">
            <a:spAutoFit/>
          </a:bodyPr>
          <a:lstStyle/>
          <a:p>
            <a:pPr algn="just"/>
            <a:r>
              <a:rPr lang="en-US" altLang="zh-CN" sz="2400" dirty="0">
                <a:solidFill>
                  <a:srgbClr val="FF0000"/>
                </a:solidFill>
              </a:rPr>
              <a:t>inhabited</a:t>
            </a:r>
            <a:endParaRPr lang="zh-CN" altLang="en-US" sz="2400" dirty="0">
              <a:solidFill>
                <a:srgbClr val="FF0000"/>
              </a:solidFill>
            </a:endParaRPr>
          </a:p>
        </p:txBody>
      </p:sp>
      <p:sp>
        <p:nvSpPr>
          <p:cNvPr id="22" name="文本框 21"/>
          <p:cNvSpPr txBox="1"/>
          <p:nvPr/>
        </p:nvSpPr>
        <p:spPr>
          <a:xfrm>
            <a:off x="4900823" y="5016209"/>
            <a:ext cx="1778372" cy="461665"/>
          </a:xfrm>
          <a:prstGeom prst="rect">
            <a:avLst/>
          </a:prstGeom>
          <a:noFill/>
        </p:spPr>
        <p:txBody>
          <a:bodyPr wrap="none" rtlCol="0">
            <a:spAutoFit/>
          </a:bodyPr>
          <a:lstStyle/>
          <a:p>
            <a:pPr algn="just"/>
            <a:r>
              <a:rPr lang="en-US" altLang="zh-CN" sz="2400" dirty="0">
                <a:solidFill>
                  <a:srgbClr val="FF0000"/>
                </a:solidFill>
              </a:rPr>
              <a:t>participation</a:t>
            </a:r>
            <a:endParaRPr lang="zh-CN" altLang="en-US" sz="2400" dirty="0">
              <a:solidFill>
                <a:srgbClr val="FF0000"/>
              </a:solidFill>
            </a:endParaRPr>
          </a:p>
        </p:txBody>
      </p:sp>
      <p:sp>
        <p:nvSpPr>
          <p:cNvPr id="23" name="文本框 22"/>
          <p:cNvSpPr txBox="1"/>
          <p:nvPr/>
        </p:nvSpPr>
        <p:spPr>
          <a:xfrm>
            <a:off x="4022647" y="5855889"/>
            <a:ext cx="827599" cy="461665"/>
          </a:xfrm>
          <a:prstGeom prst="rect">
            <a:avLst/>
          </a:prstGeom>
          <a:noFill/>
        </p:spPr>
        <p:txBody>
          <a:bodyPr wrap="none" rtlCol="0">
            <a:spAutoFit/>
          </a:bodyPr>
          <a:lstStyle/>
          <a:p>
            <a:pPr algn="just"/>
            <a:r>
              <a:rPr lang="en-US" altLang="zh-CN" sz="2400" dirty="0">
                <a:solidFill>
                  <a:srgbClr val="FF0000"/>
                </a:solidFill>
              </a:rPr>
              <a:t>drain</a:t>
            </a:r>
            <a:endParaRPr lang="zh-CN" altLang="en-US" sz="2400" dirty="0">
              <a:solidFill>
                <a:srgbClr val="FF0000"/>
              </a:solidFill>
            </a:endParaRPr>
          </a:p>
        </p:txBody>
      </p:sp>
      <p:sp>
        <p:nvSpPr>
          <p:cNvPr id="26" name="矩形 25"/>
          <p:cNvSpPr/>
          <p:nvPr/>
        </p:nvSpPr>
        <p:spPr>
          <a:xfrm>
            <a:off x="3814416" y="3517379"/>
            <a:ext cx="1344959" cy="30331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4412115" y="4328839"/>
            <a:ext cx="1344959" cy="30331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p:cNvSpPr/>
          <p:nvPr/>
        </p:nvSpPr>
        <p:spPr>
          <a:xfrm>
            <a:off x="4883976" y="5132456"/>
            <a:ext cx="1816862" cy="30331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3983388" y="5945851"/>
            <a:ext cx="910081" cy="30331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2747821" y="1382834"/>
            <a:ext cx="1233351"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alleviate</a:t>
            </a:r>
            <a:endParaRPr lang="zh-CN" altLang="en-US" sz="2400" strike="sngStrike" dirty="0">
              <a:solidFill>
                <a:schemeClr val="bg1">
                  <a:lumMod val="65000"/>
                </a:schemeClr>
              </a:solidFill>
            </a:endParaRPr>
          </a:p>
        </p:txBody>
      </p:sp>
      <p:sp>
        <p:nvSpPr>
          <p:cNvPr id="33" name="文本框 32"/>
          <p:cNvSpPr txBox="1"/>
          <p:nvPr/>
        </p:nvSpPr>
        <p:spPr>
          <a:xfrm>
            <a:off x="4742154" y="1381367"/>
            <a:ext cx="1778372"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participation</a:t>
            </a:r>
            <a:endParaRPr lang="zh-CN" altLang="en-US" sz="2400" strike="sngStrike" dirty="0">
              <a:solidFill>
                <a:schemeClr val="bg1">
                  <a:lumMod val="65000"/>
                </a:schemeClr>
              </a:solidFill>
            </a:endParaRPr>
          </a:p>
        </p:txBody>
      </p:sp>
      <p:sp>
        <p:nvSpPr>
          <p:cNvPr id="34" name="文本框 33"/>
          <p:cNvSpPr txBox="1"/>
          <p:nvPr/>
        </p:nvSpPr>
        <p:spPr>
          <a:xfrm>
            <a:off x="6891467" y="2528037"/>
            <a:ext cx="1061509"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inhabit</a:t>
            </a:r>
          </a:p>
        </p:txBody>
      </p:sp>
      <p:sp>
        <p:nvSpPr>
          <p:cNvPr id="35" name="文本框 34"/>
          <p:cNvSpPr txBox="1"/>
          <p:nvPr/>
        </p:nvSpPr>
        <p:spPr>
          <a:xfrm>
            <a:off x="6891467" y="1954702"/>
            <a:ext cx="827599"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drain</a:t>
            </a:r>
            <a:endParaRPr lang="zh-CN" altLang="en-US" sz="2400" strike="sngStrike" dirty="0">
              <a:solidFill>
                <a:schemeClr val="bg1">
                  <a:lumMod val="65000"/>
                </a:schemeClr>
              </a:solidFill>
            </a:endParaRPr>
          </a:p>
        </p:txBody>
      </p:sp>
      <p:pic>
        <p:nvPicPr>
          <p:cNvPr id="7"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9" name="Picture 3" descr="C:\Users\senj\Desktop\按钮.png">
            <a:hlinkClick r:id="" action="ppaction://hlinkshowjump?jump=previous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Tree>
    <p:extLst>
      <p:ext uri="{BB962C8B-B14F-4D97-AF65-F5344CB8AC3E}">
        <p14:creationId xmlns:p14="http://schemas.microsoft.com/office/powerpoint/2010/main" val="8316490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childTnLst>
              </p:cTn>
              <p:nextCondLst>
                <p:cond evt="onClick" delay="0">
                  <p:tgtEl>
                    <p:spTgt spid="26"/>
                  </p:tgtEl>
                </p:cond>
              </p:nextCondLst>
            </p:seq>
            <p:seq concurrent="1" nextAc="seek">
              <p:cTn id="9" restart="whenNotActive" fill="hold" evtFilter="cancelBubble" nodeType="interactiveSeq">
                <p:stCondLst>
                  <p:cond evt="onClick" delay="0">
                    <p:tgtEl>
                      <p:spTgt spid="27"/>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14" presetID="1" presetClass="entr" presetSubtype="0" fill="hold" grpId="0" nodeType="withEffect">
                                  <p:stCondLst>
                                    <p:cond delay="0"/>
                                  </p:stCondLst>
                                  <p:childTnLst>
                                    <p:set>
                                      <p:cBhvr>
                                        <p:cTn id="15"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childTnLst>
              </p:cTn>
              <p:nextCondLst>
                <p:cond evt="onClick" delay="0">
                  <p:tgtEl>
                    <p:spTgt spid="27"/>
                  </p:tgtEl>
                </p:cond>
              </p:nextCondLst>
            </p:seq>
            <p:seq concurrent="1" nextAc="seek">
              <p:cTn id="16" restart="whenNotActive" fill="hold" evtFilter="cancelBubble" nodeType="interactiveSeq">
                <p:stCondLst>
                  <p:cond evt="onClick" delay="0">
                    <p:tgtEl>
                      <p:spTgt spid="28"/>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childTnLst>
              </p:cTn>
              <p:nextCondLst>
                <p:cond evt="onClick" delay="0">
                  <p:tgtEl>
                    <p:spTgt spid="28"/>
                  </p:tgtEl>
                </p:cond>
              </p:nextCondLst>
            </p:seq>
            <p:seq concurrent="1" nextAc="seek">
              <p:cTn id="23" restart="whenNotActive" fill="hold" evtFilter="cancelBubble" nodeType="interactiveSeq">
                <p:stCondLst>
                  <p:cond evt="onClick" delay="0">
                    <p:tgtEl>
                      <p:spTgt spid="29"/>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par>
                                <p:cTn id="28" presetID="1"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childTnLst>
              </p:cTn>
              <p:nextCondLst>
                <p:cond evt="onClick" delay="0">
                  <p:tgtEl>
                    <p:spTgt spid="29"/>
                  </p:tgtEl>
                </p:cond>
              </p:nextCondLst>
            </p:seq>
          </p:childTnLst>
        </p:cTn>
      </p:par>
    </p:tnLst>
    <p:bldLst>
      <p:bldP spid="4" grpId="0"/>
      <p:bldP spid="21" grpId="0"/>
      <p:bldP spid="22" grpId="0"/>
      <p:bldP spid="23" grpId="0"/>
      <p:bldP spid="32" grpId="0" animBg="1"/>
      <p:bldP spid="33" grpId="0" animBg="1"/>
      <p:bldP spid="34" grpId="0" animBg="1"/>
      <p:bldP spid="35"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文本框 66">
            <a:extLst>
              <a:ext uri="{FF2B5EF4-FFF2-40B4-BE49-F238E27FC236}">
                <a16:creationId xmlns:a16="http://schemas.microsoft.com/office/drawing/2014/main" id="{D12AB997-6264-1F8B-8380-0DF5A88D2ED7}"/>
              </a:ext>
            </a:extLst>
          </p:cNvPr>
          <p:cNvSpPr txBox="1"/>
          <p:nvPr/>
        </p:nvSpPr>
        <p:spPr>
          <a:xfrm>
            <a:off x="899745" y="1954702"/>
            <a:ext cx="1516056" cy="461665"/>
          </a:xfrm>
          <a:prstGeom prst="rect">
            <a:avLst/>
          </a:prstGeom>
          <a:solidFill>
            <a:schemeClr val="bg1"/>
          </a:solidFill>
        </p:spPr>
        <p:txBody>
          <a:bodyPr wrap="none" rtlCol="0">
            <a:spAutoFit/>
          </a:bodyPr>
          <a:lstStyle/>
          <a:p>
            <a:pPr algn="ctr"/>
            <a:r>
              <a:rPr lang="en-US" altLang="zh-CN" sz="2400" dirty="0"/>
              <a:t>innovation</a:t>
            </a:r>
            <a:endParaRPr lang="zh-CN" altLang="en-US" sz="2400" dirty="0"/>
          </a:p>
        </p:txBody>
      </p:sp>
      <p:pic>
        <p:nvPicPr>
          <p:cNvPr id="7"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9"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6" name="文本框 5">
            <a:extLst>
              <a:ext uri="{FF2B5EF4-FFF2-40B4-BE49-F238E27FC236}">
                <a16:creationId xmlns:a16="http://schemas.microsoft.com/office/drawing/2014/main" id="{313AE12D-489D-4A8C-57C5-EE7F5DEF73F6}"/>
              </a:ext>
            </a:extLst>
          </p:cNvPr>
          <p:cNvSpPr txBox="1"/>
          <p:nvPr/>
        </p:nvSpPr>
        <p:spPr>
          <a:xfrm>
            <a:off x="6891467" y="1381366"/>
            <a:ext cx="1534587" cy="461665"/>
          </a:xfrm>
          <a:prstGeom prst="rect">
            <a:avLst/>
          </a:prstGeom>
          <a:noFill/>
        </p:spPr>
        <p:txBody>
          <a:bodyPr wrap="none" rtlCol="0">
            <a:spAutoFit/>
          </a:bodyPr>
          <a:lstStyle/>
          <a:p>
            <a:pPr algn="ctr"/>
            <a:r>
              <a:rPr lang="en-US" altLang="zh-CN" sz="2400" dirty="0"/>
              <a:t>participate</a:t>
            </a:r>
          </a:p>
        </p:txBody>
      </p:sp>
      <p:sp>
        <p:nvSpPr>
          <p:cNvPr id="8" name="文本框 7">
            <a:extLst>
              <a:ext uri="{FF2B5EF4-FFF2-40B4-BE49-F238E27FC236}">
                <a16:creationId xmlns:a16="http://schemas.microsoft.com/office/drawing/2014/main" id="{9DAB8CD9-67AC-3AB3-86F5-24C8A2EF13FF}"/>
              </a:ext>
            </a:extLst>
          </p:cNvPr>
          <p:cNvSpPr txBox="1"/>
          <p:nvPr/>
        </p:nvSpPr>
        <p:spPr>
          <a:xfrm>
            <a:off x="2747821" y="1954702"/>
            <a:ext cx="1272271" cy="461665"/>
          </a:xfrm>
          <a:prstGeom prst="rect">
            <a:avLst/>
          </a:prstGeom>
          <a:noFill/>
        </p:spPr>
        <p:txBody>
          <a:bodyPr wrap="none" rtlCol="0">
            <a:spAutoFit/>
          </a:bodyPr>
          <a:lstStyle/>
          <a:p>
            <a:pPr algn="ctr"/>
            <a:r>
              <a:rPr lang="en-US" altLang="zh-CN" sz="2400" dirty="0"/>
              <a:t>innovate</a:t>
            </a:r>
          </a:p>
        </p:txBody>
      </p:sp>
      <p:sp>
        <p:nvSpPr>
          <p:cNvPr id="12" name="文本框 11">
            <a:extLst>
              <a:ext uri="{FF2B5EF4-FFF2-40B4-BE49-F238E27FC236}">
                <a16:creationId xmlns:a16="http://schemas.microsoft.com/office/drawing/2014/main" id="{492AE807-19B4-79ED-06BC-316F03FB88B2}"/>
              </a:ext>
            </a:extLst>
          </p:cNvPr>
          <p:cNvSpPr txBox="1"/>
          <p:nvPr/>
        </p:nvSpPr>
        <p:spPr>
          <a:xfrm>
            <a:off x="2747821" y="2528037"/>
            <a:ext cx="1623393" cy="461665"/>
          </a:xfrm>
          <a:prstGeom prst="rect">
            <a:avLst/>
          </a:prstGeom>
          <a:noFill/>
        </p:spPr>
        <p:txBody>
          <a:bodyPr wrap="none" rtlCol="0">
            <a:spAutoFit/>
          </a:bodyPr>
          <a:lstStyle/>
          <a:p>
            <a:pPr algn="ctr"/>
            <a:r>
              <a:rPr lang="en-US" altLang="zh-CN" sz="2400" dirty="0"/>
              <a:t>standardize</a:t>
            </a:r>
          </a:p>
        </p:txBody>
      </p:sp>
      <p:sp>
        <p:nvSpPr>
          <p:cNvPr id="13" name="文本框 12">
            <a:extLst>
              <a:ext uri="{FF2B5EF4-FFF2-40B4-BE49-F238E27FC236}">
                <a16:creationId xmlns:a16="http://schemas.microsoft.com/office/drawing/2014/main" id="{4C429A20-E593-465A-6E75-D5D4AC0CAF5F}"/>
              </a:ext>
            </a:extLst>
          </p:cNvPr>
          <p:cNvSpPr txBox="1"/>
          <p:nvPr/>
        </p:nvSpPr>
        <p:spPr>
          <a:xfrm>
            <a:off x="6891467" y="2528037"/>
            <a:ext cx="1061508" cy="461665"/>
          </a:xfrm>
          <a:prstGeom prst="rect">
            <a:avLst/>
          </a:prstGeom>
          <a:noFill/>
        </p:spPr>
        <p:txBody>
          <a:bodyPr wrap="none" rtlCol="0">
            <a:spAutoFit/>
          </a:bodyPr>
          <a:lstStyle/>
          <a:p>
            <a:pPr algn="ctr"/>
            <a:r>
              <a:rPr lang="en-US" altLang="zh-CN" sz="2400" strike="sngStrike" dirty="0">
                <a:solidFill>
                  <a:schemeClr val="bg1">
                    <a:lumMod val="65000"/>
                  </a:schemeClr>
                </a:solidFill>
              </a:rPr>
              <a:t>inhabit</a:t>
            </a:r>
          </a:p>
        </p:txBody>
      </p:sp>
      <p:sp>
        <p:nvSpPr>
          <p:cNvPr id="38" name="圆角矩形 10">
            <a:extLst>
              <a:ext uri="{FF2B5EF4-FFF2-40B4-BE49-F238E27FC236}">
                <a16:creationId xmlns:a16="http://schemas.microsoft.com/office/drawing/2014/main" id="{43B764F4-6C13-A096-6920-13296F0E6F02}"/>
              </a:ext>
            </a:extLst>
          </p:cNvPr>
          <p:cNvSpPr/>
          <p:nvPr/>
        </p:nvSpPr>
        <p:spPr>
          <a:xfrm>
            <a:off x="467715" y="1286955"/>
            <a:ext cx="8323860" cy="1834191"/>
          </a:xfrm>
          <a:prstGeom prst="roundRect">
            <a:avLst>
              <a:gd name="adj" fmla="val 10517"/>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id="{221E38D5-8BDA-8F51-40F2-86F482735772}"/>
              </a:ext>
            </a:extLst>
          </p:cNvPr>
          <p:cNvSpPr txBox="1"/>
          <p:nvPr/>
        </p:nvSpPr>
        <p:spPr>
          <a:xfrm>
            <a:off x="899745" y="1381367"/>
            <a:ext cx="1477136" cy="461665"/>
          </a:xfrm>
          <a:prstGeom prst="rect">
            <a:avLst/>
          </a:prstGeom>
          <a:noFill/>
        </p:spPr>
        <p:txBody>
          <a:bodyPr wrap="none" rtlCol="0">
            <a:spAutoFit/>
          </a:bodyPr>
          <a:lstStyle/>
          <a:p>
            <a:r>
              <a:rPr lang="en-US" altLang="zh-CN" sz="2400" dirty="0"/>
              <a:t>alleviation</a:t>
            </a:r>
          </a:p>
        </p:txBody>
      </p:sp>
      <p:sp>
        <p:nvSpPr>
          <p:cNvPr id="42" name="文本框 41">
            <a:extLst>
              <a:ext uri="{FF2B5EF4-FFF2-40B4-BE49-F238E27FC236}">
                <a16:creationId xmlns:a16="http://schemas.microsoft.com/office/drawing/2014/main" id="{9B6E0D9F-D996-5EB8-F8CF-09E830AF7CB6}"/>
              </a:ext>
            </a:extLst>
          </p:cNvPr>
          <p:cNvSpPr txBox="1"/>
          <p:nvPr/>
        </p:nvSpPr>
        <p:spPr>
          <a:xfrm>
            <a:off x="4742154" y="1954702"/>
            <a:ext cx="1270669" cy="461665"/>
          </a:xfrm>
          <a:prstGeom prst="rect">
            <a:avLst/>
          </a:prstGeom>
          <a:noFill/>
        </p:spPr>
        <p:txBody>
          <a:bodyPr wrap="none" rtlCol="0">
            <a:spAutoFit/>
          </a:bodyPr>
          <a:lstStyle/>
          <a:p>
            <a:pPr algn="ctr"/>
            <a:r>
              <a:rPr lang="en-US" altLang="zh-CN" sz="2400" dirty="0"/>
              <a:t>drainage</a:t>
            </a:r>
          </a:p>
        </p:txBody>
      </p:sp>
      <p:sp>
        <p:nvSpPr>
          <p:cNvPr id="43" name="文本框 42">
            <a:extLst>
              <a:ext uri="{FF2B5EF4-FFF2-40B4-BE49-F238E27FC236}">
                <a16:creationId xmlns:a16="http://schemas.microsoft.com/office/drawing/2014/main" id="{3B787228-543E-8D2E-ABBC-BA276207892E}"/>
              </a:ext>
            </a:extLst>
          </p:cNvPr>
          <p:cNvSpPr txBox="1"/>
          <p:nvPr/>
        </p:nvSpPr>
        <p:spPr>
          <a:xfrm>
            <a:off x="899745" y="2528037"/>
            <a:ext cx="1284069" cy="461665"/>
          </a:xfrm>
          <a:prstGeom prst="rect">
            <a:avLst/>
          </a:prstGeom>
          <a:noFill/>
        </p:spPr>
        <p:txBody>
          <a:bodyPr wrap="none" rtlCol="0">
            <a:spAutoFit/>
          </a:bodyPr>
          <a:lstStyle/>
          <a:p>
            <a:pPr algn="ctr"/>
            <a:r>
              <a:rPr lang="en-US" altLang="zh-CN" sz="2400" dirty="0"/>
              <a:t>standard</a:t>
            </a:r>
            <a:endParaRPr lang="zh-CN" altLang="en-US" sz="2400" dirty="0"/>
          </a:p>
        </p:txBody>
      </p:sp>
      <p:sp>
        <p:nvSpPr>
          <p:cNvPr id="44" name="文本框 43">
            <a:extLst>
              <a:ext uri="{FF2B5EF4-FFF2-40B4-BE49-F238E27FC236}">
                <a16:creationId xmlns:a16="http://schemas.microsoft.com/office/drawing/2014/main" id="{9C0B85E2-A7AC-98A5-0FEB-04ABCDEC5F59}"/>
              </a:ext>
            </a:extLst>
          </p:cNvPr>
          <p:cNvSpPr txBox="1"/>
          <p:nvPr/>
        </p:nvSpPr>
        <p:spPr>
          <a:xfrm>
            <a:off x="4742154" y="2528037"/>
            <a:ext cx="1466813" cy="461665"/>
          </a:xfrm>
          <a:prstGeom prst="rect">
            <a:avLst/>
          </a:prstGeom>
          <a:noFill/>
        </p:spPr>
        <p:txBody>
          <a:bodyPr wrap="none" rtlCol="0">
            <a:spAutoFit/>
          </a:bodyPr>
          <a:lstStyle/>
          <a:p>
            <a:pPr algn="ctr"/>
            <a:r>
              <a:rPr lang="en-US" altLang="zh-CN" sz="2400" dirty="0"/>
              <a:t>inhabitant</a:t>
            </a:r>
          </a:p>
        </p:txBody>
      </p:sp>
      <p:sp>
        <p:nvSpPr>
          <p:cNvPr id="45" name="文本框 44">
            <a:extLst>
              <a:ext uri="{FF2B5EF4-FFF2-40B4-BE49-F238E27FC236}">
                <a16:creationId xmlns:a16="http://schemas.microsoft.com/office/drawing/2014/main" id="{679FE5BD-134D-0D1A-3EEB-610D24DAEFD4}"/>
              </a:ext>
            </a:extLst>
          </p:cNvPr>
          <p:cNvSpPr txBox="1"/>
          <p:nvPr/>
        </p:nvSpPr>
        <p:spPr>
          <a:xfrm>
            <a:off x="366165" y="3448524"/>
            <a:ext cx="485955" cy="1277273"/>
          </a:xfrm>
          <a:prstGeom prst="rect">
            <a:avLst/>
          </a:prstGeom>
          <a:noFill/>
        </p:spPr>
        <p:txBody>
          <a:bodyPr wrap="square" rtlCol="0">
            <a:spAutoFit/>
          </a:bodyPr>
          <a:lstStyle/>
          <a:p>
            <a:r>
              <a:rPr lang="en-US" altLang="zh-CN" sz="2400" b="1" dirty="0">
                <a:solidFill>
                  <a:srgbClr val="C6383E"/>
                </a:solidFill>
              </a:rPr>
              <a:t>5</a:t>
            </a:r>
          </a:p>
          <a:p>
            <a:endParaRPr lang="en-US" altLang="zh-CN" sz="2400" b="1" dirty="0">
              <a:solidFill>
                <a:srgbClr val="C6383E"/>
              </a:solidFill>
            </a:endParaRPr>
          </a:p>
          <a:p>
            <a:pPr>
              <a:lnSpc>
                <a:spcPts val="600"/>
              </a:lnSpc>
            </a:pPr>
            <a:endParaRPr lang="en-US" altLang="zh-CN" sz="2400" b="1" dirty="0">
              <a:solidFill>
                <a:srgbClr val="C6383E"/>
              </a:solidFill>
            </a:endParaRPr>
          </a:p>
          <a:p>
            <a:r>
              <a:rPr lang="en-US" altLang="zh-CN" sz="2400" b="1" dirty="0">
                <a:solidFill>
                  <a:srgbClr val="C6383E"/>
                </a:solidFill>
              </a:rPr>
              <a:t>6</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8EE4EA4C-E5E6-7754-D58D-1EE0507BC6B0}"/>
              </a:ext>
            </a:extLst>
          </p:cNvPr>
          <p:cNvSpPr txBox="1"/>
          <p:nvPr/>
        </p:nvSpPr>
        <p:spPr>
          <a:xfrm>
            <a:off x="660400" y="3448524"/>
            <a:ext cx="8231900" cy="1277273"/>
          </a:xfrm>
          <a:prstGeom prst="rect">
            <a:avLst/>
          </a:prstGeom>
          <a:noFill/>
        </p:spPr>
        <p:txBody>
          <a:bodyPr wrap="square" rtlCol="0">
            <a:spAutoFit/>
          </a:bodyPr>
          <a:lstStyle/>
          <a:p>
            <a:pPr algn="just"/>
            <a:r>
              <a:rPr lang="en-US" altLang="zh-CN" sz="2400" spc="10" dirty="0"/>
              <a:t>We must encourage technological</a:t>
            </a:r>
            <a:r>
              <a:rPr lang="en-US" altLang="zh-CN" sz="2400" dirty="0"/>
              <a:t> __________ </a:t>
            </a:r>
            <a:r>
              <a:rPr lang="en-US" altLang="zh-CN" sz="2400" spc="10" dirty="0"/>
              <a:t>if the company is</a:t>
            </a:r>
            <a:r>
              <a:rPr lang="en-US" altLang="zh-CN" sz="2400" dirty="0"/>
              <a:t> to remain competitive.</a:t>
            </a:r>
          </a:p>
          <a:p>
            <a:pPr algn="just">
              <a:lnSpc>
                <a:spcPts val="600"/>
              </a:lnSpc>
            </a:pPr>
            <a:endParaRPr lang="en-US" altLang="zh-CN" sz="2400" dirty="0"/>
          </a:p>
          <a:p>
            <a:pPr algn="just"/>
            <a:r>
              <a:rPr lang="en-US" altLang="zh-CN" sz="2400" dirty="0"/>
              <a:t>Students have to reach a certain _________ or they won’t pass.</a:t>
            </a:r>
          </a:p>
        </p:txBody>
      </p:sp>
      <p:sp>
        <p:nvSpPr>
          <p:cNvPr id="51" name="文本框 50">
            <a:extLst>
              <a:ext uri="{FF2B5EF4-FFF2-40B4-BE49-F238E27FC236}">
                <a16:creationId xmlns:a16="http://schemas.microsoft.com/office/drawing/2014/main" id="{5B183E51-508E-B7A1-A9E1-F705A2008F76}"/>
              </a:ext>
            </a:extLst>
          </p:cNvPr>
          <p:cNvSpPr txBox="1"/>
          <p:nvPr/>
        </p:nvSpPr>
        <p:spPr>
          <a:xfrm>
            <a:off x="5067321" y="3416300"/>
            <a:ext cx="1516056" cy="461665"/>
          </a:xfrm>
          <a:prstGeom prst="rect">
            <a:avLst/>
          </a:prstGeom>
          <a:noFill/>
        </p:spPr>
        <p:txBody>
          <a:bodyPr wrap="none" rtlCol="0">
            <a:spAutoFit/>
          </a:bodyPr>
          <a:lstStyle/>
          <a:p>
            <a:pPr algn="just"/>
            <a:r>
              <a:rPr lang="en-US" altLang="zh-CN" sz="2400" dirty="0">
                <a:solidFill>
                  <a:srgbClr val="FF0000"/>
                </a:solidFill>
              </a:rPr>
              <a:t>innovation</a:t>
            </a:r>
            <a:endParaRPr lang="zh-CN" altLang="en-US" sz="2400" dirty="0">
              <a:solidFill>
                <a:srgbClr val="FF0000"/>
              </a:solidFill>
            </a:endParaRPr>
          </a:p>
        </p:txBody>
      </p:sp>
      <p:sp>
        <p:nvSpPr>
          <p:cNvPr id="52" name="文本框 51">
            <a:extLst>
              <a:ext uri="{FF2B5EF4-FFF2-40B4-BE49-F238E27FC236}">
                <a16:creationId xmlns:a16="http://schemas.microsoft.com/office/drawing/2014/main" id="{16D88206-EB21-B7ED-D0D1-A71086CFA78D}"/>
              </a:ext>
            </a:extLst>
          </p:cNvPr>
          <p:cNvSpPr txBox="1"/>
          <p:nvPr/>
        </p:nvSpPr>
        <p:spPr>
          <a:xfrm>
            <a:off x="4843735" y="4221918"/>
            <a:ext cx="1284069" cy="461665"/>
          </a:xfrm>
          <a:prstGeom prst="rect">
            <a:avLst/>
          </a:prstGeom>
          <a:noFill/>
        </p:spPr>
        <p:txBody>
          <a:bodyPr wrap="none" rtlCol="0">
            <a:spAutoFit/>
          </a:bodyPr>
          <a:lstStyle/>
          <a:p>
            <a:pPr algn="just"/>
            <a:r>
              <a:rPr lang="en-US" altLang="zh-CN" sz="2400" dirty="0">
                <a:solidFill>
                  <a:srgbClr val="FF0000"/>
                </a:solidFill>
              </a:rPr>
              <a:t>standard</a:t>
            </a:r>
            <a:endParaRPr lang="zh-CN" altLang="en-US" sz="2400" dirty="0">
              <a:solidFill>
                <a:srgbClr val="FF0000"/>
              </a:solidFill>
            </a:endParaRPr>
          </a:p>
        </p:txBody>
      </p:sp>
      <p:sp>
        <p:nvSpPr>
          <p:cNvPr id="57" name="矩形 56">
            <a:extLst>
              <a:ext uri="{FF2B5EF4-FFF2-40B4-BE49-F238E27FC236}">
                <a16:creationId xmlns:a16="http://schemas.microsoft.com/office/drawing/2014/main" id="{9732302C-DA5B-959C-3AA9-A03B9E51CC49}"/>
              </a:ext>
            </a:extLst>
          </p:cNvPr>
          <p:cNvSpPr/>
          <p:nvPr/>
        </p:nvSpPr>
        <p:spPr>
          <a:xfrm>
            <a:off x="5072860" y="3508649"/>
            <a:ext cx="1508915" cy="30331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C4D01A7B-E07C-0FFC-EF73-892CA3D99CC3}"/>
              </a:ext>
            </a:extLst>
          </p:cNvPr>
          <p:cNvSpPr/>
          <p:nvPr/>
        </p:nvSpPr>
        <p:spPr>
          <a:xfrm>
            <a:off x="4803891" y="4319754"/>
            <a:ext cx="1355610" cy="303319"/>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C089FEE9-7B50-BB69-307E-1A70F0F6314E}"/>
              </a:ext>
            </a:extLst>
          </p:cNvPr>
          <p:cNvSpPr txBox="1"/>
          <p:nvPr/>
        </p:nvSpPr>
        <p:spPr>
          <a:xfrm>
            <a:off x="899745" y="2528037"/>
            <a:ext cx="1284069"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standard</a:t>
            </a:r>
            <a:endParaRPr lang="zh-CN" altLang="en-US" sz="2400" strike="sngStrike" dirty="0">
              <a:solidFill>
                <a:schemeClr val="bg1">
                  <a:lumMod val="65000"/>
                </a:schemeClr>
              </a:solidFill>
            </a:endParaRPr>
          </a:p>
        </p:txBody>
      </p:sp>
      <p:sp>
        <p:nvSpPr>
          <p:cNvPr id="64" name="文本框 63">
            <a:extLst>
              <a:ext uri="{FF2B5EF4-FFF2-40B4-BE49-F238E27FC236}">
                <a16:creationId xmlns:a16="http://schemas.microsoft.com/office/drawing/2014/main" id="{BEB3FC12-B82E-8226-9EB1-9525BA42E828}"/>
              </a:ext>
            </a:extLst>
          </p:cNvPr>
          <p:cNvSpPr txBox="1"/>
          <p:nvPr/>
        </p:nvSpPr>
        <p:spPr>
          <a:xfrm>
            <a:off x="899744" y="1954702"/>
            <a:ext cx="1516057"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innovation</a:t>
            </a:r>
            <a:endParaRPr lang="zh-CN" altLang="en-US" sz="2400" strike="sngStrike" dirty="0">
              <a:solidFill>
                <a:schemeClr val="bg1">
                  <a:lumMod val="65000"/>
                </a:schemeClr>
              </a:solidFill>
            </a:endParaRPr>
          </a:p>
        </p:txBody>
      </p:sp>
      <p:sp>
        <p:nvSpPr>
          <p:cNvPr id="65" name="文本框 64">
            <a:extLst>
              <a:ext uri="{FF2B5EF4-FFF2-40B4-BE49-F238E27FC236}">
                <a16:creationId xmlns:a16="http://schemas.microsoft.com/office/drawing/2014/main" id="{CD494E23-4EEC-A2E5-016E-AEE0117AD9EE}"/>
              </a:ext>
            </a:extLst>
          </p:cNvPr>
          <p:cNvSpPr txBox="1"/>
          <p:nvPr/>
        </p:nvSpPr>
        <p:spPr>
          <a:xfrm>
            <a:off x="2747821" y="1382834"/>
            <a:ext cx="1233351"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alleviate</a:t>
            </a:r>
            <a:endParaRPr lang="zh-CN" altLang="en-US" sz="2400" strike="sngStrike" dirty="0">
              <a:solidFill>
                <a:schemeClr val="bg1">
                  <a:lumMod val="65000"/>
                </a:schemeClr>
              </a:solidFill>
            </a:endParaRPr>
          </a:p>
        </p:txBody>
      </p:sp>
      <p:sp>
        <p:nvSpPr>
          <p:cNvPr id="66" name="文本框 65">
            <a:extLst>
              <a:ext uri="{FF2B5EF4-FFF2-40B4-BE49-F238E27FC236}">
                <a16:creationId xmlns:a16="http://schemas.microsoft.com/office/drawing/2014/main" id="{2D464B99-3D5A-8164-CBBF-4C22FF10A0E7}"/>
              </a:ext>
            </a:extLst>
          </p:cNvPr>
          <p:cNvSpPr txBox="1"/>
          <p:nvPr/>
        </p:nvSpPr>
        <p:spPr>
          <a:xfrm>
            <a:off x="4742154" y="1381367"/>
            <a:ext cx="1778372"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participation</a:t>
            </a:r>
            <a:endParaRPr lang="zh-CN" altLang="en-US" sz="2400" strike="sngStrike" dirty="0">
              <a:solidFill>
                <a:schemeClr val="bg1">
                  <a:lumMod val="65000"/>
                </a:schemeClr>
              </a:solidFill>
            </a:endParaRPr>
          </a:p>
        </p:txBody>
      </p:sp>
      <p:sp>
        <p:nvSpPr>
          <p:cNvPr id="68" name="文本框 67">
            <a:extLst>
              <a:ext uri="{FF2B5EF4-FFF2-40B4-BE49-F238E27FC236}">
                <a16:creationId xmlns:a16="http://schemas.microsoft.com/office/drawing/2014/main" id="{58B2FE69-8B37-07D2-FCF1-FC20DEC6F984}"/>
              </a:ext>
            </a:extLst>
          </p:cNvPr>
          <p:cNvSpPr txBox="1"/>
          <p:nvPr/>
        </p:nvSpPr>
        <p:spPr>
          <a:xfrm>
            <a:off x="6891467" y="1954702"/>
            <a:ext cx="827599" cy="461665"/>
          </a:xfrm>
          <a:prstGeom prst="rect">
            <a:avLst/>
          </a:prstGeom>
          <a:solidFill>
            <a:schemeClr val="bg1"/>
          </a:solidFill>
        </p:spPr>
        <p:txBody>
          <a:bodyPr wrap="none" rtlCol="0">
            <a:spAutoFit/>
          </a:bodyPr>
          <a:lstStyle/>
          <a:p>
            <a:pPr algn="ctr"/>
            <a:r>
              <a:rPr lang="en-US" altLang="zh-CN" sz="2400" strike="sngStrike" dirty="0">
                <a:solidFill>
                  <a:schemeClr val="bg1">
                    <a:lumMod val="65000"/>
                  </a:schemeClr>
                </a:solidFill>
              </a:rPr>
              <a:t>drain</a:t>
            </a:r>
            <a:endParaRPr lang="zh-CN" altLang="en-US" sz="2400" strike="sngStrike" dirty="0">
              <a:solidFill>
                <a:schemeClr val="bg1">
                  <a:lumMod val="65000"/>
                </a:schemeClr>
              </a:solidFill>
            </a:endParaRPr>
          </a:p>
        </p:txBody>
      </p:sp>
    </p:spTree>
    <p:extLst>
      <p:ext uri="{BB962C8B-B14F-4D97-AF65-F5344CB8AC3E}">
        <p14:creationId xmlns:p14="http://schemas.microsoft.com/office/powerpoint/2010/main" val="19491675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5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subTnLst>
                                    <p:set>
                                      <p:cBhvr override="childStyle">
                                        <p:cTn dur="1" fill="hold" display="0" masterRel="nextClick" afterEffect="1"/>
                                        <p:tgtEl>
                                          <p:spTgt spid="51"/>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64"/>
                                        </p:tgtEl>
                                        <p:attrNameLst>
                                          <p:attrName>style.visibility</p:attrName>
                                        </p:attrNameLst>
                                      </p:cBhvr>
                                      <p:to>
                                        <p:strVal val="visible"/>
                                      </p:to>
                                    </p:set>
                                  </p:childTnLst>
                                  <p:subTnLst>
                                    <p:set>
                                      <p:cBhvr override="childStyle">
                                        <p:cTn dur="1" fill="hold" display="0" masterRel="nextClick" afterEffect="1"/>
                                        <p:tgtEl>
                                          <p:spTgt spid="64"/>
                                        </p:tgtEl>
                                        <p:attrNameLst>
                                          <p:attrName>style.visibility</p:attrName>
                                        </p:attrNameLst>
                                      </p:cBhvr>
                                      <p:to>
                                        <p:strVal val="hidden"/>
                                      </p:to>
                                    </p:set>
                                  </p:subTnLst>
                                </p:cTn>
                              </p:par>
                            </p:childTnLst>
                          </p:cTn>
                        </p:par>
                      </p:childTnLst>
                    </p:cTn>
                  </p:par>
                </p:childTnLst>
              </p:cTn>
              <p:nextCondLst>
                <p:cond evt="onClick" delay="0">
                  <p:tgtEl>
                    <p:spTgt spid="57"/>
                  </p:tgtEl>
                </p:cond>
              </p:nextCondLst>
            </p:seq>
            <p:seq concurrent="1" nextAc="seek">
              <p:cTn id="9" restart="whenNotActive" fill="hold" evtFilter="cancelBubble" nodeType="interactiveSeq">
                <p:stCondLst>
                  <p:cond evt="onClick" delay="0">
                    <p:tgtEl>
                      <p:spTgt spid="58"/>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2"/>
                                        </p:tgtEl>
                                        <p:attrNameLst>
                                          <p:attrName>style.visibility</p:attrName>
                                        </p:attrNameLst>
                                      </p:cBhvr>
                                      <p:to>
                                        <p:strVal val="visible"/>
                                      </p:to>
                                    </p:set>
                                  </p:childTnLst>
                                  <p:subTnLst>
                                    <p:set>
                                      <p:cBhvr override="childStyle">
                                        <p:cTn dur="1" fill="hold" display="0" masterRel="nextClick" afterEffect="1"/>
                                        <p:tgtEl>
                                          <p:spTgt spid="52"/>
                                        </p:tgtEl>
                                        <p:attrNameLst>
                                          <p:attrName>style.visibility</p:attrName>
                                        </p:attrNameLst>
                                      </p:cBhvr>
                                      <p:to>
                                        <p:strVal val="hidden"/>
                                      </p:to>
                                    </p:set>
                                  </p:subTnLst>
                                </p:cTn>
                              </p:par>
                              <p:par>
                                <p:cTn id="14" presetID="1" presetClass="entr" presetSubtype="0" fill="hold" grpId="0" nodeType="withEffect">
                                  <p:stCondLst>
                                    <p:cond delay="0"/>
                                  </p:stCondLst>
                                  <p:childTnLst>
                                    <p:set>
                                      <p:cBhvr>
                                        <p:cTn id="15" dur="1" fill="hold">
                                          <p:stCondLst>
                                            <p:cond delay="0"/>
                                          </p:stCondLst>
                                        </p:cTn>
                                        <p:tgtEl>
                                          <p:spTgt spid="63"/>
                                        </p:tgtEl>
                                        <p:attrNameLst>
                                          <p:attrName>style.visibility</p:attrName>
                                        </p:attrNameLst>
                                      </p:cBhvr>
                                      <p:to>
                                        <p:strVal val="visible"/>
                                      </p:to>
                                    </p:set>
                                  </p:childTnLst>
                                  <p:subTnLst>
                                    <p:set>
                                      <p:cBhvr override="childStyle">
                                        <p:cTn dur="1" fill="hold" display="0" masterRel="nextClick" afterEffect="1"/>
                                        <p:tgtEl>
                                          <p:spTgt spid="63"/>
                                        </p:tgtEl>
                                        <p:attrNameLst>
                                          <p:attrName>style.visibility</p:attrName>
                                        </p:attrNameLst>
                                      </p:cBhvr>
                                      <p:to>
                                        <p:strVal val="hidden"/>
                                      </p:to>
                                    </p:set>
                                  </p:subTnLst>
                                </p:cTn>
                              </p:par>
                            </p:childTnLst>
                          </p:cTn>
                        </p:par>
                      </p:childTnLst>
                    </p:cTn>
                  </p:par>
                </p:childTnLst>
              </p:cTn>
              <p:nextCondLst>
                <p:cond evt="onClick" delay="0">
                  <p:tgtEl>
                    <p:spTgt spid="58"/>
                  </p:tgtEl>
                </p:cond>
              </p:nextCondLst>
            </p:seq>
          </p:childTnLst>
        </p:cTn>
      </p:par>
    </p:tnLst>
    <p:bldLst>
      <p:bldP spid="51" grpId="0"/>
      <p:bldP spid="52" grpId="0"/>
      <p:bldP spid="63" grpId="0" animBg="1"/>
      <p:bldP spid="6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0000" y="1133951"/>
            <a:ext cx="8532300" cy="1200329"/>
          </a:xfrm>
          <a:prstGeom prst="rect">
            <a:avLst/>
          </a:prstGeom>
          <a:noFill/>
        </p:spPr>
        <p:txBody>
          <a:bodyPr wrap="square" rtlCol="0">
            <a:spAutoFit/>
          </a:bodyPr>
          <a:lstStyle/>
          <a:p>
            <a:r>
              <a:rPr lang="en-US" altLang="zh-CN" sz="2400" b="1" dirty="0">
                <a:solidFill>
                  <a:srgbClr val="C6383E"/>
                </a:solidFill>
              </a:rPr>
              <a:t>Task 2</a:t>
            </a:r>
          </a:p>
          <a:p>
            <a:r>
              <a:rPr lang="en-US" altLang="zh-CN" sz="2400" spc="20" dirty="0">
                <a:latin typeface="Cambria" panose="02040503050406030204" pitchFamily="18" charset="0"/>
                <a:ea typeface="Cambria" panose="02040503050406030204" pitchFamily="18" charset="0"/>
              </a:rPr>
              <a:t>Translate the following sentences into English, using the words</a:t>
            </a:r>
            <a:r>
              <a:rPr lang="en-US" altLang="zh-CN" sz="2400" dirty="0">
                <a:latin typeface="Cambria" panose="02040503050406030204" pitchFamily="18" charset="0"/>
                <a:ea typeface="Cambria" panose="02040503050406030204" pitchFamily="18" charset="0"/>
              </a:rPr>
              <a:t> or phrases given in brackets.</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0" name="钥匙2" descr="C:\Users\senj\Desktop\新建文件夹\答案.png">
            <a:hlinkClick r:id="" action="ppaction://noaction"/>
          </p:cNvPr>
          <p:cNvPicPr>
            <a:picLocks noChangeAspect="1" noChangeArrowheads="1"/>
          </p:cNvPicPr>
          <p:nvPr/>
        </p:nvPicPr>
        <p:blipFill>
          <a:blip r:embed="rId2" cstate="print"/>
          <a:srcRect/>
          <a:stretch>
            <a:fillRect/>
          </a:stretch>
        </p:blipFill>
        <p:spPr bwMode="auto">
          <a:xfrm>
            <a:off x="95139" y="1592895"/>
            <a:ext cx="324000" cy="324000"/>
          </a:xfrm>
          <a:prstGeom prst="rect">
            <a:avLst/>
          </a:prstGeom>
          <a:noFill/>
        </p:spPr>
      </p:pic>
      <p:pic>
        <p:nvPicPr>
          <p:cNvPr id="7"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9" name="Picture 3" descr="C:\Users\senj\Desktop\按钮.png">
            <a:hlinkClick r:id="" action="ppaction://hlinkshowjump?jump=previous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6" name="文本框 5"/>
          <p:cNvSpPr txBox="1"/>
          <p:nvPr/>
        </p:nvSpPr>
        <p:spPr>
          <a:xfrm>
            <a:off x="366165" y="2604860"/>
            <a:ext cx="485955" cy="2308324"/>
          </a:xfrm>
          <a:prstGeom prst="rect">
            <a:avLst/>
          </a:prstGeom>
          <a:noFill/>
        </p:spPr>
        <p:txBody>
          <a:bodyPr wrap="square" rtlCol="0">
            <a:spAutoFit/>
          </a:bodyPr>
          <a:lstStyle/>
          <a:p>
            <a:r>
              <a:rPr lang="en-US" altLang="zh-CN" sz="2400" b="1" dirty="0">
                <a:solidFill>
                  <a:srgbClr val="C6383E"/>
                </a:solidFill>
                <a:latin typeface="+mn-ea"/>
                <a:ea typeface="+mn-ea"/>
              </a:rPr>
              <a:t>1</a:t>
            </a:r>
          </a:p>
          <a:p>
            <a:endParaRPr lang="en-US" altLang="zh-CN" sz="2400" b="1" dirty="0">
              <a:solidFill>
                <a:srgbClr val="C6383E"/>
              </a:solidFill>
              <a:latin typeface="+mn-ea"/>
              <a:ea typeface="+mn-ea"/>
            </a:endParaRPr>
          </a:p>
          <a:p>
            <a:endParaRPr lang="en-US" altLang="zh-CN" sz="2400" b="1" dirty="0">
              <a:solidFill>
                <a:srgbClr val="C6383E"/>
              </a:solidFill>
              <a:latin typeface="+mn-ea"/>
              <a:ea typeface="+mn-ea"/>
            </a:endParaRPr>
          </a:p>
          <a:p>
            <a:endParaRPr lang="en-US" altLang="zh-CN" sz="2400" b="1" dirty="0">
              <a:solidFill>
                <a:srgbClr val="C6383E"/>
              </a:solidFill>
              <a:latin typeface="+mn-ea"/>
              <a:ea typeface="+mn-ea"/>
            </a:endParaRPr>
          </a:p>
          <a:p>
            <a:endParaRPr lang="en-US" altLang="zh-CN" sz="2400" b="1" dirty="0">
              <a:solidFill>
                <a:srgbClr val="C6383E"/>
              </a:solidFill>
              <a:latin typeface="+mn-ea"/>
              <a:ea typeface="+mn-ea"/>
            </a:endParaRPr>
          </a:p>
          <a:p>
            <a:r>
              <a:rPr lang="en-US" altLang="zh-CN" sz="2400" b="1" dirty="0">
                <a:solidFill>
                  <a:srgbClr val="C6383E"/>
                </a:solidFill>
                <a:latin typeface="+mn-ea"/>
                <a:ea typeface="+mn-ea"/>
              </a:rPr>
              <a:t>2</a:t>
            </a:r>
          </a:p>
        </p:txBody>
      </p:sp>
      <p:sp>
        <p:nvSpPr>
          <p:cNvPr id="11" name="文本框 10"/>
          <p:cNvSpPr txBox="1"/>
          <p:nvPr/>
        </p:nvSpPr>
        <p:spPr>
          <a:xfrm>
            <a:off x="660400" y="2604860"/>
            <a:ext cx="8231900" cy="3046988"/>
          </a:xfrm>
          <a:prstGeom prst="rect">
            <a:avLst/>
          </a:prstGeom>
          <a:noFill/>
        </p:spPr>
        <p:txBody>
          <a:bodyPr wrap="square" rtlCol="0">
            <a:spAutoFit/>
          </a:bodyPr>
          <a:lstStyle/>
          <a:p>
            <a:pPr algn="just"/>
            <a:r>
              <a:rPr lang="zh-CN" altLang="en-US" sz="2400" dirty="0"/>
              <a:t>古墓里发掘出的玉器有力地证明了墓主人的贵族身份。</a:t>
            </a:r>
            <a:r>
              <a:rPr lang="en-US" altLang="zh-CN" sz="2400" dirty="0"/>
              <a:t>(argue for)</a:t>
            </a:r>
          </a:p>
          <a:p>
            <a:pPr algn="just"/>
            <a:r>
              <a:rPr lang="en-US" altLang="zh-CN" sz="2400" spc="-10" dirty="0"/>
              <a:t>__________________________________________________________________________________________________________</a:t>
            </a:r>
            <a:endParaRPr lang="en-US" altLang="zh-CN" sz="2400" dirty="0"/>
          </a:p>
          <a:p>
            <a:pPr algn="just"/>
            <a:endParaRPr lang="en-US" altLang="zh-CN" sz="2400" dirty="0"/>
          </a:p>
          <a:p>
            <a:pPr algn="just"/>
            <a:r>
              <a:rPr lang="zh-CN" altLang="en-US" sz="2400" dirty="0"/>
              <a:t>唯一合理的解释就是他忘掉了。</a:t>
            </a:r>
            <a:r>
              <a:rPr lang="en-US" altLang="zh-CN" sz="2400" dirty="0"/>
              <a:t>(plausible)</a:t>
            </a:r>
          </a:p>
          <a:p>
            <a:pPr algn="just"/>
            <a:r>
              <a:rPr lang="en-US" altLang="zh-CN" sz="2400" spc="-10" dirty="0"/>
              <a:t>__________________________________________________________________________________________________________</a:t>
            </a:r>
            <a:endParaRPr lang="en-US" altLang="zh-CN" sz="2400" dirty="0"/>
          </a:p>
        </p:txBody>
      </p:sp>
      <p:sp>
        <p:nvSpPr>
          <p:cNvPr id="12" name="文本框 11"/>
          <p:cNvSpPr txBox="1"/>
          <p:nvPr/>
        </p:nvSpPr>
        <p:spPr>
          <a:xfrm>
            <a:off x="656496" y="3298575"/>
            <a:ext cx="8159895" cy="830997"/>
          </a:xfrm>
          <a:prstGeom prst="rect">
            <a:avLst/>
          </a:prstGeom>
          <a:noFill/>
        </p:spPr>
        <p:txBody>
          <a:bodyPr wrap="square" rtlCol="0">
            <a:spAutoFit/>
          </a:bodyPr>
          <a:lstStyle/>
          <a:p>
            <a:pPr algn="just"/>
            <a:r>
              <a:rPr lang="en-US" altLang="zh-CN" sz="2400" spc="10" dirty="0">
                <a:solidFill>
                  <a:srgbClr val="FF0000"/>
                </a:solidFill>
              </a:rPr>
              <a:t>The jade ware excavated from the ancient tomb argued strongly</a:t>
            </a:r>
            <a:r>
              <a:rPr lang="en-US" altLang="zh-CN" sz="2400" dirty="0">
                <a:solidFill>
                  <a:srgbClr val="FF0000"/>
                </a:solidFill>
              </a:rPr>
              <a:t> for the noble identity of the buried man.</a:t>
            </a:r>
          </a:p>
        </p:txBody>
      </p:sp>
      <p:sp>
        <p:nvSpPr>
          <p:cNvPr id="14" name="文本框 13"/>
          <p:cNvSpPr txBox="1"/>
          <p:nvPr/>
        </p:nvSpPr>
        <p:spPr>
          <a:xfrm>
            <a:off x="656496" y="4756455"/>
            <a:ext cx="8159895" cy="461665"/>
          </a:xfrm>
          <a:prstGeom prst="rect">
            <a:avLst/>
          </a:prstGeom>
          <a:noFill/>
        </p:spPr>
        <p:txBody>
          <a:bodyPr wrap="square" rtlCol="0">
            <a:spAutoFit/>
          </a:bodyPr>
          <a:lstStyle/>
          <a:p>
            <a:r>
              <a:rPr lang="en-US" altLang="zh-CN" sz="2400" dirty="0">
                <a:solidFill>
                  <a:srgbClr val="FF0000"/>
                </a:solidFill>
              </a:rPr>
              <a:t>The only plausible explanation is that he forgot.</a:t>
            </a:r>
          </a:p>
        </p:txBody>
      </p:sp>
      <p:sp>
        <p:nvSpPr>
          <p:cNvPr id="13" name="矩形 12"/>
          <p:cNvSpPr/>
          <p:nvPr/>
        </p:nvSpPr>
        <p:spPr>
          <a:xfrm>
            <a:off x="725916" y="3404176"/>
            <a:ext cx="8090475" cy="72539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24490" y="4797095"/>
            <a:ext cx="8090475" cy="72539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5215572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10"/>
                  </p:tgtEl>
                </p:cond>
              </p:nextCondLst>
            </p:seq>
            <p:seq concurrent="1" nextAc="seek">
              <p:cTn id="9" restart="whenNotActive" fill="hold" evtFilter="cancelBubble" nodeType="interactiveSeq">
                <p:stCondLst>
                  <p:cond evt="onClick" delay="0">
                    <p:tgtEl>
                      <p:spTgt spid="13"/>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1" nodeType="clickEffect">
                                  <p:stCondLst>
                                    <p:cond delay="0"/>
                                  </p:stCondLst>
                                  <p:childTnLst>
                                    <p:set>
                                      <p:cBhvr>
                                        <p:cTn id="13"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15"/>
                  </p:tgtEl>
                </p:cond>
              </p:nextCondLst>
            </p:seq>
          </p:childTnLst>
        </p:cTn>
      </p:par>
    </p:tnLst>
    <p:bldLst>
      <p:bldP spid="12" grpId="0"/>
      <p:bldP spid="12" grpId="1"/>
      <p:bldP spid="14" grpId="0"/>
      <p:bldP spid="14"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6" name="文本框 5"/>
          <p:cNvSpPr txBox="1"/>
          <p:nvPr/>
        </p:nvSpPr>
        <p:spPr>
          <a:xfrm>
            <a:off x="366165" y="1158745"/>
            <a:ext cx="485955" cy="3785652"/>
          </a:xfrm>
          <a:prstGeom prst="rect">
            <a:avLst/>
          </a:prstGeom>
          <a:noFill/>
        </p:spPr>
        <p:txBody>
          <a:bodyPr wrap="square" rtlCol="0">
            <a:spAutoFit/>
          </a:bodyPr>
          <a:lstStyle/>
          <a:p>
            <a:r>
              <a:rPr lang="en-US" altLang="zh-CN" sz="2400" b="1" dirty="0">
                <a:solidFill>
                  <a:srgbClr val="C6383E"/>
                </a:solidFill>
                <a:latin typeface="+mn-ea"/>
                <a:ea typeface="+mn-ea"/>
              </a:rPr>
              <a:t>3</a:t>
            </a:r>
          </a:p>
          <a:p>
            <a:r>
              <a:rPr lang="en-US" altLang="zh-CN" sz="2400" b="1" dirty="0">
                <a:solidFill>
                  <a:srgbClr val="C6383E"/>
                </a:solidFill>
                <a:latin typeface="+mn-lt"/>
                <a:ea typeface="+mn-ea"/>
              </a:rPr>
              <a:t> </a:t>
            </a:r>
          </a:p>
          <a:p>
            <a:r>
              <a:rPr lang="en-US" altLang="zh-CN" sz="2400" b="1" dirty="0">
                <a:solidFill>
                  <a:srgbClr val="C6383E"/>
                </a:solidFill>
                <a:latin typeface="+mn-lt"/>
                <a:ea typeface="+mn-ea"/>
              </a:rPr>
              <a:t> </a:t>
            </a:r>
          </a:p>
          <a:p>
            <a:endParaRPr lang="en-US" altLang="zh-CN" sz="2400" b="1" dirty="0">
              <a:solidFill>
                <a:srgbClr val="C6383E"/>
              </a:solidFill>
              <a:latin typeface="+mn-ea"/>
              <a:ea typeface="+mn-ea"/>
            </a:endParaRPr>
          </a:p>
          <a:p>
            <a:r>
              <a:rPr lang="en-US" altLang="zh-CN" sz="2400" b="1" dirty="0">
                <a:solidFill>
                  <a:srgbClr val="C6383E"/>
                </a:solidFill>
                <a:latin typeface="+mn-ea"/>
                <a:ea typeface="+mn-ea"/>
              </a:rPr>
              <a:t>4</a:t>
            </a:r>
          </a:p>
          <a:p>
            <a:endParaRPr lang="en-US" altLang="zh-CN" sz="2400" b="1" dirty="0">
              <a:solidFill>
                <a:srgbClr val="C6383E"/>
              </a:solidFill>
              <a:latin typeface="+mn-ea"/>
              <a:ea typeface="+mn-ea"/>
              <a:cs typeface="Times New Roman" panose="02020603050405020304" pitchFamily="18" charset="0"/>
            </a:endParaRPr>
          </a:p>
          <a:p>
            <a:endParaRPr lang="en-US" altLang="zh-CN" sz="2400" b="1" dirty="0">
              <a:solidFill>
                <a:srgbClr val="C6383E"/>
              </a:solidFill>
              <a:latin typeface="+mn-ea"/>
              <a:ea typeface="+mn-ea"/>
              <a:cs typeface="Times New Roman" panose="02020603050405020304" pitchFamily="18" charset="0"/>
            </a:endParaRPr>
          </a:p>
          <a:p>
            <a:endParaRPr lang="en-US" altLang="zh-CN" sz="2400" b="1" dirty="0">
              <a:solidFill>
                <a:srgbClr val="C6383E"/>
              </a:solidFill>
              <a:latin typeface="+mn-ea"/>
              <a:ea typeface="+mn-ea"/>
              <a:cs typeface="Times New Roman" panose="02020603050405020304" pitchFamily="18" charset="0"/>
            </a:endParaRPr>
          </a:p>
          <a:p>
            <a:r>
              <a:rPr lang="en-US" altLang="zh-CN" sz="2400" b="1" dirty="0">
                <a:solidFill>
                  <a:srgbClr val="C6383E"/>
                </a:solidFill>
                <a:latin typeface="+mn-ea"/>
                <a:ea typeface="+mn-ea"/>
                <a:cs typeface="Times New Roman" panose="02020603050405020304" pitchFamily="18" charset="0"/>
              </a:rPr>
              <a:t>5</a:t>
            </a:r>
          </a:p>
          <a:p>
            <a:endParaRPr lang="en-US" altLang="zh-CN" sz="2400" b="1" dirty="0">
              <a:solidFill>
                <a:srgbClr val="C6383E"/>
              </a:solidFill>
              <a:latin typeface="+mn-ea"/>
              <a:ea typeface="+mn-ea"/>
              <a:cs typeface="Times New Roman" panose="02020603050405020304" pitchFamily="18" charset="0"/>
            </a:endParaRPr>
          </a:p>
        </p:txBody>
      </p:sp>
      <p:sp>
        <p:nvSpPr>
          <p:cNvPr id="11" name="文本框 10"/>
          <p:cNvSpPr txBox="1"/>
          <p:nvPr/>
        </p:nvSpPr>
        <p:spPr>
          <a:xfrm>
            <a:off x="660400" y="1158745"/>
            <a:ext cx="8231900" cy="4524315"/>
          </a:xfrm>
          <a:prstGeom prst="rect">
            <a:avLst/>
          </a:prstGeom>
          <a:noFill/>
        </p:spPr>
        <p:txBody>
          <a:bodyPr wrap="square" rtlCol="0">
            <a:spAutoFit/>
          </a:bodyPr>
          <a:lstStyle/>
          <a:p>
            <a:pPr algn="just"/>
            <a:r>
              <a:rPr lang="zh-CN" altLang="en-US" sz="2400" dirty="0"/>
              <a:t>导致恐龙灭绝的真正原因现在依旧存在争议。</a:t>
            </a:r>
            <a:r>
              <a:rPr lang="en-US" altLang="zh-CN" sz="2400" dirty="0"/>
              <a:t>(dispute)</a:t>
            </a:r>
          </a:p>
          <a:p>
            <a:pPr algn="just"/>
            <a:r>
              <a:rPr lang="en-US" altLang="zh-CN" sz="2400" spc="-10" dirty="0"/>
              <a:t>__________________________________________________________________________________________________________</a:t>
            </a:r>
            <a:endParaRPr lang="en-US" altLang="zh-CN" sz="2400" dirty="0"/>
          </a:p>
          <a:p>
            <a:pPr algn="just"/>
            <a:endParaRPr lang="en-US" altLang="zh-CN" sz="2400" dirty="0"/>
          </a:p>
          <a:p>
            <a:pPr algn="just"/>
            <a:r>
              <a:rPr lang="zh-CN" altLang="en-US" sz="2400" dirty="0"/>
              <a:t>本次会议将讨论若干不同的问题。</a:t>
            </a:r>
            <a:r>
              <a:rPr lang="en-US" altLang="zh-CN" sz="2400" dirty="0"/>
              <a:t>(disparate)</a:t>
            </a:r>
          </a:p>
          <a:p>
            <a:pPr algn="just"/>
            <a:r>
              <a:rPr lang="en-US" altLang="zh-CN" sz="2400" spc="-10" dirty="0"/>
              <a:t>__________________________________________________________________________________________________________</a:t>
            </a:r>
            <a:endParaRPr lang="en-US" altLang="zh-CN" sz="2400" dirty="0"/>
          </a:p>
          <a:p>
            <a:pPr algn="just"/>
            <a:endParaRPr lang="en-US" altLang="zh-CN" sz="2400" dirty="0"/>
          </a:p>
          <a:p>
            <a:pPr algn="just"/>
            <a:r>
              <a:rPr lang="zh-CN" altLang="en-US" sz="2400" dirty="0"/>
              <a:t>自汽车诞生以来，社会发生了很大的变化。</a:t>
            </a:r>
            <a:r>
              <a:rPr lang="en-US" altLang="zh-CN" sz="2400" dirty="0"/>
              <a:t>(advent)</a:t>
            </a:r>
          </a:p>
          <a:p>
            <a:pPr algn="just"/>
            <a:r>
              <a:rPr lang="en-US" altLang="zh-CN" sz="2400" spc="-10" dirty="0"/>
              <a:t>__________________________________________________________________________________________________________</a:t>
            </a:r>
            <a:endParaRPr lang="en-US" altLang="zh-CN" sz="2400" dirty="0"/>
          </a:p>
          <a:p>
            <a:pPr algn="just"/>
            <a:endParaRPr lang="en-US" altLang="zh-CN" sz="2400" dirty="0"/>
          </a:p>
        </p:txBody>
      </p:sp>
      <p:sp>
        <p:nvSpPr>
          <p:cNvPr id="12" name="文本框 11"/>
          <p:cNvSpPr txBox="1"/>
          <p:nvPr/>
        </p:nvSpPr>
        <p:spPr>
          <a:xfrm>
            <a:off x="656496" y="1484865"/>
            <a:ext cx="8159895" cy="461665"/>
          </a:xfrm>
          <a:prstGeom prst="rect">
            <a:avLst/>
          </a:prstGeom>
          <a:noFill/>
        </p:spPr>
        <p:txBody>
          <a:bodyPr wrap="square" rtlCol="0">
            <a:spAutoFit/>
          </a:bodyPr>
          <a:lstStyle/>
          <a:p>
            <a:r>
              <a:rPr lang="en-US" altLang="zh-CN" sz="2400" dirty="0">
                <a:solidFill>
                  <a:srgbClr val="FF0000"/>
                </a:solidFill>
              </a:rPr>
              <a:t>The actual cause of dinosaurs’ extinction is still being disputed.</a:t>
            </a:r>
          </a:p>
        </p:txBody>
      </p:sp>
      <p:sp>
        <p:nvSpPr>
          <p:cNvPr id="13" name="文本框 12"/>
          <p:cNvSpPr txBox="1"/>
          <p:nvPr/>
        </p:nvSpPr>
        <p:spPr>
          <a:xfrm>
            <a:off x="662621" y="2930262"/>
            <a:ext cx="8159895" cy="461665"/>
          </a:xfrm>
          <a:prstGeom prst="rect">
            <a:avLst/>
          </a:prstGeom>
          <a:noFill/>
        </p:spPr>
        <p:txBody>
          <a:bodyPr wrap="square" rtlCol="0">
            <a:spAutoFit/>
          </a:bodyPr>
          <a:lstStyle/>
          <a:p>
            <a:r>
              <a:rPr lang="en-US" altLang="zh-CN" sz="2400" dirty="0">
                <a:solidFill>
                  <a:srgbClr val="FF0000"/>
                </a:solidFill>
              </a:rPr>
              <a:t>Several disparate issues will be discussed in this meeting.</a:t>
            </a:r>
          </a:p>
        </p:txBody>
      </p:sp>
      <p:sp>
        <p:nvSpPr>
          <p:cNvPr id="14" name="文本框 13"/>
          <p:cNvSpPr txBox="1"/>
          <p:nvPr/>
        </p:nvSpPr>
        <p:spPr>
          <a:xfrm>
            <a:off x="660636" y="4406590"/>
            <a:ext cx="8159895" cy="461665"/>
          </a:xfrm>
          <a:prstGeom prst="rect">
            <a:avLst/>
          </a:prstGeom>
          <a:noFill/>
        </p:spPr>
        <p:txBody>
          <a:bodyPr wrap="square" rtlCol="0">
            <a:spAutoFit/>
          </a:bodyPr>
          <a:lstStyle/>
          <a:p>
            <a:r>
              <a:rPr lang="en-US" altLang="zh-CN" sz="2400" dirty="0">
                <a:solidFill>
                  <a:srgbClr val="FF0000"/>
                </a:solidFill>
              </a:rPr>
              <a:t>Society has changed much since the advent of the car.</a:t>
            </a:r>
          </a:p>
        </p:txBody>
      </p:sp>
      <p:pic>
        <p:nvPicPr>
          <p:cNvPr id="15"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pic>
        <p:nvPicPr>
          <p:cNvPr id="16" name="钥匙2" descr="C:\Users\senj\Desktop\新建文件夹\答案.png">
            <a:hlinkClick r:id="" action="ppaction://noaction"/>
          </p:cNvPr>
          <p:cNvPicPr>
            <a:picLocks noChangeAspect="1" noChangeArrowheads="1"/>
          </p:cNvPicPr>
          <p:nvPr/>
        </p:nvPicPr>
        <p:blipFill>
          <a:blip r:embed="rId5" cstate="print"/>
          <a:srcRect/>
          <a:stretch>
            <a:fillRect/>
          </a:stretch>
        </p:blipFill>
        <p:spPr bwMode="auto">
          <a:xfrm>
            <a:off x="95139" y="1258690"/>
            <a:ext cx="324000" cy="324000"/>
          </a:xfrm>
          <a:prstGeom prst="rect">
            <a:avLst/>
          </a:prstGeom>
          <a:noFill/>
        </p:spPr>
      </p:pic>
      <p:sp>
        <p:nvSpPr>
          <p:cNvPr id="10" name="矩形 9"/>
          <p:cNvSpPr/>
          <p:nvPr/>
        </p:nvSpPr>
        <p:spPr>
          <a:xfrm>
            <a:off x="725916" y="1532738"/>
            <a:ext cx="8090475" cy="72539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766933" y="3002811"/>
            <a:ext cx="8090475" cy="72539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766933" y="4467550"/>
            <a:ext cx="8090475" cy="725396"/>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772545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16"/>
                  </p:tgtEl>
                </p:cond>
              </p:nextCondLst>
            </p:seq>
            <p:seq concurrent="1" nextAc="seek">
              <p:cTn id="11" restart="whenNotActive" fill="hold" evtFilter="cancelBubble" nodeType="interactiveSeq">
                <p:stCondLst>
                  <p:cond evt="onClick" delay="0">
                    <p:tgtEl>
                      <p:spTgt spid="10"/>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0"/>
                  </p:tgtEl>
                </p:cond>
              </p:nextCondLst>
            </p:seq>
            <p:seq concurrent="1" nextAc="seek">
              <p:cTn id="16" restart="whenNotActive" fill="hold" evtFilter="cancelBubble" nodeType="interactiveSeq">
                <p:stCondLst>
                  <p:cond evt="onClick" delay="0">
                    <p:tgtEl>
                      <p:spTgt spid="17"/>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7"/>
                  </p:tgtEl>
                </p:cond>
              </p:nextCondLst>
            </p:seq>
            <p:seq concurrent="1" nextAc="seek">
              <p:cTn id="21" restart="whenNotActive" fill="hold" evtFilter="cancelBubble" nodeType="interactiveSeq">
                <p:stCondLst>
                  <p:cond evt="onClick" delay="0">
                    <p:tgtEl>
                      <p:spTgt spid="18"/>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childTnLst>
              </p:cTn>
              <p:nextCondLst>
                <p:cond evt="onClick" delay="0">
                  <p:tgtEl>
                    <p:spTgt spid="18"/>
                  </p:tgtEl>
                </p:cond>
              </p:nextCondLst>
            </p:seq>
          </p:childTnLst>
        </p:cTn>
      </p:par>
    </p:tnLst>
    <p:bldLst>
      <p:bldP spid="12" grpId="0"/>
      <p:bldP spid="12" grpId="1"/>
      <p:bldP spid="13" grpId="0"/>
      <p:bldP spid="13" grpId="1"/>
      <p:bldP spid="14" grpId="0"/>
      <p:bldP spid="14"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p:cNvPicPr>
            <a:picLocks noChangeAspect="1" noChangeArrowheads="1"/>
          </p:cNvPicPr>
          <p:nvPr/>
        </p:nvPicPr>
        <p:blipFill>
          <a:blip r:embed="rId2" cstate="print"/>
          <a:srcRect l="12911" t="21436" r="39626" b="60503"/>
          <a:stretch>
            <a:fillRect/>
          </a:stretch>
        </p:blipFill>
        <p:spPr bwMode="auto">
          <a:xfrm>
            <a:off x="8366400" y="6429396"/>
            <a:ext cx="259557" cy="254794"/>
          </a:xfrm>
          <a:prstGeom prst="rect">
            <a:avLst/>
          </a:prstGeom>
          <a:noFill/>
        </p:spPr>
      </p:pic>
      <p:pic>
        <p:nvPicPr>
          <p:cNvPr id="10"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1" name="文本框 10"/>
          <p:cNvSpPr txBox="1"/>
          <p:nvPr/>
        </p:nvSpPr>
        <p:spPr>
          <a:xfrm>
            <a:off x="360000" y="1133951"/>
            <a:ext cx="8532300" cy="830997"/>
          </a:xfrm>
          <a:prstGeom prst="rect">
            <a:avLst/>
          </a:prstGeom>
          <a:noFill/>
        </p:spPr>
        <p:txBody>
          <a:bodyPr wrap="square" rtlCol="0">
            <a:spAutoFit/>
          </a:bodyPr>
          <a:lstStyle/>
          <a:p>
            <a:r>
              <a:rPr lang="en-US" altLang="zh-CN" sz="2400" b="1" dirty="0">
                <a:solidFill>
                  <a:srgbClr val="C6383E"/>
                </a:solidFill>
              </a:rPr>
              <a:t>Task 1</a:t>
            </a:r>
          </a:p>
          <a:p>
            <a:r>
              <a:rPr lang="en-US" altLang="zh-CN" sz="2400" dirty="0">
                <a:latin typeface="Cambria" panose="02040503050406030204" pitchFamily="18" charset="0"/>
                <a:ea typeface="Cambria" panose="02040503050406030204" pitchFamily="18" charset="0"/>
              </a:rPr>
              <a:t>Read the following information and then answer the questions.</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3" name="文本框 12"/>
          <p:cNvSpPr txBox="1"/>
          <p:nvPr/>
        </p:nvSpPr>
        <p:spPr>
          <a:xfrm>
            <a:off x="366165" y="2235395"/>
            <a:ext cx="8526135" cy="3046988"/>
          </a:xfrm>
          <a:prstGeom prst="rect">
            <a:avLst/>
          </a:prstGeom>
          <a:noFill/>
        </p:spPr>
        <p:txBody>
          <a:bodyPr wrap="square" rtlCol="0">
            <a:spAutoFit/>
          </a:bodyPr>
          <a:lstStyle/>
          <a:p>
            <a:pPr algn="just"/>
            <a:r>
              <a:rPr lang="en-US" altLang="zh-CN" sz="2400" spc="30" dirty="0"/>
              <a:t>There are historically two key models that have been put forward</a:t>
            </a:r>
            <a:r>
              <a:rPr lang="en-US" altLang="zh-CN" sz="2400" dirty="0"/>
              <a:t> </a:t>
            </a:r>
            <a:r>
              <a:rPr lang="en-US" altLang="zh-CN" sz="2400" spc="20" dirty="0"/>
              <a:t>to explain the evolution of Homo sapiens (modern human beings)</a:t>
            </a:r>
            <a:r>
              <a:rPr lang="en-US" altLang="zh-CN" sz="2400" i="1" dirty="0"/>
              <a:t>. </a:t>
            </a:r>
            <a:r>
              <a:rPr lang="en-US" altLang="zh-CN" sz="2400" spc="20" dirty="0"/>
              <a:t>The “out of Africa” model is now the most widely accepted, which</a:t>
            </a:r>
          </a:p>
          <a:p>
            <a:pPr algn="just"/>
            <a:r>
              <a:rPr lang="en-US" altLang="zh-CN" sz="2400" spc="40" dirty="0"/>
              <a:t>proposes that Homo sapiens evolved in Africa and then migrated</a:t>
            </a:r>
            <a:r>
              <a:rPr lang="en-US" altLang="zh-CN" sz="2400" dirty="0"/>
              <a:t> </a:t>
            </a:r>
            <a:r>
              <a:rPr lang="en-US" altLang="zh-CN" sz="2400" spc="50" dirty="0"/>
              <a:t>across the world. The “multiregional” model, on the other hand</a:t>
            </a:r>
            <a:r>
              <a:rPr lang="en-US" altLang="zh-CN" sz="2400" dirty="0"/>
              <a:t>, </a:t>
            </a:r>
            <a:r>
              <a:rPr lang="en-US" altLang="zh-CN" sz="2400" spc="20" dirty="0"/>
              <a:t>proposes that the evolution of Homo sapiens took place in several</a:t>
            </a:r>
            <a:r>
              <a:rPr lang="en-US" altLang="zh-CN" sz="2400" dirty="0"/>
              <a:t> </a:t>
            </a:r>
            <a:r>
              <a:rPr lang="en-US" altLang="zh-CN" sz="2400" spc="10" dirty="0"/>
              <a:t>places over a long period of time. The single Homo sapiens species</a:t>
            </a:r>
            <a:r>
              <a:rPr lang="en-US" altLang="zh-CN" sz="2400" dirty="0"/>
              <a:t> is the result of the intermingling of those various populations.</a:t>
            </a:r>
          </a:p>
        </p:txBody>
      </p:sp>
    </p:spTree>
    <p:extLst>
      <p:ext uri="{BB962C8B-B14F-4D97-AF65-F5344CB8AC3E}">
        <p14:creationId xmlns:p14="http://schemas.microsoft.com/office/powerpoint/2010/main" val="2396333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60000" y="1133951"/>
            <a:ext cx="8532300" cy="461665"/>
          </a:xfrm>
          <a:prstGeom prst="rect">
            <a:avLst/>
          </a:prstGeom>
          <a:noFill/>
        </p:spPr>
        <p:txBody>
          <a:bodyPr wrap="square" rtlCol="0">
            <a:spAutoFit/>
          </a:bodyPr>
          <a:lstStyle/>
          <a:p>
            <a:r>
              <a:rPr lang="en-US" altLang="zh-CN" sz="2400" b="1" dirty="0"/>
              <a:t>Out of Africa: </a:t>
            </a:r>
            <a:r>
              <a:rPr lang="en-US" altLang="zh-CN" sz="2400" dirty="0"/>
              <a:t>Possible routes of Homo sapiens migration</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1"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graphicFrame>
        <p:nvGraphicFramePr>
          <p:cNvPr id="17" name="表格 16"/>
          <p:cNvGraphicFramePr>
            <a:graphicFrameLocks noGrp="1"/>
          </p:cNvGraphicFramePr>
          <p:nvPr>
            <p:extLst>
              <p:ext uri="{D42A27DB-BD31-4B8C-83A1-F6EECF244321}">
                <p14:modId xmlns:p14="http://schemas.microsoft.com/office/powerpoint/2010/main" val="80117781"/>
              </p:ext>
            </p:extLst>
          </p:nvPr>
        </p:nvGraphicFramePr>
        <p:xfrm>
          <a:off x="447393" y="1841420"/>
          <a:ext cx="8341006" cy="3017520"/>
        </p:xfrm>
        <a:graphic>
          <a:graphicData uri="http://schemas.openxmlformats.org/drawingml/2006/table">
            <a:tbl>
              <a:tblPr firstRow="1" bandRow="1">
                <a:tableStyleId>{5940675A-B579-460E-94D1-54222C63F5DA}</a:tableStyleId>
              </a:tblPr>
              <a:tblGrid>
                <a:gridCol w="3764582">
                  <a:extLst>
                    <a:ext uri="{9D8B030D-6E8A-4147-A177-3AD203B41FA5}">
                      <a16:colId xmlns:a16="http://schemas.microsoft.com/office/drawing/2014/main" val="3823967904"/>
                    </a:ext>
                  </a:extLst>
                </a:gridCol>
                <a:gridCol w="4576424">
                  <a:extLst>
                    <a:ext uri="{9D8B030D-6E8A-4147-A177-3AD203B41FA5}">
                      <a16:colId xmlns:a16="http://schemas.microsoft.com/office/drawing/2014/main" val="3437884784"/>
                    </a:ext>
                  </a:extLst>
                </a:gridCol>
              </a:tblGrid>
              <a:tr h="370840">
                <a:tc>
                  <a:txBody>
                    <a:bodyPr/>
                    <a:lstStyle/>
                    <a:p>
                      <a:pPr algn="ctr"/>
                      <a:r>
                        <a:rPr lang="en-US" altLang="zh-CN" sz="2400" b="1" i="0" u="none" strike="noStrike" kern="1200" baseline="0" dirty="0">
                          <a:solidFill>
                            <a:schemeClr val="tx1"/>
                          </a:solidFill>
                          <a:latin typeface="+mn-lt"/>
                          <a:ea typeface="+mn-ea"/>
                          <a:cs typeface="+mn-cs"/>
                        </a:rPr>
                        <a:t>Time</a:t>
                      </a:r>
                      <a:endParaRPr lang="zh-CN" altLang="en-US" sz="2400" b="1" dirty="0"/>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rgbClr val="F9E7DD"/>
                    </a:solidFill>
                  </a:tcPr>
                </a:tc>
                <a:tc>
                  <a:txBody>
                    <a:bodyPr/>
                    <a:lstStyle/>
                    <a:p>
                      <a:pPr algn="ctr"/>
                      <a:r>
                        <a:rPr lang="en-US" altLang="zh-CN" sz="2400" b="1" i="0" u="none" strike="noStrike" kern="1200" baseline="0" dirty="0">
                          <a:solidFill>
                            <a:schemeClr val="tx1"/>
                          </a:solidFill>
                          <a:latin typeface="+mn-lt"/>
                          <a:ea typeface="+mn-ea"/>
                          <a:cs typeface="+mn-cs"/>
                        </a:rPr>
                        <a:t>Routes</a:t>
                      </a:r>
                      <a:endParaRPr lang="zh-CN" altLang="en-US" sz="2400" b="1"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rgbClr val="F9E7DD"/>
                    </a:solidFill>
                  </a:tcPr>
                </a:tc>
                <a:extLst>
                  <a:ext uri="{0D108BD9-81ED-4DB2-BD59-A6C34878D82A}">
                    <a16:rowId xmlns:a16="http://schemas.microsoft.com/office/drawing/2014/main" val="3797758373"/>
                  </a:ext>
                </a:extLst>
              </a:tr>
              <a:tr h="370840">
                <a:tc>
                  <a:txBody>
                    <a:bodyPr/>
                    <a:lstStyle/>
                    <a:p>
                      <a:pPr algn="ctr"/>
                      <a:r>
                        <a:rPr lang="en-US" altLang="zh-CN" sz="2400" b="0" i="0" u="none" strike="noStrike" kern="1200" baseline="0" dirty="0">
                          <a:solidFill>
                            <a:schemeClr val="tx1"/>
                          </a:solidFill>
                          <a:latin typeface="+mn-lt"/>
                          <a:ea typeface="+mn-ea"/>
                          <a:cs typeface="+mn-cs"/>
                        </a:rPr>
                        <a:t>60,000–65,000 years ago</a:t>
                      </a:r>
                      <a:endParaRPr lang="zh-CN" altLang="en-US" sz="2400" dirty="0"/>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spc="30" baseline="0" dirty="0">
                          <a:solidFill>
                            <a:schemeClr val="tx1"/>
                          </a:solidFill>
                          <a:latin typeface="+mn-lt"/>
                          <a:ea typeface="+mn-ea"/>
                          <a:cs typeface="+mn-cs"/>
                        </a:rPr>
                        <a:t>from Africa to the Middle East and</a:t>
                      </a:r>
                      <a:r>
                        <a:rPr lang="en-US" altLang="zh-CN" sz="2400" b="0" i="0" u="none" strike="noStrike" kern="1200" baseline="0" dirty="0">
                          <a:solidFill>
                            <a:schemeClr val="tx1"/>
                          </a:solidFill>
                          <a:latin typeface="+mn-lt"/>
                          <a:ea typeface="+mn-ea"/>
                          <a:cs typeface="+mn-cs"/>
                        </a:rPr>
                        <a:t> then to South Asia</a:t>
                      </a:r>
                      <a:endParaRPr lang="zh-CN" altLang="en-US" sz="2400" dirty="0">
                        <a:solidFill>
                          <a:srgbClr val="FF0000"/>
                        </a:solidFill>
                      </a:endParaRPr>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543618640"/>
                  </a:ext>
                </a:extLst>
              </a:tr>
              <a:tr h="370840">
                <a:tc>
                  <a:txBody>
                    <a:bodyPr/>
                    <a:lstStyle/>
                    <a:p>
                      <a:pPr algn="ctr"/>
                      <a:r>
                        <a:rPr lang="en-US" altLang="zh-CN" sz="2400" b="0" i="0" u="none" strike="noStrike" kern="1200" baseline="0" dirty="0">
                          <a:solidFill>
                            <a:schemeClr val="tx1"/>
                          </a:solidFill>
                          <a:latin typeface="+mn-lt"/>
                          <a:ea typeface="+mn-ea"/>
                          <a:cs typeface="+mn-cs"/>
                        </a:rPr>
                        <a:t>50,000–55,000 years ago</a:t>
                      </a:r>
                      <a:endParaRPr lang="zh-CN" altLang="en-US" sz="2400" dirty="0">
                        <a:solidFill>
                          <a:srgbClr val="FF0000"/>
                        </a:solidFill>
                      </a:endParaRPr>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baseline="0" dirty="0">
                          <a:solidFill>
                            <a:schemeClr val="tx1"/>
                          </a:solidFill>
                          <a:latin typeface="+mn-lt"/>
                          <a:ea typeface="+mn-ea"/>
                          <a:cs typeface="+mn-cs"/>
                        </a:rPr>
                        <a:t>from South Asia to Australia</a:t>
                      </a:r>
                      <a:endParaRPr lang="zh-CN" altLang="en-US" sz="2400"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462671871"/>
                  </a:ext>
                </a:extLst>
              </a:tr>
              <a:tr h="370840">
                <a:tc>
                  <a:txBody>
                    <a:bodyPr/>
                    <a:lstStyle/>
                    <a:p>
                      <a:pPr algn="ctr"/>
                      <a:r>
                        <a:rPr lang="en-US" altLang="zh-CN" sz="2400" b="0" i="0" u="none" strike="noStrike" kern="1200" baseline="0" dirty="0">
                          <a:solidFill>
                            <a:schemeClr val="tx1"/>
                          </a:solidFill>
                          <a:latin typeface="+mn-lt"/>
                          <a:ea typeface="+mn-ea"/>
                          <a:cs typeface="+mn-cs"/>
                        </a:rPr>
                        <a:t>40,000–45,000 years ago</a:t>
                      </a:r>
                      <a:endParaRPr lang="zh-CN" altLang="en-US" sz="2400" dirty="0">
                        <a:solidFill>
                          <a:srgbClr val="FF0000"/>
                        </a:solidFill>
                      </a:endParaRPr>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spc="50" baseline="0" dirty="0">
                          <a:solidFill>
                            <a:schemeClr val="tx1"/>
                          </a:solidFill>
                          <a:latin typeface="+mn-lt"/>
                          <a:ea typeface="+mn-ea"/>
                          <a:cs typeface="+mn-cs"/>
                        </a:rPr>
                        <a:t>from the Middle East to Euro-Asia</a:t>
                      </a:r>
                      <a:r>
                        <a:rPr lang="en-US" altLang="zh-CN" sz="2400" b="0" i="0" u="none" strike="noStrike" kern="1200" baseline="0" dirty="0">
                          <a:solidFill>
                            <a:schemeClr val="tx1"/>
                          </a:solidFill>
                          <a:latin typeface="+mn-lt"/>
                          <a:ea typeface="+mn-ea"/>
                          <a:cs typeface="+mn-cs"/>
                        </a:rPr>
                        <a:t> Continent</a:t>
                      </a:r>
                      <a:endParaRPr lang="zh-CN" altLang="en-US" sz="2400"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21976900"/>
                  </a:ext>
                </a:extLst>
              </a:tr>
              <a:tr h="370840">
                <a:tc>
                  <a:txBody>
                    <a:bodyPr/>
                    <a:lstStyle/>
                    <a:p>
                      <a:pPr algn="ctr"/>
                      <a:r>
                        <a:rPr lang="en-US" altLang="zh-CN" sz="2400" b="0" i="0" u="none" strike="noStrike" kern="1200" baseline="0" dirty="0">
                          <a:solidFill>
                            <a:schemeClr val="tx1"/>
                          </a:solidFill>
                          <a:latin typeface="+mn-lt"/>
                          <a:ea typeface="+mn-ea"/>
                          <a:cs typeface="+mn-cs"/>
                        </a:rPr>
                        <a:t>15,000–18,000 years ago</a:t>
                      </a:r>
                      <a:endParaRPr lang="zh-CN" altLang="en-US" sz="2400" dirty="0"/>
                    </a:p>
                  </a:txBody>
                  <a:tcP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spc="-30" baseline="0" dirty="0">
                          <a:solidFill>
                            <a:schemeClr val="tx1"/>
                          </a:solidFill>
                          <a:latin typeface="+mn-lt"/>
                          <a:ea typeface="+mn-ea"/>
                          <a:cs typeface="+mn-cs"/>
                        </a:rPr>
                        <a:t>from Asia to America and Greenland</a:t>
                      </a:r>
                      <a:endParaRPr lang="zh-CN" altLang="en-US" sz="2400" spc="-30" baseline="0" dirty="0">
                        <a:solidFill>
                          <a:srgbClr val="FF0000"/>
                        </a:solidFill>
                      </a:endParaRPr>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412311195"/>
                  </a:ext>
                </a:extLst>
              </a:tr>
            </a:tbl>
          </a:graphicData>
        </a:graphic>
      </p:graphicFrame>
      <p:sp>
        <p:nvSpPr>
          <p:cNvPr id="18" name="文本框 17"/>
          <p:cNvSpPr txBox="1"/>
          <p:nvPr/>
        </p:nvSpPr>
        <p:spPr>
          <a:xfrm>
            <a:off x="366165" y="5160556"/>
            <a:ext cx="485955" cy="830997"/>
          </a:xfrm>
          <a:prstGeom prst="rect">
            <a:avLst/>
          </a:prstGeom>
          <a:noFill/>
        </p:spPr>
        <p:txBody>
          <a:bodyPr wrap="square" rtlCol="0">
            <a:spAutoFit/>
          </a:bodyPr>
          <a:lstStyle/>
          <a:p>
            <a:r>
              <a:rPr lang="en-US" altLang="zh-CN" sz="2400" b="1" dirty="0">
                <a:solidFill>
                  <a:srgbClr val="C6383E"/>
                </a:solidFill>
                <a:latin typeface="+mn-lt"/>
                <a:ea typeface="+mn-ea"/>
              </a:rPr>
              <a:t>1</a:t>
            </a:r>
          </a:p>
          <a:p>
            <a:r>
              <a:rPr lang="en-US" altLang="zh-CN" sz="2400" b="1" dirty="0">
                <a:solidFill>
                  <a:srgbClr val="C6383E"/>
                </a:solidFill>
                <a:latin typeface="+mn-lt"/>
                <a:ea typeface="+mn-ea"/>
              </a:rPr>
              <a:t>2</a:t>
            </a:r>
          </a:p>
        </p:txBody>
      </p:sp>
      <p:sp>
        <p:nvSpPr>
          <p:cNvPr id="20" name="文本框 19"/>
          <p:cNvSpPr txBox="1"/>
          <p:nvPr/>
        </p:nvSpPr>
        <p:spPr>
          <a:xfrm>
            <a:off x="660400" y="5160556"/>
            <a:ext cx="8231900" cy="1200329"/>
          </a:xfrm>
          <a:prstGeom prst="rect">
            <a:avLst/>
          </a:prstGeom>
          <a:noFill/>
        </p:spPr>
        <p:txBody>
          <a:bodyPr wrap="square" rtlCol="0">
            <a:spAutoFit/>
          </a:bodyPr>
          <a:lstStyle/>
          <a:p>
            <a:pPr algn="just"/>
            <a:r>
              <a:rPr lang="en-US" altLang="zh-CN" sz="2400" dirty="0"/>
              <a:t>What is your understanding of the origin of human beings?</a:t>
            </a:r>
          </a:p>
          <a:p>
            <a:pPr algn="just"/>
            <a:r>
              <a:rPr lang="en-US" altLang="zh-CN" sz="2400" spc="20" dirty="0"/>
              <a:t>Why do some Chinese paleoanthropologists support the theory </a:t>
            </a:r>
            <a:r>
              <a:rPr lang="en-US" altLang="zh-CN" sz="2400" dirty="0"/>
              <a:t>of “regional evolution”?</a:t>
            </a:r>
          </a:p>
        </p:txBody>
      </p:sp>
    </p:spTree>
    <p:extLst>
      <p:ext uri="{BB962C8B-B14F-4D97-AF65-F5344CB8AC3E}">
        <p14:creationId xmlns:p14="http://schemas.microsoft.com/office/powerpoint/2010/main" val="10519578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6" name="文本框 5"/>
          <p:cNvSpPr txBox="1"/>
          <p:nvPr/>
        </p:nvSpPr>
        <p:spPr>
          <a:xfrm>
            <a:off x="360000" y="1133951"/>
            <a:ext cx="8532300" cy="1569660"/>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20" dirty="0">
                <a:latin typeface="Cambria" panose="02040503050406030204" pitchFamily="18" charset="0"/>
                <a:ea typeface="Cambria" panose="02040503050406030204" pitchFamily="18" charset="0"/>
              </a:rPr>
              <a:t>Read more about China’s prehistoric period, try to supply some</a:t>
            </a:r>
            <a:r>
              <a:rPr lang="en-US" altLang="zh-CN" sz="2400" dirty="0">
                <a:latin typeface="Cambria" panose="02040503050406030204" pitchFamily="18" charset="0"/>
                <a:ea typeface="Cambria" panose="02040503050406030204" pitchFamily="18" charset="0"/>
              </a:rPr>
              <a:t> </a:t>
            </a:r>
            <a:r>
              <a:rPr lang="en-US" altLang="zh-CN" sz="2400" spc="40" dirty="0">
                <a:latin typeface="Cambria" panose="02040503050406030204" pitchFamily="18" charset="0"/>
                <a:ea typeface="Cambria" panose="02040503050406030204" pitchFamily="18" charset="0"/>
              </a:rPr>
              <a:t>details for the major cultures and sites in the chart below, and</a:t>
            </a:r>
            <a:r>
              <a:rPr lang="en-US" altLang="zh-CN" sz="2400" dirty="0">
                <a:latin typeface="Cambria" panose="02040503050406030204" pitchFamily="18" charset="0"/>
                <a:ea typeface="Cambria" panose="02040503050406030204" pitchFamily="18" charset="0"/>
              </a:rPr>
              <a:t> share your findings with your classmates.</a:t>
            </a:r>
            <a:endParaRPr lang="en-US" altLang="zh-CN" sz="2400" b="1" dirty="0">
              <a:solidFill>
                <a:srgbClr val="C6383E"/>
              </a:solidFill>
              <a:latin typeface="Cambria" panose="02040503050406030204" pitchFamily="18" charset="0"/>
              <a:ea typeface="Cambria" panose="02040503050406030204"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358711471"/>
              </p:ext>
            </p:extLst>
          </p:nvPr>
        </p:nvGraphicFramePr>
        <p:xfrm>
          <a:off x="447393" y="3075665"/>
          <a:ext cx="8341007" cy="3017520"/>
        </p:xfrm>
        <a:graphic>
          <a:graphicData uri="http://schemas.openxmlformats.org/drawingml/2006/table">
            <a:tbl>
              <a:tblPr firstRow="1" bandRow="1">
                <a:tableStyleId>{5940675A-B579-460E-94D1-54222C63F5DA}</a:tableStyleId>
              </a:tblPr>
              <a:tblGrid>
                <a:gridCol w="596362">
                  <a:extLst>
                    <a:ext uri="{9D8B030D-6E8A-4147-A177-3AD203B41FA5}">
                      <a16:colId xmlns:a16="http://schemas.microsoft.com/office/drawing/2014/main" val="2158824579"/>
                    </a:ext>
                  </a:extLst>
                </a:gridCol>
                <a:gridCol w="4032280">
                  <a:extLst>
                    <a:ext uri="{9D8B030D-6E8A-4147-A177-3AD203B41FA5}">
                      <a16:colId xmlns:a16="http://schemas.microsoft.com/office/drawing/2014/main" val="3823967904"/>
                    </a:ext>
                  </a:extLst>
                </a:gridCol>
                <a:gridCol w="3712365">
                  <a:extLst>
                    <a:ext uri="{9D8B030D-6E8A-4147-A177-3AD203B41FA5}">
                      <a16:colId xmlns:a16="http://schemas.microsoft.com/office/drawing/2014/main" val="3437884784"/>
                    </a:ext>
                  </a:extLst>
                </a:gridCol>
              </a:tblGrid>
              <a:tr h="502920">
                <a:tc>
                  <a:txBody>
                    <a:bodyPr/>
                    <a:lstStyle/>
                    <a:p>
                      <a:pPr algn="ctr"/>
                      <a:r>
                        <a:rPr lang="en-US" altLang="zh-CN" sz="2400" b="0" dirty="0"/>
                        <a:t>1</a:t>
                      </a:r>
                      <a:endParaRPr lang="zh-CN" altLang="en-US" sz="2400" b="0" dirty="0"/>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chemeClr val="bg1"/>
                    </a:solidFill>
                  </a:tcPr>
                </a:tc>
                <a:tc>
                  <a:txBody>
                    <a:bodyPr/>
                    <a:lstStyle/>
                    <a:p>
                      <a:pPr algn="l"/>
                      <a:r>
                        <a:rPr lang="en-US" altLang="zh-CN" sz="2400" b="0" i="0" u="none" strike="noStrike" kern="1200" baseline="0" dirty="0" err="1">
                          <a:solidFill>
                            <a:schemeClr val="tx1"/>
                          </a:solidFill>
                          <a:latin typeface="+mn-lt"/>
                          <a:ea typeface="+mn-ea"/>
                          <a:cs typeface="+mn-cs"/>
                        </a:rPr>
                        <a:t>Peiligang</a:t>
                      </a:r>
                      <a:r>
                        <a:rPr lang="en-US" altLang="zh-CN" sz="2400" b="0" i="0" u="none" strike="noStrike" kern="1200" baseline="0" dirty="0">
                          <a:solidFill>
                            <a:schemeClr val="tx1"/>
                          </a:solidFill>
                          <a:latin typeface="+mn-lt"/>
                          <a:ea typeface="+mn-ea"/>
                          <a:cs typeface="+mn-cs"/>
                        </a:rPr>
                        <a:t> Culture (</a:t>
                      </a:r>
                      <a:r>
                        <a:rPr lang="zh-CN" altLang="en-US" sz="2400" b="0" i="0" u="none" strike="noStrike" kern="1200" baseline="0" dirty="0">
                          <a:solidFill>
                            <a:schemeClr val="tx1"/>
                          </a:solidFill>
                          <a:latin typeface="+mn-lt"/>
                          <a:ea typeface="+mn-ea"/>
                          <a:cs typeface="+mn-cs"/>
                        </a:rPr>
                        <a:t>裴李岗文化</a:t>
                      </a:r>
                      <a:r>
                        <a:rPr lang="en-US" altLang="zh-CN" sz="2400" b="0" i="0" u="none" strike="noStrike" kern="1200" baseline="0" dirty="0">
                          <a:solidFill>
                            <a:schemeClr val="tx1"/>
                          </a:solidFill>
                          <a:latin typeface="+mn-lt"/>
                          <a:ea typeface="+mn-ea"/>
                          <a:cs typeface="+mn-cs"/>
                        </a:rPr>
                        <a:t>)</a:t>
                      </a:r>
                      <a:endParaRPr lang="zh-CN" altLang="en-US" sz="2400" b="1" dirty="0"/>
                    </a:p>
                  </a:txBody>
                  <a:tcPr anchor="ctr">
                    <a:lnL w="12700" cap="flat" cmpd="sng" algn="ctr">
                      <a:solidFill>
                        <a:srgbClr val="C6383E"/>
                      </a:solidFill>
                      <a:prstDash val="solid"/>
                      <a:round/>
                      <a:headEnd type="none" w="med" len="med"/>
                      <a:tailEnd type="none" w="med" len="med"/>
                    </a:lnL>
                    <a:lnR w="12700" cap="flat" cmpd="sng" algn="ctr">
                      <a:solidFill>
                        <a:srgbClr val="C6383E"/>
                      </a:solid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chemeClr val="bg1"/>
                    </a:solidFill>
                  </a:tcPr>
                </a:tc>
                <a:tc>
                  <a:txBody>
                    <a:bodyPr/>
                    <a:lstStyle/>
                    <a:p>
                      <a:endParaRPr lang="zh-CN" altLang="en-US" sz="2400" dirty="0"/>
                    </a:p>
                  </a:txBody>
                  <a:tcPr anchor="ct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chemeClr val="bg1"/>
                    </a:solidFill>
                  </a:tcPr>
                </a:tc>
                <a:extLst>
                  <a:ext uri="{0D108BD9-81ED-4DB2-BD59-A6C34878D82A}">
                    <a16:rowId xmlns:a16="http://schemas.microsoft.com/office/drawing/2014/main" val="3797758373"/>
                  </a:ext>
                </a:extLst>
              </a:tr>
              <a:tr h="502920">
                <a:tc>
                  <a:txBody>
                    <a:bodyPr/>
                    <a:lstStyle/>
                    <a:p>
                      <a:pPr algn="ctr"/>
                      <a:r>
                        <a:rPr lang="en-US" altLang="zh-CN" sz="2400" dirty="0"/>
                        <a:t>2</a:t>
                      </a:r>
                      <a:endParaRPr lang="zh-CN" altLang="en-US" sz="2400" dirty="0"/>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baseline="0" dirty="0" err="1">
                          <a:solidFill>
                            <a:schemeClr val="tx1"/>
                          </a:solidFill>
                          <a:latin typeface="+mn-lt"/>
                          <a:ea typeface="+mn-ea"/>
                          <a:cs typeface="+mn-cs"/>
                        </a:rPr>
                        <a:t>Liangzhu</a:t>
                      </a:r>
                      <a:r>
                        <a:rPr lang="en-US" altLang="zh-CN" sz="2400" b="0" i="0" u="none" strike="noStrike" kern="1200" baseline="0" dirty="0">
                          <a:solidFill>
                            <a:schemeClr val="tx1"/>
                          </a:solidFill>
                          <a:latin typeface="+mn-lt"/>
                          <a:ea typeface="+mn-ea"/>
                          <a:cs typeface="+mn-cs"/>
                        </a:rPr>
                        <a:t> Culture (</a:t>
                      </a:r>
                      <a:r>
                        <a:rPr lang="zh-CN" altLang="en-US" sz="2400" b="0" i="0" u="none" strike="noStrike" kern="1200" baseline="0" dirty="0">
                          <a:solidFill>
                            <a:schemeClr val="tx1"/>
                          </a:solidFill>
                          <a:latin typeface="+mn-lt"/>
                          <a:ea typeface="+mn-ea"/>
                          <a:cs typeface="+mn-cs"/>
                        </a:rPr>
                        <a:t>良渚文化</a:t>
                      </a:r>
                      <a:r>
                        <a:rPr lang="en-US" altLang="zh-CN" sz="2400" b="0" i="0" u="none" strike="noStrike" kern="1200" baseline="0" dirty="0">
                          <a:solidFill>
                            <a:schemeClr val="tx1"/>
                          </a:solidFill>
                          <a:latin typeface="+mn-lt"/>
                          <a:ea typeface="+mn-ea"/>
                          <a:cs typeface="+mn-cs"/>
                        </a:rPr>
                        <a:t>)</a:t>
                      </a:r>
                      <a:endParaRPr lang="zh-CN" altLang="en-US" sz="2400" dirty="0"/>
                    </a:p>
                  </a:txBody>
                  <a:tcPr anchor="ctr">
                    <a:lnL w="12700" cap="flat" cmpd="sng" algn="ctr">
                      <a:solidFill>
                        <a:srgbClr val="C6383E"/>
                      </a:solid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endParaRPr lang="zh-CN" altLang="en-US" sz="2400" dirty="0"/>
                    </a:p>
                  </a:txBody>
                  <a:tcPr anchor="ct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543618640"/>
                  </a:ext>
                </a:extLst>
              </a:tr>
              <a:tr h="502920">
                <a:tc>
                  <a:txBody>
                    <a:bodyPr/>
                    <a:lstStyle/>
                    <a:p>
                      <a:pPr algn="ctr"/>
                      <a:r>
                        <a:rPr lang="en-US" altLang="zh-CN" sz="2400" dirty="0">
                          <a:solidFill>
                            <a:schemeClr val="tx1"/>
                          </a:solidFill>
                        </a:rPr>
                        <a:t>3</a:t>
                      </a:r>
                      <a:endParaRPr lang="zh-CN" altLang="en-US" sz="2400" dirty="0">
                        <a:solidFill>
                          <a:schemeClr val="tx1"/>
                        </a:solidFill>
                      </a:endParaRPr>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baseline="0" dirty="0" err="1">
                          <a:solidFill>
                            <a:schemeClr val="tx1"/>
                          </a:solidFill>
                          <a:latin typeface="+mn-lt"/>
                          <a:ea typeface="+mn-ea"/>
                          <a:cs typeface="+mn-cs"/>
                        </a:rPr>
                        <a:t>Cishan</a:t>
                      </a:r>
                      <a:r>
                        <a:rPr lang="en-US" altLang="zh-CN" sz="2400" b="0" i="0" u="none" strike="noStrike" kern="1200" baseline="0" dirty="0">
                          <a:solidFill>
                            <a:schemeClr val="tx1"/>
                          </a:solidFill>
                          <a:latin typeface="+mn-lt"/>
                          <a:ea typeface="+mn-ea"/>
                          <a:cs typeface="+mn-cs"/>
                        </a:rPr>
                        <a:t> Culture (</a:t>
                      </a:r>
                      <a:r>
                        <a:rPr lang="zh-CN" altLang="en-US" sz="2400" b="0" i="0" u="none" strike="noStrike" kern="1200" baseline="0" dirty="0">
                          <a:solidFill>
                            <a:schemeClr val="tx1"/>
                          </a:solidFill>
                          <a:latin typeface="+mn-lt"/>
                          <a:ea typeface="+mn-ea"/>
                          <a:cs typeface="+mn-cs"/>
                        </a:rPr>
                        <a:t>磁山文化</a:t>
                      </a:r>
                      <a:r>
                        <a:rPr lang="en-US" altLang="zh-CN" sz="2400" b="0" i="0" u="none" strike="noStrike" kern="1200" baseline="0" dirty="0">
                          <a:solidFill>
                            <a:schemeClr val="tx1"/>
                          </a:solidFill>
                          <a:latin typeface="+mn-lt"/>
                          <a:ea typeface="+mn-ea"/>
                          <a:cs typeface="+mn-cs"/>
                        </a:rPr>
                        <a:t>)</a:t>
                      </a:r>
                      <a:endParaRPr lang="zh-CN" altLang="en-US" sz="2400" dirty="0">
                        <a:solidFill>
                          <a:srgbClr val="FF0000"/>
                        </a:solidFill>
                      </a:endParaRPr>
                    </a:p>
                  </a:txBody>
                  <a:tcPr anchor="ctr">
                    <a:lnL w="12700" cap="flat" cmpd="sng" algn="ctr">
                      <a:solidFill>
                        <a:srgbClr val="C6383E"/>
                      </a:solid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endParaRPr lang="zh-CN" altLang="en-US" sz="2400" dirty="0"/>
                    </a:p>
                  </a:txBody>
                  <a:tcPr anchor="ct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462671871"/>
                  </a:ext>
                </a:extLst>
              </a:tr>
              <a:tr h="502920">
                <a:tc>
                  <a:txBody>
                    <a:bodyPr/>
                    <a:lstStyle/>
                    <a:p>
                      <a:pPr algn="ctr"/>
                      <a:r>
                        <a:rPr lang="en-US" altLang="zh-CN" sz="2400" dirty="0">
                          <a:solidFill>
                            <a:schemeClr val="tx1"/>
                          </a:solidFill>
                        </a:rPr>
                        <a:t>4</a:t>
                      </a:r>
                      <a:endParaRPr lang="zh-CN" altLang="en-US" sz="2400" dirty="0">
                        <a:solidFill>
                          <a:schemeClr val="tx1"/>
                        </a:solidFill>
                      </a:endParaRPr>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baseline="0" dirty="0" err="1">
                          <a:solidFill>
                            <a:schemeClr val="tx1"/>
                          </a:solidFill>
                          <a:latin typeface="+mn-lt"/>
                          <a:ea typeface="+mn-ea"/>
                          <a:cs typeface="+mn-cs"/>
                        </a:rPr>
                        <a:t>Yangshao</a:t>
                      </a:r>
                      <a:r>
                        <a:rPr lang="en-US" altLang="zh-CN" sz="2400" b="0" i="0" u="none" strike="noStrike" kern="1200" baseline="0" dirty="0">
                          <a:solidFill>
                            <a:schemeClr val="tx1"/>
                          </a:solidFill>
                          <a:latin typeface="+mn-lt"/>
                          <a:ea typeface="+mn-ea"/>
                          <a:cs typeface="+mn-cs"/>
                        </a:rPr>
                        <a:t> Culture (</a:t>
                      </a:r>
                      <a:r>
                        <a:rPr lang="zh-CN" altLang="en-US" sz="2400" b="0" i="0" u="none" strike="noStrike" kern="1200" baseline="0" dirty="0">
                          <a:solidFill>
                            <a:schemeClr val="tx1"/>
                          </a:solidFill>
                          <a:latin typeface="+mn-lt"/>
                          <a:ea typeface="+mn-ea"/>
                          <a:cs typeface="+mn-cs"/>
                        </a:rPr>
                        <a:t>仰韶文化</a:t>
                      </a:r>
                      <a:r>
                        <a:rPr lang="en-US" altLang="zh-CN" sz="2400" b="0" i="0" u="none" strike="noStrike" kern="1200" baseline="0" dirty="0">
                          <a:solidFill>
                            <a:schemeClr val="tx1"/>
                          </a:solidFill>
                          <a:latin typeface="+mn-lt"/>
                          <a:ea typeface="+mn-ea"/>
                          <a:cs typeface="+mn-cs"/>
                        </a:rPr>
                        <a:t>)</a:t>
                      </a:r>
                      <a:endParaRPr lang="zh-CN" altLang="en-US" sz="2400" dirty="0">
                        <a:solidFill>
                          <a:srgbClr val="FF0000"/>
                        </a:solidFill>
                      </a:endParaRPr>
                    </a:p>
                  </a:txBody>
                  <a:tcPr anchor="ctr">
                    <a:lnL w="12700" cap="flat" cmpd="sng" algn="ctr">
                      <a:solidFill>
                        <a:srgbClr val="C6383E"/>
                      </a:solid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endParaRPr lang="zh-CN" altLang="en-US" sz="2400" dirty="0"/>
                    </a:p>
                  </a:txBody>
                  <a:tcPr anchor="ct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21976900"/>
                  </a:ext>
                </a:extLst>
              </a:tr>
              <a:tr h="502920">
                <a:tc>
                  <a:txBody>
                    <a:bodyPr/>
                    <a:lstStyle/>
                    <a:p>
                      <a:pPr algn="ctr"/>
                      <a:r>
                        <a:rPr lang="en-US" altLang="zh-CN" sz="2400" dirty="0"/>
                        <a:t>5</a:t>
                      </a:r>
                      <a:endParaRPr lang="zh-CN" altLang="en-US" sz="2400" dirty="0"/>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r>
                        <a:rPr lang="en-US" altLang="zh-CN" sz="2400" b="0" i="0" u="none" strike="noStrike" kern="1200" baseline="0" dirty="0">
                          <a:solidFill>
                            <a:schemeClr val="tx1"/>
                          </a:solidFill>
                          <a:latin typeface="+mn-lt"/>
                          <a:ea typeface="+mn-ea"/>
                          <a:cs typeface="+mn-cs"/>
                        </a:rPr>
                        <a:t>Longshan Culture (</a:t>
                      </a:r>
                      <a:r>
                        <a:rPr lang="zh-CN" altLang="en-US" sz="2400" b="0" i="0" u="none" strike="noStrike" kern="1200" baseline="0" dirty="0">
                          <a:solidFill>
                            <a:schemeClr val="tx1"/>
                          </a:solidFill>
                          <a:latin typeface="+mn-lt"/>
                          <a:ea typeface="+mn-ea"/>
                          <a:cs typeface="+mn-cs"/>
                        </a:rPr>
                        <a:t>龙山文化</a:t>
                      </a:r>
                      <a:r>
                        <a:rPr lang="en-US" altLang="zh-CN" sz="2400" b="0" i="0" u="none" strike="noStrike" kern="1200" baseline="0" dirty="0">
                          <a:solidFill>
                            <a:schemeClr val="tx1"/>
                          </a:solidFill>
                          <a:latin typeface="+mn-lt"/>
                          <a:ea typeface="+mn-ea"/>
                          <a:cs typeface="+mn-cs"/>
                        </a:rPr>
                        <a:t>)</a:t>
                      </a:r>
                      <a:endParaRPr lang="zh-CN" altLang="en-US" sz="2400" dirty="0"/>
                    </a:p>
                  </a:txBody>
                  <a:tcPr anchor="ctr">
                    <a:lnL w="12700" cap="flat" cmpd="sng" algn="ctr">
                      <a:solidFill>
                        <a:srgbClr val="C6383E"/>
                      </a:solid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endParaRPr lang="zh-CN" altLang="en-US" sz="2400" spc="-30" baseline="0" dirty="0">
                        <a:solidFill>
                          <a:srgbClr val="FF0000"/>
                        </a:solidFill>
                      </a:endParaRPr>
                    </a:p>
                  </a:txBody>
                  <a:tcPr anchor="ct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412311195"/>
                  </a:ext>
                </a:extLst>
              </a:tr>
              <a:tr h="502920">
                <a:tc>
                  <a:txBody>
                    <a:bodyPr/>
                    <a:lstStyle/>
                    <a:p>
                      <a:pPr algn="ctr"/>
                      <a:r>
                        <a:rPr lang="en-US" altLang="zh-CN" sz="2400" dirty="0"/>
                        <a:t>…</a:t>
                      </a:r>
                      <a:endParaRPr lang="zh-CN" altLang="en-US" sz="2400" dirty="0"/>
                    </a:p>
                  </a:txBody>
                  <a:tcPr anchor="ctr">
                    <a:lnL w="38100" cap="flat" cmpd="sng" algn="ctr">
                      <a:no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endParaRPr lang="zh-CN" altLang="en-US" sz="2400" dirty="0"/>
                    </a:p>
                  </a:txBody>
                  <a:tcPr anchor="ctr">
                    <a:lnL w="12700" cap="flat" cmpd="sng" algn="ctr">
                      <a:solidFill>
                        <a:srgbClr val="C6383E"/>
                      </a:solidFill>
                      <a:prstDash val="solid"/>
                      <a:round/>
                      <a:headEnd type="none" w="med" len="med"/>
                      <a:tailEnd type="none" w="med" len="med"/>
                    </a:lnL>
                    <a:lnR w="12700" cap="flat" cmpd="sng" algn="ctr">
                      <a:solidFill>
                        <a:srgbClr val="C6383E"/>
                      </a:solid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tc>
                  <a:txBody>
                    <a:bodyPr/>
                    <a:lstStyle/>
                    <a:p>
                      <a:pPr algn="l"/>
                      <a:endParaRPr lang="zh-CN" altLang="en-US" sz="2400" spc="-30" baseline="0" dirty="0">
                        <a:solidFill>
                          <a:srgbClr val="FF0000"/>
                        </a:solidFill>
                      </a:endParaRPr>
                    </a:p>
                  </a:txBody>
                  <a:tcPr anchor="ct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tcPr>
                </a:tc>
                <a:extLst>
                  <a:ext uri="{0D108BD9-81ED-4DB2-BD59-A6C34878D82A}">
                    <a16:rowId xmlns:a16="http://schemas.microsoft.com/office/drawing/2014/main" val="3543633349"/>
                  </a:ext>
                </a:extLst>
              </a:tr>
            </a:tbl>
          </a:graphicData>
        </a:graphic>
      </p:graphicFrame>
      <p:pic>
        <p:nvPicPr>
          <p:cNvPr id="8"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spTree>
    <p:extLst>
      <p:ext uri="{BB962C8B-B14F-4D97-AF65-F5344CB8AC3E}">
        <p14:creationId xmlns:p14="http://schemas.microsoft.com/office/powerpoint/2010/main" val="42163277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p:cNvPicPr>
            <a:picLocks noChangeAspect="1" noChangeArrowheads="1"/>
          </p:cNvPicPr>
          <p:nvPr/>
        </p:nvPicPr>
        <p:blipFill>
          <a:blip r:embed="rId2" cstate="print"/>
          <a:srcRect l="12911" t="21436" r="39626" b="60503"/>
          <a:stretch>
            <a:fillRect/>
          </a:stretch>
        </p:blipFill>
        <p:spPr bwMode="auto">
          <a:xfrm>
            <a:off x="8366400" y="6429396"/>
            <a:ext cx="259557" cy="254794"/>
          </a:xfrm>
          <a:prstGeom prst="rect">
            <a:avLst/>
          </a:prstGeom>
          <a:noFill/>
        </p:spPr>
      </p:pic>
      <p:pic>
        <p:nvPicPr>
          <p:cNvPr id="10"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1" name="文本框 10"/>
          <p:cNvSpPr txBox="1"/>
          <p:nvPr/>
        </p:nvSpPr>
        <p:spPr>
          <a:xfrm>
            <a:off x="296327" y="5365280"/>
            <a:ext cx="820353" cy="369332"/>
          </a:xfrm>
          <a:prstGeom prst="rect">
            <a:avLst/>
          </a:prstGeom>
          <a:noFill/>
        </p:spPr>
        <p:txBody>
          <a:bodyPr wrap="none" rtlCol="0">
            <a:spAutoFit/>
          </a:bodyPr>
          <a:lstStyle/>
          <a:p>
            <a:pPr algn="just"/>
            <a:r>
              <a:rPr lang="en-US" altLang="zh-CN" sz="1800" b="1" i="0" u="none" strike="noStrike" kern="1200" baseline="0" dirty="0">
                <a:solidFill>
                  <a:schemeClr val="bg1"/>
                </a:solidFill>
                <a:latin typeface="Cambria" panose="02040503050406030204" pitchFamily="18" charset="0"/>
                <a:ea typeface="Cambria" panose="02040503050406030204" pitchFamily="18" charset="0"/>
                <a:cs typeface="+mn-cs"/>
              </a:rPr>
              <a:t>Text </a:t>
            </a:r>
            <a:r>
              <a:rPr lang="en-US" altLang="zh-CN" b="1" dirty="0">
                <a:solidFill>
                  <a:schemeClr val="bg1"/>
                </a:solidFill>
                <a:latin typeface="Cambria" panose="02040503050406030204" pitchFamily="18" charset="0"/>
                <a:ea typeface="Cambria" panose="02040503050406030204" pitchFamily="18" charset="0"/>
              </a:rPr>
              <a:t>C</a:t>
            </a:r>
            <a:endParaRPr lang="zh-CN" altLang="en-US" sz="1800" dirty="0">
              <a:solidFill>
                <a:schemeClr val="bg1"/>
              </a:solidFill>
              <a:latin typeface="Cambria" panose="02040503050406030204" pitchFamily="18" charset="0"/>
            </a:endParaRPr>
          </a:p>
        </p:txBody>
      </p:sp>
      <p:sp>
        <p:nvSpPr>
          <p:cNvPr id="12" name="文本框 11"/>
          <p:cNvSpPr txBox="1"/>
          <p:nvPr/>
        </p:nvSpPr>
        <p:spPr>
          <a:xfrm>
            <a:off x="287510" y="5682844"/>
            <a:ext cx="6156620" cy="707886"/>
          </a:xfrm>
          <a:prstGeom prst="rect">
            <a:avLst/>
          </a:prstGeom>
          <a:noFill/>
        </p:spPr>
        <p:txBody>
          <a:bodyPr wrap="square" rtlCol="0">
            <a:spAutoFit/>
          </a:bodyPr>
          <a:lstStyle/>
          <a:p>
            <a:r>
              <a:rPr lang="en-US" altLang="zh-CN" sz="4000" b="0" i="0" u="none" strike="noStrike" kern="1200" baseline="0" dirty="0">
                <a:solidFill>
                  <a:srgbClr val="0A2E4A"/>
                </a:solidFill>
                <a:latin typeface="Cambria" panose="02040503050406030204" pitchFamily="18" charset="0"/>
                <a:ea typeface="Cambria" panose="02040503050406030204" pitchFamily="18" charset="0"/>
                <a:cs typeface="+mn-cs"/>
              </a:rPr>
              <a:t>D</a:t>
            </a:r>
            <a:r>
              <a:rPr lang="en-US" altLang="zh-CN" sz="2400" dirty="0">
                <a:solidFill>
                  <a:srgbClr val="0A2E4A"/>
                </a:solidFill>
                <a:latin typeface="Cambria" panose="02040503050406030204" pitchFamily="18" charset="0"/>
                <a:ea typeface="Cambria" panose="02040503050406030204" pitchFamily="18" charset="0"/>
              </a:rPr>
              <a:t>ynasties</a:t>
            </a:r>
            <a:endParaRPr lang="zh-CN" altLang="en-US" sz="2400" dirty="0">
              <a:solidFill>
                <a:srgbClr val="0A2E4A"/>
              </a:solidFill>
              <a:latin typeface="Cambria" panose="02040503050406030204" pitchFamily="18" charset="0"/>
            </a:endParaRPr>
          </a:p>
        </p:txBody>
      </p:sp>
      <p:sp>
        <p:nvSpPr>
          <p:cNvPr id="13" name="文本框 12"/>
          <p:cNvSpPr txBox="1"/>
          <p:nvPr/>
        </p:nvSpPr>
        <p:spPr>
          <a:xfrm>
            <a:off x="5728817" y="5955667"/>
            <a:ext cx="1581330" cy="369332"/>
          </a:xfrm>
          <a:prstGeom prst="rect">
            <a:avLst/>
          </a:prstGeom>
          <a:noFill/>
        </p:spPr>
        <p:txBody>
          <a:bodyPr wrap="none" rtlCol="0">
            <a:spAutoFit/>
          </a:bodyPr>
          <a:lstStyle/>
          <a:p>
            <a:pPr algn="just"/>
            <a:r>
              <a:rPr lang="en-US" altLang="zh-CN" dirty="0">
                <a:solidFill>
                  <a:srgbClr val="0A2E4A"/>
                </a:solidFill>
                <a:latin typeface="Cambria" panose="02040503050406030204" pitchFamily="18" charset="0"/>
                <a:ea typeface="Cambria" panose="02040503050406030204" pitchFamily="18" charset="0"/>
              </a:rPr>
              <a:t>Mike Dowling</a:t>
            </a:r>
            <a:endParaRPr lang="zh-CN" altLang="en-US" sz="1800" dirty="0">
              <a:solidFill>
                <a:srgbClr val="0A2E4A"/>
              </a:solidFill>
              <a:latin typeface="Cambria" panose="02040503050406030204" pitchFamily="18" charset="0"/>
            </a:endParaRPr>
          </a:p>
        </p:txBody>
      </p:sp>
      <p:pic>
        <p:nvPicPr>
          <p:cNvPr id="17" name="超链接" descr="C:\Users\senj\Desktop\新建文件夹\外链音频.png">
            <a:hlinkClick r:id="rId5" action="ppaction://hlinkfile"/>
          </p:cNvPr>
          <p:cNvPicPr>
            <a:picLocks noChangeAspect="1" noChangeArrowheads="1"/>
          </p:cNvPicPr>
          <p:nvPr/>
        </p:nvPicPr>
        <p:blipFill>
          <a:blip r:embed="rId6" cstate="print"/>
          <a:srcRect/>
          <a:stretch>
            <a:fillRect/>
          </a:stretch>
        </p:blipFill>
        <p:spPr bwMode="auto">
          <a:xfrm>
            <a:off x="1259790" y="5410709"/>
            <a:ext cx="288000" cy="288000"/>
          </a:xfrm>
          <a:prstGeom prst="rect">
            <a:avLst/>
          </a:prstGeom>
          <a:noFill/>
        </p:spPr>
      </p:pic>
      <p:pic>
        <p:nvPicPr>
          <p:cNvPr id="9" name="图片 8">
            <a:hlinkClick r:id="rId7" action="ppaction://hlinksldjump"/>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622971" y="5423409"/>
            <a:ext cx="228582" cy="275300"/>
          </a:xfrm>
          <a:prstGeom prst="rect">
            <a:avLst/>
          </a:prstGeom>
        </p:spPr>
      </p:pic>
    </p:spTree>
    <p:extLst>
      <p:ext uri="{BB962C8B-B14F-4D97-AF65-F5344CB8AC3E}">
        <p14:creationId xmlns:p14="http://schemas.microsoft.com/office/powerpoint/2010/main" val="3371817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92030" y="1147670"/>
            <a:ext cx="8100270" cy="5632311"/>
          </a:xfrm>
          <a:prstGeom prst="rect">
            <a:avLst/>
          </a:prstGeom>
          <a:noFill/>
        </p:spPr>
        <p:txBody>
          <a:bodyPr wrap="square" rtlCol="0">
            <a:spAutoFit/>
          </a:bodyPr>
          <a:lstStyle/>
          <a:p>
            <a:pPr algn="just"/>
            <a:r>
              <a:rPr lang="en-US" altLang="zh-CN" sz="2400" b="1" dirty="0">
                <a:solidFill>
                  <a:srgbClr val="C6383E"/>
                </a:solidFill>
              </a:rPr>
              <a:t>1</a:t>
            </a:r>
            <a:r>
              <a:rPr lang="en-US" altLang="zh-CN" sz="2400" dirty="0"/>
              <a:t>     </a:t>
            </a:r>
            <a:r>
              <a:rPr lang="en-US" altLang="zh-CN" sz="2400" spc="-70" dirty="0"/>
              <a:t>From at least 1766 BCE to the twentieth century of the Common</a:t>
            </a:r>
            <a:r>
              <a:rPr lang="en-US" altLang="zh-CN" sz="2400" dirty="0"/>
              <a:t> </a:t>
            </a:r>
            <a:r>
              <a:rPr lang="en-US" altLang="zh-CN" sz="2400" spc="-20" dirty="0"/>
              <a:t>Era China was ruled by dynasties. A dynasty is a ruling family that</a:t>
            </a:r>
            <a:r>
              <a:rPr lang="en-US" altLang="zh-CN" sz="2400" dirty="0"/>
              <a:t> </a:t>
            </a:r>
            <a:r>
              <a:rPr lang="en-US" altLang="zh-CN" sz="2400" spc="10" dirty="0"/>
              <a:t>passes control from one generation to the next. A dynasty does</a:t>
            </a:r>
            <a:r>
              <a:rPr lang="en-US" altLang="zh-CN" sz="2400" dirty="0"/>
              <a:t> </a:t>
            </a:r>
            <a:r>
              <a:rPr lang="en-US" altLang="zh-CN" sz="2400" spc="-30" dirty="0"/>
              <a:t>not have to last for a long time. One Chinese dynasty lasted about</a:t>
            </a:r>
            <a:r>
              <a:rPr lang="en-US" altLang="zh-CN" sz="2400" dirty="0"/>
              <a:t> 800 years while another lasted only fifteen years.</a:t>
            </a:r>
          </a:p>
          <a:p>
            <a:pPr algn="just"/>
            <a:r>
              <a:rPr lang="en-US" altLang="zh-CN" sz="2400" b="1" dirty="0">
                <a:solidFill>
                  <a:srgbClr val="C6383E"/>
                </a:solidFill>
              </a:rPr>
              <a:t>2</a:t>
            </a:r>
            <a:r>
              <a:rPr lang="en-US" altLang="zh-CN" sz="2400" dirty="0"/>
              <a:t>     </a:t>
            </a:r>
            <a:r>
              <a:rPr lang="en-US" altLang="zh-CN" sz="2400" spc="10" dirty="0"/>
              <a:t>The ancient Chinese believed their ancestors in heaven had</a:t>
            </a:r>
            <a:r>
              <a:rPr lang="en-US" altLang="zh-CN" sz="2400" dirty="0"/>
              <a:t> </a:t>
            </a:r>
            <a:r>
              <a:rPr lang="en-US" altLang="zh-CN" sz="2400" spc="10" dirty="0"/>
              <a:t>chosen their leaders. They called this “the mandate of heaven”.</a:t>
            </a:r>
            <a:r>
              <a:rPr lang="en-US" altLang="zh-CN" sz="2400" dirty="0"/>
              <a:t> The Chinese people often rebelled against a weak leader if they believed he had lost the mandate of heaven.</a:t>
            </a:r>
          </a:p>
          <a:p>
            <a:pPr algn="just"/>
            <a:r>
              <a:rPr lang="en-US" altLang="zh-CN" sz="2400" b="1" dirty="0">
                <a:solidFill>
                  <a:srgbClr val="C6383E"/>
                </a:solidFill>
              </a:rPr>
              <a:t>3</a:t>
            </a:r>
            <a:r>
              <a:rPr lang="en-US" altLang="zh-CN" sz="2400" dirty="0"/>
              <a:t>     </a:t>
            </a:r>
            <a:r>
              <a:rPr lang="en-US" altLang="zh-CN" sz="2400" spc="20" dirty="0"/>
              <a:t>There are indications of an earlier Xia (pronounced </a:t>
            </a:r>
            <a:r>
              <a:rPr lang="en-US" altLang="zh-CN" sz="2400" i="1" spc="20" dirty="0"/>
              <a:t>she-ah</a:t>
            </a:r>
            <a:r>
              <a:rPr lang="en-US" altLang="zh-CN" sz="2400" spc="20" dirty="0"/>
              <a:t>)</a:t>
            </a:r>
            <a:r>
              <a:rPr lang="en-US" altLang="zh-CN" sz="2400" dirty="0"/>
              <a:t> </a:t>
            </a:r>
            <a:r>
              <a:rPr lang="en-US" altLang="zh-CN" sz="2400" spc="60" dirty="0"/>
              <a:t>dynasty, but the Shang was the first dynasty to leave written</a:t>
            </a:r>
            <a:r>
              <a:rPr lang="en-US" altLang="zh-CN" sz="2400" dirty="0"/>
              <a:t> </a:t>
            </a:r>
            <a:r>
              <a:rPr lang="en-US" altLang="zh-CN" sz="2400" spc="70" dirty="0"/>
              <a:t>records. The Shang dynasty ruled China from approximately</a:t>
            </a:r>
            <a:r>
              <a:rPr lang="en-US" altLang="zh-CN" sz="2400" dirty="0"/>
              <a:t> </a:t>
            </a:r>
            <a:r>
              <a:rPr lang="en-US" altLang="zh-CN" sz="2400" spc="-10" dirty="0"/>
              <a:t>1600 BCE to about 1046 BCE. Shang rulers expanded the borders</a:t>
            </a:r>
            <a:r>
              <a:rPr lang="en-US" altLang="zh-CN" sz="2400" dirty="0"/>
              <a:t> </a:t>
            </a:r>
            <a:r>
              <a:rPr lang="en-US" altLang="zh-CN" sz="2400" spc="10" dirty="0"/>
              <a:t>of their kingdom to include all of the land between present-day</a:t>
            </a:r>
            <a:r>
              <a:rPr lang="en-US" altLang="zh-CN" sz="2400" dirty="0"/>
              <a:t> Mongolia and the Pacific Ocean.</a:t>
            </a:r>
          </a:p>
        </p:txBody>
      </p:sp>
      <p:pic>
        <p:nvPicPr>
          <p:cNvPr id="6" name="图片 5">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1232638"/>
            <a:ext cx="268800" cy="288000"/>
          </a:xfrm>
          <a:prstGeom prst="rect">
            <a:avLst/>
          </a:prstGeom>
        </p:spPr>
      </p:pic>
      <p:pic>
        <p:nvPicPr>
          <p:cNvPr id="8" name="图片 7">
            <a:hlinkClick r:id="rId10"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3058815"/>
            <a:ext cx="268800" cy="288000"/>
          </a:xfrm>
          <a:prstGeom prst="rect">
            <a:avLst/>
          </a:prstGeom>
        </p:spPr>
      </p:pic>
      <p:pic>
        <p:nvPicPr>
          <p:cNvPr id="9" name="图片 8">
            <a:hlinkClick r:id="rId11"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230" y="4533050"/>
            <a:ext cx="268800" cy="288000"/>
          </a:xfrm>
          <a:prstGeom prst="rect">
            <a:avLst/>
          </a:prstGeom>
        </p:spPr>
      </p:pic>
      <p:pic>
        <p:nvPicPr>
          <p:cNvPr id="2" name="Text C_1">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cstate="print">
            <a:extLst>
              <a:ext uri="{28A0092B-C50C-407E-A947-70E740481C1C}">
                <a14:useLocalDpi xmlns:a14="http://schemas.microsoft.com/office/drawing/2010/main" val="0"/>
              </a:ext>
            </a:extLst>
          </a:blip>
          <a:stretch>
            <a:fillRect/>
          </a:stretch>
        </p:blipFill>
        <p:spPr>
          <a:xfrm>
            <a:off x="173345" y="1235518"/>
            <a:ext cx="288000" cy="285120"/>
          </a:xfrm>
          <a:prstGeom prst="rect">
            <a:avLst/>
          </a:prstGeom>
        </p:spPr>
      </p:pic>
      <p:pic>
        <p:nvPicPr>
          <p:cNvPr id="3" name="Text C_2">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cstate="print">
            <a:extLst>
              <a:ext uri="{28A0092B-C50C-407E-A947-70E740481C1C}">
                <a14:useLocalDpi xmlns:a14="http://schemas.microsoft.com/office/drawing/2010/main" val="0"/>
              </a:ext>
            </a:extLst>
          </a:blip>
          <a:stretch>
            <a:fillRect/>
          </a:stretch>
        </p:blipFill>
        <p:spPr>
          <a:xfrm>
            <a:off x="173345" y="3061695"/>
            <a:ext cx="288000" cy="285120"/>
          </a:xfrm>
          <a:prstGeom prst="rect">
            <a:avLst/>
          </a:prstGeom>
        </p:spPr>
      </p:pic>
      <p:pic>
        <p:nvPicPr>
          <p:cNvPr id="12" name="Text C_3">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3" cstate="print">
            <a:extLst>
              <a:ext uri="{28A0092B-C50C-407E-A947-70E740481C1C}">
                <a14:useLocalDpi xmlns:a14="http://schemas.microsoft.com/office/drawing/2010/main" val="0"/>
              </a:ext>
            </a:extLst>
          </a:blip>
          <a:stretch>
            <a:fillRect/>
          </a:stretch>
        </p:blipFill>
        <p:spPr>
          <a:xfrm>
            <a:off x="173345" y="4535930"/>
            <a:ext cx="288000" cy="285120"/>
          </a:xfrm>
          <a:prstGeom prst="rect">
            <a:avLst/>
          </a:prstGeom>
        </p:spPr>
      </p:pic>
      <p:pic>
        <p:nvPicPr>
          <p:cNvPr id="10" name="Picture 3" descr="C:\Users\senj\Desktop\按钮.png">
            <a:hlinkClick r:id="" action="ppaction://hlinkshowjump?jump=nextslide"/>
          </p:cNvPr>
          <p:cNvPicPr>
            <a:picLocks noChangeAspect="1" noChangeArrowheads="1"/>
          </p:cNvPicPr>
          <p:nvPr/>
        </p:nvPicPr>
        <p:blipFill>
          <a:blip r:embed="rId14" cstate="print">
            <a:duotone>
              <a:schemeClr val="bg2">
                <a:shade val="45000"/>
                <a:satMod val="135000"/>
              </a:schemeClr>
              <a:prstClr val="white"/>
            </a:duotone>
            <a:extLst>
              <a:ext uri="{BEBA8EAE-BF5A-486C-A8C5-ECC9F3942E4B}">
                <a14:imgProps xmlns:a14="http://schemas.microsoft.com/office/drawing/2010/main">
                  <a14:imgLayer r:embed="rId1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4" name="Picture 3" descr="C:\Users\senj\Desktop\按钮.png">
            <a:hlinkClick r:id="" action="ppaction://hlinkshowjump?jump=previousslide"/>
          </p:cNvPr>
          <p:cNvPicPr>
            <a:picLocks noChangeAspect="1" noChangeArrowheads="1"/>
          </p:cNvPicPr>
          <p:nvPr/>
        </p:nvPicPr>
        <p:blipFill>
          <a:blip r:embed="rId14" cstate="print">
            <a:duotone>
              <a:schemeClr val="bg2">
                <a:shade val="45000"/>
                <a:satMod val="135000"/>
              </a:schemeClr>
              <a:prstClr val="white"/>
            </a:duotone>
            <a:extLst>
              <a:ext uri="{BEBA8EAE-BF5A-486C-A8C5-ECC9F3942E4B}">
                <a14:imgProps xmlns:a14="http://schemas.microsoft.com/office/drawing/2010/main">
                  <a14:imgLayer r:embed="rId1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Tree>
    <p:extLst>
      <p:ext uri="{BB962C8B-B14F-4D97-AF65-F5344CB8AC3E}">
        <p14:creationId xmlns:p14="http://schemas.microsoft.com/office/powerpoint/2010/main" val="42214164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826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6117"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28107" fill="hold"/>
                                        <p:tgtEl>
                                          <p:spTgt spid="12"/>
                                        </p:tgtEl>
                                      </p:cBhvr>
                                    </p:cmd>
                                  </p:childTnLst>
                                </p:cTn>
                              </p:par>
                            </p:childTnLst>
                          </p:cTn>
                        </p:par>
                      </p:childTnLst>
                    </p:cTn>
                  </p:par>
                </p:childTnLst>
              </p:cTn>
              <p:nextCondLst>
                <p:cond evt="onClick" delay="0">
                  <p:tgtEl>
                    <p:spTgt spid="12"/>
                  </p:tgtEl>
                </p:cond>
              </p:nextCondLst>
            </p:seq>
            <p:audio>
              <p:cMediaNode vol="80000">
                <p:cTn id="19" fill="hold" display="0">
                  <p:stCondLst>
                    <p:cond delay="indefinite"/>
                  </p:stCondLst>
                  <p:endCondLst>
                    <p:cond evt="onStopAudio" delay="0">
                      <p:tgtEl>
                        <p:sldTgt/>
                      </p:tgtEl>
                    </p:cond>
                  </p:endCondLst>
                </p:cTn>
                <p:tgtEl>
                  <p:spTgt spid="12"/>
                </p:tgtEl>
              </p:cMediaNode>
            </p:audi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92030" y="1147670"/>
            <a:ext cx="8100270" cy="5262979"/>
          </a:xfrm>
          <a:prstGeom prst="rect">
            <a:avLst/>
          </a:prstGeom>
          <a:noFill/>
        </p:spPr>
        <p:txBody>
          <a:bodyPr wrap="square" rtlCol="0">
            <a:spAutoFit/>
          </a:bodyPr>
          <a:lstStyle/>
          <a:p>
            <a:r>
              <a:rPr lang="en-US" altLang="zh-CN" sz="2400" b="1" dirty="0">
                <a:solidFill>
                  <a:srgbClr val="C6383E"/>
                </a:solidFill>
              </a:rPr>
              <a:t>4</a:t>
            </a:r>
            <a:r>
              <a:rPr lang="en-US" altLang="zh-CN" sz="2400" dirty="0"/>
              <a:t>     </a:t>
            </a:r>
            <a:r>
              <a:rPr lang="en-US" altLang="zh-CN" sz="2400" spc="30" dirty="0"/>
              <a:t>The Shang practiced human sacrifice. If a Shang ruler died</a:t>
            </a:r>
            <a:r>
              <a:rPr lang="en-US" altLang="zh-CN" sz="2400" dirty="0"/>
              <a:t>, </a:t>
            </a:r>
            <a:r>
              <a:rPr lang="en-US" altLang="zh-CN" sz="2400" spc="-40" dirty="0"/>
              <a:t>many of his subjects would join the ruler in his grave. Some people</a:t>
            </a:r>
            <a:r>
              <a:rPr lang="en-US" altLang="zh-CN" sz="2400" dirty="0"/>
              <a:t> </a:t>
            </a:r>
            <a:r>
              <a:rPr lang="en-US" altLang="zh-CN" sz="2400" spc="-10" dirty="0"/>
              <a:t>were beheaded first but others were buried alive. When a Shang</a:t>
            </a:r>
            <a:r>
              <a:rPr lang="en-US" altLang="zh-CN" sz="2400" dirty="0"/>
              <a:t> king died, his son or his brother replaced him.</a:t>
            </a:r>
          </a:p>
          <a:p>
            <a:r>
              <a:rPr lang="en-US" altLang="zh-CN" sz="2400" b="1" dirty="0">
                <a:solidFill>
                  <a:srgbClr val="C6383E"/>
                </a:solidFill>
              </a:rPr>
              <a:t>5</a:t>
            </a:r>
            <a:r>
              <a:rPr lang="en-US" altLang="zh-CN" sz="2400" dirty="0"/>
              <a:t>     </a:t>
            </a:r>
            <a:r>
              <a:rPr lang="en-US" altLang="zh-CN" sz="2400" spc="40" dirty="0"/>
              <a:t>The Zhou (</a:t>
            </a:r>
            <a:r>
              <a:rPr lang="en-US" altLang="zh-CN" sz="2400" i="1" spc="40" dirty="0"/>
              <a:t>joe</a:t>
            </a:r>
            <a:r>
              <a:rPr lang="en-US" altLang="zh-CN" sz="2400" spc="40" dirty="0"/>
              <a:t>) were nomads who lived west of the Shang</a:t>
            </a:r>
            <a:r>
              <a:rPr lang="en-US" altLang="zh-CN" sz="2400" dirty="0"/>
              <a:t>. </a:t>
            </a:r>
            <a:r>
              <a:rPr lang="en-US" altLang="zh-CN" sz="2400" spc="-10" dirty="0"/>
              <a:t>They overthrew the Shang and ruled China from 1046 BCE to the</a:t>
            </a:r>
            <a:r>
              <a:rPr lang="en-US" altLang="zh-CN" sz="2400" dirty="0"/>
              <a:t> </a:t>
            </a:r>
            <a:r>
              <a:rPr lang="en-US" altLang="zh-CN" sz="2400" spc="20" dirty="0"/>
              <a:t>third century before the Common Era. The Zhou gained power</a:t>
            </a:r>
            <a:r>
              <a:rPr lang="en-US" altLang="zh-CN" sz="2400" dirty="0"/>
              <a:t>, </a:t>
            </a:r>
            <a:r>
              <a:rPr lang="en-US" altLang="zh-CN" sz="2400" spc="30" dirty="0"/>
              <a:t>in part, from their ability to extract iron from rocks. They used</a:t>
            </a:r>
            <a:r>
              <a:rPr lang="en-US" altLang="zh-CN" sz="2400" dirty="0"/>
              <a:t> the metal to create powerful weapons.</a:t>
            </a:r>
          </a:p>
          <a:p>
            <a:r>
              <a:rPr lang="en-US" altLang="zh-CN" sz="2400" b="1" dirty="0">
                <a:solidFill>
                  <a:srgbClr val="C6383E"/>
                </a:solidFill>
              </a:rPr>
              <a:t>6</a:t>
            </a:r>
            <a:r>
              <a:rPr lang="en-US" altLang="zh-CN" sz="2400" dirty="0"/>
              <a:t>     </a:t>
            </a:r>
            <a:r>
              <a:rPr lang="en-US" altLang="zh-CN" sz="2400" spc="50" dirty="0"/>
              <a:t>The Zhou developed a feudal system in China. In a feudal</a:t>
            </a:r>
            <a:r>
              <a:rPr lang="en-US" altLang="zh-CN" sz="2400" dirty="0"/>
              <a:t> </a:t>
            </a:r>
            <a:r>
              <a:rPr lang="en-US" altLang="zh-CN" sz="2400" spc="-60" dirty="0"/>
              <a:t>system, the rulers appoint nobles to rule smaller parts of an empire</a:t>
            </a:r>
            <a:r>
              <a:rPr lang="en-US" altLang="zh-CN" sz="2400" dirty="0"/>
              <a:t>. The nobles divided the land into farms for extended families. An </a:t>
            </a:r>
            <a:r>
              <a:rPr lang="en-US" altLang="zh-CN" sz="2400" spc="-30" dirty="0"/>
              <a:t>extended family might include many generations and would often</a:t>
            </a:r>
            <a:r>
              <a:rPr lang="en-US" altLang="zh-CN" sz="2400" dirty="0"/>
              <a:t> </a:t>
            </a:r>
            <a:r>
              <a:rPr lang="en-US" altLang="zh-CN" sz="2400" spc="20" dirty="0"/>
              <a:t>include cousins and second cousins. Landholding families were</a:t>
            </a:r>
            <a:r>
              <a:rPr lang="en-US" altLang="zh-CN" sz="2400" dirty="0"/>
              <a:t> </a:t>
            </a:r>
          </a:p>
        </p:txBody>
      </p:sp>
      <p:pic>
        <p:nvPicPr>
          <p:cNvPr id="10" name="Picture 3" descr="C:\Users\senj\Desktop\按钮.png">
            <a:hlinkClick r:id="" action="ppaction://hlinkshowjump?jump=nextslide"/>
          </p:cNvPr>
          <p:cNvPicPr>
            <a:picLocks noChangeAspect="1" noChangeArrowheads="1"/>
          </p:cNvPicPr>
          <p:nvPr/>
        </p:nvPicPr>
        <p:blipFill>
          <a:blip r:embed="rId8" cstate="print">
            <a:duotone>
              <a:schemeClr val="bg2">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4" name="Picture 3" descr="C:\Users\senj\Desktop\按钮.png">
            <a:hlinkClick r:id="" action="ppaction://hlinkshowjump?jump=previousslide"/>
          </p:cNvPr>
          <p:cNvPicPr>
            <a:picLocks noChangeAspect="1" noChangeArrowheads="1"/>
          </p:cNvPicPr>
          <p:nvPr/>
        </p:nvPicPr>
        <p:blipFill>
          <a:blip r:embed="rId8" cstate="print">
            <a:duotone>
              <a:schemeClr val="bg2">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8" name="图片 7">
            <a:hlinkClick r:id="rId10" action="ppaction://hlinksldjump"/>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28460" y="1232638"/>
            <a:ext cx="268800" cy="288000"/>
          </a:xfrm>
          <a:prstGeom prst="rect">
            <a:avLst/>
          </a:prstGeom>
        </p:spPr>
      </p:pic>
      <p:pic>
        <p:nvPicPr>
          <p:cNvPr id="9" name="图片 8">
            <a:hlinkClick r:id="rId12" action="ppaction://hlinksldjump"/>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28460" y="2708950"/>
            <a:ext cx="268800" cy="288000"/>
          </a:xfrm>
          <a:prstGeom prst="rect">
            <a:avLst/>
          </a:prstGeom>
        </p:spPr>
      </p:pic>
      <p:pic>
        <p:nvPicPr>
          <p:cNvPr id="14" name="图片 13">
            <a:hlinkClick r:id="rId13" action="ppaction://hlinksldjump"/>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23230" y="4533050"/>
            <a:ext cx="268800" cy="288000"/>
          </a:xfrm>
          <a:prstGeom prst="rect">
            <a:avLst/>
          </a:prstGeom>
        </p:spPr>
      </p:pic>
      <p:pic>
        <p:nvPicPr>
          <p:cNvPr id="2" name="Text C_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cstate="print">
            <a:extLst>
              <a:ext uri="{28A0092B-C50C-407E-A947-70E740481C1C}">
                <a14:useLocalDpi xmlns:a14="http://schemas.microsoft.com/office/drawing/2010/main" val="0"/>
              </a:ext>
            </a:extLst>
          </a:blip>
          <a:stretch>
            <a:fillRect/>
          </a:stretch>
        </p:blipFill>
        <p:spPr>
          <a:xfrm>
            <a:off x="173345" y="1235518"/>
            <a:ext cx="288000" cy="285120"/>
          </a:xfrm>
          <a:prstGeom prst="rect">
            <a:avLst/>
          </a:prstGeom>
        </p:spPr>
      </p:pic>
      <p:pic>
        <p:nvPicPr>
          <p:cNvPr id="3" name="Text C_5">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cstate="print">
            <a:extLst>
              <a:ext uri="{28A0092B-C50C-407E-A947-70E740481C1C}">
                <a14:useLocalDpi xmlns:a14="http://schemas.microsoft.com/office/drawing/2010/main" val="0"/>
              </a:ext>
            </a:extLst>
          </a:blip>
          <a:stretch>
            <a:fillRect/>
          </a:stretch>
        </p:blipFill>
        <p:spPr>
          <a:xfrm>
            <a:off x="173345" y="2710390"/>
            <a:ext cx="288000" cy="285120"/>
          </a:xfrm>
          <a:prstGeom prst="rect">
            <a:avLst/>
          </a:prstGeom>
        </p:spPr>
      </p:pic>
      <p:pic>
        <p:nvPicPr>
          <p:cNvPr id="15" name="Text C_6">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4" cstate="print">
            <a:extLst>
              <a:ext uri="{28A0092B-C50C-407E-A947-70E740481C1C}">
                <a14:useLocalDpi xmlns:a14="http://schemas.microsoft.com/office/drawing/2010/main" val="0"/>
              </a:ext>
            </a:extLst>
          </a:blip>
          <a:stretch>
            <a:fillRect/>
          </a:stretch>
        </p:blipFill>
        <p:spPr>
          <a:xfrm>
            <a:off x="173345" y="4535930"/>
            <a:ext cx="288000" cy="285120"/>
          </a:xfrm>
          <a:prstGeom prst="rect">
            <a:avLst/>
          </a:prstGeom>
        </p:spPr>
      </p:pic>
    </p:spTree>
    <p:extLst>
      <p:ext uri="{BB962C8B-B14F-4D97-AF65-F5344CB8AC3E}">
        <p14:creationId xmlns:p14="http://schemas.microsoft.com/office/powerpoint/2010/main" val="18691245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8181"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3275"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 fill="hold"/>
                                        <p:tgtEl>
                                          <p:spTgt spid="15"/>
                                        </p:tgtEl>
                                      </p:cBhvr>
                                    </p:cmd>
                                  </p:childTnLst>
                                </p:cTn>
                              </p:par>
                            </p:childTnLst>
                          </p:cTn>
                        </p:par>
                      </p:childTnLst>
                    </p:cTn>
                  </p:par>
                </p:childTnLst>
              </p:cTn>
              <p:nextCondLst>
                <p:cond evt="onClick" delay="0">
                  <p:tgtEl>
                    <p:spTgt spid="15"/>
                  </p:tgtEl>
                </p:cond>
              </p:nextCondLst>
            </p:seq>
            <p:audio>
              <p:cMediaNode vol="80000" numSld="2">
                <p:cTn id="19" fill="hold" display="0">
                  <p:stCondLst>
                    <p:cond delay="indefinite"/>
                  </p:stCondLst>
                  <p:endCondLst>
                    <p:cond evt="onStopAudio" delay="0">
                      <p:tgtEl>
                        <p:sldTgt/>
                      </p:tgtEl>
                    </p:cond>
                  </p:endCondLst>
                </p:cTn>
                <p:tgtEl>
                  <p:spTgt spid="15"/>
                </p:tgtEl>
              </p:cMediaNode>
            </p:audio>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92030" y="1147670"/>
            <a:ext cx="8100270" cy="5262979"/>
          </a:xfrm>
          <a:prstGeom prst="rect">
            <a:avLst/>
          </a:prstGeom>
          <a:noFill/>
        </p:spPr>
        <p:txBody>
          <a:bodyPr wrap="square" rtlCol="0">
            <a:spAutoFit/>
          </a:bodyPr>
          <a:lstStyle/>
          <a:p>
            <a:pPr algn="just"/>
            <a:r>
              <a:rPr lang="en-US" altLang="zh-CN" sz="2400" spc="-30" dirty="0"/>
              <a:t>loyal to their nobles and the nobles were in turn loyal to the Zhou</a:t>
            </a:r>
            <a:r>
              <a:rPr lang="en-US" altLang="zh-CN" sz="2400" dirty="0"/>
              <a:t> rulers.</a:t>
            </a:r>
          </a:p>
          <a:p>
            <a:pPr algn="just"/>
            <a:r>
              <a:rPr lang="en-US" altLang="zh-CN" sz="2400" b="1" dirty="0">
                <a:solidFill>
                  <a:srgbClr val="C6383E"/>
                </a:solidFill>
              </a:rPr>
              <a:t>7</a:t>
            </a:r>
            <a:r>
              <a:rPr lang="en-US" altLang="zh-CN" sz="2400" dirty="0"/>
              <a:t>     </a:t>
            </a:r>
            <a:r>
              <a:rPr lang="en-US" altLang="zh-CN" sz="2400" spc="-40" dirty="0"/>
              <a:t>The Zhou rulers taxed their subjects, but they used the wealth</a:t>
            </a:r>
            <a:r>
              <a:rPr lang="en-US" altLang="zh-CN" sz="2400" dirty="0"/>
              <a:t> </a:t>
            </a:r>
            <a:r>
              <a:rPr lang="en-US" altLang="zh-CN" sz="2400" spc="20" dirty="0"/>
              <a:t>they collected to build huge walls around their cities to defend</a:t>
            </a:r>
            <a:r>
              <a:rPr lang="en-US" altLang="zh-CN" sz="2400" dirty="0"/>
              <a:t> the cities from nomadic warriors.</a:t>
            </a:r>
          </a:p>
          <a:p>
            <a:pPr algn="just"/>
            <a:r>
              <a:rPr lang="en-US" altLang="zh-CN" sz="2400" b="1" dirty="0">
                <a:solidFill>
                  <a:srgbClr val="C6383E"/>
                </a:solidFill>
              </a:rPr>
              <a:t>8</a:t>
            </a:r>
            <a:r>
              <a:rPr lang="en-US" altLang="zh-CN" sz="2400" dirty="0"/>
              <a:t>     Chinese nobles gradually gained more power than the Zhou </a:t>
            </a:r>
            <a:r>
              <a:rPr lang="en-US" altLang="zh-CN" sz="2400" spc="-20" dirty="0"/>
              <a:t>rulers in a period of Chinese history that historians call the Spring</a:t>
            </a:r>
            <a:r>
              <a:rPr lang="en-US" altLang="zh-CN" sz="2400" dirty="0"/>
              <a:t> </a:t>
            </a:r>
            <a:r>
              <a:rPr lang="en-US" altLang="zh-CN" sz="2400" spc="-10" dirty="0"/>
              <a:t>and Autumn Period. It was during this period of instability that a</a:t>
            </a:r>
            <a:r>
              <a:rPr lang="en-US" altLang="zh-CN" sz="2400" dirty="0"/>
              <a:t> </a:t>
            </a:r>
            <a:r>
              <a:rPr lang="en-US" altLang="zh-CN" sz="2400" spc="-40" dirty="0"/>
              <a:t>great teacher named Confucius tried to develop good governance</a:t>
            </a:r>
            <a:r>
              <a:rPr lang="en-US" altLang="zh-CN" sz="2400" dirty="0"/>
              <a:t>.</a:t>
            </a:r>
          </a:p>
          <a:p>
            <a:pPr algn="just"/>
            <a:r>
              <a:rPr lang="en-US" altLang="zh-CN" sz="2400" b="1" dirty="0">
                <a:solidFill>
                  <a:srgbClr val="C6383E"/>
                </a:solidFill>
              </a:rPr>
              <a:t>9</a:t>
            </a:r>
            <a:r>
              <a:rPr lang="en-US" altLang="zh-CN" sz="2400" dirty="0"/>
              <a:t>     Rulers of the Qin (</a:t>
            </a:r>
            <a:r>
              <a:rPr lang="en-US" altLang="zh-CN" sz="2400" i="1" dirty="0"/>
              <a:t>chin</a:t>
            </a:r>
            <a:r>
              <a:rPr lang="en-US" altLang="zh-CN" sz="2400" dirty="0"/>
              <a:t>) dynasty managed to unify China and end the Age of Warring States by 221 BCE. The Qin rulers clearly explained their laws to the people — and then strictly enforced </a:t>
            </a:r>
            <a:r>
              <a:rPr lang="en-US" altLang="zh-CN" sz="2400" spc="-10" dirty="0"/>
              <a:t>them. Qin rulers standardized weights and measures and carried</a:t>
            </a:r>
            <a:r>
              <a:rPr lang="en-US" altLang="zh-CN" sz="2400" dirty="0"/>
              <a:t> </a:t>
            </a:r>
            <a:r>
              <a:rPr lang="en-US" altLang="zh-CN" sz="2400" spc="40" dirty="0"/>
              <a:t>out </a:t>
            </a:r>
            <a:r>
              <a:rPr lang="en-US" altLang="zh-CN" sz="2400" spc="50" dirty="0"/>
              <a:t>irrigation projects</a:t>
            </a:r>
            <a:r>
              <a:rPr lang="en-US" altLang="zh-CN" sz="2400" spc="40" dirty="0"/>
              <a:t>. </a:t>
            </a:r>
            <a:r>
              <a:rPr lang="en-US" altLang="zh-CN" sz="2400" spc="50" dirty="0"/>
              <a:t>The Qin also </a:t>
            </a:r>
            <a:r>
              <a:rPr lang="en-US" altLang="zh-CN" sz="2400" spc="40" dirty="0"/>
              <a:t>gave peasant farmers the</a:t>
            </a:r>
            <a:r>
              <a:rPr lang="en-US" altLang="zh-CN" sz="2400" spc="-30" dirty="0"/>
              <a:t> </a:t>
            </a:r>
            <a:endParaRPr lang="en-US" altLang="zh-CN" sz="2400" dirty="0"/>
          </a:p>
        </p:txBody>
      </p:sp>
      <p:pic>
        <p:nvPicPr>
          <p:cNvPr id="10" name="Picture 3" descr="C:\Users\senj\Desktop\按钮.png">
            <a:hlinkClick r:id="" action="ppaction://hlinkshowjump?jump=nextslide"/>
          </p:cNvPr>
          <p:cNvPicPr>
            <a:picLocks noChangeAspect="1" noChangeArrowheads="1"/>
          </p:cNvPicPr>
          <p:nvPr/>
        </p:nvPicPr>
        <p:blipFill>
          <a:blip r:embed="rId8" cstate="print">
            <a:duotone>
              <a:schemeClr val="bg2">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4" name="Picture 3" descr="C:\Users\senj\Desktop\按钮.png">
            <a:hlinkClick r:id="" action="ppaction://hlinkshowjump?jump=previousslide"/>
          </p:cNvPr>
          <p:cNvPicPr>
            <a:picLocks noChangeAspect="1" noChangeArrowheads="1"/>
          </p:cNvPicPr>
          <p:nvPr/>
        </p:nvPicPr>
        <p:blipFill>
          <a:blip r:embed="rId8" cstate="print">
            <a:duotone>
              <a:schemeClr val="bg2">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6" name="图片 5">
            <a:hlinkClick r:id="rId10" action="ppaction://hlinksldjump"/>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28460" y="1968600"/>
            <a:ext cx="268800" cy="288000"/>
          </a:xfrm>
          <a:prstGeom prst="rect">
            <a:avLst/>
          </a:prstGeom>
        </p:spPr>
      </p:pic>
      <p:pic>
        <p:nvPicPr>
          <p:cNvPr id="7" name="图片 6">
            <a:hlinkClick r:id="rId12" action="ppaction://hlinksldjump"/>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28460" y="3072767"/>
            <a:ext cx="268800" cy="288000"/>
          </a:xfrm>
          <a:prstGeom prst="rect">
            <a:avLst/>
          </a:prstGeom>
        </p:spPr>
      </p:pic>
      <p:pic>
        <p:nvPicPr>
          <p:cNvPr id="9" name="图片 8">
            <a:hlinkClick r:id="rId13" action="ppaction://hlinksldjump"/>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23230" y="4533050"/>
            <a:ext cx="268800" cy="288000"/>
          </a:xfrm>
          <a:prstGeom prst="rect">
            <a:avLst/>
          </a:prstGeom>
        </p:spPr>
      </p:pic>
      <p:pic>
        <p:nvPicPr>
          <p:cNvPr id="2" name="Text C_7">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4" cstate="print">
            <a:extLst>
              <a:ext uri="{28A0092B-C50C-407E-A947-70E740481C1C}">
                <a14:useLocalDpi xmlns:a14="http://schemas.microsoft.com/office/drawing/2010/main" val="0"/>
              </a:ext>
            </a:extLst>
          </a:blip>
          <a:stretch>
            <a:fillRect/>
          </a:stretch>
        </p:blipFill>
        <p:spPr>
          <a:xfrm>
            <a:off x="173345" y="1968600"/>
            <a:ext cx="288000" cy="285120"/>
          </a:xfrm>
          <a:prstGeom prst="rect">
            <a:avLst/>
          </a:prstGeom>
        </p:spPr>
      </p:pic>
      <p:pic>
        <p:nvPicPr>
          <p:cNvPr id="3" name="Text C_9">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4" cstate="print">
            <a:extLst>
              <a:ext uri="{28A0092B-C50C-407E-A947-70E740481C1C}">
                <a14:useLocalDpi xmlns:a14="http://schemas.microsoft.com/office/drawing/2010/main" val="0"/>
              </a:ext>
            </a:extLst>
          </a:blip>
          <a:stretch>
            <a:fillRect/>
          </a:stretch>
        </p:blipFill>
        <p:spPr>
          <a:xfrm>
            <a:off x="173345" y="4535930"/>
            <a:ext cx="288000" cy="285120"/>
          </a:xfrm>
          <a:prstGeom prst="rect">
            <a:avLst/>
          </a:prstGeom>
        </p:spPr>
      </p:pic>
      <p:pic>
        <p:nvPicPr>
          <p:cNvPr id="12" name="Text C_8">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15" cstate="print">
            <a:extLst>
              <a:ext uri="{28A0092B-C50C-407E-A947-70E740481C1C}">
                <a14:useLocalDpi xmlns:a14="http://schemas.microsoft.com/office/drawing/2010/main" val="0"/>
              </a:ext>
            </a:extLst>
          </a:blip>
          <a:stretch>
            <a:fillRect/>
          </a:stretch>
        </p:blipFill>
        <p:spPr>
          <a:xfrm>
            <a:off x="173345" y="3072767"/>
            <a:ext cx="288000" cy="285120"/>
          </a:xfrm>
          <a:prstGeom prst="rect">
            <a:avLst/>
          </a:prstGeom>
        </p:spPr>
      </p:pic>
    </p:spTree>
    <p:extLst>
      <p:ext uri="{BB962C8B-B14F-4D97-AF65-F5344CB8AC3E}">
        <p14:creationId xmlns:p14="http://schemas.microsoft.com/office/powerpoint/2010/main" val="78362514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0840"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1" fill="hold"/>
                                        <p:tgtEl>
                                          <p:spTgt spid="3"/>
                                        </p:tgtEl>
                                      </p:cBhvr>
                                    </p:cmd>
                                  </p:childTnLst>
                                </p:cTn>
                              </p:par>
                            </p:childTnLst>
                          </p:cTn>
                        </p:par>
                      </p:childTnLst>
                    </p:cTn>
                  </p:par>
                </p:childTnLst>
              </p:cTn>
              <p:nextCondLst>
                <p:cond evt="onClick" delay="0">
                  <p:tgtEl>
                    <p:spTgt spid="3"/>
                  </p:tgtEl>
                </p:cond>
              </p:nextCondLst>
            </p:seq>
            <p:audio>
              <p:cMediaNode vol="80000" numSld="2">
                <p:cTn id="13" fill="hold" display="0">
                  <p:stCondLst>
                    <p:cond delay="indefinite"/>
                  </p:stCondLst>
                  <p:endCondLst>
                    <p:cond evt="onStopAudio" delay="0">
                      <p:tgtEl>
                        <p:sldTgt/>
                      </p:tgtEl>
                    </p:cond>
                  </p:endCondLst>
                </p:cTn>
                <p:tgtEl>
                  <p:spTgt spid="3"/>
                </p:tgtEl>
              </p:cMediaNode>
            </p:audio>
            <p:seq concurrent="1" nextAc="seek">
              <p:cTn id="14" restart="whenNotActive" fill="hold" evtFilter="cancelBubble" nodeType="interactiveSeq">
                <p:stCondLst>
                  <p:cond evt="onClick" delay="0">
                    <p:tgtEl>
                      <p:spTgt spid="12"/>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18808" fill="hold"/>
                                        <p:tgtEl>
                                          <p:spTgt spid="12"/>
                                        </p:tgtEl>
                                      </p:cBhvr>
                                    </p:cmd>
                                  </p:childTnLst>
                                </p:cTn>
                              </p:par>
                            </p:childTnLst>
                          </p:cTn>
                        </p:par>
                      </p:childTnLst>
                    </p:cTn>
                  </p:par>
                </p:childTnLst>
              </p:cTn>
              <p:nextCondLst>
                <p:cond evt="onClick" delay="0">
                  <p:tgtEl>
                    <p:spTgt spid="12"/>
                  </p:tgtEl>
                </p:cond>
              </p:nextCondLst>
            </p:seq>
            <p:audio>
              <p:cMediaNode vol="80000">
                <p:cTn id="19" fill="hold" display="0">
                  <p:stCondLst>
                    <p:cond delay="indefinite"/>
                  </p:stCondLst>
                  <p:endCondLst>
                    <p:cond evt="onStopAudio" delay="0">
                      <p:tgtEl>
                        <p:sldTgt/>
                      </p:tgtEl>
                    </p:cond>
                  </p:endCondLst>
                </p:cTn>
                <p:tgtEl>
                  <p:spTgt spid="12"/>
                </p:tgtEl>
              </p:cMediaNode>
            </p:audio>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792030" y="1147670"/>
            <a:ext cx="8100270" cy="5632311"/>
          </a:xfrm>
          <a:prstGeom prst="rect">
            <a:avLst/>
          </a:prstGeom>
          <a:noFill/>
        </p:spPr>
        <p:txBody>
          <a:bodyPr wrap="square" rtlCol="0">
            <a:spAutoFit/>
          </a:bodyPr>
          <a:lstStyle/>
          <a:p>
            <a:pPr algn="just"/>
            <a:r>
              <a:rPr lang="en-US" altLang="zh-CN" sz="2400" spc="-20" dirty="0"/>
              <a:t>land they lived on. The West first learned of China during the Qin</a:t>
            </a:r>
            <a:r>
              <a:rPr lang="en-US" altLang="zh-CN" sz="2400" dirty="0"/>
              <a:t> dynasty. It is from Qin that we get the word “China”.</a:t>
            </a:r>
          </a:p>
          <a:p>
            <a:pPr algn="just"/>
            <a:r>
              <a:rPr lang="en-US" altLang="zh-CN" sz="2400" b="1" dirty="0">
                <a:solidFill>
                  <a:srgbClr val="C6383E"/>
                </a:solidFill>
              </a:rPr>
              <a:t>10</a:t>
            </a:r>
            <a:r>
              <a:rPr lang="en-US" altLang="zh-CN" sz="2400" dirty="0"/>
              <a:t>   </a:t>
            </a:r>
            <a:r>
              <a:rPr lang="en-US" altLang="zh-CN" sz="2400" spc="20" dirty="0"/>
              <a:t>A group known as the Legalists influenced the Qin dynasty</a:t>
            </a:r>
            <a:r>
              <a:rPr lang="en-US" altLang="zh-CN" sz="2400" dirty="0"/>
              <a:t>. </a:t>
            </a:r>
            <a:r>
              <a:rPr lang="en-US" altLang="zh-CN" sz="2400" spc="20" dirty="0"/>
              <a:t>The Legalists believed that a powerful leader and a stable legal</a:t>
            </a:r>
            <a:r>
              <a:rPr lang="en-US" altLang="zh-CN" sz="2400" dirty="0"/>
              <a:t> </a:t>
            </a:r>
            <a:r>
              <a:rPr lang="en-US" altLang="zh-CN" sz="2400" spc="40" dirty="0"/>
              <a:t>system were needed to create social order. The Legalists tried</a:t>
            </a:r>
            <a:r>
              <a:rPr lang="en-US" altLang="zh-CN" sz="2400" dirty="0"/>
              <a:t> </a:t>
            </a:r>
            <a:r>
              <a:rPr lang="en-US" altLang="zh-CN" sz="2400" spc="40" dirty="0"/>
              <a:t>to suppress all thoughts that disagreed with their philosophy</a:t>
            </a:r>
            <a:r>
              <a:rPr lang="en-US" altLang="zh-CN" sz="2400" spc="-30" dirty="0"/>
              <a:t>. People</a:t>
            </a:r>
            <a:r>
              <a:rPr lang="en-US" altLang="zh-CN" sz="2400" dirty="0"/>
              <a:t> who discussed ideas not approved by the Legalists faced execution.</a:t>
            </a:r>
          </a:p>
          <a:p>
            <a:pPr algn="just"/>
            <a:r>
              <a:rPr lang="en-US" altLang="zh-CN" sz="2400" b="1" dirty="0">
                <a:solidFill>
                  <a:srgbClr val="C6383E"/>
                </a:solidFill>
              </a:rPr>
              <a:t>11</a:t>
            </a:r>
            <a:r>
              <a:rPr lang="en-US" altLang="zh-CN" sz="2400" dirty="0"/>
              <a:t>   </a:t>
            </a:r>
            <a:r>
              <a:rPr lang="en-US" altLang="zh-CN" sz="2400" spc="80" dirty="0"/>
              <a:t>China grew into a great empire during the Han dynasty</a:t>
            </a:r>
            <a:r>
              <a:rPr lang="en-US" altLang="zh-CN" sz="2400" dirty="0"/>
              <a:t>, </a:t>
            </a:r>
            <a:r>
              <a:rPr lang="en-US" altLang="zh-CN" sz="2400" spc="10" dirty="0"/>
              <a:t>between 202 BCE and 220 CE. Scholars trained in the teachings</a:t>
            </a:r>
            <a:r>
              <a:rPr lang="en-US" altLang="zh-CN" sz="2400" dirty="0"/>
              <a:t> </a:t>
            </a:r>
            <a:r>
              <a:rPr lang="en-US" altLang="zh-CN" sz="2400" spc="20" dirty="0"/>
              <a:t>of Confucius ran the Han governments with great skill. The last</a:t>
            </a:r>
            <a:r>
              <a:rPr lang="en-US" altLang="zh-CN" sz="2400" dirty="0"/>
              <a:t> </a:t>
            </a:r>
            <a:r>
              <a:rPr lang="en-US" altLang="zh-CN" sz="2400" spc="20" dirty="0"/>
              <a:t>Chinese dynasty to rule came from a region of northeast China</a:t>
            </a:r>
            <a:r>
              <a:rPr lang="en-US" altLang="zh-CN" sz="2400" dirty="0"/>
              <a:t> </a:t>
            </a:r>
            <a:r>
              <a:rPr lang="en-US" altLang="zh-CN" sz="2400" spc="10" dirty="0"/>
              <a:t>called Manchuria. The Manchus, also known as the Qing (</a:t>
            </a:r>
            <a:r>
              <a:rPr lang="en-US" altLang="zh-CN" sz="2400" i="1" spc="10" dirty="0"/>
              <a:t>king</a:t>
            </a:r>
            <a:r>
              <a:rPr lang="en-US" altLang="zh-CN" sz="2400" spc="10" dirty="0"/>
              <a:t>)</a:t>
            </a:r>
            <a:r>
              <a:rPr lang="en-US" altLang="zh-CN" sz="2400" dirty="0"/>
              <a:t>, </a:t>
            </a:r>
            <a:r>
              <a:rPr lang="en-US" altLang="zh-CN" sz="2400" spc="30" dirty="0"/>
              <a:t>were weak rulers who were unable to stop other nations from</a:t>
            </a:r>
            <a:r>
              <a:rPr lang="en-US" altLang="zh-CN" sz="2400" dirty="0"/>
              <a:t> interfering with China.</a:t>
            </a:r>
          </a:p>
        </p:txBody>
      </p:sp>
      <p:pic>
        <p:nvPicPr>
          <p:cNvPr id="6" name="图片 5">
            <a:hlinkClick r:id="rId6"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460" y="1968600"/>
            <a:ext cx="268800" cy="288000"/>
          </a:xfrm>
          <a:prstGeom prst="rect">
            <a:avLst/>
          </a:prstGeom>
        </p:spPr>
      </p:pic>
      <p:pic>
        <p:nvPicPr>
          <p:cNvPr id="7" name="图片 6">
            <a:hlinkClick r:id="rId8" action="ppaction://hlinksldjump"/>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460" y="4163336"/>
            <a:ext cx="268800" cy="288000"/>
          </a:xfrm>
          <a:prstGeom prst="rect">
            <a:avLst/>
          </a:prstGeom>
        </p:spPr>
      </p:pic>
      <p:pic>
        <p:nvPicPr>
          <p:cNvPr id="2" name="Text C_10">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cstate="print">
            <a:extLst>
              <a:ext uri="{28A0092B-C50C-407E-A947-70E740481C1C}">
                <a14:useLocalDpi xmlns:a14="http://schemas.microsoft.com/office/drawing/2010/main" val="0"/>
              </a:ext>
            </a:extLst>
          </a:blip>
          <a:stretch>
            <a:fillRect/>
          </a:stretch>
        </p:blipFill>
        <p:spPr>
          <a:xfrm>
            <a:off x="173345" y="1968600"/>
            <a:ext cx="288000" cy="285120"/>
          </a:xfrm>
          <a:prstGeom prst="rect">
            <a:avLst/>
          </a:prstGeom>
        </p:spPr>
      </p:pic>
      <p:pic>
        <p:nvPicPr>
          <p:cNvPr id="3" name="Text C_11">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cstate="print">
            <a:extLst>
              <a:ext uri="{28A0092B-C50C-407E-A947-70E740481C1C}">
                <a14:useLocalDpi xmlns:a14="http://schemas.microsoft.com/office/drawing/2010/main" val="0"/>
              </a:ext>
            </a:extLst>
          </a:blip>
          <a:stretch>
            <a:fillRect/>
          </a:stretch>
        </p:blipFill>
        <p:spPr>
          <a:xfrm>
            <a:off x="173345" y="4163336"/>
            <a:ext cx="288000" cy="285120"/>
          </a:xfrm>
          <a:prstGeom prst="rect">
            <a:avLst/>
          </a:prstGeom>
        </p:spPr>
      </p:pic>
      <p:pic>
        <p:nvPicPr>
          <p:cNvPr id="10" name="Picture 3" descr="C:\Users\senj\Desktop\按钮.png">
            <a:hlinkClick r:id="" action="ppaction://hlinkshowjump?jump=next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4" name="Picture 3" descr="C:\Users\senj\Desktop\按钮.png">
            <a:hlinkClick r:id="" action="ppaction://hlinkshowjump?jump=previousslide"/>
          </p:cNvPr>
          <p:cNvPicPr>
            <a:picLocks noChangeAspect="1" noChangeArrowheads="1"/>
          </p:cNvPicPr>
          <p:nvPr/>
        </p:nvPicPr>
        <p:blipFill>
          <a:blip r:embed="rId10" cstate="print">
            <a:duotone>
              <a:schemeClr val="bg2">
                <a:shade val="45000"/>
                <a:satMod val="135000"/>
              </a:schemeClr>
              <a:prstClr val="white"/>
            </a:duotone>
            <a:extLst>
              <a:ext uri="{BEBA8EAE-BF5A-486C-A8C5-ECC9F3942E4B}">
                <a14:imgProps xmlns:a14="http://schemas.microsoft.com/office/drawing/2010/main">
                  <a14:imgLayer r:embed="rId11">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Tree>
    <p:extLst>
      <p:ext uri="{BB962C8B-B14F-4D97-AF65-F5344CB8AC3E}">
        <p14:creationId xmlns:p14="http://schemas.microsoft.com/office/powerpoint/2010/main" val="16320466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4450"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31947"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Users\senj\Desktop\按钮.png">
            <a:hlinkClick r:id="" action="ppaction://hlinkshowjump?jump=previous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5" name="文本框 4"/>
          <p:cNvSpPr txBox="1"/>
          <p:nvPr/>
        </p:nvSpPr>
        <p:spPr>
          <a:xfrm>
            <a:off x="792030" y="1147670"/>
            <a:ext cx="8100270" cy="4154984"/>
          </a:xfrm>
          <a:prstGeom prst="rect">
            <a:avLst/>
          </a:prstGeom>
          <a:noFill/>
        </p:spPr>
        <p:txBody>
          <a:bodyPr wrap="square" rtlCol="0">
            <a:spAutoFit/>
          </a:bodyPr>
          <a:lstStyle/>
          <a:p>
            <a:pPr algn="just"/>
            <a:r>
              <a:rPr lang="en-US" altLang="zh-CN" sz="2400" b="1" dirty="0">
                <a:solidFill>
                  <a:srgbClr val="C6383E"/>
                </a:solidFill>
              </a:rPr>
              <a:t>12</a:t>
            </a:r>
            <a:r>
              <a:rPr lang="en-US" altLang="zh-CN" sz="2400" dirty="0"/>
              <a:t>   </a:t>
            </a:r>
            <a:r>
              <a:rPr lang="en-US" altLang="zh-CN" sz="2400" spc="-10" dirty="0"/>
              <a:t>The British seized Hong Kong in 1841, but more importantly</a:t>
            </a:r>
            <a:r>
              <a:rPr lang="en-US" altLang="zh-CN" sz="2400" dirty="0"/>
              <a:t>, </a:t>
            </a:r>
            <a:r>
              <a:rPr lang="en-US" altLang="zh-CN" sz="2400" spc="-10" dirty="0"/>
              <a:t>by the middle of the nineteenth century, had forced the Chinese</a:t>
            </a:r>
            <a:r>
              <a:rPr lang="en-US" altLang="zh-CN" sz="2400" dirty="0"/>
              <a:t> </a:t>
            </a:r>
            <a:r>
              <a:rPr lang="en-US" altLang="zh-CN" sz="2400" spc="-10" dirty="0"/>
              <a:t>government to allow them to sell a dangerous drug called opium</a:t>
            </a:r>
            <a:r>
              <a:rPr lang="en-US" altLang="zh-CN" sz="2400" dirty="0"/>
              <a:t> </a:t>
            </a:r>
            <a:r>
              <a:rPr lang="en-US" altLang="zh-CN" sz="2400" spc="40" dirty="0"/>
              <a:t>to the Chinese people. The British defeated the Manchus in a</a:t>
            </a:r>
            <a:r>
              <a:rPr lang="en-US" altLang="zh-CN" sz="2400" dirty="0"/>
              <a:t> series of conflicts that later became known as the Opium Wars.</a:t>
            </a:r>
          </a:p>
          <a:p>
            <a:pPr algn="just"/>
            <a:r>
              <a:rPr lang="en-US" altLang="zh-CN" sz="2400" b="1" dirty="0">
                <a:solidFill>
                  <a:srgbClr val="C6383E"/>
                </a:solidFill>
              </a:rPr>
              <a:t>13</a:t>
            </a:r>
            <a:r>
              <a:rPr lang="en-US" altLang="zh-CN" sz="2400" dirty="0"/>
              <a:t>   </a:t>
            </a:r>
            <a:r>
              <a:rPr lang="en-US" altLang="zh-CN" sz="2400" spc="60" dirty="0"/>
              <a:t>In 1895, Japan seized Taiwan. By the turn of the century</a:t>
            </a:r>
            <a:r>
              <a:rPr lang="en-US" altLang="zh-CN" sz="2400" dirty="0"/>
              <a:t>, </a:t>
            </a:r>
            <a:r>
              <a:rPr lang="en-US" altLang="zh-CN" sz="2400" spc="20" dirty="0"/>
              <a:t>foreigners had overrun China. Parts of China were ruled by the</a:t>
            </a:r>
            <a:r>
              <a:rPr lang="en-US" altLang="zh-CN" sz="2400" dirty="0"/>
              <a:t> </a:t>
            </a:r>
            <a:r>
              <a:rPr lang="en-US" altLang="zh-CN" sz="2400" spc="-20" dirty="0"/>
              <a:t>British, French, American, German, Russian, and Japanese forces</a:t>
            </a:r>
            <a:r>
              <a:rPr lang="en-US" altLang="zh-CN" sz="2400" dirty="0"/>
              <a:t>. </a:t>
            </a:r>
            <a:r>
              <a:rPr lang="en-US" altLang="zh-CN" sz="2400" spc="70" dirty="0"/>
              <a:t>The Chinese people believed that the Manchus had lost the</a:t>
            </a:r>
            <a:r>
              <a:rPr lang="en-US" altLang="zh-CN" sz="2400" dirty="0"/>
              <a:t> </a:t>
            </a:r>
            <a:r>
              <a:rPr lang="en-US" altLang="zh-CN" sz="2400" spc="-10" dirty="0"/>
              <a:t>mandate of heaven. The last of the Manchu rulers, a six-year-old</a:t>
            </a:r>
            <a:r>
              <a:rPr lang="en-US" altLang="zh-CN" sz="2400" dirty="0"/>
              <a:t> boy, was forced off the throne in 1912.</a:t>
            </a:r>
          </a:p>
        </p:txBody>
      </p:sp>
      <p:pic>
        <p:nvPicPr>
          <p:cNvPr id="6" name="图片 5">
            <a:hlinkClick r:id="rId8"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8460" y="1232638"/>
            <a:ext cx="268800" cy="288000"/>
          </a:xfrm>
          <a:prstGeom prst="rect">
            <a:avLst/>
          </a:prstGeom>
        </p:spPr>
      </p:pic>
      <p:pic>
        <p:nvPicPr>
          <p:cNvPr id="8" name="Picture 3" descr="C:\Users\senj\Desktop\按钮.png"/>
          <p:cNvPicPr>
            <a:picLocks noChangeAspect="1" noChangeArrowheads="1"/>
          </p:cNvPicPr>
          <p:nvPr/>
        </p:nvPicPr>
        <p:blipFill>
          <a:blip r:embed="rId10" cstate="print"/>
          <a:srcRect l="12911" t="21436" r="39626" b="60503"/>
          <a:stretch>
            <a:fillRect/>
          </a:stretch>
        </p:blipFill>
        <p:spPr bwMode="auto">
          <a:xfrm rot="10800000">
            <a:off x="8721754" y="6429396"/>
            <a:ext cx="259557" cy="254794"/>
          </a:xfrm>
          <a:prstGeom prst="rect">
            <a:avLst/>
          </a:prstGeom>
          <a:noFill/>
        </p:spPr>
      </p:pic>
      <p:pic>
        <p:nvPicPr>
          <p:cNvPr id="9" name="图片 8">
            <a:hlinkClick r:id="rId11" action="ppaction://hlinksldjump"/>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3230" y="3071637"/>
            <a:ext cx="268800" cy="288000"/>
          </a:xfrm>
          <a:prstGeom prst="rect">
            <a:avLst/>
          </a:prstGeom>
        </p:spPr>
      </p:pic>
      <p:pic>
        <p:nvPicPr>
          <p:cNvPr id="2" name="Text C_1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2" cstate="print">
            <a:extLst>
              <a:ext uri="{28A0092B-C50C-407E-A947-70E740481C1C}">
                <a14:useLocalDpi xmlns:a14="http://schemas.microsoft.com/office/drawing/2010/main" val="0"/>
              </a:ext>
            </a:extLst>
          </a:blip>
          <a:stretch>
            <a:fillRect/>
          </a:stretch>
        </p:blipFill>
        <p:spPr>
          <a:xfrm>
            <a:off x="173345" y="1235518"/>
            <a:ext cx="288000" cy="285120"/>
          </a:xfrm>
          <a:prstGeom prst="rect">
            <a:avLst/>
          </a:prstGeom>
        </p:spPr>
      </p:pic>
      <p:pic>
        <p:nvPicPr>
          <p:cNvPr id="3" name="Text C_13">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12" cstate="print">
            <a:extLst>
              <a:ext uri="{28A0092B-C50C-407E-A947-70E740481C1C}">
                <a14:useLocalDpi xmlns:a14="http://schemas.microsoft.com/office/drawing/2010/main" val="0"/>
              </a:ext>
            </a:extLst>
          </a:blip>
          <a:stretch>
            <a:fillRect/>
          </a:stretch>
        </p:blipFill>
        <p:spPr>
          <a:xfrm>
            <a:off x="173345" y="3071637"/>
            <a:ext cx="288000" cy="285120"/>
          </a:xfrm>
          <a:prstGeom prst="rect">
            <a:avLst/>
          </a:prstGeom>
        </p:spPr>
      </p:pic>
    </p:spTree>
    <p:extLst>
      <p:ext uri="{BB962C8B-B14F-4D97-AF65-F5344CB8AC3E}">
        <p14:creationId xmlns:p14="http://schemas.microsoft.com/office/powerpoint/2010/main" val="32601142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2233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29022" fill="hold"/>
                                        <p:tgtEl>
                                          <p:spTgt spid="3"/>
                                        </p:tgtEl>
                                      </p:cBhvr>
                                    </p:cmd>
                                  </p:childTnLst>
                                </p:cTn>
                              </p:par>
                            </p:childTnLst>
                          </p:cTn>
                        </p:par>
                      </p:childTnLst>
                    </p:cTn>
                  </p:par>
                </p:childTnLst>
              </p:cTn>
              <p:nextCondLst>
                <p:cond evt="onClick" delay="0">
                  <p:tgtEl>
                    <p:spTgt spid="3"/>
                  </p:tgtEl>
                </p:cond>
              </p:nextCondLst>
            </p:seq>
            <p:audio>
              <p:cMediaNode vol="80000">
                <p:cTn id="13" fill="hold" display="0">
                  <p:stCondLst>
                    <p:cond delay="indefinite"/>
                  </p:stCondLst>
                  <p:endCondLst>
                    <p:cond evt="onStopAudio" delay="0">
                      <p:tgtEl>
                        <p:sldTgt/>
                      </p:tgtEl>
                    </p:cond>
                  </p:endCondLst>
                </p:cTn>
                <p:tgtEl>
                  <p:spTgt spid="3"/>
                </p:tgtEl>
              </p:cMediaNode>
            </p:audio>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6165" y="2604352"/>
            <a:ext cx="485955" cy="2308324"/>
          </a:xfrm>
          <a:prstGeom prst="rect">
            <a:avLst/>
          </a:prstGeom>
          <a:noFill/>
        </p:spPr>
        <p:txBody>
          <a:bodyPr wrap="square" rtlCol="0">
            <a:spAutoFit/>
          </a:bodyPr>
          <a:lstStyle/>
          <a:p>
            <a:r>
              <a:rPr lang="en-US" altLang="zh-CN" sz="2400" b="1" dirty="0">
                <a:solidFill>
                  <a:srgbClr val="C6383E"/>
                </a:solidFill>
              </a:rPr>
              <a:t>1</a:t>
            </a: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2</a:t>
            </a:r>
            <a:endParaRPr lang="zh-CN" altLang="en-US" sz="2400" b="1" dirty="0">
              <a:solidFill>
                <a:srgbClr val="C6383E"/>
              </a:solidFill>
              <a:latin typeface="Cambria" panose="02040503050406030204" pitchFamily="18" charset="0"/>
              <a:cs typeface="Times New Roman" panose="02020603050405020304" pitchFamily="18" charset="0"/>
            </a:endParaRPr>
          </a:p>
        </p:txBody>
      </p:sp>
      <p:sp>
        <p:nvSpPr>
          <p:cNvPr id="10" name="文本框 9"/>
          <p:cNvSpPr txBox="1"/>
          <p:nvPr/>
        </p:nvSpPr>
        <p:spPr>
          <a:xfrm>
            <a:off x="660400" y="2604352"/>
            <a:ext cx="8231900" cy="3046988"/>
          </a:xfrm>
          <a:prstGeom prst="rect">
            <a:avLst/>
          </a:prstGeom>
          <a:noFill/>
        </p:spPr>
        <p:txBody>
          <a:bodyPr wrap="square" rtlCol="0">
            <a:spAutoFit/>
          </a:bodyPr>
          <a:lstStyle/>
          <a:p>
            <a:pPr algn="just"/>
            <a:r>
              <a:rPr lang="en-US" altLang="zh-CN" sz="2400" spc="20" dirty="0"/>
              <a:t>The Chinese people often rebelled against a weak leader if they</a:t>
            </a:r>
            <a:r>
              <a:rPr lang="en-US" altLang="zh-CN" sz="2400" dirty="0"/>
              <a:t> believed he had lost the ______.</a:t>
            </a:r>
          </a:p>
          <a:p>
            <a:r>
              <a:rPr lang="en-US" altLang="zh-CN" sz="2400" dirty="0"/>
              <a:t>A. written records </a:t>
            </a:r>
          </a:p>
          <a:p>
            <a:r>
              <a:rPr lang="en-US" altLang="zh-CN" sz="2400" dirty="0"/>
              <a:t>C. feudal system </a:t>
            </a:r>
          </a:p>
          <a:p>
            <a:endParaRPr lang="en-US" altLang="zh-CN" sz="2400" dirty="0"/>
          </a:p>
          <a:p>
            <a:r>
              <a:rPr lang="en-US" altLang="zh-CN" sz="2400" dirty="0"/>
              <a:t>When a Shang king died, his ______ replaced him.</a:t>
            </a:r>
          </a:p>
          <a:p>
            <a:r>
              <a:rPr lang="en-US" altLang="zh-CN" sz="2400" dirty="0"/>
              <a:t>A. eldest son </a:t>
            </a:r>
          </a:p>
          <a:p>
            <a:r>
              <a:rPr lang="en-US" altLang="zh-CN" sz="2400" dirty="0"/>
              <a:t>C. next oldest brother </a:t>
            </a:r>
          </a:p>
        </p:txBody>
      </p:sp>
      <p:sp>
        <p:nvSpPr>
          <p:cNvPr id="11" name="文本框 10"/>
          <p:cNvSpPr txBox="1"/>
          <p:nvPr/>
        </p:nvSpPr>
        <p:spPr>
          <a:xfrm>
            <a:off x="360000" y="1133951"/>
            <a:ext cx="8532300" cy="1200329"/>
          </a:xfrm>
          <a:prstGeom prst="rect">
            <a:avLst/>
          </a:prstGeom>
          <a:noFill/>
        </p:spPr>
        <p:txBody>
          <a:bodyPr wrap="square" rtlCol="0">
            <a:spAutoFit/>
          </a:bodyPr>
          <a:lstStyle/>
          <a:p>
            <a:pPr algn="just"/>
            <a:r>
              <a:rPr lang="en-US" altLang="zh-CN" sz="2400" b="1" dirty="0">
                <a:solidFill>
                  <a:srgbClr val="C6383E"/>
                </a:solidFill>
              </a:rPr>
              <a:t>Task 1</a:t>
            </a:r>
          </a:p>
          <a:p>
            <a:r>
              <a:rPr lang="en-US" altLang="zh-CN" sz="2400" spc="-10" dirty="0">
                <a:latin typeface="Cambria" panose="02040503050406030204" pitchFamily="18" charset="0"/>
                <a:ea typeface="Cambria" panose="02040503050406030204" pitchFamily="18" charset="0"/>
              </a:rPr>
              <a:t>Choose the best answer according to the information given in the</a:t>
            </a:r>
            <a:r>
              <a:rPr lang="en-US" altLang="zh-CN" sz="2400" dirty="0">
                <a:latin typeface="Cambria" panose="02040503050406030204" pitchFamily="18" charset="0"/>
                <a:ea typeface="Cambria" panose="02040503050406030204" pitchFamily="18" charset="0"/>
              </a:rPr>
              <a:t> text.</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2" name="钥匙2" descr="C:\Users\senj\Desktop\新建文件夹\答案.png" hidden="1">
            <a:hlinkClick r:id="" action="ppaction://noaction"/>
          </p:cNvPr>
          <p:cNvPicPr>
            <a:picLocks noChangeAspect="1" noChangeArrowheads="1"/>
          </p:cNvPicPr>
          <p:nvPr/>
        </p:nvPicPr>
        <p:blipFill>
          <a:blip r:embed="rId3" cstate="print"/>
          <a:srcRect/>
          <a:stretch>
            <a:fillRect/>
          </a:stretch>
        </p:blipFill>
        <p:spPr bwMode="auto">
          <a:xfrm>
            <a:off x="95139" y="1592481"/>
            <a:ext cx="324000" cy="324000"/>
          </a:xfrm>
          <a:prstGeom prst="rect">
            <a:avLst/>
          </a:prstGeom>
          <a:noFill/>
        </p:spPr>
      </p:pic>
      <p:pic>
        <p:nvPicPr>
          <p:cNvPr id="13" name="选择1" descr="圈圈.png"/>
          <p:cNvPicPr>
            <a:picLocks noChangeAspect="1"/>
          </p:cNvPicPr>
          <p:nvPr/>
        </p:nvPicPr>
        <p:blipFill>
          <a:blip r:embed="rId4" cstate="print"/>
          <a:stretch>
            <a:fillRect/>
          </a:stretch>
        </p:blipFill>
        <p:spPr>
          <a:xfrm>
            <a:off x="4531360" y="3403676"/>
            <a:ext cx="459698" cy="361192"/>
          </a:xfrm>
          <a:prstGeom prst="rect">
            <a:avLst/>
          </a:prstGeom>
        </p:spPr>
      </p:pic>
      <p:sp>
        <p:nvSpPr>
          <p:cNvPr id="17" name="文本框 16"/>
          <p:cNvSpPr txBox="1"/>
          <p:nvPr/>
        </p:nvSpPr>
        <p:spPr>
          <a:xfrm>
            <a:off x="4572000" y="2604352"/>
            <a:ext cx="4320300" cy="3046988"/>
          </a:xfrm>
          <a:prstGeom prst="rect">
            <a:avLst/>
          </a:prstGeom>
          <a:noFill/>
        </p:spPr>
        <p:txBody>
          <a:bodyPr wrap="square" rtlCol="0">
            <a:spAutoFit/>
          </a:bodyPr>
          <a:lstStyle/>
          <a:p>
            <a:endParaRPr lang="en-US" altLang="zh-CN" sz="2400" dirty="0"/>
          </a:p>
          <a:p>
            <a:endParaRPr lang="en-US" altLang="zh-CN" sz="2400" dirty="0"/>
          </a:p>
          <a:p>
            <a:r>
              <a:rPr lang="en-US" altLang="zh-CN" sz="2400" dirty="0"/>
              <a:t>B. mandate of heaven</a:t>
            </a:r>
          </a:p>
          <a:p>
            <a:r>
              <a:rPr lang="en-US" altLang="zh-CN" sz="2400" dirty="0"/>
              <a:t>D. stability</a:t>
            </a:r>
          </a:p>
          <a:p>
            <a:endParaRPr lang="en-US" altLang="zh-CN" sz="2400" dirty="0"/>
          </a:p>
          <a:p>
            <a:endParaRPr lang="en-US" altLang="zh-CN" sz="2400" dirty="0"/>
          </a:p>
          <a:p>
            <a:r>
              <a:rPr lang="en-US" altLang="zh-CN" sz="2400" dirty="0"/>
              <a:t>B. son or brother</a:t>
            </a:r>
          </a:p>
          <a:p>
            <a:r>
              <a:rPr lang="en-US" altLang="zh-CN" sz="2400" dirty="0"/>
              <a:t>D. cousin</a:t>
            </a:r>
          </a:p>
        </p:txBody>
      </p:sp>
      <p:pic>
        <p:nvPicPr>
          <p:cNvPr id="18" name="选择1" descr="圈圈.png"/>
          <p:cNvPicPr>
            <a:picLocks noChangeAspect="1"/>
          </p:cNvPicPr>
          <p:nvPr/>
        </p:nvPicPr>
        <p:blipFill>
          <a:blip r:embed="rId4" cstate="print"/>
          <a:stretch>
            <a:fillRect/>
          </a:stretch>
        </p:blipFill>
        <p:spPr>
          <a:xfrm>
            <a:off x="4543318" y="4869100"/>
            <a:ext cx="459698" cy="361192"/>
          </a:xfrm>
          <a:prstGeom prst="rect">
            <a:avLst/>
          </a:prstGeom>
        </p:spPr>
      </p:pic>
      <p:pic>
        <p:nvPicPr>
          <p:cNvPr id="20" name="Picture 3" descr="C:\Users\senj\Desktop\按钮.png"/>
          <p:cNvPicPr>
            <a:picLocks noChangeAspect="1" noChangeArrowheads="1"/>
          </p:cNvPicPr>
          <p:nvPr/>
        </p:nvPicPr>
        <p:blipFill>
          <a:blip r:embed="rId5" cstate="print"/>
          <a:srcRect l="12911" t="21436" r="39626" b="60503"/>
          <a:stretch>
            <a:fillRect/>
          </a:stretch>
        </p:blipFill>
        <p:spPr bwMode="auto">
          <a:xfrm>
            <a:off x="8366400" y="6429396"/>
            <a:ext cx="259557" cy="254794"/>
          </a:xfrm>
          <a:prstGeom prst="rect">
            <a:avLst/>
          </a:prstGeom>
          <a:noFill/>
        </p:spPr>
      </p:pic>
      <p:pic>
        <p:nvPicPr>
          <p:cNvPr id="21" name="Picture 3" descr="C:\Users\senj\Desktop\按钮.png">
            <a:hlinkClick r:id="" action="ppaction://hlinkshowjump?jump=nextslide"/>
          </p:cNvPr>
          <p:cNvPicPr>
            <a:picLocks noChangeAspect="1" noChangeArrowheads="1"/>
          </p:cNvPicPr>
          <p:nvPr/>
        </p:nvPicPr>
        <p:blipFill>
          <a:blip r:embed="rId6" cstate="print">
            <a:duotone>
              <a:schemeClr val="bg2">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4" name="矩形 13"/>
          <p:cNvSpPr/>
          <p:nvPr/>
        </p:nvSpPr>
        <p:spPr>
          <a:xfrm>
            <a:off x="456467" y="2677584"/>
            <a:ext cx="8363828" cy="1403921"/>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56467" y="4498915"/>
            <a:ext cx="8363828" cy="1139853"/>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497426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12"/>
                  </p:tgtEl>
                </p:cond>
              </p:nextCondLst>
            </p:seq>
            <p:seq concurrent="1" nextAc="seek">
              <p:cTn id="9" restart="whenNotActive" fill="hold" evtFilter="cancelBubble" nodeType="interactiveSeq">
                <p:stCondLst>
                  <p:cond evt="onClick" delay="0">
                    <p:tgtEl>
                      <p:spTgt spid="14"/>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14" restart="whenNotActive" fill="hold" evtFilter="cancelBubble" nodeType="interactiveSeq">
                <p:stCondLst>
                  <p:cond evt="onClick" delay="0">
                    <p:tgtEl>
                      <p:spTgt spid="15"/>
                    </p:tgtEl>
                  </p:cond>
                </p:stCondLst>
                <p:endSync evt="end" delay="0">
                  <p:rtn val="all"/>
                </p:endSync>
                <p:childTnLst>
                  <p:par>
                    <p:cTn id="15" fill="hold">
                      <p:stCondLst>
                        <p:cond delay="0"/>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15"/>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6165" y="1145160"/>
            <a:ext cx="485955" cy="3416320"/>
          </a:xfrm>
          <a:prstGeom prst="rect">
            <a:avLst/>
          </a:prstGeom>
          <a:noFill/>
        </p:spPr>
        <p:txBody>
          <a:bodyPr wrap="square" rtlCol="0">
            <a:spAutoFit/>
          </a:bodyPr>
          <a:lstStyle/>
          <a:p>
            <a:r>
              <a:rPr lang="en-US" altLang="zh-CN" sz="2400" b="1" dirty="0">
                <a:solidFill>
                  <a:srgbClr val="C6383E"/>
                </a:solidFill>
                <a:latin typeface="+mn-lt"/>
              </a:rPr>
              <a:t>3</a:t>
            </a: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4</a:t>
            </a: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5</a:t>
            </a:r>
            <a:endParaRPr lang="zh-CN" altLang="en-US" sz="2400" b="1" dirty="0">
              <a:solidFill>
                <a:srgbClr val="C6383E"/>
              </a:solidFill>
              <a:latin typeface="+mn-lt"/>
              <a:cs typeface="Times New Roman" panose="02020603050405020304" pitchFamily="18" charset="0"/>
            </a:endParaRPr>
          </a:p>
        </p:txBody>
      </p:sp>
      <p:sp>
        <p:nvSpPr>
          <p:cNvPr id="10" name="文本框 9"/>
          <p:cNvSpPr txBox="1"/>
          <p:nvPr/>
        </p:nvSpPr>
        <p:spPr>
          <a:xfrm>
            <a:off x="660400" y="1145160"/>
            <a:ext cx="8231900" cy="4154984"/>
          </a:xfrm>
          <a:prstGeom prst="rect">
            <a:avLst/>
          </a:prstGeom>
          <a:noFill/>
        </p:spPr>
        <p:txBody>
          <a:bodyPr wrap="square" rtlCol="0">
            <a:spAutoFit/>
          </a:bodyPr>
          <a:lstStyle/>
          <a:p>
            <a:pPr algn="just"/>
            <a:r>
              <a:rPr lang="en-US" altLang="zh-CN" sz="2400" dirty="0"/>
              <a:t>The ______ was the first dynasty to leave written records.</a:t>
            </a:r>
          </a:p>
          <a:p>
            <a:pPr algn="just"/>
            <a:r>
              <a:rPr lang="en-US" altLang="zh-CN" sz="2400" dirty="0"/>
              <a:t>A. Xia </a:t>
            </a:r>
          </a:p>
          <a:p>
            <a:pPr algn="just"/>
            <a:r>
              <a:rPr lang="en-US" altLang="zh-CN" sz="2400" dirty="0"/>
              <a:t>C. Zhou </a:t>
            </a:r>
          </a:p>
          <a:p>
            <a:pPr algn="just"/>
            <a:endParaRPr lang="en-US" altLang="zh-CN" sz="2400" dirty="0"/>
          </a:p>
          <a:p>
            <a:pPr algn="just"/>
            <a:r>
              <a:rPr lang="en-US" altLang="zh-CN" sz="2400" dirty="0"/>
              <a:t>Confucius tried to develop good governance during the ______.</a:t>
            </a:r>
          </a:p>
          <a:p>
            <a:pPr algn="just"/>
            <a:r>
              <a:rPr lang="en-US" altLang="zh-CN" sz="2400" dirty="0"/>
              <a:t>A. Zhou dynasty </a:t>
            </a:r>
          </a:p>
          <a:p>
            <a:pPr algn="just"/>
            <a:r>
              <a:rPr lang="en-US" altLang="zh-CN" sz="2400" dirty="0"/>
              <a:t>C. Shang dynasty </a:t>
            </a:r>
          </a:p>
          <a:p>
            <a:pPr algn="just"/>
            <a:endParaRPr lang="en-US" altLang="zh-CN" sz="2400" dirty="0"/>
          </a:p>
          <a:p>
            <a:pPr algn="just"/>
            <a:r>
              <a:rPr lang="en-US" altLang="zh-CN" sz="2400" dirty="0"/>
              <a:t>The British seized Hong Kong in ______.</a:t>
            </a:r>
          </a:p>
          <a:p>
            <a:pPr algn="just"/>
            <a:r>
              <a:rPr lang="en-US" altLang="zh-CN" sz="2400" dirty="0"/>
              <a:t>A. 1841</a:t>
            </a:r>
          </a:p>
          <a:p>
            <a:pPr algn="just"/>
            <a:r>
              <a:rPr lang="en-US" altLang="zh-CN" sz="2400" dirty="0"/>
              <a:t>C. 1911 </a:t>
            </a:r>
          </a:p>
        </p:txBody>
      </p:sp>
      <p:pic>
        <p:nvPicPr>
          <p:cNvPr id="13" name="选择1" descr="圈圈.png"/>
          <p:cNvPicPr>
            <a:picLocks noChangeAspect="1"/>
          </p:cNvPicPr>
          <p:nvPr/>
        </p:nvPicPr>
        <p:blipFill>
          <a:blip r:embed="rId2" cstate="print"/>
          <a:stretch>
            <a:fillRect/>
          </a:stretch>
        </p:blipFill>
        <p:spPr>
          <a:xfrm>
            <a:off x="4523711" y="1595975"/>
            <a:ext cx="459698" cy="361192"/>
          </a:xfrm>
          <a:prstGeom prst="rect">
            <a:avLst/>
          </a:prstGeom>
        </p:spPr>
      </p:pic>
      <p:sp>
        <p:nvSpPr>
          <p:cNvPr id="17" name="文本框 16"/>
          <p:cNvSpPr txBox="1"/>
          <p:nvPr/>
        </p:nvSpPr>
        <p:spPr>
          <a:xfrm>
            <a:off x="4572000" y="1145160"/>
            <a:ext cx="4320300" cy="4154984"/>
          </a:xfrm>
          <a:prstGeom prst="rect">
            <a:avLst/>
          </a:prstGeom>
          <a:noFill/>
        </p:spPr>
        <p:txBody>
          <a:bodyPr wrap="square" rtlCol="0">
            <a:spAutoFit/>
          </a:bodyPr>
          <a:lstStyle/>
          <a:p>
            <a:endParaRPr lang="en-US" altLang="zh-CN" sz="2400" dirty="0"/>
          </a:p>
          <a:p>
            <a:r>
              <a:rPr lang="en-US" altLang="zh-CN" sz="2400" dirty="0"/>
              <a:t>B. Shang</a:t>
            </a:r>
          </a:p>
          <a:p>
            <a:r>
              <a:rPr lang="en-US" altLang="zh-CN" sz="2400" dirty="0"/>
              <a:t>D. Qin</a:t>
            </a:r>
          </a:p>
          <a:p>
            <a:endParaRPr lang="en-US" altLang="zh-CN" sz="2400" dirty="0"/>
          </a:p>
          <a:p>
            <a:endParaRPr lang="en-US" altLang="zh-CN" sz="2400" dirty="0"/>
          </a:p>
          <a:p>
            <a:r>
              <a:rPr lang="en-US" altLang="zh-CN" sz="2400" dirty="0"/>
              <a:t>B. Spring and Autumn period</a:t>
            </a:r>
          </a:p>
          <a:p>
            <a:r>
              <a:rPr lang="en-US" altLang="zh-CN" sz="2400" dirty="0"/>
              <a:t>D. mandate of heaven</a:t>
            </a:r>
          </a:p>
          <a:p>
            <a:endParaRPr lang="en-US" altLang="zh-CN" sz="2400" dirty="0"/>
          </a:p>
          <a:p>
            <a:endParaRPr lang="en-US" altLang="zh-CN" sz="2400" dirty="0"/>
          </a:p>
          <a:p>
            <a:r>
              <a:rPr lang="en-US" altLang="zh-CN" sz="2400" dirty="0"/>
              <a:t>B. 1894 </a:t>
            </a:r>
          </a:p>
          <a:p>
            <a:r>
              <a:rPr lang="en-US" altLang="zh-CN" sz="2400" dirty="0"/>
              <a:t>D. 1848</a:t>
            </a:r>
          </a:p>
        </p:txBody>
      </p:sp>
      <p:pic>
        <p:nvPicPr>
          <p:cNvPr id="18" name="选择1" descr="圈圈.png"/>
          <p:cNvPicPr>
            <a:picLocks noChangeAspect="1"/>
          </p:cNvPicPr>
          <p:nvPr/>
        </p:nvPicPr>
        <p:blipFill>
          <a:blip r:embed="rId2" cstate="print"/>
          <a:stretch>
            <a:fillRect/>
          </a:stretch>
        </p:blipFill>
        <p:spPr>
          <a:xfrm>
            <a:off x="4523711" y="3047488"/>
            <a:ext cx="459698" cy="361192"/>
          </a:xfrm>
          <a:prstGeom prst="rect">
            <a:avLst/>
          </a:prstGeom>
        </p:spPr>
      </p:pic>
      <p:pic>
        <p:nvPicPr>
          <p:cNvPr id="9" name="Picture 3" descr="C:\Users\senj\Desktop\按钮.png">
            <a:hlinkClick r:id="rId3" action="ppaction://hlinksldjump"/>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4"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15" name="选择1" descr="圈圈.png"/>
          <p:cNvPicPr>
            <a:picLocks noChangeAspect="1"/>
          </p:cNvPicPr>
          <p:nvPr/>
        </p:nvPicPr>
        <p:blipFill>
          <a:blip r:embed="rId2" cstate="print"/>
          <a:stretch>
            <a:fillRect/>
          </a:stretch>
        </p:blipFill>
        <p:spPr>
          <a:xfrm>
            <a:off x="629920" y="4509075"/>
            <a:ext cx="459698" cy="361192"/>
          </a:xfrm>
          <a:prstGeom prst="rect">
            <a:avLst/>
          </a:prstGeom>
        </p:spPr>
      </p:pic>
      <p:pic>
        <p:nvPicPr>
          <p:cNvPr id="16" name="钥匙2" descr="C:\Users\senj\Desktop\新建文件夹\答案.png" hidden="1">
            <a:hlinkClick r:id="" action="ppaction://noaction"/>
          </p:cNvPr>
          <p:cNvPicPr>
            <a:picLocks noChangeAspect="1" noChangeArrowheads="1"/>
          </p:cNvPicPr>
          <p:nvPr/>
        </p:nvPicPr>
        <p:blipFill>
          <a:blip r:embed="rId6" cstate="print"/>
          <a:srcRect/>
          <a:stretch>
            <a:fillRect/>
          </a:stretch>
        </p:blipFill>
        <p:spPr bwMode="auto">
          <a:xfrm>
            <a:off x="95139" y="1217165"/>
            <a:ext cx="324000" cy="324000"/>
          </a:xfrm>
          <a:prstGeom prst="rect">
            <a:avLst/>
          </a:prstGeom>
          <a:noFill/>
        </p:spPr>
      </p:pic>
      <p:sp>
        <p:nvSpPr>
          <p:cNvPr id="11" name="矩形 10"/>
          <p:cNvSpPr/>
          <p:nvPr/>
        </p:nvSpPr>
        <p:spPr>
          <a:xfrm>
            <a:off x="456467" y="1217166"/>
            <a:ext cx="8363828" cy="106883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456467" y="2689711"/>
            <a:ext cx="8363828" cy="106883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456467" y="4152096"/>
            <a:ext cx="8363828" cy="1068834"/>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918339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childTnLst>
              </p:cTn>
              <p:nextCondLst>
                <p:cond evt="onClick" delay="0">
                  <p:tgtEl>
                    <p:spTgt spid="16"/>
                  </p:tgtEl>
                </p:cond>
              </p:nextCondLst>
            </p:seq>
            <p:seq concurrent="1" nextAc="seek">
              <p:cTn id="11" restart="whenNotActive" fill="hold" evtFilter="cancelBubble" nodeType="interactiveSeq">
                <p:stCondLst>
                  <p:cond evt="onClick" delay="0">
                    <p:tgtEl>
                      <p:spTgt spid="11"/>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16" restart="whenNotActive" fill="hold" evtFilter="cancelBubble" nodeType="interactiveSeq">
                <p:stCondLst>
                  <p:cond evt="onClick" delay="0">
                    <p:tgtEl>
                      <p:spTgt spid="12"/>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12"/>
                  </p:tgtEl>
                </p:cond>
              </p:nextCondLst>
            </p:seq>
            <p:seq concurrent="1" nextAc="seek">
              <p:cTn id="21" restart="whenNotActive" fill="hold" evtFilter="cancelBubble" nodeType="interactiveSeq">
                <p:stCondLst>
                  <p:cond evt="onClick" delay="0">
                    <p:tgtEl>
                      <p:spTgt spid="19"/>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childTnLst>
              </p:cTn>
              <p:nextCondLst>
                <p:cond evt="onClick" delay="0">
                  <p:tgtEl>
                    <p:spTgt spid="19"/>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4"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5" name="文本框 14"/>
          <p:cNvSpPr txBox="1"/>
          <p:nvPr/>
        </p:nvSpPr>
        <p:spPr>
          <a:xfrm>
            <a:off x="360000" y="1133951"/>
            <a:ext cx="8532300" cy="1200329"/>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10" dirty="0">
                <a:latin typeface="Cambria" panose="02040503050406030204" pitchFamily="18" charset="0"/>
                <a:ea typeface="Cambria" panose="02040503050406030204" pitchFamily="18" charset="0"/>
              </a:rPr>
              <a:t>Choose the best explanation of the underlined part in each of the sentences.</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21" name="圆角矩形 20"/>
          <p:cNvSpPr/>
          <p:nvPr/>
        </p:nvSpPr>
        <p:spPr>
          <a:xfrm>
            <a:off x="467715" y="2420930"/>
            <a:ext cx="8323860" cy="1671010"/>
          </a:xfrm>
          <a:prstGeom prst="roundRect">
            <a:avLst>
              <a:gd name="adj" fmla="val 9889"/>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577066" y="2527028"/>
            <a:ext cx="2225289" cy="461665"/>
          </a:xfrm>
          <a:prstGeom prst="rect">
            <a:avLst/>
          </a:prstGeom>
          <a:noFill/>
        </p:spPr>
        <p:txBody>
          <a:bodyPr wrap="none" rtlCol="0">
            <a:spAutoFit/>
          </a:bodyPr>
          <a:lstStyle/>
          <a:p>
            <a:pPr algn="just"/>
            <a:r>
              <a:rPr lang="en-US" altLang="zh-CN" sz="2400" dirty="0"/>
              <a:t>A meddling with</a:t>
            </a:r>
            <a:endParaRPr lang="zh-CN" altLang="en-US" sz="2400" dirty="0"/>
          </a:p>
        </p:txBody>
      </p:sp>
      <p:sp>
        <p:nvSpPr>
          <p:cNvPr id="23" name="文本框 22"/>
          <p:cNvSpPr txBox="1"/>
          <p:nvPr/>
        </p:nvSpPr>
        <p:spPr>
          <a:xfrm>
            <a:off x="577066" y="3025446"/>
            <a:ext cx="1630959" cy="461665"/>
          </a:xfrm>
          <a:prstGeom prst="rect">
            <a:avLst/>
          </a:prstGeom>
          <a:noFill/>
        </p:spPr>
        <p:txBody>
          <a:bodyPr wrap="none" rtlCol="0">
            <a:spAutoFit/>
          </a:bodyPr>
          <a:lstStyle/>
          <a:p>
            <a:pPr algn="just"/>
            <a:r>
              <a:rPr lang="en-US" altLang="zh-CN" sz="2400" dirty="0"/>
              <a:t>E faithful to</a:t>
            </a:r>
            <a:endParaRPr lang="zh-CN" altLang="en-US" sz="2400" dirty="0"/>
          </a:p>
        </p:txBody>
      </p:sp>
      <p:sp>
        <p:nvSpPr>
          <p:cNvPr id="24" name="文本框 23"/>
          <p:cNvSpPr txBox="1"/>
          <p:nvPr/>
        </p:nvSpPr>
        <p:spPr>
          <a:xfrm>
            <a:off x="3099183" y="2527028"/>
            <a:ext cx="1737142" cy="461665"/>
          </a:xfrm>
          <a:prstGeom prst="rect">
            <a:avLst/>
          </a:prstGeom>
          <a:noFill/>
        </p:spPr>
        <p:txBody>
          <a:bodyPr wrap="none" rtlCol="0">
            <a:spAutoFit/>
          </a:bodyPr>
          <a:lstStyle/>
          <a:p>
            <a:pPr algn="just"/>
            <a:r>
              <a:rPr lang="en-US" altLang="zh-CN" sz="2400" dirty="0"/>
              <a:t>B attempted</a:t>
            </a:r>
            <a:endParaRPr lang="zh-CN" altLang="en-US" sz="2400" dirty="0"/>
          </a:p>
        </p:txBody>
      </p:sp>
      <p:sp>
        <p:nvSpPr>
          <p:cNvPr id="25" name="文本框 24"/>
          <p:cNvSpPr txBox="1"/>
          <p:nvPr/>
        </p:nvSpPr>
        <p:spPr>
          <a:xfrm>
            <a:off x="3099183" y="3028718"/>
            <a:ext cx="1526380" cy="461665"/>
          </a:xfrm>
          <a:prstGeom prst="rect">
            <a:avLst/>
          </a:prstGeom>
          <a:noFill/>
        </p:spPr>
        <p:txBody>
          <a:bodyPr wrap="none" rtlCol="0">
            <a:spAutoFit/>
          </a:bodyPr>
          <a:lstStyle/>
          <a:p>
            <a:pPr algn="just"/>
            <a:r>
              <a:rPr lang="en-US" altLang="zh-CN" sz="2400" dirty="0"/>
              <a:t>F occupied</a:t>
            </a:r>
            <a:endParaRPr lang="zh-CN" altLang="en-US" sz="2400" dirty="0"/>
          </a:p>
        </p:txBody>
      </p:sp>
      <p:sp>
        <p:nvSpPr>
          <p:cNvPr id="26" name="文本框 25"/>
          <p:cNvSpPr txBox="1"/>
          <p:nvPr/>
        </p:nvSpPr>
        <p:spPr>
          <a:xfrm>
            <a:off x="5133153" y="2527028"/>
            <a:ext cx="1951175" cy="461665"/>
          </a:xfrm>
          <a:prstGeom prst="rect">
            <a:avLst/>
          </a:prstGeom>
          <a:noFill/>
        </p:spPr>
        <p:txBody>
          <a:bodyPr wrap="none" rtlCol="0">
            <a:spAutoFit/>
          </a:bodyPr>
          <a:lstStyle/>
          <a:p>
            <a:pPr algn="just"/>
            <a:r>
              <a:rPr lang="en-US" altLang="zh-CN" sz="2400" dirty="0"/>
              <a:t>C a number of</a:t>
            </a:r>
            <a:endParaRPr lang="zh-CN" altLang="en-US" sz="2400" dirty="0"/>
          </a:p>
        </p:txBody>
      </p:sp>
      <p:sp>
        <p:nvSpPr>
          <p:cNvPr id="27" name="文本框 26"/>
          <p:cNvSpPr txBox="1"/>
          <p:nvPr/>
        </p:nvSpPr>
        <p:spPr>
          <a:xfrm>
            <a:off x="5133153" y="3028718"/>
            <a:ext cx="1199303" cy="461665"/>
          </a:xfrm>
          <a:prstGeom prst="rect">
            <a:avLst/>
          </a:prstGeom>
          <a:noFill/>
        </p:spPr>
        <p:txBody>
          <a:bodyPr wrap="none" rtlCol="0">
            <a:spAutoFit/>
          </a:bodyPr>
          <a:lstStyle/>
          <a:p>
            <a:pPr algn="just"/>
            <a:r>
              <a:rPr lang="en-US" altLang="zh-CN" sz="2400" dirty="0"/>
              <a:t>G forbid</a:t>
            </a:r>
            <a:endParaRPr lang="zh-CN" altLang="en-US" sz="2400" dirty="0"/>
          </a:p>
        </p:txBody>
      </p:sp>
      <p:sp>
        <p:nvSpPr>
          <p:cNvPr id="28" name="文本框 27"/>
          <p:cNvSpPr txBox="1"/>
          <p:nvPr/>
        </p:nvSpPr>
        <p:spPr>
          <a:xfrm>
            <a:off x="7381155" y="2527028"/>
            <a:ext cx="1317990" cy="461665"/>
          </a:xfrm>
          <a:prstGeom prst="rect">
            <a:avLst/>
          </a:prstGeom>
          <a:noFill/>
        </p:spPr>
        <p:txBody>
          <a:bodyPr wrap="none" rtlCol="0">
            <a:spAutoFit/>
          </a:bodyPr>
          <a:lstStyle/>
          <a:p>
            <a:pPr algn="just"/>
            <a:r>
              <a:rPr lang="en-US" altLang="zh-CN" sz="2400" dirty="0"/>
              <a:t>D unified</a:t>
            </a:r>
            <a:endParaRPr lang="zh-CN" altLang="en-US" sz="2400" dirty="0"/>
          </a:p>
        </p:txBody>
      </p:sp>
      <p:sp>
        <p:nvSpPr>
          <p:cNvPr id="29" name="文本框 28"/>
          <p:cNvSpPr txBox="1"/>
          <p:nvPr/>
        </p:nvSpPr>
        <p:spPr>
          <a:xfrm>
            <a:off x="7381155" y="3028718"/>
            <a:ext cx="1112805" cy="461665"/>
          </a:xfrm>
          <a:prstGeom prst="rect">
            <a:avLst/>
          </a:prstGeom>
          <a:noFill/>
        </p:spPr>
        <p:txBody>
          <a:bodyPr wrap="none" rtlCol="0">
            <a:spAutoFit/>
          </a:bodyPr>
          <a:lstStyle/>
          <a:p>
            <a:pPr algn="just"/>
            <a:r>
              <a:rPr lang="en-US" altLang="zh-CN" sz="2400" dirty="0"/>
              <a:t>H killed</a:t>
            </a:r>
            <a:endParaRPr lang="zh-CN" altLang="en-US" sz="2400" dirty="0"/>
          </a:p>
        </p:txBody>
      </p:sp>
      <p:sp>
        <p:nvSpPr>
          <p:cNvPr id="33" name="文本框 32"/>
          <p:cNvSpPr txBox="1"/>
          <p:nvPr/>
        </p:nvSpPr>
        <p:spPr>
          <a:xfrm>
            <a:off x="577066" y="3523865"/>
            <a:ext cx="1066318" cy="461665"/>
          </a:xfrm>
          <a:prstGeom prst="rect">
            <a:avLst/>
          </a:prstGeom>
          <a:noFill/>
        </p:spPr>
        <p:txBody>
          <a:bodyPr wrap="none" rtlCol="0">
            <a:spAutoFit/>
          </a:bodyPr>
          <a:lstStyle/>
          <a:p>
            <a:pPr algn="just"/>
            <a:r>
              <a:rPr lang="en-US" altLang="zh-CN" sz="2400" dirty="0"/>
              <a:t>I about</a:t>
            </a:r>
            <a:endParaRPr lang="zh-CN" altLang="en-US" sz="2400" dirty="0"/>
          </a:p>
        </p:txBody>
      </p:sp>
      <p:sp>
        <p:nvSpPr>
          <p:cNvPr id="34" name="文本框 33"/>
          <p:cNvSpPr txBox="1"/>
          <p:nvPr/>
        </p:nvSpPr>
        <p:spPr>
          <a:xfrm>
            <a:off x="3099183" y="3522689"/>
            <a:ext cx="1329146" cy="461665"/>
          </a:xfrm>
          <a:prstGeom prst="rect">
            <a:avLst/>
          </a:prstGeom>
          <a:noFill/>
        </p:spPr>
        <p:txBody>
          <a:bodyPr wrap="none" rtlCol="0">
            <a:spAutoFit/>
          </a:bodyPr>
          <a:lstStyle/>
          <a:p>
            <a:pPr algn="just"/>
            <a:r>
              <a:rPr lang="en-US" altLang="zh-CN" sz="2400" dirty="0"/>
              <a:t>J focused</a:t>
            </a:r>
            <a:endParaRPr lang="zh-CN" altLang="en-US" sz="2400" dirty="0"/>
          </a:p>
        </p:txBody>
      </p:sp>
      <p:sp>
        <p:nvSpPr>
          <p:cNvPr id="42" name="文本框 41"/>
          <p:cNvSpPr txBox="1"/>
          <p:nvPr/>
        </p:nvSpPr>
        <p:spPr>
          <a:xfrm>
            <a:off x="366165" y="4435497"/>
            <a:ext cx="1757665" cy="1938992"/>
          </a:xfrm>
          <a:prstGeom prst="rect">
            <a:avLst/>
          </a:prstGeom>
          <a:noFill/>
        </p:spPr>
        <p:txBody>
          <a:bodyPr wrap="square" rtlCol="0">
            <a:spAutoFit/>
          </a:bodyPr>
          <a:lstStyle/>
          <a:p>
            <a:r>
              <a:rPr lang="en-US" altLang="zh-CN" sz="2400" dirty="0"/>
              <a:t>____</a:t>
            </a:r>
            <a:r>
              <a:rPr lang="en-US" altLang="zh-CN" sz="2400" b="1" dirty="0">
                <a:solidFill>
                  <a:srgbClr val="D2553C"/>
                </a:solidFill>
              </a:rPr>
              <a:t> </a:t>
            </a:r>
            <a:r>
              <a:rPr lang="en-US" altLang="zh-CN" sz="2400" b="1" dirty="0">
                <a:solidFill>
                  <a:srgbClr val="C6383E"/>
                </a:solidFill>
              </a:rPr>
              <a:t>1</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2</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3</a:t>
            </a:r>
          </a:p>
        </p:txBody>
      </p:sp>
      <p:sp>
        <p:nvSpPr>
          <p:cNvPr id="43" name="文本框 42"/>
          <p:cNvSpPr txBox="1"/>
          <p:nvPr/>
        </p:nvSpPr>
        <p:spPr>
          <a:xfrm>
            <a:off x="1343025" y="4435497"/>
            <a:ext cx="7549275" cy="1938992"/>
          </a:xfrm>
          <a:prstGeom prst="rect">
            <a:avLst/>
          </a:prstGeom>
          <a:noFill/>
        </p:spPr>
        <p:txBody>
          <a:bodyPr wrap="square" rtlCol="0">
            <a:spAutoFit/>
          </a:bodyPr>
          <a:lstStyle/>
          <a:p>
            <a:pPr algn="just"/>
            <a:r>
              <a:rPr lang="en-US" altLang="zh-CN" sz="2400" spc="-30" dirty="0"/>
              <a:t>The Shang dynasty ruled China from </a:t>
            </a:r>
            <a:r>
              <a:rPr lang="en-US" altLang="zh-CN" sz="2400" u="sng" spc="-30" dirty="0"/>
              <a:t>approximately</a:t>
            </a:r>
            <a:r>
              <a:rPr lang="en-US" altLang="zh-CN" sz="2400" spc="-30" dirty="0"/>
              <a:t> 1600 BCE</a:t>
            </a:r>
            <a:r>
              <a:rPr lang="en-US" altLang="zh-CN" sz="2400" dirty="0"/>
              <a:t> to about 1046 BCE.</a:t>
            </a:r>
          </a:p>
          <a:p>
            <a:pPr algn="just"/>
            <a:r>
              <a:rPr lang="en-US" altLang="zh-CN" sz="2400" spc="30" dirty="0"/>
              <a:t>Some people were </a:t>
            </a:r>
            <a:r>
              <a:rPr lang="en-US" altLang="zh-CN" sz="2400" u="sng" spc="30" dirty="0"/>
              <a:t>beheaded</a:t>
            </a:r>
            <a:r>
              <a:rPr lang="en-US" altLang="zh-CN" sz="2400" spc="30" dirty="0"/>
              <a:t> first but others were buried</a:t>
            </a:r>
            <a:r>
              <a:rPr lang="en-US" altLang="zh-CN" sz="2400" dirty="0"/>
              <a:t> alive.</a:t>
            </a:r>
          </a:p>
          <a:p>
            <a:pPr algn="just"/>
            <a:r>
              <a:rPr lang="en-US" altLang="zh-CN" sz="2400" dirty="0"/>
              <a:t>Landholding families were </a:t>
            </a:r>
            <a:r>
              <a:rPr lang="en-US" altLang="zh-CN" sz="2400" u="sng" dirty="0"/>
              <a:t>loyal to</a:t>
            </a:r>
            <a:r>
              <a:rPr lang="en-US" altLang="zh-CN" sz="2400" dirty="0"/>
              <a:t> their nobles.</a:t>
            </a:r>
          </a:p>
        </p:txBody>
      </p:sp>
      <p:sp>
        <p:nvSpPr>
          <p:cNvPr id="2" name="文本框 1"/>
          <p:cNvSpPr txBox="1"/>
          <p:nvPr/>
        </p:nvSpPr>
        <p:spPr>
          <a:xfrm>
            <a:off x="631002" y="4439451"/>
            <a:ext cx="261610" cy="461665"/>
          </a:xfrm>
          <a:prstGeom prst="rect">
            <a:avLst/>
          </a:prstGeom>
          <a:noFill/>
        </p:spPr>
        <p:txBody>
          <a:bodyPr wrap="none" rtlCol="0">
            <a:spAutoFit/>
          </a:bodyPr>
          <a:lstStyle/>
          <a:p>
            <a:pPr algn="just"/>
            <a:r>
              <a:rPr lang="en-US" altLang="zh-CN" sz="2400" dirty="0">
                <a:solidFill>
                  <a:srgbClr val="FF0000"/>
                </a:solidFill>
              </a:rPr>
              <a:t>I</a:t>
            </a:r>
            <a:endParaRPr lang="zh-CN" altLang="en-US" sz="2400" dirty="0">
              <a:solidFill>
                <a:srgbClr val="FF0000"/>
              </a:solidFill>
            </a:endParaRPr>
          </a:p>
        </p:txBody>
      </p:sp>
      <p:sp>
        <p:nvSpPr>
          <p:cNvPr id="44" name="文本框 43"/>
          <p:cNvSpPr txBox="1"/>
          <p:nvPr/>
        </p:nvSpPr>
        <p:spPr>
          <a:xfrm>
            <a:off x="573294" y="5174068"/>
            <a:ext cx="377026" cy="461665"/>
          </a:xfrm>
          <a:prstGeom prst="rect">
            <a:avLst/>
          </a:prstGeom>
          <a:noFill/>
        </p:spPr>
        <p:txBody>
          <a:bodyPr wrap="none" rtlCol="0">
            <a:spAutoFit/>
          </a:bodyPr>
          <a:lstStyle/>
          <a:p>
            <a:pPr algn="just"/>
            <a:r>
              <a:rPr lang="en-US" altLang="zh-CN" sz="2400" dirty="0">
                <a:solidFill>
                  <a:srgbClr val="FF0000"/>
                </a:solidFill>
              </a:rPr>
              <a:t>H</a:t>
            </a:r>
            <a:endParaRPr lang="zh-CN" altLang="en-US" sz="2400" dirty="0">
              <a:solidFill>
                <a:srgbClr val="FF0000"/>
              </a:solidFill>
            </a:endParaRPr>
          </a:p>
        </p:txBody>
      </p:sp>
      <p:sp>
        <p:nvSpPr>
          <p:cNvPr id="45" name="文本框 44"/>
          <p:cNvSpPr txBox="1"/>
          <p:nvPr/>
        </p:nvSpPr>
        <p:spPr>
          <a:xfrm>
            <a:off x="594133" y="5905921"/>
            <a:ext cx="335348" cy="461665"/>
          </a:xfrm>
          <a:prstGeom prst="rect">
            <a:avLst/>
          </a:prstGeom>
          <a:noFill/>
        </p:spPr>
        <p:txBody>
          <a:bodyPr wrap="none" rtlCol="0">
            <a:spAutoFit/>
          </a:bodyPr>
          <a:lstStyle/>
          <a:p>
            <a:pPr algn="just"/>
            <a:r>
              <a:rPr lang="en-US" altLang="zh-CN" sz="2400" dirty="0">
                <a:solidFill>
                  <a:srgbClr val="FF0000"/>
                </a:solidFill>
              </a:rPr>
              <a:t>E</a:t>
            </a:r>
            <a:endParaRPr lang="zh-CN" altLang="en-US" sz="2400" dirty="0">
              <a:solidFill>
                <a:srgbClr val="FF0000"/>
              </a:solidFill>
            </a:endParaRPr>
          </a:p>
        </p:txBody>
      </p:sp>
      <p:sp>
        <p:nvSpPr>
          <p:cNvPr id="46" name="矩形 45"/>
          <p:cNvSpPr/>
          <p:nvPr/>
        </p:nvSpPr>
        <p:spPr>
          <a:xfrm>
            <a:off x="464746" y="4509075"/>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64746" y="5240237"/>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463852" y="5970604"/>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a:xfrm>
            <a:off x="577066" y="3025446"/>
            <a:ext cx="1630959"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E faithful to</a:t>
            </a:r>
            <a:endParaRPr lang="zh-CN" altLang="en-US" sz="2400" strike="sngStrike" dirty="0">
              <a:solidFill>
                <a:schemeClr val="bg1">
                  <a:lumMod val="65000"/>
                </a:schemeClr>
              </a:solidFill>
            </a:endParaRPr>
          </a:p>
        </p:txBody>
      </p:sp>
      <p:sp>
        <p:nvSpPr>
          <p:cNvPr id="50" name="文本框 49"/>
          <p:cNvSpPr txBox="1"/>
          <p:nvPr/>
        </p:nvSpPr>
        <p:spPr>
          <a:xfrm>
            <a:off x="7381155" y="3028718"/>
            <a:ext cx="1112805"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H killed</a:t>
            </a:r>
            <a:endParaRPr lang="zh-CN" altLang="en-US" sz="2400" strike="sngStrike" dirty="0">
              <a:solidFill>
                <a:schemeClr val="bg1">
                  <a:lumMod val="65000"/>
                </a:schemeClr>
              </a:solidFill>
            </a:endParaRPr>
          </a:p>
        </p:txBody>
      </p:sp>
      <p:sp>
        <p:nvSpPr>
          <p:cNvPr id="51" name="文本框 50"/>
          <p:cNvSpPr txBox="1"/>
          <p:nvPr/>
        </p:nvSpPr>
        <p:spPr>
          <a:xfrm>
            <a:off x="577066" y="3523865"/>
            <a:ext cx="1066318"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I about</a:t>
            </a:r>
            <a:endParaRPr lang="zh-CN" altLang="en-US" sz="2400" strike="sngStrike" dirty="0">
              <a:solidFill>
                <a:schemeClr val="bg1">
                  <a:lumMod val="65000"/>
                </a:schemeClr>
              </a:solidFill>
            </a:endParaRPr>
          </a:p>
        </p:txBody>
      </p:sp>
    </p:spTree>
    <p:extLst>
      <p:ext uri="{BB962C8B-B14F-4D97-AF65-F5344CB8AC3E}">
        <p14:creationId xmlns:p14="http://schemas.microsoft.com/office/powerpoint/2010/main" val="329808334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childTnLst>
              </p:cTn>
              <p:nextCondLst>
                <p:cond evt="onClick" delay="0">
                  <p:tgtEl>
                    <p:spTgt spid="46"/>
                  </p:tgtEl>
                </p:cond>
              </p:nextCondLst>
            </p:seq>
            <p:seq concurrent="1" nextAc="seek">
              <p:cTn id="9" restart="whenNotActive" fill="hold" evtFilter="cancelBubble" nodeType="interactiveSeq">
                <p:stCondLst>
                  <p:cond evt="onClick" delay="0">
                    <p:tgtEl>
                      <p:spTgt spid="47"/>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par>
                                <p:cTn id="14" presetID="1" presetClass="entr" presetSubtype="0"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childTnLst>
              </p:cTn>
              <p:nextCondLst>
                <p:cond evt="onClick" delay="0">
                  <p:tgtEl>
                    <p:spTgt spid="47"/>
                  </p:tgtEl>
                </p:cond>
              </p:nextCondLst>
            </p:seq>
            <p:seq concurrent="1" nextAc="seek">
              <p:cTn id="16" restart="whenNotActive" fill="hold" evtFilter="cancelBubble" nodeType="interactiveSeq">
                <p:stCondLst>
                  <p:cond evt="onClick" delay="0">
                    <p:tgtEl>
                      <p:spTgt spid="48"/>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childTnLst>
                                  <p:subTnLst>
                                    <p:set>
                                      <p:cBhvr override="childStyle">
                                        <p:cTn dur="1" fill="hold" display="0" masterRel="nextClick" afterEffect="1"/>
                                        <p:tgtEl>
                                          <p:spTgt spid="49"/>
                                        </p:tgtEl>
                                        <p:attrNameLst>
                                          <p:attrName>style.visibility</p:attrName>
                                        </p:attrNameLst>
                                      </p:cBhvr>
                                      <p:to>
                                        <p:strVal val="hidden"/>
                                      </p:to>
                                    </p:set>
                                  </p:subTnLst>
                                </p:cTn>
                              </p:par>
                            </p:childTnLst>
                          </p:cTn>
                        </p:par>
                      </p:childTnLst>
                    </p:cTn>
                  </p:par>
                </p:childTnLst>
              </p:cTn>
              <p:nextCondLst>
                <p:cond evt="onClick" delay="0">
                  <p:tgtEl>
                    <p:spTgt spid="48"/>
                  </p:tgtEl>
                </p:cond>
              </p:nextCondLst>
            </p:seq>
          </p:childTnLst>
        </p:cTn>
      </p:par>
    </p:tnLst>
    <p:bldLst>
      <p:bldP spid="2" grpId="0"/>
      <p:bldP spid="44" grpId="0"/>
      <p:bldP spid="45" grpId="0"/>
      <p:bldP spid="49" grpId="0" animBg="1"/>
      <p:bldP spid="50" grpId="0" animBg="1"/>
      <p:bldP spid="51"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467715" y="1289170"/>
            <a:ext cx="8323860" cy="1671010"/>
          </a:xfrm>
          <a:prstGeom prst="roundRect">
            <a:avLst>
              <a:gd name="adj" fmla="val 9889"/>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577066" y="1395268"/>
            <a:ext cx="2225289" cy="461665"/>
          </a:xfrm>
          <a:prstGeom prst="rect">
            <a:avLst/>
          </a:prstGeom>
          <a:noFill/>
        </p:spPr>
        <p:txBody>
          <a:bodyPr wrap="none" rtlCol="0">
            <a:spAutoFit/>
          </a:bodyPr>
          <a:lstStyle/>
          <a:p>
            <a:pPr algn="just"/>
            <a:r>
              <a:rPr lang="en-US" altLang="zh-CN" sz="2400" dirty="0"/>
              <a:t>A meddling with</a:t>
            </a:r>
            <a:endParaRPr lang="zh-CN" altLang="en-US" sz="2400" dirty="0"/>
          </a:p>
        </p:txBody>
      </p:sp>
      <p:sp>
        <p:nvSpPr>
          <p:cNvPr id="19" name="文本框 18"/>
          <p:cNvSpPr txBox="1"/>
          <p:nvPr/>
        </p:nvSpPr>
        <p:spPr>
          <a:xfrm>
            <a:off x="577066" y="1893686"/>
            <a:ext cx="1630959" cy="461665"/>
          </a:xfrm>
          <a:prstGeom prst="rect">
            <a:avLst/>
          </a:prstGeom>
          <a:noFill/>
        </p:spPr>
        <p:txBody>
          <a:bodyPr wrap="none" rtlCol="0">
            <a:spAutoFit/>
          </a:bodyPr>
          <a:lstStyle/>
          <a:p>
            <a:pPr algn="just"/>
            <a:r>
              <a:rPr lang="en-US" altLang="zh-CN" sz="2400" strike="sngStrike" dirty="0">
                <a:solidFill>
                  <a:schemeClr val="bg1">
                    <a:lumMod val="65000"/>
                  </a:schemeClr>
                </a:solidFill>
              </a:rPr>
              <a:t>E faithful to</a:t>
            </a:r>
            <a:endParaRPr lang="zh-CN" altLang="en-US" sz="2400" strike="sngStrike" dirty="0">
              <a:solidFill>
                <a:schemeClr val="bg1">
                  <a:lumMod val="65000"/>
                </a:schemeClr>
              </a:solidFill>
            </a:endParaRPr>
          </a:p>
        </p:txBody>
      </p:sp>
      <p:sp>
        <p:nvSpPr>
          <p:cNvPr id="20" name="文本框 19"/>
          <p:cNvSpPr txBox="1"/>
          <p:nvPr/>
        </p:nvSpPr>
        <p:spPr>
          <a:xfrm>
            <a:off x="3099183" y="1395268"/>
            <a:ext cx="1737142" cy="461665"/>
          </a:xfrm>
          <a:prstGeom prst="rect">
            <a:avLst/>
          </a:prstGeom>
          <a:noFill/>
        </p:spPr>
        <p:txBody>
          <a:bodyPr wrap="none" rtlCol="0">
            <a:spAutoFit/>
          </a:bodyPr>
          <a:lstStyle/>
          <a:p>
            <a:pPr algn="just"/>
            <a:r>
              <a:rPr lang="en-US" altLang="zh-CN" sz="2400" dirty="0"/>
              <a:t>B attempted</a:t>
            </a:r>
            <a:endParaRPr lang="zh-CN" altLang="en-US" sz="2400" dirty="0"/>
          </a:p>
        </p:txBody>
      </p:sp>
      <p:sp>
        <p:nvSpPr>
          <p:cNvPr id="21" name="文本框 20"/>
          <p:cNvSpPr txBox="1"/>
          <p:nvPr/>
        </p:nvSpPr>
        <p:spPr>
          <a:xfrm>
            <a:off x="3099183" y="1896958"/>
            <a:ext cx="1526380" cy="461665"/>
          </a:xfrm>
          <a:prstGeom prst="rect">
            <a:avLst/>
          </a:prstGeom>
          <a:noFill/>
        </p:spPr>
        <p:txBody>
          <a:bodyPr wrap="none" rtlCol="0">
            <a:spAutoFit/>
          </a:bodyPr>
          <a:lstStyle/>
          <a:p>
            <a:pPr algn="just"/>
            <a:r>
              <a:rPr lang="en-US" altLang="zh-CN" sz="2400" dirty="0"/>
              <a:t>F occupied</a:t>
            </a:r>
            <a:endParaRPr lang="zh-CN" altLang="en-US" sz="2400" dirty="0"/>
          </a:p>
        </p:txBody>
      </p:sp>
      <p:sp>
        <p:nvSpPr>
          <p:cNvPr id="22" name="文本框 21"/>
          <p:cNvSpPr txBox="1"/>
          <p:nvPr/>
        </p:nvSpPr>
        <p:spPr>
          <a:xfrm>
            <a:off x="5133153" y="1395268"/>
            <a:ext cx="1951175" cy="461665"/>
          </a:xfrm>
          <a:prstGeom prst="rect">
            <a:avLst/>
          </a:prstGeom>
          <a:noFill/>
        </p:spPr>
        <p:txBody>
          <a:bodyPr wrap="none" rtlCol="0">
            <a:spAutoFit/>
          </a:bodyPr>
          <a:lstStyle/>
          <a:p>
            <a:pPr algn="just"/>
            <a:r>
              <a:rPr lang="en-US" altLang="zh-CN" sz="2400" dirty="0"/>
              <a:t>C a number of</a:t>
            </a:r>
            <a:endParaRPr lang="zh-CN" altLang="en-US" sz="2400" dirty="0"/>
          </a:p>
        </p:txBody>
      </p:sp>
      <p:sp>
        <p:nvSpPr>
          <p:cNvPr id="23" name="文本框 22"/>
          <p:cNvSpPr txBox="1"/>
          <p:nvPr/>
        </p:nvSpPr>
        <p:spPr>
          <a:xfrm>
            <a:off x="5133153" y="1896958"/>
            <a:ext cx="1199303" cy="461665"/>
          </a:xfrm>
          <a:prstGeom prst="rect">
            <a:avLst/>
          </a:prstGeom>
          <a:noFill/>
        </p:spPr>
        <p:txBody>
          <a:bodyPr wrap="none" rtlCol="0">
            <a:spAutoFit/>
          </a:bodyPr>
          <a:lstStyle/>
          <a:p>
            <a:pPr algn="just"/>
            <a:r>
              <a:rPr lang="en-US" altLang="zh-CN" sz="2400" dirty="0"/>
              <a:t>G forbid</a:t>
            </a:r>
            <a:endParaRPr lang="zh-CN" altLang="en-US" sz="2400" dirty="0"/>
          </a:p>
        </p:txBody>
      </p:sp>
      <p:sp>
        <p:nvSpPr>
          <p:cNvPr id="24" name="文本框 23"/>
          <p:cNvSpPr txBox="1"/>
          <p:nvPr/>
        </p:nvSpPr>
        <p:spPr>
          <a:xfrm>
            <a:off x="7381155" y="1395268"/>
            <a:ext cx="1317990" cy="461665"/>
          </a:xfrm>
          <a:prstGeom prst="rect">
            <a:avLst/>
          </a:prstGeom>
          <a:noFill/>
        </p:spPr>
        <p:txBody>
          <a:bodyPr wrap="none" rtlCol="0">
            <a:spAutoFit/>
          </a:bodyPr>
          <a:lstStyle/>
          <a:p>
            <a:pPr algn="just"/>
            <a:r>
              <a:rPr lang="en-US" altLang="zh-CN" sz="2400" dirty="0"/>
              <a:t>D unified</a:t>
            </a:r>
            <a:endParaRPr lang="zh-CN" altLang="en-US" sz="2400" dirty="0"/>
          </a:p>
        </p:txBody>
      </p:sp>
      <p:sp>
        <p:nvSpPr>
          <p:cNvPr id="25" name="文本框 24"/>
          <p:cNvSpPr txBox="1"/>
          <p:nvPr/>
        </p:nvSpPr>
        <p:spPr>
          <a:xfrm>
            <a:off x="7381155" y="1896958"/>
            <a:ext cx="1112805" cy="461665"/>
          </a:xfrm>
          <a:prstGeom prst="rect">
            <a:avLst/>
          </a:prstGeom>
          <a:noFill/>
        </p:spPr>
        <p:txBody>
          <a:bodyPr wrap="none" rtlCol="0">
            <a:spAutoFit/>
          </a:bodyPr>
          <a:lstStyle/>
          <a:p>
            <a:pPr algn="just"/>
            <a:r>
              <a:rPr lang="en-US" altLang="zh-CN" sz="2400" strike="sngStrike" dirty="0">
                <a:solidFill>
                  <a:schemeClr val="bg1">
                    <a:lumMod val="65000"/>
                  </a:schemeClr>
                </a:solidFill>
              </a:rPr>
              <a:t>H killed</a:t>
            </a:r>
            <a:endParaRPr lang="zh-CN" altLang="en-US" sz="2400" strike="sngStrike" dirty="0">
              <a:solidFill>
                <a:schemeClr val="bg1">
                  <a:lumMod val="65000"/>
                </a:schemeClr>
              </a:solidFill>
            </a:endParaRPr>
          </a:p>
        </p:txBody>
      </p:sp>
      <p:sp>
        <p:nvSpPr>
          <p:cNvPr id="26" name="文本框 25"/>
          <p:cNvSpPr txBox="1"/>
          <p:nvPr/>
        </p:nvSpPr>
        <p:spPr>
          <a:xfrm>
            <a:off x="577066" y="2392105"/>
            <a:ext cx="1066318" cy="461665"/>
          </a:xfrm>
          <a:prstGeom prst="rect">
            <a:avLst/>
          </a:prstGeom>
          <a:noFill/>
        </p:spPr>
        <p:txBody>
          <a:bodyPr wrap="none" rtlCol="0">
            <a:spAutoFit/>
          </a:bodyPr>
          <a:lstStyle/>
          <a:p>
            <a:pPr algn="just"/>
            <a:r>
              <a:rPr lang="en-US" altLang="zh-CN" sz="2400" strike="sngStrike" dirty="0">
                <a:solidFill>
                  <a:schemeClr val="bg1">
                    <a:lumMod val="65000"/>
                  </a:schemeClr>
                </a:solidFill>
              </a:rPr>
              <a:t>I about</a:t>
            </a:r>
            <a:endParaRPr lang="zh-CN" altLang="en-US" sz="2400" strike="sngStrike" dirty="0">
              <a:solidFill>
                <a:schemeClr val="bg1">
                  <a:lumMod val="65000"/>
                </a:schemeClr>
              </a:solidFill>
            </a:endParaRPr>
          </a:p>
        </p:txBody>
      </p:sp>
      <p:sp>
        <p:nvSpPr>
          <p:cNvPr id="27" name="文本框 26"/>
          <p:cNvSpPr txBox="1"/>
          <p:nvPr/>
        </p:nvSpPr>
        <p:spPr>
          <a:xfrm>
            <a:off x="3099183" y="2390929"/>
            <a:ext cx="1329146" cy="461665"/>
          </a:xfrm>
          <a:prstGeom prst="rect">
            <a:avLst/>
          </a:prstGeom>
          <a:noFill/>
        </p:spPr>
        <p:txBody>
          <a:bodyPr wrap="none" rtlCol="0">
            <a:spAutoFit/>
          </a:bodyPr>
          <a:lstStyle/>
          <a:p>
            <a:pPr algn="just"/>
            <a:r>
              <a:rPr lang="en-US" altLang="zh-CN" sz="2400" dirty="0"/>
              <a:t>J focused</a:t>
            </a:r>
            <a:endParaRPr lang="zh-CN" altLang="en-US" sz="2400" dirty="0"/>
          </a:p>
        </p:txBody>
      </p:sp>
      <p:sp>
        <p:nvSpPr>
          <p:cNvPr id="28" name="文本框 27"/>
          <p:cNvSpPr txBox="1"/>
          <p:nvPr/>
        </p:nvSpPr>
        <p:spPr>
          <a:xfrm>
            <a:off x="366165" y="3334217"/>
            <a:ext cx="1757665" cy="3046988"/>
          </a:xfrm>
          <a:prstGeom prst="rect">
            <a:avLst/>
          </a:prstGeom>
          <a:noFill/>
        </p:spPr>
        <p:txBody>
          <a:bodyPr wrap="square" rtlCol="0">
            <a:spAutoFit/>
          </a:bodyPr>
          <a:lstStyle/>
          <a:p>
            <a:r>
              <a:rPr lang="en-US" altLang="zh-CN" sz="2400" dirty="0"/>
              <a:t>____</a:t>
            </a:r>
            <a:r>
              <a:rPr lang="en-US" altLang="zh-CN" sz="2400" b="1" dirty="0">
                <a:solidFill>
                  <a:srgbClr val="D2553C"/>
                </a:solidFill>
              </a:rPr>
              <a:t> </a:t>
            </a:r>
            <a:r>
              <a:rPr lang="en-US" altLang="zh-CN" sz="2400" b="1" dirty="0">
                <a:solidFill>
                  <a:srgbClr val="C6383E"/>
                </a:solidFill>
              </a:rPr>
              <a:t>4</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5</a:t>
            </a:r>
          </a:p>
          <a:p>
            <a:endParaRPr lang="en-US" altLang="zh-CN" sz="2400" b="1" dirty="0">
              <a:solidFill>
                <a:srgbClr val="D2553C"/>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6</a:t>
            </a:r>
          </a:p>
          <a:p>
            <a:r>
              <a:rPr lang="en-US" altLang="zh-CN" sz="2400" dirty="0"/>
              <a:t>____</a:t>
            </a:r>
            <a:r>
              <a:rPr lang="en-US" altLang="zh-CN" sz="2400" b="1" dirty="0">
                <a:solidFill>
                  <a:srgbClr val="D2553C"/>
                </a:solidFill>
              </a:rPr>
              <a:t> </a:t>
            </a:r>
            <a:r>
              <a:rPr lang="en-US" altLang="zh-CN" sz="2400" b="1" dirty="0">
                <a:solidFill>
                  <a:srgbClr val="C6383E"/>
                </a:solidFill>
              </a:rPr>
              <a:t>7</a:t>
            </a:r>
          </a:p>
          <a:p>
            <a:endParaRPr lang="en-US" altLang="zh-CN" sz="2400" b="1" dirty="0">
              <a:solidFill>
                <a:srgbClr val="C6383E"/>
              </a:solidFill>
            </a:endParaRPr>
          </a:p>
          <a:p>
            <a:r>
              <a:rPr lang="en-US" altLang="zh-CN" sz="2400" dirty="0"/>
              <a:t>____</a:t>
            </a:r>
            <a:r>
              <a:rPr lang="en-US" altLang="zh-CN" sz="2400" b="1" dirty="0">
                <a:solidFill>
                  <a:srgbClr val="D2553C"/>
                </a:solidFill>
              </a:rPr>
              <a:t> </a:t>
            </a:r>
            <a:r>
              <a:rPr lang="en-US" altLang="zh-CN" sz="2400" b="1" dirty="0">
                <a:solidFill>
                  <a:srgbClr val="C6383E"/>
                </a:solidFill>
              </a:rPr>
              <a:t>8</a:t>
            </a:r>
          </a:p>
        </p:txBody>
      </p:sp>
      <p:sp>
        <p:nvSpPr>
          <p:cNvPr id="29" name="文本框 28"/>
          <p:cNvSpPr txBox="1"/>
          <p:nvPr/>
        </p:nvSpPr>
        <p:spPr>
          <a:xfrm>
            <a:off x="1343025" y="3334217"/>
            <a:ext cx="7549275" cy="3416320"/>
          </a:xfrm>
          <a:prstGeom prst="rect">
            <a:avLst/>
          </a:prstGeom>
          <a:noFill/>
        </p:spPr>
        <p:txBody>
          <a:bodyPr wrap="square" rtlCol="0">
            <a:spAutoFit/>
          </a:bodyPr>
          <a:lstStyle/>
          <a:p>
            <a:pPr algn="just"/>
            <a:r>
              <a:rPr lang="en-US" altLang="zh-CN" sz="2400" dirty="0"/>
              <a:t>The Legalists tried to </a:t>
            </a:r>
            <a:r>
              <a:rPr lang="en-US" altLang="zh-CN" sz="2400" u="sng" dirty="0"/>
              <a:t>suppress</a:t>
            </a:r>
            <a:r>
              <a:rPr lang="en-US" altLang="zh-CN" sz="2400" dirty="0"/>
              <a:t> all thoughts that disagreed with their philosophy.</a:t>
            </a:r>
          </a:p>
          <a:p>
            <a:pPr algn="just"/>
            <a:r>
              <a:rPr lang="en-US" altLang="zh-CN" sz="2400" dirty="0"/>
              <a:t>Qin rulers </a:t>
            </a:r>
            <a:r>
              <a:rPr lang="en-US" altLang="zh-CN" sz="2400" u="sng" dirty="0"/>
              <a:t>standardized</a:t>
            </a:r>
            <a:r>
              <a:rPr lang="en-US" altLang="zh-CN" sz="2400" dirty="0"/>
              <a:t> weights and measures and carried out irrigation projects.</a:t>
            </a:r>
          </a:p>
          <a:p>
            <a:pPr algn="just"/>
            <a:r>
              <a:rPr lang="en-US" altLang="zh-CN" sz="2400" dirty="0"/>
              <a:t>By the turn of the century, foreigners had </a:t>
            </a:r>
            <a:r>
              <a:rPr lang="en-US" altLang="zh-CN" sz="2400" u="sng" dirty="0"/>
              <a:t>overrun</a:t>
            </a:r>
            <a:r>
              <a:rPr lang="en-US" altLang="zh-CN" sz="2400" dirty="0"/>
              <a:t> China.</a:t>
            </a:r>
          </a:p>
          <a:p>
            <a:pPr algn="just"/>
            <a:r>
              <a:rPr lang="en-US" altLang="zh-CN" sz="2400" spc="-20" dirty="0"/>
              <a:t>The British defeated the Manchus in </a:t>
            </a:r>
            <a:r>
              <a:rPr lang="en-US" altLang="zh-CN" sz="2400" u="sng" spc="-20" dirty="0"/>
              <a:t>a series of</a:t>
            </a:r>
            <a:r>
              <a:rPr lang="en-US" altLang="zh-CN" sz="2400" spc="-20" dirty="0"/>
              <a:t> conflicts that</a:t>
            </a:r>
            <a:r>
              <a:rPr lang="en-US" altLang="zh-CN" sz="2400" dirty="0"/>
              <a:t> later became known as the Opium Wars.</a:t>
            </a:r>
          </a:p>
          <a:p>
            <a:pPr algn="just"/>
            <a:r>
              <a:rPr lang="en-US" altLang="zh-CN" sz="2400" spc="120" dirty="0"/>
              <a:t>The Manchus were unable to stop other nations from</a:t>
            </a:r>
            <a:r>
              <a:rPr lang="en-US" altLang="zh-CN" sz="2400" dirty="0"/>
              <a:t> </a:t>
            </a:r>
            <a:r>
              <a:rPr lang="en-US" altLang="zh-CN" sz="2400" u="sng" dirty="0"/>
              <a:t>interfering</a:t>
            </a:r>
            <a:r>
              <a:rPr lang="en-US" altLang="zh-CN" sz="2400" dirty="0"/>
              <a:t> with China.</a:t>
            </a:r>
          </a:p>
        </p:txBody>
      </p:sp>
      <p:sp>
        <p:nvSpPr>
          <p:cNvPr id="30" name="文本框 29"/>
          <p:cNvSpPr txBox="1"/>
          <p:nvPr/>
        </p:nvSpPr>
        <p:spPr>
          <a:xfrm>
            <a:off x="571410" y="3334503"/>
            <a:ext cx="378630" cy="461665"/>
          </a:xfrm>
          <a:prstGeom prst="rect">
            <a:avLst/>
          </a:prstGeom>
          <a:noFill/>
        </p:spPr>
        <p:txBody>
          <a:bodyPr wrap="none" rtlCol="0">
            <a:spAutoFit/>
          </a:bodyPr>
          <a:lstStyle/>
          <a:p>
            <a:pPr algn="just"/>
            <a:r>
              <a:rPr lang="en-US" altLang="zh-CN" sz="2400" dirty="0">
                <a:solidFill>
                  <a:srgbClr val="FF0000"/>
                </a:solidFill>
              </a:rPr>
              <a:t>G</a:t>
            </a:r>
            <a:endParaRPr lang="zh-CN" altLang="en-US" sz="2400" dirty="0">
              <a:solidFill>
                <a:srgbClr val="FF0000"/>
              </a:solidFill>
            </a:endParaRPr>
          </a:p>
        </p:txBody>
      </p:sp>
      <p:sp>
        <p:nvSpPr>
          <p:cNvPr id="31" name="文本框 30"/>
          <p:cNvSpPr txBox="1"/>
          <p:nvPr/>
        </p:nvSpPr>
        <p:spPr>
          <a:xfrm>
            <a:off x="573815" y="4072442"/>
            <a:ext cx="373820" cy="461665"/>
          </a:xfrm>
          <a:prstGeom prst="rect">
            <a:avLst/>
          </a:prstGeom>
          <a:noFill/>
        </p:spPr>
        <p:txBody>
          <a:bodyPr wrap="none" rtlCol="0">
            <a:spAutoFit/>
          </a:bodyPr>
          <a:lstStyle/>
          <a:p>
            <a:pPr algn="just"/>
            <a:r>
              <a:rPr lang="en-US" altLang="zh-CN" sz="2400" dirty="0">
                <a:solidFill>
                  <a:srgbClr val="FF0000"/>
                </a:solidFill>
              </a:rPr>
              <a:t>D</a:t>
            </a:r>
            <a:endParaRPr lang="zh-CN" altLang="en-US" sz="2400" dirty="0">
              <a:solidFill>
                <a:srgbClr val="FF0000"/>
              </a:solidFill>
            </a:endParaRPr>
          </a:p>
        </p:txBody>
      </p:sp>
      <p:sp>
        <p:nvSpPr>
          <p:cNvPr id="32" name="文本框 31"/>
          <p:cNvSpPr txBox="1"/>
          <p:nvPr/>
        </p:nvSpPr>
        <p:spPr>
          <a:xfrm>
            <a:off x="597860" y="4799476"/>
            <a:ext cx="325730" cy="461665"/>
          </a:xfrm>
          <a:prstGeom prst="rect">
            <a:avLst/>
          </a:prstGeom>
          <a:noFill/>
        </p:spPr>
        <p:txBody>
          <a:bodyPr wrap="none" rtlCol="0">
            <a:spAutoFit/>
          </a:bodyPr>
          <a:lstStyle/>
          <a:p>
            <a:pPr algn="just"/>
            <a:r>
              <a:rPr lang="en-US" altLang="zh-CN" sz="2400" dirty="0">
                <a:solidFill>
                  <a:srgbClr val="FF0000"/>
                </a:solidFill>
              </a:rPr>
              <a:t>F</a:t>
            </a:r>
            <a:endParaRPr lang="zh-CN" altLang="en-US" sz="2400" dirty="0">
              <a:solidFill>
                <a:srgbClr val="FF0000"/>
              </a:solidFill>
            </a:endParaRPr>
          </a:p>
        </p:txBody>
      </p:sp>
      <p:sp>
        <p:nvSpPr>
          <p:cNvPr id="33" name="文本框 32"/>
          <p:cNvSpPr txBox="1"/>
          <p:nvPr/>
        </p:nvSpPr>
        <p:spPr>
          <a:xfrm>
            <a:off x="586639" y="5169025"/>
            <a:ext cx="348172" cy="461665"/>
          </a:xfrm>
          <a:prstGeom prst="rect">
            <a:avLst/>
          </a:prstGeom>
          <a:noFill/>
        </p:spPr>
        <p:txBody>
          <a:bodyPr wrap="none" rtlCol="0">
            <a:spAutoFit/>
          </a:bodyPr>
          <a:lstStyle/>
          <a:p>
            <a:pPr algn="just"/>
            <a:r>
              <a:rPr lang="en-US" altLang="zh-CN" sz="2400" dirty="0">
                <a:solidFill>
                  <a:srgbClr val="FF0000"/>
                </a:solidFill>
              </a:rPr>
              <a:t>C</a:t>
            </a:r>
            <a:endParaRPr lang="zh-CN" altLang="en-US" sz="2400" dirty="0">
              <a:solidFill>
                <a:srgbClr val="FF0000"/>
              </a:solidFill>
            </a:endParaRPr>
          </a:p>
        </p:txBody>
      </p:sp>
      <p:sp>
        <p:nvSpPr>
          <p:cNvPr id="34" name="文本框 33"/>
          <p:cNvSpPr txBox="1"/>
          <p:nvPr/>
        </p:nvSpPr>
        <p:spPr>
          <a:xfrm>
            <a:off x="579425" y="5899399"/>
            <a:ext cx="362600" cy="461665"/>
          </a:xfrm>
          <a:prstGeom prst="rect">
            <a:avLst/>
          </a:prstGeom>
          <a:noFill/>
        </p:spPr>
        <p:txBody>
          <a:bodyPr wrap="none" rtlCol="0">
            <a:spAutoFit/>
          </a:bodyPr>
          <a:lstStyle/>
          <a:p>
            <a:pPr algn="just"/>
            <a:r>
              <a:rPr lang="en-US" altLang="zh-CN" sz="2400" dirty="0">
                <a:solidFill>
                  <a:srgbClr val="FF0000"/>
                </a:solidFill>
              </a:rPr>
              <a:t>A</a:t>
            </a:r>
            <a:endParaRPr lang="zh-CN" altLang="en-US" sz="2400" dirty="0">
              <a:solidFill>
                <a:srgbClr val="FF0000"/>
              </a:solidFill>
            </a:endParaRPr>
          </a:p>
        </p:txBody>
      </p:sp>
      <p:sp>
        <p:nvSpPr>
          <p:cNvPr id="35" name="矩形 34"/>
          <p:cNvSpPr/>
          <p:nvPr/>
        </p:nvSpPr>
        <p:spPr>
          <a:xfrm>
            <a:off x="467715" y="3407679"/>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462770" y="4137145"/>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462770" y="4869747"/>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p:cNvSpPr/>
          <p:nvPr/>
        </p:nvSpPr>
        <p:spPr>
          <a:xfrm>
            <a:off x="462770" y="5237696"/>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462770" y="5965585"/>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40" name="文本框 39"/>
          <p:cNvSpPr txBox="1"/>
          <p:nvPr/>
        </p:nvSpPr>
        <p:spPr>
          <a:xfrm>
            <a:off x="577066" y="1395268"/>
            <a:ext cx="2225289"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A meddling with</a:t>
            </a:r>
            <a:endParaRPr lang="zh-CN" altLang="en-US" sz="2400" strike="sngStrike" dirty="0">
              <a:solidFill>
                <a:schemeClr val="bg1">
                  <a:lumMod val="65000"/>
                </a:schemeClr>
              </a:solidFill>
            </a:endParaRPr>
          </a:p>
        </p:txBody>
      </p:sp>
      <p:sp>
        <p:nvSpPr>
          <p:cNvPr id="41" name="文本框 40"/>
          <p:cNvSpPr txBox="1"/>
          <p:nvPr/>
        </p:nvSpPr>
        <p:spPr>
          <a:xfrm>
            <a:off x="3099183" y="1896958"/>
            <a:ext cx="1526380"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F occupied</a:t>
            </a:r>
            <a:endParaRPr lang="zh-CN" altLang="en-US" sz="2400" strike="sngStrike" dirty="0">
              <a:solidFill>
                <a:schemeClr val="bg1">
                  <a:lumMod val="65000"/>
                </a:schemeClr>
              </a:solidFill>
            </a:endParaRPr>
          </a:p>
        </p:txBody>
      </p:sp>
      <p:sp>
        <p:nvSpPr>
          <p:cNvPr id="42" name="文本框 41"/>
          <p:cNvSpPr txBox="1"/>
          <p:nvPr/>
        </p:nvSpPr>
        <p:spPr>
          <a:xfrm>
            <a:off x="5133153" y="1395268"/>
            <a:ext cx="1951175"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C a number of</a:t>
            </a:r>
            <a:endParaRPr lang="zh-CN" altLang="en-US" sz="2400" strike="sngStrike" dirty="0">
              <a:solidFill>
                <a:schemeClr val="bg1">
                  <a:lumMod val="65000"/>
                </a:schemeClr>
              </a:solidFill>
            </a:endParaRPr>
          </a:p>
        </p:txBody>
      </p:sp>
      <p:sp>
        <p:nvSpPr>
          <p:cNvPr id="43" name="文本框 42"/>
          <p:cNvSpPr txBox="1"/>
          <p:nvPr/>
        </p:nvSpPr>
        <p:spPr>
          <a:xfrm>
            <a:off x="5133153" y="1896958"/>
            <a:ext cx="1199303"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G forbid</a:t>
            </a:r>
            <a:endParaRPr lang="zh-CN" altLang="en-US" sz="2400" strike="sngStrike" dirty="0">
              <a:solidFill>
                <a:schemeClr val="bg1">
                  <a:lumMod val="65000"/>
                </a:schemeClr>
              </a:solidFill>
            </a:endParaRPr>
          </a:p>
        </p:txBody>
      </p:sp>
      <p:sp>
        <p:nvSpPr>
          <p:cNvPr id="44" name="文本框 43"/>
          <p:cNvSpPr txBox="1"/>
          <p:nvPr/>
        </p:nvSpPr>
        <p:spPr>
          <a:xfrm>
            <a:off x="7381155" y="1395268"/>
            <a:ext cx="1317990" cy="461665"/>
          </a:xfrm>
          <a:prstGeom prst="rect">
            <a:avLst/>
          </a:prstGeom>
          <a:solidFill>
            <a:schemeClr val="bg1"/>
          </a:solidFill>
        </p:spPr>
        <p:txBody>
          <a:bodyPr wrap="none" rtlCol="0">
            <a:spAutoFit/>
          </a:bodyPr>
          <a:lstStyle/>
          <a:p>
            <a:pPr algn="just"/>
            <a:r>
              <a:rPr lang="en-US" altLang="zh-CN" sz="2400" strike="sngStrike" dirty="0">
                <a:solidFill>
                  <a:schemeClr val="bg1">
                    <a:lumMod val="65000"/>
                  </a:schemeClr>
                </a:solidFill>
              </a:rPr>
              <a:t>D unified</a:t>
            </a:r>
            <a:endParaRPr lang="zh-CN" altLang="en-US" sz="2400" strike="sngStrike" dirty="0">
              <a:solidFill>
                <a:schemeClr val="bg1">
                  <a:lumMod val="65000"/>
                </a:schemeClr>
              </a:solidFill>
            </a:endParaRPr>
          </a:p>
        </p:txBody>
      </p:sp>
      <p:pic>
        <p:nvPicPr>
          <p:cNvPr id="45"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spTree>
    <p:extLst>
      <p:ext uri="{BB962C8B-B14F-4D97-AF65-F5344CB8AC3E}">
        <p14:creationId xmlns:p14="http://schemas.microsoft.com/office/powerpoint/2010/main" val="198139256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5"/>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childTnLst>
              </p:cTn>
              <p:nextCondLst>
                <p:cond evt="onClick" delay="0">
                  <p:tgtEl>
                    <p:spTgt spid="35"/>
                  </p:tgtEl>
                </p:cond>
              </p:nextCondLst>
            </p:seq>
            <p:seq concurrent="1" nextAc="seek">
              <p:cTn id="9" restart="whenNotActive" fill="hold" evtFilter="cancelBubble" nodeType="interactiveSeq">
                <p:stCondLst>
                  <p:cond evt="onClick" delay="0">
                    <p:tgtEl>
                      <p:spTgt spid="36"/>
                    </p:tgtEl>
                  </p:cond>
                </p:stCondLst>
                <p:endSync evt="end" delay="0">
                  <p:rtn val="all"/>
                </p:endSync>
                <p:childTnLst>
                  <p:par>
                    <p:cTn id="10" fill="hold">
                      <p:stCondLst>
                        <p:cond delay="0"/>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par>
                                <p:cTn id="14" presetID="1"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childTnLst>
                                  <p:subTnLst>
                                    <p:set>
                                      <p:cBhvr override="childStyle">
                                        <p:cTn dur="1" fill="hold" display="0" masterRel="nextClick" afterEffect="1"/>
                                        <p:tgtEl>
                                          <p:spTgt spid="44"/>
                                        </p:tgtEl>
                                        <p:attrNameLst>
                                          <p:attrName>style.visibility</p:attrName>
                                        </p:attrNameLst>
                                      </p:cBhvr>
                                      <p:to>
                                        <p:strVal val="hidden"/>
                                      </p:to>
                                    </p:set>
                                  </p:subTnLst>
                                </p:cTn>
                              </p:par>
                            </p:childTnLst>
                          </p:cTn>
                        </p:par>
                      </p:childTnLst>
                    </p:cTn>
                  </p:par>
                </p:childTnLst>
              </p:cTn>
              <p:nextCondLst>
                <p:cond evt="onClick" delay="0">
                  <p:tgtEl>
                    <p:spTgt spid="36"/>
                  </p:tgtEl>
                </p:cond>
              </p:nextCondLst>
            </p:seq>
            <p:seq concurrent="1" nextAc="seek">
              <p:cTn id="16" restart="whenNotActive" fill="hold" evtFilter="cancelBubble" nodeType="interactiveSeq">
                <p:stCondLst>
                  <p:cond evt="onClick" delay="0">
                    <p:tgtEl>
                      <p:spTgt spid="37"/>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childTnLst>
              </p:cTn>
              <p:nextCondLst>
                <p:cond evt="onClick" delay="0">
                  <p:tgtEl>
                    <p:spTgt spid="37"/>
                  </p:tgtEl>
                </p:cond>
              </p:nextCondLst>
            </p:seq>
            <p:seq concurrent="1" nextAc="seek">
              <p:cTn id="23" restart="whenNotActive" fill="hold" evtFilter="cancelBubble" nodeType="interactiveSeq">
                <p:stCondLst>
                  <p:cond evt="onClick" delay="0">
                    <p:tgtEl>
                      <p:spTgt spid="38"/>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par>
                                <p:cTn id="28" presetID="1" presetClass="entr" presetSubtype="0" fill="hold" grpId="0" nodeType="withEffect">
                                  <p:stCondLst>
                                    <p:cond delay="0"/>
                                  </p:stCondLst>
                                  <p:childTnLst>
                                    <p:set>
                                      <p:cBhvr>
                                        <p:cTn id="29" dur="1" fill="hold">
                                          <p:stCondLst>
                                            <p:cond delay="0"/>
                                          </p:stCondLst>
                                        </p:cTn>
                                        <p:tgtEl>
                                          <p:spTgt spid="42"/>
                                        </p:tgtEl>
                                        <p:attrNameLst>
                                          <p:attrName>style.visibility</p:attrName>
                                        </p:attrNameLst>
                                      </p:cBhvr>
                                      <p:to>
                                        <p:strVal val="visible"/>
                                      </p:to>
                                    </p:se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childTnLst>
              </p:cTn>
              <p:nextCondLst>
                <p:cond evt="onClick" delay="0">
                  <p:tgtEl>
                    <p:spTgt spid="38"/>
                  </p:tgtEl>
                </p:cond>
              </p:nextCondLst>
            </p:seq>
            <p:seq concurrent="1" nextAc="seek">
              <p:cTn id="30" restart="whenNotActive" fill="hold" evtFilter="cancelBubble" nodeType="interactiveSeq">
                <p:stCondLst>
                  <p:cond evt="onClick" delay="0">
                    <p:tgtEl>
                      <p:spTgt spid="39"/>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subTnLst>
                                    <p:set>
                                      <p:cBhvr override="childStyle">
                                        <p:cTn dur="1" fill="hold" display="0" masterRel="nextClick" afterEffect="1"/>
                                        <p:tgtEl>
                                          <p:spTgt spid="40"/>
                                        </p:tgtEl>
                                        <p:attrNameLst>
                                          <p:attrName>style.visibility</p:attrName>
                                        </p:attrNameLst>
                                      </p:cBhvr>
                                      <p:to>
                                        <p:strVal val="hidden"/>
                                      </p:to>
                                    </p:set>
                                  </p:subTnLst>
                                </p:cTn>
                              </p:par>
                            </p:childTnLst>
                          </p:cTn>
                        </p:par>
                      </p:childTnLst>
                    </p:cTn>
                  </p:par>
                </p:childTnLst>
              </p:cTn>
              <p:nextCondLst>
                <p:cond evt="onClick" delay="0">
                  <p:tgtEl>
                    <p:spTgt spid="39"/>
                  </p:tgtEl>
                </p:cond>
              </p:nextCondLst>
            </p:seq>
          </p:childTnLst>
        </p:cTn>
      </p:par>
    </p:tnLst>
    <p:bldLst>
      <p:bldP spid="30" grpId="0"/>
      <p:bldP spid="31" grpId="0"/>
      <p:bldP spid="32" grpId="0"/>
      <p:bldP spid="33" grpId="0"/>
      <p:bldP spid="34" grpId="0"/>
      <p:bldP spid="40" grpId="0" animBg="1"/>
      <p:bldP spid="41" grpId="0" animBg="1"/>
      <p:bldP spid="42" grpId="0" animBg="1"/>
      <p:bldP spid="43" grpId="0" animBg="1"/>
      <p:bldP spid="4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0000" y="1133951"/>
            <a:ext cx="8532300" cy="830997"/>
          </a:xfrm>
          <a:prstGeom prst="rect">
            <a:avLst/>
          </a:prstGeom>
          <a:noFill/>
        </p:spPr>
        <p:txBody>
          <a:bodyPr wrap="square" rtlCol="0">
            <a:spAutoFit/>
          </a:bodyPr>
          <a:lstStyle/>
          <a:p>
            <a:pPr algn="just"/>
            <a:r>
              <a:rPr lang="en-US" altLang="zh-CN" sz="2400" b="1" dirty="0">
                <a:solidFill>
                  <a:srgbClr val="C6383E"/>
                </a:solidFill>
              </a:rPr>
              <a:t>Task 1</a:t>
            </a:r>
          </a:p>
          <a:p>
            <a:pPr algn="just"/>
            <a:r>
              <a:rPr lang="en-US" altLang="zh-CN" sz="2400" spc="-10" dirty="0">
                <a:latin typeface="Cambria" panose="02040503050406030204" pitchFamily="18" charset="0"/>
                <a:ea typeface="Cambria" panose="02040503050406030204" pitchFamily="18" charset="0"/>
              </a:rPr>
              <a:t>Match the English expressions with their Chinese equivalents.</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0" name="文本框 9"/>
          <p:cNvSpPr txBox="1"/>
          <p:nvPr/>
        </p:nvSpPr>
        <p:spPr>
          <a:xfrm>
            <a:off x="366165" y="2132910"/>
            <a:ext cx="1757665" cy="4049635"/>
          </a:xfrm>
          <a:prstGeom prst="rect">
            <a:avLst/>
          </a:prstGeom>
          <a:noFill/>
        </p:spPr>
        <p:txBody>
          <a:bodyPr wrap="square" rtlCol="0">
            <a:spAutoFit/>
          </a:bodyPr>
          <a:lstStyle/>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1</a:t>
            </a:r>
            <a:endParaRPr lang="en-US" altLang="zh-CN" sz="2400" b="1" dirty="0">
              <a:solidFill>
                <a:srgbClr val="D2553C"/>
              </a:solidFill>
            </a:endParaRP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2</a:t>
            </a:r>
            <a:endParaRPr lang="en-US" altLang="zh-CN" sz="2400" b="1" dirty="0">
              <a:solidFill>
                <a:srgbClr val="D2553C"/>
              </a:solidFill>
            </a:endParaRP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3</a:t>
            </a: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4</a:t>
            </a:r>
            <a:endParaRPr lang="en-US" altLang="zh-CN" sz="2400" b="1" dirty="0">
              <a:solidFill>
                <a:srgbClr val="D2553C"/>
              </a:solidFill>
            </a:endParaRP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5</a:t>
            </a:r>
            <a:endParaRPr lang="en-US" altLang="zh-CN" sz="2400" b="1" dirty="0">
              <a:solidFill>
                <a:srgbClr val="D2553C"/>
              </a:solidFill>
            </a:endParaRP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6</a:t>
            </a: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7</a:t>
            </a:r>
            <a:endParaRPr lang="en-US" altLang="zh-CN" sz="2400" b="1" dirty="0">
              <a:solidFill>
                <a:srgbClr val="D2553C"/>
              </a:solidFill>
            </a:endParaRPr>
          </a:p>
          <a:p>
            <a:pPr>
              <a:lnSpc>
                <a:spcPts val="3880"/>
              </a:lnSpc>
            </a:pPr>
            <a:r>
              <a:rPr lang="en-US" altLang="zh-CN" sz="2400" dirty="0"/>
              <a:t>____</a:t>
            </a:r>
            <a:r>
              <a:rPr lang="en-US" altLang="zh-CN" sz="2400" b="1" dirty="0">
                <a:solidFill>
                  <a:srgbClr val="D2553C"/>
                </a:solidFill>
              </a:rPr>
              <a:t> </a:t>
            </a:r>
            <a:r>
              <a:rPr lang="en-US" altLang="zh-CN" sz="2400" b="1" dirty="0">
                <a:solidFill>
                  <a:srgbClr val="C6383E"/>
                </a:solidFill>
              </a:rPr>
              <a:t>8</a:t>
            </a:r>
          </a:p>
        </p:txBody>
      </p:sp>
      <p:sp>
        <p:nvSpPr>
          <p:cNvPr id="11" name="文本框 10"/>
          <p:cNvSpPr txBox="1"/>
          <p:nvPr/>
        </p:nvSpPr>
        <p:spPr>
          <a:xfrm>
            <a:off x="1343026" y="2132910"/>
            <a:ext cx="3444990" cy="4049635"/>
          </a:xfrm>
          <a:prstGeom prst="rect">
            <a:avLst/>
          </a:prstGeom>
          <a:noFill/>
        </p:spPr>
        <p:txBody>
          <a:bodyPr wrap="square" rtlCol="0">
            <a:spAutoFit/>
          </a:bodyPr>
          <a:lstStyle/>
          <a:p>
            <a:pPr>
              <a:lnSpc>
                <a:spcPts val="3880"/>
              </a:lnSpc>
            </a:pPr>
            <a:r>
              <a:rPr lang="en-US" altLang="zh-CN" sz="2400" dirty="0"/>
              <a:t>the mandate of heaven</a:t>
            </a:r>
          </a:p>
          <a:p>
            <a:pPr>
              <a:lnSpc>
                <a:spcPts val="3880"/>
              </a:lnSpc>
            </a:pPr>
            <a:r>
              <a:rPr lang="en-US" altLang="zh-CN" sz="2400" dirty="0"/>
              <a:t>the Opium War</a:t>
            </a:r>
          </a:p>
          <a:p>
            <a:pPr>
              <a:lnSpc>
                <a:spcPts val="3880"/>
              </a:lnSpc>
            </a:pPr>
            <a:r>
              <a:rPr lang="en-US" altLang="zh-CN" sz="2400" dirty="0"/>
              <a:t>nomadic</a:t>
            </a:r>
          </a:p>
          <a:p>
            <a:pPr>
              <a:lnSpc>
                <a:spcPts val="3880"/>
              </a:lnSpc>
            </a:pPr>
            <a:r>
              <a:rPr lang="en-US" altLang="zh-CN" sz="2400" dirty="0"/>
              <a:t>human sacrifice</a:t>
            </a:r>
          </a:p>
          <a:p>
            <a:pPr>
              <a:lnSpc>
                <a:spcPts val="3880"/>
              </a:lnSpc>
            </a:pPr>
            <a:r>
              <a:rPr lang="en-US" altLang="zh-CN" sz="2400" dirty="0"/>
              <a:t>paleoanthropologist</a:t>
            </a:r>
          </a:p>
          <a:p>
            <a:pPr>
              <a:lnSpc>
                <a:spcPts val="3880"/>
              </a:lnSpc>
            </a:pPr>
            <a:r>
              <a:rPr lang="en-US" altLang="zh-CN" sz="2400" dirty="0"/>
              <a:t>the Age of Warring States</a:t>
            </a:r>
          </a:p>
          <a:p>
            <a:pPr>
              <a:lnSpc>
                <a:spcPts val="3880"/>
              </a:lnSpc>
            </a:pPr>
            <a:r>
              <a:rPr lang="en-US" altLang="zh-CN" sz="2400" dirty="0"/>
              <a:t>the Manchus</a:t>
            </a:r>
          </a:p>
          <a:p>
            <a:pPr>
              <a:lnSpc>
                <a:spcPts val="3880"/>
              </a:lnSpc>
            </a:pPr>
            <a:r>
              <a:rPr lang="en-US" altLang="zh-CN" sz="2400" dirty="0"/>
              <a:t>the Legalists</a:t>
            </a:r>
          </a:p>
        </p:txBody>
      </p:sp>
      <p:sp>
        <p:nvSpPr>
          <p:cNvPr id="12" name="文本框 11"/>
          <p:cNvSpPr txBox="1"/>
          <p:nvPr/>
        </p:nvSpPr>
        <p:spPr>
          <a:xfrm>
            <a:off x="5580070" y="2132910"/>
            <a:ext cx="2304160" cy="4049635"/>
          </a:xfrm>
          <a:prstGeom prst="rect">
            <a:avLst/>
          </a:prstGeom>
          <a:noFill/>
        </p:spPr>
        <p:txBody>
          <a:bodyPr wrap="square" rtlCol="0">
            <a:spAutoFit/>
          </a:bodyPr>
          <a:lstStyle/>
          <a:p>
            <a:pPr>
              <a:lnSpc>
                <a:spcPts val="3880"/>
              </a:lnSpc>
            </a:pPr>
            <a:r>
              <a:rPr lang="en-US" altLang="zh-CN" sz="2400" b="1" dirty="0">
                <a:solidFill>
                  <a:srgbClr val="C6383E"/>
                </a:solidFill>
              </a:rPr>
              <a:t>A</a:t>
            </a:r>
          </a:p>
          <a:p>
            <a:pPr>
              <a:lnSpc>
                <a:spcPts val="3880"/>
              </a:lnSpc>
            </a:pPr>
            <a:r>
              <a:rPr lang="en-US" altLang="zh-CN" sz="2400" b="1" dirty="0">
                <a:solidFill>
                  <a:srgbClr val="C6383E"/>
                </a:solidFill>
              </a:rPr>
              <a:t>B</a:t>
            </a:r>
          </a:p>
          <a:p>
            <a:pPr>
              <a:lnSpc>
                <a:spcPts val="3880"/>
              </a:lnSpc>
            </a:pPr>
            <a:r>
              <a:rPr lang="en-US" altLang="zh-CN" sz="2400" b="1" dirty="0">
                <a:solidFill>
                  <a:srgbClr val="C6383E"/>
                </a:solidFill>
              </a:rPr>
              <a:t>C</a:t>
            </a:r>
          </a:p>
          <a:p>
            <a:pPr>
              <a:lnSpc>
                <a:spcPts val="3880"/>
              </a:lnSpc>
            </a:pPr>
            <a:r>
              <a:rPr lang="en-US" altLang="zh-CN" sz="2400" b="1" dirty="0">
                <a:solidFill>
                  <a:srgbClr val="C6383E"/>
                </a:solidFill>
              </a:rPr>
              <a:t>D</a:t>
            </a:r>
          </a:p>
          <a:p>
            <a:pPr>
              <a:lnSpc>
                <a:spcPts val="3880"/>
              </a:lnSpc>
            </a:pPr>
            <a:r>
              <a:rPr lang="en-US" altLang="zh-CN" sz="2400" b="1" dirty="0">
                <a:solidFill>
                  <a:srgbClr val="C6383E"/>
                </a:solidFill>
              </a:rPr>
              <a:t>E</a:t>
            </a:r>
          </a:p>
          <a:p>
            <a:pPr>
              <a:lnSpc>
                <a:spcPts val="3880"/>
              </a:lnSpc>
            </a:pPr>
            <a:r>
              <a:rPr lang="en-US" altLang="zh-CN" sz="2400" b="1" dirty="0">
                <a:solidFill>
                  <a:srgbClr val="C6383E"/>
                </a:solidFill>
              </a:rPr>
              <a:t>F</a:t>
            </a:r>
          </a:p>
          <a:p>
            <a:pPr>
              <a:lnSpc>
                <a:spcPts val="3880"/>
              </a:lnSpc>
            </a:pPr>
            <a:r>
              <a:rPr lang="en-US" altLang="zh-CN" sz="2400" b="1" dirty="0">
                <a:solidFill>
                  <a:srgbClr val="C6383E"/>
                </a:solidFill>
              </a:rPr>
              <a:t>G</a:t>
            </a:r>
          </a:p>
          <a:p>
            <a:pPr>
              <a:lnSpc>
                <a:spcPts val="3880"/>
              </a:lnSpc>
            </a:pPr>
            <a:r>
              <a:rPr lang="en-US" altLang="zh-CN" sz="2400" b="1" dirty="0">
                <a:solidFill>
                  <a:srgbClr val="C6383E"/>
                </a:solidFill>
              </a:rPr>
              <a:t>H</a:t>
            </a:r>
          </a:p>
        </p:txBody>
      </p:sp>
      <p:sp>
        <p:nvSpPr>
          <p:cNvPr id="13" name="文本框 12"/>
          <p:cNvSpPr txBox="1"/>
          <p:nvPr/>
        </p:nvSpPr>
        <p:spPr>
          <a:xfrm>
            <a:off x="5868090" y="2132910"/>
            <a:ext cx="2304160" cy="4043671"/>
          </a:xfrm>
          <a:prstGeom prst="rect">
            <a:avLst/>
          </a:prstGeom>
          <a:noFill/>
        </p:spPr>
        <p:txBody>
          <a:bodyPr wrap="square" rtlCol="0">
            <a:spAutoFit/>
          </a:bodyPr>
          <a:lstStyle/>
          <a:p>
            <a:pPr>
              <a:lnSpc>
                <a:spcPts val="3880"/>
              </a:lnSpc>
            </a:pPr>
            <a:r>
              <a:rPr lang="zh-CN" altLang="en-US" sz="2400" dirty="0"/>
              <a:t>古人类学家</a:t>
            </a:r>
          </a:p>
          <a:p>
            <a:pPr>
              <a:lnSpc>
                <a:spcPts val="3880"/>
              </a:lnSpc>
            </a:pPr>
            <a:r>
              <a:rPr lang="zh-CN" altLang="en-US" sz="2400" dirty="0"/>
              <a:t>游牧的</a:t>
            </a:r>
          </a:p>
          <a:p>
            <a:pPr>
              <a:lnSpc>
                <a:spcPts val="3880"/>
              </a:lnSpc>
            </a:pPr>
            <a:r>
              <a:rPr lang="zh-CN" altLang="en-US" sz="2400" dirty="0"/>
              <a:t>战国时期</a:t>
            </a:r>
          </a:p>
          <a:p>
            <a:pPr>
              <a:lnSpc>
                <a:spcPts val="3880"/>
              </a:lnSpc>
            </a:pPr>
            <a:r>
              <a:rPr lang="zh-CN" altLang="en-US" sz="2400" dirty="0"/>
              <a:t>满族人</a:t>
            </a:r>
          </a:p>
          <a:p>
            <a:pPr>
              <a:lnSpc>
                <a:spcPts val="3880"/>
              </a:lnSpc>
            </a:pPr>
            <a:r>
              <a:rPr lang="zh-CN" altLang="en-US" sz="2400" dirty="0"/>
              <a:t>鸦片战争</a:t>
            </a:r>
          </a:p>
          <a:p>
            <a:pPr>
              <a:lnSpc>
                <a:spcPts val="3880"/>
              </a:lnSpc>
            </a:pPr>
            <a:r>
              <a:rPr lang="zh-CN" altLang="en-US" sz="2400" dirty="0"/>
              <a:t>天命</a:t>
            </a:r>
          </a:p>
          <a:p>
            <a:pPr>
              <a:lnSpc>
                <a:spcPts val="3880"/>
              </a:lnSpc>
            </a:pPr>
            <a:r>
              <a:rPr lang="zh-CN" altLang="en-US" sz="2400" dirty="0"/>
              <a:t>法家</a:t>
            </a:r>
          </a:p>
          <a:p>
            <a:pPr>
              <a:lnSpc>
                <a:spcPts val="3880"/>
              </a:lnSpc>
            </a:pPr>
            <a:r>
              <a:rPr lang="zh-CN" altLang="en-US" sz="2400" dirty="0"/>
              <a:t>殉葬</a:t>
            </a:r>
            <a:endParaRPr lang="en-US" altLang="zh-CN" sz="2400" dirty="0"/>
          </a:p>
        </p:txBody>
      </p:sp>
      <p:pic>
        <p:nvPicPr>
          <p:cNvPr id="17" name="钥匙2" descr="C:\Users\senj\Desktop\新建文件夹\答案.png" hidden="1">
            <a:hlinkClick r:id="" action="ppaction://noaction"/>
          </p:cNvPr>
          <p:cNvPicPr>
            <a:picLocks noChangeAspect="1" noChangeArrowheads="1"/>
          </p:cNvPicPr>
          <p:nvPr/>
        </p:nvPicPr>
        <p:blipFill>
          <a:blip r:embed="rId2" cstate="print"/>
          <a:srcRect/>
          <a:stretch>
            <a:fillRect/>
          </a:stretch>
        </p:blipFill>
        <p:spPr bwMode="auto">
          <a:xfrm>
            <a:off x="95139" y="1592481"/>
            <a:ext cx="324000" cy="324000"/>
          </a:xfrm>
          <a:prstGeom prst="rect">
            <a:avLst/>
          </a:prstGeom>
          <a:noFill/>
        </p:spPr>
      </p:pic>
      <p:sp>
        <p:nvSpPr>
          <p:cNvPr id="3" name="文本框 2"/>
          <p:cNvSpPr txBox="1"/>
          <p:nvPr/>
        </p:nvSpPr>
        <p:spPr>
          <a:xfrm>
            <a:off x="598648" y="2230087"/>
            <a:ext cx="325730" cy="461665"/>
          </a:xfrm>
          <a:prstGeom prst="rect">
            <a:avLst/>
          </a:prstGeom>
          <a:noFill/>
        </p:spPr>
        <p:txBody>
          <a:bodyPr wrap="none" rtlCol="0">
            <a:spAutoFit/>
          </a:bodyPr>
          <a:lstStyle/>
          <a:p>
            <a:pPr algn="just"/>
            <a:r>
              <a:rPr lang="en-US" altLang="zh-CN" sz="2400" dirty="0">
                <a:solidFill>
                  <a:srgbClr val="FF0000"/>
                </a:solidFill>
              </a:rPr>
              <a:t>F</a:t>
            </a:r>
            <a:endParaRPr lang="zh-CN" altLang="en-US" sz="2400" dirty="0">
              <a:solidFill>
                <a:srgbClr val="FF0000"/>
              </a:solidFill>
            </a:endParaRPr>
          </a:p>
        </p:txBody>
      </p:sp>
      <p:sp>
        <p:nvSpPr>
          <p:cNvPr id="18" name="文本框 17"/>
          <p:cNvSpPr txBox="1"/>
          <p:nvPr/>
        </p:nvSpPr>
        <p:spPr>
          <a:xfrm>
            <a:off x="593839" y="2720773"/>
            <a:ext cx="335348" cy="461665"/>
          </a:xfrm>
          <a:prstGeom prst="rect">
            <a:avLst/>
          </a:prstGeom>
          <a:noFill/>
        </p:spPr>
        <p:txBody>
          <a:bodyPr wrap="none" rtlCol="0">
            <a:spAutoFit/>
          </a:bodyPr>
          <a:lstStyle/>
          <a:p>
            <a:pPr algn="just"/>
            <a:r>
              <a:rPr lang="en-US" altLang="zh-CN" sz="2400" dirty="0">
                <a:solidFill>
                  <a:srgbClr val="FF0000"/>
                </a:solidFill>
              </a:rPr>
              <a:t>E</a:t>
            </a:r>
            <a:endParaRPr lang="zh-CN" altLang="en-US" sz="2400" dirty="0">
              <a:solidFill>
                <a:srgbClr val="FF0000"/>
              </a:solidFill>
            </a:endParaRPr>
          </a:p>
        </p:txBody>
      </p:sp>
      <p:sp>
        <p:nvSpPr>
          <p:cNvPr id="20" name="文本框 19"/>
          <p:cNvSpPr txBox="1"/>
          <p:nvPr/>
        </p:nvSpPr>
        <p:spPr>
          <a:xfrm>
            <a:off x="585824" y="3211459"/>
            <a:ext cx="351378" cy="461665"/>
          </a:xfrm>
          <a:prstGeom prst="rect">
            <a:avLst/>
          </a:prstGeom>
          <a:noFill/>
        </p:spPr>
        <p:txBody>
          <a:bodyPr wrap="none" rtlCol="0">
            <a:spAutoFit/>
          </a:bodyPr>
          <a:lstStyle/>
          <a:p>
            <a:pPr algn="just"/>
            <a:r>
              <a:rPr lang="en-US" altLang="zh-CN" sz="2400" dirty="0">
                <a:solidFill>
                  <a:srgbClr val="FF0000"/>
                </a:solidFill>
              </a:rPr>
              <a:t>B</a:t>
            </a:r>
            <a:endParaRPr lang="zh-CN" altLang="en-US" sz="2400" dirty="0">
              <a:solidFill>
                <a:srgbClr val="FF0000"/>
              </a:solidFill>
            </a:endParaRPr>
          </a:p>
        </p:txBody>
      </p:sp>
      <p:sp>
        <p:nvSpPr>
          <p:cNvPr id="21" name="文本框 20"/>
          <p:cNvSpPr txBox="1"/>
          <p:nvPr/>
        </p:nvSpPr>
        <p:spPr>
          <a:xfrm>
            <a:off x="573000" y="3712128"/>
            <a:ext cx="377026" cy="461665"/>
          </a:xfrm>
          <a:prstGeom prst="rect">
            <a:avLst/>
          </a:prstGeom>
          <a:noFill/>
        </p:spPr>
        <p:txBody>
          <a:bodyPr wrap="none" rtlCol="0">
            <a:spAutoFit/>
          </a:bodyPr>
          <a:lstStyle/>
          <a:p>
            <a:pPr algn="just"/>
            <a:r>
              <a:rPr lang="en-US" altLang="zh-CN" sz="2400" dirty="0">
                <a:solidFill>
                  <a:srgbClr val="FF0000"/>
                </a:solidFill>
              </a:rPr>
              <a:t>H</a:t>
            </a:r>
            <a:endParaRPr lang="zh-CN" altLang="en-US" sz="2400" dirty="0">
              <a:solidFill>
                <a:srgbClr val="FF0000"/>
              </a:solidFill>
            </a:endParaRPr>
          </a:p>
        </p:txBody>
      </p:sp>
      <p:sp>
        <p:nvSpPr>
          <p:cNvPr id="22" name="文本框 21"/>
          <p:cNvSpPr txBox="1"/>
          <p:nvPr/>
        </p:nvSpPr>
        <p:spPr>
          <a:xfrm>
            <a:off x="573000" y="4206769"/>
            <a:ext cx="377026" cy="461665"/>
          </a:xfrm>
          <a:prstGeom prst="rect">
            <a:avLst/>
          </a:prstGeom>
          <a:noFill/>
        </p:spPr>
        <p:txBody>
          <a:bodyPr wrap="none" rtlCol="0">
            <a:spAutoFit/>
          </a:bodyPr>
          <a:lstStyle/>
          <a:p>
            <a:pPr algn="just"/>
            <a:r>
              <a:rPr lang="en-US" altLang="zh-CN" sz="2400" dirty="0">
                <a:solidFill>
                  <a:srgbClr val="FF0000"/>
                </a:solidFill>
              </a:rPr>
              <a:t>A</a:t>
            </a:r>
            <a:endParaRPr lang="zh-CN" altLang="en-US" sz="2400" dirty="0">
              <a:solidFill>
                <a:srgbClr val="FF0000"/>
              </a:solidFill>
            </a:endParaRPr>
          </a:p>
        </p:txBody>
      </p:sp>
      <p:sp>
        <p:nvSpPr>
          <p:cNvPr id="23" name="文本框 22"/>
          <p:cNvSpPr txBox="1"/>
          <p:nvPr/>
        </p:nvSpPr>
        <p:spPr>
          <a:xfrm>
            <a:off x="587427" y="4700217"/>
            <a:ext cx="348172" cy="461665"/>
          </a:xfrm>
          <a:prstGeom prst="rect">
            <a:avLst/>
          </a:prstGeom>
          <a:noFill/>
        </p:spPr>
        <p:txBody>
          <a:bodyPr wrap="none" rtlCol="0">
            <a:spAutoFit/>
          </a:bodyPr>
          <a:lstStyle/>
          <a:p>
            <a:pPr algn="just"/>
            <a:r>
              <a:rPr lang="en-US" altLang="zh-CN" sz="2400" dirty="0">
                <a:solidFill>
                  <a:srgbClr val="FF0000"/>
                </a:solidFill>
              </a:rPr>
              <a:t>C</a:t>
            </a:r>
            <a:endParaRPr lang="zh-CN" altLang="en-US" sz="2400" dirty="0">
              <a:solidFill>
                <a:srgbClr val="FF0000"/>
              </a:solidFill>
            </a:endParaRPr>
          </a:p>
        </p:txBody>
      </p:sp>
      <p:sp>
        <p:nvSpPr>
          <p:cNvPr id="24" name="文本框 23"/>
          <p:cNvSpPr txBox="1"/>
          <p:nvPr/>
        </p:nvSpPr>
        <p:spPr>
          <a:xfrm>
            <a:off x="573000" y="5197109"/>
            <a:ext cx="377026" cy="461665"/>
          </a:xfrm>
          <a:prstGeom prst="rect">
            <a:avLst/>
          </a:prstGeom>
          <a:noFill/>
        </p:spPr>
        <p:txBody>
          <a:bodyPr wrap="none" rtlCol="0">
            <a:spAutoFit/>
          </a:bodyPr>
          <a:lstStyle/>
          <a:p>
            <a:pPr algn="just"/>
            <a:r>
              <a:rPr lang="en-US" altLang="zh-CN" sz="2400" dirty="0">
                <a:solidFill>
                  <a:srgbClr val="FF0000"/>
                </a:solidFill>
              </a:rPr>
              <a:t>D</a:t>
            </a:r>
            <a:endParaRPr lang="zh-CN" altLang="en-US" sz="2400" dirty="0">
              <a:solidFill>
                <a:srgbClr val="FF0000"/>
              </a:solidFill>
            </a:endParaRPr>
          </a:p>
        </p:txBody>
      </p:sp>
      <p:sp>
        <p:nvSpPr>
          <p:cNvPr id="25" name="文本框 24"/>
          <p:cNvSpPr txBox="1"/>
          <p:nvPr/>
        </p:nvSpPr>
        <p:spPr>
          <a:xfrm>
            <a:off x="572198" y="5682551"/>
            <a:ext cx="378630" cy="461665"/>
          </a:xfrm>
          <a:prstGeom prst="rect">
            <a:avLst/>
          </a:prstGeom>
          <a:noFill/>
        </p:spPr>
        <p:txBody>
          <a:bodyPr wrap="none" rtlCol="0">
            <a:spAutoFit/>
          </a:bodyPr>
          <a:lstStyle/>
          <a:p>
            <a:pPr algn="just"/>
            <a:r>
              <a:rPr lang="en-US" altLang="zh-CN" sz="2400" dirty="0">
                <a:solidFill>
                  <a:srgbClr val="FF0000"/>
                </a:solidFill>
              </a:rPr>
              <a:t>G</a:t>
            </a:r>
            <a:endParaRPr lang="zh-CN" altLang="en-US" sz="2400" dirty="0">
              <a:solidFill>
                <a:srgbClr val="FF0000"/>
              </a:solidFill>
            </a:endParaRPr>
          </a:p>
        </p:txBody>
      </p:sp>
      <p:pic>
        <p:nvPicPr>
          <p:cNvPr id="28"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30" name="Picture 3" descr="C:\Users\senj\Desktop\按钮.png"/>
          <p:cNvPicPr>
            <a:picLocks noChangeAspect="1" noChangeArrowheads="1"/>
          </p:cNvPicPr>
          <p:nvPr/>
        </p:nvPicPr>
        <p:blipFill>
          <a:blip r:embed="rId5" cstate="print"/>
          <a:srcRect l="12911" t="21436" r="39626" b="60503"/>
          <a:stretch>
            <a:fillRect/>
          </a:stretch>
        </p:blipFill>
        <p:spPr bwMode="auto">
          <a:xfrm>
            <a:off x="8366400" y="6429396"/>
            <a:ext cx="259557" cy="254794"/>
          </a:xfrm>
          <a:prstGeom prst="rect">
            <a:avLst/>
          </a:prstGeom>
          <a:noFill/>
        </p:spPr>
      </p:pic>
      <p:sp>
        <p:nvSpPr>
          <p:cNvPr id="19" name="矩形 18"/>
          <p:cNvSpPr/>
          <p:nvPr/>
        </p:nvSpPr>
        <p:spPr>
          <a:xfrm>
            <a:off x="458796" y="2295968"/>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458309" y="2796762"/>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a:off x="458309" y="3286001"/>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458309" y="3774347"/>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458309" y="4275783"/>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458309" y="4769301"/>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458309" y="5265694"/>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458309" y="5764104"/>
            <a:ext cx="59591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747313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subTnLst>
                                    <p:set>
                                      <p:cBhvr override="childStyle">
                                        <p:cTn dur="1" fill="hold" display="0" masterRel="nextClick" afterEffect="1"/>
                                        <p:tgtEl>
                                          <p:spTgt spid="20"/>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subTnLst>
                                    <p:set>
                                      <p:cBhvr override="childStyle">
                                        <p:cTn dur="1" fill="hold" display="0" masterRel="nextClick" afterEffect="1"/>
                                        <p:tgtEl>
                                          <p:spTgt spid="22"/>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subTnLst>
                                    <p:set>
                                      <p:cBhvr override="childStyle">
                                        <p:cTn dur="1" fill="hold" display="0" masterRel="nextClick" afterEffect="1"/>
                                        <p:tgtEl>
                                          <p:spTgt spid="24"/>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25"/>
                                        </p:tgtEl>
                                        <p:attrNameLst>
                                          <p:attrName>style.visibility</p:attrName>
                                        </p:attrNameLst>
                                      </p:cBhvr>
                                      <p:to>
                                        <p:strVal val="visible"/>
                                      </p:to>
                                    </p:se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childTnLst>
              </p:cTn>
              <p:nextCondLst>
                <p:cond evt="onClick" delay="0">
                  <p:tgtEl>
                    <p:spTgt spid="17"/>
                  </p:tgtEl>
                </p:cond>
              </p:nextCondLst>
            </p:seq>
            <p:seq concurrent="1" nextAc="seek">
              <p:cTn id="21" restart="whenNotActive" fill="hold" evtFilter="cancelBubble" nodeType="interactiveSeq">
                <p:stCondLst>
                  <p:cond evt="onClick" delay="0">
                    <p:tgtEl>
                      <p:spTgt spid="19"/>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childTnLst>
              </p:cTn>
              <p:nextCondLst>
                <p:cond evt="onClick" delay="0">
                  <p:tgtEl>
                    <p:spTgt spid="19"/>
                  </p:tgtEl>
                </p:cond>
              </p:nextCondLst>
            </p:seq>
            <p:seq concurrent="1" nextAc="seek">
              <p:cTn id="26" restart="whenNotActive" fill="hold" evtFilter="cancelBubble" nodeType="interactiveSeq">
                <p:stCondLst>
                  <p:cond evt="onClick" delay="0">
                    <p:tgtEl>
                      <p:spTgt spid="26"/>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nextCondLst>
                <p:cond evt="onClick" delay="0">
                  <p:tgtEl>
                    <p:spTgt spid="26"/>
                  </p:tgtEl>
                </p:cond>
              </p:nextCondLst>
            </p:seq>
            <p:seq concurrent="1" nextAc="seek">
              <p:cTn id="31" restart="whenNotActive" fill="hold" evtFilter="cancelBubble" nodeType="interactiveSeq">
                <p:stCondLst>
                  <p:cond evt="onClick" delay="0">
                    <p:tgtEl>
                      <p:spTgt spid="27"/>
                    </p:tgtEl>
                  </p:cond>
                </p:stCondLst>
                <p:endSync evt="end" delay="0">
                  <p:rtn val="all"/>
                </p:endSync>
                <p:childTnLst>
                  <p:par>
                    <p:cTn id="32" fill="hold">
                      <p:stCondLst>
                        <p:cond delay="0"/>
                      </p:stCondLst>
                      <p:childTnLst>
                        <p:par>
                          <p:cTn id="33" fill="hold">
                            <p:stCondLst>
                              <p:cond delay="0"/>
                            </p:stCondLst>
                            <p:childTnLst>
                              <p:par>
                                <p:cTn id="34" presetID="1" presetClass="entr" presetSubtype="0" fill="hold" grpId="1" nodeType="clickEffect">
                                  <p:stCondLst>
                                    <p:cond delay="0"/>
                                  </p:stCondLst>
                                  <p:childTnLst>
                                    <p:set>
                                      <p:cBhvr>
                                        <p:cTn id="35" dur="1" fill="hold">
                                          <p:stCondLst>
                                            <p:cond delay="0"/>
                                          </p:stCondLst>
                                        </p:cTn>
                                        <p:tgtEl>
                                          <p:spTgt spid="20"/>
                                        </p:tgtEl>
                                        <p:attrNameLst>
                                          <p:attrName>style.visibility</p:attrName>
                                        </p:attrNameLst>
                                      </p:cBhvr>
                                      <p:to>
                                        <p:strVal val="visible"/>
                                      </p:to>
                                    </p:set>
                                  </p:childTnLst>
                                </p:cTn>
                              </p:par>
                            </p:childTnLst>
                          </p:cTn>
                        </p:par>
                      </p:childTnLst>
                    </p:cTn>
                  </p:par>
                </p:childTnLst>
              </p:cTn>
              <p:nextCondLst>
                <p:cond evt="onClick" delay="0">
                  <p:tgtEl>
                    <p:spTgt spid="27"/>
                  </p:tgtEl>
                </p:cond>
              </p:nextCondLst>
            </p:seq>
            <p:seq concurrent="1" nextAc="seek">
              <p:cTn id="36" restart="whenNotActive" fill="hold" evtFilter="cancelBubble" nodeType="interactiveSeq">
                <p:stCondLst>
                  <p:cond evt="onClick" delay="0">
                    <p:tgtEl>
                      <p:spTgt spid="29"/>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childTnLst>
              </p:cTn>
              <p:nextCondLst>
                <p:cond evt="onClick" delay="0">
                  <p:tgtEl>
                    <p:spTgt spid="29"/>
                  </p:tgtEl>
                </p:cond>
              </p:nextCondLst>
            </p:seq>
            <p:seq concurrent="1" nextAc="seek">
              <p:cTn id="41" restart="whenNotActive" fill="hold" evtFilter="cancelBubble" nodeType="interactiveSeq">
                <p:stCondLst>
                  <p:cond evt="onClick" delay="0">
                    <p:tgtEl>
                      <p:spTgt spid="31"/>
                    </p:tgtEl>
                  </p:cond>
                </p:stCondLst>
                <p:endSync evt="end" delay="0">
                  <p:rtn val="all"/>
                </p:endSync>
                <p:childTnLst>
                  <p:par>
                    <p:cTn id="42" fill="hold">
                      <p:stCondLst>
                        <p:cond delay="0"/>
                      </p:stCondLst>
                      <p:childTnLst>
                        <p:par>
                          <p:cTn id="43" fill="hold">
                            <p:stCondLst>
                              <p:cond delay="0"/>
                            </p:stCondLst>
                            <p:childTnLst>
                              <p:par>
                                <p:cTn id="44" presetID="1" presetClass="entr" presetSubtype="0" fill="hold" grpId="1"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childTnLst>
              </p:cTn>
              <p:nextCondLst>
                <p:cond evt="onClick" delay="0">
                  <p:tgtEl>
                    <p:spTgt spid="31"/>
                  </p:tgtEl>
                </p:cond>
              </p:nextCondLst>
            </p:seq>
            <p:seq concurrent="1" nextAc="seek">
              <p:cTn id="46" restart="whenNotActive" fill="hold" evtFilter="cancelBubble" nodeType="interactiveSeq">
                <p:stCondLst>
                  <p:cond evt="onClick" delay="0">
                    <p:tgtEl>
                      <p:spTgt spid="32"/>
                    </p:tgtEl>
                  </p:cond>
                </p:stCondLst>
                <p:endSync evt="end" delay="0">
                  <p:rtn val="all"/>
                </p:endSync>
                <p:childTnLst>
                  <p:par>
                    <p:cTn id="47" fill="hold">
                      <p:stCondLst>
                        <p:cond delay="0"/>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childTnLst>
              </p:cTn>
              <p:nextCondLst>
                <p:cond evt="onClick" delay="0">
                  <p:tgtEl>
                    <p:spTgt spid="32"/>
                  </p:tgtEl>
                </p:cond>
              </p:nextCondLst>
            </p:seq>
            <p:seq concurrent="1" nextAc="seek">
              <p:cTn id="51" restart="whenNotActive" fill="hold" evtFilter="cancelBubble" nodeType="interactiveSeq">
                <p:stCondLst>
                  <p:cond evt="onClick" delay="0">
                    <p:tgtEl>
                      <p:spTgt spid="33"/>
                    </p:tgtEl>
                  </p:cond>
                </p:stCondLst>
                <p:endSync evt="end" delay="0">
                  <p:rtn val="all"/>
                </p:endSync>
                <p:childTnLst>
                  <p:par>
                    <p:cTn id="52" fill="hold">
                      <p:stCondLst>
                        <p:cond delay="0"/>
                      </p:stCondLst>
                      <p:childTnLst>
                        <p:par>
                          <p:cTn id="53" fill="hold">
                            <p:stCondLst>
                              <p:cond delay="0"/>
                            </p:stCondLst>
                            <p:childTnLst>
                              <p:par>
                                <p:cTn id="54" presetID="1" presetClass="entr" presetSubtype="0" fill="hold" grpId="1" nodeType="clickEffect">
                                  <p:stCondLst>
                                    <p:cond delay="0"/>
                                  </p:stCondLst>
                                  <p:childTnLst>
                                    <p:set>
                                      <p:cBhvr>
                                        <p:cTn id="55" dur="1" fill="hold">
                                          <p:stCondLst>
                                            <p:cond delay="0"/>
                                          </p:stCondLst>
                                        </p:cTn>
                                        <p:tgtEl>
                                          <p:spTgt spid="24"/>
                                        </p:tgtEl>
                                        <p:attrNameLst>
                                          <p:attrName>style.visibility</p:attrName>
                                        </p:attrNameLst>
                                      </p:cBhvr>
                                      <p:to>
                                        <p:strVal val="visible"/>
                                      </p:to>
                                    </p:set>
                                  </p:childTnLst>
                                </p:cTn>
                              </p:par>
                            </p:childTnLst>
                          </p:cTn>
                        </p:par>
                      </p:childTnLst>
                    </p:cTn>
                  </p:par>
                </p:childTnLst>
              </p:cTn>
              <p:nextCondLst>
                <p:cond evt="onClick" delay="0">
                  <p:tgtEl>
                    <p:spTgt spid="33"/>
                  </p:tgtEl>
                </p:cond>
              </p:nextCondLst>
            </p:seq>
            <p:seq concurrent="1" nextAc="seek">
              <p:cTn id="56" restart="whenNotActive" fill="hold" evtFilter="cancelBubble" nodeType="interactiveSeq">
                <p:stCondLst>
                  <p:cond evt="onClick" delay="0">
                    <p:tgtEl>
                      <p:spTgt spid="34"/>
                    </p:tgtEl>
                  </p:cond>
                </p:stCondLst>
                <p:endSync evt="end" delay="0">
                  <p:rtn val="all"/>
                </p:endSync>
                <p:childTnLst>
                  <p:par>
                    <p:cTn id="57" fill="hold">
                      <p:stCondLst>
                        <p:cond delay="0"/>
                      </p:stCondLst>
                      <p:childTnLst>
                        <p:par>
                          <p:cTn id="58" fill="hold">
                            <p:stCondLst>
                              <p:cond delay="0"/>
                            </p:stCondLst>
                            <p:childTnLst>
                              <p:par>
                                <p:cTn id="59" presetID="1" presetClass="entr" presetSubtype="0" fill="hold" grpId="1" nodeType="clickEffect">
                                  <p:stCondLst>
                                    <p:cond delay="0"/>
                                  </p:stCondLst>
                                  <p:childTnLst>
                                    <p:set>
                                      <p:cBhvr>
                                        <p:cTn id="60" dur="1" fill="hold">
                                          <p:stCondLst>
                                            <p:cond delay="0"/>
                                          </p:stCondLst>
                                        </p:cTn>
                                        <p:tgtEl>
                                          <p:spTgt spid="25"/>
                                        </p:tgtEl>
                                        <p:attrNameLst>
                                          <p:attrName>style.visibility</p:attrName>
                                        </p:attrNameLst>
                                      </p:cBhvr>
                                      <p:to>
                                        <p:strVal val="visible"/>
                                      </p:to>
                                    </p:set>
                                  </p:childTnLst>
                                </p:cTn>
                              </p:par>
                            </p:childTnLst>
                          </p:cTn>
                        </p:par>
                      </p:childTnLst>
                    </p:cTn>
                  </p:par>
                </p:childTnLst>
              </p:cTn>
              <p:nextCondLst>
                <p:cond evt="onClick" delay="0">
                  <p:tgtEl>
                    <p:spTgt spid="34"/>
                  </p:tgtEl>
                </p:cond>
              </p:nextCondLst>
            </p:seq>
          </p:childTnLst>
        </p:cTn>
      </p:par>
    </p:tnLst>
    <p:bldLst>
      <p:bldP spid="3" grpId="0"/>
      <p:bldP spid="3" grpId="1"/>
      <p:bldP spid="18" grpId="0"/>
      <p:bldP spid="18" grpId="1"/>
      <p:bldP spid="20" grpId="0"/>
      <p:bldP spid="20" grpId="1"/>
      <p:bldP spid="21" grpId="0"/>
      <p:bldP spid="21" grpId="1"/>
      <p:bldP spid="22" grpId="0"/>
      <p:bldP spid="22" grpId="1"/>
      <p:bldP spid="23" grpId="0"/>
      <p:bldP spid="23" grpId="1"/>
      <p:bldP spid="24" grpId="0"/>
      <p:bldP spid="24" grpId="1"/>
      <p:bldP spid="25" grpId="0"/>
      <p:bldP spid="25"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0000" y="1133951"/>
            <a:ext cx="8532300" cy="830997"/>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10" dirty="0">
                <a:latin typeface="Cambria" panose="02040503050406030204" pitchFamily="18" charset="0"/>
                <a:ea typeface="Cambria" panose="02040503050406030204" pitchFamily="18" charset="0"/>
              </a:rPr>
              <a:t>Fill in each blank with a proper preposition.</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17" name="钥匙2" descr="C:\Users\senj\Desktop\新建文件夹\答案.png">
            <a:hlinkClick r:id="" action="ppaction://noaction"/>
          </p:cNvPr>
          <p:cNvPicPr>
            <a:picLocks noChangeAspect="1" noChangeArrowheads="1"/>
          </p:cNvPicPr>
          <p:nvPr/>
        </p:nvPicPr>
        <p:blipFill>
          <a:blip r:embed="rId2" cstate="print"/>
          <a:srcRect/>
          <a:stretch>
            <a:fillRect/>
          </a:stretch>
        </p:blipFill>
        <p:spPr bwMode="auto">
          <a:xfrm>
            <a:off x="95139" y="1592481"/>
            <a:ext cx="324000" cy="324000"/>
          </a:xfrm>
          <a:prstGeom prst="rect">
            <a:avLst/>
          </a:prstGeom>
          <a:noFill/>
        </p:spPr>
      </p:pic>
      <p:pic>
        <p:nvPicPr>
          <p:cNvPr id="28" name="Picture 3" descr="C:\Users\senj\Desktop\按钮.png">
            <a:hlinkClick r:id="" action="ppaction://hlinkshowjump?jump=next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29" name="Picture 3" descr="C:\Users\senj\Desktop\按钮.png">
            <a:hlinkClick r:id="" action="ppaction://hlinkshowjump?jump=previousslide"/>
          </p:cNvPr>
          <p:cNvPicPr>
            <a:picLocks noChangeAspect="1" noChangeArrowheads="1"/>
          </p:cNvPicPr>
          <p:nvPr/>
        </p:nvPicPr>
        <p:blipFill>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26" name="圆角矩形 25"/>
          <p:cNvSpPr/>
          <p:nvPr/>
        </p:nvSpPr>
        <p:spPr>
          <a:xfrm>
            <a:off x="467715" y="2420930"/>
            <a:ext cx="8323860" cy="1484320"/>
          </a:xfrm>
          <a:prstGeom prst="roundRect">
            <a:avLst>
              <a:gd name="adj" fmla="val 9889"/>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77066" y="2564940"/>
            <a:ext cx="8145734" cy="1200329"/>
          </a:xfrm>
          <a:prstGeom prst="rect">
            <a:avLst/>
          </a:prstGeom>
          <a:noFill/>
        </p:spPr>
        <p:txBody>
          <a:bodyPr wrap="square" rtlCol="0">
            <a:spAutoFit/>
          </a:bodyPr>
          <a:lstStyle/>
          <a:p>
            <a:r>
              <a:rPr lang="en-US" altLang="zh-CN" sz="2400" i="1" dirty="0">
                <a:solidFill>
                  <a:srgbClr val="C6383E"/>
                </a:solidFill>
              </a:rPr>
              <a:t>Example:</a:t>
            </a:r>
          </a:p>
          <a:p>
            <a:pPr algn="just"/>
            <a:r>
              <a:rPr lang="en-US" altLang="zh-CN" sz="2400" spc="40" dirty="0"/>
              <a:t>He decided to </a:t>
            </a:r>
            <a:r>
              <a:rPr lang="en-US" altLang="zh-CN" sz="2400" i="1" spc="40" dirty="0"/>
              <a:t>call off </a:t>
            </a:r>
            <a:r>
              <a:rPr lang="en-US" altLang="zh-CN" sz="2400" spc="40" dirty="0"/>
              <a:t>the meeting since most of the delegates</a:t>
            </a:r>
            <a:r>
              <a:rPr lang="en-US" altLang="zh-CN" sz="2400" dirty="0"/>
              <a:t> were absent.</a:t>
            </a:r>
            <a:endParaRPr lang="zh-CN" altLang="en-US" sz="2400" dirty="0"/>
          </a:p>
        </p:txBody>
      </p:sp>
      <p:sp>
        <p:nvSpPr>
          <p:cNvPr id="31" name="文本框 30"/>
          <p:cNvSpPr txBox="1"/>
          <p:nvPr/>
        </p:nvSpPr>
        <p:spPr>
          <a:xfrm>
            <a:off x="366165" y="4066885"/>
            <a:ext cx="485955" cy="1954381"/>
          </a:xfrm>
          <a:prstGeom prst="rect">
            <a:avLst/>
          </a:prstGeom>
          <a:noFill/>
        </p:spPr>
        <p:txBody>
          <a:bodyPr wrap="square" rtlCol="0">
            <a:spAutoFit/>
          </a:bodyPr>
          <a:lstStyle/>
          <a:p>
            <a:r>
              <a:rPr lang="en-US" altLang="zh-CN" sz="2400" b="1" dirty="0">
                <a:solidFill>
                  <a:srgbClr val="C6383E"/>
                </a:solidFill>
                <a:latin typeface="+mn-lt"/>
              </a:rPr>
              <a:t>1</a:t>
            </a:r>
          </a:p>
          <a:p>
            <a:pPr>
              <a:lnSpc>
                <a:spcPts val="1500"/>
              </a:lnSpc>
            </a:pPr>
            <a:endParaRPr lang="en-US" altLang="zh-CN" sz="2400" b="1" dirty="0">
              <a:solidFill>
                <a:srgbClr val="C6383E"/>
              </a:solidFill>
              <a:latin typeface="+mn-lt"/>
            </a:endParaRPr>
          </a:p>
          <a:p>
            <a:r>
              <a:rPr lang="en-US" altLang="zh-CN" sz="2400" b="1" dirty="0">
                <a:solidFill>
                  <a:srgbClr val="C6383E"/>
                </a:solidFill>
                <a:latin typeface="+mn-lt"/>
              </a:rPr>
              <a:t>2</a:t>
            </a:r>
          </a:p>
          <a:p>
            <a:endParaRPr lang="en-US" altLang="zh-CN" sz="2400" b="1" dirty="0">
              <a:solidFill>
                <a:srgbClr val="C6383E"/>
              </a:solidFill>
              <a:latin typeface="+mn-lt"/>
              <a:cs typeface="Times New Roman" panose="02020603050405020304" pitchFamily="18" charset="0"/>
            </a:endParaRPr>
          </a:p>
          <a:p>
            <a:pPr>
              <a:lnSpc>
                <a:spcPts val="1500"/>
              </a:lnSpc>
            </a:pPr>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3</a:t>
            </a:r>
            <a:endParaRPr lang="zh-CN" altLang="en-US" sz="2400" b="1" dirty="0">
              <a:solidFill>
                <a:srgbClr val="C6383E"/>
              </a:solidFill>
              <a:latin typeface="+mn-lt"/>
              <a:cs typeface="Times New Roman" panose="02020603050405020304" pitchFamily="18" charset="0"/>
            </a:endParaRPr>
          </a:p>
        </p:txBody>
      </p:sp>
      <p:sp>
        <p:nvSpPr>
          <p:cNvPr id="32" name="文本框 31"/>
          <p:cNvSpPr txBox="1"/>
          <p:nvPr/>
        </p:nvSpPr>
        <p:spPr>
          <a:xfrm>
            <a:off x="660400" y="4066885"/>
            <a:ext cx="8231900" cy="2323713"/>
          </a:xfrm>
          <a:prstGeom prst="rect">
            <a:avLst/>
          </a:prstGeom>
          <a:noFill/>
        </p:spPr>
        <p:txBody>
          <a:bodyPr wrap="square" rtlCol="0">
            <a:spAutoFit/>
          </a:bodyPr>
          <a:lstStyle/>
          <a:p>
            <a:pPr algn="just"/>
            <a:r>
              <a:rPr lang="en-US" altLang="zh-CN" sz="2400" dirty="0"/>
              <a:t>The slaves did not dare to rebel _______ their masters.</a:t>
            </a:r>
          </a:p>
          <a:p>
            <a:pPr algn="just">
              <a:lnSpc>
                <a:spcPts val="1500"/>
              </a:lnSpc>
            </a:pPr>
            <a:endParaRPr lang="en-US" altLang="zh-CN" sz="2400" dirty="0"/>
          </a:p>
          <a:p>
            <a:pPr algn="just"/>
            <a:r>
              <a:rPr lang="en-US" altLang="zh-CN" sz="2400" dirty="0"/>
              <a:t>On an ordinary map we can see that China lies to the west _____ Japan.</a:t>
            </a:r>
          </a:p>
          <a:p>
            <a:pPr algn="just">
              <a:lnSpc>
                <a:spcPts val="1500"/>
              </a:lnSpc>
            </a:pPr>
            <a:endParaRPr lang="en-US" altLang="zh-CN" sz="2400" dirty="0"/>
          </a:p>
          <a:p>
            <a:pPr algn="just"/>
            <a:r>
              <a:rPr lang="en-US" altLang="zh-CN" sz="2400" spc="20" dirty="0"/>
              <a:t>I have been helped by those kind people and I shall,</a:t>
            </a:r>
            <a:r>
              <a:rPr lang="en-US" altLang="zh-CN" sz="2400" dirty="0"/>
              <a:t> _____ </a:t>
            </a:r>
            <a:r>
              <a:rPr lang="en-US" altLang="zh-CN" sz="2400" spc="20" dirty="0"/>
              <a:t>turn, pass on this kindness.</a:t>
            </a:r>
          </a:p>
        </p:txBody>
      </p:sp>
      <p:sp>
        <p:nvSpPr>
          <p:cNvPr id="33" name="文本框 32"/>
          <p:cNvSpPr txBox="1"/>
          <p:nvPr/>
        </p:nvSpPr>
        <p:spPr>
          <a:xfrm>
            <a:off x="4695690" y="4016930"/>
            <a:ext cx="1069973" cy="461665"/>
          </a:xfrm>
          <a:prstGeom prst="rect">
            <a:avLst/>
          </a:prstGeom>
          <a:noFill/>
        </p:spPr>
        <p:txBody>
          <a:bodyPr wrap="none" rtlCol="0">
            <a:spAutoFit/>
          </a:bodyPr>
          <a:lstStyle/>
          <a:p>
            <a:pPr algn="just"/>
            <a:r>
              <a:rPr lang="en-US" altLang="zh-CN" sz="2400" dirty="0">
                <a:solidFill>
                  <a:srgbClr val="FF0000"/>
                </a:solidFill>
              </a:rPr>
              <a:t>against</a:t>
            </a:r>
            <a:endParaRPr lang="zh-CN" altLang="en-US" sz="2400" dirty="0">
              <a:solidFill>
                <a:srgbClr val="FF0000"/>
              </a:solidFill>
            </a:endParaRPr>
          </a:p>
        </p:txBody>
      </p:sp>
      <p:sp>
        <p:nvSpPr>
          <p:cNvPr id="34" name="文本框 33"/>
          <p:cNvSpPr txBox="1"/>
          <p:nvPr/>
        </p:nvSpPr>
        <p:spPr>
          <a:xfrm>
            <a:off x="8197039" y="4603130"/>
            <a:ext cx="441146" cy="461665"/>
          </a:xfrm>
          <a:prstGeom prst="rect">
            <a:avLst/>
          </a:prstGeom>
          <a:noFill/>
        </p:spPr>
        <p:txBody>
          <a:bodyPr wrap="none" rtlCol="0">
            <a:spAutoFit/>
          </a:bodyPr>
          <a:lstStyle/>
          <a:p>
            <a:pPr algn="just"/>
            <a:r>
              <a:rPr lang="en-US" altLang="zh-CN" sz="2400" dirty="0">
                <a:solidFill>
                  <a:srgbClr val="FF0000"/>
                </a:solidFill>
              </a:rPr>
              <a:t>of</a:t>
            </a:r>
            <a:endParaRPr lang="zh-CN" altLang="en-US" sz="2400" dirty="0">
              <a:solidFill>
                <a:srgbClr val="FF0000"/>
              </a:solidFill>
            </a:endParaRPr>
          </a:p>
        </p:txBody>
      </p:sp>
      <p:sp>
        <p:nvSpPr>
          <p:cNvPr id="36" name="文本框 35"/>
          <p:cNvSpPr txBox="1"/>
          <p:nvPr/>
        </p:nvSpPr>
        <p:spPr>
          <a:xfrm>
            <a:off x="7520081" y="5531960"/>
            <a:ext cx="417102" cy="461665"/>
          </a:xfrm>
          <a:prstGeom prst="rect">
            <a:avLst/>
          </a:prstGeom>
          <a:noFill/>
        </p:spPr>
        <p:txBody>
          <a:bodyPr wrap="none" rtlCol="0">
            <a:spAutoFit/>
          </a:bodyPr>
          <a:lstStyle/>
          <a:p>
            <a:pPr algn="just"/>
            <a:r>
              <a:rPr lang="en-US" altLang="zh-CN" sz="2400" dirty="0">
                <a:solidFill>
                  <a:srgbClr val="FF0000"/>
                </a:solidFill>
              </a:rPr>
              <a:t>in</a:t>
            </a:r>
            <a:endParaRPr lang="zh-CN" altLang="en-US" sz="2400" dirty="0">
              <a:solidFill>
                <a:srgbClr val="FF0000"/>
              </a:solidFill>
            </a:endParaRPr>
          </a:p>
        </p:txBody>
      </p:sp>
      <p:sp>
        <p:nvSpPr>
          <p:cNvPr id="13" name="矩形 12"/>
          <p:cNvSpPr/>
          <p:nvPr/>
        </p:nvSpPr>
        <p:spPr>
          <a:xfrm>
            <a:off x="4702039" y="4136350"/>
            <a:ext cx="1063623"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8040941" y="4712390"/>
            <a:ext cx="76016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356380" y="5622491"/>
            <a:ext cx="76016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229052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childTnLst>
              </p:cTn>
              <p:nextCondLst>
                <p:cond evt="onClick" delay="0">
                  <p:tgtEl>
                    <p:spTgt spid="17"/>
                  </p:tgtEl>
                </p:cond>
              </p:nextCondLst>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6" restart="whenNotActive" fill="hold" evtFilter="cancelBubble" nodeType="interactiveSeq">
                <p:stCondLst>
                  <p:cond evt="onClick" delay="0">
                    <p:tgtEl>
                      <p:spTgt spid="14"/>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subTnLst>
                                    <p:set>
                                      <p:cBhvr override="childStyle">
                                        <p:cTn dur="1" fill="hold" display="0" masterRel="nextClick" afterEffect="1"/>
                                        <p:tgtEl>
                                          <p:spTgt spid="34"/>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21" restart="whenNotActive" fill="hold" evtFilter="cancelBubble" nodeType="interactiveSeq">
                <p:stCondLst>
                  <p:cond evt="onClick" delay="0">
                    <p:tgtEl>
                      <p:spTgt spid="15"/>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36"/>
                                        </p:tgtEl>
                                        <p:attrNameLst>
                                          <p:attrName>style.visibility</p:attrName>
                                        </p:attrNameLst>
                                      </p:cBhvr>
                                      <p:to>
                                        <p:strVal val="visible"/>
                                      </p:to>
                                    </p:se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childTnLst>
              </p:cTn>
              <p:nextCondLst>
                <p:cond evt="onClick" delay="0">
                  <p:tgtEl>
                    <p:spTgt spid="15"/>
                  </p:tgtEl>
                </p:cond>
              </p:nextCondLst>
            </p:seq>
          </p:childTnLst>
        </p:cTn>
      </p:par>
    </p:tnLst>
    <p:bldLst>
      <p:bldP spid="33" grpId="0"/>
      <p:bldP spid="33" grpId="1"/>
      <p:bldP spid="34" grpId="0"/>
      <p:bldP spid="34" grpId="1"/>
      <p:bldP spid="36" grpId="0"/>
      <p:bldP spid="36"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29"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9" name="文本框 18"/>
          <p:cNvSpPr txBox="1"/>
          <p:nvPr/>
        </p:nvSpPr>
        <p:spPr>
          <a:xfrm>
            <a:off x="366165" y="1145160"/>
            <a:ext cx="485955" cy="3447098"/>
          </a:xfrm>
          <a:prstGeom prst="rect">
            <a:avLst/>
          </a:prstGeom>
          <a:noFill/>
        </p:spPr>
        <p:txBody>
          <a:bodyPr wrap="square" rtlCol="0">
            <a:spAutoFit/>
          </a:bodyPr>
          <a:lstStyle/>
          <a:p>
            <a:r>
              <a:rPr lang="en-US" altLang="zh-CN" sz="2400" b="1" dirty="0">
                <a:solidFill>
                  <a:srgbClr val="C6383E"/>
                </a:solidFill>
                <a:latin typeface="+mn-lt"/>
              </a:rPr>
              <a:t>4</a:t>
            </a:r>
          </a:p>
          <a:p>
            <a:endParaRPr lang="en-US" altLang="zh-CN" sz="2400" b="1" dirty="0">
              <a:solidFill>
                <a:srgbClr val="C6383E"/>
              </a:solidFill>
              <a:latin typeface="+mn-lt"/>
            </a:endParaRPr>
          </a:p>
          <a:p>
            <a:pPr>
              <a:lnSpc>
                <a:spcPts val="1500"/>
              </a:lnSpc>
            </a:pPr>
            <a:endParaRPr lang="en-US" altLang="zh-CN" sz="2400" b="1" dirty="0">
              <a:solidFill>
                <a:srgbClr val="C6383E"/>
              </a:solidFill>
              <a:latin typeface="+mn-lt"/>
            </a:endParaRPr>
          </a:p>
          <a:p>
            <a:r>
              <a:rPr lang="en-US" altLang="zh-CN" sz="2400" b="1" dirty="0">
                <a:solidFill>
                  <a:srgbClr val="C6383E"/>
                </a:solidFill>
                <a:latin typeface="+mn-lt"/>
              </a:rPr>
              <a:t>5</a:t>
            </a:r>
          </a:p>
          <a:p>
            <a:pPr>
              <a:lnSpc>
                <a:spcPts val="1500"/>
              </a:lnSpc>
            </a:pPr>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6</a:t>
            </a:r>
          </a:p>
          <a:p>
            <a:pPr>
              <a:lnSpc>
                <a:spcPts val="1500"/>
              </a:lnSpc>
            </a:pPr>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7</a:t>
            </a:r>
          </a:p>
          <a:p>
            <a:endParaRPr lang="en-US" altLang="zh-CN" sz="2400" b="1" dirty="0">
              <a:solidFill>
                <a:srgbClr val="C6383E"/>
              </a:solidFill>
              <a:latin typeface="+mn-lt"/>
              <a:cs typeface="Times New Roman" panose="02020603050405020304" pitchFamily="18" charset="0"/>
            </a:endParaRPr>
          </a:p>
          <a:p>
            <a:pPr>
              <a:lnSpc>
                <a:spcPts val="1500"/>
              </a:lnSpc>
            </a:pPr>
            <a:endParaRPr lang="en-US" altLang="zh-CN" sz="2400" b="1" dirty="0">
              <a:solidFill>
                <a:srgbClr val="C6383E"/>
              </a:solidFill>
              <a:latin typeface="+mn-lt"/>
              <a:cs typeface="Times New Roman" panose="02020603050405020304" pitchFamily="18" charset="0"/>
            </a:endParaRPr>
          </a:p>
          <a:p>
            <a:r>
              <a:rPr lang="en-US" altLang="zh-CN" sz="2400" b="1" dirty="0">
                <a:solidFill>
                  <a:srgbClr val="C6383E"/>
                </a:solidFill>
                <a:latin typeface="+mn-lt"/>
                <a:cs typeface="Times New Roman" panose="02020603050405020304" pitchFamily="18" charset="0"/>
              </a:rPr>
              <a:t>8</a:t>
            </a:r>
            <a:endParaRPr lang="zh-CN" altLang="en-US" sz="2400" b="1" dirty="0">
              <a:solidFill>
                <a:srgbClr val="C6383E"/>
              </a:solidFill>
              <a:latin typeface="+mn-lt"/>
              <a:cs typeface="Times New Roman" panose="02020603050405020304" pitchFamily="18" charset="0"/>
            </a:endParaRPr>
          </a:p>
        </p:txBody>
      </p:sp>
      <p:sp>
        <p:nvSpPr>
          <p:cNvPr id="26" name="文本框 25"/>
          <p:cNvSpPr txBox="1"/>
          <p:nvPr/>
        </p:nvSpPr>
        <p:spPr>
          <a:xfrm>
            <a:off x="660400" y="1145160"/>
            <a:ext cx="8231900" cy="3816429"/>
          </a:xfrm>
          <a:prstGeom prst="rect">
            <a:avLst/>
          </a:prstGeom>
          <a:noFill/>
        </p:spPr>
        <p:txBody>
          <a:bodyPr wrap="square" rtlCol="0">
            <a:spAutoFit/>
          </a:bodyPr>
          <a:lstStyle/>
          <a:p>
            <a:pPr algn="just"/>
            <a:r>
              <a:rPr lang="en-US" altLang="zh-CN" sz="2400" dirty="0"/>
              <a:t>The visitors had never learned ________ silk before they came to Empire of Qin.</a:t>
            </a:r>
          </a:p>
          <a:p>
            <a:pPr algn="just">
              <a:lnSpc>
                <a:spcPts val="1500"/>
              </a:lnSpc>
            </a:pPr>
            <a:endParaRPr lang="en-US" altLang="zh-CN" sz="2400" dirty="0"/>
          </a:p>
          <a:p>
            <a:pPr algn="just"/>
            <a:r>
              <a:rPr lang="en-US" altLang="zh-CN" sz="2400" dirty="0"/>
              <a:t>The whole empire was divided _____ several small kingdoms.</a:t>
            </a:r>
          </a:p>
          <a:p>
            <a:pPr algn="just">
              <a:lnSpc>
                <a:spcPts val="1500"/>
              </a:lnSpc>
            </a:pPr>
            <a:endParaRPr lang="en-US" altLang="zh-CN" sz="2400" dirty="0"/>
          </a:p>
          <a:p>
            <a:pPr algn="just"/>
            <a:r>
              <a:rPr lang="en-US" altLang="zh-CN" sz="2400" dirty="0"/>
              <a:t>I disagree _____ violent protests.</a:t>
            </a:r>
          </a:p>
          <a:p>
            <a:pPr algn="just">
              <a:lnSpc>
                <a:spcPts val="1500"/>
              </a:lnSpc>
            </a:pPr>
            <a:endParaRPr lang="en-US" altLang="zh-CN" sz="2400" dirty="0"/>
          </a:p>
          <a:p>
            <a:pPr algn="just"/>
            <a:r>
              <a:rPr lang="en-US" altLang="zh-CN" sz="2400" spc="50" dirty="0"/>
              <a:t>With wonderful natural landscape, the small island has grown</a:t>
            </a:r>
            <a:r>
              <a:rPr lang="en-US" altLang="zh-CN" sz="2400" dirty="0"/>
              <a:t> _____ a tourists’ paradise.</a:t>
            </a:r>
          </a:p>
          <a:p>
            <a:pPr algn="just">
              <a:lnSpc>
                <a:spcPts val="1500"/>
              </a:lnSpc>
            </a:pPr>
            <a:endParaRPr lang="en-US" altLang="zh-CN" sz="2400" dirty="0"/>
          </a:p>
          <a:p>
            <a:pPr algn="just"/>
            <a:r>
              <a:rPr lang="en-US" altLang="zh-CN" sz="2400" spc="-50" dirty="0"/>
              <a:t>No country shall be allowed to interfere</a:t>
            </a:r>
            <a:r>
              <a:rPr lang="en-US" altLang="zh-CN" sz="2400" dirty="0"/>
              <a:t> _____ </a:t>
            </a:r>
            <a:r>
              <a:rPr lang="en-US" altLang="zh-CN" sz="2400" spc="-50" dirty="0"/>
              <a:t>other states’ internal</a:t>
            </a:r>
            <a:r>
              <a:rPr lang="en-US" altLang="zh-CN" sz="2400" dirty="0"/>
              <a:t> affairs.</a:t>
            </a:r>
          </a:p>
        </p:txBody>
      </p:sp>
      <p:sp>
        <p:nvSpPr>
          <p:cNvPr id="27" name="文本框 26"/>
          <p:cNvSpPr txBox="1"/>
          <p:nvPr/>
        </p:nvSpPr>
        <p:spPr>
          <a:xfrm>
            <a:off x="4511040" y="1114680"/>
            <a:ext cx="1289969" cy="461665"/>
          </a:xfrm>
          <a:prstGeom prst="rect">
            <a:avLst/>
          </a:prstGeom>
          <a:noFill/>
        </p:spPr>
        <p:txBody>
          <a:bodyPr wrap="none" rtlCol="0">
            <a:spAutoFit/>
          </a:bodyPr>
          <a:lstStyle/>
          <a:p>
            <a:pPr algn="just"/>
            <a:r>
              <a:rPr lang="en-US" altLang="zh-CN" sz="2400" dirty="0">
                <a:solidFill>
                  <a:srgbClr val="FF0000"/>
                </a:solidFill>
              </a:rPr>
              <a:t>of/about</a:t>
            </a:r>
            <a:endParaRPr lang="zh-CN" altLang="en-US" sz="2400" dirty="0">
              <a:solidFill>
                <a:srgbClr val="FF0000"/>
              </a:solidFill>
            </a:endParaRPr>
          </a:p>
        </p:txBody>
      </p:sp>
      <p:sp>
        <p:nvSpPr>
          <p:cNvPr id="30" name="文本框 29"/>
          <p:cNvSpPr txBox="1"/>
          <p:nvPr/>
        </p:nvSpPr>
        <p:spPr>
          <a:xfrm>
            <a:off x="2018484" y="2605112"/>
            <a:ext cx="739305" cy="461665"/>
          </a:xfrm>
          <a:prstGeom prst="rect">
            <a:avLst/>
          </a:prstGeom>
          <a:noFill/>
        </p:spPr>
        <p:txBody>
          <a:bodyPr wrap="none" rtlCol="0">
            <a:spAutoFit/>
          </a:bodyPr>
          <a:lstStyle/>
          <a:p>
            <a:pPr algn="just"/>
            <a:r>
              <a:rPr lang="en-US" altLang="zh-CN" sz="2400" dirty="0">
                <a:solidFill>
                  <a:srgbClr val="FF0000"/>
                </a:solidFill>
              </a:rPr>
              <a:t>with</a:t>
            </a:r>
            <a:endParaRPr lang="zh-CN" altLang="en-US" sz="2400" dirty="0">
              <a:solidFill>
                <a:srgbClr val="FF0000"/>
              </a:solidFill>
            </a:endParaRPr>
          </a:p>
        </p:txBody>
      </p:sp>
      <p:sp>
        <p:nvSpPr>
          <p:cNvPr id="31" name="文本框 30"/>
          <p:cNvSpPr txBox="1"/>
          <p:nvPr/>
        </p:nvSpPr>
        <p:spPr>
          <a:xfrm>
            <a:off x="4629203" y="2048240"/>
            <a:ext cx="675698" cy="461665"/>
          </a:xfrm>
          <a:prstGeom prst="rect">
            <a:avLst/>
          </a:prstGeom>
          <a:noFill/>
        </p:spPr>
        <p:txBody>
          <a:bodyPr wrap="none" rtlCol="0">
            <a:spAutoFit/>
          </a:bodyPr>
          <a:lstStyle/>
          <a:p>
            <a:pPr algn="just"/>
            <a:r>
              <a:rPr lang="en-US" altLang="zh-CN" sz="2400" dirty="0">
                <a:solidFill>
                  <a:srgbClr val="FF0000"/>
                </a:solidFill>
              </a:rPr>
              <a:t>into</a:t>
            </a:r>
            <a:endParaRPr lang="zh-CN" altLang="en-US" sz="2400" dirty="0">
              <a:solidFill>
                <a:srgbClr val="FF0000"/>
              </a:solidFill>
            </a:endParaRPr>
          </a:p>
        </p:txBody>
      </p:sp>
      <p:sp>
        <p:nvSpPr>
          <p:cNvPr id="32" name="文本框 31"/>
          <p:cNvSpPr txBox="1"/>
          <p:nvPr/>
        </p:nvSpPr>
        <p:spPr>
          <a:xfrm>
            <a:off x="799134" y="3525071"/>
            <a:ext cx="675698" cy="461665"/>
          </a:xfrm>
          <a:prstGeom prst="rect">
            <a:avLst/>
          </a:prstGeom>
          <a:noFill/>
        </p:spPr>
        <p:txBody>
          <a:bodyPr wrap="none" rtlCol="0">
            <a:spAutoFit/>
          </a:bodyPr>
          <a:lstStyle/>
          <a:p>
            <a:pPr algn="just"/>
            <a:r>
              <a:rPr lang="en-US" altLang="zh-CN" sz="2400" dirty="0">
                <a:solidFill>
                  <a:srgbClr val="FF0000"/>
                </a:solidFill>
              </a:rPr>
              <a:t>into</a:t>
            </a:r>
            <a:endParaRPr lang="zh-CN" altLang="en-US" sz="2400" dirty="0">
              <a:solidFill>
                <a:srgbClr val="FF0000"/>
              </a:solidFill>
            </a:endParaRPr>
          </a:p>
        </p:txBody>
      </p:sp>
      <p:sp>
        <p:nvSpPr>
          <p:cNvPr id="33" name="文本框 32"/>
          <p:cNvSpPr txBox="1"/>
          <p:nvPr/>
        </p:nvSpPr>
        <p:spPr>
          <a:xfrm>
            <a:off x="5522354" y="4086074"/>
            <a:ext cx="739305" cy="461665"/>
          </a:xfrm>
          <a:prstGeom prst="rect">
            <a:avLst/>
          </a:prstGeom>
          <a:noFill/>
        </p:spPr>
        <p:txBody>
          <a:bodyPr wrap="none" rtlCol="0">
            <a:spAutoFit/>
          </a:bodyPr>
          <a:lstStyle/>
          <a:p>
            <a:pPr algn="just"/>
            <a:r>
              <a:rPr lang="en-US" altLang="zh-CN" sz="2400" dirty="0">
                <a:solidFill>
                  <a:srgbClr val="FF0000"/>
                </a:solidFill>
              </a:rPr>
              <a:t>with</a:t>
            </a:r>
            <a:endParaRPr lang="zh-CN" altLang="en-US" sz="2400" dirty="0">
              <a:solidFill>
                <a:srgbClr val="FF0000"/>
              </a:solidFill>
            </a:endParaRPr>
          </a:p>
        </p:txBody>
      </p:sp>
      <p:pic>
        <p:nvPicPr>
          <p:cNvPr id="34"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212550"/>
            <a:ext cx="324000" cy="324000"/>
          </a:xfrm>
          <a:prstGeom prst="rect">
            <a:avLst/>
          </a:prstGeom>
          <a:noFill/>
        </p:spPr>
      </p:pic>
      <p:sp>
        <p:nvSpPr>
          <p:cNvPr id="12" name="矩形 11"/>
          <p:cNvSpPr/>
          <p:nvPr/>
        </p:nvSpPr>
        <p:spPr>
          <a:xfrm>
            <a:off x="4565649" y="1220970"/>
            <a:ext cx="1235359"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578351" y="2141415"/>
            <a:ext cx="76200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979820" y="2696250"/>
            <a:ext cx="76200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51498" y="3615069"/>
            <a:ext cx="76200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511000" y="4159210"/>
            <a:ext cx="76200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298214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childTnLst>
              </p:cTn>
              <p:nextCondLst>
                <p:cond evt="onClick" delay="0">
                  <p:tgtEl>
                    <p:spTgt spid="34"/>
                  </p:tgtEl>
                </p:cond>
              </p:nextCondLst>
            </p:seq>
            <p:seq concurrent="1" nextAc="seek">
              <p:cTn id="15" restart="whenNotActive" fill="hold" evtFilter="cancelBubble" nodeType="interactiveSeq">
                <p:stCondLst>
                  <p:cond evt="onClick" delay="0">
                    <p:tgtEl>
                      <p:spTgt spid="12"/>
                    </p:tgtEl>
                  </p:cond>
                </p:stCondLst>
                <p:endSync evt="end" delay="0">
                  <p:rtn val="all"/>
                </p:endSync>
                <p:childTnLst>
                  <p:par>
                    <p:cTn id="16" fill="hold">
                      <p:stCondLst>
                        <p:cond delay="0"/>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27"/>
                                        </p:tgtEl>
                                        <p:attrNameLst>
                                          <p:attrName>style.visibility</p:attrName>
                                        </p:attrNameLst>
                                      </p:cBhvr>
                                      <p:to>
                                        <p:strVal val="visible"/>
                                      </p:to>
                                    </p:se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childTnLst>
              </p:cTn>
              <p:nextCondLst>
                <p:cond evt="onClick" delay="0">
                  <p:tgtEl>
                    <p:spTgt spid="12"/>
                  </p:tgtEl>
                </p:cond>
              </p:nextCondLst>
            </p:seq>
            <p:seq concurrent="1" nextAc="seek">
              <p:cTn id="20" restart="whenNotActive" fill="hold" evtFilter="cancelBubble" nodeType="interactiveSeq">
                <p:stCondLst>
                  <p:cond evt="onClick" delay="0">
                    <p:tgtEl>
                      <p:spTgt spid="13"/>
                    </p:tgtEl>
                  </p:cond>
                </p:stCondLst>
                <p:endSync evt="end" delay="0">
                  <p:rtn val="all"/>
                </p:endSync>
                <p:childTnLst>
                  <p:par>
                    <p:cTn id="21" fill="hold">
                      <p:stCondLst>
                        <p:cond delay="0"/>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25" restart="whenNotActive" fill="hold" evtFilter="cancelBubble" nodeType="interactiveSeq">
                <p:stCondLst>
                  <p:cond evt="onClick" delay="0">
                    <p:tgtEl>
                      <p:spTgt spid="14"/>
                    </p:tgtEl>
                  </p:cond>
                </p:stCondLst>
                <p:endSync evt="end" delay="0">
                  <p:rtn val="all"/>
                </p:endSync>
                <p:childTnLst>
                  <p:par>
                    <p:cTn id="26" fill="hold">
                      <p:stCondLst>
                        <p:cond delay="0"/>
                      </p:stCondLst>
                      <p:childTnLst>
                        <p:par>
                          <p:cTn id="27" fill="hold">
                            <p:stCondLst>
                              <p:cond delay="0"/>
                            </p:stCondLst>
                            <p:childTnLst>
                              <p:par>
                                <p:cTn id="28" presetID="1" presetClass="entr" presetSubtype="0" fill="hold" grpId="1" nodeType="clickEffect">
                                  <p:stCondLst>
                                    <p:cond delay="0"/>
                                  </p:stCondLst>
                                  <p:childTnLst>
                                    <p:set>
                                      <p:cBhvr>
                                        <p:cTn id="29" dur="1" fill="hold">
                                          <p:stCondLst>
                                            <p:cond delay="0"/>
                                          </p:stCondLst>
                                        </p:cTn>
                                        <p:tgtEl>
                                          <p:spTgt spid="30"/>
                                        </p:tgtEl>
                                        <p:attrNameLst>
                                          <p:attrName>style.visibility</p:attrName>
                                        </p:attrNameLst>
                                      </p:cBhvr>
                                      <p:to>
                                        <p:strVal val="visible"/>
                                      </p:to>
                                    </p:se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30" restart="whenNotActive" fill="hold" evtFilter="cancelBubble" nodeType="interactiveSeq">
                <p:stCondLst>
                  <p:cond evt="onClick" delay="0">
                    <p:tgtEl>
                      <p:spTgt spid="15"/>
                    </p:tgtEl>
                  </p:cond>
                </p:stCondLst>
                <p:endSync evt="end" delay="0">
                  <p:rtn val="all"/>
                </p:endSync>
                <p:childTnLst>
                  <p:par>
                    <p:cTn id="31" fill="hold">
                      <p:stCondLst>
                        <p:cond delay="0"/>
                      </p:stCondLst>
                      <p:childTnLst>
                        <p:par>
                          <p:cTn id="32" fill="hold">
                            <p:stCondLst>
                              <p:cond delay="0"/>
                            </p:stCondLst>
                            <p:childTnLst>
                              <p:par>
                                <p:cTn id="33" presetID="1" presetClass="entr" presetSubtype="0" fill="hold" grpId="1" nodeType="clickEffect">
                                  <p:stCondLst>
                                    <p:cond delay="0"/>
                                  </p:stCondLst>
                                  <p:childTnLst>
                                    <p:set>
                                      <p:cBhvr>
                                        <p:cTn id="34" dur="1" fill="hold">
                                          <p:stCondLst>
                                            <p:cond delay="0"/>
                                          </p:stCondLst>
                                        </p:cTn>
                                        <p:tgtEl>
                                          <p:spTgt spid="32"/>
                                        </p:tgtEl>
                                        <p:attrNameLst>
                                          <p:attrName>style.visibility</p:attrName>
                                        </p:attrNameLst>
                                      </p:cBhvr>
                                      <p:to>
                                        <p:strVal val="visible"/>
                                      </p:to>
                                    </p:se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35" restart="whenNotActive" fill="hold" evtFilter="cancelBubble" nodeType="interactiveSeq">
                <p:stCondLst>
                  <p:cond evt="onClick" delay="0">
                    <p:tgtEl>
                      <p:spTgt spid="16"/>
                    </p:tgtEl>
                  </p:cond>
                </p:stCondLst>
                <p:endSync evt="end" delay="0">
                  <p:rtn val="all"/>
                </p:endSync>
                <p:childTnLst>
                  <p:par>
                    <p:cTn id="36" fill="hold">
                      <p:stCondLst>
                        <p:cond delay="0"/>
                      </p:stCondLst>
                      <p:childTnLst>
                        <p:par>
                          <p:cTn id="37" fill="hold">
                            <p:stCondLst>
                              <p:cond delay="0"/>
                            </p:stCondLst>
                            <p:childTnLst>
                              <p:par>
                                <p:cTn id="38" presetID="1" presetClass="entr" presetSubtype="0" fill="hold" grpId="1" nodeType="clickEffect">
                                  <p:stCondLst>
                                    <p:cond delay="0"/>
                                  </p:stCondLst>
                                  <p:childTnLst>
                                    <p:set>
                                      <p:cBhvr>
                                        <p:cTn id="39" dur="1" fill="hold">
                                          <p:stCondLst>
                                            <p:cond delay="0"/>
                                          </p:stCondLst>
                                        </p:cTn>
                                        <p:tgtEl>
                                          <p:spTgt spid="33"/>
                                        </p:tgtEl>
                                        <p:attrNameLst>
                                          <p:attrName>style.visibility</p:attrName>
                                        </p:attrNameLst>
                                      </p:cBhvr>
                                      <p:to>
                                        <p:strVal val="visible"/>
                                      </p:to>
                                    </p:se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childTnLst>
              </p:cTn>
              <p:nextCondLst>
                <p:cond evt="onClick" delay="0">
                  <p:tgtEl>
                    <p:spTgt spid="16"/>
                  </p:tgtEl>
                </p:cond>
              </p:nextCondLst>
            </p:seq>
          </p:childTnLst>
        </p:cTn>
      </p:par>
    </p:tnLst>
    <p:bldLst>
      <p:bldP spid="27" grpId="0"/>
      <p:bldP spid="27" grpId="1"/>
      <p:bldP spid="30" grpId="0"/>
      <p:bldP spid="30" grpId="1"/>
      <p:bldP spid="31" grpId="0"/>
      <p:bldP spid="31" grpId="1"/>
      <p:bldP spid="32" grpId="0"/>
      <p:bldP spid="32" grpId="1"/>
      <p:bldP spid="33" grpId="0"/>
      <p:bldP spid="33"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360000" y="1133951"/>
            <a:ext cx="8532300" cy="830997"/>
          </a:xfrm>
          <a:prstGeom prst="rect">
            <a:avLst/>
          </a:prstGeom>
          <a:noFill/>
        </p:spPr>
        <p:txBody>
          <a:bodyPr wrap="square" rtlCol="0">
            <a:spAutoFit/>
          </a:bodyPr>
          <a:lstStyle/>
          <a:p>
            <a:pPr algn="just"/>
            <a:r>
              <a:rPr lang="en-US" altLang="zh-CN" sz="2400" b="1" dirty="0">
                <a:solidFill>
                  <a:srgbClr val="C6383E"/>
                </a:solidFill>
              </a:rPr>
              <a:t>Task 3</a:t>
            </a:r>
          </a:p>
          <a:p>
            <a:pPr algn="just"/>
            <a:r>
              <a:rPr lang="en-US" altLang="zh-CN" sz="2400" spc="-10" dirty="0">
                <a:latin typeface="Cambria" panose="02040503050406030204" pitchFamily="18" charset="0"/>
                <a:ea typeface="Cambria" panose="02040503050406030204" pitchFamily="18" charset="0"/>
              </a:rPr>
              <a:t>Translate the following passage into Chinese.</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0" name="文本框 9"/>
          <p:cNvSpPr txBox="1"/>
          <p:nvPr/>
        </p:nvSpPr>
        <p:spPr>
          <a:xfrm>
            <a:off x="366165" y="2132910"/>
            <a:ext cx="8526135" cy="3785652"/>
          </a:xfrm>
          <a:prstGeom prst="rect">
            <a:avLst/>
          </a:prstGeom>
          <a:noFill/>
        </p:spPr>
        <p:txBody>
          <a:bodyPr wrap="square" rtlCol="0">
            <a:spAutoFit/>
          </a:bodyPr>
          <a:lstStyle/>
          <a:p>
            <a:pPr algn="just"/>
            <a:r>
              <a:rPr lang="en-US" altLang="zh-CN" sz="2400" dirty="0"/>
              <a:t>     </a:t>
            </a:r>
            <a:r>
              <a:rPr lang="en-US" altLang="zh-CN" sz="2400" spc="-10" dirty="0"/>
              <a:t>With a history stretching back to antiquity, China’s fine traditional</a:t>
            </a:r>
            <a:r>
              <a:rPr lang="en-US" altLang="zh-CN" sz="2400" dirty="0"/>
              <a:t> </a:t>
            </a:r>
            <a:r>
              <a:rPr lang="en-US" altLang="zh-CN" sz="2400" spc="-50" dirty="0"/>
              <a:t>culture is extensive and profound; it is the crystallization of the wisdom</a:t>
            </a:r>
            <a:r>
              <a:rPr lang="en-US" altLang="zh-CN" sz="2400" dirty="0"/>
              <a:t> </a:t>
            </a:r>
            <a:r>
              <a:rPr lang="en-US" altLang="zh-CN" sz="2400" spc="-60" dirty="0"/>
              <a:t>of Chinese civilization. Our traditional culture espouses many important</a:t>
            </a:r>
            <a:r>
              <a:rPr lang="en-US" altLang="zh-CN" sz="2400" dirty="0"/>
              <a:t> </a:t>
            </a:r>
            <a:r>
              <a:rPr lang="en-US" altLang="zh-CN" sz="2400" spc="30" dirty="0"/>
              <a:t>principles and concepts, including pursuing common good for all</a:t>
            </a:r>
            <a:r>
              <a:rPr lang="en-US" altLang="zh-CN" sz="2400" dirty="0"/>
              <a:t>; </a:t>
            </a:r>
            <a:r>
              <a:rPr lang="en-US" altLang="zh-CN" sz="2400" spc="30" dirty="0"/>
              <a:t>regarding the people as the foundation of the state; governing by</a:t>
            </a:r>
            <a:r>
              <a:rPr lang="en-US" altLang="zh-CN" sz="2400" dirty="0"/>
              <a:t> </a:t>
            </a:r>
            <a:r>
              <a:rPr lang="en-US" altLang="zh-CN" sz="2400" spc="-20" dirty="0"/>
              <a:t>virtue; discarding the outdated in favor of the new; selecting officials</a:t>
            </a:r>
            <a:r>
              <a:rPr lang="en-US" altLang="zh-CN" sz="2400" dirty="0"/>
              <a:t> </a:t>
            </a:r>
            <a:r>
              <a:rPr lang="en-US" altLang="zh-CN" sz="2400" spc="20" dirty="0"/>
              <a:t>on the basis of merit; promoting harmony between humanity and</a:t>
            </a:r>
            <a:r>
              <a:rPr lang="en-US" altLang="zh-CN" sz="2400" dirty="0"/>
              <a:t> </a:t>
            </a:r>
            <a:r>
              <a:rPr lang="en-US" altLang="zh-CN" sz="2400" spc="-20" dirty="0"/>
              <a:t>nature; ceaselessly pursuing self-improvement; embracing the world</a:t>
            </a:r>
            <a:r>
              <a:rPr lang="en-US" altLang="zh-CN" sz="2400" dirty="0"/>
              <a:t> </a:t>
            </a:r>
            <a:r>
              <a:rPr lang="en-US" altLang="zh-CN" sz="2400" spc="40" dirty="0"/>
              <a:t>with virtue; acting in good faith and being friendly to others; and</a:t>
            </a:r>
            <a:r>
              <a:rPr lang="en-US" altLang="zh-CN" sz="2400" dirty="0"/>
              <a:t> fostering neighborliness.</a:t>
            </a:r>
            <a:endParaRPr lang="en-US" altLang="zh-CN" sz="2400" b="1" dirty="0">
              <a:solidFill>
                <a:srgbClr val="C6383E"/>
              </a:solidFill>
            </a:endParaRPr>
          </a:p>
        </p:txBody>
      </p:sp>
      <p:pic>
        <p:nvPicPr>
          <p:cNvPr id="29"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pic>
        <p:nvPicPr>
          <p:cNvPr id="19"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pic>
        <p:nvPicPr>
          <p:cNvPr id="26" name="钥匙2" descr="C:\Users\senj\Desktop\新建文件夹\答案.png">
            <a:hlinkClick r:id="" action="ppaction://noaction"/>
          </p:cNvPr>
          <p:cNvPicPr>
            <a:picLocks noChangeAspect="1" noChangeArrowheads="1"/>
          </p:cNvPicPr>
          <p:nvPr/>
        </p:nvPicPr>
        <p:blipFill>
          <a:blip r:embed="rId5" cstate="print"/>
          <a:srcRect/>
          <a:stretch>
            <a:fillRect/>
          </a:stretch>
        </p:blipFill>
        <p:spPr bwMode="auto">
          <a:xfrm>
            <a:off x="95139" y="1592895"/>
            <a:ext cx="324000" cy="324000"/>
          </a:xfrm>
          <a:prstGeom prst="rect">
            <a:avLst/>
          </a:prstGeom>
          <a:noFill/>
        </p:spPr>
      </p:pic>
      <p:grpSp>
        <p:nvGrpSpPr>
          <p:cNvPr id="27" name="组合 26"/>
          <p:cNvGrpSpPr/>
          <p:nvPr/>
        </p:nvGrpSpPr>
        <p:grpSpPr>
          <a:xfrm>
            <a:off x="9461137" y="1132940"/>
            <a:ext cx="9144000" cy="5171599"/>
            <a:chOff x="9461137" y="1132940"/>
            <a:chExt cx="9144000" cy="5171599"/>
          </a:xfrm>
        </p:grpSpPr>
        <p:sp>
          <p:nvSpPr>
            <p:cNvPr id="30" name="矩形 29"/>
            <p:cNvSpPr/>
            <p:nvPr/>
          </p:nvSpPr>
          <p:spPr>
            <a:xfrm>
              <a:off x="9461137" y="1132940"/>
              <a:ext cx="9144000" cy="51715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p:cNvSpPr txBox="1"/>
            <p:nvPr/>
          </p:nvSpPr>
          <p:spPr>
            <a:xfrm>
              <a:off x="9766987" y="2933909"/>
              <a:ext cx="8532300" cy="1569660"/>
            </a:xfrm>
            <a:prstGeom prst="rect">
              <a:avLst/>
            </a:prstGeom>
            <a:noFill/>
          </p:spPr>
          <p:txBody>
            <a:bodyPr wrap="square" rtlCol="0">
              <a:spAutoFit/>
            </a:bodyPr>
            <a:lstStyle/>
            <a:p>
              <a:r>
                <a:rPr lang="zh-CN" altLang="en-US" sz="2400" dirty="0"/>
                <a:t>         中华优秀传统文化源远流长、博大精深，是中华文明的智慧</a:t>
              </a:r>
              <a:r>
                <a:rPr lang="zh-CN" altLang="en-US" sz="2400" spc="100" dirty="0"/>
                <a:t>结晶。我们的传统文化倡导天下为公、民为邦本、为政以</a:t>
              </a:r>
              <a:r>
                <a:rPr lang="zh-CN" altLang="en-US" sz="2400" dirty="0"/>
                <a:t>德、革故鼎新、任人唯贤、天人合一、自强不息、厚德载物、讲信修睦、亲仁善邻等重要的原则和概念。</a:t>
              </a:r>
            </a:p>
          </p:txBody>
        </p:sp>
      </p:grpSp>
    </p:spTree>
    <p:extLst>
      <p:ext uri="{BB962C8B-B14F-4D97-AF65-F5344CB8AC3E}">
        <p14:creationId xmlns:p14="http://schemas.microsoft.com/office/powerpoint/2010/main" val="314403056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6"/>
                    </p:tgtEl>
                  </p:cond>
                </p:stCondLst>
                <p:endSync evt="end" delay="0">
                  <p:rtn val="all"/>
                </p:endSync>
                <p:childTnLst>
                  <p:par>
                    <p:cTn id="3" fill="hold">
                      <p:stCondLst>
                        <p:cond delay="0"/>
                      </p:stCondLst>
                      <p:childTnLst>
                        <p:par>
                          <p:cTn id="4" fill="hold">
                            <p:stCondLst>
                              <p:cond delay="0"/>
                            </p:stCondLst>
                            <p:childTnLst>
                              <p:par>
                                <p:cTn id="5" presetID="35" presetClass="path" presetSubtype="0" accel="50000" decel="50000" fill="hold" nodeType="clickEffect">
                                  <p:stCondLst>
                                    <p:cond delay="0"/>
                                  </p:stCondLst>
                                  <p:childTnLst>
                                    <p:animMotion origin="layout" path="M -2.22222E-6 3.7037E-7 L -1.03472 0.00023 " pathEditMode="relative" rAng="0" ptsTypes="AA">
                                      <p:cBhvr>
                                        <p:cTn id="6" dur="500" fill="hold"/>
                                        <p:tgtEl>
                                          <p:spTgt spid="27"/>
                                        </p:tgtEl>
                                        <p:attrNameLst>
                                          <p:attrName>ppt_x</p:attrName>
                                          <p:attrName>ppt_y</p:attrName>
                                        </p:attrNameLst>
                                      </p:cBhvr>
                                      <p:rCtr x="-51736" y="0"/>
                                    </p:animMotion>
                                  </p:childTnLst>
                                </p:cTn>
                              </p:par>
                            </p:childTnLst>
                          </p:cTn>
                        </p:par>
                      </p:childTnLst>
                    </p:cTn>
                  </p:par>
                </p:childTnLst>
              </p:cTn>
              <p:nextCondLst>
                <p:cond evt="onClick" delay="0">
                  <p:tgtEl>
                    <p:spTgt spid="26"/>
                  </p:tgtEl>
                </p:cond>
              </p:nextCondLst>
            </p:seq>
            <p:seq concurrent="1" nextAc="seek">
              <p:cTn id="7" restart="whenNotActive" fill="hold" evtFilter="cancelBubble" nodeType="interactiveSeq">
                <p:stCondLst>
                  <p:cond evt="onClick" delay="0">
                    <p:tgtEl>
                      <p:spTgt spid="27"/>
                    </p:tgtEl>
                  </p:cond>
                </p:stCondLst>
                <p:endSync evt="end" delay="0">
                  <p:rtn val="all"/>
                </p:endSync>
                <p:childTnLst>
                  <p:par>
                    <p:cTn id="8" fill="hold">
                      <p:stCondLst>
                        <p:cond delay="0"/>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2.22222E-6 3.7037E-7 L -2.22222E-6 0.25 " pathEditMode="relative" rAng="0" ptsTypes="AA">
                                      <p:cBhvr>
                                        <p:cTn id="11" dur="500" fill="hold"/>
                                        <p:tgtEl>
                                          <p:spTgt spid="27"/>
                                        </p:tgtEl>
                                        <p:attrNameLst>
                                          <p:attrName>ppt_x</p:attrName>
                                          <p:attrName>ppt_y</p:attrName>
                                        </p:attrNameLst>
                                      </p:cBhvr>
                                      <p:rCtr x="0" y="12500"/>
                                    </p:animMotion>
                                  </p:childTnLst>
                                </p:cTn>
                              </p:par>
                            </p:childTnLst>
                          </p:cTn>
                        </p:par>
                      </p:childTnLst>
                    </p:cTn>
                  </p:par>
                </p:childTnLst>
              </p:cTn>
              <p:nextCondLst>
                <p:cond evt="onClick" delay="0">
                  <p:tgtEl>
                    <p:spTgt spid="27"/>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60000" y="785135"/>
            <a:ext cx="8532300" cy="5632311"/>
          </a:xfrm>
          <a:prstGeom prst="rect">
            <a:avLst/>
          </a:prstGeom>
          <a:noFill/>
        </p:spPr>
        <p:txBody>
          <a:bodyPr wrap="square" rtlCol="0">
            <a:spAutoFit/>
          </a:bodyPr>
          <a:lstStyle/>
          <a:p>
            <a:pPr algn="just"/>
            <a:r>
              <a:rPr lang="en-US" altLang="zh-CN" sz="2400" b="1" dirty="0">
                <a:solidFill>
                  <a:srgbClr val="C6383E"/>
                </a:solidFill>
              </a:rPr>
              <a:t>Task 1</a:t>
            </a:r>
          </a:p>
          <a:p>
            <a:pPr algn="just"/>
            <a:r>
              <a:rPr lang="en-US" altLang="zh-CN" sz="2400" spc="-10" dirty="0">
                <a:latin typeface="Cambria" panose="02040503050406030204" pitchFamily="18" charset="0"/>
                <a:ea typeface="Cambria" panose="02040503050406030204" pitchFamily="18" charset="0"/>
              </a:rPr>
              <a:t>Make a short speech about “How China gets its name”.</a:t>
            </a:r>
          </a:p>
          <a:p>
            <a:pPr algn="just"/>
            <a:r>
              <a:rPr lang="en-US" altLang="zh-CN" sz="2400" spc="20" dirty="0"/>
              <a:t>According to Text C, “</a:t>
            </a:r>
            <a:r>
              <a:rPr lang="en-US" altLang="zh-CN" sz="2400" i="1" spc="20" dirty="0"/>
              <a:t>It is from Qin that we get the word ‘China’ </a:t>
            </a:r>
            <a:r>
              <a:rPr lang="en-US" altLang="zh-CN" sz="2400" spc="20" dirty="0"/>
              <a:t>”</a:t>
            </a:r>
            <a:r>
              <a:rPr lang="en-US" altLang="zh-CN" sz="2400" i="1" spc="30" dirty="0"/>
              <a:t>. </a:t>
            </a:r>
            <a:r>
              <a:rPr lang="en-US" altLang="zh-CN" sz="2400" spc="-20" dirty="0"/>
              <a:t>Listen to the recording about the origin of the word “China” for more</a:t>
            </a:r>
            <a:r>
              <a:rPr lang="en-US" altLang="zh-CN" sz="2400" dirty="0"/>
              <a:t> </a:t>
            </a:r>
            <a:r>
              <a:rPr lang="en-US" altLang="zh-CN" sz="2400" spc="10" dirty="0"/>
              <a:t>details; then complete the following outline and provide your own</a:t>
            </a:r>
            <a:r>
              <a:rPr lang="en-US" altLang="zh-CN" sz="2400" dirty="0"/>
              <a:t> understanding to form a mini speech.</a:t>
            </a:r>
            <a:endParaRPr lang="en-US" altLang="zh-CN" sz="2400" b="1" dirty="0">
              <a:solidFill>
                <a:srgbClr val="C6383E"/>
              </a:solidFill>
              <a:latin typeface="Cambria" panose="02040503050406030204" pitchFamily="18" charset="0"/>
              <a:cs typeface="Times New Roman" panose="02020603050405020304" pitchFamily="18" charset="0"/>
            </a:endParaRPr>
          </a:p>
          <a:p>
            <a:pPr algn="just"/>
            <a:r>
              <a:rPr lang="en-US" altLang="zh-CN" sz="2400" b="1" dirty="0"/>
              <a:t>Outline:</a:t>
            </a:r>
          </a:p>
          <a:p>
            <a:pPr algn="just"/>
            <a:r>
              <a:rPr lang="en-US" altLang="zh-CN" sz="2400" b="1" dirty="0">
                <a:solidFill>
                  <a:srgbClr val="C6383E"/>
                </a:solidFill>
                <a:cs typeface="Times New Roman" panose="02020603050405020304" pitchFamily="18" charset="0"/>
              </a:rPr>
              <a:t>1</a:t>
            </a:r>
          </a:p>
          <a:p>
            <a:pPr algn="just"/>
            <a:endParaRPr lang="en-US" altLang="zh-CN" sz="2400" b="1" dirty="0">
              <a:solidFill>
                <a:srgbClr val="C6383E"/>
              </a:solidFill>
              <a:cs typeface="Times New Roman" panose="02020603050405020304" pitchFamily="18" charset="0"/>
            </a:endParaRPr>
          </a:p>
          <a:p>
            <a:pPr algn="just"/>
            <a:r>
              <a:rPr lang="en-US" altLang="zh-CN" sz="2400" b="1" dirty="0">
                <a:solidFill>
                  <a:srgbClr val="C6383E"/>
                </a:solidFill>
                <a:cs typeface="Times New Roman" panose="02020603050405020304" pitchFamily="18" charset="0"/>
              </a:rPr>
              <a:t>2</a:t>
            </a:r>
          </a:p>
          <a:p>
            <a:pPr algn="just"/>
            <a:endParaRPr lang="en-US" altLang="zh-CN" sz="2400" b="1" dirty="0">
              <a:solidFill>
                <a:srgbClr val="C6383E"/>
              </a:solidFill>
              <a:cs typeface="Times New Roman" panose="02020603050405020304" pitchFamily="18" charset="0"/>
            </a:endParaRPr>
          </a:p>
          <a:p>
            <a:pPr algn="just"/>
            <a:r>
              <a:rPr lang="en-US" altLang="zh-CN" sz="2400" b="1" dirty="0">
                <a:solidFill>
                  <a:srgbClr val="C6383E"/>
                </a:solidFill>
                <a:cs typeface="Times New Roman" panose="02020603050405020304" pitchFamily="18" charset="0"/>
              </a:rPr>
              <a:t>3</a:t>
            </a:r>
          </a:p>
          <a:p>
            <a:pPr algn="just"/>
            <a:endParaRPr lang="en-US" altLang="zh-CN" sz="2400" b="1" dirty="0">
              <a:solidFill>
                <a:srgbClr val="C6383E"/>
              </a:solidFill>
              <a:cs typeface="Times New Roman" panose="02020603050405020304" pitchFamily="18" charset="0"/>
            </a:endParaRPr>
          </a:p>
          <a:p>
            <a:pPr algn="just"/>
            <a:r>
              <a:rPr lang="en-US" altLang="zh-CN" sz="2400" b="1" dirty="0">
                <a:solidFill>
                  <a:srgbClr val="C6383E"/>
                </a:solidFill>
                <a:cs typeface="Times New Roman" panose="02020603050405020304" pitchFamily="18" charset="0"/>
              </a:rPr>
              <a:t>4</a:t>
            </a:r>
            <a:endParaRPr lang="zh-CN" altLang="en-US" sz="2400" b="1" dirty="0">
              <a:solidFill>
                <a:srgbClr val="C6383E"/>
              </a:solidFill>
              <a:cs typeface="Times New Roman" panose="02020603050405020304" pitchFamily="18" charset="0"/>
            </a:endParaRPr>
          </a:p>
          <a:p>
            <a:pPr algn="just"/>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10" name="文本框 9"/>
          <p:cNvSpPr txBox="1"/>
          <p:nvPr/>
        </p:nvSpPr>
        <p:spPr>
          <a:xfrm>
            <a:off x="660400" y="1889272"/>
            <a:ext cx="8231900" cy="4893647"/>
          </a:xfrm>
          <a:prstGeom prst="rect">
            <a:avLst/>
          </a:prstGeom>
          <a:noFill/>
        </p:spPr>
        <p:txBody>
          <a:bodyPr wrap="square" rtlCol="0">
            <a:spAutoFit/>
          </a:bodyPr>
          <a:lstStyle/>
          <a:p>
            <a:pPr algn="just"/>
            <a:endParaRPr lang="en-US" altLang="zh-CN" sz="2400" dirty="0"/>
          </a:p>
          <a:p>
            <a:pPr algn="just"/>
            <a:endParaRPr lang="en-US" altLang="zh-CN" sz="2400" dirty="0"/>
          </a:p>
          <a:p>
            <a:pPr algn="just"/>
            <a:endParaRPr lang="en-US" altLang="zh-CN" sz="2400" dirty="0"/>
          </a:p>
          <a:p>
            <a:pPr algn="just"/>
            <a:endParaRPr lang="en-US" altLang="zh-CN" sz="2400" dirty="0"/>
          </a:p>
          <a:p>
            <a:pPr algn="just"/>
            <a:r>
              <a:rPr lang="en-US" altLang="zh-CN" sz="2400" spc="-30" dirty="0"/>
              <a:t>In Chinese, the name of China is “</a:t>
            </a:r>
            <a:r>
              <a:rPr lang="en-US" altLang="zh-CN" sz="2400" spc="-30" dirty="0" err="1"/>
              <a:t>Zhongguo</a:t>
            </a:r>
            <a:r>
              <a:rPr lang="en-US" altLang="zh-CN" sz="2400" spc="-30" dirty="0"/>
              <a:t>”, which roughly means</a:t>
            </a:r>
            <a:r>
              <a:rPr lang="en-US" altLang="zh-CN" sz="2400" dirty="0"/>
              <a:t> the “_______ Kingdom”.</a:t>
            </a:r>
          </a:p>
          <a:p>
            <a:pPr algn="just"/>
            <a:r>
              <a:rPr lang="en-US" altLang="zh-CN" sz="2400" spc="-10" dirty="0"/>
              <a:t>The first known recording of the term “</a:t>
            </a:r>
            <a:r>
              <a:rPr lang="en-US" altLang="zh-CN" sz="2400" spc="-10" dirty="0" err="1"/>
              <a:t>Zhongguo</a:t>
            </a:r>
            <a:r>
              <a:rPr lang="en-US" altLang="zh-CN" sz="2400" spc="-10" dirty="0"/>
              <a:t>” referred to the</a:t>
            </a:r>
            <a:r>
              <a:rPr lang="en-US" altLang="zh-CN" sz="2400" dirty="0"/>
              <a:t> central _______ River valley.</a:t>
            </a:r>
          </a:p>
          <a:p>
            <a:pPr algn="just"/>
            <a:r>
              <a:rPr lang="en-US" altLang="zh-CN" sz="2400" spc="20" dirty="0"/>
              <a:t>Although each dynasty had its own name, the term “</a:t>
            </a:r>
            <a:r>
              <a:rPr lang="en-US" altLang="zh-CN" sz="2400" spc="20" dirty="0" err="1"/>
              <a:t>Zhongguo</a:t>
            </a:r>
            <a:r>
              <a:rPr lang="en-US" altLang="zh-CN" sz="2400" spc="20" dirty="0"/>
              <a:t>”</a:t>
            </a:r>
            <a:r>
              <a:rPr lang="en-US" altLang="zh-CN" sz="2400" dirty="0"/>
              <a:t> lived on  _________ documents.</a:t>
            </a:r>
          </a:p>
          <a:p>
            <a:pPr algn="just"/>
            <a:r>
              <a:rPr lang="en-US" altLang="zh-CN" sz="2400" spc="10" dirty="0"/>
              <a:t>Scholars disagree on the exact origin of the name “China”, which</a:t>
            </a:r>
            <a:r>
              <a:rPr lang="en-US" altLang="zh-CN" sz="2400" dirty="0"/>
              <a:t> </a:t>
            </a:r>
            <a:r>
              <a:rPr lang="en-US" altLang="zh-CN" sz="2400" spc="20" dirty="0"/>
              <a:t>may come from a</a:t>
            </a:r>
            <a:r>
              <a:rPr lang="en-US" altLang="zh-CN" sz="2400" dirty="0"/>
              <a:t> _______ </a:t>
            </a:r>
            <a:r>
              <a:rPr lang="en-US" altLang="zh-CN" sz="2400" spc="20" dirty="0"/>
              <a:t>pronunciation or the Persian word of</a:t>
            </a:r>
            <a:r>
              <a:rPr lang="en-US" altLang="zh-CN" sz="2400" dirty="0"/>
              <a:t> the _____ dynasty.</a:t>
            </a:r>
          </a:p>
        </p:txBody>
      </p:sp>
      <p:sp>
        <p:nvSpPr>
          <p:cNvPr id="3" name="文本框 2"/>
          <p:cNvSpPr txBox="1"/>
          <p:nvPr/>
        </p:nvSpPr>
        <p:spPr>
          <a:xfrm>
            <a:off x="1365250" y="3701780"/>
            <a:ext cx="1066318" cy="461665"/>
          </a:xfrm>
          <a:prstGeom prst="rect">
            <a:avLst/>
          </a:prstGeom>
          <a:noFill/>
        </p:spPr>
        <p:txBody>
          <a:bodyPr wrap="none" rtlCol="0">
            <a:spAutoFit/>
          </a:bodyPr>
          <a:lstStyle/>
          <a:p>
            <a:pPr algn="just"/>
            <a:r>
              <a:rPr lang="en-US" altLang="zh-CN" sz="2400" dirty="0">
                <a:solidFill>
                  <a:srgbClr val="FF0000"/>
                </a:solidFill>
              </a:rPr>
              <a:t>Middle</a:t>
            </a:r>
            <a:endParaRPr lang="zh-CN" altLang="en-US" sz="2400" dirty="0">
              <a:solidFill>
                <a:srgbClr val="FF0000"/>
              </a:solidFill>
            </a:endParaRPr>
          </a:p>
        </p:txBody>
      </p:sp>
      <p:sp>
        <p:nvSpPr>
          <p:cNvPr id="12" name="文本框 11"/>
          <p:cNvSpPr txBox="1"/>
          <p:nvPr/>
        </p:nvSpPr>
        <p:spPr>
          <a:xfrm>
            <a:off x="1716180" y="4437070"/>
            <a:ext cx="988476" cy="461665"/>
          </a:xfrm>
          <a:prstGeom prst="rect">
            <a:avLst/>
          </a:prstGeom>
          <a:noFill/>
        </p:spPr>
        <p:txBody>
          <a:bodyPr wrap="none" rtlCol="0">
            <a:spAutoFit/>
          </a:bodyPr>
          <a:lstStyle/>
          <a:p>
            <a:pPr algn="just"/>
            <a:r>
              <a:rPr lang="en-US" altLang="zh-CN" sz="2400" dirty="0">
                <a:solidFill>
                  <a:srgbClr val="FF0000"/>
                </a:solidFill>
              </a:rPr>
              <a:t>Yellow</a:t>
            </a:r>
            <a:endParaRPr lang="zh-CN" altLang="en-US" sz="2400" dirty="0">
              <a:solidFill>
                <a:srgbClr val="FF0000"/>
              </a:solidFill>
            </a:endParaRPr>
          </a:p>
        </p:txBody>
      </p:sp>
      <p:sp>
        <p:nvSpPr>
          <p:cNvPr id="13" name="文本框 12"/>
          <p:cNvSpPr txBox="1"/>
          <p:nvPr/>
        </p:nvSpPr>
        <p:spPr>
          <a:xfrm>
            <a:off x="1907815" y="5165585"/>
            <a:ext cx="1345433" cy="461665"/>
          </a:xfrm>
          <a:prstGeom prst="rect">
            <a:avLst/>
          </a:prstGeom>
          <a:noFill/>
        </p:spPr>
        <p:txBody>
          <a:bodyPr wrap="none" rtlCol="0">
            <a:spAutoFit/>
          </a:bodyPr>
          <a:lstStyle/>
          <a:p>
            <a:pPr algn="just"/>
            <a:r>
              <a:rPr lang="en-US" altLang="zh-CN" sz="2400" dirty="0">
                <a:solidFill>
                  <a:srgbClr val="FF0000"/>
                </a:solidFill>
              </a:rPr>
              <a:t>unofficial</a:t>
            </a:r>
            <a:endParaRPr lang="zh-CN" altLang="en-US" sz="2400" dirty="0">
              <a:solidFill>
                <a:srgbClr val="FF0000"/>
              </a:solidFill>
            </a:endParaRPr>
          </a:p>
        </p:txBody>
      </p:sp>
      <p:sp>
        <p:nvSpPr>
          <p:cNvPr id="17" name="文本框 16"/>
          <p:cNvSpPr txBox="1"/>
          <p:nvPr/>
        </p:nvSpPr>
        <p:spPr>
          <a:xfrm>
            <a:off x="3025378" y="5900310"/>
            <a:ext cx="1061637" cy="461665"/>
          </a:xfrm>
          <a:prstGeom prst="rect">
            <a:avLst/>
          </a:prstGeom>
          <a:noFill/>
        </p:spPr>
        <p:txBody>
          <a:bodyPr wrap="none" rtlCol="0">
            <a:spAutoFit/>
          </a:bodyPr>
          <a:lstStyle/>
          <a:p>
            <a:pPr algn="just"/>
            <a:r>
              <a:rPr lang="en-US" altLang="zh-CN" sz="2400" dirty="0">
                <a:solidFill>
                  <a:srgbClr val="FF0000"/>
                </a:solidFill>
              </a:rPr>
              <a:t>Roman</a:t>
            </a:r>
            <a:endParaRPr lang="zh-CN" altLang="en-US" sz="2400" dirty="0">
              <a:solidFill>
                <a:srgbClr val="FF0000"/>
              </a:solidFill>
            </a:endParaRPr>
          </a:p>
        </p:txBody>
      </p:sp>
      <p:sp>
        <p:nvSpPr>
          <p:cNvPr id="18" name="文本框 17"/>
          <p:cNvSpPr txBox="1"/>
          <p:nvPr/>
        </p:nvSpPr>
        <p:spPr>
          <a:xfrm>
            <a:off x="1309326" y="6241147"/>
            <a:ext cx="623889" cy="461665"/>
          </a:xfrm>
          <a:prstGeom prst="rect">
            <a:avLst/>
          </a:prstGeom>
          <a:noFill/>
        </p:spPr>
        <p:txBody>
          <a:bodyPr wrap="none" rtlCol="0">
            <a:spAutoFit/>
          </a:bodyPr>
          <a:lstStyle/>
          <a:p>
            <a:pPr algn="just"/>
            <a:r>
              <a:rPr lang="en-US" altLang="zh-CN" sz="2400" dirty="0">
                <a:solidFill>
                  <a:srgbClr val="FF0000"/>
                </a:solidFill>
              </a:rPr>
              <a:t>Qin</a:t>
            </a:r>
            <a:endParaRPr lang="zh-CN" altLang="en-US" sz="2400" dirty="0">
              <a:solidFill>
                <a:srgbClr val="FF0000"/>
              </a:solidFill>
            </a:endParaRPr>
          </a:p>
        </p:txBody>
      </p:sp>
      <p:pic>
        <p:nvPicPr>
          <p:cNvPr id="20"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227325"/>
            <a:ext cx="324000" cy="324000"/>
          </a:xfrm>
          <a:prstGeom prst="rect">
            <a:avLst/>
          </a:prstGeom>
          <a:noFill/>
        </p:spPr>
      </p:pic>
      <p:pic>
        <p:nvPicPr>
          <p:cNvPr id="4" name="listening_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cstate="print">
            <a:extLst>
              <a:ext uri="{28A0092B-C50C-407E-A947-70E740481C1C}">
                <a14:useLocalDpi xmlns:a14="http://schemas.microsoft.com/office/drawing/2010/main" val="0"/>
              </a:ext>
            </a:extLst>
          </a:blip>
          <a:stretch>
            <a:fillRect/>
          </a:stretch>
        </p:blipFill>
        <p:spPr>
          <a:xfrm>
            <a:off x="7471250" y="1202768"/>
            <a:ext cx="288000" cy="285121"/>
          </a:xfrm>
          <a:prstGeom prst="rect">
            <a:avLst/>
          </a:prstGeom>
        </p:spPr>
      </p:pic>
      <p:pic>
        <p:nvPicPr>
          <p:cNvPr id="21" name="图片 20" descr="未命名-3.png">
            <a:hlinkClick r:id="rId6" action="ppaction://hlinksldjump"/>
          </p:cNvPr>
          <p:cNvPicPr>
            <a:picLocks noChangeAspect="1"/>
          </p:cNvPicPr>
          <p:nvPr/>
        </p:nvPicPr>
        <p:blipFill>
          <a:blip r:embed="rId7"/>
          <a:stretch>
            <a:fillRect/>
          </a:stretch>
        </p:blipFill>
        <p:spPr>
          <a:xfrm>
            <a:off x="7831277" y="1202768"/>
            <a:ext cx="252000" cy="292090"/>
          </a:xfrm>
          <a:prstGeom prst="rect">
            <a:avLst/>
          </a:prstGeom>
        </p:spPr>
      </p:pic>
      <p:pic>
        <p:nvPicPr>
          <p:cNvPr id="22" name="Picture 3" descr="C:\Users\senj\Desktop\按钮.png">
            <a:hlinkClick r:id="" action="ppaction://hlinkshowjump?jump=nextslide"/>
          </p:cNvPr>
          <p:cNvPicPr>
            <a:picLocks noChangeAspect="1" noChangeArrowheads="1"/>
          </p:cNvPicPr>
          <p:nvPr/>
        </p:nvPicPr>
        <p:blipFill>
          <a:blip r:embed="rId8" cstate="print">
            <a:duotone>
              <a:schemeClr val="bg2">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23" name="Picture 3" descr="C:\Users\senj\Desktop\按钮.png"/>
          <p:cNvPicPr>
            <a:picLocks noChangeAspect="1" noChangeArrowheads="1"/>
          </p:cNvPicPr>
          <p:nvPr/>
        </p:nvPicPr>
        <p:blipFill>
          <a:blip r:embed="rId10" cstate="print"/>
          <a:srcRect l="12911" t="21436" r="39626" b="60503"/>
          <a:stretch>
            <a:fillRect/>
          </a:stretch>
        </p:blipFill>
        <p:spPr bwMode="auto">
          <a:xfrm>
            <a:off x="8366400" y="6429396"/>
            <a:ext cx="259557" cy="254794"/>
          </a:xfrm>
          <a:prstGeom prst="rect">
            <a:avLst/>
          </a:prstGeom>
          <a:noFill/>
        </p:spPr>
      </p:pic>
      <p:sp>
        <p:nvSpPr>
          <p:cNvPr id="14" name="矩形 13"/>
          <p:cNvSpPr/>
          <p:nvPr/>
        </p:nvSpPr>
        <p:spPr>
          <a:xfrm>
            <a:off x="1363524" y="3795375"/>
            <a:ext cx="1068043"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682955" y="4515040"/>
            <a:ext cx="1068043"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934041" y="5254525"/>
            <a:ext cx="1319207"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021795" y="5984100"/>
            <a:ext cx="1054905"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1241511" y="6352630"/>
            <a:ext cx="758740" cy="30072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248427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32832"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21" restart="whenNotActive" fill="hold" evtFilter="cancelBubble" nodeType="interactiveSeq">
                <p:stCondLst>
                  <p:cond evt="onClick" delay="0">
                    <p:tgtEl>
                      <p:spTgt spid="14"/>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26" restart="whenNotActive" fill="hold" evtFilter="cancelBubble" nodeType="interactiveSeq">
                <p:stCondLst>
                  <p:cond evt="onClick" delay="0">
                    <p:tgtEl>
                      <p:spTgt spid="15"/>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1"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31" restart="whenNotActive" fill="hold" evtFilter="cancelBubble" nodeType="interactiveSeq">
                <p:stCondLst>
                  <p:cond evt="onClick" delay="0">
                    <p:tgtEl>
                      <p:spTgt spid="16"/>
                    </p:tgtEl>
                  </p:cond>
                </p:stCondLst>
                <p:endSync evt="end" delay="0">
                  <p:rtn val="all"/>
                </p:endSync>
                <p:childTnLst>
                  <p:par>
                    <p:cTn id="32" fill="hold">
                      <p:stCondLst>
                        <p:cond delay="0"/>
                      </p:stCondLst>
                      <p:childTnLst>
                        <p:par>
                          <p:cTn id="33" fill="hold">
                            <p:stCondLst>
                              <p:cond delay="0"/>
                            </p:stCondLst>
                            <p:childTnLst>
                              <p:par>
                                <p:cTn id="34" presetID="1" presetClass="entr" presetSubtype="0" fill="hold" grpId="1" nodeType="clickEffect">
                                  <p:stCondLst>
                                    <p:cond delay="0"/>
                                  </p:stCondLst>
                                  <p:childTnLst>
                                    <p:set>
                                      <p:cBhvr>
                                        <p:cTn id="35"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6"/>
                  </p:tgtEl>
                </p:cond>
              </p:nextCondLst>
            </p:seq>
            <p:seq concurrent="1" nextAc="seek">
              <p:cTn id="36" restart="whenNotActive" fill="hold" evtFilter="cancelBubble" nodeType="interactiveSeq">
                <p:stCondLst>
                  <p:cond evt="onClick" delay="0">
                    <p:tgtEl>
                      <p:spTgt spid="19"/>
                    </p:tgtEl>
                  </p:cond>
                </p:stCondLst>
                <p:endSync evt="end" delay="0">
                  <p:rtn val="all"/>
                </p:endSync>
                <p:childTnLst>
                  <p:par>
                    <p:cTn id="37" fill="hold">
                      <p:stCondLst>
                        <p:cond delay="0"/>
                      </p:stCondLst>
                      <p:childTnLst>
                        <p:par>
                          <p:cTn id="38" fill="hold">
                            <p:stCondLst>
                              <p:cond delay="0"/>
                            </p:stCondLst>
                            <p:childTnLst>
                              <p:par>
                                <p:cTn id="39" presetID="1" presetClass="entr" presetSubtype="0" fill="hold" grpId="1"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19"/>
                  </p:tgtEl>
                </p:cond>
              </p:nextCondLst>
            </p:seq>
            <p:seq concurrent="1" nextAc="seek">
              <p:cTn id="41" restart="whenNotActive" fill="hold" evtFilter="cancelBubble" nodeType="interactiveSeq">
                <p:stCondLst>
                  <p:cond evt="onClick" delay="0">
                    <p:tgtEl>
                      <p:spTgt spid="24"/>
                    </p:tgtEl>
                  </p:cond>
                </p:stCondLst>
                <p:endSync evt="end" delay="0">
                  <p:rtn val="all"/>
                </p:endSync>
                <p:childTnLst>
                  <p:par>
                    <p:cTn id="42" fill="hold">
                      <p:stCondLst>
                        <p:cond delay="0"/>
                      </p:stCondLst>
                      <p:childTnLst>
                        <p:par>
                          <p:cTn id="43" fill="hold">
                            <p:stCondLst>
                              <p:cond delay="0"/>
                            </p:stCondLst>
                            <p:childTnLst>
                              <p:par>
                                <p:cTn id="44" presetID="1" presetClass="entr" presetSubtype="0" fill="hold" grpId="1" nodeType="clickEffect">
                                  <p:stCondLst>
                                    <p:cond delay="0"/>
                                  </p:stCondLst>
                                  <p:childTnLst>
                                    <p:set>
                                      <p:cBhvr>
                                        <p:cTn id="45"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24"/>
                  </p:tgtEl>
                </p:cond>
              </p:nextCondLst>
            </p:seq>
          </p:childTnLst>
        </p:cTn>
      </p:par>
    </p:tnLst>
    <p:bldLst>
      <p:bldP spid="3" grpId="0"/>
      <p:bldP spid="3" grpId="1"/>
      <p:bldP spid="12" grpId="0"/>
      <p:bldP spid="12" grpId="1"/>
      <p:bldP spid="13" grpId="0"/>
      <p:bldP spid="13" grpId="1"/>
      <p:bldP spid="17" grpId="0"/>
      <p:bldP spid="17" grpId="1"/>
      <p:bldP spid="18" grpId="0"/>
      <p:bldP spid="18"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6" name="文本框 15"/>
          <p:cNvSpPr txBox="1"/>
          <p:nvPr/>
        </p:nvSpPr>
        <p:spPr>
          <a:xfrm>
            <a:off x="360000" y="1133951"/>
            <a:ext cx="8532300" cy="2677656"/>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10" dirty="0">
                <a:latin typeface="Cambria" panose="02040503050406030204" pitchFamily="18" charset="0"/>
                <a:ea typeface="Cambria" panose="02040503050406030204" pitchFamily="18" charset="0"/>
              </a:rPr>
              <a:t>Discuss the following question with a partner.</a:t>
            </a:r>
          </a:p>
          <a:p>
            <a:pPr algn="just"/>
            <a:endParaRPr lang="en-US" altLang="zh-CN" sz="2400" b="1" spc="-10" dirty="0">
              <a:solidFill>
                <a:srgbClr val="C6383E"/>
              </a:solidFill>
              <a:latin typeface="Cambria" panose="02040503050406030204" pitchFamily="18" charset="0"/>
              <a:ea typeface="Cambria" panose="02040503050406030204" pitchFamily="18" charset="0"/>
            </a:endParaRPr>
          </a:p>
          <a:p>
            <a:pPr algn="just"/>
            <a:r>
              <a:rPr lang="en-US" altLang="zh-CN" sz="2400" spc="40" dirty="0"/>
              <a:t>Based on the title of Text C, the author’s way of thinking, and his</a:t>
            </a:r>
            <a:r>
              <a:rPr lang="en-US" altLang="zh-CN" sz="2400" dirty="0"/>
              <a:t> </a:t>
            </a:r>
            <a:r>
              <a:rPr lang="en-US" altLang="zh-CN" sz="2400" spc="10" dirty="0"/>
              <a:t>writing style, which of the following do you think the author might</a:t>
            </a:r>
            <a:r>
              <a:rPr lang="en-US" altLang="zh-CN" sz="2400" dirty="0"/>
              <a:t> </a:t>
            </a:r>
            <a:r>
              <a:rPr lang="en-US" altLang="zh-CN" sz="2400" spc="10" dirty="0"/>
              <a:t>mention if he is going to introduce the Tang dynasty to the English-</a:t>
            </a:r>
            <a:r>
              <a:rPr lang="en-US" altLang="zh-CN" sz="2400" spc="-10" dirty="0"/>
              <a:t> </a:t>
            </a:r>
            <a:r>
              <a:rPr lang="en-US" altLang="zh-CN" sz="2400" dirty="0"/>
              <a:t>speaking world?</a:t>
            </a:r>
            <a:endParaRPr lang="en-US" altLang="zh-CN" sz="2400" b="1" dirty="0">
              <a:solidFill>
                <a:srgbClr val="C6383E"/>
              </a:solidFill>
              <a:latin typeface="Cambria" panose="02040503050406030204" pitchFamily="18" charset="0"/>
              <a:ea typeface="Cambria" panose="02040503050406030204" pitchFamily="18" charset="0"/>
            </a:endParaRPr>
          </a:p>
        </p:txBody>
      </p:sp>
      <p:sp>
        <p:nvSpPr>
          <p:cNvPr id="2" name="十字形 1"/>
          <p:cNvSpPr/>
          <p:nvPr/>
        </p:nvSpPr>
        <p:spPr>
          <a:xfrm>
            <a:off x="467715" y="3933035"/>
            <a:ext cx="8310525" cy="2335685"/>
          </a:xfrm>
          <a:prstGeom prst="plus">
            <a:avLst>
              <a:gd name="adj" fmla="val 7165"/>
            </a:avLst>
          </a:prstGeom>
          <a:solidFill>
            <a:srgbClr val="F9E7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827740" y="4154193"/>
            <a:ext cx="7704535" cy="1938992"/>
          </a:xfrm>
          <a:prstGeom prst="rect">
            <a:avLst/>
          </a:prstGeom>
          <a:noFill/>
        </p:spPr>
        <p:txBody>
          <a:bodyPr wrap="square" rtlCol="0">
            <a:spAutoFit/>
          </a:bodyPr>
          <a:lstStyle/>
          <a:p>
            <a:r>
              <a:rPr lang="en-US" altLang="zh-CN" sz="2400" b="1" dirty="0">
                <a:solidFill>
                  <a:srgbClr val="C6383E"/>
                </a:solidFill>
              </a:rPr>
              <a:t>1 </a:t>
            </a:r>
            <a:r>
              <a:rPr lang="en-US" altLang="zh-CN" sz="2400" dirty="0"/>
              <a:t> The founder and other famous rulers</a:t>
            </a:r>
          </a:p>
          <a:p>
            <a:r>
              <a:rPr lang="en-US" altLang="zh-CN" sz="2400" b="1" dirty="0">
                <a:solidFill>
                  <a:srgbClr val="C6383E"/>
                </a:solidFill>
              </a:rPr>
              <a:t>2</a:t>
            </a:r>
            <a:r>
              <a:rPr lang="en-US" altLang="zh-CN" sz="2400" dirty="0"/>
              <a:t>  The founding and ending</a:t>
            </a:r>
          </a:p>
          <a:p>
            <a:r>
              <a:rPr lang="en-US" altLang="zh-CN" sz="2400" b="1" dirty="0">
                <a:solidFill>
                  <a:srgbClr val="C6383E"/>
                </a:solidFill>
              </a:rPr>
              <a:t>3  </a:t>
            </a:r>
            <a:r>
              <a:rPr lang="en-US" altLang="zh-CN" sz="2400" dirty="0"/>
              <a:t>Territory</a:t>
            </a:r>
          </a:p>
          <a:p>
            <a:r>
              <a:rPr lang="en-US" altLang="zh-CN" sz="2400" b="1" dirty="0">
                <a:solidFill>
                  <a:srgbClr val="C6383E"/>
                </a:solidFill>
              </a:rPr>
              <a:t>4 </a:t>
            </a:r>
            <a:r>
              <a:rPr lang="en-US" altLang="zh-CN" sz="2400" dirty="0"/>
              <a:t> Well-known historic events</a:t>
            </a:r>
          </a:p>
          <a:p>
            <a:r>
              <a:rPr lang="en-US" altLang="zh-CN" sz="2400" b="1" dirty="0">
                <a:solidFill>
                  <a:srgbClr val="C6383E"/>
                </a:solidFill>
              </a:rPr>
              <a:t>5</a:t>
            </a:r>
            <a:r>
              <a:rPr lang="en-US" altLang="zh-CN" sz="2400" dirty="0"/>
              <a:t>  …</a:t>
            </a:r>
            <a:endParaRPr lang="en-US" altLang="zh-CN" sz="2400" b="1" dirty="0">
              <a:solidFill>
                <a:srgbClr val="C6383E"/>
              </a:solidFill>
              <a:latin typeface="Cambria" panose="02040503050406030204" pitchFamily="18" charset="0"/>
              <a:ea typeface="Cambria" panose="02040503050406030204" pitchFamily="18" charset="0"/>
            </a:endParaRPr>
          </a:p>
        </p:txBody>
      </p:sp>
      <p:pic>
        <p:nvPicPr>
          <p:cNvPr id="22" name="Picture 3" descr="C:\Users\senj\Desktop\按钮.png"/>
          <p:cNvPicPr>
            <a:picLocks noChangeAspect="1" noChangeArrowheads="1"/>
          </p:cNvPicPr>
          <p:nvPr/>
        </p:nvPicPr>
        <p:blipFill>
          <a:blip r:embed="rId4" cstate="print"/>
          <a:srcRect l="12911" t="21436" r="39626" b="60503"/>
          <a:stretch>
            <a:fillRect/>
          </a:stretch>
        </p:blipFill>
        <p:spPr bwMode="auto">
          <a:xfrm rot="10800000">
            <a:off x="8721754" y="6429396"/>
            <a:ext cx="259557" cy="254794"/>
          </a:xfrm>
          <a:prstGeom prst="rect">
            <a:avLst/>
          </a:prstGeom>
          <a:noFill/>
        </p:spPr>
      </p:pic>
    </p:spTree>
    <p:extLst>
      <p:ext uri="{BB962C8B-B14F-4D97-AF65-F5344CB8AC3E}">
        <p14:creationId xmlns:p14="http://schemas.microsoft.com/office/powerpoint/2010/main" val="42014009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0" name="Picture 3" descr="C:\Users\senj\Desktop\按钮.png"/>
          <p:cNvPicPr>
            <a:picLocks noChangeAspect="1" noChangeArrowheads="1"/>
          </p:cNvPicPr>
          <p:nvPr/>
        </p:nvPicPr>
        <p:blipFill>
          <a:blip r:embed="rId4" cstate="print"/>
          <a:srcRect l="12911" t="21436" r="39626" b="60503"/>
          <a:stretch>
            <a:fillRect/>
          </a:stretch>
        </p:blipFill>
        <p:spPr bwMode="auto">
          <a:xfrm>
            <a:off x="8366400" y="6429396"/>
            <a:ext cx="259557" cy="254794"/>
          </a:xfrm>
          <a:prstGeom prst="rect">
            <a:avLst/>
          </a:prstGeom>
          <a:noFill/>
        </p:spPr>
      </p:pic>
      <p:sp>
        <p:nvSpPr>
          <p:cNvPr id="11" name="文本框 10"/>
          <p:cNvSpPr txBox="1"/>
          <p:nvPr/>
        </p:nvSpPr>
        <p:spPr>
          <a:xfrm>
            <a:off x="360000" y="1144140"/>
            <a:ext cx="8532300" cy="461665"/>
          </a:xfrm>
          <a:prstGeom prst="rect">
            <a:avLst/>
          </a:prstGeom>
          <a:noFill/>
        </p:spPr>
        <p:txBody>
          <a:bodyPr wrap="square" rtlCol="0">
            <a:spAutoFit/>
          </a:bodyPr>
          <a:lstStyle/>
          <a:p>
            <a:r>
              <a:rPr lang="en-US" altLang="zh-CN" sz="2400" dirty="0">
                <a:latin typeface="Cambria" panose="02040503050406030204" pitchFamily="18" charset="0"/>
                <a:ea typeface="Cambria" panose="02040503050406030204" pitchFamily="18" charset="0"/>
              </a:rPr>
              <a:t>Read the following passage and finish </a:t>
            </a:r>
            <a:r>
              <a:rPr lang="en-US" altLang="zh-CN" sz="2400">
                <a:latin typeface="Cambria" panose="02040503050406030204" pitchFamily="18" charset="0"/>
                <a:ea typeface="Cambria" panose="02040503050406030204" pitchFamily="18" charset="0"/>
              </a:rPr>
              <a:t>the exercises.</a:t>
            </a:r>
            <a:endParaRPr lang="en-US" altLang="zh-CN" sz="2400" dirty="0">
              <a:latin typeface="Cambria" panose="02040503050406030204" pitchFamily="18" charset="0"/>
              <a:ea typeface="Cambria" panose="02040503050406030204" pitchFamily="18" charset="0"/>
            </a:endParaRPr>
          </a:p>
        </p:txBody>
      </p:sp>
      <p:sp>
        <p:nvSpPr>
          <p:cNvPr id="12" name="文本框 11"/>
          <p:cNvSpPr txBox="1"/>
          <p:nvPr/>
        </p:nvSpPr>
        <p:spPr>
          <a:xfrm>
            <a:off x="360000" y="1875645"/>
            <a:ext cx="8532300" cy="4524315"/>
          </a:xfrm>
          <a:prstGeom prst="rect">
            <a:avLst/>
          </a:prstGeom>
          <a:noFill/>
        </p:spPr>
        <p:txBody>
          <a:bodyPr wrap="square" rtlCol="0">
            <a:spAutoFit/>
          </a:bodyPr>
          <a:lstStyle/>
          <a:p>
            <a:pPr algn="just"/>
            <a:r>
              <a:rPr lang="en-US" altLang="zh-CN" sz="2400" dirty="0"/>
              <a:t>     </a:t>
            </a:r>
            <a:r>
              <a:rPr lang="en-US" altLang="zh-CN" sz="2400" spc="-50" dirty="0"/>
              <a:t>More than 2,100 years ago during the Han Dynasty (206 BC-220AD), </a:t>
            </a:r>
            <a:r>
              <a:rPr lang="en-US" altLang="zh-CN" sz="2400" spc="20" dirty="0"/>
              <a:t>a Chinese envoy named Zhang Qian was twice sent to Central Asia</a:t>
            </a:r>
            <a:r>
              <a:rPr lang="en-US" altLang="zh-CN" sz="2400" dirty="0"/>
              <a:t> </a:t>
            </a:r>
            <a:r>
              <a:rPr lang="en-US" altLang="zh-CN" sz="2400" spc="10" dirty="0"/>
              <a:t>on missions of peace and friendship. His journeys opened the door</a:t>
            </a:r>
            <a:r>
              <a:rPr lang="en-US" altLang="zh-CN" sz="2400" dirty="0"/>
              <a:t> </a:t>
            </a:r>
            <a:r>
              <a:rPr lang="en-US" altLang="zh-CN" sz="2400" spc="-10" dirty="0"/>
              <a:t>to friendly contacts between China and Central Asian countries, and</a:t>
            </a:r>
            <a:r>
              <a:rPr lang="en-US" altLang="zh-CN" sz="2400" dirty="0"/>
              <a:t> started the Silk Road linking the East and West, Asia and Europe. </a:t>
            </a:r>
          </a:p>
          <a:p>
            <a:pPr algn="just"/>
            <a:r>
              <a:rPr lang="en-US" altLang="zh-CN" sz="2400" dirty="0"/>
              <a:t>     </a:t>
            </a:r>
            <a:r>
              <a:rPr lang="en-US" altLang="zh-CN" sz="2400" spc="30" dirty="0"/>
              <a:t>Shaanxi, my home province, is right at the starting point of the</a:t>
            </a:r>
            <a:r>
              <a:rPr lang="en-US" altLang="zh-CN" sz="2400" dirty="0"/>
              <a:t> </a:t>
            </a:r>
            <a:r>
              <a:rPr lang="en-US" altLang="zh-CN" sz="2400" spc="30" dirty="0"/>
              <a:t>ancient Silk Road. Today, as I stand here and look back at history, I</a:t>
            </a:r>
            <a:r>
              <a:rPr lang="en-US" altLang="zh-CN" sz="2400" dirty="0"/>
              <a:t> seem to hear the camel bells echoing in the mountains and see the </a:t>
            </a:r>
            <a:r>
              <a:rPr lang="en-US" altLang="zh-CN" sz="2400" spc="10" dirty="0"/>
              <a:t>wisps of smoke rising from the desert, and this gives me a specially</a:t>
            </a:r>
            <a:r>
              <a:rPr lang="en-US" altLang="zh-CN" sz="2400" dirty="0"/>
              <a:t> good feeling.</a:t>
            </a:r>
            <a:endParaRPr lang="zh-CN" altLang="zh-CN" sz="2400" dirty="0"/>
          </a:p>
          <a:p>
            <a:pPr algn="just"/>
            <a:r>
              <a:rPr lang="en-US" altLang="zh-CN" sz="2400" dirty="0"/>
              <a:t>     </a:t>
            </a:r>
            <a:r>
              <a:rPr lang="en-US" altLang="zh-CN" sz="2400" spc="-70" dirty="0"/>
              <a:t>Kazakhstan, located on the ancient Silk Road, has made an  important</a:t>
            </a:r>
            <a:r>
              <a:rPr lang="en-US" altLang="zh-CN" sz="2400" dirty="0"/>
              <a:t> </a:t>
            </a:r>
            <a:r>
              <a:rPr lang="en-US" altLang="zh-CN" sz="2400" spc="50" dirty="0"/>
              <a:t>contribution to the exchanges between </a:t>
            </a:r>
            <a:r>
              <a:rPr lang="en-US" altLang="zh-CN" sz="2400" spc="40" dirty="0"/>
              <a:t>the Eastern and Western</a:t>
            </a:r>
            <a:r>
              <a:rPr lang="en-US" altLang="zh-CN" sz="2400" dirty="0"/>
              <a:t> </a:t>
            </a:r>
            <a:endParaRPr lang="zh-CN" altLang="zh-CN" sz="2400" dirty="0"/>
          </a:p>
        </p:txBody>
      </p:sp>
    </p:spTree>
    <p:extLst>
      <p:ext uri="{BB962C8B-B14F-4D97-AF65-F5344CB8AC3E}">
        <p14:creationId xmlns:p14="http://schemas.microsoft.com/office/powerpoint/2010/main" val="5470254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9" name="文本框 8"/>
          <p:cNvSpPr txBox="1"/>
          <p:nvPr/>
        </p:nvSpPr>
        <p:spPr>
          <a:xfrm>
            <a:off x="360000" y="1146045"/>
            <a:ext cx="8532300" cy="5262979"/>
          </a:xfrm>
          <a:prstGeom prst="rect">
            <a:avLst/>
          </a:prstGeom>
          <a:noFill/>
        </p:spPr>
        <p:txBody>
          <a:bodyPr wrap="square" rtlCol="0">
            <a:spAutoFit/>
          </a:bodyPr>
          <a:lstStyle/>
          <a:p>
            <a:pPr algn="just"/>
            <a:r>
              <a:rPr lang="en-US" altLang="zh-CN" sz="2400" spc="10" dirty="0"/>
              <a:t>civilizations and the interactions and cooperation between various</a:t>
            </a:r>
            <a:r>
              <a:rPr lang="en-US" altLang="zh-CN" sz="2400" dirty="0"/>
              <a:t> </a:t>
            </a:r>
            <a:r>
              <a:rPr lang="en-US" altLang="zh-CN" sz="2400" spc="-10" dirty="0"/>
              <a:t>nations and cultures. This land has borne witness to a steady stream</a:t>
            </a:r>
            <a:r>
              <a:rPr lang="en-US" altLang="zh-CN" sz="2400" dirty="0"/>
              <a:t> </a:t>
            </a:r>
            <a:r>
              <a:rPr lang="en-US" altLang="zh-CN" sz="2400" spc="-40" dirty="0"/>
              <a:t>of envoys, caravans, travelers, scholars and artisans traveling between</a:t>
            </a:r>
            <a:r>
              <a:rPr lang="en-US" altLang="zh-CN" sz="2400" dirty="0"/>
              <a:t> </a:t>
            </a:r>
            <a:r>
              <a:rPr lang="en-US" altLang="zh-CN" sz="2400" spc="-40" dirty="0"/>
              <a:t>the East and the West. The exchanges and mutual learning thus made</a:t>
            </a:r>
            <a:r>
              <a:rPr lang="en-US" altLang="zh-CN" sz="2400" dirty="0"/>
              <a:t> possible promoted the progress of human civilization. </a:t>
            </a:r>
          </a:p>
          <a:p>
            <a:pPr algn="just"/>
            <a:r>
              <a:rPr lang="en-US" altLang="zh-CN" sz="2400" dirty="0"/>
              <a:t>     </a:t>
            </a:r>
            <a:r>
              <a:rPr lang="en-US" altLang="zh-CN" sz="2400" spc="60" dirty="0"/>
              <a:t>The ancient city of Almaty is also on the ancient Silk Road. In</a:t>
            </a:r>
            <a:r>
              <a:rPr lang="en-US" altLang="zh-CN" sz="2400" dirty="0"/>
              <a:t> </a:t>
            </a:r>
            <a:r>
              <a:rPr lang="en-US" altLang="zh-CN" sz="2400" spc="-10" dirty="0"/>
              <a:t>Almaty, there is a Xian </a:t>
            </a:r>
            <a:r>
              <a:rPr lang="en-US" altLang="zh-CN" sz="2400" spc="-10" dirty="0" err="1"/>
              <a:t>Xinghai</a:t>
            </a:r>
            <a:r>
              <a:rPr lang="en-US" altLang="zh-CN" sz="2400" spc="-10" dirty="0"/>
              <a:t> Boulevard, which got its name from a</a:t>
            </a:r>
            <a:r>
              <a:rPr lang="en-US" altLang="zh-CN" sz="2400" dirty="0"/>
              <a:t> </a:t>
            </a:r>
            <a:r>
              <a:rPr lang="en-US" altLang="zh-CN" sz="2400" spc="40" dirty="0"/>
              <a:t>true story. After the outbreak of the Great Patriotic War in 1941</a:t>
            </a:r>
            <a:r>
              <a:rPr lang="en-US" altLang="zh-CN" sz="2400" dirty="0"/>
              <a:t>, </a:t>
            </a:r>
            <a:r>
              <a:rPr lang="en-US" altLang="zh-CN" sz="2400" spc="40" dirty="0"/>
              <a:t>Xian, a renowned Chinese composer, found his way to Almaty. By</a:t>
            </a:r>
            <a:r>
              <a:rPr lang="en-US" altLang="zh-CN" sz="2400" dirty="0"/>
              <a:t> </a:t>
            </a:r>
            <a:r>
              <a:rPr lang="en-US" altLang="zh-CN" sz="2400" spc="20" dirty="0"/>
              <a:t>then, he was worn down by poverty and illness and had no one to</a:t>
            </a:r>
            <a:r>
              <a:rPr lang="en-US" altLang="zh-CN" sz="2400" dirty="0"/>
              <a:t> </a:t>
            </a:r>
            <a:r>
              <a:rPr lang="en-US" altLang="zh-CN" sz="2400" spc="10" dirty="0"/>
              <a:t>turn to. Fortunately, the Kazakh composer </a:t>
            </a:r>
            <a:r>
              <a:rPr lang="en-US" altLang="zh-CN" sz="2400" spc="10" dirty="0" err="1"/>
              <a:t>Bakhitzhan</a:t>
            </a:r>
            <a:r>
              <a:rPr lang="en-US" altLang="zh-CN" sz="2400" spc="10" dirty="0"/>
              <a:t> </a:t>
            </a:r>
            <a:r>
              <a:rPr lang="en-US" altLang="zh-CN" sz="2400" spc="10" dirty="0" err="1"/>
              <a:t>Baykadamov</a:t>
            </a:r>
            <a:r>
              <a:rPr lang="en-US" altLang="zh-CN" sz="2400" dirty="0"/>
              <a:t> took care of Xian and provided him with the comfort of a home. </a:t>
            </a:r>
          </a:p>
          <a:p>
            <a:pPr algn="just"/>
            <a:r>
              <a:rPr lang="en-US" altLang="zh-CN" sz="2400" dirty="0"/>
              <a:t>     It was in Almaty that Xian composed his famous work: </a:t>
            </a:r>
            <a:r>
              <a:rPr lang="en-US" altLang="zh-CN" sz="2400" i="1" dirty="0"/>
              <a:t>Liberation </a:t>
            </a:r>
            <a:r>
              <a:rPr lang="en-US" altLang="zh-CN" sz="2400" i="1" spc="10" dirty="0"/>
              <a:t>of the Nation</a:t>
            </a:r>
            <a:r>
              <a:rPr lang="en-US" altLang="zh-CN" sz="2400" spc="10" dirty="0"/>
              <a:t>, </a:t>
            </a:r>
            <a:r>
              <a:rPr lang="en-US" altLang="zh-CN" sz="2400" i="1" spc="10" dirty="0"/>
              <a:t>Sacred War</a:t>
            </a:r>
            <a:r>
              <a:rPr lang="en-US" altLang="zh-CN" sz="2400" spc="10" dirty="0"/>
              <a:t> and </a:t>
            </a:r>
            <a:r>
              <a:rPr lang="en-US" altLang="zh-CN" sz="2400" i="1" spc="10" dirty="0"/>
              <a:t>Red All over the River</a:t>
            </a:r>
            <a:r>
              <a:rPr lang="en-US" altLang="zh-CN" sz="2400" spc="10" dirty="0"/>
              <a:t>. He </a:t>
            </a:r>
            <a:r>
              <a:rPr lang="en-US" altLang="zh-CN" sz="2400" dirty="0"/>
              <a:t>also wrote </a:t>
            </a:r>
            <a:endParaRPr lang="zh-CN" altLang="zh-CN" sz="2400" dirty="0"/>
          </a:p>
        </p:txBody>
      </p:sp>
    </p:spTree>
    <p:extLst>
      <p:ext uri="{BB962C8B-B14F-4D97-AF65-F5344CB8AC3E}">
        <p14:creationId xmlns:p14="http://schemas.microsoft.com/office/powerpoint/2010/main" val="12990486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60000" y="1146045"/>
            <a:ext cx="8532300" cy="5632311"/>
          </a:xfrm>
          <a:prstGeom prst="rect">
            <a:avLst/>
          </a:prstGeom>
          <a:noFill/>
        </p:spPr>
        <p:txBody>
          <a:bodyPr wrap="square" rtlCol="0">
            <a:spAutoFit/>
          </a:bodyPr>
          <a:lstStyle/>
          <a:p>
            <a:pPr algn="just"/>
            <a:r>
              <a:rPr lang="en-US" altLang="zh-CN" sz="2400" spc="-50" dirty="0"/>
              <a:t>the symphony </a:t>
            </a:r>
            <a:r>
              <a:rPr lang="en-US" altLang="zh-CN" sz="2400" spc="-50" dirty="0" err="1"/>
              <a:t>Amangeldy</a:t>
            </a:r>
            <a:r>
              <a:rPr lang="en-US" altLang="zh-CN" sz="2400" spc="-50" dirty="0"/>
              <a:t> based on the exploits of the Kazakh national</a:t>
            </a:r>
            <a:r>
              <a:rPr lang="en-US" altLang="zh-CN" sz="2400" dirty="0"/>
              <a:t> </a:t>
            </a:r>
            <a:r>
              <a:rPr lang="en-US" altLang="zh-CN" sz="2400" spc="-30" dirty="0"/>
              <a:t>hero. These works served as a rallying call to fight Fascism and proved</a:t>
            </a:r>
            <a:r>
              <a:rPr lang="en-US" altLang="zh-CN" sz="2400" dirty="0"/>
              <a:t> immensely popular with the local people.</a:t>
            </a:r>
            <a:endParaRPr lang="zh-CN" altLang="zh-CN" sz="2400" dirty="0"/>
          </a:p>
          <a:p>
            <a:pPr algn="just"/>
            <a:r>
              <a:rPr lang="en-US" altLang="zh-CN" sz="2400" dirty="0"/>
              <a:t>     Throughout the millennia, the peoples of various countries along </a:t>
            </a:r>
            <a:r>
              <a:rPr lang="en-US" altLang="zh-CN" sz="2400" spc="20" dirty="0"/>
              <a:t>the ancient Silk Road have written a chapter of friendship that has</a:t>
            </a:r>
            <a:r>
              <a:rPr lang="en-US" altLang="zh-CN" sz="2400" dirty="0"/>
              <a:t> </a:t>
            </a:r>
            <a:r>
              <a:rPr lang="en-US" altLang="zh-CN" sz="2400" spc="-20" dirty="0"/>
              <a:t>been passed on to this very day. More than 2,000 years of exchanges</a:t>
            </a:r>
            <a:r>
              <a:rPr lang="en-US" altLang="zh-CN" sz="2400" dirty="0"/>
              <a:t> </a:t>
            </a:r>
            <a:r>
              <a:rPr lang="en-US" altLang="zh-CN" sz="2400" spc="90" dirty="0"/>
              <a:t>demonstrate that on the basis of unity, mutual trust, equality</a:t>
            </a:r>
            <a:r>
              <a:rPr lang="en-US" altLang="zh-CN" sz="2400" dirty="0"/>
              <a:t>, inclusiveness, mutual learning and mutually beneficial cooperation, </a:t>
            </a:r>
            <a:r>
              <a:rPr lang="en-US" altLang="zh-CN" sz="2400" spc="40" dirty="0"/>
              <a:t>countries of different races, beliefs and cultural backgrounds are</a:t>
            </a:r>
            <a:r>
              <a:rPr lang="en-US" altLang="zh-CN" sz="2400" dirty="0"/>
              <a:t> </a:t>
            </a:r>
            <a:r>
              <a:rPr lang="en-US" altLang="zh-CN" sz="2400" spc="70" dirty="0"/>
              <a:t>fully able to share peace and development. This is the valuable</a:t>
            </a:r>
            <a:r>
              <a:rPr lang="en-US" altLang="zh-CN" sz="2400" dirty="0"/>
              <a:t> inspiration we have drawn from the ancient Silk Road.</a:t>
            </a:r>
            <a:endParaRPr lang="zh-CN" altLang="zh-CN" sz="2400" dirty="0"/>
          </a:p>
          <a:p>
            <a:pPr algn="just"/>
            <a:r>
              <a:rPr lang="en-US" altLang="zh-CN" sz="2400" dirty="0"/>
              <a:t>     </a:t>
            </a:r>
            <a:r>
              <a:rPr lang="en-US" altLang="zh-CN" sz="2400" spc="-10" dirty="0"/>
              <a:t>Over the past 20 years, the relations between China and Eurasian</a:t>
            </a:r>
            <a:r>
              <a:rPr lang="en-US" altLang="zh-CN" sz="2400" dirty="0"/>
              <a:t> </a:t>
            </a:r>
            <a:r>
              <a:rPr lang="en-US" altLang="zh-CN" sz="2400" spc="10" dirty="0"/>
              <a:t>countries have grown rapidly, and the ancient Silk Road has gained</a:t>
            </a:r>
            <a:r>
              <a:rPr lang="en-US" altLang="zh-CN" sz="2400" dirty="0"/>
              <a:t> </a:t>
            </a:r>
            <a:r>
              <a:rPr lang="en-US" altLang="zh-CN" sz="2400" spc="-70" dirty="0"/>
              <a:t>new vitality. In a new way, it is lifting the mutually beneficial cooperation</a:t>
            </a:r>
            <a:r>
              <a:rPr lang="en-US" altLang="zh-CN" sz="2400" dirty="0"/>
              <a:t> between China and Eurasian countries to a fresh height.</a:t>
            </a:r>
            <a:endParaRPr lang="zh-CN" altLang="zh-CN" sz="2400" dirty="0"/>
          </a:p>
        </p:txBody>
      </p:sp>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Tree>
    <p:extLst>
      <p:ext uri="{BB962C8B-B14F-4D97-AF65-F5344CB8AC3E}">
        <p14:creationId xmlns:p14="http://schemas.microsoft.com/office/powerpoint/2010/main" val="18570854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文本框 6"/>
          <p:cNvSpPr txBox="1"/>
          <p:nvPr/>
        </p:nvSpPr>
        <p:spPr>
          <a:xfrm>
            <a:off x="360000" y="1146045"/>
            <a:ext cx="8532300" cy="3416320"/>
          </a:xfrm>
          <a:prstGeom prst="rect">
            <a:avLst/>
          </a:prstGeom>
          <a:noFill/>
        </p:spPr>
        <p:txBody>
          <a:bodyPr wrap="square" rtlCol="0">
            <a:spAutoFit/>
          </a:bodyPr>
          <a:lstStyle/>
          <a:p>
            <a:pPr algn="just"/>
            <a:r>
              <a:rPr lang="en-US" altLang="zh-CN" sz="2400" dirty="0"/>
              <a:t>     </a:t>
            </a:r>
            <a:r>
              <a:rPr lang="en-US" altLang="zh-CN" sz="2400" spc="-40" dirty="0"/>
              <a:t>A neighbor is better than a distant relative. China and Central Asian</a:t>
            </a:r>
            <a:r>
              <a:rPr lang="en-US" altLang="zh-CN" sz="2400" dirty="0"/>
              <a:t> </a:t>
            </a:r>
            <a:r>
              <a:rPr lang="en-US" altLang="zh-CN" sz="2400" spc="-30" dirty="0"/>
              <a:t>countries are close and friendly neighbors. China values its friendship</a:t>
            </a:r>
            <a:r>
              <a:rPr lang="en-US" altLang="zh-CN" sz="2400" dirty="0"/>
              <a:t> </a:t>
            </a:r>
            <a:r>
              <a:rPr lang="en-US" altLang="zh-CN" sz="2400" spc="40" dirty="0"/>
              <a:t>and cooperation with these countries, and takes improving these</a:t>
            </a:r>
            <a:r>
              <a:rPr lang="en-US" altLang="zh-CN" sz="2400" dirty="0"/>
              <a:t> relations as a foreign policy priority.</a:t>
            </a:r>
            <a:endParaRPr lang="zh-CN" altLang="zh-CN" sz="2400" dirty="0"/>
          </a:p>
          <a:p>
            <a:pPr algn="just"/>
            <a:r>
              <a:rPr lang="en-US" altLang="zh-CN" sz="2400" dirty="0"/>
              <a:t>     </a:t>
            </a:r>
            <a:r>
              <a:rPr lang="en-US" altLang="zh-CN" sz="2400" spc="-50" dirty="0"/>
              <a:t>China’s relations with the Central Asian countries now face a golden</a:t>
            </a:r>
            <a:r>
              <a:rPr lang="en-US" altLang="zh-CN" sz="2400" dirty="0"/>
              <a:t> </a:t>
            </a:r>
            <a:r>
              <a:rPr lang="en-US" altLang="zh-CN" sz="2400" spc="50" dirty="0"/>
              <a:t>opportunity of growth. We hope to work with these countries to</a:t>
            </a:r>
            <a:r>
              <a:rPr lang="en-US" altLang="zh-CN" sz="2400" dirty="0"/>
              <a:t> </a:t>
            </a:r>
            <a:r>
              <a:rPr lang="en-US" altLang="zh-CN" sz="2400" spc="-10" dirty="0"/>
              <a:t>strengthen trust, friendship and cooperation, and promote common</a:t>
            </a:r>
            <a:r>
              <a:rPr lang="en-US" altLang="zh-CN" sz="2400" dirty="0"/>
              <a:t> development and prosperity to the benefit to all our peoples.</a:t>
            </a:r>
            <a:endParaRPr lang="zh-CN" altLang="zh-CN" sz="2400" dirty="0"/>
          </a:p>
          <a:p>
            <a:pPr algn="just"/>
            <a:r>
              <a:rPr lang="zh-CN" altLang="zh-CN" sz="2400" dirty="0"/>
              <a:t>（</a:t>
            </a:r>
            <a:r>
              <a:rPr lang="en-US" altLang="zh-CN" sz="2400" i="1" dirty="0"/>
              <a:t>Xi Jinping: The Governance of China</a:t>
            </a:r>
            <a:r>
              <a:rPr lang="en-US" altLang="zh-CN" sz="2400" dirty="0"/>
              <a:t>, Volume One: 315-316</a:t>
            </a:r>
            <a:r>
              <a:rPr lang="zh-CN" altLang="zh-CN" sz="2400" dirty="0"/>
              <a:t>）</a:t>
            </a:r>
          </a:p>
        </p:txBody>
      </p:sp>
    </p:spTree>
    <p:extLst>
      <p:ext uri="{BB962C8B-B14F-4D97-AF65-F5344CB8AC3E}">
        <p14:creationId xmlns:p14="http://schemas.microsoft.com/office/powerpoint/2010/main" val="71929132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文本框 6"/>
          <p:cNvSpPr txBox="1"/>
          <p:nvPr/>
        </p:nvSpPr>
        <p:spPr>
          <a:xfrm>
            <a:off x="360000" y="1133951"/>
            <a:ext cx="8532300" cy="5037276"/>
          </a:xfrm>
          <a:prstGeom prst="rect">
            <a:avLst/>
          </a:prstGeom>
          <a:noFill/>
        </p:spPr>
        <p:txBody>
          <a:bodyPr wrap="square" rtlCol="0">
            <a:spAutoFit/>
          </a:bodyPr>
          <a:lstStyle/>
          <a:p>
            <a:pPr algn="just"/>
            <a:r>
              <a:rPr lang="en-US" altLang="zh-CN" sz="2400" b="1" dirty="0">
                <a:solidFill>
                  <a:srgbClr val="C6383E"/>
                </a:solidFill>
              </a:rPr>
              <a:t>Task 1</a:t>
            </a:r>
          </a:p>
          <a:p>
            <a:pPr algn="just"/>
            <a:r>
              <a:rPr lang="en-US" altLang="zh-CN" sz="2400" spc="-10" dirty="0">
                <a:latin typeface="Cambria" panose="02040503050406030204" pitchFamily="18" charset="0"/>
                <a:ea typeface="Cambria" panose="02040503050406030204" pitchFamily="18" charset="0"/>
              </a:rPr>
              <a:t>Translate the following, using expressions in the passage.</a:t>
            </a:r>
            <a:endParaRPr lang="en-US" altLang="zh-CN" sz="2400" b="1" spc="-10" dirty="0">
              <a:solidFill>
                <a:srgbClr val="C6383E"/>
              </a:solidFill>
              <a:latin typeface="Cambria" panose="02040503050406030204" pitchFamily="18" charset="0"/>
              <a:ea typeface="Cambria" panose="02040503050406030204" pitchFamily="18" charset="0"/>
            </a:endParaRPr>
          </a:p>
          <a:p>
            <a:pPr algn="just"/>
            <a:endParaRPr lang="en-US" altLang="zh-CN" sz="2400" b="1" spc="-10" dirty="0">
              <a:solidFill>
                <a:srgbClr val="C6383E"/>
              </a:solidFill>
              <a:latin typeface="Cambria" panose="02040503050406030204" pitchFamily="18" charset="0"/>
              <a:ea typeface="Cambria" panose="02040503050406030204" pitchFamily="18" charset="0"/>
            </a:endParaRPr>
          </a:p>
          <a:p>
            <a:pPr algn="just"/>
            <a:r>
              <a:rPr lang="zh-CN" altLang="zh-CN" sz="2400" dirty="0"/>
              <a:t>肩负和平友好使命</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pPr algn="just"/>
            <a:r>
              <a:rPr lang="zh-CN" altLang="zh-CN" sz="2400" dirty="0"/>
              <a:t>开启了中国同中亚各国友好交往的大门</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pPr algn="just"/>
            <a:r>
              <a:rPr lang="zh-CN" altLang="zh-CN" sz="2400" dirty="0"/>
              <a:t>位于古丝绸之路的起点</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p:txBody>
      </p:sp>
      <p:pic>
        <p:nvPicPr>
          <p:cNvPr id="9"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583370"/>
            <a:ext cx="324000" cy="324000"/>
          </a:xfrm>
          <a:prstGeom prst="rect">
            <a:avLst/>
          </a:prstGeom>
          <a:noFill/>
        </p:spPr>
      </p:pic>
      <p:sp>
        <p:nvSpPr>
          <p:cNvPr id="2" name="文本框 1">
            <a:extLst>
              <a:ext uri="{FF2B5EF4-FFF2-40B4-BE49-F238E27FC236}">
                <a16:creationId xmlns:a16="http://schemas.microsoft.com/office/drawing/2014/main" id="{EDEF6A18-AD7D-C0F7-4610-ED8594802298}"/>
              </a:ext>
            </a:extLst>
          </p:cNvPr>
          <p:cNvSpPr txBox="1"/>
          <p:nvPr/>
        </p:nvSpPr>
        <p:spPr>
          <a:xfrm>
            <a:off x="360000" y="2539540"/>
            <a:ext cx="8532300" cy="461665"/>
          </a:xfrm>
          <a:prstGeom prst="rect">
            <a:avLst/>
          </a:prstGeom>
          <a:noFill/>
        </p:spPr>
        <p:txBody>
          <a:bodyPr wrap="square" rtlCol="0">
            <a:spAutoFit/>
          </a:bodyPr>
          <a:lstStyle/>
          <a:p>
            <a:r>
              <a:rPr lang="en-US" altLang="zh-CN" sz="2400" dirty="0">
                <a:solidFill>
                  <a:srgbClr val="FF0000"/>
                </a:solidFill>
              </a:rPr>
              <a:t>on missions of peace and friendship</a:t>
            </a:r>
            <a:endParaRPr lang="zh-CN" altLang="zh-CN" sz="2400" dirty="0">
              <a:solidFill>
                <a:srgbClr val="FF0000"/>
              </a:solidFill>
            </a:endParaRPr>
          </a:p>
        </p:txBody>
      </p:sp>
      <p:sp>
        <p:nvSpPr>
          <p:cNvPr id="3" name="文本框 2">
            <a:extLst>
              <a:ext uri="{FF2B5EF4-FFF2-40B4-BE49-F238E27FC236}">
                <a16:creationId xmlns:a16="http://schemas.microsoft.com/office/drawing/2014/main" id="{EAB726BB-9EA7-5EED-A40D-330B6C5609B9}"/>
              </a:ext>
            </a:extLst>
          </p:cNvPr>
          <p:cNvSpPr txBox="1"/>
          <p:nvPr/>
        </p:nvSpPr>
        <p:spPr>
          <a:xfrm>
            <a:off x="360000" y="3894436"/>
            <a:ext cx="8532300" cy="830997"/>
          </a:xfrm>
          <a:prstGeom prst="rect">
            <a:avLst/>
          </a:prstGeom>
          <a:noFill/>
        </p:spPr>
        <p:txBody>
          <a:bodyPr wrap="square" rtlCol="0">
            <a:spAutoFit/>
          </a:bodyPr>
          <a:lstStyle/>
          <a:p>
            <a:r>
              <a:rPr lang="en-US" altLang="zh-CN" sz="2400" spc="40" dirty="0">
                <a:solidFill>
                  <a:srgbClr val="FF0000"/>
                </a:solidFill>
              </a:rPr>
              <a:t>opened the door to friendly contacts between China and Central</a:t>
            </a:r>
            <a:r>
              <a:rPr lang="en-US" altLang="zh-CN" sz="2400" dirty="0">
                <a:solidFill>
                  <a:srgbClr val="FF0000"/>
                </a:solidFill>
              </a:rPr>
              <a:t> Asian countries</a:t>
            </a:r>
            <a:endParaRPr lang="zh-CN" altLang="zh-CN" sz="2400" dirty="0">
              <a:solidFill>
                <a:srgbClr val="FF0000"/>
              </a:solidFill>
            </a:endParaRPr>
          </a:p>
        </p:txBody>
      </p:sp>
      <p:sp>
        <p:nvSpPr>
          <p:cNvPr id="4" name="文本框 3">
            <a:extLst>
              <a:ext uri="{FF2B5EF4-FFF2-40B4-BE49-F238E27FC236}">
                <a16:creationId xmlns:a16="http://schemas.microsoft.com/office/drawing/2014/main" id="{57B0F76C-BBED-EF9B-8DE7-5B12449932B2}"/>
              </a:ext>
            </a:extLst>
          </p:cNvPr>
          <p:cNvSpPr txBox="1"/>
          <p:nvPr/>
        </p:nvSpPr>
        <p:spPr>
          <a:xfrm>
            <a:off x="360000" y="5232628"/>
            <a:ext cx="8532300" cy="461665"/>
          </a:xfrm>
          <a:prstGeom prst="rect">
            <a:avLst/>
          </a:prstGeom>
          <a:noFill/>
        </p:spPr>
        <p:txBody>
          <a:bodyPr wrap="square" rtlCol="0">
            <a:spAutoFit/>
          </a:bodyPr>
          <a:lstStyle/>
          <a:p>
            <a:r>
              <a:rPr lang="en-US" altLang="zh-CN" sz="2400" dirty="0">
                <a:solidFill>
                  <a:srgbClr val="FF0000"/>
                </a:solidFill>
              </a:rPr>
              <a:t>at the starting point of the ancient Silk Road</a:t>
            </a:r>
            <a:endParaRPr lang="zh-CN" altLang="zh-CN" sz="2400" dirty="0">
              <a:solidFill>
                <a:srgbClr val="FF0000"/>
              </a:solidFill>
            </a:endParaRPr>
          </a:p>
        </p:txBody>
      </p:sp>
      <p:sp>
        <p:nvSpPr>
          <p:cNvPr id="5" name="矩形 4">
            <a:extLst>
              <a:ext uri="{FF2B5EF4-FFF2-40B4-BE49-F238E27FC236}">
                <a16:creationId xmlns:a16="http://schemas.microsoft.com/office/drawing/2014/main" id="{F22D6DFC-7BA7-2E26-1981-0C405A17CB36}"/>
              </a:ext>
            </a:extLst>
          </p:cNvPr>
          <p:cNvSpPr/>
          <p:nvPr/>
        </p:nvSpPr>
        <p:spPr>
          <a:xfrm>
            <a:off x="429260" y="2623360"/>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B66772E2-CC00-6C8D-B1F9-84BD11643A24}"/>
              </a:ext>
            </a:extLst>
          </p:cNvPr>
          <p:cNvSpPr/>
          <p:nvPr/>
        </p:nvSpPr>
        <p:spPr>
          <a:xfrm>
            <a:off x="446580" y="3957550"/>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E5611473-ED4F-A9E6-F2FF-006DAA572F9A}"/>
              </a:ext>
            </a:extLst>
          </p:cNvPr>
          <p:cNvSpPr/>
          <p:nvPr/>
        </p:nvSpPr>
        <p:spPr>
          <a:xfrm>
            <a:off x="446580" y="5313830"/>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472452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9"/>
                  </p:tgtEl>
                </p:cond>
              </p:nextCondLst>
            </p:seq>
            <p:seq concurrent="1" nextAc="seek">
              <p:cTn id="11" restart="whenNotActive" fill="hold" evtFilter="cancelBubble" nodeType="interactiveSeq">
                <p:stCondLst>
                  <p:cond evt="onClick" delay="0">
                    <p:tgtEl>
                      <p:spTgt spid="5"/>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childTnLst>
              </p:cTn>
              <p:nextCondLst>
                <p:cond evt="onClick" delay="0">
                  <p:tgtEl>
                    <p:spTgt spid="5"/>
                  </p:tgtEl>
                </p:cond>
              </p:nextCondLst>
            </p:seq>
            <p:seq concurrent="1" nextAc="seek">
              <p:cTn id="16" restart="whenNotActive" fill="hold" evtFilter="cancelBubble" nodeType="interactiveSeq">
                <p:stCondLst>
                  <p:cond evt="onClick" delay="0">
                    <p:tgtEl>
                      <p:spTgt spid="13"/>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21" restart="whenNotActive" fill="hold" evtFilter="cancelBubble" nodeType="interactiveSeq">
                <p:stCondLst>
                  <p:cond evt="onClick" delay="0">
                    <p:tgtEl>
                      <p:spTgt spid="14"/>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14"/>
                  </p:tgtEl>
                </p:cond>
              </p:nextCondLst>
            </p:seq>
          </p:childTnLst>
        </p:cTn>
      </p:par>
    </p:tnLst>
    <p:bldLst>
      <p:bldP spid="2" grpId="0"/>
      <p:bldP spid="2" grpId="1"/>
      <p:bldP spid="3" grpId="0"/>
      <p:bldP spid="3" grpId="1"/>
      <p:bldP spid="4" grpId="0"/>
      <p:bldP spid="4"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文本框 6"/>
          <p:cNvSpPr txBox="1"/>
          <p:nvPr/>
        </p:nvSpPr>
        <p:spPr>
          <a:xfrm>
            <a:off x="360000" y="1133951"/>
            <a:ext cx="8532300" cy="5406608"/>
          </a:xfrm>
          <a:prstGeom prst="rect">
            <a:avLst/>
          </a:prstGeom>
          <a:noFill/>
        </p:spPr>
        <p:txBody>
          <a:bodyPr wrap="square" rtlCol="0">
            <a:spAutoFit/>
          </a:bodyPr>
          <a:lstStyle/>
          <a:p>
            <a:pPr algn="just"/>
            <a:r>
              <a:rPr lang="zh-CN" altLang="zh-CN" sz="2400" dirty="0"/>
              <a:t>推动了人类文明进步</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pPr algn="just"/>
            <a:r>
              <a:rPr lang="zh-CN" altLang="zh-CN" sz="2400" dirty="0"/>
              <a:t>为他提供了一个温暖的家</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pPr algn="just"/>
            <a:r>
              <a:rPr lang="zh-CN" altLang="zh-CN" sz="2400" dirty="0"/>
              <a:t>千古传诵的友好篇章</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pPr algn="just"/>
            <a:r>
              <a:rPr lang="zh-CN" altLang="zh-CN" sz="2400" dirty="0"/>
              <a:t>焕发出新的生机活力</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p:txBody>
      </p:sp>
      <p:pic>
        <p:nvPicPr>
          <p:cNvPr id="9"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207470"/>
            <a:ext cx="324000" cy="324000"/>
          </a:xfrm>
          <a:prstGeom prst="rect">
            <a:avLst/>
          </a:prstGeom>
          <a:noFill/>
        </p:spPr>
      </p:pic>
      <p:sp>
        <p:nvSpPr>
          <p:cNvPr id="4" name="文本框 3">
            <a:extLst>
              <a:ext uri="{FF2B5EF4-FFF2-40B4-BE49-F238E27FC236}">
                <a16:creationId xmlns:a16="http://schemas.microsoft.com/office/drawing/2014/main" id="{E59C909D-60C1-62B9-A0D0-D864D829C93E}"/>
              </a:ext>
            </a:extLst>
          </p:cNvPr>
          <p:cNvSpPr txBox="1"/>
          <p:nvPr/>
        </p:nvSpPr>
        <p:spPr>
          <a:xfrm>
            <a:off x="360000" y="1446765"/>
            <a:ext cx="8532300" cy="461665"/>
          </a:xfrm>
          <a:prstGeom prst="rect">
            <a:avLst/>
          </a:prstGeom>
          <a:noFill/>
        </p:spPr>
        <p:txBody>
          <a:bodyPr wrap="square" rtlCol="0">
            <a:spAutoFit/>
          </a:bodyPr>
          <a:lstStyle/>
          <a:p>
            <a:r>
              <a:rPr lang="en-US" altLang="zh-CN" sz="2400" dirty="0">
                <a:solidFill>
                  <a:srgbClr val="FF0000"/>
                </a:solidFill>
              </a:rPr>
              <a:t>promoted the progress of human civilization</a:t>
            </a:r>
            <a:endParaRPr lang="zh-CN" altLang="zh-CN" sz="2400" dirty="0">
              <a:solidFill>
                <a:srgbClr val="FF0000"/>
              </a:solidFill>
            </a:endParaRPr>
          </a:p>
        </p:txBody>
      </p:sp>
      <p:sp>
        <p:nvSpPr>
          <p:cNvPr id="5" name="文本框 4">
            <a:extLst>
              <a:ext uri="{FF2B5EF4-FFF2-40B4-BE49-F238E27FC236}">
                <a16:creationId xmlns:a16="http://schemas.microsoft.com/office/drawing/2014/main" id="{9E730065-0D5B-6050-F88C-404A543E2446}"/>
              </a:ext>
            </a:extLst>
          </p:cNvPr>
          <p:cNvSpPr txBox="1"/>
          <p:nvPr/>
        </p:nvSpPr>
        <p:spPr>
          <a:xfrm>
            <a:off x="360000" y="2801661"/>
            <a:ext cx="8532300" cy="461665"/>
          </a:xfrm>
          <a:prstGeom prst="rect">
            <a:avLst/>
          </a:prstGeom>
          <a:noFill/>
        </p:spPr>
        <p:txBody>
          <a:bodyPr wrap="square" rtlCol="0">
            <a:spAutoFit/>
          </a:bodyPr>
          <a:lstStyle/>
          <a:p>
            <a:r>
              <a:rPr lang="en-US" altLang="zh-CN" sz="2400" dirty="0">
                <a:solidFill>
                  <a:srgbClr val="FF0000"/>
                </a:solidFill>
              </a:rPr>
              <a:t>provided him with the comfort of a home</a:t>
            </a:r>
            <a:endParaRPr lang="zh-CN" altLang="zh-CN" sz="2400" dirty="0">
              <a:solidFill>
                <a:srgbClr val="FF0000"/>
              </a:solidFill>
            </a:endParaRPr>
          </a:p>
        </p:txBody>
      </p:sp>
      <p:sp>
        <p:nvSpPr>
          <p:cNvPr id="10" name="文本框 9">
            <a:extLst>
              <a:ext uri="{FF2B5EF4-FFF2-40B4-BE49-F238E27FC236}">
                <a16:creationId xmlns:a16="http://schemas.microsoft.com/office/drawing/2014/main" id="{07BA1D7F-072F-6F66-A3D2-E152E1194E77}"/>
              </a:ext>
            </a:extLst>
          </p:cNvPr>
          <p:cNvSpPr txBox="1"/>
          <p:nvPr/>
        </p:nvSpPr>
        <p:spPr>
          <a:xfrm>
            <a:off x="360000" y="4139853"/>
            <a:ext cx="8532300" cy="461665"/>
          </a:xfrm>
          <a:prstGeom prst="rect">
            <a:avLst/>
          </a:prstGeom>
          <a:noFill/>
        </p:spPr>
        <p:txBody>
          <a:bodyPr wrap="square" rtlCol="0">
            <a:spAutoFit/>
          </a:bodyPr>
          <a:lstStyle/>
          <a:p>
            <a:r>
              <a:rPr lang="en-US" altLang="zh-CN" sz="2400" dirty="0">
                <a:solidFill>
                  <a:srgbClr val="FF0000"/>
                </a:solidFill>
              </a:rPr>
              <a:t>a chapter of friendship that has been passed on to this very day</a:t>
            </a:r>
            <a:endParaRPr lang="zh-CN" altLang="zh-CN" sz="2400" dirty="0">
              <a:solidFill>
                <a:srgbClr val="FF0000"/>
              </a:solidFill>
            </a:endParaRPr>
          </a:p>
        </p:txBody>
      </p:sp>
      <p:sp>
        <p:nvSpPr>
          <p:cNvPr id="11" name="文本框 10">
            <a:extLst>
              <a:ext uri="{FF2B5EF4-FFF2-40B4-BE49-F238E27FC236}">
                <a16:creationId xmlns:a16="http://schemas.microsoft.com/office/drawing/2014/main" id="{8E4264E9-CA35-4152-F306-0DFC342C0A47}"/>
              </a:ext>
            </a:extLst>
          </p:cNvPr>
          <p:cNvSpPr txBox="1"/>
          <p:nvPr/>
        </p:nvSpPr>
        <p:spPr>
          <a:xfrm>
            <a:off x="360000" y="5512266"/>
            <a:ext cx="8532300" cy="461665"/>
          </a:xfrm>
          <a:prstGeom prst="rect">
            <a:avLst/>
          </a:prstGeom>
          <a:noFill/>
        </p:spPr>
        <p:txBody>
          <a:bodyPr wrap="square" rtlCol="0">
            <a:spAutoFit/>
          </a:bodyPr>
          <a:lstStyle/>
          <a:p>
            <a:r>
              <a:rPr lang="en-US" altLang="zh-CN" sz="2400" dirty="0">
                <a:solidFill>
                  <a:srgbClr val="FF0000"/>
                </a:solidFill>
              </a:rPr>
              <a:t>gained new vitality</a:t>
            </a:r>
            <a:endParaRPr lang="zh-CN" altLang="zh-CN" sz="2400" dirty="0">
              <a:solidFill>
                <a:srgbClr val="FF0000"/>
              </a:solidFill>
            </a:endParaRPr>
          </a:p>
        </p:txBody>
      </p:sp>
      <p:sp>
        <p:nvSpPr>
          <p:cNvPr id="13" name="矩形 12">
            <a:extLst>
              <a:ext uri="{FF2B5EF4-FFF2-40B4-BE49-F238E27FC236}">
                <a16:creationId xmlns:a16="http://schemas.microsoft.com/office/drawing/2014/main" id="{2280745C-83A6-6431-25A6-6F96C94672F8}"/>
              </a:ext>
            </a:extLst>
          </p:cNvPr>
          <p:cNvSpPr/>
          <p:nvPr/>
        </p:nvSpPr>
        <p:spPr>
          <a:xfrm>
            <a:off x="429260" y="1484865"/>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F983C56-E747-B96A-0851-9912DABFBC66}"/>
              </a:ext>
            </a:extLst>
          </p:cNvPr>
          <p:cNvSpPr/>
          <p:nvPr/>
        </p:nvSpPr>
        <p:spPr>
          <a:xfrm>
            <a:off x="446580" y="2819055"/>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6226F7C0-2681-F493-98DB-426C5C160C7A}"/>
              </a:ext>
            </a:extLst>
          </p:cNvPr>
          <p:cNvSpPr/>
          <p:nvPr/>
        </p:nvSpPr>
        <p:spPr>
          <a:xfrm>
            <a:off x="446580" y="4175335"/>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04279B44-0B07-7721-9BDC-AF90EC0E63C0}"/>
              </a:ext>
            </a:extLst>
          </p:cNvPr>
          <p:cNvSpPr/>
          <p:nvPr/>
        </p:nvSpPr>
        <p:spPr>
          <a:xfrm>
            <a:off x="446580" y="5567060"/>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95043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9"/>
                  </p:tgtEl>
                </p:cond>
              </p:nextCondLst>
            </p:seq>
            <p:seq concurrent="1" nextAc="seek">
              <p:cTn id="13" restart="whenNotActive" fill="hold" evtFilter="cancelBubble" nodeType="interactiveSeq">
                <p:stCondLst>
                  <p:cond evt="onClick" delay="0">
                    <p:tgtEl>
                      <p:spTgt spid="13"/>
                    </p:tgtEl>
                  </p:cond>
                </p:stCondLst>
                <p:endSync evt="end" delay="0">
                  <p:rtn val="all"/>
                </p:endSync>
                <p:childTnLst>
                  <p:par>
                    <p:cTn id="14" fill="hold">
                      <p:stCondLst>
                        <p:cond delay="0"/>
                      </p:stCondLst>
                      <p:childTnLst>
                        <p:par>
                          <p:cTn id="15" fill="hold">
                            <p:stCondLst>
                              <p:cond delay="0"/>
                            </p:stCondLst>
                            <p:childTnLst>
                              <p:par>
                                <p:cTn id="16" presetID="1" presetClass="entr" presetSubtype="0" fill="hold" grpId="1" nodeType="clickEffect">
                                  <p:stCondLst>
                                    <p:cond delay="0"/>
                                  </p:stCondLst>
                                  <p:childTnLst>
                                    <p:set>
                                      <p:cBhvr>
                                        <p:cTn id="17" dur="1" fill="hold">
                                          <p:stCondLst>
                                            <p:cond delay="0"/>
                                          </p:stCondLst>
                                        </p:cTn>
                                        <p:tgtEl>
                                          <p:spTgt spid="4"/>
                                        </p:tgtEl>
                                        <p:attrNameLst>
                                          <p:attrName>style.visibility</p:attrName>
                                        </p:attrNameLst>
                                      </p:cBhvr>
                                      <p:to>
                                        <p:strVal val="visible"/>
                                      </p:to>
                                    </p:se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8" restart="whenNotActive" fill="hold" evtFilter="cancelBubble" nodeType="interactiveSeq">
                <p:stCondLst>
                  <p:cond evt="onClick" delay="0">
                    <p:tgtEl>
                      <p:spTgt spid="14"/>
                    </p:tgtEl>
                  </p:cond>
                </p:stCondLst>
                <p:endSync evt="end" delay="0">
                  <p:rtn val="all"/>
                </p:endSync>
                <p:childTnLst>
                  <p:par>
                    <p:cTn id="19" fill="hold">
                      <p:stCondLst>
                        <p:cond delay="0"/>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23" restart="whenNotActive" fill="hold" evtFilter="cancelBubble" nodeType="interactiveSeq">
                <p:stCondLst>
                  <p:cond evt="onClick" delay="0">
                    <p:tgtEl>
                      <p:spTgt spid="15"/>
                    </p:tgtEl>
                  </p:cond>
                </p:stCondLst>
                <p:endSync evt="end" delay="0">
                  <p:rtn val="all"/>
                </p:endSync>
                <p:childTnLst>
                  <p:par>
                    <p:cTn id="24" fill="hold">
                      <p:stCondLst>
                        <p:cond delay="0"/>
                      </p:stCondLst>
                      <p:childTnLst>
                        <p:par>
                          <p:cTn id="25" fill="hold">
                            <p:stCondLst>
                              <p:cond delay="0"/>
                            </p:stCondLst>
                            <p:childTnLst>
                              <p:par>
                                <p:cTn id="26" presetID="1" presetClass="entr" presetSubtype="0" fill="hold" grpId="1"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15"/>
                  </p:tgtEl>
                </p:cond>
              </p:nextCondLst>
            </p:seq>
            <p:seq concurrent="1" nextAc="seek">
              <p:cTn id="28" restart="whenNotActive" fill="hold" evtFilter="cancelBubble" nodeType="interactiveSeq">
                <p:stCondLst>
                  <p:cond evt="onClick" delay="0">
                    <p:tgtEl>
                      <p:spTgt spid="16"/>
                    </p:tgtEl>
                  </p:cond>
                </p:stCondLst>
                <p:endSync evt="end" delay="0">
                  <p:rtn val="all"/>
                </p:endSync>
                <p:childTnLst>
                  <p:par>
                    <p:cTn id="29" fill="hold">
                      <p:stCondLst>
                        <p:cond delay="0"/>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6"/>
                  </p:tgtEl>
                </p:cond>
              </p:nextCondLst>
            </p:seq>
          </p:childTnLst>
        </p:cTn>
      </p:par>
    </p:tnLst>
    <p:bldLst>
      <p:bldP spid="4" grpId="0"/>
      <p:bldP spid="4" grpId="1"/>
      <p:bldP spid="5" grpId="0"/>
      <p:bldP spid="5" grpId="1"/>
      <p:bldP spid="10" grpId="0"/>
      <p:bldP spid="10" grpId="1"/>
      <p:bldP spid="11" grpId="0"/>
      <p:bldP spid="11"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2" name="文本框 1">
            <a:extLst>
              <a:ext uri="{FF2B5EF4-FFF2-40B4-BE49-F238E27FC236}">
                <a16:creationId xmlns:a16="http://schemas.microsoft.com/office/drawing/2014/main" id="{DA09D9EF-847A-C9A8-3E2A-CD61F99C335B}"/>
              </a:ext>
            </a:extLst>
          </p:cNvPr>
          <p:cNvSpPr txBox="1"/>
          <p:nvPr/>
        </p:nvSpPr>
        <p:spPr>
          <a:xfrm>
            <a:off x="360000" y="1133951"/>
            <a:ext cx="8532300" cy="3929281"/>
          </a:xfrm>
          <a:prstGeom prst="rect">
            <a:avLst/>
          </a:prstGeom>
          <a:noFill/>
        </p:spPr>
        <p:txBody>
          <a:bodyPr wrap="square" rtlCol="0">
            <a:spAutoFit/>
          </a:bodyPr>
          <a:lstStyle/>
          <a:p>
            <a:r>
              <a:rPr lang="zh-CN" altLang="zh-CN" sz="2400" dirty="0"/>
              <a:t>远亲不如近邻</a:t>
            </a: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r>
              <a:rPr lang="zh-CN" altLang="zh-CN" sz="2400" dirty="0"/>
              <a:t>外交优先方向</a:t>
            </a:r>
          </a:p>
          <a:p>
            <a:pPr algn="just"/>
            <a:r>
              <a:rPr lang="en-US" altLang="zh-CN" sz="2400" spc="-10" dirty="0">
                <a:ea typeface="Cambria" panose="02040503050406030204" pitchFamily="18" charset="0"/>
              </a:rPr>
              <a:t>______________________________________________________________________________________________________________</a:t>
            </a:r>
          </a:p>
          <a:p>
            <a:pPr>
              <a:lnSpc>
                <a:spcPts val="2000"/>
              </a:lnSpc>
            </a:pPr>
            <a:r>
              <a:rPr lang="en-US" altLang="zh-CN" sz="2400" dirty="0"/>
              <a:t> </a:t>
            </a:r>
            <a:endParaRPr lang="zh-CN" altLang="zh-CN" sz="2400" dirty="0"/>
          </a:p>
          <a:p>
            <a:r>
              <a:rPr lang="zh-CN" altLang="zh-CN" sz="2400" dirty="0"/>
              <a:t>面临难得机遇</a:t>
            </a:r>
          </a:p>
          <a:p>
            <a:pPr algn="just"/>
            <a:r>
              <a:rPr lang="en-US" altLang="zh-CN" sz="2400" spc="-10" dirty="0">
                <a:ea typeface="Cambria" panose="02040503050406030204" pitchFamily="18" charset="0"/>
              </a:rPr>
              <a:t>______________________________________________________________________________________________________________</a:t>
            </a:r>
          </a:p>
        </p:txBody>
      </p:sp>
      <p:pic>
        <p:nvPicPr>
          <p:cNvPr id="3" name="钥匙2" descr="C:\Users\senj\Desktop\新建文件夹\答案.png">
            <a:hlinkClick r:id="" action="ppaction://noaction"/>
            <a:extLst>
              <a:ext uri="{FF2B5EF4-FFF2-40B4-BE49-F238E27FC236}">
                <a16:creationId xmlns:a16="http://schemas.microsoft.com/office/drawing/2014/main" id="{9A7708A7-9C52-F4BF-B75A-043B61547A3F}"/>
              </a:ext>
            </a:extLst>
          </p:cNvPr>
          <p:cNvPicPr>
            <a:picLocks noChangeAspect="1" noChangeArrowheads="1"/>
          </p:cNvPicPr>
          <p:nvPr/>
        </p:nvPicPr>
        <p:blipFill>
          <a:blip r:embed="rId4" cstate="print"/>
          <a:srcRect/>
          <a:stretch>
            <a:fillRect/>
          </a:stretch>
        </p:blipFill>
        <p:spPr bwMode="auto">
          <a:xfrm>
            <a:off x="95139" y="1207470"/>
            <a:ext cx="324000" cy="324000"/>
          </a:xfrm>
          <a:prstGeom prst="rect">
            <a:avLst/>
          </a:prstGeom>
          <a:noFill/>
        </p:spPr>
      </p:pic>
      <p:sp>
        <p:nvSpPr>
          <p:cNvPr id="5" name="文本框 4">
            <a:extLst>
              <a:ext uri="{FF2B5EF4-FFF2-40B4-BE49-F238E27FC236}">
                <a16:creationId xmlns:a16="http://schemas.microsoft.com/office/drawing/2014/main" id="{E73CA77E-D3E8-2582-28F7-32718D98DF7F}"/>
              </a:ext>
            </a:extLst>
          </p:cNvPr>
          <p:cNvSpPr txBox="1"/>
          <p:nvPr/>
        </p:nvSpPr>
        <p:spPr>
          <a:xfrm>
            <a:off x="360000" y="1446765"/>
            <a:ext cx="8532300" cy="461665"/>
          </a:xfrm>
          <a:prstGeom prst="rect">
            <a:avLst/>
          </a:prstGeom>
          <a:noFill/>
        </p:spPr>
        <p:txBody>
          <a:bodyPr wrap="square" rtlCol="0">
            <a:spAutoFit/>
          </a:bodyPr>
          <a:lstStyle/>
          <a:p>
            <a:r>
              <a:rPr lang="en-US" altLang="zh-CN" sz="2400" dirty="0">
                <a:solidFill>
                  <a:srgbClr val="FF0000"/>
                </a:solidFill>
              </a:rPr>
              <a:t>A neighbor is better than a distant relative.</a:t>
            </a:r>
            <a:endParaRPr lang="zh-CN" altLang="zh-CN" sz="2400" dirty="0">
              <a:solidFill>
                <a:srgbClr val="FF0000"/>
              </a:solidFill>
            </a:endParaRPr>
          </a:p>
        </p:txBody>
      </p:sp>
      <p:sp>
        <p:nvSpPr>
          <p:cNvPr id="10" name="文本框 9">
            <a:extLst>
              <a:ext uri="{FF2B5EF4-FFF2-40B4-BE49-F238E27FC236}">
                <a16:creationId xmlns:a16="http://schemas.microsoft.com/office/drawing/2014/main" id="{C36CDE5C-32FC-3321-B7FB-F75FC71E3846}"/>
              </a:ext>
            </a:extLst>
          </p:cNvPr>
          <p:cNvSpPr txBox="1"/>
          <p:nvPr/>
        </p:nvSpPr>
        <p:spPr>
          <a:xfrm>
            <a:off x="360000" y="2801661"/>
            <a:ext cx="8532300" cy="461665"/>
          </a:xfrm>
          <a:prstGeom prst="rect">
            <a:avLst/>
          </a:prstGeom>
          <a:noFill/>
        </p:spPr>
        <p:txBody>
          <a:bodyPr wrap="square" rtlCol="0">
            <a:spAutoFit/>
          </a:bodyPr>
          <a:lstStyle/>
          <a:p>
            <a:r>
              <a:rPr lang="en-US" altLang="zh-CN" sz="2400" dirty="0">
                <a:solidFill>
                  <a:srgbClr val="FF0000"/>
                </a:solidFill>
              </a:rPr>
              <a:t>a foreign policy priority</a:t>
            </a:r>
            <a:endParaRPr lang="zh-CN" altLang="zh-CN" sz="2400" dirty="0">
              <a:solidFill>
                <a:srgbClr val="FF0000"/>
              </a:solidFill>
            </a:endParaRPr>
          </a:p>
        </p:txBody>
      </p:sp>
      <p:sp>
        <p:nvSpPr>
          <p:cNvPr id="11" name="文本框 10">
            <a:extLst>
              <a:ext uri="{FF2B5EF4-FFF2-40B4-BE49-F238E27FC236}">
                <a16:creationId xmlns:a16="http://schemas.microsoft.com/office/drawing/2014/main" id="{2C8B2488-E3FB-51AC-C18F-1A9C712A0398}"/>
              </a:ext>
            </a:extLst>
          </p:cNvPr>
          <p:cNvSpPr txBox="1"/>
          <p:nvPr/>
        </p:nvSpPr>
        <p:spPr>
          <a:xfrm>
            <a:off x="360000" y="4139853"/>
            <a:ext cx="8532300" cy="461665"/>
          </a:xfrm>
          <a:prstGeom prst="rect">
            <a:avLst/>
          </a:prstGeom>
          <a:noFill/>
        </p:spPr>
        <p:txBody>
          <a:bodyPr wrap="square" rtlCol="0">
            <a:spAutoFit/>
          </a:bodyPr>
          <a:lstStyle/>
          <a:p>
            <a:r>
              <a:rPr lang="en-US" altLang="zh-CN" sz="2400" dirty="0">
                <a:solidFill>
                  <a:srgbClr val="FF0000"/>
                </a:solidFill>
              </a:rPr>
              <a:t>face a golden opportunity</a:t>
            </a:r>
            <a:endParaRPr lang="zh-CN" altLang="zh-CN" sz="2400" dirty="0">
              <a:solidFill>
                <a:srgbClr val="FF0000"/>
              </a:solidFill>
            </a:endParaRPr>
          </a:p>
        </p:txBody>
      </p:sp>
      <p:sp>
        <p:nvSpPr>
          <p:cNvPr id="13" name="矩形 12">
            <a:extLst>
              <a:ext uri="{FF2B5EF4-FFF2-40B4-BE49-F238E27FC236}">
                <a16:creationId xmlns:a16="http://schemas.microsoft.com/office/drawing/2014/main" id="{787DDDA1-1A38-238B-843C-DAD5EFE7F3FF}"/>
              </a:ext>
            </a:extLst>
          </p:cNvPr>
          <p:cNvSpPr/>
          <p:nvPr/>
        </p:nvSpPr>
        <p:spPr>
          <a:xfrm>
            <a:off x="476149" y="1474321"/>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322CF14D-3535-93A0-685F-38BB11305093}"/>
              </a:ext>
            </a:extLst>
          </p:cNvPr>
          <p:cNvSpPr/>
          <p:nvPr/>
        </p:nvSpPr>
        <p:spPr>
          <a:xfrm>
            <a:off x="446580" y="2819055"/>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FA5932E2-F9B1-7E19-6D63-AA8CA630880D}"/>
              </a:ext>
            </a:extLst>
          </p:cNvPr>
          <p:cNvSpPr/>
          <p:nvPr/>
        </p:nvSpPr>
        <p:spPr>
          <a:xfrm>
            <a:off x="446580" y="4175335"/>
            <a:ext cx="8359140" cy="74214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0445235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3"/>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3"/>
                  </p:tgtEl>
                </p:cond>
              </p:nextCondLst>
            </p:seq>
            <p:seq concurrent="1" nextAc="seek">
              <p:cTn id="11" restart="whenNotActive" fill="hold" evtFilter="cancelBubble" nodeType="interactiveSeq">
                <p:stCondLst>
                  <p:cond evt="onClick" delay="0">
                    <p:tgtEl>
                      <p:spTgt spid="13"/>
                    </p:tgtEl>
                  </p:cond>
                </p:stCondLst>
                <p:endSync evt="end" delay="0">
                  <p:rtn val="all"/>
                </p:endSync>
                <p:childTnLst>
                  <p:par>
                    <p:cTn id="12" fill="hold">
                      <p:stCondLst>
                        <p:cond delay="0"/>
                      </p:stCondLst>
                      <p:childTnLst>
                        <p:par>
                          <p:cTn id="13" fill="hold">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nextCondLst>
                <p:cond evt="onClick" delay="0">
                  <p:tgtEl>
                    <p:spTgt spid="13"/>
                  </p:tgtEl>
                </p:cond>
              </p:nextCondLst>
            </p:seq>
            <p:seq concurrent="1" nextAc="seek">
              <p:cTn id="16" restart="whenNotActive" fill="hold" evtFilter="cancelBubble" nodeType="interactiveSeq">
                <p:stCondLst>
                  <p:cond evt="onClick" delay="0">
                    <p:tgtEl>
                      <p:spTgt spid="14"/>
                    </p:tgtEl>
                  </p:cond>
                </p:stCondLst>
                <p:endSync evt="end" delay="0">
                  <p:rtn val="all"/>
                </p:endSync>
                <p:childTnLst>
                  <p:par>
                    <p:cTn id="17" fill="hold">
                      <p:stCondLst>
                        <p:cond delay="0"/>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14"/>
                  </p:tgtEl>
                </p:cond>
              </p:nextCondLst>
            </p:seq>
            <p:seq concurrent="1" nextAc="seek">
              <p:cTn id="21" restart="whenNotActive" fill="hold" evtFilter="cancelBubble" nodeType="interactiveSeq">
                <p:stCondLst>
                  <p:cond evt="onClick" delay="0">
                    <p:tgtEl>
                      <p:spTgt spid="15"/>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childTnLst>
              </p:cTn>
              <p:nextCondLst>
                <p:cond evt="onClick" delay="0">
                  <p:tgtEl>
                    <p:spTgt spid="15"/>
                  </p:tgtEl>
                </p:cond>
              </p:nextCondLst>
            </p:seq>
          </p:childTnLst>
        </p:cTn>
      </p:par>
    </p:tnLst>
    <p:bldLst>
      <p:bldP spid="5" grpId="0"/>
      <p:bldP spid="5" grpId="1"/>
      <p:bldP spid="10" grpId="0"/>
      <p:bldP spid="10" grpId="1"/>
      <p:bldP spid="11" grpId="0"/>
      <p:bldP spid="11"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文本框 6"/>
          <p:cNvSpPr txBox="1"/>
          <p:nvPr/>
        </p:nvSpPr>
        <p:spPr>
          <a:xfrm>
            <a:off x="360000" y="1133951"/>
            <a:ext cx="8532300" cy="4893647"/>
          </a:xfrm>
          <a:prstGeom prst="rect">
            <a:avLst/>
          </a:prstGeom>
          <a:noFill/>
        </p:spPr>
        <p:txBody>
          <a:bodyPr wrap="square" rtlCol="0">
            <a:spAutoFit/>
          </a:bodyPr>
          <a:lstStyle/>
          <a:p>
            <a:pPr algn="just"/>
            <a:r>
              <a:rPr lang="en-US" altLang="zh-CN" sz="2400" b="1" dirty="0">
                <a:solidFill>
                  <a:srgbClr val="C6383E"/>
                </a:solidFill>
              </a:rPr>
              <a:t>Task 2</a:t>
            </a:r>
          </a:p>
          <a:p>
            <a:pPr algn="just"/>
            <a:r>
              <a:rPr lang="en-US" altLang="zh-CN" sz="2400" spc="40" dirty="0">
                <a:latin typeface="Cambria" panose="02040503050406030204" pitchFamily="18" charset="0"/>
                <a:ea typeface="Cambria" panose="02040503050406030204" pitchFamily="18" charset="0"/>
              </a:rPr>
              <a:t>How did Zhang Qian’s envoy missions influence China and the</a:t>
            </a:r>
            <a:r>
              <a:rPr lang="en-US" altLang="zh-CN" sz="2400" spc="-10" dirty="0">
                <a:latin typeface="Cambria" panose="02040503050406030204" pitchFamily="18" charset="0"/>
                <a:ea typeface="Cambria" panose="02040503050406030204" pitchFamily="18" charset="0"/>
              </a:rPr>
              <a:t> Western world? </a:t>
            </a:r>
          </a:p>
          <a:p>
            <a:pPr algn="just"/>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______________________________________________________________________________________________________________</a:t>
            </a:r>
          </a:p>
          <a:p>
            <a:pPr algn="just"/>
            <a:r>
              <a:rPr lang="en-US" altLang="zh-CN" sz="2400" spc="-10" dirty="0">
                <a:ea typeface="Cambria" panose="02040503050406030204" pitchFamily="18" charset="0"/>
              </a:rPr>
              <a:t>_______________________________________________________</a:t>
            </a:r>
          </a:p>
          <a:p>
            <a:pPr algn="just"/>
            <a:r>
              <a:rPr lang="en-US" altLang="zh-CN" sz="2400" spc="-10" dirty="0">
                <a:ea typeface="Cambria" panose="02040503050406030204" pitchFamily="18" charset="0"/>
              </a:rPr>
              <a:t>_______________________________________________________</a:t>
            </a:r>
          </a:p>
          <a:p>
            <a:pPr algn="just"/>
            <a:r>
              <a:rPr lang="en-US" altLang="zh-CN" sz="2400" spc="-10" dirty="0">
                <a:ea typeface="Cambria" panose="02040503050406030204" pitchFamily="18" charset="0"/>
              </a:rPr>
              <a:t>_______________________________________________________</a:t>
            </a:r>
          </a:p>
          <a:p>
            <a:pPr algn="just"/>
            <a:r>
              <a:rPr lang="en-US" altLang="zh-CN" sz="2400" spc="-10" dirty="0">
                <a:ea typeface="Cambria" panose="02040503050406030204" pitchFamily="18" charset="0"/>
              </a:rPr>
              <a:t>_______________________________________________________</a:t>
            </a:r>
          </a:p>
          <a:p>
            <a:pPr algn="just"/>
            <a:r>
              <a:rPr lang="en-US" altLang="zh-CN" sz="2400" spc="-10" dirty="0">
                <a:ea typeface="Cambria" panose="02040503050406030204" pitchFamily="18" charset="0"/>
              </a:rPr>
              <a:t>_______________________________________________________</a:t>
            </a:r>
          </a:p>
          <a:p>
            <a:pPr algn="just"/>
            <a:r>
              <a:rPr lang="en-US" altLang="zh-CN" sz="2400" spc="-10" dirty="0">
                <a:ea typeface="Cambria" panose="02040503050406030204" pitchFamily="18" charset="0"/>
              </a:rPr>
              <a:t>_______________________________________________________</a:t>
            </a:r>
            <a:endParaRPr lang="en-US" altLang="zh-CN" sz="2400" spc="-10" dirty="0">
              <a:latin typeface="Cambria" panose="02040503050406030204" pitchFamily="18" charset="0"/>
              <a:ea typeface="Cambria" panose="02040503050406030204" pitchFamily="18" charset="0"/>
            </a:endParaRPr>
          </a:p>
          <a:p>
            <a:pPr algn="just"/>
            <a:r>
              <a:rPr lang="en-US" altLang="zh-CN" sz="2400" spc="-10" dirty="0">
                <a:ea typeface="Cambria" panose="02040503050406030204" pitchFamily="18" charset="0"/>
              </a:rPr>
              <a:t>_______________________________________________________</a:t>
            </a:r>
          </a:p>
        </p:txBody>
      </p:sp>
      <p:pic>
        <p:nvPicPr>
          <p:cNvPr id="9" name="钥匙2" descr="C:\Users\senj\Desktop\新建文件夹\答案.png">
            <a:hlinkClick r:id="" action="ppaction://noaction"/>
          </p:cNvPr>
          <p:cNvPicPr>
            <a:picLocks noChangeAspect="1" noChangeArrowheads="1"/>
          </p:cNvPicPr>
          <p:nvPr/>
        </p:nvPicPr>
        <p:blipFill>
          <a:blip r:embed="rId4" cstate="print"/>
          <a:srcRect/>
          <a:stretch>
            <a:fillRect/>
          </a:stretch>
        </p:blipFill>
        <p:spPr bwMode="auto">
          <a:xfrm>
            <a:off x="95139" y="1583370"/>
            <a:ext cx="324000" cy="324000"/>
          </a:xfrm>
          <a:prstGeom prst="rect">
            <a:avLst/>
          </a:prstGeom>
          <a:noFill/>
        </p:spPr>
      </p:pic>
      <p:sp>
        <p:nvSpPr>
          <p:cNvPr id="10" name="文本框 9"/>
          <p:cNvSpPr txBox="1"/>
          <p:nvPr/>
        </p:nvSpPr>
        <p:spPr>
          <a:xfrm>
            <a:off x="457201" y="2533575"/>
            <a:ext cx="8300719" cy="3785652"/>
          </a:xfrm>
          <a:prstGeom prst="rect">
            <a:avLst/>
          </a:prstGeom>
          <a:noFill/>
        </p:spPr>
        <p:txBody>
          <a:bodyPr wrap="square" rtlCol="0">
            <a:spAutoFit/>
          </a:bodyPr>
          <a:lstStyle/>
          <a:p>
            <a:pPr algn="just"/>
            <a:r>
              <a:rPr lang="en-US" altLang="zh-CN" sz="2400" b="1" dirty="0">
                <a:solidFill>
                  <a:srgbClr val="FF0000"/>
                </a:solidFill>
              </a:rPr>
              <a:t>Reference version:</a:t>
            </a:r>
            <a:endParaRPr lang="zh-CN" altLang="zh-CN" sz="2400" dirty="0">
              <a:solidFill>
                <a:srgbClr val="FF0000"/>
              </a:solidFill>
            </a:endParaRPr>
          </a:p>
          <a:p>
            <a:pPr algn="just"/>
            <a:r>
              <a:rPr lang="en-US" altLang="zh-CN" sz="2400" spc="60" dirty="0">
                <a:solidFill>
                  <a:srgbClr val="FF0000"/>
                </a:solidFill>
              </a:rPr>
              <a:t>Zhang Qian’s mission to the Western Regions (</a:t>
            </a:r>
            <a:r>
              <a:rPr lang="en-US" altLang="zh-CN" sz="2400" spc="60" dirty="0" err="1">
                <a:solidFill>
                  <a:srgbClr val="FF0000"/>
                </a:solidFill>
              </a:rPr>
              <a:t>Xiyu</a:t>
            </a:r>
            <a:r>
              <a:rPr lang="en-US" altLang="zh-CN" sz="2400" spc="60" dirty="0">
                <a:solidFill>
                  <a:srgbClr val="FF0000"/>
                </a:solidFill>
              </a:rPr>
              <a:t>) promoted</a:t>
            </a:r>
            <a:r>
              <a:rPr lang="en-US" altLang="zh-CN" sz="2400" dirty="0">
                <a:solidFill>
                  <a:srgbClr val="FF0000"/>
                </a:solidFill>
              </a:rPr>
              <a:t> </a:t>
            </a:r>
            <a:r>
              <a:rPr lang="en-US" altLang="zh-CN" sz="2400" spc="10" dirty="0">
                <a:solidFill>
                  <a:srgbClr val="FF0000"/>
                </a:solidFill>
              </a:rPr>
              <a:t>the first cultural integration between Han and Yi (minority ethnic</a:t>
            </a:r>
            <a:r>
              <a:rPr lang="en-US" altLang="zh-CN" sz="2400" dirty="0">
                <a:solidFill>
                  <a:srgbClr val="FF0000"/>
                </a:solidFill>
              </a:rPr>
              <a:t> </a:t>
            </a:r>
            <a:r>
              <a:rPr lang="en-US" altLang="zh-CN" sz="2400" spc="-30" dirty="0">
                <a:solidFill>
                  <a:srgbClr val="FF0000"/>
                </a:solidFill>
              </a:rPr>
              <a:t>groups). More than a dozen kinds of plants such as walnuts, grapes</a:t>
            </a:r>
            <a:r>
              <a:rPr lang="en-US" altLang="zh-CN" sz="2400" dirty="0">
                <a:solidFill>
                  <a:srgbClr val="FF0000"/>
                </a:solidFill>
              </a:rPr>
              <a:t>, pomegranates, broad beans and alfalfa from the Western Regions </a:t>
            </a:r>
            <a:r>
              <a:rPr lang="en-US" altLang="zh-CN" sz="2400" spc="20" dirty="0">
                <a:solidFill>
                  <a:srgbClr val="FF0000"/>
                </a:solidFill>
              </a:rPr>
              <a:t>were gradually cultivated in the central part of China. </a:t>
            </a:r>
            <a:r>
              <a:rPr lang="en-US" altLang="zh-CN" sz="2400" spc="20" dirty="0" err="1">
                <a:solidFill>
                  <a:srgbClr val="FF0000"/>
                </a:solidFill>
              </a:rPr>
              <a:t>Huqin</a:t>
            </a:r>
            <a:r>
              <a:rPr lang="en-US" altLang="zh-CN" sz="2400" spc="20" dirty="0">
                <a:solidFill>
                  <a:srgbClr val="FF0000"/>
                </a:solidFill>
              </a:rPr>
              <a:t> and</a:t>
            </a:r>
            <a:r>
              <a:rPr lang="en-US" altLang="zh-CN" sz="2400" dirty="0">
                <a:solidFill>
                  <a:srgbClr val="FF0000"/>
                </a:solidFill>
              </a:rPr>
              <a:t> </a:t>
            </a:r>
            <a:r>
              <a:rPr lang="en-US" altLang="zh-CN" sz="2400" spc="30" dirty="0">
                <a:solidFill>
                  <a:srgbClr val="FF0000"/>
                </a:solidFill>
              </a:rPr>
              <a:t>other musical instruments have enriched the cultural life of the</a:t>
            </a:r>
            <a:r>
              <a:rPr lang="en-US" altLang="zh-CN" sz="2400" dirty="0">
                <a:solidFill>
                  <a:srgbClr val="FF0000"/>
                </a:solidFill>
              </a:rPr>
              <a:t> </a:t>
            </a:r>
            <a:r>
              <a:rPr lang="en-US" altLang="zh-CN" sz="2400" spc="-20" dirty="0">
                <a:solidFill>
                  <a:srgbClr val="FF0000"/>
                </a:solidFill>
              </a:rPr>
              <a:t>Han people. The westward spread of Chinese silk and iron smelting</a:t>
            </a:r>
            <a:r>
              <a:rPr lang="en-US" altLang="zh-CN" sz="2400" dirty="0">
                <a:solidFill>
                  <a:srgbClr val="FF0000"/>
                </a:solidFill>
              </a:rPr>
              <a:t> has greatly contributed to the development of human civilization.</a:t>
            </a:r>
            <a:endParaRPr lang="zh-CN" altLang="zh-CN" sz="2400" dirty="0">
              <a:solidFill>
                <a:srgbClr val="FF0000"/>
              </a:solidFill>
            </a:endParaRPr>
          </a:p>
          <a:p>
            <a:pPr algn="just"/>
            <a:r>
              <a:rPr lang="en-US" altLang="zh-CN" sz="2400" dirty="0">
                <a:solidFill>
                  <a:srgbClr val="FF0000"/>
                </a:solidFill>
              </a:rPr>
              <a:t> </a:t>
            </a:r>
            <a:endParaRPr lang="zh-CN" altLang="zh-CN" sz="2400" dirty="0">
              <a:solidFill>
                <a:srgbClr val="FF0000"/>
              </a:solidFill>
            </a:endParaRPr>
          </a:p>
        </p:txBody>
      </p:sp>
      <p:pic>
        <p:nvPicPr>
          <p:cNvPr id="11" name="Picture 3" descr="C:\Users\senj\Desktop\按钮.png"/>
          <p:cNvPicPr>
            <a:picLocks noChangeAspect="1" noChangeArrowheads="1"/>
          </p:cNvPicPr>
          <p:nvPr/>
        </p:nvPicPr>
        <p:blipFill>
          <a:blip r:embed="rId5" cstate="print"/>
          <a:srcRect l="12911" t="21436" r="39626" b="60503"/>
          <a:stretch>
            <a:fillRect/>
          </a:stretch>
        </p:blipFill>
        <p:spPr bwMode="auto">
          <a:xfrm rot="10800000">
            <a:off x="8721754" y="6429396"/>
            <a:ext cx="259557" cy="254794"/>
          </a:xfrm>
          <a:prstGeom prst="rect">
            <a:avLst/>
          </a:prstGeom>
          <a:noFill/>
        </p:spPr>
      </p:pic>
      <p:sp>
        <p:nvSpPr>
          <p:cNvPr id="8" name="矩形 7"/>
          <p:cNvSpPr/>
          <p:nvPr/>
        </p:nvSpPr>
        <p:spPr>
          <a:xfrm>
            <a:off x="498195" y="2623360"/>
            <a:ext cx="8259725" cy="3253810"/>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3048201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9"/>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9"/>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childTnLst>
              </p:cTn>
              <p:nextCondLst>
                <p:cond evt="onClick" delay="0">
                  <p:tgtEl>
                    <p:spTgt spid="8"/>
                  </p:tgtEl>
                </p:cond>
              </p:nextCondLst>
            </p:seq>
          </p:childTnLst>
        </p:cTn>
      </p:par>
    </p:tnLst>
    <p:bldLst>
      <p:bldP spid="10" grpId="0"/>
      <p:bldP spid="10" grpId="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0000" y="1146890"/>
            <a:ext cx="8532300" cy="461665"/>
          </a:xfrm>
          <a:prstGeom prst="rect">
            <a:avLst/>
          </a:prstGeom>
          <a:noFill/>
        </p:spPr>
        <p:txBody>
          <a:bodyPr wrap="square" rtlCol="0">
            <a:spAutoFit/>
          </a:bodyPr>
          <a:lstStyle/>
          <a:p>
            <a:pPr algn="ctr"/>
            <a:r>
              <a:rPr lang="en-US" altLang="zh-CN" sz="2400" b="1" dirty="0">
                <a:solidFill>
                  <a:srgbClr val="0A2E4A"/>
                </a:solidFill>
                <a:latin typeface="Cambria" panose="02040503050406030204" pitchFamily="18" charset="0"/>
                <a:ea typeface="Cambria" panose="02040503050406030204" pitchFamily="18" charset="0"/>
              </a:rPr>
              <a:t>Transliteration I: Making it pronounceable</a:t>
            </a:r>
          </a:p>
        </p:txBody>
      </p:sp>
      <p:sp>
        <p:nvSpPr>
          <p:cNvPr id="15" name="文本框 14"/>
          <p:cNvSpPr txBox="1"/>
          <p:nvPr/>
        </p:nvSpPr>
        <p:spPr>
          <a:xfrm>
            <a:off x="366165" y="1859340"/>
            <a:ext cx="8526135" cy="4524315"/>
          </a:xfrm>
          <a:prstGeom prst="rect">
            <a:avLst/>
          </a:prstGeom>
          <a:noFill/>
        </p:spPr>
        <p:txBody>
          <a:bodyPr wrap="square" rtlCol="0">
            <a:spAutoFit/>
          </a:bodyPr>
          <a:lstStyle/>
          <a:p>
            <a:pPr algn="just"/>
            <a:r>
              <a:rPr lang="en-US" altLang="zh-CN" sz="2400" dirty="0"/>
              <a:t>     </a:t>
            </a:r>
            <a:r>
              <a:rPr lang="en-US" altLang="zh-CN" sz="2400" spc="-30" dirty="0"/>
              <a:t>When we introduce some Chinese-specific proper nouns in English</a:t>
            </a:r>
            <a:r>
              <a:rPr lang="en-US" altLang="zh-CN" sz="2400" dirty="0"/>
              <a:t>, </a:t>
            </a:r>
            <a:r>
              <a:rPr lang="en-US" altLang="zh-CN" sz="2400" spc="10" dirty="0"/>
              <a:t>the first tactic which comes to our mind is transliteration, </a:t>
            </a:r>
            <a:r>
              <a:rPr lang="en-US" altLang="zh-CN" sz="2400" i="1" spc="10" dirty="0"/>
              <a:t>pinyin</a:t>
            </a:r>
            <a:r>
              <a:rPr lang="en-US" altLang="zh-CN" sz="2400" spc="10" dirty="0"/>
              <a:t>, in</a:t>
            </a:r>
            <a:r>
              <a:rPr lang="en-US" altLang="zh-CN" sz="2400" dirty="0"/>
              <a:t> </a:t>
            </a:r>
            <a:r>
              <a:rPr lang="en-US" altLang="zh-CN" sz="2400" spc="20" dirty="0"/>
              <a:t>this case. But things are not that easy when we are reading Text C</a:t>
            </a:r>
            <a:r>
              <a:rPr lang="en-US" altLang="zh-CN" sz="2400" dirty="0"/>
              <a:t>. </a:t>
            </a:r>
            <a:r>
              <a:rPr lang="en-US" altLang="zh-CN" sz="2400" spc="30" dirty="0"/>
              <a:t>Sure enough, the author, who is a native speaker of English, does</a:t>
            </a:r>
            <a:r>
              <a:rPr lang="en-US" altLang="zh-CN" sz="2400" dirty="0"/>
              <a:t> </a:t>
            </a:r>
            <a:r>
              <a:rPr lang="en-US" altLang="zh-CN" sz="2400" spc="-20" dirty="0"/>
              <a:t>not use </a:t>
            </a:r>
            <a:r>
              <a:rPr lang="en-US" altLang="zh-CN" sz="2400" i="1" spc="-20" dirty="0"/>
              <a:t>pinyin </a:t>
            </a:r>
            <a:r>
              <a:rPr lang="en-US" altLang="zh-CN" sz="2400" spc="-20" dirty="0"/>
              <a:t>only to talk about the Chinese dynasties. For example</a:t>
            </a:r>
            <a:r>
              <a:rPr lang="en-US" altLang="zh-CN" sz="2400" dirty="0"/>
              <a:t>, </a:t>
            </a:r>
            <a:r>
              <a:rPr lang="en-US" altLang="zh-CN" sz="2400" spc="10" dirty="0"/>
              <a:t>he includes the pronunciation together with </a:t>
            </a:r>
            <a:r>
              <a:rPr lang="en-US" altLang="zh-CN" sz="2400" i="1" spc="10" dirty="0"/>
              <a:t>pinyin </a:t>
            </a:r>
            <a:r>
              <a:rPr lang="en-US" altLang="zh-CN" sz="2400" spc="10" dirty="0"/>
              <a:t>to refer to such</a:t>
            </a:r>
            <a:r>
              <a:rPr lang="en-US" altLang="zh-CN" sz="2400" dirty="0"/>
              <a:t> </a:t>
            </a:r>
            <a:r>
              <a:rPr lang="en-US" altLang="zh-CN" sz="2400" spc="60" dirty="0"/>
              <a:t>dynasties as the Xia dynasty, the Zhou dynasty, the Qin dynasty</a:t>
            </a:r>
            <a:r>
              <a:rPr lang="en-US" altLang="zh-CN" sz="2400" dirty="0"/>
              <a:t>, and the Qing dynasty. We need to understand that </a:t>
            </a:r>
            <a:r>
              <a:rPr lang="en-US" altLang="zh-CN" sz="2400" i="1" dirty="0"/>
              <a:t>pinyin </a:t>
            </a:r>
            <a:r>
              <a:rPr lang="en-US" altLang="zh-CN" sz="2400" dirty="0"/>
              <a:t>beginning </a:t>
            </a:r>
            <a:r>
              <a:rPr lang="en-US" altLang="zh-CN" sz="2400" spc="-10" dirty="0"/>
              <a:t>with </a:t>
            </a:r>
            <a:r>
              <a:rPr lang="en-US" altLang="zh-CN" sz="2400" i="1" spc="-10" dirty="0"/>
              <a:t>z</a:t>
            </a:r>
            <a:r>
              <a:rPr lang="en-US" altLang="zh-CN" sz="2400" spc="-10" dirty="0"/>
              <a:t>, </a:t>
            </a:r>
            <a:r>
              <a:rPr lang="en-US" altLang="zh-CN" sz="2400" i="1" spc="-10" dirty="0" err="1"/>
              <a:t>zh</a:t>
            </a:r>
            <a:r>
              <a:rPr lang="en-US" altLang="zh-CN" sz="2400" spc="-10" dirty="0"/>
              <a:t>, </a:t>
            </a:r>
            <a:r>
              <a:rPr lang="en-US" altLang="zh-CN" sz="2400" i="1" spc="-10" dirty="0"/>
              <a:t>j</a:t>
            </a:r>
            <a:r>
              <a:rPr lang="en-US" altLang="zh-CN" sz="2400" spc="-10" dirty="0"/>
              <a:t>, </a:t>
            </a:r>
            <a:r>
              <a:rPr lang="en-US" altLang="zh-CN" sz="2400" i="1" spc="-10" dirty="0"/>
              <a:t>q</a:t>
            </a:r>
            <a:r>
              <a:rPr lang="en-US" altLang="zh-CN" sz="2400" spc="-10" dirty="0"/>
              <a:t>, or </a:t>
            </a:r>
            <a:r>
              <a:rPr lang="en-US" altLang="zh-CN" sz="2400" i="1" spc="-10" dirty="0"/>
              <a:t>x </a:t>
            </a:r>
            <a:r>
              <a:rPr lang="en-US" altLang="zh-CN" sz="2400" spc="-10" dirty="0"/>
              <a:t>is a pronunciation headache to Western readers</a:t>
            </a:r>
            <a:r>
              <a:rPr lang="en-US" altLang="zh-CN" sz="2400" dirty="0"/>
              <a:t>. The author of Text C is considerate enough to use similar sounds to </a:t>
            </a:r>
            <a:r>
              <a:rPr lang="en-US" altLang="zh-CN" sz="2400" spc="-50" dirty="0"/>
              <a:t>imitate or represent the Chinese pronunciation of those four dynasties</a:t>
            </a:r>
            <a:r>
              <a:rPr lang="en-US" altLang="zh-CN" sz="2400" dirty="0"/>
              <a:t>. He italicizes his transliteration too to draw attention:</a:t>
            </a:r>
            <a:endParaRPr lang="zh-CN" altLang="en-US" sz="2400" b="1" dirty="0">
              <a:solidFill>
                <a:srgbClr val="D2553C"/>
              </a:solidFill>
              <a:latin typeface="Cambria" panose="02040503050406030204" pitchFamily="18" charset="0"/>
              <a:cs typeface="Times New Roman" panose="02020603050405020304" pitchFamily="18" charset="0"/>
            </a:endParaRPr>
          </a:p>
        </p:txBody>
      </p:sp>
      <p:pic>
        <p:nvPicPr>
          <p:cNvPr id="8"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0" name="Picture 3" descr="C:\Users\senj\Desktop\按钮.png"/>
          <p:cNvPicPr>
            <a:picLocks noChangeAspect="1" noChangeArrowheads="1"/>
          </p:cNvPicPr>
          <p:nvPr/>
        </p:nvPicPr>
        <p:blipFill>
          <a:blip r:embed="rId4" cstate="print"/>
          <a:srcRect l="12911" t="21436" r="39626" b="60503"/>
          <a:stretch>
            <a:fillRect/>
          </a:stretch>
        </p:blipFill>
        <p:spPr bwMode="auto">
          <a:xfrm>
            <a:off x="8366400" y="6429396"/>
            <a:ext cx="259557" cy="254794"/>
          </a:xfrm>
          <a:prstGeom prst="rect">
            <a:avLst/>
          </a:prstGeom>
          <a:noFill/>
        </p:spPr>
      </p:pic>
    </p:spTree>
    <p:extLst>
      <p:ext uri="{BB962C8B-B14F-4D97-AF65-F5344CB8AC3E}">
        <p14:creationId xmlns:p14="http://schemas.microsoft.com/office/powerpoint/2010/main" val="36422798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0" name="文本框 9"/>
          <p:cNvSpPr txBox="1"/>
          <p:nvPr/>
        </p:nvSpPr>
        <p:spPr>
          <a:xfrm>
            <a:off x="360000" y="1146890"/>
            <a:ext cx="8532300" cy="4524315"/>
          </a:xfrm>
          <a:prstGeom prst="rect">
            <a:avLst/>
          </a:prstGeom>
          <a:noFill/>
        </p:spPr>
        <p:txBody>
          <a:bodyPr wrap="square" rtlCol="0">
            <a:spAutoFit/>
          </a:bodyPr>
          <a:lstStyle/>
          <a:p>
            <a:pPr algn="just"/>
            <a:r>
              <a:rPr lang="en-US" altLang="zh-CN" sz="2400" dirty="0"/>
              <a:t>the Xia (pronounced </a:t>
            </a:r>
            <a:r>
              <a:rPr lang="en-US" altLang="zh-CN" sz="2400" i="1" dirty="0"/>
              <a:t>she-ah</a:t>
            </a:r>
            <a:r>
              <a:rPr lang="en-US" altLang="zh-CN" sz="2400" dirty="0"/>
              <a:t>)</a:t>
            </a:r>
            <a:r>
              <a:rPr lang="en-US" altLang="zh-CN" sz="2400" i="1" dirty="0"/>
              <a:t> </a:t>
            </a:r>
            <a:r>
              <a:rPr lang="en-US" altLang="zh-CN" sz="2400" dirty="0"/>
              <a:t>dynasty</a:t>
            </a:r>
          </a:p>
          <a:p>
            <a:pPr algn="just"/>
            <a:r>
              <a:rPr lang="en-US" altLang="zh-CN" sz="2400" dirty="0"/>
              <a:t>the Zhou (</a:t>
            </a:r>
            <a:r>
              <a:rPr lang="en-US" altLang="zh-CN" sz="2400" i="1" dirty="0"/>
              <a:t>joe</a:t>
            </a:r>
            <a:r>
              <a:rPr lang="en-US" altLang="zh-CN" sz="2400" dirty="0"/>
              <a:t>) dynasty</a:t>
            </a:r>
          </a:p>
          <a:p>
            <a:pPr algn="just"/>
            <a:r>
              <a:rPr lang="en-US" altLang="zh-CN" sz="2400" dirty="0"/>
              <a:t>the Qin (</a:t>
            </a:r>
            <a:r>
              <a:rPr lang="en-US" altLang="zh-CN" sz="2400" i="1" dirty="0"/>
              <a:t>chin</a:t>
            </a:r>
            <a:r>
              <a:rPr lang="en-US" altLang="zh-CN" sz="2400" dirty="0"/>
              <a:t>) dynasty</a:t>
            </a:r>
          </a:p>
          <a:p>
            <a:pPr algn="just"/>
            <a:r>
              <a:rPr lang="en-US" altLang="zh-CN" sz="2400" dirty="0"/>
              <a:t>the Qing (</a:t>
            </a:r>
            <a:r>
              <a:rPr lang="en-US" altLang="zh-CN" sz="2400" i="1" dirty="0"/>
              <a:t>king</a:t>
            </a:r>
            <a:r>
              <a:rPr lang="en-US" altLang="zh-CN" sz="2400" dirty="0"/>
              <a:t>) dynasty</a:t>
            </a:r>
          </a:p>
          <a:p>
            <a:pPr algn="just"/>
            <a:r>
              <a:rPr lang="en-US" altLang="zh-CN" sz="2400" dirty="0"/>
              <a:t>     </a:t>
            </a:r>
            <a:r>
              <a:rPr lang="en-US" altLang="zh-CN" sz="2400" spc="-10" dirty="0"/>
              <a:t>Not all his transliteration practice is perfect, but it is a wise move</a:t>
            </a:r>
            <a:r>
              <a:rPr lang="en-US" altLang="zh-CN" sz="2400" dirty="0"/>
              <a:t>, </a:t>
            </a:r>
            <a:r>
              <a:rPr lang="en-US" altLang="zh-CN" sz="2400" spc="20" dirty="0"/>
              <a:t>since some Western readers might want to know how these exotic</a:t>
            </a:r>
            <a:r>
              <a:rPr lang="en-US" altLang="zh-CN" sz="2400" dirty="0"/>
              <a:t> </a:t>
            </a:r>
            <a:r>
              <a:rPr lang="en-US" altLang="zh-CN" sz="2400" spc="50" dirty="0"/>
              <a:t>Chinese dynasties sound to their ears. When we are introducing </a:t>
            </a:r>
            <a:r>
              <a:rPr lang="en-US" altLang="zh-CN" sz="2400" dirty="0"/>
              <a:t>Chinese culture to the outside world, we should respect the reader </a:t>
            </a:r>
            <a:r>
              <a:rPr lang="en-US" altLang="zh-CN" sz="2400" spc="50" dirty="0"/>
              <a:t>and his/her language by taking into consideration a good way of</a:t>
            </a:r>
            <a:r>
              <a:rPr lang="en-US" altLang="zh-CN" sz="2400" dirty="0"/>
              <a:t> </a:t>
            </a:r>
            <a:r>
              <a:rPr lang="en-US" altLang="zh-CN" sz="2400" spc="-30" dirty="0"/>
              <a:t>transliteration. Text C is a good case in point. Is the transliteration the</a:t>
            </a:r>
            <a:r>
              <a:rPr lang="en-US" altLang="zh-CN" sz="2400" dirty="0"/>
              <a:t> </a:t>
            </a:r>
            <a:r>
              <a:rPr lang="en-US" altLang="zh-CN" sz="2400" spc="10" dirty="0"/>
              <a:t>so-called Wade-Giles </a:t>
            </a:r>
            <a:r>
              <a:rPr lang="en-US" altLang="zh-CN" sz="2400" spc="10" dirty="0" err="1"/>
              <a:t>romanization</a:t>
            </a:r>
            <a:r>
              <a:rPr lang="en-US" altLang="zh-CN" sz="2400" spc="10" dirty="0"/>
              <a:t>? We will find out the answer in</a:t>
            </a:r>
            <a:r>
              <a:rPr lang="en-US" altLang="zh-CN" sz="2400" dirty="0"/>
              <a:t> the follow-up units.</a:t>
            </a:r>
            <a:endParaRPr lang="en-US" altLang="zh-C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67087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0" name="文本框 9"/>
          <p:cNvSpPr txBox="1"/>
          <p:nvPr/>
        </p:nvSpPr>
        <p:spPr>
          <a:xfrm>
            <a:off x="360000" y="1146890"/>
            <a:ext cx="8532300" cy="5262979"/>
          </a:xfrm>
          <a:prstGeom prst="rect">
            <a:avLst/>
          </a:prstGeom>
          <a:noFill/>
        </p:spPr>
        <p:txBody>
          <a:bodyPr wrap="square" rtlCol="0">
            <a:spAutoFit/>
          </a:bodyPr>
          <a:lstStyle/>
          <a:p>
            <a:pPr algn="just"/>
            <a:r>
              <a:rPr lang="en-US" altLang="zh-CN" sz="2400" b="1" dirty="0">
                <a:solidFill>
                  <a:srgbClr val="0A2E4A"/>
                </a:solidFill>
              </a:rPr>
              <a:t>Task</a:t>
            </a:r>
          </a:p>
          <a:p>
            <a:pPr algn="just"/>
            <a:r>
              <a:rPr lang="en-US" altLang="zh-CN" sz="2400" dirty="0"/>
              <a:t>You are answering an email from an English-speaking friend John in </a:t>
            </a:r>
            <a:r>
              <a:rPr lang="en-US" altLang="zh-CN" sz="2400" spc="-50" dirty="0"/>
              <a:t>which he expressed much interest in “the Seven Powers of the Warring</a:t>
            </a:r>
            <a:r>
              <a:rPr lang="en-US" altLang="zh-CN" sz="2400" dirty="0"/>
              <a:t> </a:t>
            </a:r>
            <a:r>
              <a:rPr lang="en-US" altLang="zh-CN" sz="2400" spc="60" dirty="0"/>
              <a:t>States” (</a:t>
            </a:r>
            <a:r>
              <a:rPr lang="zh-CN" altLang="en-US" sz="2400" spc="60" dirty="0"/>
              <a:t>战国七雄，即秦、楚、齐、燕、赵、魏、韩</a:t>
            </a:r>
            <a:r>
              <a:rPr lang="en-US" altLang="zh-CN" sz="2400" spc="60" dirty="0"/>
              <a:t>). Use the</a:t>
            </a:r>
            <a:r>
              <a:rPr lang="en-US" altLang="zh-CN" sz="2400" dirty="0"/>
              <a:t> </a:t>
            </a:r>
            <a:r>
              <a:rPr lang="en-US" altLang="zh-CN" sz="2400" spc="60" dirty="0"/>
              <a:t>skill of transliteration you have just learnt to help him know the</a:t>
            </a:r>
            <a:r>
              <a:rPr lang="en-US" altLang="zh-CN" sz="2400" dirty="0"/>
              <a:t> </a:t>
            </a:r>
            <a:r>
              <a:rPr lang="en-US" altLang="zh-CN" sz="2400" spc="-20" dirty="0"/>
              <a:t>pronunciation of the seven states, paying special attention to </a:t>
            </a:r>
            <a:r>
              <a:rPr lang="en-US" altLang="zh-CN" sz="2400" i="1" spc="-20" dirty="0"/>
              <a:t>qi</a:t>
            </a:r>
            <a:r>
              <a:rPr lang="en-US" altLang="zh-CN" sz="2400" spc="-20" dirty="0"/>
              <a:t>, </a:t>
            </a:r>
            <a:r>
              <a:rPr lang="en-US" altLang="zh-CN" sz="2400" i="1" spc="-20" dirty="0" err="1"/>
              <a:t>chu</a:t>
            </a:r>
            <a:r>
              <a:rPr lang="en-US" altLang="zh-CN" sz="2400" dirty="0"/>
              <a:t>, </a:t>
            </a:r>
            <a:r>
              <a:rPr lang="en-US" altLang="zh-CN" sz="2400" i="1" dirty="0" err="1"/>
              <a:t>zhao</a:t>
            </a:r>
            <a:r>
              <a:rPr lang="en-US" altLang="zh-CN" sz="2400" dirty="0"/>
              <a:t>, and </a:t>
            </a:r>
            <a:r>
              <a:rPr lang="en-US" altLang="zh-CN" sz="2400" i="1" dirty="0" err="1"/>
              <a:t>qin</a:t>
            </a:r>
            <a:r>
              <a:rPr lang="en-US" altLang="zh-CN" sz="2400" dirty="0"/>
              <a:t>.</a:t>
            </a:r>
          </a:p>
          <a:p>
            <a:pPr algn="just"/>
            <a:endParaRPr lang="en-US" altLang="zh-CN" sz="2400" dirty="0">
              <a:latin typeface="Cambria" panose="02040503050406030204" pitchFamily="18" charset="0"/>
              <a:ea typeface="Cambria" panose="02040503050406030204" pitchFamily="18" charset="0"/>
            </a:endParaRPr>
          </a:p>
          <a:p>
            <a:r>
              <a:rPr lang="en-US" altLang="zh-CN" sz="2400" dirty="0"/>
              <a:t>Dear John,</a:t>
            </a:r>
          </a:p>
          <a:p>
            <a:pPr algn="r"/>
            <a:r>
              <a:rPr lang="en-US" altLang="zh-CN" sz="2400" spc="-10" dirty="0"/>
              <a:t>_____________________________________________________________________________________________________________________________________________________________________</a:t>
            </a:r>
            <a:r>
              <a:rPr lang="en-US" altLang="zh-CN" sz="2400" dirty="0"/>
              <a:t>Yours,</a:t>
            </a:r>
          </a:p>
          <a:p>
            <a:pPr algn="r"/>
            <a:r>
              <a:rPr lang="en-US" altLang="zh-CN" sz="2400" dirty="0"/>
              <a:t>________</a:t>
            </a:r>
            <a:endParaRPr lang="en-US" altLang="zh-CN" sz="2400" dirty="0">
              <a:latin typeface="Cambria" panose="02040503050406030204" pitchFamily="18" charset="0"/>
              <a:ea typeface="Cambria" panose="02040503050406030204" pitchFamily="18" charset="0"/>
            </a:endParaRPr>
          </a:p>
        </p:txBody>
      </p:sp>
      <p:pic>
        <p:nvPicPr>
          <p:cNvPr id="5" name="钥匙2" descr="C:\Users\senj\Desktop\新建文件夹\答案.png">
            <a:hlinkClick r:id="rId4" action="ppaction://hlinksldjump"/>
          </p:cNvPr>
          <p:cNvPicPr>
            <a:picLocks noChangeAspect="1" noChangeArrowheads="1"/>
          </p:cNvPicPr>
          <p:nvPr/>
        </p:nvPicPr>
        <p:blipFill>
          <a:blip r:embed="rId5" cstate="print"/>
          <a:srcRect/>
          <a:stretch>
            <a:fillRect/>
          </a:stretch>
        </p:blipFill>
        <p:spPr bwMode="auto">
          <a:xfrm>
            <a:off x="95139" y="1583370"/>
            <a:ext cx="324000" cy="324000"/>
          </a:xfrm>
          <a:prstGeom prst="rect">
            <a:avLst/>
          </a:prstGeom>
          <a:noFill/>
        </p:spPr>
      </p:pic>
      <p:pic>
        <p:nvPicPr>
          <p:cNvPr id="9" name="Picture 3" descr="C:\Users\senj\Desktop\按钮.png"/>
          <p:cNvPicPr>
            <a:picLocks noChangeAspect="1" noChangeArrowheads="1"/>
          </p:cNvPicPr>
          <p:nvPr/>
        </p:nvPicPr>
        <p:blipFill>
          <a:blip r:embed="rId6" cstate="print"/>
          <a:srcRect l="12911" t="21436" r="39626" b="60503"/>
          <a:stretch>
            <a:fillRect/>
          </a:stretch>
        </p:blipFill>
        <p:spPr bwMode="auto">
          <a:xfrm rot="10800000">
            <a:off x="8721754" y="6429396"/>
            <a:ext cx="259557" cy="254794"/>
          </a:xfrm>
          <a:prstGeom prst="rect">
            <a:avLst/>
          </a:prstGeom>
          <a:noFill/>
        </p:spPr>
      </p:pic>
    </p:spTree>
    <p:extLst>
      <p:ext uri="{BB962C8B-B14F-4D97-AF65-F5344CB8AC3E}">
        <p14:creationId xmlns:p14="http://schemas.microsoft.com/office/powerpoint/2010/main" val="22023794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60000" y="1146255"/>
            <a:ext cx="8532300" cy="461665"/>
          </a:xfrm>
          <a:prstGeom prst="rect">
            <a:avLst/>
          </a:prstGeom>
          <a:noFill/>
        </p:spPr>
        <p:txBody>
          <a:bodyPr wrap="square" rtlCol="0">
            <a:spAutoFit/>
          </a:bodyPr>
          <a:lstStyle/>
          <a:p>
            <a:pPr algn="ctr"/>
            <a:r>
              <a:rPr lang="en-US" altLang="zh-CN" sz="2400" b="1" dirty="0">
                <a:solidFill>
                  <a:srgbClr val="0A2E4A"/>
                </a:solidFill>
                <a:latin typeface="Cambria" panose="02040503050406030204" pitchFamily="18" charset="0"/>
                <a:ea typeface="Cambria" panose="02040503050406030204" pitchFamily="18" charset="0"/>
              </a:rPr>
              <a:t>China’s rejuvenation from my own perspective</a:t>
            </a:r>
          </a:p>
        </p:txBody>
      </p:sp>
      <p:sp>
        <p:nvSpPr>
          <p:cNvPr id="10" name="圆角矩形 9"/>
          <p:cNvSpPr/>
          <p:nvPr/>
        </p:nvSpPr>
        <p:spPr>
          <a:xfrm>
            <a:off x="467715" y="2008830"/>
            <a:ext cx="8323860" cy="2397760"/>
          </a:xfrm>
          <a:prstGeom prst="roundRect">
            <a:avLst>
              <a:gd name="adj" fmla="val 9889"/>
            </a:avLst>
          </a:prstGeom>
          <a:noFill/>
          <a:ln>
            <a:solidFill>
              <a:srgbClr val="C6383E"/>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577066" y="2049990"/>
            <a:ext cx="8145734" cy="2308324"/>
          </a:xfrm>
          <a:prstGeom prst="rect">
            <a:avLst/>
          </a:prstGeom>
          <a:noFill/>
        </p:spPr>
        <p:txBody>
          <a:bodyPr wrap="square" rtlCol="0">
            <a:spAutoFit/>
          </a:bodyPr>
          <a:lstStyle/>
          <a:p>
            <a:pPr algn="just"/>
            <a:r>
              <a:rPr lang="en-US" altLang="zh-CN" sz="2400" b="1" dirty="0">
                <a:solidFill>
                  <a:srgbClr val="C6383E"/>
                </a:solidFill>
              </a:rPr>
              <a:t>Presentation Skill: Start strong</a:t>
            </a:r>
          </a:p>
          <a:p>
            <a:pPr algn="just"/>
            <a:r>
              <a:rPr lang="en-US" altLang="zh-CN" sz="2400" dirty="0"/>
              <a:t>     </a:t>
            </a:r>
            <a:r>
              <a:rPr lang="en-US" altLang="zh-CN" sz="2400" spc="20" dirty="0"/>
              <a:t>The beginning of a good speech gets and holds the attention</a:t>
            </a:r>
            <a:r>
              <a:rPr lang="en-US" altLang="zh-CN" sz="2400" dirty="0"/>
              <a:t> </a:t>
            </a:r>
            <a:r>
              <a:rPr lang="en-US" altLang="zh-CN" sz="2400" spc="60" dirty="0"/>
              <a:t>of the audience. You can do so by telling an interesting story</a:t>
            </a:r>
            <a:r>
              <a:rPr lang="en-US" altLang="zh-CN" sz="2400" dirty="0"/>
              <a:t>, </a:t>
            </a:r>
            <a:r>
              <a:rPr lang="en-US" altLang="zh-CN" sz="2400" spc="70" dirty="0"/>
              <a:t>giving a quote, asking a challenging question, or showing an</a:t>
            </a:r>
            <a:r>
              <a:rPr lang="en-US" altLang="zh-CN" sz="2400" dirty="0"/>
              <a:t> </a:t>
            </a:r>
            <a:r>
              <a:rPr lang="en-US" altLang="zh-CN" sz="2400" spc="40" dirty="0"/>
              <a:t>attractive picture. A strong start makes the listeners think and</a:t>
            </a:r>
            <a:r>
              <a:rPr lang="en-US" altLang="zh-CN" sz="2400" dirty="0"/>
              <a:t> want to know what will come next.</a:t>
            </a:r>
            <a:endParaRPr lang="zh-CN" altLang="en-US" sz="2400" dirty="0"/>
          </a:p>
        </p:txBody>
      </p:sp>
      <p:sp>
        <p:nvSpPr>
          <p:cNvPr id="17" name="文本框 16"/>
          <p:cNvSpPr txBox="1"/>
          <p:nvPr/>
        </p:nvSpPr>
        <p:spPr>
          <a:xfrm>
            <a:off x="360000" y="4437070"/>
            <a:ext cx="8532300" cy="2308324"/>
          </a:xfrm>
          <a:prstGeom prst="rect">
            <a:avLst/>
          </a:prstGeom>
          <a:noFill/>
        </p:spPr>
        <p:txBody>
          <a:bodyPr wrap="square" rtlCol="0">
            <a:spAutoFit/>
          </a:bodyPr>
          <a:lstStyle/>
          <a:p>
            <a:pPr algn="just"/>
            <a:r>
              <a:rPr lang="en-US" altLang="zh-CN" sz="2400" b="1" dirty="0"/>
              <a:t>Task</a:t>
            </a:r>
          </a:p>
          <a:p>
            <a:pPr algn="just"/>
            <a:r>
              <a:rPr lang="en-US" altLang="zh-CN" sz="2400" dirty="0"/>
              <a:t>     </a:t>
            </a:r>
            <a:r>
              <a:rPr lang="en-US" altLang="zh-CN" sz="2400" spc="-20" dirty="0"/>
              <a:t>Give a presentation about changes in your hometown. Try to start</a:t>
            </a:r>
            <a:r>
              <a:rPr lang="en-US" altLang="zh-CN" sz="2400" dirty="0"/>
              <a:t> </a:t>
            </a:r>
            <a:r>
              <a:rPr lang="en-US" altLang="zh-CN" sz="2400" spc="30" dirty="0"/>
              <a:t>strong by showing some contrasting pictures of your hometown’s</a:t>
            </a:r>
            <a:r>
              <a:rPr lang="en-US" altLang="zh-CN" sz="2400" dirty="0"/>
              <a:t> present and past. First finish the main body of the following speech </a:t>
            </a:r>
            <a:r>
              <a:rPr lang="en-US" altLang="zh-CN" sz="2400" spc="60" dirty="0"/>
              <a:t>draft, using the words and expressions given below if necessary</a:t>
            </a:r>
            <a:r>
              <a:rPr lang="en-US" altLang="zh-CN" sz="2400" dirty="0"/>
              <a:t>. Then work with a partner to practice your presentation.</a:t>
            </a:r>
            <a:endParaRPr lang="en-US" altLang="zh-CN" sz="2400" b="1" dirty="0">
              <a:solidFill>
                <a:srgbClr val="0A2E4A"/>
              </a:solidFill>
              <a:latin typeface="Cambria" panose="02040503050406030204" pitchFamily="18" charset="0"/>
              <a:ea typeface="Cambria" panose="02040503050406030204" pitchFamily="18" charset="0"/>
            </a:endParaRPr>
          </a:p>
        </p:txBody>
      </p:sp>
      <p:pic>
        <p:nvPicPr>
          <p:cNvPr id="11"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2" name="Picture 3" descr="C:\Users\senj\Desktop\按钮.png"/>
          <p:cNvPicPr>
            <a:picLocks noChangeAspect="1" noChangeArrowheads="1"/>
          </p:cNvPicPr>
          <p:nvPr/>
        </p:nvPicPr>
        <p:blipFill>
          <a:blip r:embed="rId4" cstate="print"/>
          <a:srcRect l="12911" t="21436" r="39626" b="60503"/>
          <a:stretch>
            <a:fillRect/>
          </a:stretch>
        </p:blipFill>
        <p:spPr bwMode="auto">
          <a:xfrm>
            <a:off x="8366400" y="6429396"/>
            <a:ext cx="259557" cy="254794"/>
          </a:xfrm>
          <a:prstGeom prst="rect">
            <a:avLst/>
          </a:prstGeom>
          <a:noFill/>
        </p:spPr>
      </p:pic>
    </p:spTree>
    <p:extLst>
      <p:ext uri="{BB962C8B-B14F-4D97-AF65-F5344CB8AC3E}">
        <p14:creationId xmlns:p14="http://schemas.microsoft.com/office/powerpoint/2010/main" val="19571434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3"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graphicFrame>
        <p:nvGraphicFramePr>
          <p:cNvPr id="20" name="表格 19"/>
          <p:cNvGraphicFramePr>
            <a:graphicFrameLocks noGrp="1"/>
          </p:cNvGraphicFramePr>
          <p:nvPr>
            <p:extLst>
              <p:ext uri="{D42A27DB-BD31-4B8C-83A1-F6EECF244321}">
                <p14:modId xmlns:p14="http://schemas.microsoft.com/office/powerpoint/2010/main" val="2994746182"/>
              </p:ext>
            </p:extLst>
          </p:nvPr>
        </p:nvGraphicFramePr>
        <p:xfrm>
          <a:off x="447393" y="1279895"/>
          <a:ext cx="8341005" cy="4937760"/>
        </p:xfrm>
        <a:graphic>
          <a:graphicData uri="http://schemas.openxmlformats.org/drawingml/2006/table">
            <a:tbl>
              <a:tblPr firstRow="1" bandRow="1">
                <a:tableStyleId>{5940675A-B579-460E-94D1-54222C63F5DA}</a:tableStyleId>
              </a:tblPr>
              <a:tblGrid>
                <a:gridCol w="2733957">
                  <a:extLst>
                    <a:ext uri="{9D8B030D-6E8A-4147-A177-3AD203B41FA5}">
                      <a16:colId xmlns:a16="http://schemas.microsoft.com/office/drawing/2014/main" val="3823967904"/>
                    </a:ext>
                  </a:extLst>
                </a:gridCol>
                <a:gridCol w="2826713">
                  <a:extLst>
                    <a:ext uri="{9D8B030D-6E8A-4147-A177-3AD203B41FA5}">
                      <a16:colId xmlns:a16="http://schemas.microsoft.com/office/drawing/2014/main" val="3437884784"/>
                    </a:ext>
                  </a:extLst>
                </a:gridCol>
                <a:gridCol w="2780335">
                  <a:extLst>
                    <a:ext uri="{9D8B030D-6E8A-4147-A177-3AD203B41FA5}">
                      <a16:colId xmlns:a16="http://schemas.microsoft.com/office/drawing/2014/main" val="520025859"/>
                    </a:ext>
                  </a:extLst>
                </a:gridCol>
              </a:tblGrid>
              <a:tr h="370840">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a:solidFill>
                            <a:srgbClr val="0A2E4A"/>
                          </a:solidFill>
                        </a:rPr>
                        <a:t>Useful words and expressions</a:t>
                      </a:r>
                      <a:endParaRPr lang="en-US" altLang="zh-CN" sz="2400" b="1" dirty="0">
                        <a:solidFill>
                          <a:srgbClr val="0A2E4A"/>
                        </a:solidFill>
                        <a:latin typeface="Cambria" panose="02040503050406030204" pitchFamily="18" charset="0"/>
                        <a:ea typeface="Cambria" panose="020405030504060302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E1EDE9"/>
                    </a:solidFill>
                  </a:tcPr>
                </a:tc>
                <a:tc hMerge="1">
                  <a:txBody>
                    <a:bodyPr/>
                    <a:lstStyle/>
                    <a:p>
                      <a:pPr algn="ctr"/>
                      <a:endParaRPr lang="zh-CN" altLang="en-US" sz="2400" b="1" dirty="0"/>
                    </a:p>
                  </a:txBody>
                  <a:tcPr>
                    <a:lnL w="12700" cap="flat" cmpd="sng" algn="ctr">
                      <a:solidFill>
                        <a:srgbClr val="C6383E"/>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rgbClr val="C6383E"/>
                      </a:solidFill>
                      <a:prstDash val="solid"/>
                      <a:round/>
                      <a:headEnd type="none" w="med" len="med"/>
                      <a:tailEnd type="none" w="med" len="med"/>
                    </a:lnT>
                    <a:lnB w="12700" cap="flat" cmpd="sng" algn="ctr">
                      <a:solidFill>
                        <a:srgbClr val="C6383E"/>
                      </a:solidFill>
                      <a:prstDash val="solid"/>
                      <a:round/>
                      <a:headEnd type="none" w="med" len="med"/>
                      <a:tailEnd type="none" w="med" len="med"/>
                    </a:lnB>
                    <a:solidFill>
                      <a:srgbClr val="F9E7DD"/>
                    </a:solidFill>
                  </a:tcPr>
                </a:tc>
                <a:tc hMerge="1">
                  <a:txBody>
                    <a:bodyPr/>
                    <a:lstStyle/>
                    <a:p>
                      <a:endParaRPr lang="zh-CN" altLang="en-US"/>
                    </a:p>
                  </a:txBody>
                  <a:tcPr/>
                </a:tc>
                <a:extLst>
                  <a:ext uri="{0D108BD9-81ED-4DB2-BD59-A6C34878D82A}">
                    <a16:rowId xmlns:a16="http://schemas.microsoft.com/office/drawing/2014/main" val="3797758373"/>
                  </a:ext>
                </a:extLst>
              </a:tr>
              <a:tr h="1483360">
                <a:tc>
                  <a:txBody>
                    <a:bodyPr/>
                    <a:lstStyle/>
                    <a:p>
                      <a:r>
                        <a:rPr lang="en-US" altLang="zh-CN" sz="2400" b="0" i="0" u="none" strike="noStrike" kern="1200" baseline="0" dirty="0">
                          <a:solidFill>
                            <a:schemeClr val="tx1"/>
                          </a:solidFill>
                          <a:latin typeface="+mn-lt"/>
                          <a:ea typeface="+mn-ea"/>
                          <a:cs typeface="+mn-cs"/>
                        </a:rPr>
                        <a:t>adobe </a:t>
                      </a:r>
                      <a:r>
                        <a:rPr lang="zh-CN" altLang="en-US" sz="2400" b="0" i="0" u="none" strike="noStrike" kern="1200" baseline="0" dirty="0">
                          <a:solidFill>
                            <a:schemeClr val="tx1"/>
                          </a:solidFill>
                          <a:latin typeface="+mn-lt"/>
                          <a:ea typeface="+mn-ea"/>
                          <a:cs typeface="+mn-cs"/>
                        </a:rPr>
                        <a:t>土坯</a:t>
                      </a:r>
                    </a:p>
                    <a:p>
                      <a:r>
                        <a:rPr lang="en-US" altLang="zh-CN" sz="2400" b="0" i="0" u="none" strike="noStrike" kern="1200" baseline="0" dirty="0">
                          <a:solidFill>
                            <a:schemeClr val="tx1"/>
                          </a:solidFill>
                          <a:latin typeface="+mn-lt"/>
                          <a:ea typeface="+mn-ea"/>
                          <a:cs typeface="+mn-cs"/>
                        </a:rPr>
                        <a:t>shabby </a:t>
                      </a:r>
                      <a:r>
                        <a:rPr lang="zh-CN" altLang="en-US" sz="2400" b="0" i="0" u="none" strike="noStrike" kern="1200" baseline="0" dirty="0">
                          <a:solidFill>
                            <a:schemeClr val="tx1"/>
                          </a:solidFill>
                          <a:latin typeface="+mn-lt"/>
                          <a:ea typeface="+mn-ea"/>
                          <a:cs typeface="+mn-cs"/>
                        </a:rPr>
                        <a:t>破旧的，破败的</a:t>
                      </a:r>
                    </a:p>
                    <a:p>
                      <a:r>
                        <a:rPr lang="en-US" altLang="zh-CN" sz="2400" b="0" i="0" u="none" strike="noStrike" kern="1200" baseline="0" dirty="0">
                          <a:solidFill>
                            <a:schemeClr val="tx1"/>
                          </a:solidFill>
                          <a:latin typeface="+mn-lt"/>
                          <a:ea typeface="+mn-ea"/>
                          <a:cs typeface="+mn-cs"/>
                        </a:rPr>
                        <a:t>amenity </a:t>
                      </a:r>
                      <a:r>
                        <a:rPr lang="zh-CN" altLang="en-US" sz="2400" b="0" i="0" u="none" strike="noStrike" kern="1200" baseline="0" dirty="0">
                          <a:solidFill>
                            <a:schemeClr val="tx1"/>
                          </a:solidFill>
                          <a:latin typeface="+mn-lt"/>
                          <a:ea typeface="+mn-ea"/>
                          <a:cs typeface="+mn-cs"/>
                        </a:rPr>
                        <a:t>便利设施</a:t>
                      </a:r>
                    </a:p>
                    <a:p>
                      <a:r>
                        <a:rPr lang="en-US" altLang="zh-CN" sz="2400" b="0" i="0" u="none" strike="noStrike" kern="1200" baseline="0" dirty="0">
                          <a:solidFill>
                            <a:schemeClr val="tx1"/>
                          </a:solidFill>
                          <a:latin typeface="+mn-lt"/>
                          <a:ea typeface="+mn-ea"/>
                          <a:cs typeface="+mn-cs"/>
                        </a:rPr>
                        <a:t>cement </a:t>
                      </a:r>
                      <a:r>
                        <a:rPr lang="zh-CN" altLang="en-US" sz="2400" b="0" i="0" u="none" strike="noStrike" kern="1200" baseline="0" dirty="0">
                          <a:solidFill>
                            <a:schemeClr val="tx1"/>
                          </a:solidFill>
                          <a:latin typeface="+mn-lt"/>
                          <a:ea typeface="+mn-ea"/>
                          <a:cs typeface="+mn-cs"/>
                        </a:rPr>
                        <a:t>水泥</a:t>
                      </a:r>
                    </a:p>
                    <a:p>
                      <a:r>
                        <a:rPr lang="en-US" altLang="zh-CN" sz="2400" b="0" i="0" u="none" strike="noStrike" kern="1200" baseline="0" dirty="0">
                          <a:solidFill>
                            <a:schemeClr val="tx1"/>
                          </a:solidFill>
                          <a:latin typeface="+mn-lt"/>
                          <a:ea typeface="+mn-ea"/>
                          <a:cs typeface="+mn-cs"/>
                        </a:rPr>
                        <a:t>delivery </a:t>
                      </a:r>
                      <a:r>
                        <a:rPr lang="zh-CN" altLang="en-US" sz="2400" b="0" i="0" u="none" strike="noStrike" kern="1200" baseline="0" dirty="0">
                          <a:solidFill>
                            <a:schemeClr val="tx1"/>
                          </a:solidFill>
                          <a:latin typeface="+mn-lt"/>
                          <a:ea typeface="+mn-ea"/>
                          <a:cs typeface="+mn-cs"/>
                        </a:rPr>
                        <a:t>运送</a:t>
                      </a:r>
                    </a:p>
                    <a:p>
                      <a:r>
                        <a:rPr lang="en-US" altLang="zh-CN" sz="2400" b="0" i="0" u="none" strike="noStrike" kern="1200" spc="-30" baseline="0" dirty="0">
                          <a:solidFill>
                            <a:schemeClr val="tx1"/>
                          </a:solidFill>
                          <a:latin typeface="+mn-lt"/>
                          <a:ea typeface="+mn-ea"/>
                          <a:cs typeface="+mn-cs"/>
                        </a:rPr>
                        <a:t>sanitary</a:t>
                      </a:r>
                      <a:r>
                        <a:rPr lang="en-US" altLang="zh-CN" sz="2400" b="0" i="0" u="none" strike="noStrike" kern="1200" baseline="0" dirty="0">
                          <a:solidFill>
                            <a:schemeClr val="tx1"/>
                          </a:solidFill>
                          <a:latin typeface="+mn-lt"/>
                          <a:ea typeface="+mn-ea"/>
                          <a:cs typeface="+mn-cs"/>
                        </a:rPr>
                        <a:t> </a:t>
                      </a:r>
                      <a:r>
                        <a:rPr lang="zh-CN" altLang="en-US" sz="2400" b="0" i="0" u="none" strike="noStrike" kern="1200" baseline="0" dirty="0">
                          <a:solidFill>
                            <a:schemeClr val="tx1"/>
                          </a:solidFill>
                          <a:latin typeface="+mn-lt"/>
                          <a:ea typeface="+mn-ea"/>
                          <a:cs typeface="+mn-cs"/>
                        </a:rPr>
                        <a:t>公共卫生方面的</a:t>
                      </a:r>
                    </a:p>
                    <a:p>
                      <a:r>
                        <a:rPr lang="en-US" altLang="zh-CN" sz="2400" b="0" i="0" u="none" strike="noStrike" kern="1200" baseline="0" dirty="0">
                          <a:solidFill>
                            <a:schemeClr val="tx1"/>
                          </a:solidFill>
                          <a:latin typeface="+mn-lt"/>
                          <a:ea typeface="+mn-ea"/>
                          <a:cs typeface="+mn-cs"/>
                        </a:rPr>
                        <a:t>facility </a:t>
                      </a:r>
                      <a:r>
                        <a:rPr lang="zh-CN" altLang="en-US" sz="2400" b="0" i="0" u="none" strike="noStrike" kern="1200" baseline="0" dirty="0">
                          <a:solidFill>
                            <a:schemeClr val="tx1"/>
                          </a:solidFill>
                          <a:latin typeface="+mn-lt"/>
                          <a:ea typeface="+mn-ea"/>
                          <a:cs typeface="+mn-cs"/>
                        </a:rPr>
                        <a:t>设备，设施</a:t>
                      </a:r>
                      <a:endParaRPr lang="zh-CN" altLang="en-US" sz="24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2400" b="0" i="0" u="none" strike="noStrike" kern="1200" baseline="0" dirty="0">
                          <a:solidFill>
                            <a:schemeClr val="tx1"/>
                          </a:solidFill>
                          <a:latin typeface="+mn-lt"/>
                          <a:ea typeface="+mn-ea"/>
                          <a:cs typeface="+mn-cs"/>
                        </a:rPr>
                        <a:t>sewage</a:t>
                      </a:r>
                      <a:r>
                        <a:rPr lang="zh-CN" altLang="en-US" sz="2400" b="0" i="0" u="none" strike="noStrike" kern="1200" baseline="0" dirty="0">
                          <a:solidFill>
                            <a:schemeClr val="tx1"/>
                          </a:solidFill>
                          <a:latin typeface="+mn-lt"/>
                          <a:ea typeface="+mn-ea"/>
                          <a:cs typeface="+mn-cs"/>
                        </a:rPr>
                        <a:t>（下水道的）污水，污物</a:t>
                      </a:r>
                    </a:p>
                    <a:p>
                      <a:r>
                        <a:rPr lang="en-US" altLang="zh-CN" sz="2400" b="0" i="0" u="none" strike="noStrike" kern="1200" baseline="0" dirty="0">
                          <a:solidFill>
                            <a:schemeClr val="tx1"/>
                          </a:solidFill>
                          <a:latin typeface="+mn-lt"/>
                          <a:ea typeface="+mn-ea"/>
                          <a:cs typeface="+mn-cs"/>
                        </a:rPr>
                        <a:t>miracle </a:t>
                      </a:r>
                      <a:r>
                        <a:rPr lang="zh-CN" altLang="en-US" sz="2400" b="0" i="0" u="none" strike="noStrike" kern="1200" baseline="0" dirty="0">
                          <a:solidFill>
                            <a:schemeClr val="tx1"/>
                          </a:solidFill>
                          <a:latin typeface="+mn-lt"/>
                          <a:ea typeface="+mn-ea"/>
                          <a:cs typeface="+mn-cs"/>
                        </a:rPr>
                        <a:t>奇迹</a:t>
                      </a:r>
                    </a:p>
                    <a:p>
                      <a:r>
                        <a:rPr lang="en-US" altLang="zh-CN" sz="2400" b="0" i="0" u="none" strike="noStrike" kern="1200" baseline="0" dirty="0">
                          <a:solidFill>
                            <a:schemeClr val="tx1"/>
                          </a:solidFill>
                          <a:latin typeface="+mn-lt"/>
                          <a:ea typeface="+mn-ea"/>
                          <a:cs typeface="+mn-cs"/>
                        </a:rPr>
                        <a:t>witness </a:t>
                      </a:r>
                      <a:r>
                        <a:rPr lang="zh-CN" altLang="en-US" sz="2400" b="0" i="0" u="none" strike="noStrike" kern="1200" baseline="0" dirty="0">
                          <a:solidFill>
                            <a:schemeClr val="tx1"/>
                          </a:solidFill>
                          <a:latin typeface="+mn-lt"/>
                          <a:ea typeface="+mn-ea"/>
                          <a:cs typeface="+mn-cs"/>
                        </a:rPr>
                        <a:t>见证</a:t>
                      </a:r>
                    </a:p>
                    <a:p>
                      <a:r>
                        <a:rPr lang="en-US" altLang="zh-CN" sz="2400" b="0" i="0" u="none" strike="noStrike" kern="1200" baseline="0" dirty="0">
                          <a:solidFill>
                            <a:schemeClr val="tx1"/>
                          </a:solidFill>
                          <a:latin typeface="+mn-lt"/>
                          <a:ea typeface="+mn-ea"/>
                          <a:cs typeface="+mn-cs"/>
                        </a:rPr>
                        <a:t>come across </a:t>
                      </a:r>
                      <a:r>
                        <a:rPr lang="zh-CN" altLang="en-US" sz="2400" b="0" i="0" u="none" strike="noStrike" kern="1200" baseline="0" dirty="0">
                          <a:solidFill>
                            <a:schemeClr val="tx1"/>
                          </a:solidFill>
                          <a:latin typeface="+mn-lt"/>
                          <a:ea typeface="+mn-ea"/>
                          <a:cs typeface="+mn-cs"/>
                        </a:rPr>
                        <a:t>遇到；偶然发现</a:t>
                      </a:r>
                    </a:p>
                    <a:p>
                      <a:r>
                        <a:rPr lang="en-US" altLang="zh-CN" sz="2400" b="0" i="0" u="none" strike="noStrike" kern="1200" baseline="0" dirty="0">
                          <a:solidFill>
                            <a:schemeClr val="tx1"/>
                          </a:solidFill>
                          <a:latin typeface="+mn-lt"/>
                          <a:ea typeface="+mn-ea"/>
                          <a:cs typeface="+mn-cs"/>
                        </a:rPr>
                        <a:t>remind ... of ... </a:t>
                      </a:r>
                      <a:r>
                        <a:rPr lang="zh-CN" altLang="en-US" sz="2400" b="0" i="0" u="none" strike="noStrike" kern="1200" baseline="0" dirty="0">
                          <a:solidFill>
                            <a:schemeClr val="tx1"/>
                          </a:solidFill>
                          <a:latin typeface="+mn-lt"/>
                          <a:ea typeface="+mn-ea"/>
                          <a:cs typeface="+mn-cs"/>
                        </a:rPr>
                        <a:t>使</a:t>
                      </a:r>
                      <a:r>
                        <a:rPr lang="en-US" altLang="zh-CN" sz="2400" b="0" i="0" u="none" strike="noStrike" kern="1200" baseline="0" dirty="0">
                          <a:solidFill>
                            <a:schemeClr val="tx1"/>
                          </a:solidFill>
                          <a:latin typeface="+mn-ea"/>
                          <a:ea typeface="+mn-ea"/>
                          <a:cs typeface="+mn-cs"/>
                        </a:rPr>
                        <a:t>……</a:t>
                      </a:r>
                      <a:r>
                        <a:rPr lang="zh-CN" altLang="en-US" sz="2400" b="0" i="0" u="none" strike="noStrike" kern="1200" baseline="0" dirty="0">
                          <a:solidFill>
                            <a:schemeClr val="tx1"/>
                          </a:solidFill>
                          <a:latin typeface="+mn-lt"/>
                          <a:ea typeface="+mn-ea"/>
                          <a:cs typeface="+mn-cs"/>
                        </a:rPr>
                        <a:t>想起</a:t>
                      </a:r>
                      <a:r>
                        <a:rPr lang="en-US" altLang="zh-CN" sz="2400" b="0" i="0" u="none" strike="noStrike" kern="1200" baseline="0" dirty="0">
                          <a:solidFill>
                            <a:schemeClr val="tx1"/>
                          </a:solidFill>
                          <a:latin typeface="+mn-ea"/>
                          <a:ea typeface="+mn-ea"/>
                          <a:cs typeface="+mn-cs"/>
                        </a:rPr>
                        <a:t>……</a:t>
                      </a:r>
                    </a:p>
                    <a:p>
                      <a:r>
                        <a:rPr lang="en-US" altLang="zh-CN" sz="2400" b="0" i="0" u="none" strike="noStrike" kern="1200" baseline="0" dirty="0">
                          <a:solidFill>
                            <a:schemeClr val="tx1"/>
                          </a:solidFill>
                          <a:latin typeface="+mn-lt"/>
                          <a:ea typeface="+mn-ea"/>
                          <a:cs typeface="+mn-cs"/>
                        </a:rPr>
                        <a:t>poverty alleviation </a:t>
                      </a:r>
                      <a:r>
                        <a:rPr lang="zh-CN" altLang="en-US" sz="2400" b="0" i="0" u="none" strike="noStrike" kern="1200" baseline="0" dirty="0">
                          <a:solidFill>
                            <a:schemeClr val="tx1"/>
                          </a:solidFill>
                          <a:latin typeface="+mn-lt"/>
                          <a:ea typeface="+mn-ea"/>
                          <a:cs typeface="+mn-cs"/>
                        </a:rPr>
                        <a:t>扶贫，减轻贫困</a:t>
                      </a:r>
                      <a:endParaRPr lang="zh-CN" altLang="en-US" sz="2400" spc="-30" baseline="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r>
                        <a:rPr lang="en-US" altLang="zh-CN" sz="2400" b="0" i="0" u="none" strike="noStrike" kern="1200" baseline="0" dirty="0">
                          <a:solidFill>
                            <a:schemeClr val="tx1"/>
                          </a:solidFill>
                          <a:latin typeface="+mn-lt"/>
                          <a:ea typeface="+mn-ea"/>
                          <a:cs typeface="+mn-cs"/>
                        </a:rPr>
                        <a:t>take on a brand-new look </a:t>
                      </a:r>
                      <a:r>
                        <a:rPr lang="zh-CN" altLang="en-US" sz="2400" b="0" i="0" u="none" strike="noStrike" kern="1200" baseline="0" dirty="0">
                          <a:solidFill>
                            <a:schemeClr val="tx1"/>
                          </a:solidFill>
                          <a:latin typeface="+mn-lt"/>
                          <a:ea typeface="+mn-ea"/>
                          <a:cs typeface="+mn-cs"/>
                        </a:rPr>
                        <a:t>呈现全新的面貌</a:t>
                      </a:r>
                    </a:p>
                    <a:p>
                      <a:r>
                        <a:rPr lang="en-US" altLang="zh-CN" sz="2400" b="0" i="0" u="none" strike="noStrike" kern="1200" baseline="0" dirty="0">
                          <a:solidFill>
                            <a:schemeClr val="tx1"/>
                          </a:solidFill>
                          <a:latin typeface="+mn-lt"/>
                          <a:ea typeface="+mn-ea"/>
                          <a:cs typeface="+mn-cs"/>
                        </a:rPr>
                        <a:t>apartment building </a:t>
                      </a:r>
                      <a:r>
                        <a:rPr lang="zh-CN" altLang="en-US" sz="2400" b="0" i="0" u="none" strike="noStrike" kern="1200" baseline="0" dirty="0">
                          <a:solidFill>
                            <a:schemeClr val="tx1"/>
                          </a:solidFill>
                          <a:latin typeface="+mn-lt"/>
                          <a:ea typeface="+mn-ea"/>
                          <a:cs typeface="+mn-cs"/>
                        </a:rPr>
                        <a:t>公寓楼</a:t>
                      </a:r>
                    </a:p>
                    <a:p>
                      <a:r>
                        <a:rPr lang="en-US" altLang="zh-CN" sz="2400" b="0" i="0" u="none" strike="noStrike" kern="1200" baseline="0" dirty="0">
                          <a:solidFill>
                            <a:schemeClr val="tx1"/>
                          </a:solidFill>
                          <a:latin typeface="+mn-lt"/>
                          <a:ea typeface="+mn-ea"/>
                          <a:cs typeface="+mn-cs"/>
                        </a:rPr>
                        <a:t>be accompanied by </a:t>
                      </a:r>
                      <a:r>
                        <a:rPr lang="zh-CN" altLang="en-US" sz="2400" b="0" i="0" u="none" strike="noStrike" kern="1200" baseline="0" dirty="0">
                          <a:solidFill>
                            <a:schemeClr val="tx1"/>
                          </a:solidFill>
                          <a:latin typeface="+mn-lt"/>
                          <a:ea typeface="+mn-ea"/>
                          <a:cs typeface="+mn-cs"/>
                        </a:rPr>
                        <a:t>伴随着</a:t>
                      </a:r>
                    </a:p>
                    <a:p>
                      <a:r>
                        <a:rPr lang="en-US" altLang="zh-CN" sz="2400" b="0" i="0" u="none" strike="noStrike" kern="1200" spc="-30" baseline="0" dirty="0">
                          <a:solidFill>
                            <a:schemeClr val="tx1"/>
                          </a:solidFill>
                          <a:latin typeface="+mn-lt"/>
                          <a:ea typeface="+mn-ea"/>
                          <a:cs typeface="+mn-cs"/>
                        </a:rPr>
                        <a:t>Lucid waters and lush</a:t>
                      </a:r>
                      <a:r>
                        <a:rPr lang="en-US" altLang="zh-CN" sz="2400" b="0" i="0" u="none" strike="noStrike" kern="1200" baseline="0" dirty="0">
                          <a:solidFill>
                            <a:schemeClr val="tx1"/>
                          </a:solidFill>
                          <a:latin typeface="+mn-lt"/>
                          <a:ea typeface="+mn-ea"/>
                          <a:cs typeface="+mn-cs"/>
                        </a:rPr>
                        <a:t> mountains are invaluable assets. </a:t>
                      </a:r>
                      <a:r>
                        <a:rPr lang="zh-CN" altLang="en-US" sz="2400" b="0" i="0" u="none" strike="noStrike" kern="1200" spc="110" baseline="0" dirty="0">
                          <a:solidFill>
                            <a:schemeClr val="tx1"/>
                          </a:solidFill>
                          <a:latin typeface="+mn-lt"/>
                          <a:ea typeface="+mn-ea"/>
                          <a:cs typeface="+mn-cs"/>
                        </a:rPr>
                        <a:t>绿水青山就是金山银山</a:t>
                      </a:r>
                      <a:r>
                        <a:rPr lang="zh-CN" altLang="en-US" sz="2400" b="0" i="0" u="none" strike="noStrike" kern="1200" baseline="0" dirty="0">
                          <a:solidFill>
                            <a:schemeClr val="tx1"/>
                          </a:solidFill>
                          <a:latin typeface="+mn-lt"/>
                          <a:ea typeface="+mn-ea"/>
                          <a:cs typeface="+mn-cs"/>
                        </a:rPr>
                        <a:t>。</a:t>
                      </a:r>
                      <a:endParaRPr lang="zh-CN" altLang="en-US" sz="2400" spc="-30" baseline="0" dirty="0">
                        <a:solidFill>
                          <a:srgbClr val="FF0000"/>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543618640"/>
                  </a:ext>
                </a:extLst>
              </a:tr>
            </a:tbl>
          </a:graphicData>
        </a:graphic>
      </p:graphicFrame>
    </p:spTree>
    <p:extLst>
      <p:ext uri="{BB962C8B-B14F-4D97-AF65-F5344CB8AC3E}">
        <p14:creationId xmlns:p14="http://schemas.microsoft.com/office/powerpoint/2010/main" val="135756925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3"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1" name="文本框 10"/>
          <p:cNvSpPr txBox="1"/>
          <p:nvPr/>
        </p:nvSpPr>
        <p:spPr>
          <a:xfrm>
            <a:off x="360000" y="1146255"/>
            <a:ext cx="8532300" cy="5262979"/>
          </a:xfrm>
          <a:prstGeom prst="rect">
            <a:avLst/>
          </a:prstGeom>
          <a:noFill/>
        </p:spPr>
        <p:txBody>
          <a:bodyPr wrap="square" rtlCol="0">
            <a:spAutoFit/>
          </a:bodyPr>
          <a:lstStyle/>
          <a:p>
            <a:pPr algn="just"/>
            <a:r>
              <a:rPr lang="en-US" altLang="zh-CN" sz="2400" dirty="0"/>
              <a:t>Speech draft</a:t>
            </a:r>
          </a:p>
          <a:p>
            <a:pPr algn="ctr"/>
            <a:r>
              <a:rPr lang="en-US" altLang="zh-CN" sz="2400" b="1" dirty="0"/>
              <a:t>Changes in My Hometown</a:t>
            </a:r>
          </a:p>
          <a:p>
            <a:pPr algn="just"/>
            <a:r>
              <a:rPr lang="en-US" altLang="zh-CN" sz="2400" i="1" spc="20" dirty="0"/>
              <a:t>[Showing prepared pictures to the audience or using a projector, if </a:t>
            </a:r>
            <a:r>
              <a:rPr lang="en-US" altLang="zh-CN" sz="2400" i="1" dirty="0"/>
              <a:t>possible, to display the pictures]</a:t>
            </a:r>
          </a:p>
          <a:p>
            <a:pPr algn="just"/>
            <a:r>
              <a:rPr lang="en-US" altLang="zh-CN" sz="2400" dirty="0"/>
              <a:t>     </a:t>
            </a:r>
            <a:r>
              <a:rPr lang="en-US" altLang="zh-CN" sz="2400" spc="20" dirty="0"/>
              <a:t>Last summer when I was packing things to get ready for college</a:t>
            </a:r>
            <a:r>
              <a:rPr lang="en-US" altLang="zh-CN" sz="2400" dirty="0"/>
              <a:t>, I came across some old pictures taken in my early childhood. Those </a:t>
            </a:r>
            <a:r>
              <a:rPr lang="en-US" altLang="zh-CN" sz="2400" spc="-30" dirty="0"/>
              <a:t>pictures reminded me of a fact: my hometown has changed so much</a:t>
            </a:r>
            <a:r>
              <a:rPr lang="en-US" altLang="zh-CN" sz="2400" dirty="0"/>
              <a:t>!</a:t>
            </a:r>
          </a:p>
          <a:p>
            <a:pPr algn="just"/>
            <a:r>
              <a:rPr lang="en-US" altLang="zh-CN" sz="2400" dirty="0">
                <a:solidFill>
                  <a:srgbClr val="0A2E4A"/>
                </a:solidFill>
                <a:latin typeface="Cambria" panose="02040503050406030204" pitchFamily="18" charset="0"/>
                <a:ea typeface="Cambria" panose="02040503050406030204" pitchFamily="18" charset="0"/>
              </a:rPr>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p>
        </p:txBody>
      </p:sp>
      <p:sp>
        <p:nvSpPr>
          <p:cNvPr id="18" name="文本框 17"/>
          <p:cNvSpPr txBox="1"/>
          <p:nvPr/>
        </p:nvSpPr>
        <p:spPr>
          <a:xfrm>
            <a:off x="445293" y="3644295"/>
            <a:ext cx="8343107" cy="2677656"/>
          </a:xfrm>
          <a:prstGeom prst="rect">
            <a:avLst/>
          </a:prstGeom>
          <a:noFill/>
        </p:spPr>
        <p:txBody>
          <a:bodyPr wrap="square" rtlCol="0">
            <a:spAutoFit/>
          </a:bodyPr>
          <a:lstStyle/>
          <a:p>
            <a:r>
              <a:rPr lang="en-US" altLang="zh-CN" sz="2400" spc="-70" dirty="0">
                <a:solidFill>
                  <a:srgbClr val="FF0000"/>
                </a:solidFill>
              </a:rPr>
              <a:t>In one of the old pictures, my friends and I stood in front of a courtyard</a:t>
            </a:r>
            <a:r>
              <a:rPr lang="en-US" altLang="zh-CN" sz="2400" dirty="0">
                <a:solidFill>
                  <a:srgbClr val="FF0000"/>
                </a:solidFill>
              </a:rPr>
              <a:t> </a:t>
            </a:r>
            <a:r>
              <a:rPr lang="en-US" altLang="zh-CN" sz="2400" spc="-40" dirty="0">
                <a:solidFill>
                  <a:srgbClr val="FF0000"/>
                </a:solidFill>
              </a:rPr>
              <a:t>of adobe houses. It was actually the primary school in our village and</a:t>
            </a:r>
            <a:r>
              <a:rPr lang="en-US" altLang="zh-CN" sz="2400" dirty="0">
                <a:solidFill>
                  <a:srgbClr val="FF0000"/>
                </a:solidFill>
              </a:rPr>
              <a:t> we were that year’s first graders. Today the school has a beautiful </a:t>
            </a:r>
            <a:r>
              <a:rPr lang="en-US" altLang="zh-CN" sz="2400" spc="-100" dirty="0">
                <a:solidFill>
                  <a:srgbClr val="FF0000"/>
                </a:solidFill>
              </a:rPr>
              <a:t>sports field and modern classroom buildings. Thanks to the government’s</a:t>
            </a:r>
            <a:r>
              <a:rPr lang="en-US" altLang="zh-CN" sz="2400" dirty="0">
                <a:solidFill>
                  <a:srgbClr val="FF0000"/>
                </a:solidFill>
              </a:rPr>
              <a:t> </a:t>
            </a:r>
            <a:r>
              <a:rPr lang="en-US" altLang="zh-CN" sz="2400" spc="20" dirty="0">
                <a:solidFill>
                  <a:srgbClr val="FF0000"/>
                </a:solidFill>
              </a:rPr>
              <a:t>poverty alleviation policy, the small village has taken on a </a:t>
            </a:r>
            <a:r>
              <a:rPr lang="en-US" altLang="zh-CN" sz="2400" spc="50" dirty="0">
                <a:solidFill>
                  <a:srgbClr val="FF0000"/>
                </a:solidFill>
              </a:rPr>
              <a:t>brand-new look. Modern buildings have replaced those shabby sheds</a:t>
            </a:r>
            <a:r>
              <a:rPr lang="en-US" altLang="zh-CN" sz="2400" dirty="0">
                <a:solidFill>
                  <a:srgbClr val="FF0000"/>
                </a:solidFill>
              </a:rPr>
              <a:t> and cottages. My hometown is not alone, for sure.</a:t>
            </a:r>
            <a:endParaRPr lang="en-US" altLang="zh-CN" sz="2400" b="1" dirty="0">
              <a:solidFill>
                <a:srgbClr val="FF0000"/>
              </a:solidFill>
              <a:latin typeface="Cambria" panose="02040503050406030204" pitchFamily="18" charset="0"/>
              <a:ea typeface="Cambria" panose="02040503050406030204" pitchFamily="18" charset="0"/>
            </a:endParaRPr>
          </a:p>
        </p:txBody>
      </p:sp>
      <p:pic>
        <p:nvPicPr>
          <p:cNvPr id="20" name="钥匙2" descr="C:\Users\senj\Desktop\新建文件夹\答案.png"/>
          <p:cNvPicPr>
            <a:picLocks noChangeAspect="1" noChangeArrowheads="1"/>
          </p:cNvPicPr>
          <p:nvPr/>
        </p:nvPicPr>
        <p:blipFill>
          <a:blip r:embed="rId4" cstate="print"/>
          <a:srcRect/>
          <a:stretch>
            <a:fillRect/>
          </a:stretch>
        </p:blipFill>
        <p:spPr bwMode="auto">
          <a:xfrm>
            <a:off x="95139" y="1217165"/>
            <a:ext cx="324000" cy="324000"/>
          </a:xfrm>
          <a:prstGeom prst="rect">
            <a:avLst/>
          </a:prstGeom>
          <a:noFill/>
        </p:spPr>
      </p:pic>
      <p:sp>
        <p:nvSpPr>
          <p:cNvPr id="7" name="矩形 6"/>
          <p:cNvSpPr/>
          <p:nvPr/>
        </p:nvSpPr>
        <p:spPr>
          <a:xfrm>
            <a:off x="498195" y="3789024"/>
            <a:ext cx="8259725" cy="247191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625031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7"/>
                  </p:tgtEl>
                </p:cond>
              </p:nextCondLst>
            </p:seq>
          </p:childTnLst>
        </p:cTn>
      </p:par>
    </p:tnLst>
    <p:bldLst>
      <p:bldP spid="18" grpId="0"/>
      <p:bldP spid="18"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descr="C:\Users\senj\Desktop\按钮.png">
            <a:hlinkClick r:id="" action="ppaction://hlinkshowjump?jump=next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pic>
        <p:nvPicPr>
          <p:cNvPr id="13" name="Picture 3" descr="C:\Users\senj\Desktop\按钮.png">
            <a:hlinkClick r:id="" action="ppaction://hlinkshowjump?jump=previousslide"/>
          </p:cNvPr>
          <p:cNvPicPr>
            <a:picLocks noChangeAspect="1" noChangeArrowheads="1"/>
          </p:cNvPicPr>
          <p:nvPr/>
        </p:nvPicPr>
        <p:blipFill>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11" name="文本框 10"/>
          <p:cNvSpPr txBox="1"/>
          <p:nvPr/>
        </p:nvSpPr>
        <p:spPr>
          <a:xfrm>
            <a:off x="360000" y="1146255"/>
            <a:ext cx="8532300" cy="4524315"/>
          </a:xfrm>
          <a:prstGeom prst="rect">
            <a:avLst/>
          </a:prstGeom>
          <a:noFill/>
        </p:spPr>
        <p:txBody>
          <a:bodyPr wrap="square" rtlCol="0">
            <a:spAutoFit/>
          </a:bodyPr>
          <a:lstStyle/>
          <a:p>
            <a:pPr algn="just"/>
            <a:r>
              <a:rPr lang="en-US" altLang="zh-CN" sz="2400" spc="-10" dirty="0"/>
              <a:t>Reportedly many villages have erected apartment buildings, and the</a:t>
            </a:r>
            <a:r>
              <a:rPr lang="en-US" altLang="zh-CN" sz="2400" dirty="0"/>
              <a:t> villagers now enjoy amenities that are as good as those of big cities.</a:t>
            </a:r>
          </a:p>
          <a:p>
            <a:r>
              <a:rPr lang="en-US" altLang="zh-CN" sz="2400" dirty="0"/>
              <a:t>     Another big change is transportation.______________________ </a:t>
            </a:r>
            <a:r>
              <a:rPr lang="en-US" altLang="zh-CN" sz="2400" spc="-10" dirty="0"/>
              <a:t>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_</a:t>
            </a:r>
            <a:r>
              <a:rPr lang="en-US" altLang="zh-CN" sz="2400" dirty="0"/>
              <a:t>____________________________.</a:t>
            </a:r>
          </a:p>
        </p:txBody>
      </p:sp>
      <p:sp>
        <p:nvSpPr>
          <p:cNvPr id="17" name="文本框 16"/>
          <p:cNvSpPr txBox="1"/>
          <p:nvPr/>
        </p:nvSpPr>
        <p:spPr>
          <a:xfrm>
            <a:off x="454596" y="1834730"/>
            <a:ext cx="8343107" cy="3785652"/>
          </a:xfrm>
          <a:prstGeom prst="rect">
            <a:avLst/>
          </a:prstGeom>
          <a:noFill/>
        </p:spPr>
        <p:txBody>
          <a:bodyPr wrap="square" rtlCol="0">
            <a:spAutoFit/>
          </a:bodyPr>
          <a:lstStyle/>
          <a:p>
            <a:pPr algn="just"/>
            <a:r>
              <a:rPr lang="en-US" altLang="zh-CN" sz="2400" dirty="0">
                <a:solidFill>
                  <a:srgbClr val="FF0000"/>
                </a:solidFill>
              </a:rPr>
              <a:t>                                                                          In the past even bicycles </a:t>
            </a:r>
            <a:r>
              <a:rPr lang="en-US" altLang="zh-CN" sz="2400" spc="10" dirty="0">
                <a:solidFill>
                  <a:srgbClr val="FF0000"/>
                </a:solidFill>
              </a:rPr>
              <a:t>were seen as a luxury, and most of us had to walk. Many villagers</a:t>
            </a:r>
            <a:r>
              <a:rPr lang="en-US" altLang="zh-CN" sz="2400" dirty="0">
                <a:solidFill>
                  <a:srgbClr val="FF0000"/>
                </a:solidFill>
              </a:rPr>
              <a:t> </a:t>
            </a:r>
            <a:r>
              <a:rPr lang="en-US" altLang="zh-CN" sz="2400" spc="30" dirty="0">
                <a:solidFill>
                  <a:srgbClr val="FF0000"/>
                </a:solidFill>
              </a:rPr>
              <a:t>had never traveled outside. When roads turned muddy on rainy </a:t>
            </a:r>
            <a:r>
              <a:rPr lang="en-US" altLang="zh-CN" sz="2400" dirty="0">
                <a:solidFill>
                  <a:srgbClr val="FF0000"/>
                </a:solidFill>
              </a:rPr>
              <a:t>days, the journey to school became troublesome. I still remember </a:t>
            </a:r>
            <a:r>
              <a:rPr lang="en-US" altLang="zh-CN" sz="2400" spc="-20" dirty="0">
                <a:solidFill>
                  <a:srgbClr val="FF0000"/>
                </a:solidFill>
              </a:rPr>
              <a:t>sitting in the classroom with my shoes wet and dirty. Today, cement</a:t>
            </a:r>
            <a:r>
              <a:rPr lang="en-US" altLang="zh-CN" sz="2400" dirty="0">
                <a:solidFill>
                  <a:srgbClr val="FF0000"/>
                </a:solidFill>
              </a:rPr>
              <a:t> </a:t>
            </a:r>
            <a:r>
              <a:rPr lang="en-US" altLang="zh-CN" sz="2400" spc="-10" dirty="0">
                <a:solidFill>
                  <a:srgbClr val="FF0000"/>
                </a:solidFill>
              </a:rPr>
              <a:t>roads connect the village with nearby towns and cities. Streets and</a:t>
            </a:r>
            <a:r>
              <a:rPr lang="en-US" altLang="zh-CN" sz="2400" dirty="0">
                <a:solidFill>
                  <a:srgbClr val="FF0000"/>
                </a:solidFill>
              </a:rPr>
              <a:t> </a:t>
            </a:r>
            <a:r>
              <a:rPr lang="en-US" altLang="zh-CN" sz="2400" spc="-20" dirty="0">
                <a:solidFill>
                  <a:srgbClr val="FF0000"/>
                </a:solidFill>
              </a:rPr>
              <a:t>lanes are lined with trees and flowers. National highways and high-</a:t>
            </a:r>
            <a:r>
              <a:rPr lang="en-US" altLang="zh-CN" sz="2400" dirty="0">
                <a:solidFill>
                  <a:srgbClr val="FF0000"/>
                </a:solidFill>
              </a:rPr>
              <a:t>s</a:t>
            </a:r>
            <a:r>
              <a:rPr lang="en-US" altLang="zh-CN" sz="2400" spc="20" dirty="0">
                <a:solidFill>
                  <a:srgbClr val="FF0000"/>
                </a:solidFill>
              </a:rPr>
              <a:t>peed railways make it very convenient for local people to travel</a:t>
            </a:r>
            <a:r>
              <a:rPr lang="en-US" altLang="zh-CN" sz="2400" dirty="0">
                <a:solidFill>
                  <a:srgbClr val="FF0000"/>
                </a:solidFill>
              </a:rPr>
              <a:t>. </a:t>
            </a:r>
            <a:r>
              <a:rPr lang="en-US" altLang="zh-CN" sz="2400" spc="-20" dirty="0">
                <a:solidFill>
                  <a:srgbClr val="FF0000"/>
                </a:solidFill>
              </a:rPr>
              <a:t>The delivery of farm products is faster and cheaper. No wonder the</a:t>
            </a:r>
            <a:r>
              <a:rPr lang="en-US" altLang="zh-CN" sz="2400" dirty="0">
                <a:solidFill>
                  <a:srgbClr val="FF0000"/>
                </a:solidFill>
              </a:rPr>
              <a:t> villagers now enjoy a better life.</a:t>
            </a:r>
            <a:endParaRPr lang="en-US" altLang="zh-CN" sz="2400" b="1" dirty="0">
              <a:solidFill>
                <a:srgbClr val="FF0000"/>
              </a:solidFill>
              <a:latin typeface="Cambria" panose="02040503050406030204" pitchFamily="18" charset="0"/>
              <a:ea typeface="Cambria" panose="02040503050406030204" pitchFamily="18" charset="0"/>
            </a:endParaRPr>
          </a:p>
        </p:txBody>
      </p:sp>
      <p:pic>
        <p:nvPicPr>
          <p:cNvPr id="18" name="钥匙2" descr="C:\Users\senj\Desktop\新建文件夹\答案.png"/>
          <p:cNvPicPr>
            <a:picLocks noChangeAspect="1" noChangeArrowheads="1"/>
          </p:cNvPicPr>
          <p:nvPr/>
        </p:nvPicPr>
        <p:blipFill>
          <a:blip r:embed="rId4" cstate="print"/>
          <a:srcRect/>
          <a:stretch>
            <a:fillRect/>
          </a:stretch>
        </p:blipFill>
        <p:spPr bwMode="auto">
          <a:xfrm>
            <a:off x="95139" y="1217165"/>
            <a:ext cx="324000" cy="324000"/>
          </a:xfrm>
          <a:prstGeom prst="rect">
            <a:avLst/>
          </a:prstGeom>
          <a:noFill/>
        </p:spPr>
      </p:pic>
      <p:sp>
        <p:nvSpPr>
          <p:cNvPr id="7" name="矩形 6"/>
          <p:cNvSpPr/>
          <p:nvPr/>
        </p:nvSpPr>
        <p:spPr>
          <a:xfrm>
            <a:off x="498195" y="1916895"/>
            <a:ext cx="8259725" cy="362399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002666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18"/>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7"/>
                  </p:tgtEl>
                </p:cond>
              </p:nextCondLst>
            </p:seq>
          </p:childTnLst>
        </p:cTn>
      </p:par>
    </p:tnLst>
    <p:bldLst>
      <p:bldP spid="17" grpId="0"/>
      <p:bldP spid="17" grpId="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360000" y="1146255"/>
            <a:ext cx="8532300" cy="4893647"/>
          </a:xfrm>
          <a:prstGeom prst="rect">
            <a:avLst/>
          </a:prstGeom>
          <a:noFill/>
        </p:spPr>
        <p:txBody>
          <a:bodyPr wrap="square" rtlCol="0">
            <a:spAutoFit/>
          </a:bodyPr>
          <a:lstStyle/>
          <a:p>
            <a:pPr algn="just"/>
            <a:r>
              <a:rPr lang="en-US" altLang="zh-CN" sz="2400" dirty="0"/>
              <a:t>     </a:t>
            </a:r>
            <a:r>
              <a:rPr lang="en-US" altLang="zh-CN" sz="2400" spc="110" dirty="0"/>
              <a:t>The booming economy, fortunately, is accompanied by the</a:t>
            </a:r>
            <a:r>
              <a:rPr lang="en-US" altLang="zh-CN" sz="2400" dirty="0"/>
              <a:t> improvement of environment. </a:t>
            </a:r>
            <a:r>
              <a:rPr lang="en-US" altLang="zh-CN" sz="2400" spc="-20" dirty="0"/>
              <a:t>______________________________</a:t>
            </a:r>
          </a:p>
          <a:p>
            <a:pPr algn="just"/>
            <a:r>
              <a:rPr lang="en-US" altLang="zh-CN" sz="2400" spc="-10" dirty="0"/>
              <a:t>______________________________________________________________________________________________________________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spc="-10" dirty="0"/>
              <a:t>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spc="-10" dirty="0"/>
              <a:t>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spc="-10" dirty="0"/>
              <a:t>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spc="-10" dirty="0"/>
              <a:t>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spc="-10" dirty="0"/>
              <a:t>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spc="-10" dirty="0"/>
              <a:t>_______________________________________________________</a:t>
            </a:r>
            <a:endParaRPr lang="en-US" altLang="zh-CN" sz="2400" b="1" dirty="0">
              <a:solidFill>
                <a:srgbClr val="0A2E4A"/>
              </a:solidFill>
              <a:latin typeface="Cambria" panose="02040503050406030204" pitchFamily="18" charset="0"/>
              <a:ea typeface="Cambria" panose="02040503050406030204" pitchFamily="18" charset="0"/>
            </a:endParaRPr>
          </a:p>
          <a:p>
            <a:pPr algn="just"/>
            <a:r>
              <a:rPr lang="en-US" altLang="zh-CN" sz="2400" dirty="0"/>
              <a:t>     </a:t>
            </a:r>
            <a:r>
              <a:rPr lang="en-US" altLang="zh-CN" sz="2400" spc="-40" dirty="0"/>
              <a:t>Such is the miracle of development that I have witnessed in person</a:t>
            </a:r>
            <a:r>
              <a:rPr lang="en-US" altLang="zh-CN" sz="2400" dirty="0"/>
              <a:t>. </a:t>
            </a:r>
            <a:r>
              <a:rPr lang="en-US" altLang="zh-CN" sz="2400" spc="-10" dirty="0"/>
              <a:t>I am very glad to share it with you and I am eager to listen to stories</a:t>
            </a:r>
            <a:r>
              <a:rPr lang="en-US" altLang="zh-CN" sz="2400" dirty="0"/>
              <a:t> about the changes in your hometowns.</a:t>
            </a:r>
            <a:endParaRPr lang="en-US" altLang="zh-CN" sz="2400" b="1" dirty="0">
              <a:solidFill>
                <a:srgbClr val="0A2E4A"/>
              </a:solidFill>
              <a:latin typeface="Cambria" panose="02040503050406030204" pitchFamily="18" charset="0"/>
              <a:ea typeface="Cambria" panose="02040503050406030204" pitchFamily="18" charset="0"/>
            </a:endParaRPr>
          </a:p>
        </p:txBody>
      </p:sp>
      <p:pic>
        <p:nvPicPr>
          <p:cNvPr id="12" name="钥匙2" descr="C:\Users\senj\Desktop\新建文件夹\答案.png"/>
          <p:cNvPicPr>
            <a:picLocks noChangeAspect="1" noChangeArrowheads="1"/>
          </p:cNvPicPr>
          <p:nvPr/>
        </p:nvPicPr>
        <p:blipFill>
          <a:blip r:embed="rId2" cstate="print"/>
          <a:srcRect/>
          <a:stretch>
            <a:fillRect/>
          </a:stretch>
        </p:blipFill>
        <p:spPr bwMode="auto">
          <a:xfrm>
            <a:off x="95139" y="1217165"/>
            <a:ext cx="324000" cy="324000"/>
          </a:xfrm>
          <a:prstGeom prst="rect">
            <a:avLst/>
          </a:prstGeom>
          <a:noFill/>
        </p:spPr>
      </p:pic>
      <p:sp>
        <p:nvSpPr>
          <p:cNvPr id="18" name="文本框 17"/>
          <p:cNvSpPr txBox="1"/>
          <p:nvPr/>
        </p:nvSpPr>
        <p:spPr>
          <a:xfrm>
            <a:off x="454596" y="1453500"/>
            <a:ext cx="8343107" cy="3416320"/>
          </a:xfrm>
          <a:prstGeom prst="rect">
            <a:avLst/>
          </a:prstGeom>
          <a:noFill/>
        </p:spPr>
        <p:txBody>
          <a:bodyPr wrap="square" rtlCol="0">
            <a:spAutoFit/>
          </a:bodyPr>
          <a:lstStyle/>
          <a:p>
            <a:pPr algn="just"/>
            <a:r>
              <a:rPr lang="en-US" altLang="zh-CN" sz="2400" dirty="0">
                <a:solidFill>
                  <a:srgbClr val="FF0000"/>
                </a:solidFill>
              </a:rPr>
              <a:t>                                                         </a:t>
            </a:r>
            <a:r>
              <a:rPr lang="en-US" altLang="zh-CN" sz="2400" dirty="0" err="1">
                <a:solidFill>
                  <a:srgbClr val="FF0000"/>
                </a:solidFill>
              </a:rPr>
              <a:t>Liusha</a:t>
            </a:r>
            <a:r>
              <a:rPr lang="en-US" altLang="zh-CN" sz="2400" dirty="0">
                <a:solidFill>
                  <a:srgbClr val="FF0000"/>
                </a:solidFill>
              </a:rPr>
              <a:t> River, which runs across my hometown, used to be dirty and stinky. Due to the lack of sanitary</a:t>
            </a:r>
          </a:p>
          <a:p>
            <a:pPr algn="just"/>
            <a:r>
              <a:rPr lang="en-US" altLang="zh-CN" sz="2400" dirty="0">
                <a:solidFill>
                  <a:srgbClr val="FF0000"/>
                </a:solidFill>
              </a:rPr>
              <a:t>facilities, the villagers used the river as a natural “sewage system”, which naturally worsened the environment. Inspired by President </a:t>
            </a:r>
            <a:r>
              <a:rPr lang="en-US" altLang="zh-CN" sz="2400" spc="-50" dirty="0">
                <a:solidFill>
                  <a:srgbClr val="FF0000"/>
                </a:solidFill>
              </a:rPr>
              <a:t>Xi’s remarks “Lucid waters and lush mountains are invaluable assets</a:t>
            </a:r>
            <a:r>
              <a:rPr lang="en-US" altLang="zh-CN" sz="2400" spc="-70" dirty="0">
                <a:solidFill>
                  <a:srgbClr val="FF0000"/>
                </a:solidFill>
              </a:rPr>
              <a:t>”</a:t>
            </a:r>
            <a:r>
              <a:rPr lang="en-US" altLang="zh-CN" sz="2400" dirty="0">
                <a:solidFill>
                  <a:srgbClr val="FF0000"/>
                </a:solidFill>
              </a:rPr>
              <a:t>, </a:t>
            </a:r>
            <a:r>
              <a:rPr lang="en-US" altLang="zh-CN" sz="2400" spc="100" dirty="0">
                <a:solidFill>
                  <a:srgbClr val="FF0000"/>
                </a:solidFill>
              </a:rPr>
              <a:t>the local government put huge investment in environmental</a:t>
            </a:r>
            <a:r>
              <a:rPr lang="en-US" altLang="zh-CN" sz="2400" dirty="0">
                <a:solidFill>
                  <a:srgbClr val="FF0000"/>
                </a:solidFill>
              </a:rPr>
              <a:t> </a:t>
            </a:r>
            <a:r>
              <a:rPr lang="en-US" altLang="zh-CN" sz="2400" spc="10" dirty="0">
                <a:solidFill>
                  <a:srgbClr val="FF0000"/>
                </a:solidFill>
              </a:rPr>
              <a:t>protection. Today the river has become clean and beautiful. With</a:t>
            </a:r>
            <a:r>
              <a:rPr lang="en-US" altLang="zh-CN" sz="2400" dirty="0">
                <a:solidFill>
                  <a:srgbClr val="FF0000"/>
                </a:solidFill>
              </a:rPr>
              <a:t> </a:t>
            </a:r>
            <a:r>
              <a:rPr lang="en-US" altLang="zh-CN" sz="2400" spc="50" dirty="0">
                <a:solidFill>
                  <a:srgbClr val="FF0000"/>
                </a:solidFill>
              </a:rPr>
              <a:t>willow trees along its banks and pavilions nearby, the river has</a:t>
            </a:r>
            <a:r>
              <a:rPr lang="en-US" altLang="zh-CN" sz="2400" dirty="0">
                <a:solidFill>
                  <a:srgbClr val="FF0000"/>
                </a:solidFill>
              </a:rPr>
              <a:t> attracted many tourists from various places.</a:t>
            </a:r>
            <a:endParaRPr lang="en-US" altLang="zh-CN" sz="2400" b="1" dirty="0">
              <a:solidFill>
                <a:srgbClr val="FF0000"/>
              </a:solidFill>
              <a:latin typeface="Cambria" panose="02040503050406030204" pitchFamily="18" charset="0"/>
              <a:ea typeface="Cambria" panose="02040503050406030204" pitchFamily="18" charset="0"/>
            </a:endParaRPr>
          </a:p>
        </p:txBody>
      </p:sp>
      <p:pic>
        <p:nvPicPr>
          <p:cNvPr id="20" name="Picture 3" descr="C:\Users\senj\Desktop\按钮.png"/>
          <p:cNvPicPr>
            <a:picLocks noChangeAspect="1" noChangeArrowheads="1"/>
          </p:cNvPicPr>
          <p:nvPr/>
        </p:nvPicPr>
        <p:blipFill>
          <a:blip r:embed="rId3" cstate="print"/>
          <a:srcRect l="12911" t="21436" r="39626" b="60503"/>
          <a:stretch>
            <a:fillRect/>
          </a:stretch>
        </p:blipFill>
        <p:spPr bwMode="auto">
          <a:xfrm rot="10800000">
            <a:off x="8721754" y="6429396"/>
            <a:ext cx="259557" cy="254794"/>
          </a:xfrm>
          <a:prstGeom prst="rect">
            <a:avLst/>
          </a:prstGeom>
          <a:noFill/>
        </p:spPr>
      </p:pic>
      <p:pic>
        <p:nvPicPr>
          <p:cNvPr id="13"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5">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7" name="矩形 6"/>
          <p:cNvSpPr/>
          <p:nvPr/>
        </p:nvSpPr>
        <p:spPr>
          <a:xfrm>
            <a:off x="498195" y="1541165"/>
            <a:ext cx="8259725" cy="3279675"/>
          </a:xfrm>
          <a:prstGeom prst="rect">
            <a:avLst/>
          </a:pr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197351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12"/>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1"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7"/>
                  </p:tgtEl>
                </p:cond>
              </p:nextCondLst>
            </p:seq>
          </p:childTnLst>
        </p:cTn>
      </p:par>
    </p:tnLst>
    <p:bldLst>
      <p:bldP spid="18" grpId="0"/>
      <p:bldP spid="18"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D:\sflep\策划项目\外教社Logo\W-A1-淡绿横向.png"/>
          <p:cNvPicPr>
            <a:picLocks noChangeAspect="1" noChangeArrowheads="1"/>
          </p:cNvPicPr>
          <p:nvPr/>
        </p:nvPicPr>
        <p:blipFill>
          <a:blip r:embed="rId2" cstate="print">
            <a:duotone>
              <a:schemeClr val="accent2">
                <a:shade val="45000"/>
                <a:satMod val="135000"/>
              </a:schemeClr>
              <a:prstClr val="white"/>
            </a:duotone>
          </a:blip>
          <a:srcRect/>
          <a:stretch>
            <a:fillRect/>
          </a:stretch>
        </p:blipFill>
        <p:spPr bwMode="auto">
          <a:xfrm>
            <a:off x="6444995" y="6177839"/>
            <a:ext cx="1616075" cy="314325"/>
          </a:xfrm>
          <a:prstGeom prst="rect">
            <a:avLst/>
          </a:prstGeom>
          <a:noFill/>
          <a:ln w="9525">
            <a:noFill/>
            <a:miter lim="800000"/>
            <a:headEnd/>
            <a:tailEnd/>
          </a:ln>
        </p:spPr>
      </p:pic>
      <p:sp>
        <p:nvSpPr>
          <p:cNvPr id="16" name="TextBox 15"/>
          <p:cNvSpPr txBox="1"/>
          <p:nvPr/>
        </p:nvSpPr>
        <p:spPr>
          <a:xfrm>
            <a:off x="1864385" y="764815"/>
            <a:ext cx="5416868" cy="461665"/>
          </a:xfrm>
          <a:prstGeom prst="rect">
            <a:avLst/>
          </a:prstGeom>
          <a:noFill/>
        </p:spPr>
        <p:txBody>
          <a:bodyPr wrap="none" rtlCol="0" anchor="t">
            <a:spAutoFit/>
          </a:bodyPr>
          <a:lstStyle/>
          <a:p>
            <a:r>
              <a:rPr lang="zh-CN" altLang="en-US" sz="2400" dirty="0">
                <a:latin typeface="黑体" pitchFamily="49" charset="-122"/>
                <a:ea typeface="黑体" pitchFamily="49" charset="-122"/>
              </a:rPr>
              <a:t>上海外语教育出版社            出版</a:t>
            </a:r>
          </a:p>
        </p:txBody>
      </p:sp>
      <p:sp>
        <p:nvSpPr>
          <p:cNvPr id="17" name="TextBox 16"/>
          <p:cNvSpPr txBox="1"/>
          <p:nvPr/>
        </p:nvSpPr>
        <p:spPr>
          <a:xfrm>
            <a:off x="1864385" y="1226480"/>
            <a:ext cx="1633781" cy="1323439"/>
          </a:xfrm>
          <a:prstGeom prst="rect">
            <a:avLst/>
          </a:prstGeom>
          <a:noFill/>
        </p:spPr>
        <p:txBody>
          <a:bodyPr wrap="none" rtlCol="0" anchor="t">
            <a:spAutoFit/>
          </a:bodyPr>
          <a:lstStyle/>
          <a:p>
            <a:pPr>
              <a:lnSpc>
                <a:spcPts val="3200"/>
              </a:lnSpc>
            </a:pPr>
            <a:r>
              <a:rPr lang="zh-CN" altLang="en-US" sz="2200" dirty="0"/>
              <a:t>主</a:t>
            </a:r>
            <a:r>
              <a:rPr lang="en-US" sz="2200" dirty="0"/>
              <a:t>         </a:t>
            </a:r>
            <a:r>
              <a:rPr lang="zh-CN" altLang="en-US" sz="2200" dirty="0"/>
              <a:t>编：</a:t>
            </a:r>
          </a:p>
          <a:p>
            <a:pPr>
              <a:lnSpc>
                <a:spcPts val="3200"/>
              </a:lnSpc>
            </a:pPr>
            <a:r>
              <a:rPr lang="zh-CN" altLang="en-US" sz="2200" spc="40" dirty="0"/>
              <a:t>副</a:t>
            </a:r>
            <a:r>
              <a:rPr lang="en-US" altLang="zh-CN" sz="2200" spc="40" dirty="0"/>
              <a:t>  </a:t>
            </a:r>
            <a:r>
              <a:rPr lang="zh-CN" altLang="en-US" sz="2200" spc="40" dirty="0"/>
              <a:t>主</a:t>
            </a:r>
            <a:r>
              <a:rPr lang="en-US" altLang="zh-CN" sz="2200" spc="40" dirty="0"/>
              <a:t>  </a:t>
            </a:r>
            <a:r>
              <a:rPr lang="zh-CN" altLang="en-US" sz="2200" spc="40" dirty="0"/>
              <a:t>编</a:t>
            </a:r>
            <a:r>
              <a:rPr lang="zh-CN" altLang="en-US" sz="2200" dirty="0"/>
              <a:t>：</a:t>
            </a:r>
            <a:endParaRPr lang="en-US" altLang="zh-CN" sz="2200" dirty="0"/>
          </a:p>
          <a:p>
            <a:pPr>
              <a:lnSpc>
                <a:spcPts val="3200"/>
              </a:lnSpc>
            </a:pPr>
            <a:r>
              <a:rPr lang="zh-CN" altLang="en-US" sz="2200" dirty="0"/>
              <a:t>编</a:t>
            </a:r>
            <a:r>
              <a:rPr lang="en-US" sz="2200" dirty="0"/>
              <a:t>         </a:t>
            </a:r>
            <a:r>
              <a:rPr lang="zh-CN" altLang="en-US" sz="2200" dirty="0"/>
              <a:t>者：</a:t>
            </a:r>
          </a:p>
        </p:txBody>
      </p:sp>
      <p:sp>
        <p:nvSpPr>
          <p:cNvPr id="18" name="TextBox 17"/>
          <p:cNvSpPr txBox="1"/>
          <p:nvPr/>
        </p:nvSpPr>
        <p:spPr>
          <a:xfrm>
            <a:off x="1864385" y="3493444"/>
            <a:ext cx="5416868" cy="461665"/>
          </a:xfrm>
          <a:prstGeom prst="rect">
            <a:avLst/>
          </a:prstGeom>
          <a:noFill/>
        </p:spPr>
        <p:txBody>
          <a:bodyPr wrap="none" rtlCol="0" anchor="t">
            <a:spAutoFit/>
          </a:bodyPr>
          <a:lstStyle/>
          <a:p>
            <a:r>
              <a:rPr lang="zh-CN" altLang="en-US" sz="2400" dirty="0">
                <a:latin typeface="黑体" pitchFamily="49" charset="-122"/>
                <a:ea typeface="黑体" pitchFamily="49" charset="-122"/>
              </a:rPr>
              <a:t>晟景科技（厦门）有限公司      制作</a:t>
            </a:r>
          </a:p>
        </p:txBody>
      </p:sp>
      <p:sp>
        <p:nvSpPr>
          <p:cNvPr id="19" name="TextBox 18"/>
          <p:cNvSpPr txBox="1"/>
          <p:nvPr/>
        </p:nvSpPr>
        <p:spPr>
          <a:xfrm>
            <a:off x="1864385" y="3951994"/>
            <a:ext cx="1595309" cy="913070"/>
          </a:xfrm>
          <a:prstGeom prst="rect">
            <a:avLst/>
          </a:prstGeom>
          <a:noFill/>
        </p:spPr>
        <p:txBody>
          <a:bodyPr wrap="none" rtlCol="0" anchor="t">
            <a:spAutoFit/>
          </a:bodyPr>
          <a:lstStyle/>
          <a:p>
            <a:pPr>
              <a:lnSpc>
                <a:spcPts val="3200"/>
              </a:lnSpc>
            </a:pPr>
            <a:r>
              <a:rPr lang="zh-CN" altLang="en-US" sz="2200" dirty="0"/>
              <a:t>制作策划：</a:t>
            </a:r>
            <a:endParaRPr lang="en-US" altLang="zh-CN" sz="2200" dirty="0"/>
          </a:p>
          <a:p>
            <a:pPr>
              <a:lnSpc>
                <a:spcPts val="3200"/>
              </a:lnSpc>
            </a:pPr>
            <a:r>
              <a:rPr lang="zh-CN" altLang="en-US" sz="2200" dirty="0"/>
              <a:t>美术设计：</a:t>
            </a:r>
            <a:endParaRPr lang="en-US" altLang="zh-CN" sz="2200" dirty="0"/>
          </a:p>
        </p:txBody>
      </p:sp>
      <p:grpSp>
        <p:nvGrpSpPr>
          <p:cNvPr id="3" name="组合 20"/>
          <p:cNvGrpSpPr/>
          <p:nvPr/>
        </p:nvGrpSpPr>
        <p:grpSpPr>
          <a:xfrm>
            <a:off x="1953285" y="3953006"/>
            <a:ext cx="5178464" cy="2103"/>
            <a:chOff x="2465372" y="2856981"/>
            <a:chExt cx="5178464" cy="2103"/>
          </a:xfrm>
        </p:grpSpPr>
        <p:cxnSp>
          <p:nvCxnSpPr>
            <p:cNvPr id="22" name="直接连接符 21"/>
            <p:cNvCxnSpPr/>
            <p:nvPr/>
          </p:nvCxnSpPr>
          <p:spPr>
            <a:xfrm>
              <a:off x="5280170" y="2856981"/>
              <a:ext cx="2363666" cy="1809"/>
            </a:xfrm>
            <a:prstGeom prst="line">
              <a:avLst/>
            </a:prstGeom>
            <a:ln>
              <a:solidFill>
                <a:srgbClr val="982738"/>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2465372" y="2857496"/>
              <a:ext cx="2821008" cy="1588"/>
            </a:xfrm>
            <a:prstGeom prst="line">
              <a:avLst/>
            </a:prstGeom>
          </p:spPr>
          <p:style>
            <a:lnRef idx="1">
              <a:schemeClr val="accent6"/>
            </a:lnRef>
            <a:fillRef idx="0">
              <a:schemeClr val="accent6"/>
            </a:fillRef>
            <a:effectRef idx="0">
              <a:schemeClr val="accent6"/>
            </a:effectRef>
            <a:fontRef idx="minor">
              <a:schemeClr val="tx1"/>
            </a:fontRef>
          </p:style>
        </p:cxnSp>
      </p:grpSp>
      <p:grpSp>
        <p:nvGrpSpPr>
          <p:cNvPr id="7" name="组合 26"/>
          <p:cNvGrpSpPr/>
          <p:nvPr/>
        </p:nvGrpSpPr>
        <p:grpSpPr>
          <a:xfrm>
            <a:off x="1953285" y="1226774"/>
            <a:ext cx="5178464" cy="2103"/>
            <a:chOff x="2465372" y="2856981"/>
            <a:chExt cx="5178464" cy="2103"/>
          </a:xfrm>
        </p:grpSpPr>
        <p:cxnSp>
          <p:nvCxnSpPr>
            <p:cNvPr id="28" name="直接连接符 27"/>
            <p:cNvCxnSpPr/>
            <p:nvPr/>
          </p:nvCxnSpPr>
          <p:spPr>
            <a:xfrm>
              <a:off x="5280170" y="2856981"/>
              <a:ext cx="2363666" cy="1809"/>
            </a:xfrm>
            <a:prstGeom prst="line">
              <a:avLst/>
            </a:prstGeom>
            <a:ln>
              <a:solidFill>
                <a:srgbClr val="982738"/>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2465372" y="2857496"/>
              <a:ext cx="2821008" cy="1588"/>
            </a:xfrm>
            <a:prstGeom prst="line">
              <a:avLst/>
            </a:prstGeom>
          </p:spPr>
          <p:style>
            <a:lnRef idx="1">
              <a:schemeClr val="accent6"/>
            </a:lnRef>
            <a:fillRef idx="0">
              <a:schemeClr val="accent6"/>
            </a:fillRef>
            <a:effectRef idx="0">
              <a:schemeClr val="accent6"/>
            </a:effectRef>
            <a:fontRef idx="minor">
              <a:schemeClr val="tx1"/>
            </a:fontRef>
          </p:style>
        </p:cxnSp>
      </p:grpSp>
      <p:sp>
        <p:nvSpPr>
          <p:cNvPr id="24" name="矩形 23"/>
          <p:cNvSpPr/>
          <p:nvPr/>
        </p:nvSpPr>
        <p:spPr>
          <a:xfrm>
            <a:off x="1062805" y="6150335"/>
            <a:ext cx="5292000" cy="369332"/>
          </a:xfrm>
          <a:prstGeom prst="rect">
            <a:avLst/>
          </a:prstGeom>
        </p:spPr>
        <p:txBody>
          <a:bodyPr wrap="square">
            <a:spAutoFit/>
          </a:bodyPr>
          <a:lstStyle/>
          <a:p>
            <a:r>
              <a:rPr lang="en-US" altLang="zh-CN" b="1" dirty="0">
                <a:solidFill>
                  <a:srgbClr val="982738"/>
                </a:solidFill>
                <a:ea typeface="宋体" pitchFamily="2" charset="-122"/>
                <a:cs typeface="Times New Roman" pitchFamily="18" charset="0"/>
              </a:rPr>
              <a:t>©</a:t>
            </a:r>
            <a:r>
              <a:rPr lang="zh-CN" altLang="en-US" b="1" dirty="0">
                <a:solidFill>
                  <a:srgbClr val="982738"/>
                </a:solidFill>
                <a:latin typeface="Times New Roman" pitchFamily="18" charset="0"/>
                <a:ea typeface="宋体" pitchFamily="2" charset="-122"/>
                <a:cs typeface="Times New Roman" pitchFamily="18" charset="0"/>
              </a:rPr>
              <a:t>上海外语教育出版社，</a:t>
            </a:r>
            <a:r>
              <a:rPr lang="en-US" altLang="zh-CN" b="1" dirty="0">
                <a:solidFill>
                  <a:srgbClr val="982738"/>
                </a:solidFill>
                <a:latin typeface="Times New Roman" pitchFamily="18" charset="0"/>
                <a:ea typeface="宋体" pitchFamily="2" charset="-122"/>
                <a:cs typeface="Times New Roman" pitchFamily="18" charset="0"/>
              </a:rPr>
              <a:t>2023   </a:t>
            </a:r>
            <a:r>
              <a:rPr lang="zh-CN" altLang="en-US" b="1" dirty="0">
                <a:solidFill>
                  <a:srgbClr val="982738"/>
                </a:solidFill>
                <a:latin typeface="Times New Roman" pitchFamily="18" charset="0"/>
                <a:ea typeface="宋体" pitchFamily="2" charset="-122"/>
                <a:cs typeface="Times New Roman" pitchFamily="18" charset="0"/>
              </a:rPr>
              <a:t>版权所有  翻版必究</a:t>
            </a:r>
            <a:endParaRPr lang="zh-CN" altLang="en-US" b="1" dirty="0">
              <a:solidFill>
                <a:srgbClr val="982738"/>
              </a:solidFill>
            </a:endParaRPr>
          </a:p>
        </p:txBody>
      </p:sp>
      <p:sp>
        <p:nvSpPr>
          <p:cNvPr id="168" name="TextBox 16"/>
          <p:cNvSpPr txBox="1"/>
          <p:nvPr/>
        </p:nvSpPr>
        <p:spPr>
          <a:xfrm>
            <a:off x="3363789" y="1226480"/>
            <a:ext cx="3643946" cy="1282402"/>
          </a:xfrm>
          <a:prstGeom prst="rect">
            <a:avLst/>
          </a:prstGeom>
          <a:noFill/>
        </p:spPr>
        <p:txBody>
          <a:bodyPr wrap="none" rtlCol="0" anchor="t">
            <a:spAutoFit/>
          </a:bodyPr>
          <a:lstStyle/>
          <a:p>
            <a:pPr>
              <a:lnSpc>
                <a:spcPts val="3200"/>
              </a:lnSpc>
            </a:pPr>
            <a:r>
              <a:rPr lang="zh-CN" altLang="en-US" sz="2400" dirty="0"/>
              <a:t>肖维青     马乐东</a:t>
            </a:r>
            <a:endParaRPr lang="en-US" altLang="zh-CN" sz="2400" dirty="0"/>
          </a:p>
          <a:p>
            <a:pPr>
              <a:lnSpc>
                <a:spcPts val="3200"/>
              </a:lnSpc>
            </a:pPr>
            <a:r>
              <a:rPr lang="zh-CN" altLang="en-US" sz="2400" dirty="0"/>
              <a:t>李</a:t>
            </a:r>
            <a:r>
              <a:rPr lang="zh-CN" altLang="en-US" sz="2400" dirty="0">
                <a:solidFill>
                  <a:schemeClr val="bg1"/>
                </a:solidFill>
              </a:rPr>
              <a:t>涛</a:t>
            </a:r>
            <a:r>
              <a:rPr lang="zh-CN" altLang="en-US" sz="2400" dirty="0"/>
              <a:t>涛     彭文青</a:t>
            </a:r>
          </a:p>
          <a:p>
            <a:r>
              <a:rPr lang="zh-CN" altLang="en-US" sz="2400" dirty="0"/>
              <a:t>张</a:t>
            </a:r>
            <a:r>
              <a:rPr lang="zh-CN" altLang="en-US" sz="2400" dirty="0">
                <a:solidFill>
                  <a:schemeClr val="bg1"/>
                </a:solidFill>
              </a:rPr>
              <a:t>汨</a:t>
            </a:r>
            <a:r>
              <a:rPr lang="zh-CN" altLang="en-US" sz="2400" dirty="0"/>
              <a:t>汨     唐一辰     李</a:t>
            </a:r>
            <a:r>
              <a:rPr lang="zh-CN" altLang="en-US" sz="2400" dirty="0">
                <a:solidFill>
                  <a:schemeClr val="bg1"/>
                </a:solidFill>
              </a:rPr>
              <a:t>颖</a:t>
            </a:r>
            <a:r>
              <a:rPr lang="zh-CN" altLang="en-US" sz="2400" dirty="0"/>
              <a:t>颖</a:t>
            </a:r>
          </a:p>
        </p:txBody>
      </p:sp>
      <p:sp>
        <p:nvSpPr>
          <p:cNvPr id="184" name="TextBox 16"/>
          <p:cNvSpPr txBox="1"/>
          <p:nvPr/>
        </p:nvSpPr>
        <p:spPr>
          <a:xfrm>
            <a:off x="3363789" y="3951994"/>
            <a:ext cx="2375971" cy="913070"/>
          </a:xfrm>
          <a:prstGeom prst="rect">
            <a:avLst/>
          </a:prstGeom>
          <a:noFill/>
        </p:spPr>
        <p:txBody>
          <a:bodyPr wrap="none" rtlCol="0" anchor="t">
            <a:spAutoFit/>
          </a:bodyPr>
          <a:lstStyle/>
          <a:p>
            <a:pPr>
              <a:lnSpc>
                <a:spcPts val="3200"/>
              </a:lnSpc>
            </a:pPr>
            <a:r>
              <a:rPr lang="zh-CN" altLang="en-US" sz="2400" dirty="0"/>
              <a:t>曹晓英     陈楚玲</a:t>
            </a:r>
            <a:endParaRPr lang="en-US" altLang="zh-CN" sz="2400" dirty="0"/>
          </a:p>
          <a:p>
            <a:pPr>
              <a:lnSpc>
                <a:spcPts val="3200"/>
              </a:lnSpc>
            </a:pPr>
            <a:r>
              <a:rPr lang="zh-CN" altLang="en-US" sz="2400" dirty="0"/>
              <a:t>叶捷鑫     吴永锋</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360000" y="764815"/>
            <a:ext cx="8532300" cy="3785652"/>
          </a:xfrm>
          <a:prstGeom prst="rect">
            <a:avLst/>
          </a:prstGeom>
          <a:noFill/>
        </p:spPr>
        <p:txBody>
          <a:bodyPr wrap="square" rtlCol="0">
            <a:spAutoFit/>
          </a:bodyPr>
          <a:lstStyle/>
          <a:p>
            <a:r>
              <a:rPr lang="en-US" altLang="zh-CN" sz="2400" dirty="0"/>
              <a:t>Upon completion of this unit, you are expected to have:</a:t>
            </a:r>
          </a:p>
          <a:p>
            <a:r>
              <a:rPr lang="en-US" altLang="zh-CN" sz="2400" b="1" dirty="0">
                <a:solidFill>
                  <a:srgbClr val="C6383E"/>
                </a:solidFill>
              </a:rPr>
              <a:t>1</a:t>
            </a:r>
            <a:endParaRPr lang="en-US" altLang="zh-CN" sz="2400" dirty="0"/>
          </a:p>
          <a:p>
            <a:endParaRPr lang="en-US" altLang="zh-CN" sz="2400" b="1" dirty="0">
              <a:solidFill>
                <a:srgbClr val="C6383E"/>
              </a:solidFill>
            </a:endParaRPr>
          </a:p>
          <a:p>
            <a:r>
              <a:rPr lang="en-US" altLang="zh-CN" sz="2400" b="1" dirty="0">
                <a:solidFill>
                  <a:srgbClr val="C6383E"/>
                </a:solidFill>
              </a:rPr>
              <a:t>2</a:t>
            </a:r>
            <a:endParaRPr lang="en-US" altLang="zh-CN" sz="2400" dirty="0"/>
          </a:p>
          <a:p>
            <a:endParaRPr lang="en-US" altLang="zh-CN" sz="2400" b="1" dirty="0">
              <a:solidFill>
                <a:srgbClr val="C6383E"/>
              </a:solidFill>
            </a:endParaRPr>
          </a:p>
          <a:p>
            <a:r>
              <a:rPr lang="en-US" altLang="zh-CN" sz="2400" b="1" dirty="0">
                <a:solidFill>
                  <a:srgbClr val="C6383E"/>
                </a:solidFill>
              </a:rPr>
              <a:t>3</a:t>
            </a:r>
            <a:endParaRPr lang="en-US" altLang="zh-CN" sz="2400" dirty="0"/>
          </a:p>
          <a:p>
            <a:endParaRPr lang="en-US" altLang="zh-CN" sz="2400" b="1" dirty="0">
              <a:solidFill>
                <a:srgbClr val="C6383E"/>
              </a:solidFill>
            </a:endParaRPr>
          </a:p>
          <a:p>
            <a:endParaRPr lang="en-US" altLang="zh-CN" sz="2400" b="1" dirty="0">
              <a:solidFill>
                <a:srgbClr val="C6383E"/>
              </a:solidFill>
            </a:endParaRPr>
          </a:p>
          <a:p>
            <a:r>
              <a:rPr lang="en-US" altLang="zh-CN" sz="2400" b="1" dirty="0">
                <a:solidFill>
                  <a:srgbClr val="C6383E"/>
                </a:solidFill>
              </a:rPr>
              <a:t>4</a:t>
            </a:r>
            <a:endParaRPr lang="en-US" altLang="zh-CN" sz="2400" dirty="0"/>
          </a:p>
          <a:p>
            <a:endParaRPr lang="zh-CN" altLang="en-US" sz="2400" spc="-20" dirty="0">
              <a:solidFill>
                <a:srgbClr val="FF0000"/>
              </a:solidFill>
            </a:endParaRPr>
          </a:p>
        </p:txBody>
      </p:sp>
      <p:sp>
        <p:nvSpPr>
          <p:cNvPr id="5" name="文本框 4"/>
          <p:cNvSpPr txBox="1"/>
          <p:nvPr/>
        </p:nvSpPr>
        <p:spPr>
          <a:xfrm>
            <a:off x="650240" y="764815"/>
            <a:ext cx="8242060" cy="3416320"/>
          </a:xfrm>
          <a:prstGeom prst="rect">
            <a:avLst/>
          </a:prstGeom>
          <a:noFill/>
        </p:spPr>
        <p:txBody>
          <a:bodyPr wrap="square" rtlCol="0">
            <a:spAutoFit/>
          </a:bodyPr>
          <a:lstStyle/>
          <a:p>
            <a:pPr algn="just"/>
            <a:endParaRPr lang="en-US" altLang="zh-CN" sz="2400" dirty="0"/>
          </a:p>
          <a:p>
            <a:pPr algn="just"/>
            <a:r>
              <a:rPr lang="en-US" altLang="zh-CN" sz="2400" spc="60" dirty="0"/>
              <a:t>acquired a general knowledge of the development of Chinese</a:t>
            </a:r>
            <a:r>
              <a:rPr lang="en-US" altLang="zh-CN" sz="2400" dirty="0"/>
              <a:t> civilization and the achievement of modern Chinese society;</a:t>
            </a:r>
          </a:p>
          <a:p>
            <a:pPr algn="just"/>
            <a:r>
              <a:rPr lang="en-US" altLang="zh-CN" sz="2400" spc="20" dirty="0"/>
              <a:t>built up an active vocabulary about China’s historical, economic</a:t>
            </a:r>
            <a:r>
              <a:rPr lang="en-US" altLang="zh-CN" sz="2400" dirty="0"/>
              <a:t> and social matters;</a:t>
            </a:r>
          </a:p>
          <a:p>
            <a:pPr algn="just"/>
            <a:r>
              <a:rPr lang="en-US" altLang="zh-CN" sz="2400" spc="80" dirty="0"/>
              <a:t>exercised critical thinking on topics of China’s past glory and</a:t>
            </a:r>
            <a:r>
              <a:rPr lang="en-US" altLang="zh-CN" sz="2400" dirty="0"/>
              <a:t> </a:t>
            </a:r>
            <a:r>
              <a:rPr lang="en-US" altLang="zh-CN" sz="2400" spc="-100" dirty="0"/>
              <a:t>contemporary image by means of comparison, analysis, summarization</a:t>
            </a:r>
            <a:r>
              <a:rPr lang="en-US" altLang="zh-CN" sz="2400" dirty="0"/>
              <a:t>, and discussion;</a:t>
            </a:r>
          </a:p>
          <a:p>
            <a:pPr algn="just"/>
            <a:r>
              <a:rPr lang="en-US" altLang="zh-CN" sz="2400" spc="-60" dirty="0"/>
              <a:t>developed the ability to tell stories of China’s rejuvenation effectively</a:t>
            </a:r>
            <a:r>
              <a:rPr lang="en-US" altLang="zh-CN" sz="2400" dirty="0"/>
              <a:t>.</a:t>
            </a:r>
            <a:endParaRPr lang="zh-CN" altLang="en-US" sz="2400" spc="-20" dirty="0">
              <a:solidFill>
                <a:srgbClr val="FF0000"/>
              </a:solidFill>
            </a:endParaRPr>
          </a:p>
        </p:txBody>
      </p:sp>
    </p:spTree>
    <p:extLst>
      <p:ext uri="{BB962C8B-B14F-4D97-AF65-F5344CB8AC3E}">
        <p14:creationId xmlns:p14="http://schemas.microsoft.com/office/powerpoint/2010/main" val="214000108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2031A8C8-BCBF-E9EE-006D-A33D933A4156}"/>
              </a:ext>
            </a:extLst>
          </p:cNvPr>
          <p:cNvSpPr txBox="1"/>
          <p:nvPr/>
        </p:nvSpPr>
        <p:spPr>
          <a:xfrm>
            <a:off x="360000" y="764815"/>
            <a:ext cx="8532300" cy="2308324"/>
          </a:xfrm>
          <a:prstGeom prst="rect">
            <a:avLst/>
          </a:prstGeom>
          <a:noFill/>
        </p:spPr>
        <p:txBody>
          <a:bodyPr wrap="square" rtlCol="0">
            <a:spAutoFit/>
          </a:bodyPr>
          <a:lstStyle/>
          <a:p>
            <a:pPr algn="just"/>
            <a:r>
              <a:rPr lang="en-US" altLang="zh-CN" sz="2400" spc="-40" dirty="0"/>
              <a:t>Buddhist temples used to flourish in ancient China, which, as a matter </a:t>
            </a:r>
            <a:r>
              <a:rPr lang="en-US" altLang="zh-CN" sz="2400" dirty="0"/>
              <a:t>of fact, mirrored the prosperous society and its booming economy. However, there were also periods of time when men of letters saw </a:t>
            </a:r>
            <a:r>
              <a:rPr lang="en-US" altLang="zh-CN" sz="2400" spc="-40" dirty="0"/>
              <a:t>recessions and expressed their melancholy about the “good old days”. </a:t>
            </a:r>
            <a:r>
              <a:rPr lang="en-US" altLang="zh-CN" sz="2400" dirty="0"/>
              <a:t>Today, the Chinese people are embracing the nation’s rejuvenation. </a:t>
            </a:r>
            <a:r>
              <a:rPr lang="en-US" altLang="zh-CN" sz="2400" spc="-20" dirty="0"/>
              <a:t>What, in your eyes, are the signs or symbols of China’s rejuvenation?</a:t>
            </a:r>
            <a:endParaRPr lang="zh-CN" altLang="en-US" sz="2400" spc="-20" dirty="0">
              <a:solidFill>
                <a:srgbClr val="FF0000"/>
              </a:solidFill>
              <a:latin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1699334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5D50A42-2204-EF7F-216A-ADAE9F7C1E0A}"/>
              </a:ext>
            </a:extLst>
          </p:cNvPr>
          <p:cNvSpPr txBox="1"/>
          <p:nvPr/>
        </p:nvSpPr>
        <p:spPr>
          <a:xfrm>
            <a:off x="360000" y="764815"/>
            <a:ext cx="8532300" cy="1938992"/>
          </a:xfrm>
          <a:prstGeom prst="rect">
            <a:avLst/>
          </a:prstGeom>
          <a:noFill/>
        </p:spPr>
        <p:txBody>
          <a:bodyPr wrap="square" rtlCol="0">
            <a:spAutoFit/>
          </a:bodyPr>
          <a:lstStyle/>
          <a:p>
            <a:pPr algn="just"/>
            <a:r>
              <a:rPr lang="zh-CN" altLang="en-US" sz="2400" spc="-20" dirty="0"/>
              <a:t>根据国家发改委、外交部及商务部的规范，统一将“丝绸</a:t>
            </a:r>
            <a:r>
              <a:rPr lang="zh-CN" altLang="en-US" sz="2400" dirty="0"/>
              <a:t>之</a:t>
            </a:r>
            <a:r>
              <a:rPr lang="zh-CN" altLang="en-US" sz="2400" spc="20" dirty="0"/>
              <a:t>路</a:t>
            </a:r>
            <a:r>
              <a:rPr lang="zh-CN" altLang="en-US" sz="2400" dirty="0"/>
              <a:t>经济带和</a:t>
            </a:r>
            <a:r>
              <a:rPr lang="en-US" altLang="zh-CN" sz="2400" dirty="0">
                <a:latin typeface="+mn-ea"/>
                <a:ea typeface="+mn-ea"/>
              </a:rPr>
              <a:t>21</a:t>
            </a:r>
            <a:r>
              <a:rPr lang="zh-CN" altLang="en-US" sz="2400" dirty="0"/>
              <a:t>世纪海上丝绸之路”的英文全称译为“</a:t>
            </a:r>
            <a:r>
              <a:rPr lang="en-US" altLang="zh-CN" sz="2400" dirty="0"/>
              <a:t>the Silk Road Economic Belt and the 21st-Century Maritime Silk Road”</a:t>
            </a:r>
            <a:r>
              <a:rPr lang="zh-CN" altLang="en-US" sz="2400" dirty="0"/>
              <a:t>，“一带一路”</a:t>
            </a:r>
            <a:r>
              <a:rPr lang="zh-CN" altLang="en-US" sz="2400" spc="120" dirty="0"/>
              <a:t>简称译为“</a:t>
            </a:r>
            <a:r>
              <a:rPr lang="en-US" altLang="zh-CN" sz="2400" spc="120" dirty="0"/>
              <a:t>the Belt and Road”</a:t>
            </a:r>
            <a:r>
              <a:rPr lang="zh-CN" altLang="en-US" sz="2400" spc="120" dirty="0"/>
              <a:t>，“倡议”一词译为</a:t>
            </a:r>
            <a:r>
              <a:rPr lang="zh-CN" altLang="en-US" sz="2400" dirty="0"/>
              <a:t>“</a:t>
            </a:r>
            <a:r>
              <a:rPr lang="en-US" altLang="zh-CN" sz="2400" dirty="0"/>
              <a:t>initiative”</a:t>
            </a:r>
            <a:r>
              <a:rPr lang="zh-CN" altLang="en-US" sz="2400" dirty="0"/>
              <a:t>，且使用单数。</a:t>
            </a:r>
            <a:endParaRPr lang="en-US" altLang="zh-CN" sz="3200" b="1" dirty="0">
              <a:solidFill>
                <a:srgbClr val="C6383E"/>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70684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5632311"/>
          </a:xfrm>
          <a:prstGeom prst="rect">
            <a:avLst/>
          </a:prstGeom>
          <a:noFill/>
        </p:spPr>
        <p:txBody>
          <a:bodyPr wrap="square" rtlCol="0">
            <a:spAutoFit/>
          </a:bodyPr>
          <a:lstStyle/>
          <a:p>
            <a:pPr algn="just"/>
            <a:r>
              <a:rPr lang="en-US" altLang="zh-CN" sz="2400" b="1" dirty="0"/>
              <a:t>Reference answer</a:t>
            </a:r>
          </a:p>
          <a:p>
            <a:pPr algn="just"/>
            <a:r>
              <a:rPr lang="en-US" altLang="zh-CN" sz="2400" dirty="0"/>
              <a:t>Dear John,</a:t>
            </a:r>
          </a:p>
          <a:p>
            <a:pPr algn="just"/>
            <a:r>
              <a:rPr lang="en-US" altLang="zh-CN" sz="2400" dirty="0"/>
              <a:t>     </a:t>
            </a:r>
            <a:r>
              <a:rPr lang="en-US" altLang="zh-CN" sz="2400" spc="-50" dirty="0"/>
              <a:t>I am glad that both of us share the same interest in the early history</a:t>
            </a:r>
            <a:r>
              <a:rPr lang="en-US" altLang="zh-CN" sz="2400" dirty="0"/>
              <a:t> </a:t>
            </a:r>
            <a:r>
              <a:rPr lang="en-US" altLang="zh-CN" sz="2400" spc="20" dirty="0"/>
              <a:t>of China. The following is what I know about “the Seven Powers of</a:t>
            </a:r>
            <a:r>
              <a:rPr lang="en-US" altLang="zh-CN" sz="2400" dirty="0"/>
              <a:t> the Warring States”.</a:t>
            </a:r>
          </a:p>
          <a:p>
            <a:pPr algn="just"/>
            <a:r>
              <a:rPr lang="en-US" altLang="zh-CN" sz="2400" dirty="0"/>
              <a:t>     </a:t>
            </a:r>
            <a:r>
              <a:rPr lang="en-US" altLang="zh-CN" sz="2400" spc="-10" dirty="0"/>
              <a:t>During the Spring and Autumn period, there were more than 100</a:t>
            </a:r>
            <a:r>
              <a:rPr lang="en-US" altLang="zh-CN" sz="2400" dirty="0"/>
              <a:t> </a:t>
            </a:r>
            <a:r>
              <a:rPr lang="en-US" altLang="zh-CN" sz="2400" spc="30" dirty="0"/>
              <a:t>states contending for hegemony. In the early years of the Warring</a:t>
            </a:r>
            <a:r>
              <a:rPr lang="en-US" altLang="zh-CN" sz="2400" dirty="0"/>
              <a:t> </a:t>
            </a:r>
            <a:r>
              <a:rPr lang="en-US" altLang="zh-CN" sz="2400" spc="-30" dirty="0"/>
              <a:t>States period, only dozens of states survived. The most powerful ones</a:t>
            </a:r>
            <a:r>
              <a:rPr lang="en-US" altLang="zh-CN" sz="2400" dirty="0"/>
              <a:t> </a:t>
            </a:r>
            <a:r>
              <a:rPr lang="en-US" altLang="zh-CN" sz="2400" spc="70" dirty="0"/>
              <a:t>were Qi, Chu, Yan, Han, Zhao, Wei and Qin, dubbed “the Seven</a:t>
            </a:r>
            <a:r>
              <a:rPr lang="en-US" altLang="zh-CN" sz="2400" dirty="0"/>
              <a:t> Powers of the Warring States”. Qi (pronounced </a:t>
            </a:r>
            <a:r>
              <a:rPr lang="en-US" altLang="zh-CN" sz="2400" i="1" dirty="0"/>
              <a:t>chi</a:t>
            </a:r>
            <a:r>
              <a:rPr lang="en-US" altLang="zh-CN" sz="2400" dirty="0"/>
              <a:t>) was in the east, Qin (</a:t>
            </a:r>
            <a:r>
              <a:rPr lang="en-US" altLang="zh-CN" sz="2400" i="1" dirty="0"/>
              <a:t>chin</a:t>
            </a:r>
            <a:r>
              <a:rPr lang="en-US" altLang="zh-CN" sz="2400" dirty="0"/>
              <a:t>) in the west; Zhao (</a:t>
            </a:r>
            <a:r>
              <a:rPr lang="en-US" altLang="zh-CN" sz="2400" i="1" dirty="0"/>
              <a:t>chow</a:t>
            </a:r>
            <a:r>
              <a:rPr lang="en-US" altLang="zh-CN" sz="2400" dirty="0"/>
              <a:t>) was in the north and Yan was in </a:t>
            </a:r>
            <a:r>
              <a:rPr lang="en-US" altLang="zh-CN" sz="2400" spc="-50" dirty="0"/>
              <a:t>the northeast; Chu (</a:t>
            </a:r>
            <a:r>
              <a:rPr lang="en-US" altLang="zh-CN" sz="2400" i="1" spc="-50" dirty="0"/>
              <a:t>true</a:t>
            </a:r>
            <a:r>
              <a:rPr lang="en-US" altLang="zh-CN" sz="2400" spc="-50" dirty="0"/>
              <a:t>) was in the south, and Wei and Han controlled</a:t>
            </a:r>
            <a:r>
              <a:rPr lang="en-US" altLang="zh-CN" sz="2400" dirty="0"/>
              <a:t> </a:t>
            </a:r>
            <a:r>
              <a:rPr lang="en-US" altLang="zh-CN" sz="2400" spc="-20" dirty="0"/>
              <a:t>the territory in the middle. The state of Qin had grown stronger since</a:t>
            </a:r>
            <a:r>
              <a:rPr lang="en-US" altLang="zh-CN" sz="2400" dirty="0"/>
              <a:t> the reign of Duke of Xiao, who supported the reform of Shang Yang. </a:t>
            </a:r>
            <a:r>
              <a:rPr lang="en-US" altLang="zh-CN" sz="2400" spc="-20" dirty="0"/>
              <a:t>In 221 BC, Qin Shi Huang conquered the other six states and founded</a:t>
            </a:r>
            <a:r>
              <a:rPr lang="en-US" altLang="zh-CN" sz="2400" dirty="0"/>
              <a:t> </a:t>
            </a:r>
            <a:endParaRPr lang="zh-CN" altLang="en-US" sz="2400" spc="-20" dirty="0">
              <a:solidFill>
                <a:srgbClr val="FF0000"/>
              </a:solidFill>
            </a:endParaRP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3" descr="C:\Users\senj\Desktop\按钮.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
                    </a14:imgEffect>
                  </a14:imgLayer>
                </a14:imgProps>
              </a:ext>
            </a:extLst>
          </a:blip>
          <a:srcRect l="12911" t="21436" r="39626" b="60503"/>
          <a:stretch>
            <a:fillRect/>
          </a:stretch>
        </p:blipFill>
        <p:spPr bwMode="auto">
          <a:xfrm>
            <a:off x="8366400" y="6429396"/>
            <a:ext cx="259557" cy="254794"/>
          </a:xfrm>
          <a:prstGeom prst="rect">
            <a:avLst/>
          </a:prstGeom>
          <a:noFill/>
        </p:spPr>
      </p:pic>
      <p:pic>
        <p:nvPicPr>
          <p:cNvPr id="9" name="Picture 3" descr="C:\Users\senj\Desktop\按钮.png">
            <a:hlinkClick r:id="" action="ppaction://hlinkshowjump?jump=nextslide"/>
          </p:cNvPr>
          <p:cNvPicPr>
            <a:picLocks noChangeAspect="1" noChangeArrowheads="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Tree>
    <p:extLst>
      <p:ext uri="{BB962C8B-B14F-4D97-AF65-F5344CB8AC3E}">
        <p14:creationId xmlns:p14="http://schemas.microsoft.com/office/powerpoint/2010/main" val="351600544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1938992"/>
          </a:xfrm>
          <a:prstGeom prst="rect">
            <a:avLst/>
          </a:prstGeom>
          <a:noFill/>
        </p:spPr>
        <p:txBody>
          <a:bodyPr wrap="square" rtlCol="0">
            <a:spAutoFit/>
          </a:bodyPr>
          <a:lstStyle/>
          <a:p>
            <a:r>
              <a:rPr lang="en-US" altLang="zh-CN" sz="2400" dirty="0"/>
              <a:t>the first unified and centralized country in the Chinese history.</a:t>
            </a:r>
          </a:p>
          <a:p>
            <a:r>
              <a:rPr lang="en-US" altLang="zh-CN" sz="2400" dirty="0"/>
              <a:t>     Please feel free to contact me if you have any question.</a:t>
            </a:r>
          </a:p>
          <a:p>
            <a:r>
              <a:rPr lang="en-US" altLang="zh-CN" sz="2400" dirty="0"/>
              <a:t>     Best wishes!</a:t>
            </a:r>
          </a:p>
          <a:p>
            <a:pPr algn="r"/>
            <a:r>
              <a:rPr lang="en-US" altLang="zh-CN" sz="2400" dirty="0"/>
              <a:t>Yours,</a:t>
            </a:r>
          </a:p>
          <a:p>
            <a:pPr algn="r"/>
            <a:r>
              <a:rPr lang="en-US" altLang="zh-CN" sz="2400" dirty="0"/>
              <a:t>Sophie</a:t>
            </a:r>
            <a:endParaRPr lang="zh-CN" altLang="en-US" sz="2400" spc="-20" dirty="0">
              <a:solidFill>
                <a:srgbClr val="FF0000"/>
              </a:solidFill>
            </a:endParaRPr>
          </a:p>
        </p:txBody>
      </p:sp>
      <p:pic>
        <p:nvPicPr>
          <p:cNvPr id="4" name="Picture 3" descr="C:\Users\senj\Desktop\按钮.png"/>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10000"/>
                    </a14:imgEffect>
                  </a14:imgLayer>
                </a14:imgProps>
              </a:ext>
            </a:extLst>
          </a:blip>
          <a:srcRect l="12911" t="21436" r="39626" b="60503"/>
          <a:stretch>
            <a:fillRect/>
          </a:stretch>
        </p:blipFill>
        <p:spPr bwMode="auto">
          <a:xfrm rot="10800000">
            <a:off x="8721754" y="6429396"/>
            <a:ext cx="259557" cy="254794"/>
          </a:xfrm>
          <a:prstGeom prst="rect">
            <a:avLst/>
          </a:prstGeom>
          <a:noFill/>
        </p:spPr>
      </p:pic>
      <p:pic>
        <p:nvPicPr>
          <p:cNvPr id="5"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6" name="虚尾箭头 5">
            <a:hlinkClick r:id="rId5"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76223468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5632311"/>
          </a:xfrm>
          <a:prstGeom prst="rect">
            <a:avLst/>
          </a:prstGeom>
          <a:noFill/>
        </p:spPr>
        <p:txBody>
          <a:bodyPr wrap="square" rtlCol="0">
            <a:spAutoFit/>
          </a:bodyPr>
          <a:lstStyle/>
          <a:p>
            <a:pPr algn="ctr"/>
            <a:r>
              <a:rPr lang="en-US" altLang="zh-CN" sz="2400" b="1" dirty="0"/>
              <a:t>Faster Speeds</a:t>
            </a:r>
          </a:p>
          <a:p>
            <a:pPr algn="just"/>
            <a:r>
              <a:rPr lang="en-US" altLang="zh-CN" sz="2400" dirty="0"/>
              <a:t>     </a:t>
            </a:r>
            <a:r>
              <a:rPr lang="en-US" altLang="zh-CN" sz="2400" spc="20" dirty="0"/>
              <a:t>The word “</a:t>
            </a:r>
            <a:r>
              <a:rPr lang="en-US" altLang="zh-CN" sz="2400" spc="20" dirty="0" err="1"/>
              <a:t>Chunyun</a:t>
            </a:r>
            <a:r>
              <a:rPr lang="en-US" altLang="zh-CN" sz="2400" spc="20" dirty="0"/>
              <a:t>” first appeared in China in the 1980s when</a:t>
            </a:r>
            <a:r>
              <a:rPr lang="en-US" altLang="zh-CN" sz="2400" dirty="0"/>
              <a:t> an increasing number of rural laborers flocked into big cities to find </a:t>
            </a:r>
            <a:r>
              <a:rPr lang="en-US" altLang="zh-CN" sz="2400" spc="-20" dirty="0"/>
              <a:t>higher-paid jobs. They would return to their hometowns once a year</a:t>
            </a:r>
            <a:r>
              <a:rPr lang="en-US" altLang="zh-CN" sz="2400" dirty="0"/>
              <a:t> to celebrate the Lunar New Year with their families.</a:t>
            </a:r>
          </a:p>
          <a:p>
            <a:pPr algn="just"/>
            <a:r>
              <a:rPr lang="en-US" altLang="zh-CN" sz="2400" dirty="0"/>
              <a:t>     </a:t>
            </a:r>
            <a:r>
              <a:rPr lang="en-US" altLang="zh-CN" sz="2400" spc="-10" dirty="0"/>
              <a:t>Li </a:t>
            </a:r>
            <a:r>
              <a:rPr lang="en-US" altLang="zh-CN" sz="2400" spc="-10" dirty="0" err="1"/>
              <a:t>Tengfei</a:t>
            </a:r>
            <a:r>
              <a:rPr lang="en-US" altLang="zh-CN" sz="2400" spc="-10" dirty="0"/>
              <a:t>, a 25-year-old salesman working in the eastern Chinese</a:t>
            </a:r>
            <a:r>
              <a:rPr lang="en-US" altLang="zh-CN" sz="2400" dirty="0"/>
              <a:t> city of Suzhou, is among the millions of passengers returning home during the holiday.</a:t>
            </a:r>
          </a:p>
          <a:p>
            <a:pPr algn="just"/>
            <a:r>
              <a:rPr lang="en-US" altLang="zh-CN" sz="2400" dirty="0"/>
              <a:t>     </a:t>
            </a:r>
            <a:r>
              <a:rPr lang="en-US" altLang="zh-CN" sz="2400" spc="-10" dirty="0"/>
              <a:t>This year, Li’s journey back home took half the time thanks to the</a:t>
            </a:r>
            <a:r>
              <a:rPr lang="en-US" altLang="zh-CN" sz="2400" dirty="0"/>
              <a:t> operation of a high-speed railway line in his home city of </a:t>
            </a:r>
            <a:r>
              <a:rPr lang="en-US" altLang="zh-CN" sz="2400" dirty="0" err="1"/>
              <a:t>Fuyang</a:t>
            </a:r>
            <a:r>
              <a:rPr lang="en-US" altLang="zh-CN" sz="2400" dirty="0"/>
              <a:t> in eastern China’s Anhui Province.</a:t>
            </a:r>
          </a:p>
          <a:p>
            <a:pPr algn="just"/>
            <a:r>
              <a:rPr lang="en-US" altLang="zh-CN" sz="2400" dirty="0"/>
              <a:t>     </a:t>
            </a:r>
            <a:r>
              <a:rPr lang="en-US" altLang="zh-CN" sz="2400" spc="-50" dirty="0"/>
              <a:t>“There was only one slow train between Suzhou and my hometown</a:t>
            </a:r>
            <a:r>
              <a:rPr lang="en-US" altLang="zh-CN" sz="2400" dirty="0"/>
              <a:t> </a:t>
            </a:r>
            <a:r>
              <a:rPr lang="en-US" altLang="zh-CN" sz="2400" spc="20" dirty="0"/>
              <a:t>that would depart early in the morning. The over 10-hour journey</a:t>
            </a:r>
            <a:r>
              <a:rPr lang="en-US" altLang="zh-CN" sz="2400" dirty="0"/>
              <a:t> </a:t>
            </a:r>
            <a:r>
              <a:rPr lang="en-US" altLang="zh-CN" sz="2400" spc="40" dirty="0"/>
              <a:t>was a nightmare,” said Li, who traveled home with his fiancée by</a:t>
            </a:r>
            <a:r>
              <a:rPr lang="en-US" altLang="zh-CN" sz="2400" dirty="0"/>
              <a:t> bullet train this year.</a:t>
            </a:r>
            <a:endParaRPr lang="zh-CN" altLang="en-US" sz="2400" spc="-20" dirty="0">
              <a:solidFill>
                <a:srgbClr val="FF0000"/>
              </a:solidFill>
            </a:endParaRP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Picture 3" descr="C:\Users\senj\Desktop\按钮.pn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bright="-10000"/>
                    </a14:imgEffect>
                  </a14:imgLayer>
                </a14:imgProps>
              </a:ext>
            </a:extLst>
          </a:blip>
          <a:srcRect l="12911" t="21436" r="39626" b="60503"/>
          <a:stretch>
            <a:fillRect/>
          </a:stretch>
        </p:blipFill>
        <p:spPr bwMode="auto">
          <a:xfrm>
            <a:off x="8366400" y="6429396"/>
            <a:ext cx="259557" cy="254794"/>
          </a:xfrm>
          <a:prstGeom prst="rect">
            <a:avLst/>
          </a:prstGeom>
          <a:noFill/>
        </p:spPr>
      </p:pic>
      <p:pic>
        <p:nvPicPr>
          <p:cNvPr id="9" name="Picture 3" descr="C:\Users\senj\Desktop\按钮.png">
            <a:hlinkClick r:id="" action="ppaction://hlinkshowjump?jump=nextslide"/>
          </p:cNvPr>
          <p:cNvPicPr>
            <a:picLocks noChangeAspect="1" noChangeArrowheads="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Tree>
    <p:extLst>
      <p:ext uri="{BB962C8B-B14F-4D97-AF65-F5344CB8AC3E}">
        <p14:creationId xmlns:p14="http://schemas.microsoft.com/office/powerpoint/2010/main" val="15579522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3046988"/>
          </a:xfrm>
          <a:prstGeom prst="rect">
            <a:avLst/>
          </a:prstGeom>
          <a:noFill/>
        </p:spPr>
        <p:txBody>
          <a:bodyPr wrap="square" rtlCol="0">
            <a:spAutoFit/>
          </a:bodyPr>
          <a:lstStyle/>
          <a:p>
            <a:pPr algn="just"/>
            <a:r>
              <a:rPr lang="en-US" altLang="zh-CN" sz="2400" dirty="0"/>
              <a:t>     </a:t>
            </a:r>
            <a:r>
              <a:rPr lang="en-US" altLang="zh-CN" sz="2400" spc="60" dirty="0"/>
              <a:t>As a major labor export city, </a:t>
            </a:r>
            <a:r>
              <a:rPr lang="en-US" altLang="zh-CN" sz="2400" spc="60" dirty="0" err="1"/>
              <a:t>Fuyang</a:t>
            </a:r>
            <a:r>
              <a:rPr lang="en-US" altLang="zh-CN" sz="2400" spc="60" dirty="0"/>
              <a:t> has a total population of</a:t>
            </a:r>
            <a:r>
              <a:rPr lang="en-US" altLang="zh-CN" sz="2400" dirty="0"/>
              <a:t> </a:t>
            </a:r>
            <a:r>
              <a:rPr lang="en-US" altLang="zh-CN" sz="2400" spc="20" dirty="0"/>
              <a:t>about 10.7 million, exporting about 3.5 million migrant workers to</a:t>
            </a:r>
            <a:r>
              <a:rPr lang="en-US" altLang="zh-CN" sz="2400" dirty="0"/>
              <a:t> </a:t>
            </a:r>
            <a:r>
              <a:rPr lang="en-US" altLang="zh-CN" sz="2400" spc="20" dirty="0"/>
              <a:t>the Yangtze River Delta, the Pearl River Delta and other developed</a:t>
            </a:r>
            <a:r>
              <a:rPr lang="en-US" altLang="zh-CN" sz="2400" dirty="0"/>
              <a:t> regions in China.</a:t>
            </a:r>
          </a:p>
          <a:p>
            <a:pPr algn="just"/>
            <a:r>
              <a:rPr lang="en-US" altLang="zh-CN" sz="2400" dirty="0"/>
              <a:t>     </a:t>
            </a:r>
            <a:r>
              <a:rPr lang="en-US" altLang="zh-CN" sz="2400" spc="40" dirty="0"/>
              <a:t>In December 2019, the city was included in the country’s high</a:t>
            </a:r>
            <a:r>
              <a:rPr lang="en-US" altLang="zh-CN" sz="2400" dirty="0"/>
              <a:t>-</a:t>
            </a:r>
            <a:r>
              <a:rPr lang="en-US" altLang="zh-CN" sz="2400" spc="50" dirty="0"/>
              <a:t>speed railway network, witnessing the historic moment of all 16</a:t>
            </a:r>
            <a:r>
              <a:rPr lang="en-US" altLang="zh-CN" sz="2400" dirty="0"/>
              <a:t> </a:t>
            </a:r>
            <a:r>
              <a:rPr lang="en-US" altLang="zh-CN" sz="2400" spc="-10" dirty="0"/>
              <a:t>prefecture-level cities in the province entering the era of high-speed</a:t>
            </a:r>
            <a:r>
              <a:rPr lang="en-US" altLang="zh-CN" sz="2400" dirty="0"/>
              <a:t> trains.</a:t>
            </a:r>
            <a:endParaRPr lang="zh-CN" altLang="en-US" sz="2400" spc="-20" dirty="0">
              <a:solidFill>
                <a:srgbClr val="FF0000"/>
              </a:solidFill>
            </a:endParaRPr>
          </a:p>
        </p:txBody>
      </p:sp>
      <p:pic>
        <p:nvPicPr>
          <p:cNvPr id="4" name="Picture 3" descr="C:\Users\senj\Desktop\按钮.png"/>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10000"/>
                    </a14:imgEffect>
                  </a14:imgLayer>
                </a14:imgProps>
              </a:ext>
            </a:extLst>
          </a:blip>
          <a:srcRect l="12911" t="21436" r="39626" b="60503"/>
          <a:stretch>
            <a:fillRect/>
          </a:stretch>
        </p:blipFill>
        <p:spPr bwMode="auto">
          <a:xfrm rot="10800000">
            <a:off x="8721754" y="6429396"/>
            <a:ext cx="259557" cy="254794"/>
          </a:xfrm>
          <a:prstGeom prst="rect">
            <a:avLst/>
          </a:prstGeom>
          <a:noFill/>
        </p:spPr>
      </p:pic>
      <p:pic>
        <p:nvPicPr>
          <p:cNvPr id="5" name="Picture 3" descr="C:\Users\senj\Desktop\按钮.png">
            <a:hlinkClick r:id="rId4" action="ppaction://hlinksldjump"/>
          </p:cNvPr>
          <p:cNvPicPr>
            <a:picLocks noChangeAspect="1" noChangeArrowheads="1"/>
          </p:cNvPicPr>
          <p:nvPr/>
        </p:nvPicPr>
        <p:blipFill>
          <a:blip r:embed="rId5"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8" name="虚尾箭头 7">
            <a:hlinkClick r:id="rId6"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131698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5632311"/>
          </a:xfrm>
          <a:prstGeom prst="rect">
            <a:avLst/>
          </a:prstGeom>
          <a:noFill/>
        </p:spPr>
        <p:txBody>
          <a:bodyPr wrap="square" rtlCol="0">
            <a:spAutoFit/>
          </a:bodyPr>
          <a:lstStyle/>
          <a:p>
            <a:pPr algn="just"/>
            <a:r>
              <a:rPr lang="en-US" altLang="zh-CN" sz="2400" dirty="0"/>
              <a:t>     </a:t>
            </a:r>
            <a:r>
              <a:rPr lang="en-US" altLang="zh-CN" sz="2400" spc="-20" dirty="0"/>
              <a:t>China’s national identity reaches back many thousands of years —</a:t>
            </a:r>
            <a:r>
              <a:rPr lang="en-US" altLang="zh-CN" sz="2400" dirty="0"/>
              <a:t> </a:t>
            </a:r>
            <a:r>
              <a:rPr lang="en-US" altLang="zh-CN" sz="2400" spc="30" dirty="0"/>
              <a:t>and in that national identity, the name cannot be undervalued. In</a:t>
            </a:r>
            <a:r>
              <a:rPr lang="en-US" altLang="zh-CN" sz="2400" dirty="0"/>
              <a:t> the West, China is of course called “China”, but in its own language it’s known as “</a:t>
            </a:r>
            <a:r>
              <a:rPr lang="en-US" altLang="zh-CN" sz="2400" dirty="0" err="1"/>
              <a:t>Zhongguo</a:t>
            </a:r>
            <a:r>
              <a:rPr lang="en-US" altLang="zh-CN" sz="2400" dirty="0"/>
              <a:t>”, translating roughly to “Middle Kingdom”.</a:t>
            </a:r>
          </a:p>
          <a:p>
            <a:pPr algn="just"/>
            <a:r>
              <a:rPr lang="en-US" altLang="zh-CN" sz="2400" dirty="0"/>
              <a:t>     The first known recording of the term “</a:t>
            </a:r>
            <a:r>
              <a:rPr lang="en-US" altLang="zh-CN" sz="2400" dirty="0" err="1"/>
              <a:t>Zhongguo</a:t>
            </a:r>
            <a:r>
              <a:rPr lang="en-US" altLang="zh-CN" sz="2400" dirty="0"/>
              <a:t>” comes from a ritual vessel dating around 1000 B.C. called the He </a:t>
            </a:r>
            <a:r>
              <a:rPr lang="en-US" altLang="zh-CN" sz="2400" dirty="0" err="1"/>
              <a:t>Zun</a:t>
            </a:r>
            <a:r>
              <a:rPr lang="en-US" altLang="zh-CN" sz="2400" dirty="0"/>
              <a:t>. Though the </a:t>
            </a:r>
            <a:r>
              <a:rPr lang="en-US" altLang="zh-CN" sz="2400" spc="30" dirty="0"/>
              <a:t>country had not yet been unified (that wouldn’t happen until 221</a:t>
            </a:r>
            <a:r>
              <a:rPr lang="en-US" altLang="zh-CN" sz="2400" dirty="0"/>
              <a:t> </a:t>
            </a:r>
            <a:r>
              <a:rPr lang="en-US" altLang="zh-CN" sz="2400" spc="-20" dirty="0"/>
              <a:t>B.C.), “</a:t>
            </a:r>
            <a:r>
              <a:rPr lang="en-US" altLang="zh-CN" sz="2400" spc="-20" dirty="0" err="1"/>
              <a:t>Zhongguo</a:t>
            </a:r>
            <a:r>
              <a:rPr lang="en-US" altLang="zh-CN" sz="2400" spc="-20" dirty="0"/>
              <a:t>” was used to refer to the central Yellow River valley</a:t>
            </a:r>
            <a:r>
              <a:rPr lang="en-US" altLang="zh-CN" sz="2400" dirty="0"/>
              <a:t>, around which the ruling Western Zhou dynasty was centered.</a:t>
            </a:r>
          </a:p>
          <a:p>
            <a:pPr algn="just"/>
            <a:r>
              <a:rPr lang="en-US" altLang="zh-CN" sz="2400" dirty="0"/>
              <a:t>     Every few hundred years, give or take, China changed hands, and </a:t>
            </a:r>
            <a:r>
              <a:rPr lang="en-US" altLang="zh-CN" sz="2400" spc="-30" dirty="0"/>
              <a:t>with the changing of the dynasties came each time a change in name</a:t>
            </a:r>
            <a:r>
              <a:rPr lang="en-US" altLang="zh-CN" sz="2400" dirty="0"/>
              <a:t>. </a:t>
            </a:r>
            <a:r>
              <a:rPr lang="en-US" altLang="zh-CN" sz="2400" spc="-10" dirty="0"/>
              <a:t>Under the Ming, China was the “Great Ming”; under the Qing, China</a:t>
            </a:r>
            <a:r>
              <a:rPr lang="en-US" altLang="zh-CN" sz="2400" dirty="0"/>
              <a:t> </a:t>
            </a:r>
            <a:r>
              <a:rPr lang="en-US" altLang="zh-CN" sz="2400" spc="30" dirty="0"/>
              <a:t>was the “Great Qing”, and so on. Yet on unofficial documents, the</a:t>
            </a:r>
            <a:r>
              <a:rPr lang="en-US" altLang="zh-CN" sz="2400" dirty="0"/>
              <a:t> name “</a:t>
            </a:r>
            <a:r>
              <a:rPr lang="en-US" altLang="zh-CN" sz="2400" dirty="0" err="1"/>
              <a:t>Zhongguo</a:t>
            </a:r>
            <a:r>
              <a:rPr lang="en-US" altLang="zh-CN" sz="2400" dirty="0"/>
              <a:t>” lived on.</a:t>
            </a:r>
          </a:p>
          <a:p>
            <a:pPr algn="just"/>
            <a:r>
              <a:rPr lang="en-US" altLang="zh-CN" sz="2400" dirty="0"/>
              <a:t>     </a:t>
            </a:r>
            <a:r>
              <a:rPr lang="en-US" altLang="zh-CN" sz="2400" spc="20" dirty="0"/>
              <a:t>So where does the name “China” come from then? That is a bit</a:t>
            </a:r>
            <a:r>
              <a:rPr lang="en-US" altLang="zh-CN" sz="2400" dirty="0"/>
              <a:t> </a:t>
            </a:r>
            <a:endParaRPr lang="zh-CN" altLang="en-US" sz="2400" spc="-20" dirty="0">
              <a:solidFill>
                <a:srgbClr val="FF0000"/>
              </a:solidFill>
            </a:endParaRPr>
          </a:p>
        </p:txBody>
      </p:sp>
      <p:pic>
        <p:nvPicPr>
          <p:cNvPr id="8" name="Picture 3" descr="C:\Users\senj\Desktop\按钮.png"/>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10000"/>
                    </a14:imgEffect>
                  </a14:imgLayer>
                </a14:imgProps>
              </a:ext>
            </a:extLst>
          </a:blip>
          <a:srcRect l="12911" t="21436" r="39626" b="60503"/>
          <a:stretch>
            <a:fillRect/>
          </a:stretch>
        </p:blipFill>
        <p:spPr bwMode="auto">
          <a:xfrm>
            <a:off x="8366400" y="6429396"/>
            <a:ext cx="259557" cy="254794"/>
          </a:xfrm>
          <a:prstGeom prst="rect">
            <a:avLst/>
          </a:prstGeom>
          <a:noFill/>
        </p:spPr>
      </p:pic>
      <p:pic>
        <p:nvPicPr>
          <p:cNvPr id="9" name="Picture 3" descr="C:\Users\senj\Desktop\按钮.png">
            <a:hlinkClick r:id="" action="ppaction://hlinkshowjump?jump=next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rot="10800000">
            <a:off x="8722800" y="6438934"/>
            <a:ext cx="254793" cy="245255"/>
          </a:xfrm>
          <a:prstGeom prst="rect">
            <a:avLst/>
          </a:prstGeom>
          <a:noFill/>
        </p:spPr>
      </p:pic>
      <p:sp>
        <p:nvSpPr>
          <p:cNvPr id="10" name="虚尾箭头 9">
            <a:hlinkClick r:id="rId5"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2948726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4154984"/>
          </a:xfrm>
          <a:prstGeom prst="rect">
            <a:avLst/>
          </a:prstGeom>
          <a:noFill/>
        </p:spPr>
        <p:txBody>
          <a:bodyPr wrap="square" rtlCol="0">
            <a:spAutoFit/>
          </a:bodyPr>
          <a:lstStyle/>
          <a:p>
            <a:pPr algn="just"/>
            <a:r>
              <a:rPr lang="en-US" altLang="zh-CN" sz="2400" spc="-30" dirty="0"/>
              <a:t>more difficult to answer. Scholars disagree on the name’s exact origin</a:t>
            </a:r>
            <a:r>
              <a:rPr lang="en-US" altLang="zh-CN" sz="2400" dirty="0"/>
              <a:t>. </a:t>
            </a:r>
            <a:r>
              <a:rPr lang="en-US" altLang="zh-CN" sz="2400" spc="30" dirty="0"/>
              <a:t>Some argue that it comes from a Roman pronunciation of China’s</a:t>
            </a:r>
            <a:r>
              <a:rPr lang="en-US" altLang="zh-CN" sz="2400" dirty="0"/>
              <a:t> </a:t>
            </a:r>
            <a:r>
              <a:rPr lang="en-US" altLang="zh-CN" sz="2400" spc="20" dirty="0"/>
              <a:t>unifying dynasty, the Qin (pronounced “</a:t>
            </a:r>
            <a:r>
              <a:rPr lang="en-US" altLang="zh-CN" sz="2400" spc="20" dirty="0" err="1"/>
              <a:t>cheen</a:t>
            </a:r>
            <a:r>
              <a:rPr lang="en-US" altLang="zh-CN" sz="2400" spc="20" dirty="0"/>
              <a:t>”). Others say that it</a:t>
            </a:r>
            <a:r>
              <a:rPr lang="en-US" altLang="zh-CN" sz="2400" dirty="0"/>
              <a:t> </a:t>
            </a:r>
            <a:r>
              <a:rPr lang="en-US" altLang="zh-CN" sz="2400" spc="20" dirty="0"/>
              <a:t>is from the Persian word “</a:t>
            </a:r>
            <a:r>
              <a:rPr lang="en-US" altLang="zh-CN" sz="2400" i="1" spc="20" dirty="0" err="1"/>
              <a:t>cin</a:t>
            </a:r>
            <a:r>
              <a:rPr lang="en-US" altLang="zh-CN" sz="2400" spc="20" dirty="0"/>
              <a:t>” and was spread throughout Europe</a:t>
            </a:r>
            <a:r>
              <a:rPr lang="en-US" altLang="zh-CN" sz="2400" dirty="0"/>
              <a:t> by the world traveler Marco Polo.</a:t>
            </a:r>
          </a:p>
          <a:p>
            <a:pPr algn="just"/>
            <a:r>
              <a:rPr lang="en-US" altLang="zh-CN" sz="2400" dirty="0"/>
              <a:t>     </a:t>
            </a:r>
            <a:r>
              <a:rPr lang="en-US" altLang="zh-CN" sz="2400" spc="-20" dirty="0"/>
              <a:t>Either way, it is clear that the name was already in use by the 16th</a:t>
            </a:r>
            <a:r>
              <a:rPr lang="en-US" altLang="zh-CN" sz="2400" dirty="0"/>
              <a:t> century and was fully popularized by the mid-19th century.</a:t>
            </a:r>
          </a:p>
          <a:p>
            <a:pPr algn="just"/>
            <a:r>
              <a:rPr lang="en-US" altLang="zh-CN" sz="2400" dirty="0"/>
              <a:t>     Whether the country is referred to as “</a:t>
            </a:r>
            <a:r>
              <a:rPr lang="en-US" altLang="zh-CN" sz="2400" dirty="0" err="1"/>
              <a:t>Zhongguo</a:t>
            </a:r>
            <a:r>
              <a:rPr lang="en-US" altLang="zh-CN" sz="2400" dirty="0"/>
              <a:t>”, or “China”, its </a:t>
            </a:r>
            <a:r>
              <a:rPr lang="en-US" altLang="zh-CN" sz="2400" spc="70" dirty="0"/>
              <a:t>name has been a key part of its identity for thousands of years</a:t>
            </a:r>
            <a:r>
              <a:rPr lang="en-US" altLang="zh-CN" sz="2400" dirty="0"/>
              <a:t>, grouping people together under one common term long before the concept of nation was born.</a:t>
            </a:r>
            <a:endParaRPr lang="zh-CN" altLang="en-US" sz="2400" spc="-20" dirty="0">
              <a:solidFill>
                <a:srgbClr val="FF0000"/>
              </a:solidFill>
            </a:endParaRPr>
          </a:p>
        </p:txBody>
      </p:sp>
      <p:pic>
        <p:nvPicPr>
          <p:cNvPr id="4" name="Picture 3" descr="C:\Users\senj\Desktop\按钮.png"/>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10000"/>
                    </a14:imgEffect>
                  </a14:imgLayer>
                </a14:imgProps>
              </a:ext>
            </a:extLst>
          </a:blip>
          <a:srcRect l="12911" t="21436" r="39626" b="60503"/>
          <a:stretch>
            <a:fillRect/>
          </a:stretch>
        </p:blipFill>
        <p:spPr bwMode="auto">
          <a:xfrm rot="10800000">
            <a:off x="8721754" y="6429396"/>
            <a:ext cx="259557" cy="254794"/>
          </a:xfrm>
          <a:prstGeom prst="rect">
            <a:avLst/>
          </a:prstGeom>
          <a:noFill/>
        </p:spPr>
      </p:pic>
      <p:pic>
        <p:nvPicPr>
          <p:cNvPr id="5" name="Picture 3" descr="C:\Users\senj\Desktop\按钮.png">
            <a:hlinkClick r:id="" action="ppaction://hlinkshowjump?jump=previousslide"/>
          </p:cNvPr>
          <p:cNvPicPr>
            <a:picLocks noChangeAspect="1" noChangeArrowheads="1"/>
          </p:cNvPicPr>
          <p:nvPr/>
        </p:nvPicPr>
        <p:blipFill>
          <a:blip r:embed="rId4" cstate="print">
            <a:duotone>
              <a:schemeClr val="bg2">
                <a:shade val="45000"/>
                <a:satMod val="135000"/>
              </a:schemeClr>
              <a:prstClr val="white"/>
            </a:duotone>
            <a:extLst>
              <a:ext uri="{BEBA8EAE-BF5A-486C-A8C5-ECC9F3942E4B}">
                <a14:imgProps xmlns:a14="http://schemas.microsoft.com/office/drawing/2010/main">
                  <a14:imgLayer r:embed="rId3">
                    <a14:imgEffect>
                      <a14:brightnessContrast bright="40000" contrast="40000"/>
                    </a14:imgEffect>
                  </a14:imgLayer>
                </a14:imgProps>
              </a:ext>
            </a:extLst>
          </a:blip>
          <a:srcRect l="15088" r="38320" b="82614"/>
          <a:stretch>
            <a:fillRect/>
          </a:stretch>
        </p:blipFill>
        <p:spPr bwMode="auto">
          <a:xfrm>
            <a:off x="8364564" y="6438936"/>
            <a:ext cx="254793" cy="245255"/>
          </a:xfrm>
          <a:prstGeom prst="rect">
            <a:avLst/>
          </a:prstGeom>
          <a:noFill/>
        </p:spPr>
      </p:pic>
      <p:sp>
        <p:nvSpPr>
          <p:cNvPr id="8" name="虚尾箭头 7">
            <a:hlinkClick r:id="rId5"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099127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2308324"/>
          </a:xfrm>
          <a:prstGeom prst="rect">
            <a:avLst/>
          </a:prstGeom>
          <a:noFill/>
        </p:spPr>
        <p:txBody>
          <a:bodyPr wrap="square" rtlCol="0">
            <a:spAutoFit/>
          </a:bodyPr>
          <a:lstStyle/>
          <a:p>
            <a:pPr algn="just"/>
            <a:r>
              <a:rPr lang="en-US" altLang="zh-CN" sz="2400" b="1" dirty="0"/>
              <a:t>About the Author</a:t>
            </a:r>
          </a:p>
          <a:p>
            <a:pPr algn="just"/>
            <a:r>
              <a:rPr lang="en-US" altLang="zh-CN" sz="2400" dirty="0"/>
              <a:t>Leila Hashem is an online tourism writer.</a:t>
            </a:r>
          </a:p>
          <a:p>
            <a:pPr algn="just"/>
            <a:endParaRPr lang="en-US" altLang="zh-CN" sz="2400" dirty="0"/>
          </a:p>
          <a:p>
            <a:pPr algn="just"/>
            <a:r>
              <a:rPr lang="en-US" altLang="zh-CN" sz="2400" b="1" dirty="0"/>
              <a:t>About the Article</a:t>
            </a:r>
          </a:p>
          <a:p>
            <a:pPr algn="just"/>
            <a:r>
              <a:rPr lang="en-US" altLang="zh-CN" sz="2400" dirty="0"/>
              <a:t>This article is adapted from an online article on a website providing tourism information for foreign visitors to China.</a:t>
            </a:r>
            <a:endParaRPr lang="zh-CN" altLang="en-US" sz="2400" spc="-20" dirty="0">
              <a:solidFill>
                <a:srgbClr val="FF0000"/>
              </a:solidFill>
            </a:endParaRPr>
          </a:p>
        </p:txBody>
      </p:sp>
      <p:sp>
        <p:nvSpPr>
          <p:cNvPr id="4" name="虚尾箭头 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3433845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4154984"/>
          </a:xfrm>
          <a:prstGeom prst="rect">
            <a:avLst/>
          </a:prstGeom>
          <a:noFill/>
        </p:spPr>
        <p:txBody>
          <a:bodyPr wrap="square" rtlCol="0">
            <a:spAutoFit/>
          </a:bodyPr>
          <a:lstStyle/>
          <a:p>
            <a:pPr algn="just"/>
            <a:r>
              <a:rPr lang="en-US" altLang="zh-CN" sz="2400" b="1" dirty="0"/>
              <a:t>About the Author</a:t>
            </a:r>
          </a:p>
          <a:p>
            <a:pPr algn="just"/>
            <a:r>
              <a:rPr lang="en-US" altLang="zh-CN" sz="2400" spc="10" dirty="0"/>
              <a:t>A freelance writer and former part-time Professor of Philosophy at</a:t>
            </a:r>
            <a:r>
              <a:rPr lang="en-US" altLang="zh-CN" sz="2400" dirty="0"/>
              <a:t> </a:t>
            </a:r>
            <a:r>
              <a:rPr lang="en-US" altLang="zh-CN" sz="2400" spc="40" dirty="0"/>
              <a:t>Marist College, New York, Joshua J. Mark has lived in Greece and</a:t>
            </a:r>
            <a:r>
              <a:rPr lang="en-US" altLang="zh-CN" sz="2400" dirty="0"/>
              <a:t> Germany and traveled through Egypt. He has taught history, writing,</a:t>
            </a:r>
          </a:p>
          <a:p>
            <a:pPr algn="just"/>
            <a:r>
              <a:rPr lang="en-US" altLang="zh-CN" sz="2400" spc="-40" dirty="0"/>
              <a:t>literature, and philosophy at the college level. He is co-founder, editor</a:t>
            </a:r>
            <a:r>
              <a:rPr lang="en-US" altLang="zh-CN" sz="2400" dirty="0"/>
              <a:t>, and a director of </a:t>
            </a:r>
            <a:r>
              <a:rPr lang="en-US" altLang="zh-CN" sz="2400" i="1" dirty="0"/>
              <a:t>Ancient History Encyclopedia</a:t>
            </a:r>
            <a:r>
              <a:rPr lang="en-US" altLang="zh-CN" sz="2400" dirty="0"/>
              <a:t>.</a:t>
            </a:r>
          </a:p>
          <a:p>
            <a:pPr algn="just"/>
            <a:endParaRPr lang="en-US" altLang="zh-CN" sz="2400" dirty="0"/>
          </a:p>
          <a:p>
            <a:pPr algn="just"/>
            <a:r>
              <a:rPr lang="en-US" altLang="zh-CN" sz="2400" b="1" dirty="0"/>
              <a:t>About the Article</a:t>
            </a:r>
          </a:p>
          <a:p>
            <a:pPr algn="just"/>
            <a:r>
              <a:rPr lang="en-US" altLang="zh-CN" sz="2400" spc="40" dirty="0"/>
              <a:t>This article is an excerpt of “Ancient China” from a website about</a:t>
            </a:r>
            <a:r>
              <a:rPr lang="en-US" altLang="zh-CN" sz="2400" dirty="0"/>
              <a:t> </a:t>
            </a:r>
            <a:r>
              <a:rPr lang="en-US" altLang="zh-CN" sz="2400" spc="-50" dirty="0"/>
              <a:t>historical research. It was published by Joshua J. Mark on 18 December</a:t>
            </a:r>
            <a:r>
              <a:rPr lang="en-US" altLang="zh-CN" sz="2400" dirty="0"/>
              <a:t> 2012.</a:t>
            </a:r>
            <a:endParaRPr lang="zh-CN" altLang="en-US" sz="2400" spc="-20" dirty="0">
              <a:solidFill>
                <a:srgbClr val="FF0000"/>
              </a:solidFill>
            </a:endParaRPr>
          </a:p>
        </p:txBody>
      </p:sp>
      <p:sp>
        <p:nvSpPr>
          <p:cNvPr id="8" name="虚尾箭头 7">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110383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文本框 6"/>
          <p:cNvSpPr txBox="1"/>
          <p:nvPr/>
        </p:nvSpPr>
        <p:spPr>
          <a:xfrm>
            <a:off x="360000" y="764815"/>
            <a:ext cx="8532300" cy="3046988"/>
          </a:xfrm>
          <a:prstGeom prst="rect">
            <a:avLst/>
          </a:prstGeom>
          <a:noFill/>
        </p:spPr>
        <p:txBody>
          <a:bodyPr wrap="square" rtlCol="0">
            <a:spAutoFit/>
          </a:bodyPr>
          <a:lstStyle/>
          <a:p>
            <a:pPr algn="just"/>
            <a:r>
              <a:rPr lang="en-US" altLang="zh-CN" sz="2400" b="1" dirty="0"/>
              <a:t>About the Author</a:t>
            </a:r>
          </a:p>
          <a:p>
            <a:pPr algn="just"/>
            <a:r>
              <a:rPr lang="en-US" altLang="zh-CN" sz="2400" spc="-10" dirty="0"/>
              <a:t>Mike Dowling teaches Social Studies at Emerald Cove Middle School</a:t>
            </a:r>
            <a:r>
              <a:rPr lang="en-US" altLang="zh-CN" sz="2400" dirty="0"/>
              <a:t> in Wellington, Florida, USA.</a:t>
            </a:r>
          </a:p>
          <a:p>
            <a:pPr algn="just"/>
            <a:endParaRPr lang="en-US" altLang="zh-CN" sz="2400" dirty="0"/>
          </a:p>
          <a:p>
            <a:pPr algn="just"/>
            <a:r>
              <a:rPr lang="en-US" altLang="zh-CN" sz="2400" b="1" dirty="0"/>
              <a:t>About the Article</a:t>
            </a:r>
          </a:p>
          <a:p>
            <a:pPr algn="just"/>
            <a:r>
              <a:rPr lang="en-US" altLang="zh-CN" sz="2400" dirty="0"/>
              <a:t>This article is adapted from Mike Dowling’s website, which provides </a:t>
            </a:r>
            <a:r>
              <a:rPr lang="en-US" altLang="zh-CN" sz="2400" spc="-20" dirty="0"/>
              <a:t>free teaching resources mainly about history and other social studies</a:t>
            </a:r>
            <a:r>
              <a:rPr lang="en-US" altLang="zh-CN" sz="2400" dirty="0"/>
              <a:t> subjects.</a:t>
            </a:r>
            <a:endParaRPr lang="zh-CN" altLang="en-US" sz="2400" spc="-20" dirty="0">
              <a:solidFill>
                <a:srgbClr val="FF0000"/>
              </a:solidFill>
            </a:endParaRPr>
          </a:p>
        </p:txBody>
      </p:sp>
      <p:sp>
        <p:nvSpPr>
          <p:cNvPr id="8" name="虚尾箭头 7">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696240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831703" cy="461665"/>
          </a:xfrm>
          <a:prstGeom prst="rect">
            <a:avLst/>
          </a:prstGeom>
          <a:noFill/>
          <a:ln w="9525">
            <a:noFill/>
            <a:miter lim="800000"/>
            <a:headEnd/>
            <a:tailEnd/>
          </a:ln>
        </p:spPr>
        <p:txBody>
          <a:bodyPr wrap="none">
            <a:spAutoFit/>
          </a:bodyPr>
          <a:lstStyle/>
          <a:p>
            <a:r>
              <a:rPr lang="en-US" altLang="zh-CN" sz="2400" b="1" dirty="0">
                <a:solidFill>
                  <a:srgbClr val="C6383E"/>
                </a:solidFill>
              </a:rPr>
              <a:t>strap</a:t>
            </a:r>
          </a:p>
        </p:txBody>
      </p:sp>
      <p:pic>
        <p:nvPicPr>
          <p:cNvPr id="8" name="图片 7" descr="EG.png"/>
          <p:cNvPicPr>
            <a:picLocks noChangeAspect="1"/>
          </p:cNvPicPr>
          <p:nvPr/>
        </p:nvPicPr>
        <p:blipFill>
          <a:blip r:embed="rId4"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9" name="矩形 8"/>
          <p:cNvSpPr/>
          <p:nvPr/>
        </p:nvSpPr>
        <p:spPr>
          <a:xfrm>
            <a:off x="1132704" y="2246440"/>
            <a:ext cx="7199312" cy="461665"/>
          </a:xfrm>
          <a:prstGeom prst="rect">
            <a:avLst/>
          </a:prstGeom>
        </p:spPr>
        <p:txBody>
          <a:bodyPr wrap="square">
            <a:spAutoFit/>
          </a:bodyPr>
          <a:lstStyle/>
          <a:p>
            <a:pPr algn="just"/>
            <a:r>
              <a:rPr lang="en-US" altLang="zh-CN" sz="2400" dirty="0"/>
              <a:t>All the goods have been </a:t>
            </a:r>
            <a:r>
              <a:rPr lang="en-US" altLang="zh-CN" sz="2400" dirty="0">
                <a:solidFill>
                  <a:srgbClr val="C00000"/>
                </a:solidFill>
              </a:rPr>
              <a:t>strapped</a:t>
            </a:r>
            <a:r>
              <a:rPr lang="en-US" altLang="zh-CN" sz="2400" dirty="0"/>
              <a:t> up on the truck.</a:t>
            </a:r>
            <a:endParaRPr lang="zh-CN" altLang="en-US" sz="2400" dirty="0"/>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spc="-10" dirty="0"/>
              <a:t>to fasten; to tie up</a:t>
            </a:r>
            <a:r>
              <a:rPr lang="zh-CN" altLang="en-US" sz="2400" spc="-10" dirty="0"/>
              <a:t>（用带子）捆扎</a:t>
            </a:r>
            <a:endParaRPr lang="zh-CN" altLang="en-US" sz="2400" dirty="0"/>
          </a:p>
        </p:txBody>
      </p:sp>
      <p:pic>
        <p:nvPicPr>
          <p:cNvPr id="15" name="播放" descr="未命名-3SSD.png"/>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colorTemperature colorTemp="11200"/>
                    </a14:imgEffect>
                  </a14:imgLayer>
                </a14:imgProps>
              </a:ext>
            </a:extLst>
          </a:blip>
          <a:stretch>
            <a:fillRect/>
          </a:stretch>
        </p:blipFill>
        <p:spPr>
          <a:xfrm>
            <a:off x="794411" y="739077"/>
            <a:ext cx="252000" cy="249261"/>
          </a:xfrm>
          <a:prstGeom prst="rect">
            <a:avLst/>
          </a:prstGeom>
        </p:spPr>
      </p:pic>
      <p:pic>
        <p:nvPicPr>
          <p:cNvPr id="16"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18" name="矩形 17">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所有的货物都捆扎在卡车上了。</a:t>
            </a:r>
          </a:p>
        </p:txBody>
      </p:sp>
      <p:sp>
        <p:nvSpPr>
          <p:cNvPr id="20" name="虚尾箭头 19">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strap">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0380" y="547376"/>
            <a:ext cx="609600" cy="609600"/>
          </a:xfrm>
          <a:prstGeom prst="rect">
            <a:avLst/>
          </a:prstGeom>
        </p:spPr>
      </p:pic>
    </p:spTree>
    <p:extLst>
      <p:ext uri="{BB962C8B-B14F-4D97-AF65-F5344CB8AC3E}">
        <p14:creationId xmlns:p14="http://schemas.microsoft.com/office/powerpoint/2010/main" val="18267849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childTnLst>
              </p:cTn>
              <p:nextCondLst>
                <p:cond evt="onClick" delay="0">
                  <p:tgtEl>
                    <p:spTgt spid="8"/>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childTnLst>
              </p:cTn>
              <p:nextCondLst>
                <p:cond evt="onClick" delay="0">
                  <p:tgtEl>
                    <p:spTgt spid="16"/>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959" fill="hold"/>
                                        <p:tgtEl>
                                          <p:spTgt spid="2"/>
                                        </p:tgtEl>
                                      </p:cBhvr>
                                    </p:cmd>
                                  </p:childTnLst>
                                </p:cTn>
                              </p:par>
                            </p:childTnLst>
                          </p:cTn>
                        </p:par>
                      </p:childTnLst>
                    </p:cTn>
                  </p:par>
                </p:childTnLst>
              </p:cTn>
              <p:nextCondLst>
                <p:cond evt="onClick" delay="0">
                  <p:tgtEl>
                    <p:spTgt spid="15"/>
                  </p:tgtEl>
                </p:cond>
              </p:nextCondLst>
            </p:seq>
          </p:childTnLst>
        </p:cTn>
      </p:par>
    </p:tnLst>
    <p:bldLst>
      <p:bldP spid="9" grpId="0"/>
      <p:bldP spid="18" grpId="0"/>
    </p:bld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921984" cy="461665"/>
          </a:xfrm>
          <a:prstGeom prst="rect">
            <a:avLst/>
          </a:prstGeom>
          <a:noFill/>
          <a:ln w="9525">
            <a:noFill/>
            <a:miter lim="800000"/>
            <a:headEnd/>
            <a:tailEnd/>
          </a:ln>
        </p:spPr>
        <p:txBody>
          <a:bodyPr wrap="none">
            <a:spAutoFit/>
          </a:bodyPr>
          <a:lstStyle/>
          <a:p>
            <a:r>
              <a:rPr lang="en-US" altLang="zh-CN" sz="2400" b="1" dirty="0">
                <a:solidFill>
                  <a:srgbClr val="C6383E"/>
                </a:solidFill>
              </a:rPr>
              <a:t>wispy</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thin; weak </a:t>
            </a:r>
            <a:r>
              <a:rPr lang="zh-CN" altLang="en-US" sz="2400" dirty="0"/>
              <a:t>稀疏的；模糊的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The sky was blue with a few </a:t>
            </a:r>
            <a:r>
              <a:rPr lang="en-US" altLang="zh-CN" sz="2400" dirty="0">
                <a:solidFill>
                  <a:srgbClr val="C00000"/>
                </a:solidFill>
              </a:rPr>
              <a:t>wispy</a:t>
            </a:r>
            <a:r>
              <a:rPr lang="en-US" altLang="zh-CN" sz="2400" dirty="0"/>
              <a:t> clouds.</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蓝蓝的天空中飘着几缕白云。</a:t>
            </a:r>
          </a:p>
        </p:txBody>
      </p:sp>
      <p:sp>
        <p:nvSpPr>
          <p:cNvPr id="24" name="虚尾箭头 23">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wispy">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47376"/>
            <a:ext cx="609600" cy="609600"/>
          </a:xfrm>
          <a:prstGeom prst="rect">
            <a:avLst/>
          </a:prstGeom>
        </p:spPr>
      </p:pic>
    </p:spTree>
    <p:extLst>
      <p:ext uri="{BB962C8B-B14F-4D97-AF65-F5344CB8AC3E}">
        <p14:creationId xmlns:p14="http://schemas.microsoft.com/office/powerpoint/2010/main" val="206225249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246"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558183" cy="461665"/>
          </a:xfrm>
          <a:prstGeom prst="rect">
            <a:avLst/>
          </a:prstGeom>
          <a:noFill/>
          <a:ln w="9525">
            <a:noFill/>
            <a:miter lim="800000"/>
            <a:headEnd/>
            <a:tailEnd/>
          </a:ln>
        </p:spPr>
        <p:txBody>
          <a:bodyPr wrap="none">
            <a:spAutoFit/>
          </a:bodyPr>
          <a:lstStyle/>
          <a:p>
            <a:r>
              <a:rPr lang="en-US" altLang="zh-CN" sz="2400" b="1" dirty="0">
                <a:solidFill>
                  <a:srgbClr val="C6383E"/>
                </a:solidFill>
              </a:rPr>
              <a:t>innovation</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the introduction of new ideas or methods </a:t>
            </a:r>
            <a:r>
              <a:rPr lang="zh-CN" altLang="en-US" sz="2400" dirty="0"/>
              <a:t>创新</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70" dirty="0"/>
              <a:t>If our company is to remain competitive, we must encourage</a:t>
            </a:r>
            <a:r>
              <a:rPr lang="en-US" altLang="zh-CN" sz="2400" dirty="0"/>
              <a:t> </a:t>
            </a:r>
            <a:r>
              <a:rPr lang="en-US" altLang="zh-CN" sz="2400" dirty="0">
                <a:solidFill>
                  <a:srgbClr val="C00000"/>
                </a:solidFill>
              </a:rPr>
              <a:t>innovation</a:t>
            </a:r>
            <a:r>
              <a:rPr lang="en-US" altLang="zh-CN" sz="2400" dirty="0"/>
              <a:t>.</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如果我们的公司要保持竞争力，就必须鼓励创新。</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innovatio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781554" y="558907"/>
            <a:ext cx="609600" cy="609600"/>
          </a:xfrm>
          <a:prstGeom prst="rect">
            <a:avLst/>
          </a:prstGeom>
        </p:spPr>
      </p:pic>
    </p:spTree>
    <p:extLst>
      <p:ext uri="{BB962C8B-B14F-4D97-AF65-F5344CB8AC3E}">
        <p14:creationId xmlns:p14="http://schemas.microsoft.com/office/powerpoint/2010/main" val="14263573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880"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183850" cy="461665"/>
          </a:xfrm>
          <a:prstGeom prst="rect">
            <a:avLst/>
          </a:prstGeom>
          <a:noFill/>
          <a:ln w="9525">
            <a:noFill/>
            <a:miter lim="800000"/>
            <a:headEnd/>
            <a:tailEnd/>
          </a:ln>
        </p:spPr>
        <p:txBody>
          <a:bodyPr wrap="none">
            <a:spAutoFit/>
          </a:bodyPr>
          <a:lstStyle/>
          <a:p>
            <a:r>
              <a:rPr lang="en-US" altLang="zh-CN" sz="2400" b="1" dirty="0">
                <a:solidFill>
                  <a:srgbClr val="C6383E"/>
                </a:solidFill>
              </a:rPr>
              <a:t>oriental</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east </a:t>
            </a:r>
            <a:r>
              <a:rPr lang="zh-CN" altLang="en-US" sz="2400" dirty="0"/>
              <a:t>东方的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11" name="图片 10"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12" name="矩形 11"/>
          <p:cNvSpPr/>
          <p:nvPr/>
        </p:nvSpPr>
        <p:spPr>
          <a:xfrm>
            <a:off x="1132704" y="2246440"/>
            <a:ext cx="7199312" cy="830997"/>
          </a:xfrm>
          <a:prstGeom prst="rect">
            <a:avLst/>
          </a:prstGeom>
        </p:spPr>
        <p:txBody>
          <a:bodyPr wrap="square">
            <a:spAutoFit/>
          </a:bodyPr>
          <a:lstStyle/>
          <a:p>
            <a:r>
              <a:rPr lang="en-US" altLang="zh-CN" sz="2400" spc="30" dirty="0"/>
              <a:t>For all the differences between </a:t>
            </a:r>
            <a:r>
              <a:rPr lang="en-US" altLang="zh-CN" sz="2400" spc="30" dirty="0">
                <a:solidFill>
                  <a:srgbClr val="C00000"/>
                </a:solidFill>
              </a:rPr>
              <a:t>oriental</a:t>
            </a:r>
            <a:r>
              <a:rPr lang="en-US" altLang="zh-CN" sz="2400" spc="30" dirty="0"/>
              <a:t> and occidental</a:t>
            </a:r>
            <a:r>
              <a:rPr lang="en-US" altLang="zh-CN" sz="2400" dirty="0"/>
              <a:t> cultures, they are both human cultures.</a:t>
            </a:r>
            <a:endParaRPr lang="zh-CN" altLang="en-US" sz="2400" dirty="0"/>
          </a:p>
        </p:txBody>
      </p:sp>
      <p:pic>
        <p:nvPicPr>
          <p:cNvPr id="16"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7" name="矩形 16">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spc="-100" dirty="0"/>
              <a:t>尽管东西方文化存在诸多差异，他们都属于人类文化。</a:t>
            </a:r>
          </a:p>
        </p:txBody>
      </p:sp>
      <p:sp>
        <p:nvSpPr>
          <p:cNvPr id="18" name="虚尾箭头 17">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oriental">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756370" y="558907"/>
            <a:ext cx="609600" cy="609600"/>
          </a:xfrm>
          <a:prstGeom prst="rect">
            <a:avLst/>
          </a:prstGeom>
        </p:spPr>
      </p:pic>
    </p:spTree>
    <p:extLst>
      <p:ext uri="{BB962C8B-B14F-4D97-AF65-F5344CB8AC3E}">
        <p14:creationId xmlns:p14="http://schemas.microsoft.com/office/powerpoint/2010/main" val="120958228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16"/>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115" fill="hold"/>
                                        <p:tgtEl>
                                          <p:spTgt spid="2"/>
                                        </p:tgtEl>
                                      </p:cBhvr>
                                    </p:cmd>
                                  </p:childTnLst>
                                </p:cTn>
                              </p:par>
                            </p:childTnLst>
                          </p:cTn>
                        </p:par>
                      </p:childTnLst>
                    </p:cTn>
                  </p:par>
                </p:childTnLst>
              </p:cTn>
              <p:nextCondLst>
                <p:cond evt="onClick" delay="0">
                  <p:tgtEl>
                    <p:spTgt spid="15"/>
                  </p:tgtEl>
                </p:cond>
              </p:nextCondLst>
            </p:seq>
          </p:childTnLst>
        </p:cTn>
      </p:par>
    </p:tnLst>
    <p:bldLst>
      <p:bldP spid="12" grpId="0"/>
      <p:bldP spid="17" grpId="0"/>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138453" cy="461665"/>
          </a:xfrm>
          <a:prstGeom prst="rect">
            <a:avLst/>
          </a:prstGeom>
          <a:noFill/>
          <a:ln w="9525">
            <a:noFill/>
            <a:miter lim="800000"/>
            <a:headEnd/>
            <a:tailEnd/>
          </a:ln>
        </p:spPr>
        <p:txBody>
          <a:bodyPr wrap="none">
            <a:spAutoFit/>
          </a:bodyPr>
          <a:lstStyle/>
          <a:p>
            <a:r>
              <a:rPr lang="en-US" altLang="zh-CN" sz="2400" b="1" dirty="0">
                <a:solidFill>
                  <a:srgbClr val="C6383E"/>
                </a:solidFill>
              </a:rPr>
              <a:t>clock in</a:t>
            </a:r>
          </a:p>
        </p:txBody>
      </p:sp>
      <p:sp>
        <p:nvSpPr>
          <p:cNvPr id="13" name="矩形 12"/>
          <p:cNvSpPr/>
          <p:nvPr/>
        </p:nvSpPr>
        <p:spPr>
          <a:xfrm>
            <a:off x="1515073" y="1559453"/>
            <a:ext cx="6816943" cy="830997"/>
          </a:xfrm>
          <a:prstGeom prst="rect">
            <a:avLst/>
          </a:prstGeom>
        </p:spPr>
        <p:txBody>
          <a:bodyPr wrap="square">
            <a:spAutoFit/>
          </a:bodyPr>
          <a:lstStyle/>
          <a:p>
            <a:r>
              <a:rPr lang="en-US" altLang="zh-CN" sz="2400" spc="-50" dirty="0"/>
              <a:t>to attain or register (a specified time, distance, or speed)</a:t>
            </a:r>
            <a:r>
              <a:rPr lang="en-US" altLang="zh-CN" sz="2400" dirty="0"/>
              <a:t> </a:t>
            </a:r>
            <a:r>
              <a:rPr lang="zh-CN" altLang="en-US" sz="2400" dirty="0"/>
              <a:t>达到；记录下（一定时间，距离，速度）</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766955"/>
            <a:ext cx="269242" cy="252000"/>
          </a:xfrm>
          <a:prstGeom prst="rect">
            <a:avLst/>
          </a:prstGeom>
        </p:spPr>
      </p:pic>
      <p:sp>
        <p:nvSpPr>
          <p:cNvPr id="21" name="矩形 20"/>
          <p:cNvSpPr/>
          <p:nvPr/>
        </p:nvSpPr>
        <p:spPr>
          <a:xfrm>
            <a:off x="1132704" y="2680375"/>
            <a:ext cx="7199312" cy="461665"/>
          </a:xfrm>
          <a:prstGeom prst="rect">
            <a:avLst/>
          </a:prstGeom>
        </p:spPr>
        <p:txBody>
          <a:bodyPr wrap="square">
            <a:spAutoFit/>
          </a:bodyPr>
          <a:lstStyle/>
          <a:p>
            <a:r>
              <a:rPr lang="en-US" altLang="zh-CN" sz="2400" spc="-20" dirty="0"/>
              <a:t>This is a generous CD, </a:t>
            </a:r>
            <a:r>
              <a:rPr lang="en-US" altLang="zh-CN" sz="2400" spc="-20" dirty="0">
                <a:solidFill>
                  <a:srgbClr val="C00000"/>
                </a:solidFill>
              </a:rPr>
              <a:t>clocking in</a:t>
            </a:r>
            <a:r>
              <a:rPr lang="en-US" altLang="zh-CN" sz="2400" spc="-20" dirty="0"/>
              <a:t> at more than 60 minutes.</a:t>
            </a:r>
            <a:endParaRPr lang="zh-CN" altLang="en-US" sz="2400" spc="-2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232659"/>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3154775"/>
            <a:ext cx="7199312" cy="461665"/>
          </a:xfrm>
          <a:prstGeom prst="rect">
            <a:avLst/>
          </a:prstGeom>
        </p:spPr>
        <p:txBody>
          <a:bodyPr wrap="square">
            <a:spAutoFit/>
          </a:bodyPr>
          <a:lstStyle/>
          <a:p>
            <a:pPr algn="just"/>
            <a:r>
              <a:rPr lang="zh-CN" altLang="en-US" sz="2400" dirty="0"/>
              <a:t>这张唱片容量真大，共计</a:t>
            </a:r>
            <a:r>
              <a:rPr lang="en-US" altLang="zh-CN" sz="2400" dirty="0"/>
              <a:t>60</a:t>
            </a:r>
            <a:r>
              <a:rPr lang="zh-CN" altLang="en-US" sz="2400" dirty="0"/>
              <a:t>多分钟。</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clock i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47376"/>
            <a:ext cx="609600" cy="609600"/>
          </a:xfrm>
          <a:prstGeom prst="rect">
            <a:avLst/>
          </a:prstGeom>
        </p:spPr>
      </p:pic>
    </p:spTree>
    <p:extLst>
      <p:ext uri="{BB962C8B-B14F-4D97-AF65-F5344CB8AC3E}">
        <p14:creationId xmlns:p14="http://schemas.microsoft.com/office/powerpoint/2010/main" val="35838198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802"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979755" cy="461665"/>
          </a:xfrm>
          <a:prstGeom prst="rect">
            <a:avLst/>
          </a:prstGeom>
          <a:noFill/>
          <a:ln w="9525">
            <a:noFill/>
            <a:miter lim="800000"/>
            <a:headEnd/>
            <a:tailEnd/>
          </a:ln>
        </p:spPr>
        <p:txBody>
          <a:bodyPr wrap="none">
            <a:spAutoFit/>
          </a:bodyPr>
          <a:lstStyle/>
          <a:p>
            <a:r>
              <a:rPr lang="en-US" altLang="zh-CN" sz="2400" b="1" dirty="0">
                <a:solidFill>
                  <a:srgbClr val="C6383E"/>
                </a:solidFill>
              </a:rPr>
              <a:t>hassle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trouble; bother </a:t>
            </a:r>
            <a:r>
              <a:rPr lang="zh-CN" altLang="en-US" sz="2400" dirty="0"/>
              <a:t>烦扰；麻烦</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Maria doesn’t like cooking. It’s so much </a:t>
            </a:r>
            <a:r>
              <a:rPr lang="en-US" altLang="zh-CN" sz="2400" dirty="0">
                <a:solidFill>
                  <a:srgbClr val="C00000"/>
                </a:solidFill>
              </a:rPr>
              <a:t>hassle</a:t>
            </a:r>
            <a:r>
              <a:rPr lang="en-US" altLang="zh-CN" sz="2400" dirty="0"/>
              <a:t> for her.</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玛丽亚不喜欢做饭，那对她来说太麻烦。</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hassl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791521" y="558907"/>
            <a:ext cx="609600" cy="609600"/>
          </a:xfrm>
          <a:prstGeom prst="rect">
            <a:avLst/>
          </a:prstGeom>
        </p:spPr>
      </p:pic>
    </p:spTree>
    <p:extLst>
      <p:ext uri="{BB962C8B-B14F-4D97-AF65-F5344CB8AC3E}">
        <p14:creationId xmlns:p14="http://schemas.microsoft.com/office/powerpoint/2010/main" val="1728470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959"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733214" cy="461665"/>
          </a:xfrm>
          <a:prstGeom prst="rect">
            <a:avLst/>
          </a:prstGeom>
          <a:noFill/>
          <a:ln w="9525">
            <a:noFill/>
            <a:miter lim="800000"/>
            <a:headEnd/>
            <a:tailEnd/>
          </a:ln>
        </p:spPr>
        <p:txBody>
          <a:bodyPr wrap="none">
            <a:spAutoFit/>
          </a:bodyPr>
          <a:lstStyle/>
          <a:p>
            <a:r>
              <a:rPr lang="en-US" altLang="zh-CN" sz="2400" b="1" dirty="0">
                <a:solidFill>
                  <a:srgbClr val="C6383E"/>
                </a:solidFill>
              </a:rPr>
              <a:t>void</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emptiness </a:t>
            </a:r>
            <a:r>
              <a:rPr lang="zh-CN" altLang="en-US" sz="2400" dirty="0"/>
              <a:t>空缺；（需要填补的）空白</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11" name="图片 10"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12" name="矩形 11"/>
          <p:cNvSpPr/>
          <p:nvPr/>
        </p:nvSpPr>
        <p:spPr>
          <a:xfrm>
            <a:off x="1132704" y="2246440"/>
            <a:ext cx="7199312" cy="830997"/>
          </a:xfrm>
          <a:prstGeom prst="rect">
            <a:avLst/>
          </a:prstGeom>
        </p:spPr>
        <p:txBody>
          <a:bodyPr wrap="square">
            <a:spAutoFit/>
          </a:bodyPr>
          <a:lstStyle/>
          <a:p>
            <a:pPr algn="just"/>
            <a:r>
              <a:rPr lang="en-US" altLang="zh-CN" sz="2400" spc="-30" dirty="0"/>
              <a:t>The new theater will fill a </a:t>
            </a:r>
            <a:r>
              <a:rPr lang="en-US" altLang="zh-CN" sz="2400" spc="-30" dirty="0">
                <a:solidFill>
                  <a:srgbClr val="C00000"/>
                </a:solidFill>
              </a:rPr>
              <a:t>void</a:t>
            </a:r>
            <a:r>
              <a:rPr lang="en-US" altLang="zh-CN" sz="2400" spc="-30" dirty="0"/>
              <a:t> in this town, which has little</a:t>
            </a:r>
            <a:r>
              <a:rPr lang="en-US" altLang="zh-CN" sz="2400" dirty="0"/>
              <a:t> entertainment for people in the vicinity.</a:t>
            </a:r>
            <a:endParaRPr lang="zh-CN" altLang="en-US" sz="2400" dirty="0"/>
          </a:p>
        </p:txBody>
      </p:sp>
      <p:pic>
        <p:nvPicPr>
          <p:cNvPr id="16"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7" name="矩形 16">
            <a:extLst>
              <a:ext uri="{FF2B5EF4-FFF2-40B4-BE49-F238E27FC236}">
                <a16:creationId xmlns:a16="http://schemas.microsoft.com/office/drawing/2014/main" id="{ADFD35B5-C03E-0CD3-0449-3CAE1E9F5C4B}"/>
              </a:ext>
            </a:extLst>
          </p:cNvPr>
          <p:cNvSpPr/>
          <p:nvPr/>
        </p:nvSpPr>
        <p:spPr>
          <a:xfrm>
            <a:off x="1132704" y="3069820"/>
            <a:ext cx="7199312" cy="830997"/>
          </a:xfrm>
          <a:prstGeom prst="rect">
            <a:avLst/>
          </a:prstGeom>
        </p:spPr>
        <p:txBody>
          <a:bodyPr wrap="square">
            <a:spAutoFit/>
          </a:bodyPr>
          <a:lstStyle/>
          <a:p>
            <a:pPr algn="just"/>
            <a:r>
              <a:rPr lang="zh-CN" altLang="en-US" sz="2400" dirty="0"/>
              <a:t>新的剧场将填补这座城镇的一个空白，这附近的人们几乎没有任何娱乐设施。</a:t>
            </a:r>
          </a:p>
        </p:txBody>
      </p:sp>
      <p:sp>
        <p:nvSpPr>
          <p:cNvPr id="18" name="虚尾箭头 17">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voi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58907"/>
            <a:ext cx="609600" cy="609600"/>
          </a:xfrm>
          <a:prstGeom prst="rect">
            <a:avLst/>
          </a:prstGeom>
        </p:spPr>
      </p:pic>
    </p:spTree>
    <p:extLst>
      <p:ext uri="{BB962C8B-B14F-4D97-AF65-F5344CB8AC3E}">
        <p14:creationId xmlns:p14="http://schemas.microsoft.com/office/powerpoint/2010/main" val="29244902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16"/>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724" fill="hold"/>
                                        <p:tgtEl>
                                          <p:spTgt spid="2"/>
                                        </p:tgtEl>
                                      </p:cBhvr>
                                    </p:cmd>
                                  </p:childTnLst>
                                </p:cTn>
                              </p:par>
                            </p:childTnLst>
                          </p:cTn>
                        </p:par>
                      </p:childTnLst>
                    </p:cTn>
                  </p:par>
                </p:childTnLst>
              </p:cTn>
              <p:nextCondLst>
                <p:cond evt="onClick" delay="0">
                  <p:tgtEl>
                    <p:spTgt spid="15"/>
                  </p:tgtEl>
                </p:cond>
              </p:nextCondLst>
            </p:seq>
          </p:childTnLst>
        </p:cTn>
      </p:par>
    </p:tnLst>
    <p:bldLst>
      <p:bldP spid="12" grpId="0"/>
      <p:bldP spid="17" grpId="0"/>
    </p:bldLst>
  </p:timing>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090298" cy="461665"/>
          </a:xfrm>
          <a:prstGeom prst="rect">
            <a:avLst/>
          </a:prstGeom>
          <a:noFill/>
          <a:ln w="9525">
            <a:noFill/>
            <a:miter lim="800000"/>
            <a:headEnd/>
            <a:tailEnd/>
          </a:ln>
        </p:spPr>
        <p:txBody>
          <a:bodyPr wrap="none">
            <a:spAutoFit/>
          </a:bodyPr>
          <a:lstStyle/>
          <a:p>
            <a:r>
              <a:rPr lang="en-US" altLang="zh-CN" sz="2400" b="1" dirty="0">
                <a:solidFill>
                  <a:srgbClr val="C6383E"/>
                </a:solidFill>
              </a:rPr>
              <a:t>infinity</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boundlessness </a:t>
            </a:r>
            <a:r>
              <a:rPr lang="zh-CN" altLang="en-US" sz="2400" dirty="0"/>
              <a:t>无限，无穷</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11" name="图片 10"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12" name="矩形 11"/>
          <p:cNvSpPr/>
          <p:nvPr/>
        </p:nvSpPr>
        <p:spPr>
          <a:xfrm>
            <a:off x="1132704" y="2246440"/>
            <a:ext cx="7199312" cy="830997"/>
          </a:xfrm>
          <a:prstGeom prst="rect">
            <a:avLst/>
          </a:prstGeom>
        </p:spPr>
        <p:txBody>
          <a:bodyPr wrap="square">
            <a:spAutoFit/>
          </a:bodyPr>
          <a:lstStyle/>
          <a:p>
            <a:pPr algn="just"/>
            <a:r>
              <a:rPr lang="en-US" altLang="zh-CN" sz="2400" spc="-10" dirty="0"/>
              <a:t>Travelling on the prairie, we were deeply attracted by the</a:t>
            </a:r>
            <a:r>
              <a:rPr lang="en-US" altLang="zh-CN" sz="2400" dirty="0"/>
              <a:t> </a:t>
            </a:r>
            <a:r>
              <a:rPr lang="en-US" altLang="zh-CN" sz="2400" dirty="0">
                <a:solidFill>
                  <a:srgbClr val="C00000"/>
                </a:solidFill>
              </a:rPr>
              <a:t>infinity</a:t>
            </a:r>
            <a:r>
              <a:rPr lang="en-US" altLang="zh-CN" sz="2400" dirty="0"/>
              <a:t> of beautiful scenery.</a:t>
            </a:r>
            <a:endParaRPr lang="zh-CN" altLang="en-US" sz="2400" dirty="0"/>
          </a:p>
        </p:txBody>
      </p:sp>
      <p:pic>
        <p:nvPicPr>
          <p:cNvPr id="16"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7" name="矩形 16">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旅行在大草原上，我们被无边的美景深深地吸引了。</a:t>
            </a:r>
          </a:p>
        </p:txBody>
      </p:sp>
      <p:sp>
        <p:nvSpPr>
          <p:cNvPr id="18" name="虚尾箭头 17">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infinity">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91904" y="558907"/>
            <a:ext cx="609600" cy="609600"/>
          </a:xfrm>
          <a:prstGeom prst="rect">
            <a:avLst/>
          </a:prstGeom>
        </p:spPr>
      </p:pic>
    </p:spTree>
    <p:extLst>
      <p:ext uri="{BB962C8B-B14F-4D97-AF65-F5344CB8AC3E}">
        <p14:creationId xmlns:p14="http://schemas.microsoft.com/office/powerpoint/2010/main" val="38378913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16"/>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560" fill="hold"/>
                                        <p:tgtEl>
                                          <p:spTgt spid="2"/>
                                        </p:tgtEl>
                                      </p:cBhvr>
                                    </p:cmd>
                                  </p:childTnLst>
                                </p:cTn>
                              </p:par>
                            </p:childTnLst>
                          </p:cTn>
                        </p:par>
                      </p:childTnLst>
                    </p:cTn>
                  </p:par>
                </p:childTnLst>
              </p:cTn>
              <p:nextCondLst>
                <p:cond evt="onClick" delay="0">
                  <p:tgtEl>
                    <p:spTgt spid="15"/>
                  </p:tgtEl>
                </p:cond>
              </p:nextCondLst>
            </p:seq>
          </p:childTnLst>
        </p:cTn>
      </p:par>
    </p:tnLst>
    <p:bldLst>
      <p:bldP spid="12" grpId="0"/>
      <p:bldP spid="17" grpId="0"/>
    </p:bldLst>
  </p:timing>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870495" cy="461665"/>
          </a:xfrm>
          <a:prstGeom prst="rect">
            <a:avLst/>
          </a:prstGeom>
          <a:noFill/>
          <a:ln w="9525">
            <a:noFill/>
            <a:miter lim="800000"/>
            <a:headEnd/>
            <a:tailEnd/>
          </a:ln>
        </p:spPr>
        <p:txBody>
          <a:bodyPr wrap="none">
            <a:spAutoFit/>
          </a:bodyPr>
          <a:lstStyle/>
          <a:p>
            <a:r>
              <a:rPr lang="en-US" altLang="zh-CN" sz="2400" b="1" dirty="0">
                <a:solidFill>
                  <a:srgbClr val="C6383E"/>
                </a:solidFill>
              </a:rPr>
              <a:t>tread</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walk on </a:t>
            </a:r>
            <a:r>
              <a:rPr lang="en-US" altLang="zh-CN" sz="2400" dirty="0" err="1"/>
              <a:t>sth</a:t>
            </a:r>
            <a:r>
              <a:rPr lang="en-US" altLang="zh-CN" sz="2400" dirty="0"/>
              <a:t>. </a:t>
            </a:r>
            <a:r>
              <a:rPr lang="zh-CN" altLang="en-US" sz="2400" dirty="0"/>
              <a:t>踩；踏</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Ouch! You </a:t>
            </a:r>
            <a:r>
              <a:rPr lang="en-US" altLang="zh-CN" sz="2400" dirty="0">
                <a:solidFill>
                  <a:srgbClr val="C00000"/>
                </a:solidFill>
              </a:rPr>
              <a:t>trod </a:t>
            </a:r>
            <a:r>
              <a:rPr lang="en-US" altLang="zh-CN" sz="2400" dirty="0"/>
              <a:t>on my toe!</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唉哟！你踩着我的脚指头了！</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tread">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58907"/>
            <a:ext cx="609600" cy="609600"/>
          </a:xfrm>
          <a:prstGeom prst="rect">
            <a:avLst/>
          </a:prstGeom>
        </p:spPr>
      </p:pic>
    </p:spTree>
    <p:extLst>
      <p:ext uri="{BB962C8B-B14F-4D97-AF65-F5344CB8AC3E}">
        <p14:creationId xmlns:p14="http://schemas.microsoft.com/office/powerpoint/2010/main" val="201901907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828"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313821" cy="461665"/>
          </a:xfrm>
          <a:prstGeom prst="rect">
            <a:avLst/>
          </a:prstGeom>
          <a:noFill/>
          <a:ln w="9525">
            <a:noFill/>
            <a:miter lim="800000"/>
            <a:headEnd/>
            <a:tailEnd/>
          </a:ln>
        </p:spPr>
        <p:txBody>
          <a:bodyPr wrap="none">
            <a:spAutoFit/>
          </a:bodyPr>
          <a:lstStyle/>
          <a:p>
            <a:r>
              <a:rPr lang="en-US" altLang="zh-CN" sz="2400" b="1" dirty="0">
                <a:solidFill>
                  <a:srgbClr val="C6383E"/>
                </a:solidFill>
              </a:rPr>
              <a:t>initiative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a fresh approach to </a:t>
            </a:r>
            <a:r>
              <a:rPr lang="en-US" altLang="zh-CN" sz="2400" dirty="0" err="1"/>
              <a:t>sth</a:t>
            </a:r>
            <a:r>
              <a:rPr lang="en-US" altLang="zh-CN" sz="2400" dirty="0"/>
              <a:t>. </a:t>
            </a:r>
            <a:r>
              <a:rPr lang="zh-CN" altLang="en-US" sz="2400" dirty="0"/>
              <a:t>倡议；新方案</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10" dirty="0"/>
              <a:t>He proposed a new diplomatic </a:t>
            </a:r>
            <a:r>
              <a:rPr lang="en-US" altLang="zh-CN" sz="2400" spc="-10" dirty="0">
                <a:solidFill>
                  <a:srgbClr val="C00000"/>
                </a:solidFill>
              </a:rPr>
              <a:t>initiative</a:t>
            </a:r>
            <a:r>
              <a:rPr lang="en-US" altLang="zh-CN" sz="2400" spc="-10" dirty="0"/>
              <a:t> to try to stop the war.</a:t>
            </a:r>
            <a:endParaRPr lang="zh-CN" altLang="en-US" sz="2400" spc="-1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他提出了一个新的外交倡议试图阻止战争。</a:t>
            </a:r>
          </a:p>
        </p:txBody>
      </p:sp>
      <p:sp>
        <p:nvSpPr>
          <p:cNvPr id="16" name="虚尾箭头 15">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initiativ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0380" y="558907"/>
            <a:ext cx="609600" cy="609600"/>
          </a:xfrm>
          <a:prstGeom prst="rect">
            <a:avLst/>
          </a:prstGeom>
        </p:spPr>
      </p:pic>
    </p:spTree>
    <p:extLst>
      <p:ext uri="{BB962C8B-B14F-4D97-AF65-F5344CB8AC3E}">
        <p14:creationId xmlns:p14="http://schemas.microsoft.com/office/powerpoint/2010/main" val="57526412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906"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153906" cy="461665"/>
          </a:xfrm>
          <a:prstGeom prst="rect">
            <a:avLst/>
          </a:prstGeom>
          <a:noFill/>
          <a:ln w="9525">
            <a:noFill/>
            <a:miter lim="800000"/>
            <a:headEnd/>
            <a:tailEnd/>
          </a:ln>
        </p:spPr>
        <p:txBody>
          <a:bodyPr wrap="none">
            <a:spAutoFit/>
          </a:bodyPr>
          <a:lstStyle/>
          <a:p>
            <a:r>
              <a:rPr lang="en-US" altLang="zh-CN" sz="2400" b="1" dirty="0">
                <a:solidFill>
                  <a:srgbClr val="C6383E"/>
                </a:solidFill>
              </a:rPr>
              <a:t>surgical</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zh-CN" altLang="en-US" sz="2400" dirty="0"/>
              <a:t>外科的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11" name="图片 10"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12" name="矩形 11"/>
          <p:cNvSpPr/>
          <p:nvPr/>
        </p:nvSpPr>
        <p:spPr>
          <a:xfrm>
            <a:off x="1132704" y="2246440"/>
            <a:ext cx="7199312" cy="830997"/>
          </a:xfrm>
          <a:prstGeom prst="rect">
            <a:avLst/>
          </a:prstGeom>
        </p:spPr>
        <p:txBody>
          <a:bodyPr wrap="square">
            <a:spAutoFit/>
          </a:bodyPr>
          <a:lstStyle/>
          <a:p>
            <a:pPr algn="just"/>
            <a:r>
              <a:rPr lang="en-US" altLang="zh-CN" sz="2400" spc="-50" dirty="0"/>
              <a:t>Acupuncture anesthesia has been gaining ground in </a:t>
            </a:r>
            <a:r>
              <a:rPr lang="en-US" altLang="zh-CN" sz="2400" spc="-50" dirty="0">
                <a:solidFill>
                  <a:srgbClr val="C00000"/>
                </a:solidFill>
              </a:rPr>
              <a:t>surgical</a:t>
            </a:r>
            <a:r>
              <a:rPr lang="en-US" altLang="zh-CN" sz="2400" dirty="0"/>
              <a:t> operations.</a:t>
            </a:r>
            <a:endParaRPr lang="zh-CN" altLang="en-US" sz="2400" spc="-10" dirty="0"/>
          </a:p>
        </p:txBody>
      </p:sp>
      <p:pic>
        <p:nvPicPr>
          <p:cNvPr id="16"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7" name="矩形 16">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spc="-100" dirty="0"/>
              <a:t>针刺麻醉已经在外科手术方面得到越来越广泛的应用。</a:t>
            </a:r>
          </a:p>
        </p:txBody>
      </p:sp>
      <p:sp>
        <p:nvSpPr>
          <p:cNvPr id="18" name="虚尾箭头 17">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surgical">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0380" y="558907"/>
            <a:ext cx="609600" cy="609600"/>
          </a:xfrm>
          <a:prstGeom prst="rect">
            <a:avLst/>
          </a:prstGeom>
        </p:spPr>
      </p:pic>
    </p:spTree>
    <p:extLst>
      <p:ext uri="{BB962C8B-B14F-4D97-AF65-F5344CB8AC3E}">
        <p14:creationId xmlns:p14="http://schemas.microsoft.com/office/powerpoint/2010/main" val="7820094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1"/>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childTnLst>
              </p:cTn>
              <p:nextCondLst>
                <p:cond evt="onClick" delay="0">
                  <p:tgtEl>
                    <p:spTgt spid="16"/>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115" fill="hold"/>
                                        <p:tgtEl>
                                          <p:spTgt spid="2"/>
                                        </p:tgtEl>
                                      </p:cBhvr>
                                    </p:cmd>
                                  </p:childTnLst>
                                </p:cTn>
                              </p:par>
                            </p:childTnLst>
                          </p:cTn>
                        </p:par>
                      </p:childTnLst>
                    </p:cTn>
                  </p:par>
                </p:childTnLst>
              </p:cTn>
              <p:nextCondLst>
                <p:cond evt="onClick" delay="0">
                  <p:tgtEl>
                    <p:spTgt spid="15"/>
                  </p:tgtEl>
                </p:cond>
              </p:nextCondLst>
            </p:seq>
          </p:childTnLst>
        </p:cTn>
      </p:par>
    </p:tnLst>
    <p:bldLst>
      <p:bldP spid="12" grpId="0"/>
      <p:bldP spid="17" grpId="0"/>
    </p:bldLst>
  </p:timing>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525226" cy="461665"/>
          </a:xfrm>
          <a:prstGeom prst="rect">
            <a:avLst/>
          </a:prstGeom>
          <a:noFill/>
          <a:ln w="9525">
            <a:noFill/>
            <a:miter lim="800000"/>
            <a:headEnd/>
            <a:tailEnd/>
          </a:ln>
        </p:spPr>
        <p:txBody>
          <a:bodyPr wrap="none">
            <a:spAutoFit/>
          </a:bodyPr>
          <a:lstStyle/>
          <a:p>
            <a:r>
              <a:rPr lang="en-US" altLang="zh-CN" sz="2400" b="1" dirty="0">
                <a:solidFill>
                  <a:srgbClr val="C6383E"/>
                </a:solidFill>
              </a:rPr>
              <a:t>alleviation</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relief </a:t>
            </a:r>
            <a:r>
              <a:rPr lang="zh-CN" altLang="en-US" sz="2400" dirty="0"/>
              <a:t>减轻；缓和</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30" dirty="0"/>
              <a:t>There is no </a:t>
            </a:r>
            <a:r>
              <a:rPr lang="en-US" altLang="zh-CN" sz="2400" spc="-30" dirty="0">
                <a:solidFill>
                  <a:srgbClr val="C00000"/>
                </a:solidFill>
              </a:rPr>
              <a:t>alleviation</a:t>
            </a:r>
            <a:r>
              <a:rPr lang="en-US" altLang="zh-CN" sz="2400" spc="-30" dirty="0"/>
              <a:t> for the sufferings of mankind unless</a:t>
            </a:r>
            <a:r>
              <a:rPr lang="en-US" altLang="zh-CN" sz="2400" dirty="0"/>
              <a:t> we face all the challenges bravely.</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人类的痛苦无法减轻，除非我们勇敢面对一切挑战。</a:t>
            </a:r>
          </a:p>
        </p:txBody>
      </p:sp>
      <p:sp>
        <p:nvSpPr>
          <p:cNvPr id="16" name="虚尾箭头 15">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alleviatio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032192" y="547376"/>
            <a:ext cx="609600" cy="609600"/>
          </a:xfrm>
          <a:prstGeom prst="rect">
            <a:avLst/>
          </a:prstGeom>
        </p:spPr>
      </p:pic>
    </p:spTree>
    <p:extLst>
      <p:ext uri="{BB962C8B-B14F-4D97-AF65-F5344CB8AC3E}">
        <p14:creationId xmlns:p14="http://schemas.microsoft.com/office/powerpoint/2010/main" val="102840130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959"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936475" cy="461665"/>
          </a:xfrm>
          <a:prstGeom prst="rect">
            <a:avLst/>
          </a:prstGeom>
          <a:noFill/>
          <a:ln w="9525">
            <a:noFill/>
            <a:miter lim="800000"/>
            <a:headEnd/>
            <a:tailEnd/>
          </a:ln>
        </p:spPr>
        <p:txBody>
          <a:bodyPr wrap="none">
            <a:spAutoFit/>
          </a:bodyPr>
          <a:lstStyle/>
          <a:p>
            <a:r>
              <a:rPr lang="en-US" altLang="zh-CN" sz="2400" b="1" dirty="0">
                <a:solidFill>
                  <a:srgbClr val="C6383E"/>
                </a:solidFill>
              </a:rPr>
              <a:t>utility</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zh-CN" altLang="en-US" sz="2400" dirty="0"/>
              <a:t>设施（水、电、煤气等）</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r>
              <a:rPr lang="en-US" altLang="zh-CN" sz="2400" spc="-20" dirty="0"/>
              <a:t>Prices of </a:t>
            </a:r>
            <a:r>
              <a:rPr lang="en-US" altLang="zh-CN" sz="2400" spc="-20" dirty="0">
                <a:solidFill>
                  <a:srgbClr val="C00000"/>
                </a:solidFill>
              </a:rPr>
              <a:t>utilities</a:t>
            </a:r>
            <a:r>
              <a:rPr lang="en-US" altLang="zh-CN" sz="2400" spc="-20" dirty="0"/>
              <a:t>, including water, electricity, and gas, rose</a:t>
            </a:r>
            <a:r>
              <a:rPr lang="en-US" altLang="zh-CN" sz="2400" dirty="0"/>
              <a:t> by 4.6 per cent.</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水、电、煤气在内的公用事业价格都上涨了</a:t>
            </a:r>
            <a:r>
              <a:rPr lang="en-US" altLang="zh-CN" sz="2400" dirty="0">
                <a:latin typeface="+mn-ea"/>
                <a:ea typeface="+mn-ea"/>
              </a:rPr>
              <a:t>4.6%</a:t>
            </a:r>
            <a:r>
              <a:rPr lang="zh-CN" altLang="en-US" sz="2400" dirty="0"/>
              <a:t>。</a:t>
            </a:r>
          </a:p>
        </p:txBody>
      </p:sp>
      <p:sp>
        <p:nvSpPr>
          <p:cNvPr id="16" name="虚尾箭头 15">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utility">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47376"/>
            <a:ext cx="609600" cy="609600"/>
          </a:xfrm>
          <a:prstGeom prst="rect">
            <a:avLst/>
          </a:prstGeom>
        </p:spPr>
      </p:pic>
    </p:spTree>
    <p:extLst>
      <p:ext uri="{BB962C8B-B14F-4D97-AF65-F5344CB8AC3E}">
        <p14:creationId xmlns:p14="http://schemas.microsoft.com/office/powerpoint/2010/main" val="185540671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272"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652743" cy="461665"/>
          </a:xfrm>
          <a:prstGeom prst="rect">
            <a:avLst/>
          </a:prstGeom>
          <a:noFill/>
          <a:ln w="9525">
            <a:noFill/>
            <a:miter lim="800000"/>
            <a:headEnd/>
            <a:tailEnd/>
          </a:ln>
        </p:spPr>
        <p:txBody>
          <a:bodyPr wrap="none">
            <a:spAutoFit/>
          </a:bodyPr>
          <a:lstStyle/>
          <a:p>
            <a:r>
              <a:rPr lang="en-US" altLang="zh-CN" sz="2400" b="1" dirty="0">
                <a:solidFill>
                  <a:srgbClr val="C6383E"/>
                </a:solidFill>
              </a:rPr>
              <a:t>hail</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greet; to call </a:t>
            </a:r>
            <a:r>
              <a:rPr lang="zh-CN" altLang="en-US" sz="2400" dirty="0"/>
              <a:t>招呼；扬招（出租车）</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An old friend </a:t>
            </a:r>
            <a:r>
              <a:rPr lang="en-US" altLang="zh-CN" sz="2400" dirty="0">
                <a:solidFill>
                  <a:srgbClr val="C00000"/>
                </a:solidFill>
              </a:rPr>
              <a:t>hailed </a:t>
            </a:r>
            <a:r>
              <a:rPr lang="en-US" altLang="zh-CN" sz="2400" dirty="0"/>
              <a:t>me from the other side of the street.</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一个老朋友从街的对面喊我。</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hail">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0380" y="558907"/>
            <a:ext cx="609600" cy="609600"/>
          </a:xfrm>
          <a:prstGeom prst="rect">
            <a:avLst/>
          </a:prstGeom>
        </p:spPr>
      </p:pic>
    </p:spTree>
    <p:extLst>
      <p:ext uri="{BB962C8B-B14F-4D97-AF65-F5344CB8AC3E}">
        <p14:creationId xmlns:p14="http://schemas.microsoft.com/office/powerpoint/2010/main" val="19438394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358"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921984" cy="461665"/>
          </a:xfrm>
          <a:prstGeom prst="rect">
            <a:avLst/>
          </a:prstGeom>
          <a:noFill/>
          <a:ln w="9525">
            <a:noFill/>
            <a:miter lim="800000"/>
            <a:headEnd/>
            <a:tailEnd/>
          </a:ln>
        </p:spPr>
        <p:txBody>
          <a:bodyPr wrap="none">
            <a:spAutoFit/>
          </a:bodyPr>
          <a:lstStyle/>
          <a:p>
            <a:r>
              <a:rPr lang="en-US" altLang="zh-CN" sz="2400" b="1" dirty="0">
                <a:solidFill>
                  <a:srgbClr val="C6383E"/>
                </a:solidFill>
              </a:rPr>
              <a:t>pesky</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annoying </a:t>
            </a:r>
            <a:r>
              <a:rPr lang="zh-CN" altLang="en-US" sz="2400" dirty="0"/>
              <a:t>讨厌的；烦人的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Those </a:t>
            </a:r>
            <a:r>
              <a:rPr lang="en-US" altLang="zh-CN" sz="2400" dirty="0">
                <a:solidFill>
                  <a:srgbClr val="C00000"/>
                </a:solidFill>
              </a:rPr>
              <a:t>pesky</a:t>
            </a:r>
            <a:r>
              <a:rPr lang="en-US" altLang="zh-CN" sz="2400" dirty="0"/>
              <a:t> salespersons keep calling me at dinner time.</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那些讨厌的推销员总是在晚饭时间给我打电话。</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esky">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0380" y="547376"/>
            <a:ext cx="609600" cy="609600"/>
          </a:xfrm>
          <a:prstGeom prst="rect">
            <a:avLst/>
          </a:prstGeom>
        </p:spPr>
      </p:pic>
    </p:spTree>
    <p:extLst>
      <p:ext uri="{BB962C8B-B14F-4D97-AF65-F5344CB8AC3E}">
        <p14:creationId xmlns:p14="http://schemas.microsoft.com/office/powerpoint/2010/main" val="1118480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985"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850233" cy="461665"/>
          </a:xfrm>
          <a:prstGeom prst="rect">
            <a:avLst/>
          </a:prstGeom>
          <a:noFill/>
          <a:ln w="9525">
            <a:noFill/>
            <a:miter lim="800000"/>
            <a:headEnd/>
            <a:tailEnd/>
          </a:ln>
        </p:spPr>
        <p:txBody>
          <a:bodyPr wrap="none">
            <a:spAutoFit/>
          </a:bodyPr>
          <a:lstStyle/>
          <a:p>
            <a:r>
              <a:rPr lang="en-US" altLang="zh-CN" sz="2400" b="1" dirty="0">
                <a:solidFill>
                  <a:srgbClr val="C6383E"/>
                </a:solidFill>
              </a:rPr>
              <a:t>jaunt</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a short trip for pleasure</a:t>
            </a:r>
            <a:r>
              <a:rPr lang="zh-CN" altLang="en-US" sz="2400" dirty="0"/>
              <a:t>（短途的）旅行；远足</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They are off for a day’s </a:t>
            </a:r>
            <a:r>
              <a:rPr lang="en-US" altLang="zh-CN" sz="2400" dirty="0">
                <a:solidFill>
                  <a:srgbClr val="C00000"/>
                </a:solidFill>
              </a:rPr>
              <a:t>jaunt</a:t>
            </a:r>
            <a:r>
              <a:rPr lang="en-US" altLang="zh-CN" sz="2400" dirty="0"/>
              <a:t> to the beach.</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他们出去到海滩玩一天。</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jaun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0380" y="547376"/>
            <a:ext cx="609600" cy="609600"/>
          </a:xfrm>
          <a:prstGeom prst="rect">
            <a:avLst/>
          </a:prstGeom>
        </p:spPr>
      </p:pic>
    </p:spTree>
    <p:extLst>
      <p:ext uri="{BB962C8B-B14F-4D97-AF65-F5344CB8AC3E}">
        <p14:creationId xmlns:p14="http://schemas.microsoft.com/office/powerpoint/2010/main" val="579410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1802"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319207" cy="461665"/>
          </a:xfrm>
          <a:prstGeom prst="rect">
            <a:avLst/>
          </a:prstGeom>
          <a:noFill/>
          <a:ln w="9525">
            <a:noFill/>
            <a:miter lim="800000"/>
            <a:headEnd/>
            <a:tailEnd/>
          </a:ln>
        </p:spPr>
        <p:txBody>
          <a:bodyPr wrap="none">
            <a:spAutoFit/>
          </a:bodyPr>
          <a:lstStyle/>
          <a:p>
            <a:r>
              <a:rPr lang="en-US" altLang="zh-CN" sz="2400" b="1" dirty="0">
                <a:solidFill>
                  <a:srgbClr val="C6383E"/>
                </a:solidFill>
              </a:rPr>
              <a:t>interface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zh-CN" altLang="en-US" sz="2400" dirty="0"/>
              <a:t>界面；接口</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40" dirty="0"/>
              <a:t>The new version of the program comes with a much better</a:t>
            </a:r>
            <a:r>
              <a:rPr lang="en-US" altLang="zh-CN" sz="2400" dirty="0"/>
              <a:t> user </a:t>
            </a:r>
            <a:r>
              <a:rPr lang="en-US" altLang="zh-CN" sz="2400" dirty="0">
                <a:solidFill>
                  <a:srgbClr val="C00000"/>
                </a:solidFill>
              </a:rPr>
              <a:t>interface</a:t>
            </a:r>
            <a:r>
              <a:rPr lang="en-US" altLang="zh-CN" sz="2400" dirty="0"/>
              <a:t> than the original.</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该程序新版本的用户界面比原来的好得多。</a:t>
            </a:r>
          </a:p>
        </p:txBody>
      </p:sp>
      <p:sp>
        <p:nvSpPr>
          <p:cNvPr id="16" name="虚尾箭头 15">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interfac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6173" y="558907"/>
            <a:ext cx="609600" cy="609600"/>
          </a:xfrm>
          <a:prstGeom prst="rect">
            <a:avLst/>
          </a:prstGeom>
        </p:spPr>
      </p:pic>
    </p:spTree>
    <p:extLst>
      <p:ext uri="{BB962C8B-B14F-4D97-AF65-F5344CB8AC3E}">
        <p14:creationId xmlns:p14="http://schemas.microsoft.com/office/powerpoint/2010/main" val="2048987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403"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921984" cy="461665"/>
          </a:xfrm>
          <a:prstGeom prst="rect">
            <a:avLst/>
          </a:prstGeom>
          <a:noFill/>
          <a:ln w="9525">
            <a:noFill/>
            <a:miter lim="800000"/>
            <a:headEnd/>
            <a:tailEnd/>
          </a:ln>
        </p:spPr>
        <p:txBody>
          <a:bodyPr wrap="none">
            <a:spAutoFit/>
          </a:bodyPr>
          <a:lstStyle/>
          <a:p>
            <a:r>
              <a:rPr lang="en-US" altLang="zh-CN" sz="2400" b="1" dirty="0">
                <a:solidFill>
                  <a:srgbClr val="C6383E"/>
                </a:solidFill>
              </a:rPr>
              <a:t>lavish</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expensive; generous </a:t>
            </a:r>
            <a:r>
              <a:rPr lang="zh-CN" altLang="en-US" sz="2400" dirty="0"/>
              <a:t>豪华的；慷慨的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It was one of the most </a:t>
            </a:r>
            <a:r>
              <a:rPr lang="en-US" altLang="zh-CN" sz="2400" dirty="0">
                <a:solidFill>
                  <a:srgbClr val="C00000"/>
                </a:solidFill>
              </a:rPr>
              <a:t>lavish</a:t>
            </a:r>
            <a:r>
              <a:rPr lang="en-US" altLang="zh-CN" sz="2400" dirty="0"/>
              <a:t> weddings I’ve ever been to.</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那是我参加过的最豪华的婚礼之一。</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lavish">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58907"/>
            <a:ext cx="609600" cy="609600"/>
          </a:xfrm>
          <a:prstGeom prst="rect">
            <a:avLst/>
          </a:prstGeom>
        </p:spPr>
      </p:pic>
    </p:spTree>
    <p:extLst>
      <p:ext uri="{BB962C8B-B14F-4D97-AF65-F5344CB8AC3E}">
        <p14:creationId xmlns:p14="http://schemas.microsoft.com/office/powerpoint/2010/main" val="181928223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037"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834669" cy="461665"/>
          </a:xfrm>
          <a:prstGeom prst="rect">
            <a:avLst/>
          </a:prstGeom>
          <a:noFill/>
          <a:ln w="9525">
            <a:noFill/>
            <a:miter lim="800000"/>
            <a:headEnd/>
            <a:tailEnd/>
          </a:ln>
        </p:spPr>
        <p:txBody>
          <a:bodyPr wrap="none">
            <a:spAutoFit/>
          </a:bodyPr>
          <a:lstStyle/>
          <a:p>
            <a:r>
              <a:rPr lang="en-US" altLang="zh-CN" sz="2400" b="1" dirty="0">
                <a:solidFill>
                  <a:srgbClr val="C6383E"/>
                </a:solidFill>
              </a:rPr>
              <a:t>at every turn</a:t>
            </a:r>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always; everywhere </a:t>
            </a:r>
            <a:r>
              <a:rPr lang="zh-CN" altLang="en-US" sz="2400" dirty="0"/>
              <a:t>总是；到处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10" dirty="0"/>
              <a:t>Because of his excessive drinking, Terry was refused a job</a:t>
            </a:r>
            <a:r>
              <a:rPr lang="en-US" altLang="zh-CN" sz="2400" dirty="0"/>
              <a:t> </a:t>
            </a:r>
            <a:r>
              <a:rPr lang="en-US" altLang="zh-CN" sz="2400" dirty="0">
                <a:solidFill>
                  <a:srgbClr val="C00000"/>
                </a:solidFill>
              </a:rPr>
              <a:t>at every turn</a:t>
            </a:r>
            <a:r>
              <a:rPr lang="en-US" altLang="zh-CN" sz="2400" dirty="0"/>
              <a:t>.</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由于酗酒，特里求职时处处碰壁。</a:t>
            </a:r>
          </a:p>
        </p:txBody>
      </p:sp>
      <p:sp>
        <p:nvSpPr>
          <p:cNvPr id="16" name="虚尾箭头 15">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at every tur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47376"/>
            <a:ext cx="609600" cy="609600"/>
          </a:xfrm>
          <a:prstGeom prst="rect">
            <a:avLst/>
          </a:prstGeom>
        </p:spPr>
      </p:pic>
    </p:spTree>
    <p:extLst>
      <p:ext uri="{BB962C8B-B14F-4D97-AF65-F5344CB8AC3E}">
        <p14:creationId xmlns:p14="http://schemas.microsoft.com/office/powerpoint/2010/main" val="9112919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560"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881523" cy="461665"/>
          </a:xfrm>
          <a:prstGeom prst="rect">
            <a:avLst/>
          </a:prstGeom>
          <a:noFill/>
          <a:ln w="9525">
            <a:noFill/>
            <a:miter lim="800000"/>
            <a:headEnd/>
            <a:tailEnd/>
          </a:ln>
        </p:spPr>
        <p:txBody>
          <a:bodyPr wrap="none">
            <a:spAutoFit/>
          </a:bodyPr>
          <a:lstStyle/>
          <a:p>
            <a:r>
              <a:rPr lang="en-US" altLang="zh-CN" sz="2400" b="1" dirty="0">
                <a:solidFill>
                  <a:srgbClr val="C6383E"/>
                </a:solidFill>
              </a:rPr>
              <a:t>zoom</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go somewhere or do </a:t>
            </a:r>
            <a:r>
              <a:rPr lang="en-US" altLang="zh-CN" sz="2400" dirty="0" err="1"/>
              <a:t>sth</a:t>
            </a:r>
            <a:r>
              <a:rPr lang="en-US" altLang="zh-CN" sz="2400" dirty="0"/>
              <a:t>. very quickly </a:t>
            </a:r>
            <a:r>
              <a:rPr lang="zh-CN" altLang="en-US" sz="2400" dirty="0"/>
              <a:t>快速移动</a:t>
            </a:r>
          </a:p>
        </p:txBody>
      </p:sp>
      <p:sp>
        <p:nvSpPr>
          <p:cNvPr id="14" name="虚尾箭头 13">
            <a:hlinkClick r:id="rId4"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播放" descr="未命名-3SSD.png"/>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7"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He jumped into his car and </a:t>
            </a:r>
            <a:r>
              <a:rPr lang="en-US" altLang="zh-CN" sz="2400" dirty="0">
                <a:solidFill>
                  <a:srgbClr val="C00000"/>
                </a:solidFill>
              </a:rPr>
              <a:t>zoomed</a:t>
            </a:r>
            <a:r>
              <a:rPr lang="en-US" altLang="zh-CN" sz="2400" dirty="0"/>
              <a:t> off.</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他跳进他的车，急驶而去。</a:t>
            </a:r>
          </a:p>
        </p:txBody>
      </p:sp>
      <p:pic>
        <p:nvPicPr>
          <p:cNvPr id="2" name="zoom">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72385" y="558907"/>
            <a:ext cx="609600" cy="609600"/>
          </a:xfrm>
          <a:prstGeom prst="rect">
            <a:avLst/>
          </a:prstGeom>
        </p:spPr>
      </p:pic>
    </p:spTree>
    <p:extLst>
      <p:ext uri="{BB962C8B-B14F-4D97-AF65-F5344CB8AC3E}">
        <p14:creationId xmlns:p14="http://schemas.microsoft.com/office/powerpoint/2010/main" val="25565492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324"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461665"/>
          </a:xfrm>
          <a:prstGeom prst="rect">
            <a:avLst/>
          </a:prstGeom>
          <a:noFill/>
        </p:spPr>
        <p:txBody>
          <a:bodyPr wrap="square" rtlCol="0">
            <a:spAutoFit/>
          </a:bodyPr>
          <a:lstStyle/>
          <a:p>
            <a:r>
              <a:rPr lang="en-US" altLang="zh-CN" sz="2400" dirty="0">
                <a:solidFill>
                  <a:srgbClr val="0070C0"/>
                </a:solidFill>
              </a:rPr>
              <a:t>So, here are a few things to bring you up to speed on modern China.</a:t>
            </a:r>
            <a:endParaRPr lang="zh-CN" altLang="en-US" sz="2400" dirty="0">
              <a:solidFill>
                <a:srgbClr val="0070C0"/>
              </a:solidFill>
            </a:endParaRPr>
          </a:p>
        </p:txBody>
      </p:sp>
      <p:sp>
        <p:nvSpPr>
          <p:cNvPr id="21" name="文本框 20"/>
          <p:cNvSpPr txBox="1"/>
          <p:nvPr/>
        </p:nvSpPr>
        <p:spPr>
          <a:xfrm>
            <a:off x="360000" y="1540411"/>
            <a:ext cx="8532300" cy="830997"/>
          </a:xfrm>
          <a:prstGeom prst="rect">
            <a:avLst/>
          </a:prstGeom>
          <a:noFill/>
        </p:spPr>
        <p:txBody>
          <a:bodyPr wrap="square" rtlCol="0">
            <a:spAutoFit/>
          </a:bodyPr>
          <a:lstStyle/>
          <a:p>
            <a:pPr algn="just"/>
            <a:r>
              <a:rPr lang="en-US" altLang="zh-CN" sz="2400" spc="-40" dirty="0"/>
              <a:t>So the following can help you get the latest information about modern</a:t>
            </a:r>
            <a:r>
              <a:rPr lang="en-US" altLang="zh-CN" sz="2400" dirty="0"/>
              <a:t> China.</a:t>
            </a:r>
            <a:endParaRPr lang="zh-CN" altLang="en-US" sz="2400" dirty="0"/>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49" y="1287900"/>
            <a:ext cx="845283" cy="252000"/>
          </a:xfrm>
          <a:prstGeom prst="rect">
            <a:avLst/>
          </a:prstGeom>
        </p:spPr>
      </p:pic>
    </p:spTree>
    <p:extLst>
      <p:ext uri="{BB962C8B-B14F-4D97-AF65-F5344CB8AC3E}">
        <p14:creationId xmlns:p14="http://schemas.microsoft.com/office/powerpoint/2010/main" val="188268014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
                  </p:tgtEl>
                </p:cond>
              </p:nextCondLst>
            </p:seq>
          </p:childTnLst>
        </p:cTn>
      </p:par>
    </p:tnLst>
    <p:bldLst>
      <p:bldP spid="21" grpId="0"/>
    </p:bldLst>
  </p:timing>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830997"/>
          </a:xfrm>
          <a:prstGeom prst="rect">
            <a:avLst/>
          </a:prstGeom>
          <a:noFill/>
        </p:spPr>
        <p:txBody>
          <a:bodyPr wrap="square" rtlCol="0">
            <a:spAutoFit/>
          </a:bodyPr>
          <a:lstStyle/>
          <a:p>
            <a:r>
              <a:rPr lang="en-US" altLang="zh-CN" sz="2400" spc="-30" dirty="0">
                <a:solidFill>
                  <a:srgbClr val="0070C0"/>
                </a:solidFill>
              </a:rPr>
              <a:t>Not to be confused with the Pink Floyd album, China has become the</a:t>
            </a:r>
            <a:r>
              <a:rPr lang="en-US" altLang="zh-CN" sz="2400" dirty="0">
                <a:solidFill>
                  <a:srgbClr val="0070C0"/>
                </a:solidFill>
              </a:rPr>
              <a:t> first country to land a spacecraft on the dark side of the moon.</a:t>
            </a:r>
            <a:endParaRPr lang="zh-CN" altLang="en-US" sz="2400" dirty="0">
              <a:solidFill>
                <a:srgbClr val="0070C0"/>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1669515"/>
            <a:ext cx="845283" cy="252000"/>
          </a:xfrm>
          <a:prstGeom prst="rect">
            <a:avLst/>
          </a:prstGeom>
        </p:spPr>
      </p:pic>
      <p:sp>
        <p:nvSpPr>
          <p:cNvPr id="13" name="文本框 12"/>
          <p:cNvSpPr txBox="1"/>
          <p:nvPr/>
        </p:nvSpPr>
        <p:spPr>
          <a:xfrm>
            <a:off x="360000" y="1922026"/>
            <a:ext cx="8532300" cy="1200329"/>
          </a:xfrm>
          <a:prstGeom prst="rect">
            <a:avLst/>
          </a:prstGeom>
          <a:noFill/>
        </p:spPr>
        <p:txBody>
          <a:bodyPr wrap="square" rtlCol="0">
            <a:spAutoFit/>
          </a:bodyPr>
          <a:lstStyle/>
          <a:p>
            <a:pPr algn="just"/>
            <a:r>
              <a:rPr lang="en-US" altLang="zh-CN" sz="2400" spc="20" dirty="0"/>
              <a:t>China has become the first country to explore the dark side of the</a:t>
            </a:r>
            <a:r>
              <a:rPr lang="en-US" altLang="zh-CN" sz="2400" dirty="0"/>
              <a:t> </a:t>
            </a:r>
            <a:r>
              <a:rPr lang="en-US" altLang="zh-CN" sz="2400" spc="40" dirty="0"/>
              <a:t>moon, and we are not talking about the album “The Dark Side of</a:t>
            </a:r>
            <a:r>
              <a:rPr lang="en-US" altLang="zh-CN" sz="2400" dirty="0"/>
              <a:t> </a:t>
            </a:r>
            <a:r>
              <a:rPr lang="en-US" altLang="zh-CN" sz="2400" spc="-10" dirty="0"/>
              <a:t>the Moon”, which was released by the famous rock band Pink Floyd</a:t>
            </a:r>
            <a:r>
              <a:rPr lang="en-US" altLang="zh-CN" sz="2400" dirty="0"/>
              <a:t>.</a:t>
            </a:r>
            <a:endParaRPr lang="zh-CN" altLang="en-US" sz="2400" spc="-20" dirty="0"/>
          </a:p>
        </p:txBody>
      </p:sp>
    </p:spTree>
    <p:extLst>
      <p:ext uri="{BB962C8B-B14F-4D97-AF65-F5344CB8AC3E}">
        <p14:creationId xmlns:p14="http://schemas.microsoft.com/office/powerpoint/2010/main" val="334214952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13" grpId="0"/>
    </p:bld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461665"/>
          </a:xfrm>
          <a:prstGeom prst="rect">
            <a:avLst/>
          </a:prstGeom>
          <a:noFill/>
        </p:spPr>
        <p:txBody>
          <a:bodyPr wrap="square" rtlCol="0">
            <a:spAutoFit/>
          </a:bodyPr>
          <a:lstStyle/>
          <a:p>
            <a:r>
              <a:rPr lang="en-US" altLang="zh-CN" sz="2400" spc="-50" dirty="0">
                <a:solidFill>
                  <a:srgbClr val="0070C0"/>
                </a:solidFill>
              </a:rPr>
              <a:t>With one little scan, you are off on your shared bike to your destination.</a:t>
            </a:r>
            <a:endParaRPr lang="zh-CN" altLang="en-US" sz="2400" spc="-50" dirty="0">
              <a:solidFill>
                <a:srgbClr val="0070C0"/>
              </a:solidFill>
            </a:endParaRPr>
          </a:p>
        </p:txBody>
      </p:sp>
      <p:sp>
        <p:nvSpPr>
          <p:cNvPr id="6" name="文本框 5"/>
          <p:cNvSpPr txBox="1"/>
          <p:nvPr/>
        </p:nvSpPr>
        <p:spPr>
          <a:xfrm>
            <a:off x="360000" y="1540411"/>
            <a:ext cx="8532300" cy="830997"/>
          </a:xfrm>
          <a:prstGeom prst="rect">
            <a:avLst/>
          </a:prstGeom>
          <a:noFill/>
        </p:spPr>
        <p:txBody>
          <a:bodyPr wrap="square" rtlCol="0">
            <a:spAutoFit/>
          </a:bodyPr>
          <a:lstStyle/>
          <a:p>
            <a:pPr algn="just"/>
            <a:r>
              <a:rPr lang="en-US" altLang="zh-CN" sz="2400" spc="30" dirty="0"/>
              <a:t>Just by scanning the QR code on a shared bike, you will be able to</a:t>
            </a:r>
            <a:r>
              <a:rPr lang="en-US" altLang="zh-CN" sz="2400" dirty="0"/>
              <a:t> ride on it to go to your destination.</a:t>
            </a:r>
            <a:endParaRPr lang="zh-CN" altLang="en-US" sz="2400" dirty="0"/>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49" y="1287900"/>
            <a:ext cx="845283" cy="252000"/>
          </a:xfrm>
          <a:prstGeom prst="rect">
            <a:avLst/>
          </a:prstGeom>
        </p:spPr>
      </p:pic>
    </p:spTree>
    <p:extLst>
      <p:ext uri="{BB962C8B-B14F-4D97-AF65-F5344CB8AC3E}">
        <p14:creationId xmlns:p14="http://schemas.microsoft.com/office/powerpoint/2010/main" val="244758786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nextCondLst>
                <p:cond evt="onClick" delay="0">
                  <p:tgtEl>
                    <p:spTgt spid="7"/>
                  </p:tgtEl>
                </p:cond>
              </p:nextCondLst>
            </p:seq>
          </p:childTnLst>
        </p:cTn>
      </p:par>
    </p:tnLst>
    <p:bldLst>
      <p:bldP spid="6" grpId="0"/>
    </p:bldLst>
  </p:timing>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1200329"/>
          </a:xfrm>
          <a:prstGeom prst="rect">
            <a:avLst/>
          </a:prstGeom>
          <a:noFill/>
        </p:spPr>
        <p:txBody>
          <a:bodyPr wrap="square" rtlCol="0">
            <a:spAutoFit/>
          </a:bodyPr>
          <a:lstStyle/>
          <a:p>
            <a:pPr algn="just"/>
            <a:r>
              <a:rPr lang="en-US" altLang="zh-CN" sz="2400" spc="-30" dirty="0">
                <a:solidFill>
                  <a:srgbClr val="0070C0"/>
                </a:solidFill>
              </a:rPr>
              <a:t>While you can dine in lavish modern restaurants in China’s large cities</a:t>
            </a:r>
            <a:r>
              <a:rPr lang="en-US" altLang="zh-CN" sz="2400" dirty="0">
                <a:solidFill>
                  <a:srgbClr val="0070C0"/>
                </a:solidFill>
              </a:rPr>
              <a:t> </a:t>
            </a:r>
            <a:r>
              <a:rPr lang="en-US" altLang="zh-CN" sz="2400" spc="40" dirty="0">
                <a:solidFill>
                  <a:srgbClr val="0070C0"/>
                </a:solidFill>
              </a:rPr>
              <a:t>such as Beijing and Shanghai, there is still deep-rooted culture at</a:t>
            </a:r>
            <a:r>
              <a:rPr lang="en-US" altLang="zh-CN" sz="2400" dirty="0">
                <a:solidFill>
                  <a:srgbClr val="0070C0"/>
                </a:solidFill>
              </a:rPr>
              <a:t> every turn.</a:t>
            </a:r>
            <a:endParaRPr lang="zh-CN" altLang="en-US" sz="2400" dirty="0">
              <a:solidFill>
                <a:srgbClr val="0070C0"/>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 y="2038005"/>
            <a:ext cx="845283" cy="252000"/>
          </a:xfrm>
          <a:prstGeom prst="rect">
            <a:avLst/>
          </a:prstGeom>
        </p:spPr>
      </p:pic>
      <p:sp>
        <p:nvSpPr>
          <p:cNvPr id="13" name="文本框 12"/>
          <p:cNvSpPr txBox="1"/>
          <p:nvPr/>
        </p:nvSpPr>
        <p:spPr>
          <a:xfrm>
            <a:off x="360000" y="2290516"/>
            <a:ext cx="8532300" cy="1569660"/>
          </a:xfrm>
          <a:prstGeom prst="rect">
            <a:avLst/>
          </a:prstGeom>
          <a:noFill/>
        </p:spPr>
        <p:txBody>
          <a:bodyPr wrap="square" rtlCol="0">
            <a:spAutoFit/>
          </a:bodyPr>
          <a:lstStyle/>
          <a:p>
            <a:pPr algn="just"/>
            <a:r>
              <a:rPr lang="en-US" altLang="zh-CN" sz="2400" spc="10" dirty="0"/>
              <a:t>On the one hand, China has modern things like very expensive and</a:t>
            </a:r>
            <a:r>
              <a:rPr lang="en-US" altLang="zh-CN" sz="2400" dirty="0"/>
              <a:t> impressive restaurants in big cities such as Beijing and Shanghai; on </a:t>
            </a:r>
            <a:r>
              <a:rPr lang="en-US" altLang="zh-CN" sz="2400" spc="20" dirty="0"/>
              <a:t>the other hand, it still keeps its traditional things that can be seen</a:t>
            </a:r>
            <a:r>
              <a:rPr lang="en-US" altLang="zh-CN" sz="2400" dirty="0"/>
              <a:t> everywhere across the country.</a:t>
            </a:r>
            <a:endParaRPr lang="zh-CN" altLang="en-US" sz="2400" spc="-20" dirty="0"/>
          </a:p>
        </p:txBody>
      </p:sp>
    </p:spTree>
    <p:extLst>
      <p:ext uri="{BB962C8B-B14F-4D97-AF65-F5344CB8AC3E}">
        <p14:creationId xmlns:p14="http://schemas.microsoft.com/office/powerpoint/2010/main" val="16470226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13" grpId="0"/>
    </p:bldLst>
  </p:timing>
</p:sld>
</file>

<file path=ppt/slides/slide1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002710" cy="461665"/>
          </a:xfrm>
          <a:prstGeom prst="rect">
            <a:avLst/>
          </a:prstGeom>
          <a:noFill/>
          <a:ln w="9525">
            <a:noFill/>
            <a:miter lim="800000"/>
            <a:headEnd/>
            <a:tailEnd/>
          </a:ln>
        </p:spPr>
        <p:txBody>
          <a:bodyPr wrap="none">
            <a:spAutoFit/>
          </a:bodyPr>
          <a:lstStyle/>
          <a:p>
            <a:r>
              <a:rPr lang="en-US" altLang="zh-CN" sz="2400" b="1" dirty="0">
                <a:solidFill>
                  <a:srgbClr val="C6383E"/>
                </a:solidFill>
              </a:rPr>
              <a:t>extant</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existing; still not extinct </a:t>
            </a:r>
            <a:r>
              <a:rPr lang="zh-CN" altLang="en-US" sz="2400" dirty="0"/>
              <a:t>现存的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This is the </a:t>
            </a:r>
            <a:r>
              <a:rPr lang="en-US" altLang="zh-CN" sz="2400" dirty="0">
                <a:solidFill>
                  <a:srgbClr val="C00000"/>
                </a:solidFill>
              </a:rPr>
              <a:t>extant</a:t>
            </a:r>
            <a:r>
              <a:rPr lang="en-US" altLang="zh-CN" sz="2400" dirty="0"/>
              <a:t> manuscript of the poem.</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这是现存的该诗的原稿。</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exten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14476" y="547376"/>
            <a:ext cx="609600" cy="609600"/>
          </a:xfrm>
          <a:prstGeom prst="rect">
            <a:avLst/>
          </a:prstGeom>
        </p:spPr>
      </p:pic>
    </p:spTree>
    <p:extLst>
      <p:ext uri="{BB962C8B-B14F-4D97-AF65-F5344CB8AC3E}">
        <p14:creationId xmlns:p14="http://schemas.microsoft.com/office/powerpoint/2010/main" val="397888979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377"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070165" cy="461665"/>
          </a:xfrm>
          <a:prstGeom prst="rect">
            <a:avLst/>
          </a:prstGeom>
          <a:noFill/>
          <a:ln w="9525">
            <a:noFill/>
            <a:miter lim="800000"/>
            <a:headEnd/>
            <a:tailEnd/>
          </a:ln>
        </p:spPr>
        <p:txBody>
          <a:bodyPr wrap="none">
            <a:spAutoFit/>
          </a:bodyPr>
          <a:lstStyle/>
          <a:p>
            <a:r>
              <a:rPr lang="en-US" altLang="zh-CN" sz="2400" b="1" dirty="0">
                <a:solidFill>
                  <a:srgbClr val="C6383E"/>
                </a:solidFill>
              </a:rPr>
              <a:t>advent</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appearing; arrival; coming </a:t>
            </a:r>
            <a:r>
              <a:rPr lang="zh-CN" altLang="en-US" sz="2400" dirty="0"/>
              <a:t>出现；问世</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The </a:t>
            </a:r>
            <a:r>
              <a:rPr lang="en-US" altLang="zh-CN" sz="2400" dirty="0">
                <a:solidFill>
                  <a:srgbClr val="C00000"/>
                </a:solidFill>
              </a:rPr>
              <a:t>advent</a:t>
            </a:r>
            <a:r>
              <a:rPr lang="en-US" altLang="zh-CN" sz="2400" dirty="0"/>
              <a:t> of the Euro redefined Europe.</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欧元的出现重新定义了欧洲。</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adven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50566" y="547376"/>
            <a:ext cx="609600" cy="609600"/>
          </a:xfrm>
          <a:prstGeom prst="rect">
            <a:avLst/>
          </a:prstGeom>
        </p:spPr>
      </p:pic>
    </p:spTree>
    <p:extLst>
      <p:ext uri="{BB962C8B-B14F-4D97-AF65-F5344CB8AC3E}">
        <p14:creationId xmlns:p14="http://schemas.microsoft.com/office/powerpoint/2010/main" val="2017861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246"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090363" cy="461665"/>
          </a:xfrm>
          <a:prstGeom prst="rect">
            <a:avLst/>
          </a:prstGeom>
          <a:noFill/>
          <a:ln w="9525">
            <a:noFill/>
            <a:miter lim="800000"/>
            <a:headEnd/>
            <a:tailEnd/>
          </a:ln>
        </p:spPr>
        <p:txBody>
          <a:bodyPr wrap="none">
            <a:spAutoFit/>
          </a:bodyPr>
          <a:lstStyle/>
          <a:p>
            <a:r>
              <a:rPr lang="en-US" altLang="zh-CN" sz="2400" b="1" dirty="0">
                <a:solidFill>
                  <a:srgbClr val="C6383E"/>
                </a:solidFill>
              </a:rPr>
              <a:t>inhabit</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reside in; to live in </a:t>
            </a:r>
            <a:r>
              <a:rPr lang="zh-CN" altLang="en-US" sz="2400" dirty="0"/>
              <a:t>居住；栖息</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Many types of seabirds </a:t>
            </a:r>
            <a:r>
              <a:rPr lang="en-US" altLang="zh-CN" sz="2400" dirty="0">
                <a:solidFill>
                  <a:srgbClr val="C00000"/>
                </a:solidFill>
              </a:rPr>
              <a:t>inhabit</a:t>
            </a:r>
            <a:r>
              <a:rPr lang="en-US" altLang="zh-CN" sz="2400" dirty="0"/>
              <a:t> the coral island.</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这座珊瑚岛上栖息着很多种海鸟。</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inhabi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02129" y="547376"/>
            <a:ext cx="609600" cy="609600"/>
          </a:xfrm>
          <a:prstGeom prst="rect">
            <a:avLst/>
          </a:prstGeom>
        </p:spPr>
      </p:pic>
    </p:spTree>
    <p:extLst>
      <p:ext uri="{BB962C8B-B14F-4D97-AF65-F5344CB8AC3E}">
        <p14:creationId xmlns:p14="http://schemas.microsoft.com/office/powerpoint/2010/main" val="38520671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377"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337226" cy="461665"/>
          </a:xfrm>
          <a:prstGeom prst="rect">
            <a:avLst/>
          </a:prstGeom>
          <a:noFill/>
          <a:ln w="9525">
            <a:noFill/>
            <a:miter lim="800000"/>
            <a:headEnd/>
            <a:tailEnd/>
          </a:ln>
        </p:spPr>
        <p:txBody>
          <a:bodyPr wrap="none">
            <a:spAutoFit/>
          </a:bodyPr>
          <a:lstStyle/>
          <a:p>
            <a:r>
              <a:rPr lang="en-US" altLang="zh-CN" sz="2400" b="1" dirty="0">
                <a:solidFill>
                  <a:srgbClr val="C6383E"/>
                </a:solidFill>
              </a:rPr>
              <a:t>plausible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(seemingly) reasonable </a:t>
            </a:r>
            <a:r>
              <a:rPr lang="zh-CN" altLang="en-US" sz="2400" dirty="0"/>
              <a:t>可信的；看似合理的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We cannot find a </a:t>
            </a:r>
            <a:r>
              <a:rPr lang="en-US" altLang="zh-CN" sz="2400" dirty="0">
                <a:solidFill>
                  <a:srgbClr val="C00000"/>
                </a:solidFill>
              </a:rPr>
              <a:t>plausible</a:t>
            </a:r>
            <a:r>
              <a:rPr lang="en-US" altLang="zh-CN" sz="2400" dirty="0"/>
              <a:t> reason for his absence.</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我们找不到他缺席的合理理由。</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lausibl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44192" y="558907"/>
            <a:ext cx="609600" cy="609600"/>
          </a:xfrm>
          <a:prstGeom prst="rect">
            <a:avLst/>
          </a:prstGeom>
        </p:spPr>
      </p:pic>
    </p:spTree>
    <p:extLst>
      <p:ext uri="{BB962C8B-B14F-4D97-AF65-F5344CB8AC3E}">
        <p14:creationId xmlns:p14="http://schemas.microsoft.com/office/powerpoint/2010/main" val="176235456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3"/>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507" fill="hold"/>
                                        <p:tgtEl>
                                          <p:spTgt spid="3"/>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137876" cy="461665"/>
          </a:xfrm>
          <a:prstGeom prst="rect">
            <a:avLst/>
          </a:prstGeom>
          <a:noFill/>
          <a:ln w="9525">
            <a:noFill/>
            <a:miter lim="800000"/>
            <a:headEnd/>
            <a:tailEnd/>
          </a:ln>
        </p:spPr>
        <p:txBody>
          <a:bodyPr wrap="none">
            <a:spAutoFit/>
          </a:bodyPr>
          <a:lstStyle/>
          <a:p>
            <a:r>
              <a:rPr lang="en-US" altLang="zh-CN" sz="2400" b="1" dirty="0">
                <a:solidFill>
                  <a:srgbClr val="C6383E"/>
                </a:solidFill>
              </a:rPr>
              <a:t>dispute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argue; to quarrel; to disagree </a:t>
            </a:r>
            <a:r>
              <a:rPr lang="zh-CN" altLang="en-US" sz="2400" dirty="0"/>
              <a:t>争辩；争执</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It is ridiculous to </a:t>
            </a:r>
            <a:r>
              <a:rPr lang="en-US" altLang="zh-CN" sz="2400" dirty="0">
                <a:solidFill>
                  <a:srgbClr val="C00000"/>
                </a:solidFill>
              </a:rPr>
              <a:t>dispute</a:t>
            </a:r>
            <a:r>
              <a:rPr lang="en-US" altLang="zh-CN" sz="2400" dirty="0"/>
              <a:t> about such a thing.</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为这样的事情而争论简直荒谬可笑。</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disput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756370" y="558907"/>
            <a:ext cx="609600" cy="609600"/>
          </a:xfrm>
          <a:prstGeom prst="rect">
            <a:avLst/>
          </a:prstGeom>
        </p:spPr>
      </p:pic>
    </p:spTree>
    <p:extLst>
      <p:ext uri="{BB962C8B-B14F-4D97-AF65-F5344CB8AC3E}">
        <p14:creationId xmlns:p14="http://schemas.microsoft.com/office/powerpoint/2010/main" val="13153878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037"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766959" cy="461665"/>
          </a:xfrm>
          <a:prstGeom prst="rect">
            <a:avLst/>
          </a:prstGeom>
          <a:noFill/>
          <a:ln w="9525">
            <a:noFill/>
            <a:miter lim="800000"/>
            <a:headEnd/>
            <a:tailEnd/>
          </a:ln>
        </p:spPr>
        <p:txBody>
          <a:bodyPr wrap="none">
            <a:spAutoFit/>
          </a:bodyPr>
          <a:lstStyle/>
          <a:p>
            <a:r>
              <a:rPr lang="en-US" altLang="zh-CN" sz="2400" b="1" dirty="0">
                <a:solidFill>
                  <a:srgbClr val="C6383E"/>
                </a:solidFill>
              </a:rPr>
              <a:t>substantiate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strengthen or to provide evidence to </a:t>
            </a:r>
            <a:r>
              <a:rPr lang="zh-CN" altLang="en-US" sz="2400" dirty="0"/>
              <a:t>证实</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r>
              <a:rPr lang="en-US" altLang="zh-CN" sz="2400" spc="-10" dirty="0"/>
              <a:t>More research is needed to find evidence to </a:t>
            </a:r>
            <a:r>
              <a:rPr lang="en-US" altLang="zh-CN" sz="2400" spc="-10" dirty="0">
                <a:solidFill>
                  <a:srgbClr val="C00000"/>
                </a:solidFill>
              </a:rPr>
              <a:t>substantiate</a:t>
            </a:r>
            <a:r>
              <a:rPr lang="en-US" altLang="zh-CN" sz="2400" dirty="0"/>
              <a:t> this association.</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还需要更多的研究提供证据证实这一联系。</a:t>
            </a:r>
          </a:p>
        </p:txBody>
      </p:sp>
      <p:sp>
        <p:nvSpPr>
          <p:cNvPr id="17" name="虚尾箭头 16">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substantiat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58907"/>
            <a:ext cx="609600" cy="609600"/>
          </a:xfrm>
          <a:prstGeom prst="rect">
            <a:avLst/>
          </a:prstGeom>
        </p:spPr>
      </p:pic>
    </p:spTree>
    <p:extLst>
      <p:ext uri="{BB962C8B-B14F-4D97-AF65-F5344CB8AC3E}">
        <p14:creationId xmlns:p14="http://schemas.microsoft.com/office/powerpoint/2010/main" val="374876457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324"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354986" cy="461665"/>
          </a:xfrm>
          <a:prstGeom prst="rect">
            <a:avLst/>
          </a:prstGeom>
          <a:noFill/>
          <a:ln w="9525">
            <a:noFill/>
            <a:miter lim="800000"/>
            <a:headEnd/>
            <a:tailEnd/>
          </a:ln>
        </p:spPr>
        <p:txBody>
          <a:bodyPr wrap="none">
            <a:spAutoFit/>
          </a:bodyPr>
          <a:lstStyle/>
          <a:p>
            <a:r>
              <a:rPr lang="en-US" altLang="zh-CN" sz="2400" b="1" dirty="0">
                <a:solidFill>
                  <a:srgbClr val="C6383E"/>
                </a:solidFill>
              </a:rPr>
              <a:t>comprise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v.</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 involve; to make up </a:t>
            </a:r>
            <a:r>
              <a:rPr lang="zh-CN" altLang="en-US" sz="2400" dirty="0"/>
              <a:t>由</a:t>
            </a:r>
            <a:r>
              <a:rPr lang="en-US" altLang="zh-CN" sz="2400" dirty="0">
                <a:latin typeface="+mn-ea"/>
                <a:ea typeface="+mn-ea"/>
              </a:rPr>
              <a:t>……</a:t>
            </a:r>
            <a:r>
              <a:rPr lang="zh-CN" altLang="en-US" sz="2400" dirty="0"/>
              <a:t>构成；包含</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The collection </a:t>
            </a:r>
            <a:r>
              <a:rPr lang="en-US" altLang="zh-CN" sz="2400" dirty="0">
                <a:solidFill>
                  <a:srgbClr val="C00000"/>
                </a:solidFill>
              </a:rPr>
              <a:t>comprises</a:t>
            </a:r>
            <a:r>
              <a:rPr lang="en-US" altLang="zh-CN" sz="2400" dirty="0"/>
              <a:t> 400 paintings.</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这部画册收有</a:t>
            </a:r>
            <a:r>
              <a:rPr lang="en-US" altLang="zh-CN" sz="2400" dirty="0">
                <a:latin typeface="+mn-ea"/>
                <a:ea typeface="+mn-ea"/>
              </a:rPr>
              <a:t>400</a:t>
            </a:r>
            <a:r>
              <a:rPr lang="zh-CN" altLang="en-US" sz="2400" dirty="0">
                <a:latin typeface="+mn-ea"/>
                <a:ea typeface="+mn-ea"/>
              </a:rPr>
              <a:t>幅</a:t>
            </a:r>
            <a:r>
              <a:rPr lang="zh-CN" altLang="en-US" sz="2400" dirty="0"/>
              <a:t>画。</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compris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61952" y="558907"/>
            <a:ext cx="609600" cy="609600"/>
          </a:xfrm>
          <a:prstGeom prst="rect">
            <a:avLst/>
          </a:prstGeom>
        </p:spPr>
      </p:pic>
    </p:spTree>
    <p:extLst>
      <p:ext uri="{BB962C8B-B14F-4D97-AF65-F5344CB8AC3E}">
        <p14:creationId xmlns:p14="http://schemas.microsoft.com/office/powerpoint/2010/main" val="192741443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481"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295098" cy="461665"/>
          </a:xfrm>
          <a:prstGeom prst="rect">
            <a:avLst/>
          </a:prstGeom>
          <a:noFill/>
          <a:ln w="9525">
            <a:noFill/>
            <a:miter lim="800000"/>
            <a:headEnd/>
            <a:tailEnd/>
          </a:ln>
        </p:spPr>
        <p:txBody>
          <a:bodyPr wrap="none">
            <a:spAutoFit/>
          </a:bodyPr>
          <a:lstStyle/>
          <a:p>
            <a:r>
              <a:rPr lang="en-US" altLang="zh-CN" sz="2400" b="1" dirty="0">
                <a:solidFill>
                  <a:srgbClr val="C6383E"/>
                </a:solidFill>
              </a:rPr>
              <a:t>drainage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the action or the system of draining </a:t>
            </a:r>
            <a:r>
              <a:rPr lang="zh-CN" altLang="en-US" sz="2400" dirty="0"/>
              <a:t>排水；排水设施</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1200329"/>
          </a:xfrm>
          <a:prstGeom prst="rect">
            <a:avLst/>
          </a:prstGeom>
        </p:spPr>
        <p:txBody>
          <a:bodyPr wrap="square">
            <a:spAutoFit/>
          </a:bodyPr>
          <a:lstStyle/>
          <a:p>
            <a:pPr algn="just"/>
            <a:r>
              <a:rPr lang="en-US" altLang="zh-CN" sz="2400" spc="-60" dirty="0"/>
              <a:t>This ancient city was even equipped with a </a:t>
            </a:r>
            <a:r>
              <a:rPr lang="en-US" altLang="zh-CN" sz="2400" spc="-60" dirty="0">
                <a:solidFill>
                  <a:srgbClr val="C00000"/>
                </a:solidFill>
              </a:rPr>
              <a:t>drainage</a:t>
            </a:r>
            <a:r>
              <a:rPr lang="en-US" altLang="zh-CN" sz="2400" spc="-60" dirty="0"/>
              <a:t> system</a:t>
            </a:r>
            <a:r>
              <a:rPr lang="en-US" altLang="zh-CN" sz="2400" dirty="0"/>
              <a:t>, </a:t>
            </a:r>
            <a:r>
              <a:rPr lang="en-US" altLang="zh-CN" sz="2400" spc="-50" dirty="0"/>
              <a:t>for a great many clay pipes were found beneath the narrow</a:t>
            </a:r>
            <a:r>
              <a:rPr lang="en-US" altLang="zh-CN" sz="2400" dirty="0"/>
              <a:t> streets.</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56957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3491690"/>
            <a:ext cx="7199312" cy="830997"/>
          </a:xfrm>
          <a:prstGeom prst="rect">
            <a:avLst/>
          </a:prstGeom>
        </p:spPr>
        <p:txBody>
          <a:bodyPr wrap="square">
            <a:spAutoFit/>
          </a:bodyPr>
          <a:lstStyle/>
          <a:p>
            <a:pPr algn="just"/>
            <a:r>
              <a:rPr lang="zh-CN" altLang="en-US" sz="2400" dirty="0"/>
              <a:t>这座古城甚至还铺设过排水系统，因为在窄窄的街道底下发现了许多陶土制的管道。</a:t>
            </a:r>
          </a:p>
        </p:txBody>
      </p:sp>
      <p:sp>
        <p:nvSpPr>
          <p:cNvPr id="12" name="虚尾箭头 11">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drainag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02064" y="547376"/>
            <a:ext cx="609600" cy="609600"/>
          </a:xfrm>
          <a:prstGeom prst="rect">
            <a:avLst/>
          </a:prstGeom>
        </p:spPr>
      </p:pic>
    </p:spTree>
    <p:extLst>
      <p:ext uri="{BB962C8B-B14F-4D97-AF65-F5344CB8AC3E}">
        <p14:creationId xmlns:p14="http://schemas.microsoft.com/office/powerpoint/2010/main" val="25065717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612"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109471" cy="461665"/>
          </a:xfrm>
          <a:prstGeom prst="rect">
            <a:avLst/>
          </a:prstGeom>
          <a:noFill/>
          <a:ln w="9525">
            <a:noFill/>
            <a:miter lim="800000"/>
            <a:headEnd/>
            <a:tailEnd/>
          </a:ln>
        </p:spPr>
        <p:txBody>
          <a:bodyPr wrap="none">
            <a:spAutoFit/>
          </a:bodyPr>
          <a:lstStyle/>
          <a:p>
            <a:r>
              <a:rPr lang="en-US" altLang="zh-CN" sz="2400" b="1" dirty="0">
                <a:solidFill>
                  <a:srgbClr val="C6383E"/>
                </a:solidFill>
              </a:rPr>
              <a:t>artifact</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man-made object </a:t>
            </a:r>
            <a:r>
              <a:rPr lang="zh-CN" altLang="en-US" sz="2400" dirty="0"/>
              <a:t>人工制品；人造物品</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30" dirty="0"/>
              <a:t>The </a:t>
            </a:r>
            <a:r>
              <a:rPr lang="en-US" altLang="zh-CN" sz="2400" spc="-30" dirty="0">
                <a:solidFill>
                  <a:srgbClr val="C00000"/>
                </a:solidFill>
              </a:rPr>
              <a:t>artifact</a:t>
            </a:r>
            <a:r>
              <a:rPr lang="en-US" altLang="zh-CN" sz="2400" spc="-30" dirty="0"/>
              <a:t> discovered in this area substantiated the claim</a:t>
            </a:r>
            <a:r>
              <a:rPr lang="en-US" altLang="zh-CN" sz="2400" dirty="0"/>
              <a:t> that this is the site of an ancient town.</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830997"/>
          </a:xfrm>
          <a:prstGeom prst="rect">
            <a:avLst/>
          </a:prstGeom>
        </p:spPr>
        <p:txBody>
          <a:bodyPr wrap="square">
            <a:spAutoFit/>
          </a:bodyPr>
          <a:lstStyle/>
          <a:p>
            <a:pPr algn="just"/>
            <a:r>
              <a:rPr lang="zh-CN" altLang="en-US" sz="2400" dirty="0"/>
              <a:t>此地区发掘出的人造物品证实了这里是一个古镇遗址的说法。</a:t>
            </a:r>
          </a:p>
        </p:txBody>
      </p:sp>
      <p:sp>
        <p:nvSpPr>
          <p:cNvPr id="17" name="虚尾箭头 16">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artifact">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921237" y="558907"/>
            <a:ext cx="609600" cy="609600"/>
          </a:xfrm>
          <a:prstGeom prst="rect">
            <a:avLst/>
          </a:prstGeom>
        </p:spPr>
      </p:pic>
    </p:spTree>
    <p:extLst>
      <p:ext uri="{BB962C8B-B14F-4D97-AF65-F5344CB8AC3E}">
        <p14:creationId xmlns:p14="http://schemas.microsoft.com/office/powerpoint/2010/main" val="7135468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612"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265988" cy="461665"/>
          </a:xfrm>
          <a:prstGeom prst="rect">
            <a:avLst/>
          </a:prstGeom>
          <a:noFill/>
          <a:ln w="9525">
            <a:noFill/>
            <a:miter lim="800000"/>
            <a:headEnd/>
            <a:tailEnd/>
          </a:ln>
        </p:spPr>
        <p:txBody>
          <a:bodyPr wrap="none">
            <a:spAutoFit/>
          </a:bodyPr>
          <a:lstStyle/>
          <a:p>
            <a:r>
              <a:rPr lang="en-US" altLang="zh-CN" sz="2400" b="1" dirty="0">
                <a:solidFill>
                  <a:srgbClr val="C6383E"/>
                </a:solidFill>
              </a:rPr>
              <a:t>skeleton</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zh-CN" altLang="en-US" sz="2400" dirty="0"/>
              <a:t>骷髅；骨架</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r>
              <a:rPr lang="en-US" altLang="zh-CN" sz="2400" spc="60" dirty="0"/>
              <a:t>Due to the economic recession, the block is still just a</a:t>
            </a:r>
            <a:r>
              <a:rPr lang="en-US" altLang="zh-CN" sz="2400" dirty="0"/>
              <a:t> </a:t>
            </a:r>
            <a:r>
              <a:rPr lang="en-US" altLang="zh-CN" sz="2400" dirty="0">
                <a:solidFill>
                  <a:srgbClr val="C00000"/>
                </a:solidFill>
              </a:rPr>
              <a:t>skeleton</a:t>
            </a:r>
            <a:r>
              <a:rPr lang="en-US" altLang="zh-CN" sz="2400" dirty="0"/>
              <a:t> of girders up to now.</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830997"/>
          </a:xfrm>
          <a:prstGeom prst="rect">
            <a:avLst/>
          </a:prstGeom>
        </p:spPr>
        <p:txBody>
          <a:bodyPr wrap="square">
            <a:spAutoFit/>
          </a:bodyPr>
          <a:lstStyle/>
          <a:p>
            <a:pPr algn="just"/>
            <a:r>
              <a:rPr lang="zh-CN" altLang="en-US" sz="2400" dirty="0"/>
              <a:t>由于经济萧条，这座建筑迄今仍然只是仅有主梁的骨架。</a:t>
            </a:r>
          </a:p>
        </p:txBody>
      </p:sp>
      <p:sp>
        <p:nvSpPr>
          <p:cNvPr id="16" name="虚尾箭头 15">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skeleto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772954" y="558907"/>
            <a:ext cx="609600" cy="609600"/>
          </a:xfrm>
          <a:prstGeom prst="rect">
            <a:avLst/>
          </a:prstGeom>
        </p:spPr>
      </p:pic>
    </p:spTree>
    <p:extLst>
      <p:ext uri="{BB962C8B-B14F-4D97-AF65-F5344CB8AC3E}">
        <p14:creationId xmlns:p14="http://schemas.microsoft.com/office/powerpoint/2010/main" val="87909814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220"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048107" cy="461665"/>
          </a:xfrm>
          <a:prstGeom prst="rect">
            <a:avLst/>
          </a:prstGeom>
          <a:noFill/>
          <a:ln w="9525">
            <a:noFill/>
            <a:miter lim="800000"/>
            <a:headEnd/>
            <a:tailEnd/>
          </a:ln>
        </p:spPr>
        <p:txBody>
          <a:bodyPr wrap="none">
            <a:spAutoFit/>
          </a:bodyPr>
          <a:lstStyle/>
          <a:p>
            <a:r>
              <a:rPr lang="en-US" altLang="zh-CN" sz="2400" b="1" dirty="0">
                <a:solidFill>
                  <a:srgbClr val="C6383E"/>
                </a:solidFill>
              </a:rPr>
              <a:t>utensil</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tool; instrument </a:t>
            </a:r>
            <a:r>
              <a:rPr lang="zh-CN" altLang="en-US" sz="2400" dirty="0"/>
              <a:t>器皿</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r>
              <a:rPr lang="en-US" altLang="zh-CN" sz="2400" spc="-30" dirty="0"/>
              <a:t>I have to buy some kitchen utensils before starting cooking.</a:t>
            </a:r>
            <a:endParaRPr lang="zh-CN" altLang="en-US" sz="2400" spc="-3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开始做饭前，我还得去买些厨房用具。</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utensil">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59873" y="547376"/>
            <a:ext cx="609600" cy="609600"/>
          </a:xfrm>
          <a:prstGeom prst="rect">
            <a:avLst/>
          </a:prstGeom>
        </p:spPr>
      </p:pic>
    </p:spTree>
    <p:extLst>
      <p:ext uri="{BB962C8B-B14F-4D97-AF65-F5344CB8AC3E}">
        <p14:creationId xmlns:p14="http://schemas.microsoft.com/office/powerpoint/2010/main" val="92257071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507"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547475" cy="461665"/>
          </a:xfrm>
          <a:prstGeom prst="rect">
            <a:avLst/>
          </a:prstGeom>
          <a:noFill/>
          <a:ln w="9525">
            <a:noFill/>
            <a:miter lim="800000"/>
            <a:headEnd/>
            <a:tailEnd/>
          </a:ln>
        </p:spPr>
        <p:txBody>
          <a:bodyPr wrap="none">
            <a:spAutoFit/>
          </a:bodyPr>
          <a:lstStyle/>
          <a:p>
            <a:r>
              <a:rPr lang="en-US" altLang="zh-CN" sz="2400" b="1" dirty="0">
                <a:solidFill>
                  <a:srgbClr val="C6383E"/>
                </a:solidFill>
              </a:rPr>
              <a:t>excavation</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dirty="0"/>
              <a:t>n.</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digging </a:t>
            </a:r>
            <a:r>
              <a:rPr lang="zh-CN" altLang="en-US" sz="2400" dirty="0"/>
              <a:t>发掘；挖掘</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The bad weather has hung up the work of </a:t>
            </a:r>
            <a:r>
              <a:rPr lang="en-US" altLang="zh-CN" sz="2400" dirty="0">
                <a:solidFill>
                  <a:srgbClr val="C00000"/>
                </a:solidFill>
              </a:rPr>
              <a:t>excavation</a:t>
            </a:r>
            <a:r>
              <a:rPr lang="en-US" altLang="zh-CN" sz="2400" dirty="0"/>
              <a:t>.</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恶劣的天气耽误了挖掘工作。</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excavation">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28375" y="547376"/>
            <a:ext cx="609600" cy="609600"/>
          </a:xfrm>
          <a:prstGeom prst="rect">
            <a:avLst/>
          </a:prstGeom>
        </p:spPr>
      </p:pic>
    </p:spTree>
    <p:extLst>
      <p:ext uri="{BB962C8B-B14F-4D97-AF65-F5344CB8AC3E}">
        <p14:creationId xmlns:p14="http://schemas.microsoft.com/office/powerpoint/2010/main" val="387868621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977"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376724" cy="461665"/>
          </a:xfrm>
          <a:prstGeom prst="rect">
            <a:avLst/>
          </a:prstGeom>
          <a:noFill/>
          <a:ln w="9525">
            <a:noFill/>
            <a:miter lim="800000"/>
            <a:headEnd/>
            <a:tailEnd/>
          </a:ln>
        </p:spPr>
        <p:txBody>
          <a:bodyPr wrap="none">
            <a:spAutoFit/>
          </a:bodyPr>
          <a:lstStyle/>
          <a:p>
            <a:r>
              <a:rPr lang="en-US" altLang="zh-CN" sz="2400" b="1" dirty="0">
                <a:solidFill>
                  <a:srgbClr val="C6383E"/>
                </a:solidFill>
              </a:rPr>
              <a:t>disparate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completely different </a:t>
            </a:r>
            <a:r>
              <a:rPr lang="zh-CN" altLang="en-US" sz="2400" dirty="0"/>
              <a:t>不同的；异类的</a:t>
            </a:r>
          </a:p>
        </p:txBody>
      </p:sp>
      <p:pic>
        <p:nvPicPr>
          <p:cNvPr id="15" name="播放" descr="未命名-3SSD.png"/>
          <p:cNvPicPr>
            <a:picLocks noChangeAspect="1"/>
          </p:cNvPicPr>
          <p:nvPr/>
        </p:nvPicPr>
        <p: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6"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461665"/>
          </a:xfrm>
          <a:prstGeom prst="rect">
            <a:avLst/>
          </a:prstGeom>
        </p:spPr>
        <p:txBody>
          <a:bodyPr wrap="square">
            <a:spAutoFit/>
          </a:bodyPr>
          <a:lstStyle/>
          <a:p>
            <a:pPr algn="just"/>
            <a:r>
              <a:rPr lang="en-US" altLang="zh-CN" sz="2400" dirty="0"/>
              <a:t>The three experiments gave quite </a:t>
            </a:r>
            <a:r>
              <a:rPr lang="en-US" altLang="zh-CN" sz="2400" dirty="0">
                <a:solidFill>
                  <a:srgbClr val="C00000"/>
                </a:solidFill>
              </a:rPr>
              <a:t>disparate</a:t>
            </a:r>
            <a:r>
              <a:rPr lang="en-US" altLang="zh-CN" sz="2400" dirty="0"/>
              <a:t> results.</a:t>
            </a:r>
            <a:endParaRPr lang="zh-CN" altLang="en-US" sz="2400" dirty="0"/>
          </a:p>
        </p:txBody>
      </p:sp>
      <p:pic>
        <p:nvPicPr>
          <p:cNvPr id="22" name="T1">
            <a:extLst>
              <a:ext uri="{FF2B5EF4-FFF2-40B4-BE49-F238E27FC236}">
                <a16:creationId xmlns:a16="http://schemas.microsoft.com/office/drawing/2014/main" id="{0E8993D4-E690-DAF3-ED5A-6EA4DC22870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802983" y="2798724"/>
            <a:ext cx="268800" cy="287791"/>
          </a:xfrm>
          <a:prstGeom prst="rect">
            <a:avLst/>
          </a:prstGeom>
        </p:spPr>
      </p:pic>
      <p:sp>
        <p:nvSpPr>
          <p:cNvPr id="23" name="矩形 22">
            <a:extLst>
              <a:ext uri="{FF2B5EF4-FFF2-40B4-BE49-F238E27FC236}">
                <a16:creationId xmlns:a16="http://schemas.microsoft.com/office/drawing/2014/main" id="{ADFD35B5-C03E-0CD3-0449-3CAE1E9F5C4B}"/>
              </a:ext>
            </a:extLst>
          </p:cNvPr>
          <p:cNvSpPr/>
          <p:nvPr/>
        </p:nvSpPr>
        <p:spPr>
          <a:xfrm>
            <a:off x="1132704" y="2720840"/>
            <a:ext cx="7199312" cy="461665"/>
          </a:xfrm>
          <a:prstGeom prst="rect">
            <a:avLst/>
          </a:prstGeom>
        </p:spPr>
        <p:txBody>
          <a:bodyPr wrap="square">
            <a:spAutoFit/>
          </a:bodyPr>
          <a:lstStyle/>
          <a:p>
            <a:pPr algn="just"/>
            <a:r>
              <a:rPr lang="zh-CN" altLang="en-US" sz="2400" dirty="0"/>
              <a:t>这三次试验所获得的结果迥然不同。</a:t>
            </a:r>
          </a:p>
        </p:txBody>
      </p:sp>
      <p:sp>
        <p:nvSpPr>
          <p:cNvPr id="11" name="虚尾箭头 10">
            <a:hlinkClick r:id="rId8"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disparat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83690" y="558907"/>
            <a:ext cx="609600" cy="609600"/>
          </a:xfrm>
          <a:prstGeom prst="rect">
            <a:avLst/>
          </a:prstGeom>
        </p:spPr>
      </p:pic>
    </p:spTree>
    <p:extLst>
      <p:ext uri="{BB962C8B-B14F-4D97-AF65-F5344CB8AC3E}">
        <p14:creationId xmlns:p14="http://schemas.microsoft.com/office/powerpoint/2010/main" val="31398466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22"/>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childTnLst>
              </p:cTn>
              <p:nextCondLst>
                <p:cond evt="onClick" delay="0">
                  <p:tgtEl>
                    <p:spTgt spid="22"/>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533"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23" grpId="0"/>
    </p:bldLst>
  </p:timing>
</p:sld>
</file>

<file path=ppt/slides/slide1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矩形 5"/>
          <p:cNvSpPr>
            <a:spLocks noChangeArrowheads="1"/>
          </p:cNvSpPr>
          <p:nvPr/>
        </p:nvSpPr>
        <p:spPr bwMode="auto">
          <a:xfrm>
            <a:off x="1042988" y="621344"/>
            <a:ext cx="1294393" cy="461665"/>
          </a:xfrm>
          <a:prstGeom prst="rect">
            <a:avLst/>
          </a:prstGeom>
          <a:noFill/>
          <a:ln w="9525">
            <a:noFill/>
            <a:miter lim="800000"/>
            <a:headEnd/>
            <a:tailEnd/>
          </a:ln>
        </p:spPr>
        <p:txBody>
          <a:bodyPr wrap="none">
            <a:spAutoFit/>
          </a:bodyPr>
          <a:lstStyle/>
          <a:p>
            <a:r>
              <a:rPr lang="en-US" altLang="zh-CN" sz="2400" b="1" dirty="0">
                <a:solidFill>
                  <a:srgbClr val="C6383E"/>
                </a:solidFill>
              </a:rPr>
              <a:t>cohesive</a:t>
            </a:r>
          </a:p>
        </p:txBody>
      </p:sp>
      <p:sp>
        <p:nvSpPr>
          <p:cNvPr id="10" name="矩形 9"/>
          <p:cNvSpPr/>
          <p:nvPr/>
        </p:nvSpPr>
        <p:spPr>
          <a:xfrm>
            <a:off x="907366" y="1561140"/>
            <a:ext cx="720050" cy="461665"/>
          </a:xfrm>
          <a:prstGeom prst="rect">
            <a:avLst/>
          </a:prstGeom>
        </p:spPr>
        <p:txBody>
          <a:bodyPr wrap="square">
            <a:spAutoFit/>
          </a:bodyPr>
          <a:lstStyle/>
          <a:p>
            <a:pPr algn="r"/>
            <a:r>
              <a:rPr lang="en-US" altLang="zh-CN" sz="2400" i="1"/>
              <a:t>adj.</a:t>
            </a:r>
            <a:endParaRPr lang="zh-CN" altLang="en-US" sz="2400" dirty="0"/>
          </a:p>
        </p:txBody>
      </p:sp>
      <p:sp>
        <p:nvSpPr>
          <p:cNvPr id="13" name="矩形 12"/>
          <p:cNvSpPr/>
          <p:nvPr/>
        </p:nvSpPr>
        <p:spPr>
          <a:xfrm>
            <a:off x="1515073" y="1559453"/>
            <a:ext cx="6816943" cy="461665"/>
          </a:xfrm>
          <a:prstGeom prst="rect">
            <a:avLst/>
          </a:prstGeom>
        </p:spPr>
        <p:txBody>
          <a:bodyPr wrap="square">
            <a:spAutoFit/>
          </a:bodyPr>
          <a:lstStyle/>
          <a:p>
            <a:r>
              <a:rPr lang="en-US" altLang="zh-CN" sz="2400" dirty="0"/>
              <a:t>well-integrated </a:t>
            </a:r>
            <a:r>
              <a:rPr lang="zh-CN" altLang="en-US" sz="2400" dirty="0"/>
              <a:t>有凝聚力的</a:t>
            </a:r>
          </a:p>
        </p:txBody>
      </p:sp>
      <p:sp>
        <p:nvSpPr>
          <p:cNvPr id="14" name="虚尾箭头 13">
            <a:hlinkClick r:id="rId4"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播放" descr="未命名-3SSD.png"/>
          <p:cNvPicPr>
            <a:picLocks noChangeAspect="1"/>
          </p:cNvPicPr>
          <p:nvPr/>
        </p:nvPicPr>
        <p:blipFill>
          <a:blip r:embed="rId5">
            <a:duotone>
              <a:schemeClr val="accent2">
                <a:shade val="45000"/>
                <a:satMod val="135000"/>
              </a:schemeClr>
              <a:prstClr val="white"/>
            </a:duotone>
            <a:extLst>
              <a:ext uri="{BEBA8EAE-BF5A-486C-A8C5-ECC9F3942E4B}">
                <a14:imgProps xmlns:a14="http://schemas.microsoft.com/office/drawing/2010/main">
                  <a14:imgLayer r:embed="rId6">
                    <a14:imgEffect>
                      <a14:colorTemperature colorTemp="11200"/>
                    </a14:imgEffect>
                  </a14:imgLayer>
                </a14:imgProps>
              </a:ext>
            </a:extLst>
          </a:blip>
          <a:stretch>
            <a:fillRect/>
          </a:stretch>
        </p:blipFill>
        <p:spPr>
          <a:xfrm>
            <a:off x="794411" y="739077"/>
            <a:ext cx="252000" cy="249261"/>
          </a:xfrm>
          <a:prstGeom prst="rect">
            <a:avLst/>
          </a:prstGeom>
        </p:spPr>
      </p:pic>
      <p:pic>
        <p:nvPicPr>
          <p:cNvPr id="20" name="图片 19" descr="EG.png"/>
          <p:cNvPicPr>
            <a:picLocks noChangeAspect="1"/>
          </p:cNvPicPr>
          <p:nvPr/>
        </p:nvPicPr>
        <p:blipFill>
          <a:blip r:embed="rId7" cstate="print">
            <a:duotone>
              <a:schemeClr val="accent2">
                <a:shade val="45000"/>
                <a:satMod val="135000"/>
              </a:schemeClr>
              <a:prstClr val="white"/>
            </a:duotone>
          </a:blip>
          <a:stretch>
            <a:fillRect/>
          </a:stretch>
        </p:blipFill>
        <p:spPr>
          <a:xfrm>
            <a:off x="802983" y="2333020"/>
            <a:ext cx="269242" cy="252000"/>
          </a:xfrm>
          <a:prstGeom prst="rect">
            <a:avLst/>
          </a:prstGeom>
        </p:spPr>
      </p:pic>
      <p:sp>
        <p:nvSpPr>
          <p:cNvPr id="21" name="矩形 20"/>
          <p:cNvSpPr/>
          <p:nvPr/>
        </p:nvSpPr>
        <p:spPr>
          <a:xfrm>
            <a:off x="1132704" y="2246440"/>
            <a:ext cx="7199312" cy="830997"/>
          </a:xfrm>
          <a:prstGeom prst="rect">
            <a:avLst/>
          </a:prstGeom>
        </p:spPr>
        <p:txBody>
          <a:bodyPr wrap="square">
            <a:spAutoFit/>
          </a:bodyPr>
          <a:lstStyle/>
          <a:p>
            <a:pPr algn="just"/>
            <a:r>
              <a:rPr lang="en-US" altLang="zh-CN" sz="2400" spc="-30" dirty="0"/>
              <a:t>Sports can be regarded as a </a:t>
            </a:r>
            <a:r>
              <a:rPr lang="en-US" altLang="zh-CN" sz="2400" spc="-30" dirty="0">
                <a:solidFill>
                  <a:srgbClr val="C00000"/>
                </a:solidFill>
              </a:rPr>
              <a:t>cohesive</a:t>
            </a:r>
            <a:r>
              <a:rPr lang="en-US" altLang="zh-CN" sz="2400" spc="-30" dirty="0"/>
              <a:t> force in international</a:t>
            </a:r>
            <a:r>
              <a:rPr lang="en-US" altLang="zh-CN" sz="2400" dirty="0"/>
              <a:t> affairs.</a:t>
            </a:r>
            <a:endParaRPr lang="zh-CN" altLang="en-US" sz="2400" dirty="0"/>
          </a:p>
        </p:txBody>
      </p:sp>
      <p:pic>
        <p:nvPicPr>
          <p:cNvPr id="11" name="T1">
            <a:extLst>
              <a:ext uri="{FF2B5EF4-FFF2-40B4-BE49-F238E27FC236}">
                <a16:creationId xmlns:a16="http://schemas.microsoft.com/office/drawing/2014/main" id="{0E8993D4-E690-DAF3-ED5A-6EA4DC228709}"/>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802983" y="3147704"/>
            <a:ext cx="268800" cy="287791"/>
          </a:xfrm>
          <a:prstGeom prst="rect">
            <a:avLst/>
          </a:prstGeom>
        </p:spPr>
      </p:pic>
      <p:sp>
        <p:nvSpPr>
          <p:cNvPr id="12" name="矩形 11">
            <a:extLst>
              <a:ext uri="{FF2B5EF4-FFF2-40B4-BE49-F238E27FC236}">
                <a16:creationId xmlns:a16="http://schemas.microsoft.com/office/drawing/2014/main" id="{ADFD35B5-C03E-0CD3-0449-3CAE1E9F5C4B}"/>
              </a:ext>
            </a:extLst>
          </p:cNvPr>
          <p:cNvSpPr/>
          <p:nvPr/>
        </p:nvSpPr>
        <p:spPr>
          <a:xfrm>
            <a:off x="1132704" y="3069820"/>
            <a:ext cx="7199312" cy="461665"/>
          </a:xfrm>
          <a:prstGeom prst="rect">
            <a:avLst/>
          </a:prstGeom>
        </p:spPr>
        <p:txBody>
          <a:bodyPr wrap="square">
            <a:spAutoFit/>
          </a:bodyPr>
          <a:lstStyle/>
          <a:p>
            <a:pPr algn="just"/>
            <a:r>
              <a:rPr lang="zh-CN" altLang="en-US" sz="2400" dirty="0"/>
              <a:t>体育运动可以被看成国际事务中的凝聚性力量。</a:t>
            </a:r>
          </a:p>
        </p:txBody>
      </p:sp>
      <p:pic>
        <p:nvPicPr>
          <p:cNvPr id="2" name="cohesive">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801359" y="558907"/>
            <a:ext cx="609600" cy="609600"/>
          </a:xfrm>
          <a:prstGeom prst="rect">
            <a:avLst/>
          </a:prstGeom>
        </p:spPr>
      </p:pic>
    </p:spTree>
    <p:extLst>
      <p:ext uri="{BB962C8B-B14F-4D97-AF65-F5344CB8AC3E}">
        <p14:creationId xmlns:p14="http://schemas.microsoft.com/office/powerpoint/2010/main" val="12878781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childTnLst>
              </p:cTn>
              <p:nextCondLst>
                <p:cond evt="onClick" delay="0">
                  <p:tgtEl>
                    <p:spTgt spid="20"/>
                  </p:tgtEl>
                </p:cond>
              </p:nextCondLst>
            </p:seq>
            <p:seq concurrent="1" nextAc="seek">
              <p:cTn id="7" restart="whenNotActive" fill="hold" evtFilter="cancelBubble" nodeType="interactiveSeq">
                <p:stCondLst>
                  <p:cond evt="onClick" delay="0">
                    <p:tgtEl>
                      <p:spTgt spid="11"/>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childTnLst>
                    </p:cTn>
                  </p:par>
                </p:childTnLst>
              </p:cTn>
              <p:nextCondLst>
                <p:cond evt="onClick" delay="0">
                  <p:tgtEl>
                    <p:spTgt spid="11"/>
                  </p:tgtEl>
                </p:cond>
              </p:nextCondLst>
            </p:seq>
            <p:audio>
              <p:cMediaNode vol="80000">
                <p:cTn id="12" fill="hold" display="0">
                  <p:stCondLst>
                    <p:cond delay="indefinite"/>
                  </p:stCondLst>
                  <p:endCondLst>
                    <p:cond evt="onStopAudio" delay="0">
                      <p:tgtEl>
                        <p:sldTgt/>
                      </p:tgtEl>
                    </p:cond>
                  </p:endCondLst>
                </p:cTn>
                <p:tgtEl>
                  <p:spTgt spid="2"/>
                </p:tgtEl>
              </p:cMediaNode>
            </p:audio>
            <p:seq concurrent="1" nextAc="seek">
              <p:cTn id="13" restart="whenNotActive" fill="hold" evtFilter="cancelBubble" nodeType="interactiveSeq">
                <p:stCondLst>
                  <p:cond evt="onClick" delay="0">
                    <p:tgtEl>
                      <p:spTgt spid="15"/>
                    </p:tgtEl>
                  </p:cond>
                </p:stCondLst>
                <p:endSync evt="end" delay="0">
                  <p:rtn val="all"/>
                </p:endSync>
                <p:childTnLst>
                  <p:par>
                    <p:cTn id="14" fill="hold">
                      <p:stCondLst>
                        <p:cond delay="0"/>
                      </p:stCondLst>
                      <p:childTnLst>
                        <p:par>
                          <p:cTn id="15" fill="hold">
                            <p:stCondLst>
                              <p:cond delay="0"/>
                            </p:stCondLst>
                            <p:childTnLst>
                              <p:par>
                                <p:cTn id="16" presetID="1" presetClass="mediacall" presetSubtype="0" fill="hold" nodeType="clickEffect">
                                  <p:stCondLst>
                                    <p:cond delay="0"/>
                                  </p:stCondLst>
                                  <p:childTnLst>
                                    <p:cmd type="call" cmd="playFrom(0.0)">
                                      <p:cBhvr>
                                        <p:cTn id="17" dur="2612" fill="hold"/>
                                        <p:tgtEl>
                                          <p:spTgt spid="2"/>
                                        </p:tgtEl>
                                      </p:cBhvr>
                                    </p:cmd>
                                  </p:childTnLst>
                                </p:cTn>
                              </p:par>
                            </p:childTnLst>
                          </p:cTn>
                        </p:par>
                      </p:childTnLst>
                    </p:cTn>
                  </p:par>
                </p:childTnLst>
              </p:cTn>
              <p:nextCondLst>
                <p:cond evt="onClick" delay="0">
                  <p:tgtEl>
                    <p:spTgt spid="15"/>
                  </p:tgtEl>
                </p:cond>
              </p:nextCondLst>
            </p:seq>
          </p:childTnLst>
        </p:cTn>
      </p:par>
    </p:tnLst>
    <p:bldLst>
      <p:bldP spid="21" grpId="0"/>
      <p:bldP spid="12" grpId="0"/>
    </p:bld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830997"/>
          </a:xfrm>
          <a:prstGeom prst="rect">
            <a:avLst/>
          </a:prstGeom>
          <a:noFill/>
        </p:spPr>
        <p:txBody>
          <a:bodyPr wrap="square" rtlCol="0">
            <a:spAutoFit/>
          </a:bodyPr>
          <a:lstStyle/>
          <a:p>
            <a:pPr algn="just"/>
            <a:r>
              <a:rPr lang="en-US" altLang="zh-CN" sz="2400" spc="-20" dirty="0">
                <a:solidFill>
                  <a:srgbClr val="0070C0"/>
                </a:solidFill>
              </a:rPr>
              <a:t>Marco Polo, the famous explorer who familiarized Europe with China</a:t>
            </a:r>
            <a:r>
              <a:rPr lang="en-US" altLang="zh-CN" sz="2400" spc="-30" dirty="0">
                <a:solidFill>
                  <a:srgbClr val="0070C0"/>
                </a:solidFill>
              </a:rPr>
              <a:t> in the 13th century CE, referred to the land as “Cathay”.</a:t>
            </a:r>
            <a:endParaRPr lang="zh-CN" altLang="en-US" sz="2400" dirty="0">
              <a:solidFill>
                <a:srgbClr val="0070C0"/>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49" y="1669515"/>
            <a:ext cx="921951" cy="252000"/>
          </a:xfrm>
          <a:prstGeom prst="rect">
            <a:avLst/>
          </a:prstGeom>
        </p:spPr>
      </p:pic>
      <p:sp>
        <p:nvSpPr>
          <p:cNvPr id="13" name="文本框 12"/>
          <p:cNvSpPr txBox="1"/>
          <p:nvPr/>
        </p:nvSpPr>
        <p:spPr>
          <a:xfrm>
            <a:off x="360000" y="1922026"/>
            <a:ext cx="8532300" cy="830997"/>
          </a:xfrm>
          <a:prstGeom prst="rect">
            <a:avLst/>
          </a:prstGeom>
          <a:noFill/>
        </p:spPr>
        <p:txBody>
          <a:bodyPr wrap="square" rtlCol="0">
            <a:spAutoFit/>
          </a:bodyPr>
          <a:lstStyle/>
          <a:p>
            <a:r>
              <a:rPr lang="en-US" altLang="zh-CN" sz="2400" spc="-30" dirty="0"/>
              <a:t>Marco Polo was the famous explorer who introduced China to Europe</a:t>
            </a:r>
            <a:r>
              <a:rPr lang="en-US" altLang="zh-CN" sz="2400" spc="20" dirty="0"/>
              <a:t> in the 13th century CE. He used “Cathay” to call China.</a:t>
            </a:r>
            <a:endParaRPr lang="zh-CN" altLang="en-US" sz="2400" spc="-20" dirty="0"/>
          </a:p>
        </p:txBody>
      </p:sp>
    </p:spTree>
    <p:extLst>
      <p:ext uri="{BB962C8B-B14F-4D97-AF65-F5344CB8AC3E}">
        <p14:creationId xmlns:p14="http://schemas.microsoft.com/office/powerpoint/2010/main" val="35855034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13" grpId="0"/>
    </p:bldLst>
  </p:timing>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830997"/>
          </a:xfrm>
          <a:prstGeom prst="rect">
            <a:avLst/>
          </a:prstGeom>
          <a:noFill/>
        </p:spPr>
        <p:txBody>
          <a:bodyPr wrap="square" rtlCol="0">
            <a:spAutoFit/>
          </a:bodyPr>
          <a:lstStyle/>
          <a:p>
            <a:pPr algn="just"/>
            <a:r>
              <a:rPr lang="en-US" altLang="zh-CN" sz="2400" spc="40" dirty="0">
                <a:solidFill>
                  <a:srgbClr val="0070C0"/>
                </a:solidFill>
              </a:rPr>
              <a:t>Its discovery posed a great challenge to the theory of the African</a:t>
            </a:r>
            <a:r>
              <a:rPr lang="en-US" altLang="zh-CN" sz="2400" spc="-20" dirty="0">
                <a:solidFill>
                  <a:srgbClr val="0070C0"/>
                </a:solidFill>
              </a:rPr>
              <a:t> origin of the human race.</a:t>
            </a:r>
            <a:endParaRPr lang="zh-CN" altLang="en-US" sz="2400" dirty="0">
              <a:solidFill>
                <a:srgbClr val="0070C0"/>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49" y="1669515"/>
            <a:ext cx="921951" cy="252000"/>
          </a:xfrm>
          <a:prstGeom prst="rect">
            <a:avLst/>
          </a:prstGeom>
        </p:spPr>
      </p:pic>
      <p:sp>
        <p:nvSpPr>
          <p:cNvPr id="13" name="文本框 12"/>
          <p:cNvSpPr txBox="1"/>
          <p:nvPr/>
        </p:nvSpPr>
        <p:spPr>
          <a:xfrm>
            <a:off x="360000" y="1922026"/>
            <a:ext cx="8532300" cy="830997"/>
          </a:xfrm>
          <a:prstGeom prst="rect">
            <a:avLst/>
          </a:prstGeom>
          <a:noFill/>
        </p:spPr>
        <p:txBody>
          <a:bodyPr wrap="square" rtlCol="0">
            <a:spAutoFit/>
          </a:bodyPr>
          <a:lstStyle/>
          <a:p>
            <a:pPr algn="just"/>
            <a:r>
              <a:rPr lang="en-US" altLang="zh-CN" sz="2400" spc="40" dirty="0"/>
              <a:t>The discovery (of the Shu Ape) was a strong evidence against the</a:t>
            </a:r>
            <a:r>
              <a:rPr lang="en-US" altLang="zh-CN" sz="2400" dirty="0"/>
              <a:t> theory that the human race originated in Africa.</a:t>
            </a:r>
            <a:endParaRPr lang="zh-CN" altLang="en-US" sz="2400" spc="-20" dirty="0"/>
          </a:p>
        </p:txBody>
      </p:sp>
    </p:spTree>
    <p:extLst>
      <p:ext uri="{BB962C8B-B14F-4D97-AF65-F5344CB8AC3E}">
        <p14:creationId xmlns:p14="http://schemas.microsoft.com/office/powerpoint/2010/main" val="40346376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13" grpId="0"/>
    </p:bldLst>
  </p:timing>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虚尾箭头 13">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60000" y="563655"/>
            <a:ext cx="8532300" cy="1200329"/>
          </a:xfrm>
          <a:prstGeom prst="rect">
            <a:avLst/>
          </a:prstGeom>
          <a:noFill/>
        </p:spPr>
        <p:txBody>
          <a:bodyPr wrap="square" rtlCol="0">
            <a:spAutoFit/>
          </a:bodyPr>
          <a:lstStyle/>
          <a:p>
            <a:pPr algn="just"/>
            <a:r>
              <a:rPr lang="en-US" altLang="zh-CN" sz="2400" spc="40" dirty="0">
                <a:solidFill>
                  <a:srgbClr val="0070C0"/>
                </a:solidFill>
              </a:rPr>
              <a:t>The Xia dynasty was considered, for many years, more myth than</a:t>
            </a:r>
            <a:r>
              <a:rPr lang="en-US" altLang="zh-CN" sz="2400" dirty="0">
                <a:solidFill>
                  <a:srgbClr val="0070C0"/>
                </a:solidFill>
              </a:rPr>
              <a:t> </a:t>
            </a:r>
            <a:r>
              <a:rPr lang="en-US" altLang="zh-CN" sz="2400" spc="-20" dirty="0">
                <a:solidFill>
                  <a:srgbClr val="0070C0"/>
                </a:solidFill>
              </a:rPr>
              <a:t>fact until excavations in the 1960s and 1970s CE uncovered sites that</a:t>
            </a:r>
            <a:r>
              <a:rPr lang="en-US" altLang="zh-CN" sz="2400" dirty="0">
                <a:solidFill>
                  <a:srgbClr val="0070C0"/>
                </a:solidFill>
              </a:rPr>
              <a:t> argued strongly for its existence.</a:t>
            </a:r>
            <a:endParaRPr lang="zh-CN" altLang="en-US" sz="2400" dirty="0">
              <a:solidFill>
                <a:srgbClr val="0070C0"/>
              </a:solidFill>
            </a:endParaRPr>
          </a:p>
        </p:txBody>
      </p:sp>
      <p:pic>
        <p:nvPicPr>
          <p:cNvPr id="12" name="图片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449" y="2028897"/>
            <a:ext cx="921951" cy="252000"/>
          </a:xfrm>
          <a:prstGeom prst="rect">
            <a:avLst/>
          </a:prstGeom>
        </p:spPr>
      </p:pic>
      <p:sp>
        <p:nvSpPr>
          <p:cNvPr id="13" name="文本框 12"/>
          <p:cNvSpPr txBox="1"/>
          <p:nvPr/>
        </p:nvSpPr>
        <p:spPr>
          <a:xfrm>
            <a:off x="360000" y="2281408"/>
            <a:ext cx="8532300" cy="1200329"/>
          </a:xfrm>
          <a:prstGeom prst="rect">
            <a:avLst/>
          </a:prstGeom>
          <a:noFill/>
        </p:spPr>
        <p:txBody>
          <a:bodyPr wrap="square" rtlCol="0">
            <a:spAutoFit/>
          </a:bodyPr>
          <a:lstStyle/>
          <a:p>
            <a:pPr algn="just"/>
            <a:r>
              <a:rPr lang="en-US" altLang="zh-CN" sz="2400" dirty="0"/>
              <a:t>For many years people think that the Xia dynasty was not a fact but </a:t>
            </a:r>
            <a:r>
              <a:rPr lang="en-US" altLang="zh-CN" sz="2400" spc="-30" dirty="0"/>
              <a:t>a legendary dynasty, but in the 1960s and 1970s excavations provided</a:t>
            </a:r>
            <a:r>
              <a:rPr lang="en-US" altLang="zh-CN" sz="2400" dirty="0"/>
              <a:t> strong evidence that it did exist.</a:t>
            </a:r>
            <a:endParaRPr lang="zh-CN" altLang="en-US" sz="2400" spc="-20" dirty="0"/>
          </a:p>
        </p:txBody>
      </p:sp>
    </p:spTree>
    <p:extLst>
      <p:ext uri="{BB962C8B-B14F-4D97-AF65-F5344CB8AC3E}">
        <p14:creationId xmlns:p14="http://schemas.microsoft.com/office/powerpoint/2010/main" val="159875095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childTnLst>
              </p:cTn>
              <p:nextCondLst>
                <p:cond evt="onClick" delay="0">
                  <p:tgtEl>
                    <p:spTgt spid="12"/>
                  </p:tgtEl>
                </p:cond>
              </p:nextCondLst>
            </p:seq>
          </p:childTnLst>
        </p:cTn>
      </p:par>
    </p:tnLst>
    <p:bldLst>
      <p:bldP spid="13" grpId="0"/>
    </p:bldLst>
  </p:timing>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6"/>
          <p:cNvSpPr txBox="1">
            <a:spLocks noChangeArrowheads="1"/>
          </p:cNvSpPr>
          <p:nvPr/>
        </p:nvSpPr>
        <p:spPr bwMode="auto">
          <a:xfrm>
            <a:off x="1233587" y="808245"/>
            <a:ext cx="6676828" cy="1020408"/>
          </a:xfrm>
          <a:prstGeom prst="rect">
            <a:avLst/>
          </a:prstGeom>
          <a:noFill/>
          <a:ln w="9525">
            <a:noFill/>
            <a:miter lim="800000"/>
            <a:headEnd/>
            <a:tailEnd/>
          </a:ln>
        </p:spPr>
        <p:txBody>
          <a:bodyPr wrap="none">
            <a:spAutoFit/>
          </a:bodyPr>
          <a:lstStyle/>
          <a:p>
            <a:pPr algn="ctr">
              <a:lnSpc>
                <a:spcPts val="3800"/>
              </a:lnSpc>
            </a:pPr>
            <a:r>
              <a:rPr lang="zh-CN" altLang="en-US" sz="2800" b="1" dirty="0"/>
              <a:t>关于现代中国，你可能不知道的十件事情</a:t>
            </a:r>
            <a:endParaRPr lang="en-US" altLang="zh-CN" sz="2800" b="1" dirty="0"/>
          </a:p>
          <a:p>
            <a:pPr algn="ctr">
              <a:lnSpc>
                <a:spcPts val="3800"/>
              </a:lnSpc>
            </a:pPr>
            <a:r>
              <a:rPr lang="zh-CN" altLang="en-US" sz="2400" dirty="0"/>
              <a:t>利拉</a:t>
            </a:r>
            <a:r>
              <a:rPr lang="en-US" altLang="zh-CN" sz="2400" dirty="0">
                <a:latin typeface="+mn-ea"/>
                <a:ea typeface="+mn-ea"/>
              </a:rPr>
              <a:t>·</a:t>
            </a:r>
            <a:r>
              <a:rPr lang="zh-CN" altLang="en-US" sz="2400" dirty="0"/>
              <a:t>哈希姆</a:t>
            </a:r>
            <a:endParaRPr lang="zh-CN" altLang="en-US" sz="2400" b="1" dirty="0"/>
          </a:p>
        </p:txBody>
      </p:sp>
      <p:sp>
        <p:nvSpPr>
          <p:cNvPr id="12" name="TextBox 7"/>
          <p:cNvSpPr txBox="1">
            <a:spLocks noChangeArrowheads="1"/>
          </p:cNvSpPr>
          <p:nvPr/>
        </p:nvSpPr>
        <p:spPr bwMode="auto">
          <a:xfrm>
            <a:off x="503238" y="2080455"/>
            <a:ext cx="8137525" cy="1938992"/>
          </a:xfrm>
          <a:prstGeom prst="rect">
            <a:avLst/>
          </a:prstGeom>
          <a:noFill/>
          <a:ln w="9525">
            <a:noFill/>
            <a:miter lim="800000"/>
            <a:headEnd/>
            <a:tailEnd/>
          </a:ln>
        </p:spPr>
        <p:txBody>
          <a:bodyPr>
            <a:spAutoFit/>
          </a:bodyPr>
          <a:lstStyle/>
          <a:p>
            <a:r>
              <a:rPr lang="zh-CN" altLang="en-US" sz="2400" dirty="0"/>
              <a:t>         闭上眼睛想想，</a:t>
            </a:r>
            <a:r>
              <a:rPr lang="en-US" altLang="zh-CN" sz="2400" dirty="0">
                <a:latin typeface="+mn-ea"/>
                <a:ea typeface="+mn-ea"/>
              </a:rPr>
              <a:t>14</a:t>
            </a:r>
            <a:r>
              <a:rPr lang="zh-CN" altLang="en-US" sz="2400" dirty="0"/>
              <a:t>亿人口的中国是什么样子的？你看到了什么？是不是成片的稻田、带子系在下巴上的小尖帽、咧嘴笑着的乡下农民和他们嘴上飘着的又细又长的八字胡？事实上，尽管农业仍是中国规模最大的产业之一，自几千年前中华文明诞生以来，中国已经大变样。</a:t>
            </a:r>
            <a:endParaRPr lang="en-US" altLang="zh-CN" sz="2400" dirty="0"/>
          </a:p>
        </p:txBody>
      </p:sp>
      <p:sp>
        <p:nvSpPr>
          <p:cNvPr id="8" name="矩形 7"/>
          <p:cNvSpPr>
            <a:spLocks noChangeArrowheads="1"/>
          </p:cNvSpPr>
          <p:nvPr/>
        </p:nvSpPr>
        <p:spPr bwMode="auto">
          <a:xfrm>
            <a:off x="7008478" y="3557782"/>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a:t>
            </a:r>
            <a:r>
              <a:rPr lang="zh-CN" altLang="en-US" sz="2400" dirty="0"/>
              <a:t>）</a:t>
            </a:r>
          </a:p>
        </p:txBody>
      </p:sp>
      <p:sp>
        <p:nvSpPr>
          <p:cNvPr id="9" name="虚尾箭头 8">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5"/>
          <p:cNvSpPr txBox="1"/>
          <p:nvPr/>
        </p:nvSpPr>
        <p:spPr>
          <a:xfrm>
            <a:off x="522288" y="1706210"/>
            <a:ext cx="8135937" cy="1200329"/>
          </a:xfrm>
          <a:prstGeom prst="rect">
            <a:avLst/>
          </a:prstGeom>
          <a:noFill/>
        </p:spPr>
        <p:txBody>
          <a:bodyPr>
            <a:spAutoFit/>
          </a:bodyPr>
          <a:lstStyle/>
          <a:p>
            <a:r>
              <a:rPr lang="zh-CN" altLang="en-US" sz="2400" dirty="0"/>
              <a:t>         今天，现代中国的面貌和创新能力都在改变着人们对这个东方大国的看法。下面这几个事实可以让你快速了解现代中国。</a:t>
            </a:r>
            <a:endParaRPr lang="zh-CN" altLang="en-US" sz="2400" dirty="0">
              <a:latin typeface="+mn-ea"/>
              <a:ea typeface="+mn-ea"/>
            </a:endParaRPr>
          </a:p>
        </p:txBody>
      </p:sp>
      <p:sp>
        <p:nvSpPr>
          <p:cNvPr id="11" name="矩形 10"/>
          <p:cNvSpPr>
            <a:spLocks noChangeArrowheads="1"/>
          </p:cNvSpPr>
          <p:nvPr/>
        </p:nvSpPr>
        <p:spPr bwMode="auto">
          <a:xfrm>
            <a:off x="7008478" y="2444874"/>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2</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extBox 5"/>
          <p:cNvSpPr txBox="1"/>
          <p:nvPr/>
        </p:nvSpPr>
        <p:spPr>
          <a:xfrm>
            <a:off x="522288" y="1706210"/>
            <a:ext cx="8135937" cy="3416320"/>
          </a:xfrm>
          <a:prstGeom prst="rect">
            <a:avLst/>
          </a:prstGeom>
          <a:noFill/>
        </p:spPr>
        <p:txBody>
          <a:bodyPr>
            <a:spAutoFit/>
          </a:bodyPr>
          <a:lstStyle/>
          <a:p>
            <a:pPr algn="just"/>
            <a:r>
              <a:rPr lang="zh-CN" altLang="en-US" sz="2400" b="1" dirty="0"/>
              <a:t>中国有世界上最快的列车</a:t>
            </a:r>
            <a:endParaRPr lang="en-US" altLang="zh-CN" sz="2400" b="1" dirty="0"/>
          </a:p>
          <a:p>
            <a:r>
              <a:rPr lang="zh-CN" altLang="en-US" sz="2400" dirty="0"/>
              <a:t>         在中国这么幅员辽阔的国家里，人们需要四处出行，而且速度要快！上海磁浮是世界上速度最快的商业运营列车，最高时速达到</a:t>
            </a:r>
            <a:r>
              <a:rPr lang="en-US" altLang="zh-CN" sz="2400" dirty="0">
                <a:latin typeface="+mn-ea"/>
                <a:ea typeface="+mn-ea"/>
              </a:rPr>
              <a:t>430</a:t>
            </a:r>
            <a:r>
              <a:rPr lang="zh-CN" altLang="en-US" sz="2400" dirty="0"/>
              <a:t>公里</a:t>
            </a:r>
            <a:r>
              <a:rPr lang="en-US" altLang="zh-CN" sz="2400" dirty="0"/>
              <a:t>/</a:t>
            </a:r>
            <a:r>
              <a:rPr lang="zh-CN" altLang="en-US" sz="2400" dirty="0"/>
              <a:t>小时。从首都北京坐高铁，只需大约四个半小时就能到达上海这座璀璨之城。此外，在中国，坐上一趟火车就能抵达主要景点的大门，比如西安的秦兵马俑景区。与坐飞机相比，坐高铁不但速度相差无几，而且更加便捷舒心。这都得益于中国有着世界上第二大规模的铁路网络，连接起了中国大陆的所有主要城市。</a:t>
            </a:r>
            <a:endParaRPr lang="zh-CN" altLang="en-US" sz="2400" b="1" dirty="0">
              <a:latin typeface="+mn-ea"/>
              <a:ea typeface="+mn-ea"/>
            </a:endParaRPr>
          </a:p>
        </p:txBody>
      </p:sp>
      <p:sp>
        <p:nvSpPr>
          <p:cNvPr id="9" name="矩形 8"/>
          <p:cNvSpPr>
            <a:spLocks noChangeArrowheads="1"/>
          </p:cNvSpPr>
          <p:nvPr/>
        </p:nvSpPr>
        <p:spPr bwMode="auto">
          <a:xfrm>
            <a:off x="7008478" y="4660865"/>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3</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3046988"/>
          </a:xfrm>
          <a:prstGeom prst="rect">
            <a:avLst/>
          </a:prstGeom>
          <a:noFill/>
        </p:spPr>
        <p:txBody>
          <a:bodyPr>
            <a:spAutoFit/>
          </a:bodyPr>
          <a:lstStyle/>
          <a:p>
            <a:pPr algn="just"/>
            <a:r>
              <a:rPr lang="zh-CN" altLang="en-US" sz="2400" b="1" dirty="0"/>
              <a:t>中国勇敢探索人类从未涉足的领域</a:t>
            </a:r>
            <a:endParaRPr lang="en-US" altLang="zh-CN" sz="2400" b="1" dirty="0"/>
          </a:p>
          <a:p>
            <a:pPr algn="just"/>
            <a:r>
              <a:rPr lang="zh-CN" altLang="en-US" sz="2400" dirty="0"/>
              <a:t>         中国已率先将航天器降落在月球暗面。请不要与英国摇滚乐队平克</a:t>
            </a:r>
            <a:r>
              <a:rPr lang="en-US" altLang="zh-CN" sz="2400" dirty="0">
                <a:latin typeface="+mn-ea"/>
                <a:ea typeface="+mn-ea"/>
              </a:rPr>
              <a:t>·</a:t>
            </a:r>
            <a:r>
              <a:rPr lang="zh-CN" altLang="en-US" sz="2400" dirty="0"/>
              <a:t>弗洛伊德的专辑名</a:t>
            </a:r>
            <a:r>
              <a:rPr lang="en-US" altLang="zh-CN" sz="2400" dirty="0"/>
              <a:t>《</a:t>
            </a:r>
            <a:r>
              <a:rPr lang="zh-CN" altLang="en-US" sz="2400" dirty="0"/>
              <a:t>月之暗面</a:t>
            </a:r>
            <a:r>
              <a:rPr lang="en-US" altLang="zh-CN" sz="2400" dirty="0"/>
              <a:t>》</a:t>
            </a:r>
            <a:r>
              <a:rPr lang="zh-CN" altLang="en-US" sz="2400" dirty="0"/>
              <a:t>（</a:t>
            </a:r>
            <a:r>
              <a:rPr lang="en-US" altLang="zh-CN" sz="2400" i="1" dirty="0"/>
              <a:t>The Dark Side of the Moon</a:t>
            </a:r>
            <a:r>
              <a:rPr lang="zh-CN" altLang="en-US" sz="2400" dirty="0"/>
              <a:t>）相混淆。</a:t>
            </a:r>
            <a:r>
              <a:rPr lang="en-US" altLang="zh-CN" sz="2400" dirty="0">
                <a:latin typeface="+mn-ea"/>
                <a:ea typeface="+mn-ea"/>
              </a:rPr>
              <a:t>2019</a:t>
            </a:r>
            <a:r>
              <a:rPr lang="zh-CN" altLang="en-US" sz="2400" dirty="0">
                <a:latin typeface="+mn-ea"/>
                <a:ea typeface="+mn-ea"/>
              </a:rPr>
              <a:t>年</a:t>
            </a:r>
            <a:r>
              <a:rPr lang="en-US" altLang="zh-CN" sz="2400" dirty="0">
                <a:latin typeface="+mn-ea"/>
                <a:ea typeface="+mn-ea"/>
              </a:rPr>
              <a:t>1</a:t>
            </a:r>
            <a:r>
              <a:rPr lang="zh-CN" altLang="en-US" sz="2400" dirty="0">
                <a:latin typeface="+mn-ea"/>
                <a:ea typeface="+mn-ea"/>
              </a:rPr>
              <a:t>月</a:t>
            </a:r>
            <a:r>
              <a:rPr lang="zh-CN" altLang="en-US" sz="2400" dirty="0"/>
              <a:t>的“嫦娥四号”任务旨在</a:t>
            </a:r>
            <a:r>
              <a:rPr lang="zh-CN" altLang="en-US" sz="2400" spc="100" dirty="0"/>
              <a:t>研究月球未探索区域的成分和地质状况，填补了专家们</a:t>
            </a:r>
            <a:r>
              <a:rPr lang="zh-CN" altLang="en-US" sz="2400" dirty="0"/>
              <a:t>对宇宙认识的空白，为太阳系的形成和演化提供了新的见解。</a:t>
            </a:r>
            <a:r>
              <a:rPr lang="en-US" altLang="zh-CN" sz="2400" dirty="0">
                <a:latin typeface="+mn-ea"/>
                <a:ea typeface="+mn-ea"/>
              </a:rPr>
              <a:t>2020</a:t>
            </a:r>
            <a:r>
              <a:rPr lang="zh-CN" altLang="en-US" sz="2400" dirty="0"/>
              <a:t>年</a:t>
            </a:r>
            <a:r>
              <a:rPr lang="en-US" altLang="zh-CN" sz="2400" dirty="0">
                <a:latin typeface="+mn-ea"/>
                <a:ea typeface="+mn-ea"/>
              </a:rPr>
              <a:t>7</a:t>
            </a:r>
            <a:r>
              <a:rPr lang="zh-CN" altLang="en-US" sz="2400" dirty="0"/>
              <a:t>月的“天问一号”火星任务是另一个巨大的成功，旨在研究火星环境，寻找水和生命迹象。</a:t>
            </a:r>
            <a:endParaRPr lang="zh-CN" altLang="en-US" sz="2400" b="1" dirty="0">
              <a:latin typeface="宋体" panose="02010600030101010101" pitchFamily="2" charset="-122"/>
            </a:endParaRPr>
          </a:p>
        </p:txBody>
      </p:sp>
      <p:sp>
        <p:nvSpPr>
          <p:cNvPr id="11" name="矩形 10"/>
          <p:cNvSpPr>
            <a:spLocks noChangeArrowheads="1"/>
          </p:cNvSpPr>
          <p:nvPr/>
        </p:nvSpPr>
        <p:spPr bwMode="auto">
          <a:xfrm>
            <a:off x="7008478" y="4291533"/>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4</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200329"/>
          </a:xfrm>
          <a:prstGeom prst="rect">
            <a:avLst/>
          </a:prstGeom>
          <a:noFill/>
        </p:spPr>
        <p:txBody>
          <a:bodyPr>
            <a:spAutoFit/>
          </a:bodyPr>
          <a:lstStyle/>
          <a:p>
            <a:pPr algn="just"/>
            <a:r>
              <a:rPr lang="zh-CN" altLang="en-US" sz="2400" dirty="0"/>
              <a:t>         </a:t>
            </a:r>
            <a:r>
              <a:rPr lang="zh-CN" altLang="en-US" sz="2400" dirty="0">
                <a:latin typeface="+mn-ea"/>
                <a:ea typeface="+mn-ea"/>
              </a:rPr>
              <a:t>除了月球和火星任务外，中国还于</a:t>
            </a:r>
            <a:r>
              <a:rPr lang="en-US" altLang="zh-CN" sz="2400" dirty="0">
                <a:latin typeface="+mn-ea"/>
                <a:ea typeface="+mn-ea"/>
              </a:rPr>
              <a:t>2022</a:t>
            </a:r>
            <a:r>
              <a:rPr lang="zh-CN" altLang="en-US" sz="2400" dirty="0">
                <a:latin typeface="+mn-ea"/>
                <a:ea typeface="+mn-ea"/>
              </a:rPr>
              <a:t>年底建成了天宫空间站。该空间站可用作科学研究和技术开发的平台，也可作为宇航员的训练场地。</a:t>
            </a:r>
          </a:p>
        </p:txBody>
      </p:sp>
      <p:sp>
        <p:nvSpPr>
          <p:cNvPr id="11" name="矩形 10"/>
          <p:cNvSpPr>
            <a:spLocks noChangeArrowheads="1"/>
          </p:cNvSpPr>
          <p:nvPr/>
        </p:nvSpPr>
        <p:spPr bwMode="auto">
          <a:xfrm>
            <a:off x="7008478" y="2444874"/>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5</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126644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r>
              <a:rPr lang="zh-CN" altLang="en-US" sz="2400" dirty="0"/>
              <a:t>         </a:t>
            </a:r>
            <a:r>
              <a:rPr lang="zh-CN" altLang="en-US" sz="2400" dirty="0">
                <a:latin typeface="宋体" panose="02010600030101010101" pitchFamily="2" charset="-122"/>
              </a:rPr>
              <a:t>如果您有兴趣了解更多关于中国对于无尽苍穹的探索，您可以参观位于北京的中国航天科技集团公司总部或中国航天博物馆，馆内展品重点展示了中国航天的历史发展和未来规划。</a:t>
            </a:r>
          </a:p>
        </p:txBody>
      </p:sp>
      <p:sp>
        <p:nvSpPr>
          <p:cNvPr id="11" name="矩形 10"/>
          <p:cNvSpPr>
            <a:spLocks noChangeArrowheads="1"/>
          </p:cNvSpPr>
          <p:nvPr/>
        </p:nvSpPr>
        <p:spPr bwMode="auto">
          <a:xfrm>
            <a:off x="7008478" y="2814205"/>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6</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5463250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5"/>
          <p:cNvSpPr txBox="1"/>
          <p:nvPr/>
        </p:nvSpPr>
        <p:spPr>
          <a:xfrm>
            <a:off x="522288" y="1706210"/>
            <a:ext cx="8135937" cy="3046988"/>
          </a:xfrm>
          <a:prstGeom prst="rect">
            <a:avLst/>
          </a:prstGeom>
          <a:noFill/>
        </p:spPr>
        <p:txBody>
          <a:bodyPr>
            <a:spAutoFit/>
          </a:bodyPr>
          <a:lstStyle/>
          <a:p>
            <a:pPr algn="just"/>
            <a:r>
              <a:rPr lang="zh-CN" altLang="en-US" sz="2400" b="1" dirty="0">
                <a:latin typeface="+mj-ea"/>
                <a:ea typeface="+mj-ea"/>
              </a:rPr>
              <a:t>丝绸之路重焕生机</a:t>
            </a:r>
            <a:endParaRPr lang="en-US" altLang="zh-CN" sz="2400" b="1" dirty="0">
              <a:latin typeface="+mj-ea"/>
              <a:ea typeface="+mj-ea"/>
            </a:endParaRPr>
          </a:p>
          <a:p>
            <a:pPr algn="just"/>
            <a:r>
              <a:rPr lang="zh-CN" altLang="en-US" sz="2400" dirty="0"/>
              <a:t>         </a:t>
            </a:r>
            <a:r>
              <a:rPr lang="zh-CN" altLang="en-US" sz="2400" dirty="0">
                <a:latin typeface="+mj-ea"/>
                <a:ea typeface="+mj-ea"/>
              </a:rPr>
              <a:t>该项目投资数十亿美元，致力于在少有人至的地区营建现代化的基础设施，创造巨大的机遇，沿着前人的足迹前行。前人为寻找沿途新的激动人心的地点与财富，冒着生命危险开辟了道路。随着“一带一路”倡议深入推进，中国正通过陆上丝绸之路和海上丝绸之路与沿途</a:t>
            </a:r>
            <a:r>
              <a:rPr lang="en-US" altLang="zh-CN" sz="2400" dirty="0">
                <a:latin typeface="+mj-ea"/>
                <a:ea typeface="+mj-ea"/>
              </a:rPr>
              <a:t>100</a:t>
            </a:r>
            <a:r>
              <a:rPr lang="zh-CN" altLang="en-US" sz="2400" dirty="0">
                <a:latin typeface="+mj-ea"/>
                <a:ea typeface="+mj-ea"/>
              </a:rPr>
              <a:t>多个国家建立联系。所以，绑紧靴子，向一带一路出发吧，用现代的方式去体验古时的奇迹。</a:t>
            </a:r>
          </a:p>
        </p:txBody>
      </p:sp>
      <p:sp>
        <p:nvSpPr>
          <p:cNvPr id="11" name="矩形 10"/>
          <p:cNvSpPr>
            <a:spLocks noChangeArrowheads="1"/>
          </p:cNvSpPr>
          <p:nvPr/>
        </p:nvSpPr>
        <p:spPr bwMode="auto">
          <a:xfrm>
            <a:off x="7008478" y="4291533"/>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7</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0388645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2677656"/>
          </a:xfrm>
          <a:prstGeom prst="rect">
            <a:avLst/>
          </a:prstGeom>
          <a:noFill/>
        </p:spPr>
        <p:txBody>
          <a:bodyPr>
            <a:spAutoFit/>
          </a:bodyPr>
          <a:lstStyle/>
          <a:p>
            <a:r>
              <a:rPr lang="zh-CN" altLang="en-US" sz="2400" b="1" dirty="0">
                <a:latin typeface="+mn-ea"/>
                <a:ea typeface="+mn-ea"/>
              </a:rPr>
              <a:t>中国已经实现机器人化</a:t>
            </a:r>
            <a:endParaRPr lang="en-US" altLang="zh-CN" sz="2400" b="1" dirty="0">
              <a:latin typeface="+mn-ea"/>
              <a:ea typeface="+mn-ea"/>
            </a:endParaRPr>
          </a:p>
          <a:p>
            <a:r>
              <a:rPr lang="zh-CN" altLang="en-US" sz="2400" dirty="0"/>
              <a:t>         </a:t>
            </a:r>
            <a:r>
              <a:rPr lang="zh-CN" altLang="en-US" sz="2400" dirty="0">
                <a:latin typeface="+mn-ea"/>
                <a:ea typeface="+mn-ea"/>
              </a:rPr>
              <a:t>尽管距离电影</a:t>
            </a:r>
            <a:r>
              <a:rPr lang="en-US" altLang="zh-CN" sz="2400" dirty="0">
                <a:latin typeface="+mn-ea"/>
                <a:ea typeface="+mn-ea"/>
              </a:rPr>
              <a:t>《</a:t>
            </a:r>
            <a:r>
              <a:rPr lang="zh-CN" altLang="en-US" sz="2400" dirty="0">
                <a:latin typeface="+mn-ea"/>
                <a:ea typeface="+mn-ea"/>
              </a:rPr>
              <a:t>终结者</a:t>
            </a:r>
            <a:r>
              <a:rPr lang="en-US" altLang="zh-CN" sz="2400" dirty="0">
                <a:latin typeface="+mn-ea"/>
                <a:ea typeface="+mn-ea"/>
              </a:rPr>
              <a:t>》</a:t>
            </a:r>
            <a:r>
              <a:rPr lang="zh-CN" altLang="en-US" sz="2400" dirty="0">
                <a:latin typeface="+mn-ea"/>
                <a:ea typeface="+mn-ea"/>
              </a:rPr>
              <a:t>中“天网”统治人类这种事的发生可能还要几千年的时间，现在中国的很多产业的确在实现机器人化！机器人在处理税务、做外科手术、接手军工厂的危险工作，甚至成为可爱的小助手，在银行的等候区转来转去，服务顾客的同时和他们逗乐。说真的，谁不想尝尝机器人包的地道中国风味的水饺呢？</a:t>
            </a:r>
          </a:p>
        </p:txBody>
      </p:sp>
      <p:sp>
        <p:nvSpPr>
          <p:cNvPr id="11" name="矩形 10"/>
          <p:cNvSpPr>
            <a:spLocks noChangeArrowheads="1"/>
          </p:cNvSpPr>
          <p:nvPr/>
        </p:nvSpPr>
        <p:spPr bwMode="auto">
          <a:xfrm>
            <a:off x="7008478" y="3922201"/>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8</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7096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r>
              <a:rPr lang="zh-CN" altLang="en-US" sz="2400" b="1" dirty="0">
                <a:latin typeface="+mn-ea"/>
                <a:ea typeface="+mn-ea"/>
              </a:rPr>
              <a:t>脱贫不再是梦想</a:t>
            </a:r>
            <a:endParaRPr lang="en-US" altLang="zh-CN" sz="2400" b="1" dirty="0">
              <a:latin typeface="+mn-ea"/>
              <a:ea typeface="+mn-ea"/>
            </a:endParaRPr>
          </a:p>
          <a:p>
            <a:pPr algn="just"/>
            <a:r>
              <a:rPr lang="zh-CN" altLang="en-US" sz="2400" dirty="0"/>
              <a:t>         </a:t>
            </a:r>
            <a:r>
              <a:rPr lang="en-US" altLang="zh-CN" sz="2400" dirty="0">
                <a:latin typeface="+mn-ea"/>
                <a:ea typeface="+mn-ea"/>
              </a:rPr>
              <a:t>2020</a:t>
            </a:r>
            <a:r>
              <a:rPr lang="zh-CN" altLang="en-US" sz="2400" dirty="0">
                <a:latin typeface="+mn-ea"/>
                <a:ea typeface="+mn-ea"/>
              </a:rPr>
              <a:t>年底，中国如期完成了新时代脱贫攻坚目标任务，现行标准下</a:t>
            </a:r>
            <a:r>
              <a:rPr lang="en-US" altLang="zh-CN" sz="2400" dirty="0">
                <a:latin typeface="+mn-ea"/>
                <a:ea typeface="+mn-ea"/>
              </a:rPr>
              <a:t>9899</a:t>
            </a:r>
            <a:r>
              <a:rPr lang="zh-CN" altLang="en-US" sz="2400" dirty="0">
                <a:latin typeface="+mn-ea"/>
                <a:ea typeface="+mn-ea"/>
              </a:rPr>
              <a:t>万农村贫困人口全部脱贫，</a:t>
            </a:r>
            <a:r>
              <a:rPr lang="en-US" altLang="zh-CN" sz="2400" dirty="0">
                <a:latin typeface="+mn-ea"/>
                <a:ea typeface="+mn-ea"/>
              </a:rPr>
              <a:t>832</a:t>
            </a:r>
            <a:r>
              <a:rPr lang="zh-CN" altLang="en-US" sz="2400" dirty="0">
                <a:latin typeface="+mn-ea"/>
                <a:ea typeface="+mn-ea"/>
              </a:rPr>
              <a:t>个贫困县全部摘帽，</a:t>
            </a:r>
            <a:r>
              <a:rPr lang="en-US" altLang="zh-CN" sz="2400" dirty="0">
                <a:latin typeface="+mn-ea"/>
                <a:ea typeface="+mn-ea"/>
              </a:rPr>
              <a:t>12.8</a:t>
            </a:r>
            <a:r>
              <a:rPr lang="zh-CN" altLang="en-US" sz="2400" dirty="0">
                <a:latin typeface="+mn-ea"/>
                <a:ea typeface="+mn-ea"/>
              </a:rPr>
              <a:t>万个贫困村全部出列，开启了新生活。</a:t>
            </a:r>
            <a:endParaRPr lang="en-US" altLang="zh-CN" sz="2400" dirty="0">
              <a:latin typeface="+mn-ea"/>
              <a:ea typeface="+mn-ea"/>
            </a:endParaRPr>
          </a:p>
          <a:p>
            <a:pPr algn="just"/>
            <a:endParaRPr lang="zh-CN" altLang="en-US" sz="2400" dirty="0">
              <a:latin typeface="+mn-ea"/>
              <a:ea typeface="+mn-ea"/>
            </a:endParaRPr>
          </a:p>
        </p:txBody>
      </p:sp>
      <p:sp>
        <p:nvSpPr>
          <p:cNvPr id="11" name="矩形 10"/>
          <p:cNvSpPr>
            <a:spLocks noChangeArrowheads="1"/>
          </p:cNvSpPr>
          <p:nvPr/>
        </p:nvSpPr>
        <p:spPr bwMode="auto">
          <a:xfrm>
            <a:off x="7008478" y="318353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9</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042425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pPr algn="just"/>
            <a:r>
              <a:rPr lang="zh-CN" altLang="en-US" sz="2400" dirty="0"/>
              <a:t>         </a:t>
            </a:r>
            <a:r>
              <a:rPr lang="zh-CN" altLang="en-US" sz="2400" dirty="0">
                <a:latin typeface="+mn-ea"/>
                <a:ea typeface="+mn-ea"/>
              </a:rPr>
              <a:t>一些欠发达的小地方居民获得了一项重大红利，因为中国正在各地的古镇投资修建旅游基础设施，既能让民众有经济收益，也保护了当地的历史文化。来中国旅游，一定要去看看其中一座古镇或古村落。</a:t>
            </a:r>
          </a:p>
        </p:txBody>
      </p:sp>
      <p:sp>
        <p:nvSpPr>
          <p:cNvPr id="11" name="矩形 10"/>
          <p:cNvSpPr>
            <a:spLocks noChangeArrowheads="1"/>
          </p:cNvSpPr>
          <p:nvPr/>
        </p:nvSpPr>
        <p:spPr bwMode="auto">
          <a:xfrm>
            <a:off x="6852987" y="2814205"/>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10</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8463579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2308324"/>
          </a:xfrm>
          <a:prstGeom prst="rect">
            <a:avLst/>
          </a:prstGeom>
          <a:noFill/>
        </p:spPr>
        <p:txBody>
          <a:bodyPr>
            <a:spAutoFit/>
          </a:bodyPr>
          <a:lstStyle/>
          <a:p>
            <a:r>
              <a:rPr lang="zh-CN" altLang="en-US" sz="2400" b="1" dirty="0">
                <a:latin typeface="宋体" panose="02010600030101010101" pitchFamily="2" charset="-122"/>
              </a:rPr>
              <a:t>社交软件新应用</a:t>
            </a:r>
            <a:endParaRPr lang="en-US" altLang="zh-CN" sz="2400" b="1" dirty="0">
              <a:latin typeface="宋体" panose="02010600030101010101" pitchFamily="2" charset="-122"/>
            </a:endParaRPr>
          </a:p>
          <a:p>
            <a:pPr algn="just"/>
            <a:r>
              <a:rPr lang="zh-CN" altLang="en-US" sz="2400" dirty="0"/>
              <a:t>         </a:t>
            </a:r>
            <a:r>
              <a:rPr lang="zh-CN" altLang="en-US" sz="2400" dirty="0">
                <a:latin typeface="宋体" panose="02010600030101010101" pitchFamily="2" charset="-122"/>
              </a:rPr>
              <a:t>在中国有大约</a:t>
            </a:r>
            <a:r>
              <a:rPr lang="en-US" altLang="zh-CN" sz="2400" dirty="0">
                <a:latin typeface="宋体" panose="02010600030101010101" pitchFamily="2" charset="-122"/>
              </a:rPr>
              <a:t>9</a:t>
            </a:r>
            <a:r>
              <a:rPr lang="zh-CN" altLang="en-US" sz="2400" dirty="0">
                <a:latin typeface="宋体" panose="02010600030101010101" pitchFamily="2" charset="-122"/>
              </a:rPr>
              <a:t>亿用户将银行卡绑定到了社交账户上，可以通过第三方小程序来点外卖、网购并享受送货上门；还可以支付话费、水电煤气费等账单，甚至是打出租车。社交软件内置了扫二维码的功能，用二维码支付，购物轻轻松松。无现金社会正在成型。</a:t>
            </a:r>
          </a:p>
        </p:txBody>
      </p:sp>
      <p:sp>
        <p:nvSpPr>
          <p:cNvPr id="11" name="矩形 10"/>
          <p:cNvSpPr>
            <a:spLocks noChangeArrowheads="1"/>
          </p:cNvSpPr>
          <p:nvPr/>
        </p:nvSpPr>
        <p:spPr bwMode="auto">
          <a:xfrm>
            <a:off x="6852987" y="3552869"/>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11</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9409091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3046988"/>
          </a:xfrm>
          <a:prstGeom prst="rect">
            <a:avLst/>
          </a:prstGeom>
          <a:noFill/>
        </p:spPr>
        <p:txBody>
          <a:bodyPr>
            <a:spAutoFit/>
          </a:bodyPr>
          <a:lstStyle/>
          <a:p>
            <a:r>
              <a:rPr lang="zh-CN" altLang="en-US" sz="2400" b="1" dirty="0"/>
              <a:t>二维码，无处不在！</a:t>
            </a:r>
            <a:endParaRPr lang="en-US" altLang="zh-CN" sz="2400" b="1" dirty="0"/>
          </a:p>
          <a:p>
            <a:r>
              <a:rPr lang="zh-CN" altLang="en-US" sz="2400" dirty="0"/>
              <a:t>         在中国，支付和信息查询功能都被简洁美观地打包到了一个小小的二维码里。尽管二维码在西方从未真正地流行开来，但它在中国已经变成了一种生活方式。你可以用二维码获取其他人的联系信息、关注你喜欢的出版物、点餐、付账等等。如果你走在街上，看到一个满脸皱纹的老人在卖当地特色小吃，那你尽管放心，一定可以看到一个二维码，用手机一扫就能买他的东西啦！</a:t>
            </a:r>
            <a:endParaRPr lang="zh-CN" altLang="en-US" sz="2400" b="1" dirty="0">
              <a:latin typeface="宋体" panose="02010600030101010101" pitchFamily="2" charset="-122"/>
            </a:endParaRPr>
          </a:p>
        </p:txBody>
      </p:sp>
      <p:sp>
        <p:nvSpPr>
          <p:cNvPr id="11" name="矩形 10"/>
          <p:cNvSpPr>
            <a:spLocks noChangeArrowheads="1"/>
          </p:cNvSpPr>
          <p:nvPr/>
        </p:nvSpPr>
        <p:spPr bwMode="auto">
          <a:xfrm>
            <a:off x="6852987" y="4291533"/>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12</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6539663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pPr algn="just"/>
            <a:r>
              <a:rPr lang="zh-CN" altLang="en-US" sz="2400" b="1" dirty="0">
                <a:latin typeface="宋体" panose="02010600030101010101" pitchFamily="2" charset="-122"/>
              </a:rPr>
              <a:t>共享经济蓬勃发展</a:t>
            </a:r>
            <a:endParaRPr lang="en-US" altLang="zh-CN" sz="2400" b="1" dirty="0">
              <a:latin typeface="宋体" panose="02010600030101010101" pitchFamily="2" charset="-122"/>
            </a:endParaRPr>
          </a:p>
          <a:p>
            <a:pPr algn="just"/>
            <a:r>
              <a:rPr lang="zh-CN" altLang="en-US" sz="2400" dirty="0"/>
              <a:t>         </a:t>
            </a:r>
            <a:r>
              <a:rPr lang="zh-CN" altLang="en-US" sz="2400" dirty="0">
                <a:latin typeface="宋体" panose="02010600030101010101" pitchFamily="2" charset="-122"/>
              </a:rPr>
              <a:t>还记得我们刚刚谈到的二维码吗？它们还能发挥更大的</a:t>
            </a:r>
            <a:r>
              <a:rPr lang="zh-CN" altLang="en-US" sz="2400" spc="100" dirty="0">
                <a:latin typeface="宋体" panose="02010600030101010101" pitchFamily="2" charset="-122"/>
              </a:rPr>
              <a:t>作用。中国的共享经济规模巨大，你可以共享几乎任何东</a:t>
            </a:r>
            <a:r>
              <a:rPr lang="zh-CN" altLang="en-US" sz="2400" dirty="0">
                <a:latin typeface="宋体" panose="02010600030101010101" pitchFamily="2" charset="-122"/>
              </a:rPr>
              <a:t>西，但如今最兴盛的还属共享交通。</a:t>
            </a:r>
          </a:p>
        </p:txBody>
      </p:sp>
      <p:sp>
        <p:nvSpPr>
          <p:cNvPr id="11" name="矩形 10"/>
          <p:cNvSpPr>
            <a:spLocks noChangeArrowheads="1"/>
          </p:cNvSpPr>
          <p:nvPr/>
        </p:nvSpPr>
        <p:spPr bwMode="auto">
          <a:xfrm>
            <a:off x="6852987" y="2814205"/>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13</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1513747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r>
              <a:rPr lang="zh-CN" altLang="en-US" sz="2400" dirty="0"/>
              <a:t>         </a:t>
            </a:r>
            <a:r>
              <a:rPr lang="zh-CN" altLang="en-US" sz="2400" dirty="0">
                <a:latin typeface="宋体" panose="02010600030101010101" pitchFamily="2" charset="-122"/>
              </a:rPr>
              <a:t>只需一扫，你就可以骑上共享单车向目的地出发了。出地铁站后的</a:t>
            </a:r>
            <a:r>
              <a:rPr lang="en-US" altLang="zh-CN" sz="2400" dirty="0">
                <a:latin typeface="宋体" panose="02010600030101010101" pitchFamily="2" charset="-122"/>
              </a:rPr>
              <a:t>15</a:t>
            </a:r>
            <a:r>
              <a:rPr lang="zh-CN" altLang="en-US" sz="2400" dirty="0">
                <a:latin typeface="宋体" panose="02010600030101010101" pitchFamily="2" charset="-122"/>
              </a:rPr>
              <a:t>分钟步行路程往往令人烦心，而现在你只需要骑</a:t>
            </a:r>
            <a:r>
              <a:rPr lang="en-US" altLang="zh-CN" sz="2400" dirty="0">
                <a:latin typeface="宋体" panose="02010600030101010101" pitchFamily="2" charset="-122"/>
              </a:rPr>
              <a:t>5</a:t>
            </a:r>
            <a:r>
              <a:rPr lang="zh-CN" altLang="en-US" sz="2400" dirty="0">
                <a:latin typeface="宋体" panose="02010600030101010101" pitchFamily="2" charset="-122"/>
              </a:rPr>
              <a:t>分钟就到了；在周末，人们还会邀约三五好友，一起在城市中“共享”骑行。中国的共享经济市值超过</a:t>
            </a:r>
            <a:r>
              <a:rPr lang="en-US" altLang="zh-CN" sz="2400" dirty="0">
                <a:latin typeface="宋体" panose="02010600030101010101" pitchFamily="2" charset="-122"/>
              </a:rPr>
              <a:t>5800</a:t>
            </a:r>
            <a:r>
              <a:rPr lang="zh-CN" altLang="en-US" sz="2400" dirty="0">
                <a:latin typeface="宋体" panose="02010600030101010101" pitchFamily="2" charset="-122"/>
              </a:rPr>
              <a:t>亿美元，有超过</a:t>
            </a:r>
            <a:r>
              <a:rPr lang="en-US" altLang="zh-CN" sz="2400" dirty="0">
                <a:latin typeface="宋体" panose="02010600030101010101" pitchFamily="2" charset="-122"/>
              </a:rPr>
              <a:t>8</a:t>
            </a:r>
            <a:r>
              <a:rPr lang="zh-CN" altLang="en-US" sz="2400" dirty="0">
                <a:latin typeface="宋体" panose="02010600030101010101" pitchFamily="2" charset="-122"/>
              </a:rPr>
              <a:t>亿人参与其中，发展劲头势不可挡。</a:t>
            </a:r>
          </a:p>
        </p:txBody>
      </p:sp>
      <p:sp>
        <p:nvSpPr>
          <p:cNvPr id="11" name="矩形 10"/>
          <p:cNvSpPr>
            <a:spLocks noChangeArrowheads="1"/>
          </p:cNvSpPr>
          <p:nvPr/>
        </p:nvSpPr>
        <p:spPr bwMode="auto">
          <a:xfrm>
            <a:off x="6852987" y="3183537"/>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14</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0075297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r>
              <a:rPr lang="zh-CN" altLang="en-US" sz="2400" b="1" dirty="0"/>
              <a:t>中国有一流的打车服务</a:t>
            </a:r>
            <a:endParaRPr lang="en-US" altLang="zh-CN" sz="2400" b="1" dirty="0"/>
          </a:p>
          <a:p>
            <a:r>
              <a:rPr lang="zh-CN" altLang="en-US" sz="2400" dirty="0"/>
              <a:t>         </a:t>
            </a:r>
            <a:r>
              <a:rPr lang="zh-CN" altLang="en-US" sz="2400" dirty="0">
                <a:latin typeface="宋体" panose="02010600030101010101" pitchFamily="2" charset="-122"/>
              </a:rPr>
              <a:t>你能相信一款打车应用吸引了中国顶尖的三家互联网巨头投资吗？你能相信一家打车服务公司跻身世界上市值最高的初创公司之列吗？巨额的投资让中国的打车服务更方便，也更实惠。</a:t>
            </a:r>
          </a:p>
        </p:txBody>
      </p:sp>
      <p:sp>
        <p:nvSpPr>
          <p:cNvPr id="11" name="矩形 10"/>
          <p:cNvSpPr>
            <a:spLocks noChangeArrowheads="1"/>
          </p:cNvSpPr>
          <p:nvPr/>
        </p:nvSpPr>
        <p:spPr bwMode="auto">
          <a:xfrm>
            <a:off x="6852987" y="3183537"/>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15</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007642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r>
              <a:rPr lang="zh-CN" altLang="en-US" sz="2400" dirty="0"/>
              <a:t>         通过非常友好的界面，客户只需输入自己的位置和目的地，就能在几分钟后上车出发。除了常规的打车服务，还可以预约豪华车型、接机服务、全天租车以及包车配驾服务。</a:t>
            </a:r>
            <a:endParaRPr lang="en-US" altLang="zh-CN" sz="2400" dirty="0"/>
          </a:p>
          <a:p>
            <a:endParaRPr lang="zh-CN" altLang="en-US" sz="2400" dirty="0">
              <a:latin typeface="宋体" panose="02010600030101010101" pitchFamily="2" charset="-122"/>
            </a:endParaRPr>
          </a:p>
        </p:txBody>
      </p:sp>
      <p:sp>
        <p:nvSpPr>
          <p:cNvPr id="11" name="矩形 10"/>
          <p:cNvSpPr>
            <a:spLocks noChangeArrowheads="1"/>
          </p:cNvSpPr>
          <p:nvPr/>
        </p:nvSpPr>
        <p:spPr bwMode="auto">
          <a:xfrm>
            <a:off x="6852987" y="2814205"/>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16</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32008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830997"/>
          </a:xfrm>
          <a:prstGeom prst="rect">
            <a:avLst/>
          </a:prstGeom>
          <a:noFill/>
        </p:spPr>
        <p:txBody>
          <a:bodyPr>
            <a:spAutoFit/>
          </a:bodyPr>
          <a:lstStyle/>
          <a:p>
            <a:r>
              <a:rPr lang="zh-CN" altLang="en-US" sz="2400" dirty="0"/>
              <a:t>         </a:t>
            </a:r>
            <a:r>
              <a:rPr lang="zh-CN" altLang="en-US" sz="2400" dirty="0">
                <a:latin typeface="宋体" panose="02010600030101010101" pitchFamily="2" charset="-122"/>
              </a:rPr>
              <a:t>此外，新增的英文界面也让更多在中国居住和来旅游的外籍人士可以方便地使用该软件。</a:t>
            </a:r>
          </a:p>
        </p:txBody>
      </p:sp>
      <p:sp>
        <p:nvSpPr>
          <p:cNvPr id="11" name="矩形 10"/>
          <p:cNvSpPr>
            <a:spLocks noChangeArrowheads="1"/>
          </p:cNvSpPr>
          <p:nvPr/>
        </p:nvSpPr>
        <p:spPr bwMode="auto">
          <a:xfrm>
            <a:off x="6852987" y="2075542"/>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17</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2359224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2677656"/>
          </a:xfrm>
          <a:prstGeom prst="rect">
            <a:avLst/>
          </a:prstGeom>
          <a:noFill/>
        </p:spPr>
        <p:txBody>
          <a:bodyPr>
            <a:spAutoFit/>
          </a:bodyPr>
          <a:lstStyle/>
          <a:p>
            <a:r>
              <a:rPr lang="zh-CN" altLang="en-US" sz="2400" b="1" dirty="0">
                <a:latin typeface="宋体" panose="02010600030101010101" pitchFamily="2" charset="-122"/>
              </a:rPr>
              <a:t>中国的生活丰富多样</a:t>
            </a:r>
            <a:endParaRPr lang="en-US" altLang="zh-CN" sz="2400" b="1" dirty="0">
              <a:latin typeface="宋体" panose="02010600030101010101" pitchFamily="2" charset="-122"/>
            </a:endParaRPr>
          </a:p>
          <a:p>
            <a:r>
              <a:rPr lang="zh-CN" altLang="en-US" sz="2400" dirty="0"/>
              <a:t>         </a:t>
            </a:r>
            <a:r>
              <a:rPr lang="zh-CN" altLang="en-US" sz="2400" dirty="0">
                <a:latin typeface="宋体" panose="02010600030101010101" pitchFamily="2" charset="-122"/>
              </a:rPr>
              <a:t>在中国，虽然你可以在北京和上海这样的大城市里的奢华餐厅用餐，但根深蒂固的文化印迹仍旧随处可见。从北京市中心出发，一个多小时后就步入了郊区。你可以游览那些古村落，甚至找家民宿，更好地了解传统文化。在中国，你既可以看到先进的电动汽车飞驰而过，也可以从街边小摊花不到</a:t>
            </a:r>
            <a:r>
              <a:rPr lang="en-US" altLang="zh-CN" sz="2400" dirty="0">
                <a:latin typeface="宋体" panose="02010600030101010101" pitchFamily="2" charset="-122"/>
              </a:rPr>
              <a:t>1</a:t>
            </a:r>
            <a:r>
              <a:rPr lang="zh-CN" altLang="en-US" sz="2400" dirty="0">
                <a:latin typeface="宋体" panose="02010600030101010101" pitchFamily="2" charset="-122"/>
              </a:rPr>
              <a:t>美元买到手工包的饺子。</a:t>
            </a:r>
          </a:p>
        </p:txBody>
      </p:sp>
      <p:sp>
        <p:nvSpPr>
          <p:cNvPr id="11" name="矩形 10"/>
          <p:cNvSpPr>
            <a:spLocks noChangeArrowheads="1"/>
          </p:cNvSpPr>
          <p:nvPr/>
        </p:nvSpPr>
        <p:spPr bwMode="auto">
          <a:xfrm>
            <a:off x="6852987" y="3922201"/>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18</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3900163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6"/>
          <p:cNvSpPr txBox="1">
            <a:spLocks noChangeArrowheads="1"/>
          </p:cNvSpPr>
          <p:nvPr/>
        </p:nvSpPr>
        <p:spPr bwMode="auto">
          <a:xfrm>
            <a:off x="2856628" y="808245"/>
            <a:ext cx="3430747" cy="1066959"/>
          </a:xfrm>
          <a:prstGeom prst="rect">
            <a:avLst/>
          </a:prstGeom>
          <a:noFill/>
          <a:ln w="9525">
            <a:noFill/>
            <a:miter lim="800000"/>
            <a:headEnd/>
            <a:tailEnd/>
          </a:ln>
        </p:spPr>
        <p:txBody>
          <a:bodyPr wrap="none">
            <a:spAutoFit/>
          </a:bodyPr>
          <a:lstStyle/>
          <a:p>
            <a:pPr algn="ctr">
              <a:lnSpc>
                <a:spcPts val="3800"/>
              </a:lnSpc>
            </a:pPr>
            <a:r>
              <a:rPr lang="zh-CN" altLang="en-US" sz="2800" b="1" dirty="0"/>
              <a:t>古代中国</a:t>
            </a:r>
            <a:r>
              <a:rPr lang="en-US" altLang="zh-CN" sz="2800" b="1" dirty="0">
                <a:latin typeface="宋体" panose="02010600030101010101" pitchFamily="2" charset="-122"/>
              </a:rPr>
              <a:t>——</a:t>
            </a:r>
            <a:r>
              <a:rPr lang="zh-CN" altLang="en-US" sz="2800" b="1" dirty="0"/>
              <a:t>史前史</a:t>
            </a:r>
            <a:endParaRPr lang="en-US" altLang="zh-CN" sz="2800" b="1" dirty="0"/>
          </a:p>
          <a:p>
            <a:pPr algn="ctr">
              <a:lnSpc>
                <a:spcPts val="3800"/>
              </a:lnSpc>
            </a:pPr>
            <a:r>
              <a:rPr lang="zh-CN" altLang="en-US" sz="2400" dirty="0"/>
              <a:t>约书亚</a:t>
            </a:r>
            <a:r>
              <a:rPr lang="en-US" altLang="zh-CN" sz="2400" dirty="0">
                <a:latin typeface="+mn-ea"/>
                <a:ea typeface="+mn-ea"/>
              </a:rPr>
              <a:t>·J</a:t>
            </a:r>
            <a:r>
              <a:rPr lang="en-US" altLang="zh-CN" sz="2400" dirty="0"/>
              <a:t>. </a:t>
            </a:r>
            <a:r>
              <a:rPr lang="zh-CN" altLang="en-US" sz="2400" dirty="0"/>
              <a:t>马克</a:t>
            </a:r>
            <a:endParaRPr lang="zh-CN" altLang="en-US" sz="2400" b="1" dirty="0"/>
          </a:p>
        </p:txBody>
      </p:sp>
      <p:sp>
        <p:nvSpPr>
          <p:cNvPr id="6" name="TextBox 7"/>
          <p:cNvSpPr txBox="1">
            <a:spLocks noChangeArrowheads="1"/>
          </p:cNvSpPr>
          <p:nvPr/>
        </p:nvSpPr>
        <p:spPr bwMode="auto">
          <a:xfrm>
            <a:off x="503238" y="2080455"/>
            <a:ext cx="8137525" cy="1569660"/>
          </a:xfrm>
          <a:prstGeom prst="rect">
            <a:avLst/>
          </a:prstGeom>
          <a:noFill/>
          <a:ln w="9525">
            <a:noFill/>
            <a:miter lim="800000"/>
            <a:headEnd/>
            <a:tailEnd/>
          </a:ln>
        </p:spPr>
        <p:txBody>
          <a:bodyPr>
            <a:spAutoFit/>
          </a:bodyPr>
          <a:lstStyle/>
          <a:p>
            <a:r>
              <a:rPr lang="zh-CN" altLang="en-US" sz="2400" dirty="0"/>
              <a:t>         </a:t>
            </a:r>
            <a:r>
              <a:rPr lang="zh-CN" altLang="en-US" sz="2400" dirty="0">
                <a:latin typeface="+mn-ea"/>
                <a:ea typeface="+mn-ea"/>
              </a:rPr>
              <a:t>古代中国孕育了世界上现存的最古老的文明。中国的英文名“</a:t>
            </a:r>
            <a:r>
              <a:rPr lang="en-US" altLang="zh-CN" sz="2400" dirty="0">
                <a:latin typeface="+mn-ea"/>
                <a:ea typeface="+mn-ea"/>
              </a:rPr>
              <a:t>China”</a:t>
            </a:r>
            <a:r>
              <a:rPr lang="zh-CN" altLang="en-US" sz="2400" dirty="0">
                <a:latin typeface="+mn-ea"/>
                <a:ea typeface="+mn-ea"/>
              </a:rPr>
              <a:t>来自于梵语“</a:t>
            </a:r>
            <a:r>
              <a:rPr lang="en-US" altLang="zh-CN" sz="2400" dirty="0" err="1">
                <a:latin typeface="+mn-ea"/>
                <a:ea typeface="+mn-ea"/>
              </a:rPr>
              <a:t>Cina</a:t>
            </a:r>
            <a:r>
              <a:rPr lang="en-US" altLang="zh-CN" sz="2400" dirty="0">
                <a:latin typeface="+mn-ea"/>
                <a:ea typeface="+mn-ea"/>
              </a:rPr>
              <a:t>”</a:t>
            </a:r>
            <a:r>
              <a:rPr lang="zh-CN" altLang="en-US" sz="2400" dirty="0">
                <a:latin typeface="+mn-ea"/>
                <a:ea typeface="+mn-ea"/>
              </a:rPr>
              <a:t>（源自秦朝“秦”字的读音“</a:t>
            </a:r>
            <a:r>
              <a:rPr lang="en-US" altLang="zh-CN" sz="2400" dirty="0">
                <a:latin typeface="+mn-ea"/>
                <a:ea typeface="+mn-ea"/>
              </a:rPr>
              <a:t>Chin”</a:t>
            </a:r>
            <a:r>
              <a:rPr lang="zh-CN" altLang="en-US" sz="2400" dirty="0">
                <a:latin typeface="+mn-ea"/>
                <a:ea typeface="+mn-ea"/>
              </a:rPr>
              <a:t>），波斯人将其译为“</a:t>
            </a:r>
            <a:r>
              <a:rPr lang="en-US" altLang="zh-CN" sz="2400" dirty="0" err="1">
                <a:latin typeface="+mn-ea"/>
                <a:ea typeface="+mn-ea"/>
              </a:rPr>
              <a:t>Cin</a:t>
            </a:r>
            <a:r>
              <a:rPr lang="en-US" altLang="zh-CN" sz="2400" dirty="0">
                <a:latin typeface="+mn-ea"/>
                <a:ea typeface="+mn-ea"/>
              </a:rPr>
              <a:t>”</a:t>
            </a:r>
            <a:r>
              <a:rPr lang="zh-CN" altLang="en-US" sz="2400" dirty="0">
                <a:latin typeface="+mn-ea"/>
                <a:ea typeface="+mn-ea"/>
              </a:rPr>
              <a:t>，这个名字有可能经由丝绸之路的中外贸易传播到了世界各地。</a:t>
            </a:r>
            <a:endParaRPr lang="en-US" altLang="zh-CN" sz="2400" dirty="0">
              <a:latin typeface="+mn-ea"/>
              <a:ea typeface="+mn-ea"/>
            </a:endParaRPr>
          </a:p>
        </p:txBody>
      </p:sp>
      <p:sp>
        <p:nvSpPr>
          <p:cNvPr id="7" name="矩形 6"/>
          <p:cNvSpPr>
            <a:spLocks noChangeArrowheads="1"/>
          </p:cNvSpPr>
          <p:nvPr/>
        </p:nvSpPr>
        <p:spPr bwMode="auto">
          <a:xfrm>
            <a:off x="7008478" y="3188450"/>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a:t>
            </a:r>
            <a:r>
              <a:rPr lang="zh-CN" altLang="en-US" sz="2400" dirty="0"/>
              <a:t>）</a:t>
            </a:r>
          </a:p>
        </p:txBody>
      </p:sp>
      <p:sp>
        <p:nvSpPr>
          <p:cNvPr id="8" name="虚尾箭头 7">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500510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2677656"/>
          </a:xfrm>
          <a:prstGeom prst="rect">
            <a:avLst/>
          </a:prstGeom>
          <a:noFill/>
        </p:spPr>
        <p:txBody>
          <a:bodyPr>
            <a:spAutoFit/>
          </a:bodyPr>
          <a:lstStyle/>
          <a:p>
            <a:pPr algn="just"/>
            <a:r>
              <a:rPr lang="zh-CN" altLang="en-US" sz="2400" dirty="0"/>
              <a:t>         </a:t>
            </a:r>
            <a:r>
              <a:rPr lang="zh-CN" altLang="en-US" sz="2400" dirty="0">
                <a:latin typeface="+mn-ea"/>
                <a:ea typeface="+mn-ea"/>
              </a:rPr>
              <a:t>古罗马和古希腊人称中国为“赛里斯”（</a:t>
            </a:r>
            <a:r>
              <a:rPr lang="en-US" altLang="zh-CN" sz="2400" dirty="0" err="1">
                <a:latin typeface="+mn-ea"/>
                <a:ea typeface="+mn-ea"/>
              </a:rPr>
              <a:t>Seres</a:t>
            </a:r>
            <a:r>
              <a:rPr lang="zh-CN" altLang="en-US" sz="2400" dirty="0">
                <a:latin typeface="+mn-ea"/>
                <a:ea typeface="+mn-ea"/>
              </a:rPr>
              <a:t>），意为“丝绸之国”。“</a:t>
            </a:r>
            <a:r>
              <a:rPr lang="en-US" altLang="zh-CN" sz="2400" dirty="0">
                <a:latin typeface="+mn-ea"/>
                <a:ea typeface="+mn-ea"/>
              </a:rPr>
              <a:t>China”</a:t>
            </a:r>
            <a:r>
              <a:rPr lang="zh-CN" altLang="en-US" sz="2400" dirty="0">
                <a:latin typeface="+mn-ea"/>
                <a:ea typeface="+mn-ea"/>
              </a:rPr>
              <a:t>一名在西方直到</a:t>
            </a:r>
            <a:r>
              <a:rPr lang="en-US" altLang="zh-CN" sz="2400" dirty="0">
                <a:latin typeface="+mn-ea"/>
                <a:ea typeface="+mn-ea"/>
              </a:rPr>
              <a:t>1516</a:t>
            </a:r>
            <a:r>
              <a:rPr lang="zh-CN" altLang="en-US" sz="2400" dirty="0">
                <a:latin typeface="+mn-ea"/>
                <a:ea typeface="+mn-ea"/>
              </a:rPr>
              <a:t>年才见诸书面，出现在巴博萨（</a:t>
            </a:r>
            <a:r>
              <a:rPr lang="en-US" altLang="zh-CN" sz="2400" dirty="0">
                <a:latin typeface="+mn-ea"/>
                <a:ea typeface="+mn-ea"/>
              </a:rPr>
              <a:t>Barbosa</a:t>
            </a:r>
            <a:r>
              <a:rPr lang="zh-CN" altLang="en-US" sz="2400" dirty="0">
                <a:latin typeface="+mn-ea"/>
                <a:ea typeface="+mn-ea"/>
              </a:rPr>
              <a:t>）讲述东方之旅的游记里（尽管欧洲人早就通过丝绸之路的贸易往来知道了中国）。著名的探险家马可</a:t>
            </a:r>
            <a:r>
              <a:rPr lang="en-US" altLang="zh-CN" sz="2400" dirty="0">
                <a:latin typeface="+mn-ea"/>
                <a:ea typeface="+mn-ea"/>
              </a:rPr>
              <a:t>·</a:t>
            </a:r>
            <a:r>
              <a:rPr lang="zh-CN" altLang="en-US" sz="2400" dirty="0">
                <a:latin typeface="+mn-ea"/>
                <a:ea typeface="+mn-ea"/>
              </a:rPr>
              <a:t>波罗（</a:t>
            </a:r>
            <a:r>
              <a:rPr lang="en-US" altLang="zh-CN" sz="2400" dirty="0">
                <a:latin typeface="+mn-ea"/>
                <a:ea typeface="+mn-ea"/>
              </a:rPr>
              <a:t>Marco Polo</a:t>
            </a:r>
            <a:r>
              <a:rPr lang="zh-CN" altLang="en-US" sz="2400" dirty="0">
                <a:latin typeface="+mn-ea"/>
                <a:ea typeface="+mn-ea"/>
              </a:rPr>
              <a:t>）在</a:t>
            </a:r>
            <a:r>
              <a:rPr lang="en-US" altLang="zh-CN" sz="2400" dirty="0">
                <a:latin typeface="+mn-ea"/>
                <a:ea typeface="+mn-ea"/>
              </a:rPr>
              <a:t>13</a:t>
            </a:r>
            <a:r>
              <a:rPr lang="zh-CN" altLang="en-US" sz="2400" dirty="0">
                <a:latin typeface="+mn-ea"/>
                <a:ea typeface="+mn-ea"/>
              </a:rPr>
              <a:t>世纪让欧洲人熟悉了中国，他将中国称为“</a:t>
            </a:r>
            <a:r>
              <a:rPr lang="en-US" altLang="zh-CN" sz="2400" dirty="0">
                <a:latin typeface="+mn-ea"/>
                <a:ea typeface="+mn-ea"/>
              </a:rPr>
              <a:t>Cathay”</a:t>
            </a:r>
            <a:r>
              <a:rPr lang="zh-CN" altLang="en-US" sz="2400" dirty="0">
                <a:latin typeface="+mn-ea"/>
                <a:ea typeface="+mn-ea"/>
              </a:rPr>
              <a:t>。在普通话里，“中国”意为“中央之国”，或“中原帝国”。</a:t>
            </a:r>
          </a:p>
        </p:txBody>
      </p:sp>
      <p:sp>
        <p:nvSpPr>
          <p:cNvPr id="11" name="矩形 10"/>
          <p:cNvSpPr>
            <a:spLocks noChangeArrowheads="1"/>
          </p:cNvSpPr>
          <p:nvPr/>
        </p:nvSpPr>
        <p:spPr bwMode="auto">
          <a:xfrm>
            <a:off x="7008478" y="3922201"/>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2</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2386284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r>
              <a:rPr lang="zh-CN" altLang="en-US" sz="2400" dirty="0"/>
              <a:t>         </a:t>
            </a:r>
            <a:r>
              <a:rPr lang="zh-CN" altLang="en-US" sz="2400" dirty="0">
                <a:latin typeface="宋体" panose="02010600030101010101" pitchFamily="2" charset="-122"/>
              </a:rPr>
              <a:t>远在中国出现可考的文明之前，这片土地上生活着原始人类。北京人生活在距今</a:t>
            </a:r>
            <a:r>
              <a:rPr lang="en-US" altLang="zh-CN" sz="2400" dirty="0">
                <a:latin typeface="宋体" panose="02010600030101010101" pitchFamily="2" charset="-122"/>
              </a:rPr>
              <a:t>70</a:t>
            </a:r>
            <a:r>
              <a:rPr lang="zh-CN" altLang="en-US" sz="2400" dirty="0">
                <a:latin typeface="宋体" panose="02010600030101010101" pitchFamily="2" charset="-122"/>
              </a:rPr>
              <a:t>万年到</a:t>
            </a:r>
            <a:r>
              <a:rPr lang="en-US" altLang="zh-CN" sz="2400" dirty="0">
                <a:latin typeface="宋体" panose="02010600030101010101" pitchFamily="2" charset="-122"/>
              </a:rPr>
              <a:t>20</a:t>
            </a:r>
            <a:r>
              <a:rPr lang="zh-CN" altLang="en-US" sz="2400" dirty="0">
                <a:latin typeface="宋体" panose="02010600030101010101" pitchFamily="2" charset="-122"/>
              </a:rPr>
              <a:t>万年以前，其头盖骨化石于</a:t>
            </a:r>
            <a:r>
              <a:rPr lang="en-US" altLang="zh-CN" sz="2400" dirty="0">
                <a:latin typeface="宋体" panose="02010600030101010101" pitchFamily="2" charset="-122"/>
              </a:rPr>
              <a:t>1927</a:t>
            </a:r>
            <a:r>
              <a:rPr lang="zh-CN" altLang="en-US" sz="2400" dirty="0">
                <a:latin typeface="宋体" panose="02010600030101010101" pitchFamily="2" charset="-122"/>
              </a:rPr>
              <a:t>年在北京附近发现；元谋人生活在距今</a:t>
            </a:r>
            <a:r>
              <a:rPr lang="en-US" altLang="zh-CN" sz="2400" dirty="0">
                <a:latin typeface="宋体" panose="02010600030101010101" pitchFamily="2" charset="-122"/>
              </a:rPr>
              <a:t>170</a:t>
            </a:r>
            <a:r>
              <a:rPr lang="zh-CN" altLang="en-US" sz="2400" dirty="0">
                <a:latin typeface="宋体" panose="02010600030101010101" pitchFamily="2" charset="-122"/>
              </a:rPr>
              <a:t>万年前，其遗骸在</a:t>
            </a:r>
            <a:r>
              <a:rPr lang="en-US" altLang="zh-CN" sz="2400" dirty="0">
                <a:latin typeface="宋体" panose="02010600030101010101" pitchFamily="2" charset="-122"/>
              </a:rPr>
              <a:t>1965</a:t>
            </a:r>
            <a:r>
              <a:rPr lang="zh-CN" altLang="en-US" sz="2400" dirty="0">
                <a:latin typeface="宋体" panose="02010600030101010101" pitchFamily="2" charset="-122"/>
              </a:rPr>
              <a:t>年发现于云南元谋。随之发现的证据表明，这些早期人类已经知道如何制造石器和使用火。</a:t>
            </a:r>
          </a:p>
        </p:txBody>
      </p:sp>
      <p:sp>
        <p:nvSpPr>
          <p:cNvPr id="11" name="矩形 10"/>
          <p:cNvSpPr>
            <a:spLocks noChangeArrowheads="1"/>
          </p:cNvSpPr>
          <p:nvPr/>
        </p:nvSpPr>
        <p:spPr bwMode="auto">
          <a:xfrm>
            <a:off x="7008478" y="318353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3</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4732735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5"/>
          <p:cNvSpPr txBox="1"/>
          <p:nvPr/>
        </p:nvSpPr>
        <p:spPr>
          <a:xfrm>
            <a:off x="522288" y="1706210"/>
            <a:ext cx="8135937" cy="3416320"/>
          </a:xfrm>
          <a:prstGeom prst="rect">
            <a:avLst/>
          </a:prstGeom>
          <a:noFill/>
        </p:spPr>
        <p:txBody>
          <a:bodyPr>
            <a:spAutoFit/>
          </a:bodyPr>
          <a:lstStyle/>
          <a:p>
            <a:r>
              <a:rPr lang="zh-CN" altLang="en-US" sz="2400" dirty="0"/>
              <a:t>         </a:t>
            </a:r>
            <a:r>
              <a:rPr lang="zh-CN" altLang="en-US" sz="2400" dirty="0">
                <a:latin typeface="宋体" panose="02010600030101010101" pitchFamily="2" charset="-122"/>
              </a:rPr>
              <a:t>虽然学界普遍认为人类起源于非洲，之后迁徙到了世界</a:t>
            </a:r>
            <a:r>
              <a:rPr lang="zh-CN" altLang="en-US" sz="2400" spc="100" dirty="0">
                <a:latin typeface="宋体" panose="02010600030101010101" pitchFamily="2" charset="-122"/>
              </a:rPr>
              <a:t>各地，但中国的古人类学家“支持人类起源的‘多地区进</a:t>
            </a:r>
            <a:r>
              <a:rPr lang="zh-CN" altLang="en-US" sz="2400" dirty="0">
                <a:latin typeface="宋体" panose="02010600030101010101" pitchFamily="2" charset="-122"/>
              </a:rPr>
              <a:t>化’说”，认为人类的起源有各自独立的基础。“中华曙猿是一种仅重</a:t>
            </a:r>
            <a:r>
              <a:rPr lang="en-US" altLang="zh-CN" sz="2400" dirty="0">
                <a:latin typeface="宋体" panose="02010600030101010101" pitchFamily="2" charset="-122"/>
              </a:rPr>
              <a:t>100</a:t>
            </a:r>
            <a:r>
              <a:rPr lang="zh-CN" altLang="en-US" sz="2400" dirty="0">
                <a:latin typeface="宋体" panose="02010600030101010101" pitchFamily="2" charset="-122"/>
              </a:rPr>
              <a:t>到</a:t>
            </a:r>
            <a:r>
              <a:rPr lang="en-US" altLang="zh-CN" sz="2400" dirty="0">
                <a:latin typeface="宋体" panose="02010600030101010101" pitchFamily="2" charset="-122"/>
              </a:rPr>
              <a:t>150</a:t>
            </a:r>
            <a:r>
              <a:rPr lang="zh-CN" altLang="en-US" sz="2400" dirty="0">
                <a:latin typeface="宋体" panose="02010600030101010101" pitchFamily="2" charset="-122"/>
              </a:rPr>
              <a:t>克的灵长类动物，体型近似老鼠，生活在距今</a:t>
            </a:r>
            <a:r>
              <a:rPr lang="en-US" altLang="zh-CN" sz="2400" dirty="0">
                <a:latin typeface="宋体" panose="02010600030101010101" pitchFamily="2" charset="-122"/>
              </a:rPr>
              <a:t>450</a:t>
            </a:r>
            <a:r>
              <a:rPr lang="zh-CN" altLang="en-US" sz="2400" dirty="0">
                <a:latin typeface="宋体" panose="02010600030101010101" pitchFamily="2" charset="-122"/>
              </a:rPr>
              <a:t>到</a:t>
            </a:r>
            <a:r>
              <a:rPr lang="en-US" altLang="zh-CN" sz="2400" dirty="0">
                <a:latin typeface="宋体" panose="02010600030101010101" pitchFamily="2" charset="-122"/>
              </a:rPr>
              <a:t>400</a:t>
            </a:r>
            <a:r>
              <a:rPr lang="zh-CN" altLang="en-US" sz="2400" dirty="0">
                <a:latin typeface="宋体" panose="02010600030101010101" pitchFamily="2" charset="-122"/>
              </a:rPr>
              <a:t>万年前中始新世时期的中国。中华曙猿的发现对于人类非洲起源说带来了巨大的挑战。”该学说具有可信性，因为中华曙猿化石与高级和低级的灵长类动物都具有遗传上的联系，从而补上了进化过程中“缺失的一环”。</a:t>
            </a:r>
            <a:endParaRPr lang="en-US" altLang="zh-CN" sz="2400" dirty="0">
              <a:latin typeface="宋体" panose="02010600030101010101" pitchFamily="2" charset="-122"/>
            </a:endParaRPr>
          </a:p>
          <a:p>
            <a:endParaRPr lang="zh-CN" altLang="en-US" sz="2400" dirty="0">
              <a:latin typeface="宋体" panose="02010600030101010101" pitchFamily="2" charset="-122"/>
            </a:endParaRPr>
          </a:p>
        </p:txBody>
      </p:sp>
      <p:sp>
        <p:nvSpPr>
          <p:cNvPr id="11" name="矩形 10"/>
          <p:cNvSpPr>
            <a:spLocks noChangeArrowheads="1"/>
          </p:cNvSpPr>
          <p:nvPr/>
        </p:nvSpPr>
        <p:spPr bwMode="auto">
          <a:xfrm>
            <a:off x="7008478" y="4660865"/>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4</a:t>
            </a:r>
            <a:r>
              <a:rPr lang="zh-CN" altLang="en-US" sz="2400" dirty="0"/>
              <a:t>）</a:t>
            </a:r>
          </a:p>
        </p:txBody>
      </p:sp>
      <p:sp>
        <p:nvSpPr>
          <p:cNvPr id="7" name="虚尾箭头 6">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3657255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5"/>
          <p:cNvSpPr txBox="1"/>
          <p:nvPr/>
        </p:nvSpPr>
        <p:spPr>
          <a:xfrm>
            <a:off x="522288" y="1706210"/>
            <a:ext cx="8135937" cy="3785652"/>
          </a:xfrm>
          <a:prstGeom prst="rect">
            <a:avLst/>
          </a:prstGeom>
          <a:noFill/>
        </p:spPr>
        <p:txBody>
          <a:bodyPr>
            <a:spAutoFit/>
          </a:bodyPr>
          <a:lstStyle/>
          <a:p>
            <a:r>
              <a:rPr lang="zh-CN" altLang="en-US" sz="2400" dirty="0"/>
              <a:t>         </a:t>
            </a:r>
            <a:r>
              <a:rPr lang="zh-CN" altLang="en-US" sz="2400" dirty="0">
                <a:latin typeface="宋体" panose="02010600030101010101" pitchFamily="2" charset="-122"/>
              </a:rPr>
              <a:t>无论你如何解读这些资料（中国学者提出的结论在国际上存在争议），其他发现提供的确凿证据，都证明了中国存在一个非常古老的原始人类和智人谱系，而且中国的早期文明是相当先进的。</a:t>
            </a:r>
            <a:r>
              <a:rPr lang="en-US" altLang="zh-CN" sz="2400" dirty="0">
                <a:latin typeface="宋体" panose="02010600030101010101" pitchFamily="2" charset="-122"/>
              </a:rPr>
              <a:t>1953</a:t>
            </a:r>
            <a:r>
              <a:rPr lang="zh-CN" altLang="en-US" sz="2400" dirty="0">
                <a:latin typeface="宋体" panose="02010600030101010101" pitchFamily="2" charset="-122"/>
              </a:rPr>
              <a:t>年发现的西安附近的半坡村就是一个例子。半坡是一座新石器时代的村落，在公元前</a:t>
            </a:r>
            <a:r>
              <a:rPr lang="en-US" altLang="zh-CN" sz="2400" dirty="0">
                <a:latin typeface="宋体" panose="02010600030101010101" pitchFamily="2" charset="-122"/>
              </a:rPr>
              <a:t>4500</a:t>
            </a:r>
            <a:r>
              <a:rPr lang="zh-CN" altLang="en-US" sz="2400" dirty="0">
                <a:latin typeface="宋体" panose="02010600030101010101" pitchFamily="2" charset="-122"/>
              </a:rPr>
              <a:t>年到公元前</a:t>
            </a:r>
            <a:r>
              <a:rPr lang="en-US" altLang="zh-CN" sz="2400" dirty="0">
                <a:latin typeface="宋体" panose="02010600030101010101" pitchFamily="2" charset="-122"/>
              </a:rPr>
              <a:t>3750</a:t>
            </a:r>
            <a:r>
              <a:rPr lang="zh-CN" altLang="en-US" sz="2400" dirty="0">
                <a:latin typeface="宋体" panose="02010600030101010101" pitchFamily="2" charset="-122"/>
              </a:rPr>
              <a:t>年有人居住，含</a:t>
            </a:r>
            <a:r>
              <a:rPr lang="en-US" altLang="zh-CN" sz="2400" dirty="0">
                <a:latin typeface="宋体" panose="02010600030101010101" pitchFamily="2" charset="-122"/>
              </a:rPr>
              <a:t>45</a:t>
            </a:r>
            <a:r>
              <a:rPr lang="zh-CN" altLang="en-US" sz="2400" dirty="0">
                <a:latin typeface="宋体" panose="02010600030101010101" pitchFamily="2" charset="-122"/>
              </a:rPr>
              <a:t>座半地穴式的房屋，十分稳固。半坡村有一条绕村壕沟，既能抵御攻击，又可以排水（同时也有助于圈养家畜），人工开凿的地下洞穴则是用来储存食物。村落的布局与出土的文物（如陶器和各种工具），都证明半坡文化在当时是非常先进的。</a:t>
            </a:r>
          </a:p>
        </p:txBody>
      </p:sp>
      <p:sp>
        <p:nvSpPr>
          <p:cNvPr id="11" name="矩形 10"/>
          <p:cNvSpPr>
            <a:spLocks noChangeArrowheads="1"/>
          </p:cNvSpPr>
          <p:nvPr/>
        </p:nvSpPr>
        <p:spPr bwMode="auto">
          <a:xfrm>
            <a:off x="7008478" y="503019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5</a:t>
            </a:r>
            <a:r>
              <a:rPr lang="zh-CN" altLang="en-US" sz="2400" dirty="0"/>
              <a:t>）</a:t>
            </a:r>
          </a:p>
        </p:txBody>
      </p:sp>
      <p:sp>
        <p:nvSpPr>
          <p:cNvPr id="7" name="虚尾箭头 6">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3043435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pPr algn="just"/>
            <a:r>
              <a:rPr lang="zh-CN" altLang="en-US" sz="2400" dirty="0"/>
              <a:t>         </a:t>
            </a:r>
            <a:r>
              <a:rPr lang="zh-CN" altLang="en-US" sz="2400" dirty="0">
                <a:latin typeface="+mn-ea"/>
                <a:ea typeface="+mn-ea"/>
              </a:rPr>
              <a:t>人们普遍认为，黄河流域是中华文明的摇篮，在公元前</a:t>
            </a:r>
            <a:r>
              <a:rPr lang="en-US" altLang="zh-CN" sz="2400" spc="90" dirty="0">
                <a:latin typeface="+mn-ea"/>
                <a:ea typeface="+mn-ea"/>
              </a:rPr>
              <a:t>5000</a:t>
            </a:r>
            <a:r>
              <a:rPr lang="zh-CN" altLang="en-US" sz="2400" spc="90" dirty="0">
                <a:latin typeface="+mn-ea"/>
                <a:ea typeface="+mn-ea"/>
              </a:rPr>
              <a:t>年左右，很多村落孕育于此。尽管这一点一直存在争</a:t>
            </a:r>
            <a:r>
              <a:rPr lang="zh-CN" altLang="en-US" sz="2400" dirty="0">
                <a:latin typeface="+mn-ea"/>
                <a:ea typeface="+mn-ea"/>
              </a:rPr>
              <a:t>议，有观点认为群落的分布要更为广泛，但有一点是毫无疑问的，即位于黄河流域的河南省是许多早期村庄和农耕聚落的所在地。</a:t>
            </a:r>
          </a:p>
        </p:txBody>
      </p:sp>
      <p:sp>
        <p:nvSpPr>
          <p:cNvPr id="11" name="矩形 10"/>
          <p:cNvSpPr>
            <a:spLocks noChangeArrowheads="1"/>
          </p:cNvSpPr>
          <p:nvPr/>
        </p:nvSpPr>
        <p:spPr bwMode="auto">
          <a:xfrm>
            <a:off x="7008478" y="318353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6</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9950508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Box 5"/>
          <p:cNvSpPr txBox="1"/>
          <p:nvPr/>
        </p:nvSpPr>
        <p:spPr>
          <a:xfrm>
            <a:off x="522288" y="1706400"/>
            <a:ext cx="8135937" cy="1938992"/>
          </a:xfrm>
          <a:prstGeom prst="rect">
            <a:avLst/>
          </a:prstGeom>
          <a:noFill/>
        </p:spPr>
        <p:txBody>
          <a:bodyPr>
            <a:spAutoFit/>
          </a:bodyPr>
          <a:lstStyle/>
          <a:p>
            <a:pPr algn="just"/>
            <a:r>
              <a:rPr lang="zh-CN" altLang="en-US" sz="2400" dirty="0"/>
              <a:t>         </a:t>
            </a:r>
            <a:r>
              <a:rPr lang="en-US" altLang="zh-CN" sz="2400" dirty="0">
                <a:latin typeface="+mn-ea"/>
                <a:ea typeface="+mn-ea"/>
              </a:rPr>
              <a:t>2001</a:t>
            </a:r>
            <a:r>
              <a:rPr lang="zh-CN" altLang="en-US" sz="2400" dirty="0">
                <a:latin typeface="+mn-ea"/>
                <a:ea typeface="+mn-ea"/>
              </a:rPr>
              <a:t>年，考古学家发现了两具骨架被“埋在一座倒塌的房屋下，上面覆盖着一层厚厚的黄河淤泥沉积物。在这层沉积物中，考古学家又发现了</a:t>
            </a:r>
            <a:r>
              <a:rPr lang="en-US" altLang="zh-CN" sz="2400" dirty="0">
                <a:latin typeface="+mn-ea"/>
                <a:ea typeface="+mn-ea"/>
              </a:rPr>
              <a:t>20</a:t>
            </a:r>
            <a:r>
              <a:rPr lang="zh-CN" altLang="en-US" sz="2400" dirty="0">
                <a:latin typeface="+mn-ea"/>
                <a:ea typeface="+mn-ea"/>
              </a:rPr>
              <a:t>多具骨架、一个祭坛、一个方形物，以及各种陶器、石器、玉器”。这只是该地区众多史前村落之一。</a:t>
            </a:r>
          </a:p>
        </p:txBody>
      </p:sp>
      <p:sp>
        <p:nvSpPr>
          <p:cNvPr id="11" name="矩形 10"/>
          <p:cNvSpPr>
            <a:spLocks noChangeArrowheads="1"/>
          </p:cNvSpPr>
          <p:nvPr/>
        </p:nvSpPr>
        <p:spPr bwMode="auto">
          <a:xfrm>
            <a:off x="7008478" y="318372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7</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9972340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2677656"/>
          </a:xfrm>
          <a:prstGeom prst="rect">
            <a:avLst/>
          </a:prstGeom>
          <a:noFill/>
        </p:spPr>
        <p:txBody>
          <a:bodyPr>
            <a:spAutoFit/>
          </a:bodyPr>
          <a:lstStyle/>
          <a:p>
            <a:pPr algn="just"/>
            <a:r>
              <a:rPr lang="zh-CN" altLang="en-US" sz="2400" dirty="0"/>
              <a:t>         </a:t>
            </a:r>
            <a:r>
              <a:rPr lang="zh-CN" altLang="en-US" sz="2400" dirty="0">
                <a:latin typeface="+mn-ea"/>
                <a:ea typeface="+mn-ea"/>
              </a:rPr>
              <a:t>中央集权的政府就从这些小村庄和农耕群落里逐渐发展起来，第一个政权便是史前文明夏朝（约公元前</a:t>
            </a:r>
            <a:r>
              <a:rPr lang="en-US" altLang="zh-CN" sz="2400" dirty="0">
                <a:latin typeface="+mn-ea"/>
                <a:ea typeface="+mn-ea"/>
              </a:rPr>
              <a:t>2070</a:t>
            </a:r>
            <a:r>
              <a:rPr lang="zh-CN" altLang="en-US" sz="2400" dirty="0">
                <a:latin typeface="+mn-ea"/>
                <a:ea typeface="+mn-ea"/>
              </a:rPr>
              <a:t>年</a:t>
            </a:r>
            <a:r>
              <a:rPr lang="en-US" altLang="zh-CN" sz="2400" dirty="0">
                <a:latin typeface="+mn-ea"/>
                <a:ea typeface="+mn-ea"/>
              </a:rPr>
              <a:t>–</a:t>
            </a:r>
            <a:r>
              <a:rPr lang="zh-CN" altLang="en-US" sz="2400" dirty="0">
                <a:latin typeface="+mn-ea"/>
                <a:ea typeface="+mn-ea"/>
              </a:rPr>
              <a:t>公元前</a:t>
            </a:r>
            <a:r>
              <a:rPr lang="en-US" altLang="zh-CN" sz="2400" dirty="0">
                <a:latin typeface="+mn-ea"/>
                <a:ea typeface="+mn-ea"/>
              </a:rPr>
              <a:t>1600</a:t>
            </a:r>
            <a:r>
              <a:rPr lang="zh-CN" altLang="en-US" sz="2400" dirty="0">
                <a:latin typeface="+mn-ea"/>
                <a:ea typeface="+mn-ea"/>
              </a:rPr>
              <a:t>年）。多年来夏朝都被视为传说而非事实，直到</a:t>
            </a:r>
            <a:r>
              <a:rPr lang="en-US" altLang="zh-CN" sz="2400" dirty="0">
                <a:latin typeface="+mn-ea"/>
                <a:ea typeface="+mn-ea"/>
              </a:rPr>
              <a:t>20</a:t>
            </a:r>
            <a:r>
              <a:rPr lang="zh-CN" altLang="en-US" sz="2400" dirty="0">
                <a:latin typeface="+mn-ea"/>
                <a:ea typeface="+mn-ea"/>
              </a:rPr>
              <a:t>世纪</a:t>
            </a:r>
            <a:r>
              <a:rPr lang="en-US" altLang="zh-CN" sz="2400" dirty="0">
                <a:latin typeface="+mn-ea"/>
                <a:ea typeface="+mn-ea"/>
              </a:rPr>
              <a:t>60</a:t>
            </a:r>
            <a:r>
              <a:rPr lang="zh-CN" altLang="en-US" sz="2400" dirty="0">
                <a:latin typeface="+mn-ea"/>
                <a:ea typeface="+mn-ea"/>
              </a:rPr>
              <a:t>、</a:t>
            </a:r>
            <a:r>
              <a:rPr lang="en-US" altLang="zh-CN" sz="2400" dirty="0">
                <a:latin typeface="+mn-ea"/>
                <a:ea typeface="+mn-ea"/>
              </a:rPr>
              <a:t>70</a:t>
            </a:r>
            <a:r>
              <a:rPr lang="zh-CN" altLang="en-US" sz="2400" dirty="0">
                <a:latin typeface="+mn-ea"/>
                <a:ea typeface="+mn-ea"/>
              </a:rPr>
              <a:t>年代发现了一些遗址，为夏朝的存在提供了强有力的证明。青铜器和墓葬的出土，清楚地证明了夏朝是一个由石器时代的松散村落向可考且有凝聚性的文明发展演变的时期。</a:t>
            </a:r>
          </a:p>
        </p:txBody>
      </p:sp>
      <p:sp>
        <p:nvSpPr>
          <p:cNvPr id="11" name="矩形 10"/>
          <p:cNvSpPr>
            <a:spLocks noChangeArrowheads="1"/>
          </p:cNvSpPr>
          <p:nvPr/>
        </p:nvSpPr>
        <p:spPr bwMode="auto">
          <a:xfrm>
            <a:off x="7008478" y="3922201"/>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8</a:t>
            </a:r>
            <a:r>
              <a:rPr lang="zh-CN" altLang="en-US" sz="2400" dirty="0"/>
              <a:t>）</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596291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6"/>
          <p:cNvSpPr txBox="1">
            <a:spLocks noChangeArrowheads="1"/>
          </p:cNvSpPr>
          <p:nvPr/>
        </p:nvSpPr>
        <p:spPr bwMode="auto">
          <a:xfrm>
            <a:off x="3577978" y="808245"/>
            <a:ext cx="1988045" cy="1066959"/>
          </a:xfrm>
          <a:prstGeom prst="rect">
            <a:avLst/>
          </a:prstGeom>
          <a:noFill/>
          <a:ln w="9525">
            <a:noFill/>
            <a:miter lim="800000"/>
            <a:headEnd/>
            <a:tailEnd/>
          </a:ln>
        </p:spPr>
        <p:txBody>
          <a:bodyPr wrap="none">
            <a:spAutoFit/>
          </a:bodyPr>
          <a:lstStyle/>
          <a:p>
            <a:pPr algn="ctr">
              <a:lnSpc>
                <a:spcPts val="3800"/>
              </a:lnSpc>
            </a:pPr>
            <a:r>
              <a:rPr lang="zh-CN" altLang="en-US" sz="2800" b="1" dirty="0"/>
              <a:t>中国的朝代</a:t>
            </a:r>
            <a:endParaRPr lang="en-US" altLang="zh-CN" sz="2800" b="1" dirty="0"/>
          </a:p>
          <a:p>
            <a:pPr algn="ctr">
              <a:lnSpc>
                <a:spcPts val="3800"/>
              </a:lnSpc>
            </a:pPr>
            <a:r>
              <a:rPr lang="zh-CN" altLang="en-US" sz="2400" dirty="0"/>
              <a:t>迈克</a:t>
            </a:r>
            <a:r>
              <a:rPr lang="en-US" altLang="zh-CN" sz="2400" dirty="0"/>
              <a:t>·</a:t>
            </a:r>
            <a:r>
              <a:rPr lang="zh-CN" altLang="en-US" sz="2400" dirty="0"/>
              <a:t>道林</a:t>
            </a:r>
            <a:endParaRPr lang="zh-CN" altLang="en-US" sz="2400" b="1" dirty="0"/>
          </a:p>
        </p:txBody>
      </p:sp>
      <p:sp>
        <p:nvSpPr>
          <p:cNvPr id="6" name="TextBox 7"/>
          <p:cNvSpPr txBox="1">
            <a:spLocks noChangeArrowheads="1"/>
          </p:cNvSpPr>
          <p:nvPr/>
        </p:nvSpPr>
        <p:spPr bwMode="auto">
          <a:xfrm>
            <a:off x="503238" y="2080455"/>
            <a:ext cx="8137525" cy="1569660"/>
          </a:xfrm>
          <a:prstGeom prst="rect">
            <a:avLst/>
          </a:prstGeom>
          <a:noFill/>
          <a:ln w="9525">
            <a:noFill/>
            <a:miter lim="800000"/>
            <a:headEnd/>
            <a:tailEnd/>
          </a:ln>
        </p:spPr>
        <p:txBody>
          <a:bodyPr>
            <a:spAutoFit/>
          </a:bodyPr>
          <a:lstStyle/>
          <a:p>
            <a:pPr algn="just"/>
            <a:r>
              <a:rPr lang="zh-CN" altLang="en-US" sz="2400" dirty="0"/>
              <a:t>         </a:t>
            </a:r>
            <a:r>
              <a:rPr lang="zh-CN" altLang="en-US" sz="2400" dirty="0">
                <a:latin typeface="+mn-ea"/>
                <a:ea typeface="+mn-ea"/>
              </a:rPr>
              <a:t>在历史上，中国的朝代至少从公元前</a:t>
            </a:r>
            <a:r>
              <a:rPr lang="en-US" altLang="zh-CN" sz="2400" dirty="0">
                <a:latin typeface="+mn-ea"/>
                <a:ea typeface="+mn-ea"/>
              </a:rPr>
              <a:t>1766</a:t>
            </a:r>
            <a:r>
              <a:rPr lang="zh-CN" altLang="en-US" sz="2400" dirty="0">
                <a:latin typeface="+mn-ea"/>
                <a:ea typeface="+mn-ea"/>
              </a:rPr>
              <a:t>年开始，到</a:t>
            </a:r>
            <a:r>
              <a:rPr lang="en-US" altLang="zh-CN" sz="2400" dirty="0">
                <a:latin typeface="+mn-ea"/>
                <a:ea typeface="+mn-ea"/>
              </a:rPr>
              <a:t>20</a:t>
            </a:r>
            <a:r>
              <a:rPr lang="zh-CN" altLang="en-US" sz="2400" dirty="0">
                <a:latin typeface="+mn-ea"/>
                <a:ea typeface="+mn-ea"/>
              </a:rPr>
              <a:t>世纪结束。一个朝代有一个统治家族，统治权力代代相传。一个朝代统治的时间并不一定很长，可以长到超过</a:t>
            </a:r>
            <a:r>
              <a:rPr lang="en-US" altLang="zh-CN" sz="2400" dirty="0">
                <a:latin typeface="+mn-ea"/>
                <a:ea typeface="+mn-ea"/>
              </a:rPr>
              <a:t>800</a:t>
            </a:r>
            <a:r>
              <a:rPr lang="zh-CN" altLang="en-US" sz="2400" dirty="0">
                <a:latin typeface="+mn-ea"/>
                <a:ea typeface="+mn-ea"/>
              </a:rPr>
              <a:t>年，也可以短到只有</a:t>
            </a:r>
            <a:r>
              <a:rPr lang="en-US" altLang="zh-CN" sz="2400" dirty="0">
                <a:latin typeface="+mn-ea"/>
                <a:ea typeface="+mn-ea"/>
              </a:rPr>
              <a:t>15</a:t>
            </a:r>
            <a:r>
              <a:rPr lang="zh-CN" altLang="en-US" sz="2400" dirty="0">
                <a:latin typeface="+mn-ea"/>
                <a:ea typeface="+mn-ea"/>
              </a:rPr>
              <a:t>年。</a:t>
            </a:r>
            <a:endParaRPr lang="en-US" altLang="zh-CN" sz="2400" dirty="0">
              <a:latin typeface="+mn-ea"/>
              <a:ea typeface="+mn-ea"/>
            </a:endParaRPr>
          </a:p>
        </p:txBody>
      </p:sp>
      <p:sp>
        <p:nvSpPr>
          <p:cNvPr id="7" name="矩形 6"/>
          <p:cNvSpPr>
            <a:spLocks noChangeArrowheads="1"/>
          </p:cNvSpPr>
          <p:nvPr/>
        </p:nvSpPr>
        <p:spPr bwMode="auto">
          <a:xfrm>
            <a:off x="7008478" y="3188450"/>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a:t>
            </a:r>
            <a:r>
              <a:rPr lang="zh-CN" altLang="en-US" sz="2400" dirty="0"/>
              <a:t>）</a:t>
            </a:r>
          </a:p>
        </p:txBody>
      </p:sp>
      <p:sp>
        <p:nvSpPr>
          <p:cNvPr id="8" name="虚尾箭头 7">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727219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200329"/>
          </a:xfrm>
          <a:prstGeom prst="rect">
            <a:avLst/>
          </a:prstGeom>
          <a:noFill/>
        </p:spPr>
        <p:txBody>
          <a:bodyPr>
            <a:spAutoFit/>
          </a:bodyPr>
          <a:lstStyle/>
          <a:p>
            <a:pPr algn="just"/>
            <a:r>
              <a:rPr lang="zh-CN" altLang="en-US" sz="2400" dirty="0"/>
              <a:t>         </a:t>
            </a:r>
            <a:r>
              <a:rPr lang="zh-CN" altLang="en-US" sz="2400" dirty="0">
                <a:latin typeface="+mn-ea"/>
                <a:ea typeface="+mn-ea"/>
              </a:rPr>
              <a:t>中国古人相信，天上的先人已经为他们选好了领导者，并称之为“天命”。如果人们认为一个领导人过于软弱而失去了天命，通常就会反抗他。</a:t>
            </a:r>
          </a:p>
        </p:txBody>
      </p:sp>
      <p:sp>
        <p:nvSpPr>
          <p:cNvPr id="11" name="矩形 10"/>
          <p:cNvSpPr>
            <a:spLocks noChangeArrowheads="1"/>
          </p:cNvSpPr>
          <p:nvPr/>
        </p:nvSpPr>
        <p:spPr bwMode="auto">
          <a:xfrm>
            <a:off x="7008478" y="2444874"/>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2</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337944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pPr algn="just"/>
            <a:r>
              <a:rPr lang="zh-CN" altLang="en-US" sz="2400" dirty="0"/>
              <a:t>         </a:t>
            </a:r>
            <a:r>
              <a:rPr lang="zh-CN" altLang="en-US" sz="2400" dirty="0">
                <a:latin typeface="+mn-ea"/>
                <a:ea typeface="+mn-ea"/>
              </a:rPr>
              <a:t>有迹象表明，在商朝之前还存在夏朝，但商朝是第一个留下文字记载的朝代。商朝统治中国的时间约为公元前</a:t>
            </a:r>
            <a:r>
              <a:rPr lang="en-US" altLang="zh-CN" sz="2400" dirty="0">
                <a:latin typeface="+mn-ea"/>
                <a:ea typeface="+mn-ea"/>
              </a:rPr>
              <a:t>1600</a:t>
            </a:r>
            <a:r>
              <a:rPr lang="zh-CN" altLang="en-US" sz="2400" dirty="0">
                <a:latin typeface="+mn-ea"/>
                <a:ea typeface="+mn-ea"/>
              </a:rPr>
              <a:t>年至公元前</a:t>
            </a:r>
            <a:r>
              <a:rPr lang="en-US" altLang="zh-CN" sz="2400" dirty="0">
                <a:latin typeface="+mn-ea"/>
                <a:ea typeface="+mn-ea"/>
              </a:rPr>
              <a:t>1046</a:t>
            </a:r>
            <a:r>
              <a:rPr lang="zh-CN" altLang="en-US" sz="2400" dirty="0">
                <a:latin typeface="+mn-ea"/>
                <a:ea typeface="+mn-ea"/>
              </a:rPr>
              <a:t>年。商代统治者开疆拓土，领土囊括了当今蒙古和太平洋之间的所有疆域。</a:t>
            </a:r>
          </a:p>
        </p:txBody>
      </p:sp>
      <p:sp>
        <p:nvSpPr>
          <p:cNvPr id="11" name="矩形 10"/>
          <p:cNvSpPr>
            <a:spLocks noChangeArrowheads="1"/>
          </p:cNvSpPr>
          <p:nvPr/>
        </p:nvSpPr>
        <p:spPr bwMode="auto">
          <a:xfrm>
            <a:off x="7008478" y="2814205"/>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3</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1199068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200329"/>
          </a:xfrm>
          <a:prstGeom prst="rect">
            <a:avLst/>
          </a:prstGeom>
          <a:noFill/>
        </p:spPr>
        <p:txBody>
          <a:bodyPr>
            <a:spAutoFit/>
          </a:bodyPr>
          <a:lstStyle/>
          <a:p>
            <a:pPr algn="just"/>
            <a:r>
              <a:rPr lang="zh-CN" altLang="en-US" sz="2400" dirty="0"/>
              <a:t>         </a:t>
            </a:r>
            <a:r>
              <a:rPr lang="zh-CN" altLang="en-US" sz="2400" dirty="0">
                <a:latin typeface="+mn-ea"/>
                <a:ea typeface="+mn-ea"/>
              </a:rPr>
              <a:t>商代实行人祭。一代商王去世后，他的很多臣民都要陪葬。一些人是先被斩首再入土，而一些人直接被活埋。商王去世后，由其儿子或兄弟继承王位。</a:t>
            </a:r>
          </a:p>
        </p:txBody>
      </p:sp>
      <p:sp>
        <p:nvSpPr>
          <p:cNvPr id="11" name="矩形 10"/>
          <p:cNvSpPr>
            <a:spLocks noChangeArrowheads="1"/>
          </p:cNvSpPr>
          <p:nvPr/>
        </p:nvSpPr>
        <p:spPr bwMode="auto">
          <a:xfrm>
            <a:off x="7008478" y="2444874"/>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4</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8401838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pPr algn="just"/>
            <a:r>
              <a:rPr lang="zh-CN" altLang="en-US" sz="2400" dirty="0"/>
              <a:t>         </a:t>
            </a:r>
            <a:r>
              <a:rPr lang="zh-CN" altLang="en-US" sz="2400" spc="100" dirty="0">
                <a:latin typeface="+mn-ea"/>
                <a:ea typeface="+mn-ea"/>
              </a:rPr>
              <a:t>周人是生活在商王朝西部的游牧民族。他们推翻了商</a:t>
            </a:r>
            <a:r>
              <a:rPr lang="zh-CN" altLang="en-US" sz="2400" dirty="0">
                <a:latin typeface="+mn-ea"/>
                <a:ea typeface="+mn-ea"/>
              </a:rPr>
              <a:t>朝，在公元前</a:t>
            </a:r>
            <a:r>
              <a:rPr lang="en-US" altLang="zh-CN" sz="2400" dirty="0">
                <a:latin typeface="+mn-ea"/>
                <a:ea typeface="+mn-ea"/>
              </a:rPr>
              <a:t>1046</a:t>
            </a:r>
            <a:r>
              <a:rPr lang="zh-CN" altLang="en-US" sz="2400" dirty="0">
                <a:latin typeface="+mn-ea"/>
                <a:ea typeface="+mn-ea"/>
              </a:rPr>
              <a:t>年到公元前</a:t>
            </a:r>
            <a:r>
              <a:rPr lang="en-US" altLang="zh-CN" sz="2400" dirty="0">
                <a:latin typeface="+mn-ea"/>
                <a:ea typeface="+mn-ea"/>
              </a:rPr>
              <a:t>3</a:t>
            </a:r>
            <a:r>
              <a:rPr lang="zh-CN" altLang="en-US" sz="2400" dirty="0">
                <a:latin typeface="+mn-ea"/>
                <a:ea typeface="+mn-ea"/>
              </a:rPr>
              <a:t>世纪统治了中国。周人能掌权的部分原因是他们能从石中炼铁，从而可以制造出强大的金属武器。</a:t>
            </a:r>
          </a:p>
        </p:txBody>
      </p:sp>
      <p:sp>
        <p:nvSpPr>
          <p:cNvPr id="11" name="矩形 10"/>
          <p:cNvSpPr>
            <a:spLocks noChangeArrowheads="1"/>
          </p:cNvSpPr>
          <p:nvPr/>
        </p:nvSpPr>
        <p:spPr bwMode="auto">
          <a:xfrm>
            <a:off x="7008478" y="2814205"/>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5</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340502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pPr algn="just"/>
            <a:r>
              <a:rPr lang="zh-CN" altLang="en-US" sz="2400" dirty="0"/>
              <a:t>         </a:t>
            </a:r>
            <a:r>
              <a:rPr lang="zh-CN" altLang="en-US" sz="2400" dirty="0">
                <a:latin typeface="+mn-ea"/>
                <a:ea typeface="+mn-ea"/>
              </a:rPr>
              <a:t>周朝在中国发展了一种封建制度（分封制），由天子任命王室贵族去统治帝国的一小部分领土。王室贵族继续将</a:t>
            </a:r>
            <a:r>
              <a:rPr lang="zh-CN" altLang="en-US" sz="2400" spc="100" dirty="0">
                <a:latin typeface="+mn-ea"/>
                <a:ea typeface="+mn-ea"/>
              </a:rPr>
              <a:t>领土作为田地分封给自己的亲戚，这些亲戚可以包括很多代</a:t>
            </a:r>
            <a:r>
              <a:rPr lang="zh-CN" altLang="en-US" sz="2400" dirty="0">
                <a:latin typeface="+mn-ea"/>
                <a:ea typeface="+mn-ea"/>
              </a:rPr>
              <a:t>人，通常含堂表亲、远房堂表亲等。分到田地的家族忠于王室贵族，王室贵族又忠于周天子。</a:t>
            </a:r>
          </a:p>
        </p:txBody>
      </p:sp>
      <p:sp>
        <p:nvSpPr>
          <p:cNvPr id="11" name="矩形 10"/>
          <p:cNvSpPr>
            <a:spLocks noChangeArrowheads="1"/>
          </p:cNvSpPr>
          <p:nvPr/>
        </p:nvSpPr>
        <p:spPr bwMode="auto">
          <a:xfrm>
            <a:off x="7008478" y="318353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6</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277172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830997"/>
          </a:xfrm>
          <a:prstGeom prst="rect">
            <a:avLst/>
          </a:prstGeom>
          <a:noFill/>
        </p:spPr>
        <p:txBody>
          <a:bodyPr>
            <a:spAutoFit/>
          </a:bodyPr>
          <a:lstStyle/>
          <a:p>
            <a:pPr algn="just"/>
            <a:r>
              <a:rPr lang="zh-CN" altLang="en-US" sz="2400" dirty="0"/>
              <a:t>         </a:t>
            </a:r>
            <a:r>
              <a:rPr lang="zh-CN" altLang="en-US" sz="2400" dirty="0">
                <a:latin typeface="+mn-ea"/>
                <a:ea typeface="+mn-ea"/>
              </a:rPr>
              <a:t>周天子向臣民征税，但用征集到的税款在都城周围修建巨大的城墙，以抵御游牧民族的进攻。</a:t>
            </a:r>
          </a:p>
        </p:txBody>
      </p:sp>
      <p:sp>
        <p:nvSpPr>
          <p:cNvPr id="11" name="矩形 10"/>
          <p:cNvSpPr>
            <a:spLocks noChangeArrowheads="1"/>
          </p:cNvSpPr>
          <p:nvPr/>
        </p:nvSpPr>
        <p:spPr bwMode="auto">
          <a:xfrm>
            <a:off x="7008478" y="2075542"/>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7</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504839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200329"/>
          </a:xfrm>
          <a:prstGeom prst="rect">
            <a:avLst/>
          </a:prstGeom>
          <a:noFill/>
        </p:spPr>
        <p:txBody>
          <a:bodyPr>
            <a:spAutoFit/>
          </a:bodyPr>
          <a:lstStyle/>
          <a:p>
            <a:pPr algn="just"/>
            <a:r>
              <a:rPr lang="zh-CN" altLang="en-US" sz="2400" dirty="0"/>
              <a:t>         </a:t>
            </a:r>
            <a:r>
              <a:rPr lang="zh-CN" altLang="en-US" sz="2400" dirty="0">
                <a:latin typeface="+mn-ea"/>
                <a:ea typeface="+mn-ea"/>
              </a:rPr>
              <a:t>在被历史学家称作“春秋”的时期，贵族阶层的权力逐渐超过了周天子。正是在这段动荡的时期，至圣先师孔子试图推行仁政。</a:t>
            </a:r>
          </a:p>
        </p:txBody>
      </p:sp>
      <p:sp>
        <p:nvSpPr>
          <p:cNvPr id="11" name="矩形 10"/>
          <p:cNvSpPr>
            <a:spLocks noChangeArrowheads="1"/>
          </p:cNvSpPr>
          <p:nvPr/>
        </p:nvSpPr>
        <p:spPr bwMode="auto">
          <a:xfrm>
            <a:off x="7008478" y="2444874"/>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8</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2795427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pPr algn="just"/>
            <a:r>
              <a:rPr lang="zh-CN" altLang="en-US" sz="2400" dirty="0"/>
              <a:t>         </a:t>
            </a:r>
            <a:r>
              <a:rPr lang="zh-CN" altLang="en-US" sz="2400" spc="100" dirty="0">
                <a:latin typeface="+mn-ea"/>
                <a:ea typeface="+mn-ea"/>
              </a:rPr>
              <a:t>公元前</a:t>
            </a:r>
            <a:r>
              <a:rPr lang="en-US" altLang="zh-CN" sz="2400" spc="100" dirty="0">
                <a:latin typeface="+mn-ea"/>
                <a:ea typeface="+mn-ea"/>
              </a:rPr>
              <a:t>221</a:t>
            </a:r>
            <a:r>
              <a:rPr lang="zh-CN" altLang="en-US" sz="2400" spc="100" dirty="0">
                <a:latin typeface="+mn-ea"/>
                <a:ea typeface="+mn-ea"/>
              </a:rPr>
              <a:t>年，秦始皇嬴政一统中国，结束了战国时</a:t>
            </a:r>
            <a:r>
              <a:rPr lang="zh-CN" altLang="en-US" sz="2400" dirty="0">
                <a:latin typeface="+mn-ea"/>
                <a:ea typeface="+mn-ea"/>
              </a:rPr>
              <a:t>代。秦朝统治者先向民众清晰普法，然后严格执行。秦始皇统一度量衡，兴建灌溉工程，并将农民赖以生存的土地分配给他们。西方第一次了解到中国就是在秦时期，中国的英文名“</a:t>
            </a:r>
            <a:r>
              <a:rPr lang="en-US" altLang="zh-CN" sz="2400" dirty="0">
                <a:latin typeface="+mn-ea"/>
                <a:ea typeface="+mn-ea"/>
              </a:rPr>
              <a:t>China”</a:t>
            </a:r>
            <a:r>
              <a:rPr lang="zh-CN" altLang="en-US" sz="2400" dirty="0">
                <a:latin typeface="+mn-ea"/>
                <a:ea typeface="+mn-ea"/>
              </a:rPr>
              <a:t>也来自于“秦”。</a:t>
            </a:r>
          </a:p>
        </p:txBody>
      </p:sp>
      <p:sp>
        <p:nvSpPr>
          <p:cNvPr id="11" name="矩形 10"/>
          <p:cNvSpPr>
            <a:spLocks noChangeArrowheads="1"/>
          </p:cNvSpPr>
          <p:nvPr/>
        </p:nvSpPr>
        <p:spPr bwMode="auto">
          <a:xfrm>
            <a:off x="7008478" y="3183537"/>
            <a:ext cx="1649747"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9</a:t>
            </a:r>
            <a:r>
              <a:rPr lang="zh-CN" altLang="en-US" sz="2400" dirty="0"/>
              <a:t>）</a:t>
            </a:r>
          </a:p>
        </p:txBody>
      </p:sp>
      <p:sp>
        <p:nvSpPr>
          <p:cNvPr id="5" name="虚尾箭头 4">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747959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pPr algn="just"/>
            <a:r>
              <a:rPr lang="zh-CN" altLang="en-US" sz="2400" dirty="0"/>
              <a:t>         </a:t>
            </a:r>
            <a:r>
              <a:rPr lang="zh-CN" altLang="en-US" sz="2400" dirty="0">
                <a:latin typeface="+mn-ea"/>
                <a:ea typeface="+mn-ea"/>
              </a:rPr>
              <a:t>秦朝深受法家思想影响，法家认为社会秩序源于强有力的君主和稳定的法律体系。法家学派试图镇压所有与其理念不一致的思想。讨论不被法家认可的观点的人会被处决。</a:t>
            </a:r>
            <a:endParaRPr lang="en-US" altLang="zh-CN" sz="2400" dirty="0">
              <a:latin typeface="+mn-ea"/>
              <a:ea typeface="+mn-ea"/>
            </a:endParaRPr>
          </a:p>
          <a:p>
            <a:pPr algn="just"/>
            <a:endParaRPr lang="zh-CN" altLang="en-US" sz="2400" dirty="0">
              <a:latin typeface="+mn-ea"/>
              <a:ea typeface="+mn-ea"/>
            </a:endParaRPr>
          </a:p>
        </p:txBody>
      </p:sp>
      <p:sp>
        <p:nvSpPr>
          <p:cNvPr id="5" name="矩形 4"/>
          <p:cNvSpPr>
            <a:spLocks noChangeArrowheads="1"/>
          </p:cNvSpPr>
          <p:nvPr/>
        </p:nvSpPr>
        <p:spPr bwMode="auto">
          <a:xfrm>
            <a:off x="6852987" y="2814205"/>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10</a:t>
            </a:r>
            <a:r>
              <a:rPr lang="zh-CN" altLang="en-US" sz="2400" dirty="0"/>
              <a:t>）</a:t>
            </a:r>
          </a:p>
        </p:txBody>
      </p:sp>
      <p:sp>
        <p:nvSpPr>
          <p:cNvPr id="7" name="虚尾箭头 6">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5066923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pPr algn="just"/>
            <a:r>
              <a:rPr lang="zh-CN" altLang="en-US" sz="2400" dirty="0"/>
              <a:t>         </a:t>
            </a:r>
            <a:r>
              <a:rPr lang="zh-CN" altLang="en-US" sz="2400" dirty="0">
                <a:latin typeface="+mn-ea"/>
                <a:ea typeface="+mn-ea"/>
              </a:rPr>
              <a:t>汉朝（公元前</a:t>
            </a:r>
            <a:r>
              <a:rPr lang="en-US" altLang="zh-CN" sz="2400" dirty="0">
                <a:latin typeface="+mn-ea"/>
                <a:ea typeface="+mn-ea"/>
              </a:rPr>
              <a:t>202</a:t>
            </a:r>
            <a:r>
              <a:rPr lang="zh-CN" altLang="en-US" sz="2400" dirty="0">
                <a:latin typeface="+mn-ea"/>
                <a:ea typeface="+mn-ea"/>
              </a:rPr>
              <a:t>年至公元</a:t>
            </a:r>
            <a:r>
              <a:rPr lang="en-US" altLang="zh-CN" sz="2400" dirty="0">
                <a:latin typeface="+mn-ea"/>
                <a:ea typeface="+mn-ea"/>
              </a:rPr>
              <a:t>220</a:t>
            </a:r>
            <a:r>
              <a:rPr lang="zh-CN" altLang="en-US" sz="2400" dirty="0">
                <a:latin typeface="+mn-ea"/>
                <a:ea typeface="+mn-ea"/>
              </a:rPr>
              <a:t>年）的中国已经发展为一个庞大的帝国。在汉朝，信奉孔子学说的儒生参与朝政、治国有方。中国最后一个朝代的统治者是满人（也叫清人），来自当时位于中国东北的满洲地区。清朝统治者软弱无能，无法阻止列强干涉中国。</a:t>
            </a:r>
          </a:p>
        </p:txBody>
      </p:sp>
      <p:sp>
        <p:nvSpPr>
          <p:cNvPr id="5" name="矩形 4"/>
          <p:cNvSpPr>
            <a:spLocks noChangeArrowheads="1"/>
          </p:cNvSpPr>
          <p:nvPr/>
        </p:nvSpPr>
        <p:spPr bwMode="auto">
          <a:xfrm>
            <a:off x="6852987" y="3183537"/>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11</a:t>
            </a:r>
            <a:r>
              <a:rPr lang="zh-CN" altLang="en-US" sz="2400" dirty="0"/>
              <a:t>）</a:t>
            </a:r>
          </a:p>
        </p:txBody>
      </p:sp>
      <p:sp>
        <p:nvSpPr>
          <p:cNvPr id="7" name="虚尾箭头 6">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9166977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569660"/>
          </a:xfrm>
          <a:prstGeom prst="rect">
            <a:avLst/>
          </a:prstGeom>
          <a:noFill/>
        </p:spPr>
        <p:txBody>
          <a:bodyPr>
            <a:spAutoFit/>
          </a:bodyPr>
          <a:lstStyle/>
          <a:p>
            <a:pPr algn="just"/>
            <a:r>
              <a:rPr lang="zh-CN" altLang="en-US" sz="2400" dirty="0"/>
              <a:t>         </a:t>
            </a:r>
            <a:r>
              <a:rPr lang="zh-CN" altLang="en-US" sz="2400" dirty="0">
                <a:latin typeface="+mn-ea"/>
                <a:ea typeface="+mn-ea"/>
              </a:rPr>
              <a:t>英国于</a:t>
            </a:r>
            <a:r>
              <a:rPr lang="en-US" altLang="zh-CN" sz="2400" dirty="0">
                <a:latin typeface="+mn-ea"/>
                <a:ea typeface="+mn-ea"/>
              </a:rPr>
              <a:t>1841</a:t>
            </a:r>
            <a:r>
              <a:rPr lang="zh-CN" altLang="en-US" sz="2400" dirty="0">
                <a:latin typeface="+mn-ea"/>
                <a:ea typeface="+mn-ea"/>
              </a:rPr>
              <a:t>年占领了香港，但更重要的是，在</a:t>
            </a:r>
            <a:r>
              <a:rPr lang="en-US" altLang="zh-CN" sz="2400" dirty="0">
                <a:latin typeface="+mn-ea"/>
                <a:ea typeface="+mn-ea"/>
              </a:rPr>
              <a:t>19</a:t>
            </a:r>
            <a:r>
              <a:rPr lang="zh-CN" altLang="en-US" sz="2400" dirty="0">
                <a:latin typeface="+mn-ea"/>
                <a:ea typeface="+mn-ea"/>
              </a:rPr>
              <a:t>世纪中叶，英国逼迫中国政府，允许其在中国售卖一种叫鸦片的危险毒品。英军在一系列的冲突中击败了清军，这些冲突后来统称为鸦片战争。</a:t>
            </a:r>
          </a:p>
        </p:txBody>
      </p:sp>
      <p:sp>
        <p:nvSpPr>
          <p:cNvPr id="5" name="矩形 4"/>
          <p:cNvSpPr>
            <a:spLocks noChangeArrowheads="1"/>
          </p:cNvSpPr>
          <p:nvPr/>
        </p:nvSpPr>
        <p:spPr bwMode="auto">
          <a:xfrm>
            <a:off x="6852987" y="2814205"/>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12</a:t>
            </a:r>
            <a:r>
              <a:rPr lang="zh-CN" altLang="en-US" sz="2400" dirty="0"/>
              <a:t>）</a:t>
            </a:r>
          </a:p>
        </p:txBody>
      </p:sp>
      <p:sp>
        <p:nvSpPr>
          <p:cNvPr id="7" name="虚尾箭头 6">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8688503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Box 5"/>
          <p:cNvSpPr txBox="1"/>
          <p:nvPr/>
        </p:nvSpPr>
        <p:spPr>
          <a:xfrm>
            <a:off x="522288" y="1706210"/>
            <a:ext cx="8135937" cy="1938992"/>
          </a:xfrm>
          <a:prstGeom prst="rect">
            <a:avLst/>
          </a:prstGeom>
          <a:noFill/>
        </p:spPr>
        <p:txBody>
          <a:bodyPr>
            <a:spAutoFit/>
          </a:bodyPr>
          <a:lstStyle/>
          <a:p>
            <a:pPr algn="just"/>
            <a:r>
              <a:rPr lang="zh-CN" altLang="en-US" sz="2400" dirty="0"/>
              <a:t>         </a:t>
            </a:r>
            <a:r>
              <a:rPr lang="en-US" altLang="zh-CN" sz="2400" dirty="0">
                <a:latin typeface="+mn-ea"/>
                <a:ea typeface="+mn-ea"/>
              </a:rPr>
              <a:t>1895</a:t>
            </a:r>
            <a:r>
              <a:rPr lang="zh-CN" altLang="en-US" sz="2400" dirty="0">
                <a:latin typeface="+mn-ea"/>
                <a:ea typeface="+mn-ea"/>
              </a:rPr>
              <a:t>年，日本占领了台湾。到</a:t>
            </a:r>
            <a:r>
              <a:rPr lang="en-US" altLang="zh-CN" sz="2400" dirty="0">
                <a:latin typeface="+mn-ea"/>
                <a:ea typeface="+mn-ea"/>
              </a:rPr>
              <a:t>19</a:t>
            </a:r>
            <a:r>
              <a:rPr lang="zh-CN" altLang="en-US" sz="2400" dirty="0">
                <a:latin typeface="+mn-ea"/>
                <a:ea typeface="+mn-ea"/>
              </a:rPr>
              <a:t>、</a:t>
            </a:r>
            <a:r>
              <a:rPr lang="en-US" altLang="zh-CN" sz="2400" dirty="0">
                <a:latin typeface="+mn-ea"/>
                <a:ea typeface="+mn-ea"/>
              </a:rPr>
              <a:t>20</a:t>
            </a:r>
            <a:r>
              <a:rPr lang="zh-CN" altLang="en-US" sz="2400" dirty="0">
                <a:latin typeface="+mn-ea"/>
                <a:ea typeface="+mn-ea"/>
              </a:rPr>
              <a:t>世纪之交时，中国已沦于外国侵略者之手。英、法、美、德、俄、日等列强瓜分中国，各自占领了中国的一部分领土。中国民众认为满人</a:t>
            </a:r>
            <a:r>
              <a:rPr lang="zh-CN" altLang="en-US" sz="2400" spc="100" dirty="0">
                <a:latin typeface="+mn-ea"/>
                <a:ea typeface="+mn-ea"/>
              </a:rPr>
              <a:t>已经丧失了天命，最后一位满清统治者，一个六岁的小皇</a:t>
            </a:r>
            <a:r>
              <a:rPr lang="zh-CN" altLang="en-US" sz="2400" dirty="0">
                <a:latin typeface="+mn-ea"/>
                <a:ea typeface="+mn-ea"/>
              </a:rPr>
              <a:t>帝，于</a:t>
            </a:r>
            <a:r>
              <a:rPr lang="en-US" altLang="zh-CN" sz="2400" dirty="0">
                <a:latin typeface="+mn-ea"/>
                <a:ea typeface="+mn-ea"/>
              </a:rPr>
              <a:t>1912</a:t>
            </a:r>
            <a:r>
              <a:rPr lang="zh-CN" altLang="en-US" sz="2400" dirty="0">
                <a:latin typeface="+mn-ea"/>
                <a:ea typeface="+mn-ea"/>
              </a:rPr>
              <a:t>年被迫退位。</a:t>
            </a:r>
          </a:p>
        </p:txBody>
      </p:sp>
      <p:sp>
        <p:nvSpPr>
          <p:cNvPr id="6" name="虚尾箭头 5">
            <a:hlinkClick r:id="rId2" action="ppaction://hlinksldjump"/>
          </p:cNvPr>
          <p:cNvSpPr/>
          <p:nvPr/>
        </p:nvSpPr>
        <p:spPr>
          <a:xfrm rot="10800000">
            <a:off x="114270" y="132137"/>
            <a:ext cx="342902" cy="285752"/>
          </a:xfrm>
          <a:prstGeom prst="striped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a:spLocks noChangeArrowheads="1"/>
          </p:cNvSpPr>
          <p:nvPr/>
        </p:nvSpPr>
        <p:spPr bwMode="auto">
          <a:xfrm>
            <a:off x="6852987" y="3183537"/>
            <a:ext cx="1805238" cy="461665"/>
          </a:xfrm>
          <a:prstGeom prst="rect">
            <a:avLst/>
          </a:prstGeom>
          <a:noFill/>
          <a:ln w="9525">
            <a:noFill/>
            <a:miter lim="800000"/>
            <a:headEnd/>
            <a:tailEnd/>
          </a:ln>
        </p:spPr>
        <p:txBody>
          <a:bodyPr wrap="none">
            <a:spAutoFit/>
          </a:bodyPr>
          <a:lstStyle/>
          <a:p>
            <a:r>
              <a:rPr lang="zh-CN" altLang="en-US" sz="2400" dirty="0"/>
              <a:t>（</a:t>
            </a:r>
            <a:r>
              <a:rPr lang="en-US" altLang="zh-CN" sz="2400" dirty="0"/>
              <a:t>Para. 13</a:t>
            </a:r>
            <a:r>
              <a:rPr lang="zh-CN" altLang="en-US" sz="2400" dirty="0"/>
              <a:t>）</a:t>
            </a:r>
          </a:p>
        </p:txBody>
      </p:sp>
    </p:spTree>
    <p:extLst>
      <p:ext uri="{BB962C8B-B14F-4D97-AF65-F5344CB8AC3E}">
        <p14:creationId xmlns:p14="http://schemas.microsoft.com/office/powerpoint/2010/main" val="57670030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just">
          <a:defRPr sz="240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24731</TotalTime>
  <Words>15241</Words>
  <Application>Microsoft Office PowerPoint</Application>
  <PresentationFormat>全屏显示(4:3)</PresentationFormat>
  <Paragraphs>1364</Paragraphs>
  <Slides>174</Slides>
  <Notes>5</Notes>
  <HiddenSlides>92</HiddenSlides>
  <MMClips>75</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174</vt:i4>
      </vt:variant>
    </vt:vector>
  </HeadingPairs>
  <TitlesOfParts>
    <vt:vector size="183" baseType="lpstr">
      <vt:lpstr>宋体</vt:lpstr>
      <vt:lpstr>微软雅黑</vt:lpstr>
      <vt:lpstr>Calibri</vt:lpstr>
      <vt:lpstr>Arial</vt:lpstr>
      <vt:lpstr>Times New Roman</vt:lpstr>
      <vt:lpstr>Cambria</vt:lpstr>
      <vt:lpstr>黑体</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senj</dc:creator>
  <cp:lastModifiedBy>ZhaiQiFeng</cp:lastModifiedBy>
  <cp:revision>4616</cp:revision>
  <dcterms:created xsi:type="dcterms:W3CDTF">2017-10-20T05:26:00Z</dcterms:created>
  <dcterms:modified xsi:type="dcterms:W3CDTF">2023-11-02T01:06:55Z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2052-11.1.0.8496</vt:lpwstr>
  </property>
</Properties>
</file>