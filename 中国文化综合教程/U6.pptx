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5"/>
  </p:notesMasterIdLst>
  <p:handoutMasterIdLst>
    <p:handoutMasterId r:id="rId166"/>
  </p:handoutMasterIdLst>
  <p:sldIdLst>
    <p:sldId id="632" r:id="rId2"/>
    <p:sldId id="258" r:id="rId3"/>
    <p:sldId id="1373" r:id="rId4"/>
    <p:sldId id="1213" r:id="rId5"/>
    <p:sldId id="1606" r:id="rId6"/>
    <p:sldId id="1447" r:id="rId7"/>
    <p:sldId id="1449" r:id="rId8"/>
    <p:sldId id="1451" r:id="rId9"/>
    <p:sldId id="1470" r:id="rId10"/>
    <p:sldId id="1471" r:id="rId11"/>
    <p:sldId id="1472" r:id="rId12"/>
    <p:sldId id="1473" r:id="rId13"/>
    <p:sldId id="1474" r:id="rId14"/>
    <p:sldId id="1475" r:id="rId15"/>
    <p:sldId id="1452" r:id="rId16"/>
    <p:sldId id="1479" r:id="rId17"/>
    <p:sldId id="1480" r:id="rId18"/>
    <p:sldId id="1481" r:id="rId19"/>
    <p:sldId id="1484" r:id="rId20"/>
    <p:sldId id="1453" r:id="rId21"/>
    <p:sldId id="1482" r:id="rId22"/>
    <p:sldId id="1487" r:id="rId23"/>
    <p:sldId id="1488" r:id="rId24"/>
    <p:sldId id="1489" r:id="rId25"/>
    <p:sldId id="1454" r:id="rId26"/>
    <p:sldId id="1483" r:id="rId27"/>
    <p:sldId id="1455" r:id="rId28"/>
    <p:sldId id="1492" r:id="rId29"/>
    <p:sldId id="1493" r:id="rId30"/>
    <p:sldId id="1494" r:id="rId31"/>
    <p:sldId id="1495" r:id="rId32"/>
    <p:sldId id="1609" r:id="rId33"/>
    <p:sldId id="1610" r:id="rId34"/>
    <p:sldId id="1611" r:id="rId35"/>
    <p:sldId id="1496" r:id="rId36"/>
    <p:sldId id="1456" r:id="rId37"/>
    <p:sldId id="1498" r:id="rId38"/>
    <p:sldId id="1499" r:id="rId39"/>
    <p:sldId id="1500" r:id="rId40"/>
    <p:sldId id="1457" r:id="rId41"/>
    <p:sldId id="1501" r:id="rId42"/>
    <p:sldId id="1591" r:id="rId43"/>
    <p:sldId id="1502" r:id="rId44"/>
    <p:sldId id="1503" r:id="rId45"/>
    <p:sldId id="1458" r:id="rId46"/>
    <p:sldId id="1459" r:id="rId47"/>
    <p:sldId id="1506" r:id="rId48"/>
    <p:sldId id="1507" r:id="rId49"/>
    <p:sldId id="1508" r:id="rId50"/>
    <p:sldId id="1509" r:id="rId51"/>
    <p:sldId id="1613" r:id="rId52"/>
    <p:sldId id="1614" r:id="rId53"/>
    <p:sldId id="1615" r:id="rId54"/>
    <p:sldId id="1510" r:id="rId55"/>
    <p:sldId id="1460" r:id="rId56"/>
    <p:sldId id="1511" r:id="rId57"/>
    <p:sldId id="1512" r:id="rId58"/>
    <p:sldId id="1513" r:id="rId59"/>
    <p:sldId id="1461" r:id="rId60"/>
    <p:sldId id="1515" r:id="rId61"/>
    <p:sldId id="1516" r:id="rId62"/>
    <p:sldId id="1517" r:id="rId63"/>
    <p:sldId id="1462" r:id="rId64"/>
    <p:sldId id="1520" r:id="rId65"/>
    <p:sldId id="1616" r:id="rId66"/>
    <p:sldId id="1617" r:id="rId67"/>
    <p:sldId id="1463" r:id="rId68"/>
    <p:sldId id="1523" r:id="rId69"/>
    <p:sldId id="1622" r:id="rId70"/>
    <p:sldId id="1524" r:id="rId71"/>
    <p:sldId id="1525" r:id="rId72"/>
    <p:sldId id="1464" r:id="rId73"/>
    <p:sldId id="1526" r:id="rId74"/>
    <p:sldId id="1618" r:id="rId75"/>
    <p:sldId id="1531" r:id="rId76"/>
    <p:sldId id="1465" r:id="rId77"/>
    <p:sldId id="1619" r:id="rId78"/>
    <p:sldId id="1620" r:id="rId79"/>
    <p:sldId id="1530" r:id="rId80"/>
    <p:sldId id="1279" r:id="rId81"/>
    <p:sldId id="1372" r:id="rId82"/>
    <p:sldId id="1589" r:id="rId83"/>
    <p:sldId id="1532" r:id="rId84"/>
    <p:sldId id="1533" r:id="rId85"/>
    <p:sldId id="1621" r:id="rId86"/>
    <p:sldId id="1466" r:id="rId87"/>
    <p:sldId id="1467" r:id="rId88"/>
    <p:sldId id="1608" r:id="rId89"/>
    <p:sldId id="1607" r:id="rId90"/>
    <p:sldId id="1469" r:id="rId91"/>
    <p:sldId id="1497" r:id="rId92"/>
    <p:sldId id="1534" r:id="rId93"/>
    <p:sldId id="1316" r:id="rId94"/>
    <p:sldId id="1386" r:id="rId95"/>
    <p:sldId id="1552" r:id="rId96"/>
    <p:sldId id="1553" r:id="rId97"/>
    <p:sldId id="1554" r:id="rId98"/>
    <p:sldId id="1555" r:id="rId99"/>
    <p:sldId id="1556" r:id="rId100"/>
    <p:sldId id="1557" r:id="rId101"/>
    <p:sldId id="1558" r:id="rId102"/>
    <p:sldId id="1336" r:id="rId103"/>
    <p:sldId id="1399" r:id="rId104"/>
    <p:sldId id="1572" r:id="rId105"/>
    <p:sldId id="1573" r:id="rId106"/>
    <p:sldId id="1574" r:id="rId107"/>
    <p:sldId id="1588" r:id="rId108"/>
    <p:sldId id="1575" r:id="rId109"/>
    <p:sldId id="1576" r:id="rId110"/>
    <p:sldId id="1577" r:id="rId111"/>
    <p:sldId id="1578" r:id="rId112"/>
    <p:sldId id="1579" r:id="rId113"/>
    <p:sldId id="1580" r:id="rId114"/>
    <p:sldId id="1581" r:id="rId115"/>
    <p:sldId id="1582" r:id="rId116"/>
    <p:sldId id="1585" r:id="rId117"/>
    <p:sldId id="1612" r:id="rId118"/>
    <p:sldId id="1587" r:id="rId119"/>
    <p:sldId id="1259" r:id="rId120"/>
    <p:sldId id="1268" r:id="rId121"/>
    <p:sldId id="1238" r:id="rId122"/>
    <p:sldId id="1269" r:id="rId123"/>
    <p:sldId id="1317" r:id="rId124"/>
    <p:sldId id="1318" r:id="rId125"/>
    <p:sldId id="1319" r:id="rId126"/>
    <p:sldId id="1320" r:id="rId127"/>
    <p:sldId id="1321" r:id="rId128"/>
    <p:sldId id="1322" r:id="rId129"/>
    <p:sldId id="1323" r:id="rId130"/>
    <p:sldId id="1324" r:id="rId131"/>
    <p:sldId id="1426" r:id="rId132"/>
    <p:sldId id="1427" r:id="rId133"/>
    <p:sldId id="1428" r:id="rId134"/>
    <p:sldId id="1429" r:id="rId135"/>
    <p:sldId id="1430" r:id="rId136"/>
    <p:sldId id="1431" r:id="rId137"/>
    <p:sldId id="1432" r:id="rId138"/>
    <p:sldId id="1594" r:id="rId139"/>
    <p:sldId id="1433" r:id="rId140"/>
    <p:sldId id="1595" r:id="rId141"/>
    <p:sldId id="1596" r:id="rId142"/>
    <p:sldId id="1597" r:id="rId143"/>
    <p:sldId id="1598" r:id="rId144"/>
    <p:sldId id="1539" r:id="rId145"/>
    <p:sldId id="1540" r:id="rId146"/>
    <p:sldId id="1541" r:id="rId147"/>
    <p:sldId id="1542" r:id="rId148"/>
    <p:sldId id="1543" r:id="rId149"/>
    <p:sldId id="1544" r:id="rId150"/>
    <p:sldId id="1545" r:id="rId151"/>
    <p:sldId id="1546" r:id="rId152"/>
    <p:sldId id="1547" r:id="rId153"/>
    <p:sldId id="1548" r:id="rId154"/>
    <p:sldId id="1549" r:id="rId155"/>
    <p:sldId id="1550" r:id="rId156"/>
    <p:sldId id="1551" r:id="rId157"/>
    <p:sldId id="1599" r:id="rId158"/>
    <p:sldId id="1600" r:id="rId159"/>
    <p:sldId id="1601" r:id="rId160"/>
    <p:sldId id="1602" r:id="rId161"/>
    <p:sldId id="1603" r:id="rId162"/>
    <p:sldId id="1604" r:id="rId163"/>
    <p:sldId id="1605" r:id="rId164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67"/>
      <p:bold r:id="rId168"/>
      <p:italic r:id="rId169"/>
      <p:boldItalic r:id="rId170"/>
    </p:embeddedFont>
    <p:embeddedFont>
      <p:font typeface="Cambria" panose="02040503050406030204" pitchFamily="18" charset="0"/>
      <p:regular r:id="rId171"/>
      <p:bold r:id="rId172"/>
      <p:italic r:id="rId173"/>
      <p:boldItalic r:id="rId174"/>
    </p:embeddedFont>
    <p:embeddedFont>
      <p:font typeface="黑体" panose="02010609060101010101" pitchFamily="49" charset="-122"/>
      <p:regular r:id="rId175"/>
    </p:embeddedFont>
    <p:embeddedFont>
      <p:font typeface="微软雅黑" panose="020B0503020204020204" pitchFamily="34" charset="-122"/>
      <p:regular r:id="rId176"/>
      <p:bold r:id="rId177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76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5511" userDrawn="1">
          <p15:clr>
            <a:srgbClr val="A4A3A4"/>
          </p15:clr>
        </p15:guide>
        <p15:guide id="5" orient="horz" pos="799" userDrawn="1">
          <p15:clr>
            <a:srgbClr val="A4A3A4"/>
          </p15:clr>
        </p15:guide>
        <p15:guide id="6" pos="2744" userDrawn="1">
          <p15:clr>
            <a:srgbClr val="A4A3A4"/>
          </p15:clr>
        </p15:guide>
        <p15:guide id="7" pos="54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6383E"/>
    <a:srgbClr val="0A2E4A"/>
    <a:srgbClr val="012641"/>
    <a:srgbClr val="F9E7DD"/>
    <a:srgbClr val="982738"/>
    <a:srgbClr val="0C476D"/>
    <a:srgbClr val="56AB95"/>
    <a:srgbClr val="E5F2EC"/>
    <a:srgbClr val="F7FB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33" autoAdjust="0"/>
  </p:normalViewPr>
  <p:slideViewPr>
    <p:cSldViewPr>
      <p:cViewPr varScale="1">
        <p:scale>
          <a:sx n="106" d="100"/>
          <a:sy n="106" d="100"/>
        </p:scale>
        <p:origin x="522" y="114"/>
      </p:cViewPr>
      <p:guideLst>
        <p:guide pos="476"/>
        <p:guide orient="horz" pos="2160"/>
        <p:guide pos="5511"/>
        <p:guide orient="horz" pos="799"/>
        <p:guide pos="2744"/>
        <p:guide pos="5465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80" d="100"/>
          <a:sy n="80" d="100"/>
        </p:scale>
        <p:origin x="-3942" y="-96"/>
      </p:cViewPr>
      <p:guideLst>
        <p:guide orient="horz" pos="2880"/>
        <p:guide pos="2160"/>
      </p:guideLst>
    </p:cSldViewPr>
  </p:notesViewPr>
  <p:gridSpacing cx="72005" cy="72005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font" Target="fonts/font4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font" Target="fonts/font5.fntdata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font" Target="fonts/font11.fntdata"/><Relationship Id="rId172" Type="http://schemas.openxmlformats.org/officeDocument/2006/relationships/font" Target="fonts/font6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font" Target="fonts/font8.fntdata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font" Target="fonts/font9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font" Target="fonts/font10.fntdata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232456D2-011B-4735-BD4B-5DC53B7D1776}" type="datetimeFigureOut">
              <a:rPr lang="zh-CN" altLang="en-US"/>
              <a:pPr>
                <a:defRPr/>
              </a:pPr>
              <a:t>2023/11/22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780D33A-4956-478A-AD0E-1720549C0D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>
                <a:latin typeface="+mn-lt"/>
                <a:ea typeface="+mn-ea"/>
              </a:defRPr>
            </a:lvl1pPr>
          </a:lstStyle>
          <a:p>
            <a:pPr>
              <a:defRPr/>
            </a:pPr>
            <a:fld id="{51876005-32F3-4E6A-AA77-5A446719FC8C}" type="datetimeFigureOut">
              <a:rPr lang="zh-CN" altLang="en-US"/>
              <a:pPr>
                <a:defRPr/>
              </a:pPr>
              <a:t>2023/11/22</a:t>
            </a:fld>
            <a:endParaRPr lang="zh-CN" altLang="en-US"/>
          </a:p>
        </p:txBody>
      </p:sp>
      <p:sp>
        <p:nvSpPr>
          <p:cNvPr id="247812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</p:sp>
      <p:sp>
        <p:nvSpPr>
          <p:cNvPr id="99333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322BA1A-879F-4CF1-BB3D-9E17A6CDE3B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22BA1A-879F-4CF1-BB3D-9E17A6CDE3B3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459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22BA1A-879F-4CF1-BB3D-9E17A6CDE3B3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22BA1A-879F-4CF1-BB3D-9E17A6CDE3B3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09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22BA1A-879F-4CF1-BB3D-9E17A6CDE3B3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981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22BA1A-879F-4CF1-BB3D-9E17A6CDE3B3}" type="slidenum">
              <a:rPr lang="zh-CN" altLang="en-US" smtClean="0"/>
              <a:pPr>
                <a:defRPr/>
              </a:pPr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976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slide" Target="../slides/slide2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.xml"/><Relationship Id="rId5" Type="http://schemas.openxmlformats.org/officeDocument/2006/relationships/slide" Target="../slides/slide7.xml"/><Relationship Id="rId4" Type="http://schemas.openxmlformats.org/officeDocument/2006/relationships/slide" Target="../slides/slide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.xml"/><Relationship Id="rId5" Type="http://schemas.openxmlformats.org/officeDocument/2006/relationships/slide" Target="../slides/slide7.xml"/><Relationship Id="rId4" Type="http://schemas.openxmlformats.org/officeDocument/2006/relationships/slide" Target="../slides/slide6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.xml"/><Relationship Id="rId5" Type="http://schemas.openxmlformats.org/officeDocument/2006/relationships/slide" Target="../slides/slide7.xml"/><Relationship Id="rId4" Type="http://schemas.openxmlformats.org/officeDocument/2006/relationships/slide" Target="../slides/slide6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5.xml"/><Relationship Id="rId3" Type="http://schemas.openxmlformats.org/officeDocument/2006/relationships/image" Target="../media/image7.png"/><Relationship Id="rId7" Type="http://schemas.openxmlformats.org/officeDocument/2006/relationships/slide" Target="../slides/slide20.xml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5.xml"/><Relationship Id="rId5" Type="http://schemas.openxmlformats.org/officeDocument/2006/relationships/image" Target="../media/image5.png"/><Relationship Id="rId4" Type="http://schemas.openxmlformats.org/officeDocument/2006/relationships/slide" Target="../slides/slide2.xml"/><Relationship Id="rId9" Type="http://schemas.openxmlformats.org/officeDocument/2006/relationships/slide" Target="../slides/slide8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8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5.xml"/><Relationship Id="rId5" Type="http://schemas.openxmlformats.org/officeDocument/2006/relationships/slide" Target="../slides/slide20.xml"/><Relationship Id="rId4" Type="http://schemas.openxmlformats.org/officeDocument/2006/relationships/slide" Target="../slides/slide1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8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5.xml"/><Relationship Id="rId5" Type="http://schemas.openxmlformats.org/officeDocument/2006/relationships/slide" Target="../slides/slide20.xml"/><Relationship Id="rId4" Type="http://schemas.openxmlformats.org/officeDocument/2006/relationships/slide" Target="../slides/slide1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8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5.xml"/><Relationship Id="rId5" Type="http://schemas.openxmlformats.org/officeDocument/2006/relationships/slide" Target="../slides/slide20.xml"/><Relationship Id="rId4" Type="http://schemas.openxmlformats.org/officeDocument/2006/relationships/slide" Target="../slides/slide1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8.xml"/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5.xml"/><Relationship Id="rId5" Type="http://schemas.openxmlformats.org/officeDocument/2006/relationships/slide" Target="../slides/slide20.xml"/><Relationship Id="rId4" Type="http://schemas.openxmlformats.org/officeDocument/2006/relationships/slide" Target="../slides/slide15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" Target="../slides/slide27.xml"/><Relationship Id="rId3" Type="http://schemas.openxmlformats.org/officeDocument/2006/relationships/slide" Target="../slides/slide3.xml"/><Relationship Id="rId7" Type="http://schemas.openxmlformats.org/officeDocument/2006/relationships/slide" Target="../slides/slide45.xml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0.xml"/><Relationship Id="rId5" Type="http://schemas.openxmlformats.org/officeDocument/2006/relationships/slide" Target="../slides/slide36.xml"/><Relationship Id="rId4" Type="http://schemas.openxmlformats.org/officeDocument/2006/relationships/image" Target="../media/image5.png"/><Relationship Id="rId9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27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40.xml"/><Relationship Id="rId4" Type="http://schemas.openxmlformats.org/officeDocument/2006/relationships/slide" Target="../slides/slide3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27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40.xml"/><Relationship Id="rId4" Type="http://schemas.openxmlformats.org/officeDocument/2006/relationships/slide" Target="../slides/slide3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27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40.xml"/><Relationship Id="rId4" Type="http://schemas.openxmlformats.org/officeDocument/2006/relationships/slide" Target="../slides/slide3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27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45.xml"/><Relationship Id="rId5" Type="http://schemas.openxmlformats.org/officeDocument/2006/relationships/slide" Target="../slides/slide40.xml"/><Relationship Id="rId4" Type="http://schemas.openxmlformats.org/officeDocument/2006/relationships/slide" Target="../slides/slide36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" Target="../slides/slide63.xml"/><Relationship Id="rId3" Type="http://schemas.openxmlformats.org/officeDocument/2006/relationships/image" Target="../media/image7.png"/><Relationship Id="rId7" Type="http://schemas.openxmlformats.org/officeDocument/2006/relationships/slide" Target="../slides/slide59.xml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55.xml"/><Relationship Id="rId5" Type="http://schemas.openxmlformats.org/officeDocument/2006/relationships/image" Target="../media/image5.png"/><Relationship Id="rId4" Type="http://schemas.openxmlformats.org/officeDocument/2006/relationships/slide" Target="../slides/slide3.xml"/><Relationship Id="rId9" Type="http://schemas.openxmlformats.org/officeDocument/2006/relationships/slide" Target="../slides/slide4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46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3.xml"/><Relationship Id="rId5" Type="http://schemas.openxmlformats.org/officeDocument/2006/relationships/slide" Target="../slides/slide59.xml"/><Relationship Id="rId4" Type="http://schemas.openxmlformats.org/officeDocument/2006/relationships/slide" Target="../slides/slide55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46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3.xml"/><Relationship Id="rId5" Type="http://schemas.openxmlformats.org/officeDocument/2006/relationships/slide" Target="../slides/slide59.xml"/><Relationship Id="rId4" Type="http://schemas.openxmlformats.org/officeDocument/2006/relationships/slide" Target="../slides/slide5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46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3.xml"/><Relationship Id="rId5" Type="http://schemas.openxmlformats.org/officeDocument/2006/relationships/slide" Target="../slides/slide59.xml"/><Relationship Id="rId4" Type="http://schemas.openxmlformats.org/officeDocument/2006/relationships/slide" Target="../slides/slide55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slide" Target="../slides/slide46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3.xml"/><Relationship Id="rId5" Type="http://schemas.openxmlformats.org/officeDocument/2006/relationships/slide" Target="../slides/slide59.xml"/><Relationship Id="rId4" Type="http://schemas.openxmlformats.org/officeDocument/2006/relationships/slide" Target="../slides/slide55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74642604-91B4-7F69-F0EF-B8DED163496E}"/>
              </a:ext>
            </a:extLst>
          </p:cNvPr>
          <p:cNvGrpSpPr/>
          <p:nvPr userDrawn="1"/>
        </p:nvGrpSpPr>
        <p:grpSpPr>
          <a:xfrm>
            <a:off x="-2" y="-1"/>
            <a:ext cx="9144002" cy="6858001"/>
            <a:chOff x="-2" y="-1"/>
            <a:chExt cx="9144002" cy="6858001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CDA71869-4CBB-0B21-DB00-65599A41CC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LineDrawing trans="3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" y="1773158"/>
              <a:ext cx="9143999" cy="5084842"/>
            </a:xfrm>
            <a:prstGeom prst="rect">
              <a:avLst/>
            </a:prstGeom>
          </p:spPr>
        </p:pic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3AEFEB30-D474-9D9E-41DF-812B61D3DA51}"/>
                </a:ext>
              </a:extLst>
            </p:cNvPr>
            <p:cNvSpPr/>
            <p:nvPr userDrawn="1"/>
          </p:nvSpPr>
          <p:spPr>
            <a:xfrm>
              <a:off x="0" y="-1"/>
              <a:ext cx="9144000" cy="425562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37000">
                  <a:srgbClr val="F8FBFA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4DC03B2A-BECC-F263-E70B-224F48EAD93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LineDrawing trans="30000"/>
                      </a14:imgEffect>
                    </a14:imgLayer>
                  </a14:imgProps>
                </a:ext>
              </a:extLst>
            </a:blip>
            <a:srcRect b="50490"/>
            <a:stretch/>
          </p:blipFill>
          <p:spPr>
            <a:xfrm>
              <a:off x="-2" y="-1"/>
              <a:ext cx="9143999" cy="2517486"/>
            </a:xfrm>
            <a:prstGeom prst="rect">
              <a:avLst/>
            </a:prstGeom>
          </p:spPr>
        </p:pic>
      </p:grpSp>
      <p:sp>
        <p:nvSpPr>
          <p:cNvPr id="20" name="矩形 19">
            <a:extLst>
              <a:ext uri="{FF2B5EF4-FFF2-40B4-BE49-F238E27FC236}">
                <a16:creationId xmlns:a16="http://schemas.microsoft.com/office/drawing/2014/main" id="{F18A3B7C-0671-D489-A194-57CD28A73878}"/>
              </a:ext>
            </a:extLst>
          </p:cNvPr>
          <p:cNvSpPr/>
          <p:nvPr userDrawn="1"/>
        </p:nvSpPr>
        <p:spPr>
          <a:xfrm>
            <a:off x="5004030" y="4346562"/>
            <a:ext cx="2520175" cy="1206619"/>
          </a:xfrm>
          <a:prstGeom prst="rect">
            <a:avLst/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箭头: V 形 18">
            <a:extLst>
              <a:ext uri="{FF2B5EF4-FFF2-40B4-BE49-F238E27FC236}">
                <a16:creationId xmlns:a16="http://schemas.microsoft.com/office/drawing/2014/main" id="{ED24B1E7-0D67-DFA2-BF7C-35EAED3498C3}"/>
              </a:ext>
            </a:extLst>
          </p:cNvPr>
          <p:cNvSpPr/>
          <p:nvPr userDrawn="1"/>
        </p:nvSpPr>
        <p:spPr>
          <a:xfrm flipH="1">
            <a:off x="6804155" y="4346562"/>
            <a:ext cx="1512105" cy="1206619"/>
          </a:xfrm>
          <a:prstGeom prst="chevron">
            <a:avLst/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C9C9C0A-6C3D-1217-8EBA-7219A43E7E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t="-124" b="1619"/>
          <a:stretch/>
        </p:blipFill>
        <p:spPr>
          <a:xfrm>
            <a:off x="0" y="1"/>
            <a:ext cx="6107940" cy="685800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箭头: V 形 23">
            <a:extLst>
              <a:ext uri="{FF2B5EF4-FFF2-40B4-BE49-F238E27FC236}">
                <a16:creationId xmlns:a16="http://schemas.microsoft.com/office/drawing/2014/main" id="{0C0EBBD2-193A-C27C-BF19-3C25C292F68A}"/>
              </a:ext>
            </a:extLst>
          </p:cNvPr>
          <p:cNvSpPr/>
          <p:nvPr userDrawn="1"/>
        </p:nvSpPr>
        <p:spPr>
          <a:xfrm flipH="1">
            <a:off x="7800118" y="4346562"/>
            <a:ext cx="792055" cy="1206619"/>
          </a:xfrm>
          <a:prstGeom prst="chevron">
            <a:avLst>
              <a:gd name="adj" fmla="val 75452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DF20ECF-7DF0-ED13-D564-1CAEFC6621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541535" y="6237195"/>
            <a:ext cx="2221117" cy="432005"/>
          </a:xfrm>
          <a:prstGeom prst="rect">
            <a:avLst/>
          </a:prstGeom>
        </p:spPr>
      </p:pic>
      <p:sp>
        <p:nvSpPr>
          <p:cNvPr id="29" name="文本框 28"/>
          <p:cNvSpPr txBox="1"/>
          <p:nvPr userDrawn="1"/>
        </p:nvSpPr>
        <p:spPr>
          <a:xfrm>
            <a:off x="6490957" y="960402"/>
            <a:ext cx="13805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rgbClr val="56AB95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UNIT</a:t>
            </a:r>
            <a:endParaRPr lang="zh-CN" altLang="en-US" sz="4000" b="1" dirty="0">
              <a:ln>
                <a:solidFill>
                  <a:srgbClr val="982738"/>
                </a:solidFill>
              </a:ln>
              <a:solidFill>
                <a:srgbClr val="56AB95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868780-CE02-5280-A3E8-B9C81BB30B2B}"/>
              </a:ext>
            </a:extLst>
          </p:cNvPr>
          <p:cNvSpPr/>
          <p:nvPr userDrawn="1"/>
        </p:nvSpPr>
        <p:spPr>
          <a:xfrm>
            <a:off x="-1" y="4346562"/>
            <a:ext cx="5796085" cy="1206619"/>
          </a:xfrm>
          <a:prstGeom prst="rect">
            <a:avLst/>
          </a:prstGeom>
          <a:solidFill>
            <a:srgbClr val="56AB95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9">
            <a:extLst>
              <a:ext uri="{FF2B5EF4-FFF2-40B4-BE49-F238E27FC236}">
                <a16:creationId xmlns:a16="http://schemas.microsoft.com/office/drawing/2014/main" id="{FCF97ED4-BDE1-2AE4-D422-4502447A08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85899" y="5621070"/>
            <a:ext cx="573614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Understanding Chinese Culture: An English Course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A0040A-BA98-CCF8-1CEC-067E45641C74}"/>
              </a:ext>
            </a:extLst>
          </p:cNvPr>
          <p:cNvSpPr txBox="1"/>
          <p:nvPr userDrawn="1"/>
        </p:nvSpPr>
        <p:spPr>
          <a:xfrm>
            <a:off x="240904" y="4595928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中国文化英语综合教程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12AB9F-C27A-93F3-241F-398885AFA62A}"/>
              </a:ext>
            </a:extLst>
          </p:cNvPr>
          <p:cNvSpPr txBox="1"/>
          <p:nvPr userDrawn="1"/>
        </p:nvSpPr>
        <p:spPr>
          <a:xfrm>
            <a:off x="6372125" y="459592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zh-CN" sz="4000" b="1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上册</a:t>
            </a:r>
            <a:endParaRPr lang="zh-CN" altLang="en-US" sz="4000" b="1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05AF4F24-FC86-CEF6-7A6B-16E1E26FF8F7}"/>
              </a:ext>
            </a:extLst>
          </p:cNvPr>
          <p:cNvSpPr/>
          <p:nvPr userDrawn="1"/>
        </p:nvSpPr>
        <p:spPr>
          <a:xfrm>
            <a:off x="5289108" y="2491010"/>
            <a:ext cx="2293605" cy="720050"/>
          </a:xfrm>
          <a:prstGeom prst="roundRect">
            <a:avLst/>
          </a:prstGeom>
          <a:solidFill>
            <a:srgbClr val="F7FBF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文本框 33"/>
          <p:cNvSpPr txBox="1"/>
          <p:nvPr userDrawn="1"/>
        </p:nvSpPr>
        <p:spPr>
          <a:xfrm>
            <a:off x="5504335" y="2535564"/>
            <a:ext cx="185820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500" b="1" dirty="0">
                <a:solidFill>
                  <a:srgbClr val="C0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Festival</a:t>
            </a:r>
            <a:endParaRPr lang="zh-CN" altLang="en-US" sz="35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BFB990DA-B36E-875A-D23B-4A2CF449EBAA}"/>
              </a:ext>
            </a:extLst>
          </p:cNvPr>
          <p:cNvSpPr/>
          <p:nvPr userDrawn="1"/>
        </p:nvSpPr>
        <p:spPr>
          <a:xfrm>
            <a:off x="7912870" y="908825"/>
            <a:ext cx="811040" cy="811040"/>
          </a:xfrm>
          <a:prstGeom prst="diamond">
            <a:avLst/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0EA44AF-54D0-9FD1-00CC-1B64C41AA6DE}"/>
              </a:ext>
            </a:extLst>
          </p:cNvPr>
          <p:cNvSpPr txBox="1"/>
          <p:nvPr userDrawn="1"/>
        </p:nvSpPr>
        <p:spPr>
          <a:xfrm>
            <a:off x="8083390" y="960402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chemeClr val="bg1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6</a:t>
            </a:r>
            <a:endParaRPr lang="zh-CN" altLang="en-US" sz="4000" b="1" dirty="0">
              <a:ln>
                <a:solidFill>
                  <a:srgbClr val="982738"/>
                </a:solidFill>
              </a:ln>
              <a:solidFill>
                <a:schemeClr val="bg1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2" name="矩形 1">
            <a:hlinkClick r:id="rId7" action="ppaction://hlinksldjump"/>
            <a:extLst>
              <a:ext uri="{FF2B5EF4-FFF2-40B4-BE49-F238E27FC236}">
                <a16:creationId xmlns:a16="http://schemas.microsoft.com/office/drawing/2014/main" id="{934ED773-DAB4-14EF-E2CF-FCAF6D333875}"/>
              </a:ext>
            </a:extLst>
          </p:cNvPr>
          <p:cNvSpPr/>
          <p:nvPr userDrawn="1"/>
        </p:nvSpPr>
        <p:spPr>
          <a:xfrm>
            <a:off x="-5" y="-1"/>
            <a:ext cx="9144005" cy="6858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C272B9D-6638-6A55-451F-8E7F3D5FA6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 trans="3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" y="1773158"/>
            <a:ext cx="9143999" cy="508484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9A8F6040-CA30-CDBF-4377-3AB5438C255E}"/>
              </a:ext>
            </a:extLst>
          </p:cNvPr>
          <p:cNvSpPr/>
          <p:nvPr userDrawn="1"/>
        </p:nvSpPr>
        <p:spPr>
          <a:xfrm>
            <a:off x="0" y="-1"/>
            <a:ext cx="9144000" cy="4255621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37000">
                <a:srgbClr val="F8FBFA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04DF58EF-133E-D5DA-3BF8-380A139CAF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 trans="30000"/>
                    </a14:imgEffect>
                  </a14:imgLayer>
                </a14:imgProps>
              </a:ext>
            </a:extLst>
          </a:blip>
          <a:srcRect b="50490"/>
          <a:stretch/>
        </p:blipFill>
        <p:spPr>
          <a:xfrm>
            <a:off x="-2" y="-1"/>
            <a:ext cx="9143999" cy="251748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771496"/>
            <a:ext cx="2699871" cy="60307"/>
          </a:xfrm>
          <a:prstGeom prst="rect">
            <a:avLst/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12" name="单圆角矩形 11"/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单圆角矩形 12"/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剪去单角的矩形 13"/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文本框 18"/>
          <p:cNvSpPr txBox="1"/>
          <p:nvPr userDrawn="1"/>
        </p:nvSpPr>
        <p:spPr>
          <a:xfrm>
            <a:off x="251700" y="351835"/>
            <a:ext cx="2261260" cy="4590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4000" b="1" dirty="0">
                <a:solidFill>
                  <a:srgbClr val="0C476D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Contents</a:t>
            </a:r>
            <a:endParaRPr lang="zh-CN" altLang="en-US" sz="4000" spc="-30" dirty="0">
              <a:solidFill>
                <a:srgbClr val="0C476D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EE5F17E5-879E-FB1C-969C-64A947766BFB}"/>
              </a:ext>
            </a:extLst>
          </p:cNvPr>
          <p:cNvGrpSpPr/>
          <p:nvPr userDrawn="1"/>
        </p:nvGrpSpPr>
        <p:grpSpPr>
          <a:xfrm>
            <a:off x="0" y="-1"/>
            <a:ext cx="9144000" cy="6858001"/>
            <a:chOff x="0" y="-1"/>
            <a:chExt cx="9144000" cy="6858001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D1074FCB-DF46-B916-91C3-41C60129559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LineDrawing trans="3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1" y="1773158"/>
              <a:ext cx="9143999" cy="5084842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669CF47-5B97-C8A7-25A7-732BF834E792}"/>
                </a:ext>
              </a:extLst>
            </p:cNvPr>
            <p:cNvSpPr/>
            <p:nvPr userDrawn="1"/>
          </p:nvSpPr>
          <p:spPr>
            <a:xfrm>
              <a:off x="0" y="-1"/>
              <a:ext cx="9144000" cy="4255621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37000">
                  <a:srgbClr val="F8FBFA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duotone>
              <a:prstClr val="black"/>
              <a:srgbClr val="56AB95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3" y="219903"/>
            <a:ext cx="8503234" cy="641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0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同侧圆角矩形 21"/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单圆角矩形 46"/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Picture 2" descr="C:\Users\senj\Desktop\主目录.png">
            <a:hlinkClick r:id="rId2" action="ppaction://hlinksldjump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46"/>
          <p:cNvSpPr txBox="1">
            <a:spLocks noChangeArrowheads="1"/>
          </p:cNvSpPr>
          <p:nvPr userDrawn="1"/>
        </p:nvSpPr>
        <p:spPr bwMode="auto">
          <a:xfrm>
            <a:off x="641382" y="60766"/>
            <a:ext cx="11224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Lead-in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1DB899D-E783-257E-8DFE-384725619517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3015F185-34D4-E311-1F7B-6DBD3C0CA524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CCC8E179-C33B-2469-50B9-3868B87771F8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DB69D765-16AF-3FE4-F145-0E9DDE1C3E43}"/>
              </a:ext>
            </a:extLst>
          </p:cNvPr>
          <p:cNvSpPr/>
          <p:nvPr userDrawn="1"/>
        </p:nvSpPr>
        <p:spPr>
          <a:xfrm>
            <a:off x="5724081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98F7E8C1-66A4-100E-2688-D345CC50EA20}"/>
              </a:ext>
            </a:extLst>
          </p:cNvPr>
          <p:cNvSpPr/>
          <p:nvPr userDrawn="1"/>
        </p:nvSpPr>
        <p:spPr>
          <a:xfrm>
            <a:off x="6624143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B9A7A9E1-C3E6-E58C-F780-097561880C0E}"/>
              </a:ext>
            </a:extLst>
          </p:cNvPr>
          <p:cNvSpPr/>
          <p:nvPr userDrawn="1"/>
        </p:nvSpPr>
        <p:spPr>
          <a:xfrm>
            <a:off x="7524205" y="507275"/>
            <a:ext cx="1440100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hlinkClick r:id="rId4" action="ppaction://hlinksldjump"/>
          </p:cNvPr>
          <p:cNvSpPr txBox="1"/>
          <p:nvPr userDrawn="1"/>
        </p:nvSpPr>
        <p:spPr>
          <a:xfrm>
            <a:off x="6675364" y="56866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Task 2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" name="文本框 13">
            <a:hlinkClick r:id="rId5" action="ppaction://hlinksldjump"/>
          </p:cNvPr>
          <p:cNvSpPr txBox="1"/>
          <p:nvPr userDrawn="1"/>
        </p:nvSpPr>
        <p:spPr>
          <a:xfrm>
            <a:off x="7592121" y="568669"/>
            <a:ext cx="1304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Optional Task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" name="文本框 1">
            <a:hlinkClick r:id="rId6" action="ppaction://hlinksldjump"/>
          </p:cNvPr>
          <p:cNvSpPr txBox="1"/>
          <p:nvPr userDrawn="1"/>
        </p:nvSpPr>
        <p:spPr>
          <a:xfrm>
            <a:off x="5775302" y="56866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Task 1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剪去单角的矩形 13">
            <a:extLst>
              <a:ext uri="{FF2B5EF4-FFF2-40B4-BE49-F238E27FC236}">
                <a16:creationId xmlns:a16="http://schemas.microsoft.com/office/drawing/2014/main" id="{55DBC390-4EB6-F17E-CFC8-B439301ADB19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598CF3CB-F93D-8C50-614C-768C4A34E6BF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22F45C37-3DEF-77D6-AE74-615BF2B0EE91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86334706-8D06-6F4B-D75D-808B3FCBB95F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同侧圆角矩形 21">
            <a:extLst>
              <a:ext uri="{FF2B5EF4-FFF2-40B4-BE49-F238E27FC236}">
                <a16:creationId xmlns:a16="http://schemas.microsoft.com/office/drawing/2014/main" id="{4DAAFA85-2CB4-6201-FE52-89A957BFEE5A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单圆角矩形 46">
            <a:extLst>
              <a:ext uri="{FF2B5EF4-FFF2-40B4-BE49-F238E27FC236}">
                <a16:creationId xmlns:a16="http://schemas.microsoft.com/office/drawing/2014/main" id="{EDEB0610-035B-947E-8666-3118A3BB1F0C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4F6A8A92-EB80-B461-07E0-62F754036B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46">
            <a:extLst>
              <a:ext uri="{FF2B5EF4-FFF2-40B4-BE49-F238E27FC236}">
                <a16:creationId xmlns:a16="http://schemas.microsoft.com/office/drawing/2014/main" id="{AB4B4B26-5D99-953A-CE10-BFAB67350E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1382" y="60766"/>
            <a:ext cx="11224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Lead-in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4D6D1508-D5C7-CE09-73A7-3629A4A84718}"/>
              </a:ext>
            </a:extLst>
          </p:cNvPr>
          <p:cNvSpPr/>
          <p:nvPr userDrawn="1"/>
        </p:nvSpPr>
        <p:spPr>
          <a:xfrm>
            <a:off x="5724081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73655200-EBA7-0CCE-8FDC-5B82975FAF19}"/>
              </a:ext>
            </a:extLst>
          </p:cNvPr>
          <p:cNvSpPr/>
          <p:nvPr userDrawn="1"/>
        </p:nvSpPr>
        <p:spPr>
          <a:xfrm>
            <a:off x="6624143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46A3B924-A4BF-463C-C8CF-C1C79F489281}"/>
              </a:ext>
            </a:extLst>
          </p:cNvPr>
          <p:cNvSpPr/>
          <p:nvPr userDrawn="1"/>
        </p:nvSpPr>
        <p:spPr>
          <a:xfrm>
            <a:off x="7524205" y="507275"/>
            <a:ext cx="1440100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文本框 23">
            <a:hlinkClick r:id="rId4" action="ppaction://hlinksldjump"/>
            <a:extLst>
              <a:ext uri="{FF2B5EF4-FFF2-40B4-BE49-F238E27FC236}">
                <a16:creationId xmlns:a16="http://schemas.microsoft.com/office/drawing/2014/main" id="{CF103CBF-4D2B-F27B-728C-A11C39AD0BD7}"/>
              </a:ext>
            </a:extLst>
          </p:cNvPr>
          <p:cNvSpPr txBox="1"/>
          <p:nvPr userDrawn="1"/>
        </p:nvSpPr>
        <p:spPr>
          <a:xfrm>
            <a:off x="6675364" y="56866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Task 2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5" name="文本框 24">
            <a:hlinkClick r:id="rId5" action="ppaction://hlinksldjump"/>
            <a:extLst>
              <a:ext uri="{FF2B5EF4-FFF2-40B4-BE49-F238E27FC236}">
                <a16:creationId xmlns:a16="http://schemas.microsoft.com/office/drawing/2014/main" id="{40A06754-2240-1D82-061E-7FC0154EC669}"/>
              </a:ext>
            </a:extLst>
          </p:cNvPr>
          <p:cNvSpPr txBox="1"/>
          <p:nvPr userDrawn="1"/>
        </p:nvSpPr>
        <p:spPr>
          <a:xfrm>
            <a:off x="7592121" y="568669"/>
            <a:ext cx="1304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Optional Task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6" name="文本框 25">
            <a:hlinkClick r:id="rId6" action="ppaction://hlinksldjump"/>
            <a:extLst>
              <a:ext uri="{FF2B5EF4-FFF2-40B4-BE49-F238E27FC236}">
                <a16:creationId xmlns:a16="http://schemas.microsoft.com/office/drawing/2014/main" id="{4FE5FCF8-33AB-1106-AD6C-985550E2825E}"/>
              </a:ext>
            </a:extLst>
          </p:cNvPr>
          <p:cNvSpPr txBox="1"/>
          <p:nvPr userDrawn="1"/>
        </p:nvSpPr>
        <p:spPr>
          <a:xfrm>
            <a:off x="5775302" y="56866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Task 1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87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49C2B64C-A878-6892-8062-02C6A2148481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4" name="单圆角矩形 11">
              <a:extLst>
                <a:ext uri="{FF2B5EF4-FFF2-40B4-BE49-F238E27FC236}">
                  <a16:creationId xmlns:a16="http://schemas.microsoft.com/office/drawing/2014/main" id="{3B0B9B4A-06F5-ABBE-22CB-409C655EF281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单圆角矩形 12">
              <a:extLst>
                <a:ext uri="{FF2B5EF4-FFF2-40B4-BE49-F238E27FC236}">
                  <a16:creationId xmlns:a16="http://schemas.microsoft.com/office/drawing/2014/main" id="{AF6846A6-0E36-A495-C6B8-B7C361061F6A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同侧圆角矩形 21">
            <a:extLst>
              <a:ext uri="{FF2B5EF4-FFF2-40B4-BE49-F238E27FC236}">
                <a16:creationId xmlns:a16="http://schemas.microsoft.com/office/drawing/2014/main" id="{C76B6816-9D38-A550-7341-2EEA0648BBC9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单圆角矩形 46">
            <a:extLst>
              <a:ext uri="{FF2B5EF4-FFF2-40B4-BE49-F238E27FC236}">
                <a16:creationId xmlns:a16="http://schemas.microsoft.com/office/drawing/2014/main" id="{27B1BE91-F3B6-388C-322D-B56B04C09883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0F2F7639-944A-6683-7792-005D142E47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46">
            <a:extLst>
              <a:ext uri="{FF2B5EF4-FFF2-40B4-BE49-F238E27FC236}">
                <a16:creationId xmlns:a16="http://schemas.microsoft.com/office/drawing/2014/main" id="{7F15CB4D-0D23-6A9A-B504-DBD968A109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1382" y="60766"/>
            <a:ext cx="11224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Lead-in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CB8ACB02-8441-273C-6F5C-5724A3CBEDFF}"/>
              </a:ext>
            </a:extLst>
          </p:cNvPr>
          <p:cNvSpPr/>
          <p:nvPr userDrawn="1"/>
        </p:nvSpPr>
        <p:spPr>
          <a:xfrm>
            <a:off x="5724081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5DDAAC13-2130-FF95-713C-BA3618085D3B}"/>
              </a:ext>
            </a:extLst>
          </p:cNvPr>
          <p:cNvSpPr/>
          <p:nvPr userDrawn="1"/>
        </p:nvSpPr>
        <p:spPr>
          <a:xfrm>
            <a:off x="6624143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DBD84882-BF97-70AB-7991-160E47861BD8}"/>
              </a:ext>
            </a:extLst>
          </p:cNvPr>
          <p:cNvSpPr/>
          <p:nvPr userDrawn="1"/>
        </p:nvSpPr>
        <p:spPr>
          <a:xfrm>
            <a:off x="7524205" y="507275"/>
            <a:ext cx="1440100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>
            <a:hlinkClick r:id="rId4" action="ppaction://hlinksldjump"/>
            <a:extLst>
              <a:ext uri="{FF2B5EF4-FFF2-40B4-BE49-F238E27FC236}">
                <a16:creationId xmlns:a16="http://schemas.microsoft.com/office/drawing/2014/main" id="{87B79A04-542E-6012-8701-7621ABA9801A}"/>
              </a:ext>
            </a:extLst>
          </p:cNvPr>
          <p:cNvSpPr txBox="1"/>
          <p:nvPr userDrawn="1"/>
        </p:nvSpPr>
        <p:spPr>
          <a:xfrm>
            <a:off x="6675364" y="56866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Task 2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文本框 15">
            <a:hlinkClick r:id="rId5" action="ppaction://hlinksldjump"/>
            <a:extLst>
              <a:ext uri="{FF2B5EF4-FFF2-40B4-BE49-F238E27FC236}">
                <a16:creationId xmlns:a16="http://schemas.microsoft.com/office/drawing/2014/main" id="{582E0C4C-78BC-0111-CA3E-5DB717552802}"/>
              </a:ext>
            </a:extLst>
          </p:cNvPr>
          <p:cNvSpPr txBox="1"/>
          <p:nvPr userDrawn="1"/>
        </p:nvSpPr>
        <p:spPr>
          <a:xfrm>
            <a:off x="7592121" y="568669"/>
            <a:ext cx="1304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Optional Task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1" name="文本框 20">
            <a:hlinkClick r:id="rId6" action="ppaction://hlinksldjump"/>
            <a:extLst>
              <a:ext uri="{FF2B5EF4-FFF2-40B4-BE49-F238E27FC236}">
                <a16:creationId xmlns:a16="http://schemas.microsoft.com/office/drawing/2014/main" id="{3A0446FE-D54F-96B6-A18B-EAD4B0199895}"/>
              </a:ext>
            </a:extLst>
          </p:cNvPr>
          <p:cNvSpPr txBox="1"/>
          <p:nvPr userDrawn="1"/>
        </p:nvSpPr>
        <p:spPr>
          <a:xfrm>
            <a:off x="5775302" y="568669"/>
            <a:ext cx="689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Task 1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03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002F614-103A-5C1B-46A4-699AC05D0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0283" b="4884"/>
          <a:stretch/>
        </p:blipFill>
        <p:spPr>
          <a:xfrm>
            <a:off x="0" y="1083683"/>
            <a:ext cx="9144000" cy="500950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3" y="4674663"/>
            <a:ext cx="7600863" cy="2050592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364A01A3-915E-A9B5-447C-5A6D06BE917C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7" name="单圆角矩形 11">
              <a:extLst>
                <a:ext uri="{FF2B5EF4-FFF2-40B4-BE49-F238E27FC236}">
                  <a16:creationId xmlns:a16="http://schemas.microsoft.com/office/drawing/2014/main" id="{72A20CC1-236C-224B-9A63-A6A4A46098ED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单圆角矩形 12">
              <a:extLst>
                <a:ext uri="{FF2B5EF4-FFF2-40B4-BE49-F238E27FC236}">
                  <a16:creationId xmlns:a16="http://schemas.microsoft.com/office/drawing/2014/main" id="{44ED9C89-A90A-1A93-3C9D-E859DAAB7D9D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剪去单角的矩形 13">
            <a:extLst>
              <a:ext uri="{FF2B5EF4-FFF2-40B4-BE49-F238E27FC236}">
                <a16:creationId xmlns:a16="http://schemas.microsoft.com/office/drawing/2014/main" id="{5EE6388F-B69D-75A8-295A-CA2190D7197F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同侧圆角矩形 21">
            <a:extLst>
              <a:ext uri="{FF2B5EF4-FFF2-40B4-BE49-F238E27FC236}">
                <a16:creationId xmlns:a16="http://schemas.microsoft.com/office/drawing/2014/main" id="{F9D755A0-AED2-5AF4-F04B-7258C135E471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单圆角矩形 46">
            <a:extLst>
              <a:ext uri="{FF2B5EF4-FFF2-40B4-BE49-F238E27FC236}">
                <a16:creationId xmlns:a16="http://schemas.microsoft.com/office/drawing/2014/main" id="{D2563E53-433B-5684-B3D6-78DE295E8D2A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Picture 2" descr="C:\Users\senj\Desktop\主目录.png">
            <a:hlinkClick r:id="rId4" action="ppaction://hlinksldjump"/>
            <a:extLst>
              <a:ext uri="{FF2B5EF4-FFF2-40B4-BE49-F238E27FC236}">
                <a16:creationId xmlns:a16="http://schemas.microsoft.com/office/drawing/2014/main" id="{4BCBCAB7-B706-191B-4AD7-AF647FE08A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46">
            <a:extLst>
              <a:ext uri="{FF2B5EF4-FFF2-40B4-BE49-F238E27FC236}">
                <a16:creationId xmlns:a16="http://schemas.microsoft.com/office/drawing/2014/main" id="{4FF0DC8F-E74F-79B1-A823-26341905C18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339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矩形: 圆顶角 26">
            <a:extLst>
              <a:ext uri="{FF2B5EF4-FFF2-40B4-BE49-F238E27FC236}">
                <a16:creationId xmlns:a16="http://schemas.microsoft.com/office/drawing/2014/main" id="{AF019AE4-801F-C5A2-3352-3F338A4DC99E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46BEC284-8A40-0B4C-9550-C15D2A4D302A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矩形: 圆顶角 28">
            <a:extLst>
              <a:ext uri="{FF2B5EF4-FFF2-40B4-BE49-F238E27FC236}">
                <a16:creationId xmlns:a16="http://schemas.microsoft.com/office/drawing/2014/main" id="{5FDD2E1A-2F58-AA87-3B8E-3D2FBC6C2612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hlinkClick r:id="rId6" action="ppaction://hlinksldjump"/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3" name="文本框 12">
            <a:hlinkClick r:id="rId7" action="ppaction://hlinksldjump"/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" name="文本框 13">
            <a:hlinkClick r:id="rId8" action="ppaction://hlinksldjump"/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矩形: 圆顶角 31">
            <a:extLst>
              <a:ext uri="{FF2B5EF4-FFF2-40B4-BE49-F238E27FC236}">
                <a16:creationId xmlns:a16="http://schemas.microsoft.com/office/drawing/2014/main" id="{CB60458A-072C-1C1B-4A60-7D342902ADD3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文本框 1">
            <a:hlinkClick r:id="rId9" action="ppaction://hlinksldjump"/>
          </p:cNvPr>
          <p:cNvSpPr txBox="1"/>
          <p:nvPr userDrawn="1"/>
        </p:nvSpPr>
        <p:spPr>
          <a:xfrm>
            <a:off x="1636305" y="568669"/>
            <a:ext cx="688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A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26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5CE17DF-1FF9-1ECF-05EC-B5032769903F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9CF7EB4A-3F5B-C958-A628-DC0D3DE22FF7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CD4A7C44-2457-EDB4-D950-510F6C08F9A8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C98B2189-7E2F-35EA-4004-417C7AAADE9B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90C05F19-6F30-AAE4-1B59-8363E0044445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5E8F8BB9-06D0-10F3-0AC0-6619580FF771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4B07CF57-5E48-82B0-DCA7-09395872F7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46">
            <a:extLst>
              <a:ext uri="{FF2B5EF4-FFF2-40B4-BE49-F238E27FC236}">
                <a16:creationId xmlns:a16="http://schemas.microsoft.com/office/drawing/2014/main" id="{51D91BD9-3595-5B8E-632D-268D761F32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339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1C115D1F-B3C6-B037-D85E-7E3E528271DC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F66B4E74-620C-250C-4723-43735965A019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7F5C2E7D-E6FC-67CA-2615-FBE2E973B94B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文本框 20">
            <a:hlinkClick r:id="rId4" action="ppaction://hlinksldjump"/>
            <a:extLst>
              <a:ext uri="{FF2B5EF4-FFF2-40B4-BE49-F238E27FC236}">
                <a16:creationId xmlns:a16="http://schemas.microsoft.com/office/drawing/2014/main" id="{36E9D8E8-D702-B0AD-E62B-DA1528E862EF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hlinkClick r:id="rId5" action="ppaction://hlinksldjump"/>
            <a:extLst>
              <a:ext uri="{FF2B5EF4-FFF2-40B4-BE49-F238E27FC236}">
                <a16:creationId xmlns:a16="http://schemas.microsoft.com/office/drawing/2014/main" id="{0CBF7DE4-D227-7D5F-9133-3EABB8964D3C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5" name="文本框 24">
            <a:hlinkClick r:id="rId6" action="ppaction://hlinksldjump"/>
            <a:extLst>
              <a:ext uri="{FF2B5EF4-FFF2-40B4-BE49-F238E27FC236}">
                <a16:creationId xmlns:a16="http://schemas.microsoft.com/office/drawing/2014/main" id="{19385E82-7336-CFEB-62AE-0EDEAD0847C8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4F3A4E93-7400-C585-80E9-FB8681CD8F8D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hlinkClick r:id="rId7" action="ppaction://hlinksldjump"/>
            <a:extLst>
              <a:ext uri="{FF2B5EF4-FFF2-40B4-BE49-F238E27FC236}">
                <a16:creationId xmlns:a16="http://schemas.microsoft.com/office/drawing/2014/main" id="{0FC18DE1-0F39-D753-FF22-4AFBB3863844}"/>
              </a:ext>
            </a:extLst>
          </p:cNvPr>
          <p:cNvSpPr txBox="1"/>
          <p:nvPr userDrawn="1"/>
        </p:nvSpPr>
        <p:spPr>
          <a:xfrm>
            <a:off x="1636305" y="568669"/>
            <a:ext cx="688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A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994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D6C262E-2CE8-D301-4A78-4BC955A62D04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7D4739D0-D711-6CC9-316D-9B07E6E1B3F8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7F2255EE-B457-C265-401D-5270CDDD6430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541761F8-F4F1-4755-13D1-BF39160CF6D7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CD03D25C-3322-A2A8-F427-DCA92DAD194D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1C314644-4AFE-0648-A443-282E394306C4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984FF165-6086-47EF-30A0-5D66B13976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46">
            <a:extLst>
              <a:ext uri="{FF2B5EF4-FFF2-40B4-BE49-F238E27FC236}">
                <a16:creationId xmlns:a16="http://schemas.microsoft.com/office/drawing/2014/main" id="{BC85AD23-B6DD-DADB-43B1-B077FD7BB0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339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6E63ACB8-7EDC-4F7A-F946-1D19D7D162CE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6771D899-43D6-54FF-B77C-AE6177D04B6F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45CD5236-906A-E833-306C-D4C0886C9C34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文本框 20">
            <a:hlinkClick r:id="rId4" action="ppaction://hlinksldjump"/>
            <a:extLst>
              <a:ext uri="{FF2B5EF4-FFF2-40B4-BE49-F238E27FC236}">
                <a16:creationId xmlns:a16="http://schemas.microsoft.com/office/drawing/2014/main" id="{76C15CBE-4295-4DAF-F2F6-A15B7C3F0092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hlinkClick r:id="rId5" action="ppaction://hlinksldjump"/>
            <a:extLst>
              <a:ext uri="{FF2B5EF4-FFF2-40B4-BE49-F238E27FC236}">
                <a16:creationId xmlns:a16="http://schemas.microsoft.com/office/drawing/2014/main" id="{FCB18C07-0306-FE69-2909-DAA7C948BE4D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5" name="文本框 24">
            <a:hlinkClick r:id="rId6" action="ppaction://hlinksldjump"/>
            <a:extLst>
              <a:ext uri="{FF2B5EF4-FFF2-40B4-BE49-F238E27FC236}">
                <a16:creationId xmlns:a16="http://schemas.microsoft.com/office/drawing/2014/main" id="{6DAF727E-F0CE-4AFF-E6BF-84D86EF9AA88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5B24FB09-F403-ADAB-3482-1495390E1AAF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hlinkClick r:id="rId7" action="ppaction://hlinksldjump"/>
            <a:extLst>
              <a:ext uri="{FF2B5EF4-FFF2-40B4-BE49-F238E27FC236}">
                <a16:creationId xmlns:a16="http://schemas.microsoft.com/office/drawing/2014/main" id="{5BD42B9D-0ADC-ADAD-D3BE-9FE85A53CFA9}"/>
              </a:ext>
            </a:extLst>
          </p:cNvPr>
          <p:cNvSpPr txBox="1"/>
          <p:nvPr userDrawn="1"/>
        </p:nvSpPr>
        <p:spPr>
          <a:xfrm>
            <a:off x="1636305" y="568669"/>
            <a:ext cx="688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A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311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99392466-7616-3E9A-7DB7-DC666C5E3BDE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78332CE4-18FD-271F-2E50-CBC1B73C6410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5E8BF565-5711-0E07-C94F-A673D7C752DD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B5A81031-67B1-B4C4-3260-44F7F3B9665C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F3C4387D-9617-6311-BB62-F741F41C724F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D9B564E3-D2B2-71B1-3A03-2E32F1F06A4A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FCDE3F55-CAF3-9409-1D6D-81D593BFED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46">
            <a:extLst>
              <a:ext uri="{FF2B5EF4-FFF2-40B4-BE49-F238E27FC236}">
                <a16:creationId xmlns:a16="http://schemas.microsoft.com/office/drawing/2014/main" id="{DFE2D68A-3483-B7DE-771D-3BACF3E427A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339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D67EDB92-59E1-8090-19EB-5B195206C4D1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8FACD0A9-173C-D337-8B38-3C9C54F2B012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F8B1E0BE-56AD-289D-0597-7CF2BDFC32CE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文本框 20">
            <a:hlinkClick r:id="rId4" action="ppaction://hlinksldjump"/>
            <a:extLst>
              <a:ext uri="{FF2B5EF4-FFF2-40B4-BE49-F238E27FC236}">
                <a16:creationId xmlns:a16="http://schemas.microsoft.com/office/drawing/2014/main" id="{3259B923-B43D-23FE-1D5C-35D513A5C3EC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hlinkClick r:id="rId5" action="ppaction://hlinksldjump"/>
            <a:extLst>
              <a:ext uri="{FF2B5EF4-FFF2-40B4-BE49-F238E27FC236}">
                <a16:creationId xmlns:a16="http://schemas.microsoft.com/office/drawing/2014/main" id="{973FDD2D-7F97-9E68-549E-51A53F8F1F18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5" name="文本框 24">
            <a:hlinkClick r:id="rId6" action="ppaction://hlinksldjump"/>
            <a:extLst>
              <a:ext uri="{FF2B5EF4-FFF2-40B4-BE49-F238E27FC236}">
                <a16:creationId xmlns:a16="http://schemas.microsoft.com/office/drawing/2014/main" id="{A8D73539-3AC6-69FB-F2EE-40D2680B1B75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CB6996A2-16FC-FB1D-7D63-4D85D252FE03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hlinkClick r:id="rId7" action="ppaction://hlinksldjump"/>
            <a:extLst>
              <a:ext uri="{FF2B5EF4-FFF2-40B4-BE49-F238E27FC236}">
                <a16:creationId xmlns:a16="http://schemas.microsoft.com/office/drawing/2014/main" id="{A8191979-2C70-C61F-3F9E-1E4B9E0F0865}"/>
              </a:ext>
            </a:extLst>
          </p:cNvPr>
          <p:cNvSpPr txBox="1"/>
          <p:nvPr userDrawn="1"/>
        </p:nvSpPr>
        <p:spPr>
          <a:xfrm>
            <a:off x="1636305" y="568669"/>
            <a:ext cx="688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A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14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94493DC7-9F23-8CDF-C736-28DDB86CC506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D90EB9AE-0544-D797-8173-EADC0D2BBC24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9EAA06BA-C97F-26FB-C8CA-794FC643897B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26018DB0-7353-F111-B5F0-8EDE5D6C4FBC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036266BA-49EF-72C9-277A-8A716B7F36A2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893D32B8-EF9F-AD45-2C8E-F28DB5D74855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C188412F-2463-0CD4-A59E-1375D51610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46">
            <a:extLst>
              <a:ext uri="{FF2B5EF4-FFF2-40B4-BE49-F238E27FC236}">
                <a16:creationId xmlns:a16="http://schemas.microsoft.com/office/drawing/2014/main" id="{8E46EDDC-3AD2-351D-4294-218397162C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339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矩形: 圆顶角 14">
            <a:extLst>
              <a:ext uri="{FF2B5EF4-FFF2-40B4-BE49-F238E27FC236}">
                <a16:creationId xmlns:a16="http://schemas.microsoft.com/office/drawing/2014/main" id="{7DF10E0C-4DB3-5DBC-09A2-AA883EB34888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08B69825-C846-1213-8F38-0B83EE5774E9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F04C0695-B91A-DF3D-696D-907FD5DE4AA3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文本框 20">
            <a:hlinkClick r:id="rId4" action="ppaction://hlinksldjump"/>
            <a:extLst>
              <a:ext uri="{FF2B5EF4-FFF2-40B4-BE49-F238E27FC236}">
                <a16:creationId xmlns:a16="http://schemas.microsoft.com/office/drawing/2014/main" id="{50DBC5CC-A96C-459D-06DC-4CFD77874F19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hlinkClick r:id="rId5" action="ppaction://hlinksldjump"/>
            <a:extLst>
              <a:ext uri="{FF2B5EF4-FFF2-40B4-BE49-F238E27FC236}">
                <a16:creationId xmlns:a16="http://schemas.microsoft.com/office/drawing/2014/main" id="{274359E7-7A3A-CA72-1281-253FC1F66278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5" name="文本框 24">
            <a:hlinkClick r:id="rId6" action="ppaction://hlinksldjump"/>
            <a:extLst>
              <a:ext uri="{FF2B5EF4-FFF2-40B4-BE49-F238E27FC236}">
                <a16:creationId xmlns:a16="http://schemas.microsoft.com/office/drawing/2014/main" id="{4DE870AB-8194-A698-4BB2-6F61AAEA3D99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47246755-9611-FF0B-2355-9F0707363CFD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hlinkClick r:id="rId7" action="ppaction://hlinksldjump"/>
            <a:extLst>
              <a:ext uri="{FF2B5EF4-FFF2-40B4-BE49-F238E27FC236}">
                <a16:creationId xmlns:a16="http://schemas.microsoft.com/office/drawing/2014/main" id="{E5F365A0-6C82-2E52-E6B4-C625AB601A18}"/>
              </a:ext>
            </a:extLst>
          </p:cNvPr>
          <p:cNvSpPr txBox="1"/>
          <p:nvPr userDrawn="1"/>
        </p:nvSpPr>
        <p:spPr>
          <a:xfrm>
            <a:off x="1636305" y="568669"/>
            <a:ext cx="688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A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527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1D6A6BE-41C4-6E1D-895C-3F5B04E60B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178" b="1214"/>
          <a:stretch/>
        </p:blipFill>
        <p:spPr>
          <a:xfrm>
            <a:off x="0" y="1072859"/>
            <a:ext cx="9144000" cy="504035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8AC76CE1-A847-C043-65AA-F9D09BA7D182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88E96252-DA32-A528-6C1F-C17FEEF2053E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99267A3D-D6D6-A33A-C954-47383FA0BC91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C785ED6B-EE4A-A5EC-F93E-C5D33CB94DF4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49DFE148-CF1C-39E9-2D0B-A586820AE044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40FA60DA-5C32-F6A2-7AEF-E100B3FBA353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F28F0B2A-588C-34C2-0D32-8445D1561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3390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3" action="ppaction://hlinksldjump"/>
            <a:extLst>
              <a:ext uri="{FF2B5EF4-FFF2-40B4-BE49-F238E27FC236}">
                <a16:creationId xmlns:a16="http://schemas.microsoft.com/office/drawing/2014/main" id="{0B53ED12-EF06-E69D-20B0-91A1C9DB91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E4B0783F-4299-3B04-633D-6D08C32FBCE1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F1CD7A59-FE39-39A5-427A-0643465216D9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B3A4E55D-285C-FFBA-D667-12B1D05459D1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CC94AFA3-CAF4-CD8E-DCB5-DDC144945202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8927322A-0C04-2B14-17E2-40AE0D4C6A37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文本框 27">
            <a:hlinkClick r:id="rId7" action="ppaction://hlinksldjump"/>
            <a:extLst>
              <a:ext uri="{FF2B5EF4-FFF2-40B4-BE49-F238E27FC236}">
                <a16:creationId xmlns:a16="http://schemas.microsoft.com/office/drawing/2014/main" id="{E33C8B70-1464-BB2D-5D3B-874CBE7B11A2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矩形: 圆顶角 28">
            <a:extLst>
              <a:ext uri="{FF2B5EF4-FFF2-40B4-BE49-F238E27FC236}">
                <a16:creationId xmlns:a16="http://schemas.microsoft.com/office/drawing/2014/main" id="{D4EB9A2B-75F4-8753-7B7F-AD16C5E1975E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文本框 30">
            <a:hlinkClick r:id="rId8" action="ppaction://hlinksldjump"/>
            <a:extLst>
              <a:ext uri="{FF2B5EF4-FFF2-40B4-BE49-F238E27FC236}">
                <a16:creationId xmlns:a16="http://schemas.microsoft.com/office/drawing/2014/main" id="{248A9AEB-85FB-660F-E5A7-0C143B7E64C9}"/>
              </a:ext>
            </a:extLst>
          </p:cNvPr>
          <p:cNvSpPr txBox="1"/>
          <p:nvPr userDrawn="1"/>
        </p:nvSpPr>
        <p:spPr>
          <a:xfrm>
            <a:off x="1639511" y="568669"/>
            <a:ext cx="681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B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76DA4D-D3B9-875D-E02B-A71512443E1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3" y="4674663"/>
            <a:ext cx="7600863" cy="20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85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54B2596-6286-E41E-6656-6A314D84488E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5C7D57A5-E4BE-98FB-0DDC-EB052E1A018B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77984D1A-C98B-EBCE-3D9B-4C256CDB533C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5C99ECAD-3396-54C6-624A-59B10BE6D815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7078AB06-2603-293D-78D7-8D77572EE739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1C71F3AE-3FBF-C6D5-2C81-B25FAFDA5236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21BF5DAC-E87A-0825-2F15-35015905F3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782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Explore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59D4DB61-4A9C-0636-FD33-A2D5057E50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28EBA918-4FF8-EF8C-72A9-E1626D4054E1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7AD832EC-44B7-D2DA-E2F5-462534A5C10D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E19518F6-F918-1B8F-8589-2D3439EE7C6C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BB0047B4-DC7E-D716-A4F9-A57D0E78AED0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7A12417F-2BA9-9763-86F9-27D1DF7EB68C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709C7838-C632-EE27-A959-F23E70AB77B5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C4BED1FE-3EEF-7DC6-C324-10CC4A1F4D79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2887B2A9-218F-0D9F-1DDE-B59EF7C52342}"/>
              </a:ext>
            </a:extLst>
          </p:cNvPr>
          <p:cNvSpPr txBox="1"/>
          <p:nvPr userDrawn="1"/>
        </p:nvSpPr>
        <p:spPr>
          <a:xfrm>
            <a:off x="1639511" y="568669"/>
            <a:ext cx="681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B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22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315AEB6-A25F-27BB-0672-8ADEB14FCE67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32108BB4-AEDB-1C0D-AEFE-6B8DEA4E8AF6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8CF01924-1BED-F2F6-899A-0930A99067D8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98E66F53-A5B2-8544-BC0F-88E41DCE8592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E5F224A8-C34B-9647-2137-142A7CD46D7C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7264AC12-4B9C-44B3-F644-3F7EF388D831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98EB7E4B-D906-205E-998F-3C2B2327CB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782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Explore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454756D7-B18B-26EA-434F-47E9F6E91E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CA6FC54A-A3EA-7312-1256-1FAF241531F7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5903AF50-F7B1-6EA6-FD2C-CDFF2789EED2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9E3A1DAD-F96F-AAB1-C352-F8B7CB34ABFD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CAAEDA07-472C-A73B-C7CF-02B1A7704CE1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869E84F7-5543-5009-88E0-9AE07EFFE85A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E0BA8546-82E6-8038-516D-D1CFF556794F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CD1C2CC4-BE70-6247-98E6-A3F43CED46FD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C0E9AE6F-91CF-4F7B-8D8B-BEBFB1BCC087}"/>
              </a:ext>
            </a:extLst>
          </p:cNvPr>
          <p:cNvSpPr txBox="1"/>
          <p:nvPr userDrawn="1"/>
        </p:nvSpPr>
        <p:spPr>
          <a:xfrm>
            <a:off x="1639511" y="568669"/>
            <a:ext cx="681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B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3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6E202FD9-1E54-F445-FA2D-8D98108234CA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6B58BB71-DB8E-2030-C2C6-92710B16EB76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326C757F-0FAD-6CF6-A0CA-EDDC4EAC7CF7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1DDC6201-D0F2-BDA3-1996-BEEDB0DBDAB4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7CD2CBB4-9E84-6A6E-F141-605CA8F64C1C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1EEF3768-37B8-3E2A-BBA3-DA8E41F38CB4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6E2C2F32-0555-84CB-4434-DAACD1E2852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782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Explore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0E87D023-970C-A2E3-C566-C6D0EA2292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1531456A-1861-CD88-2BC3-342A2E78B588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3C82358A-A394-DE3B-916C-2774BE9D3720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3F2469FA-FDD0-8CF5-FA61-B3C1B7E901E5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82CE6393-3EBC-F488-3C5B-D956AF9F4E38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B38F707C-3CC4-A7D0-C388-ADF3AC228EA7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6EA95E2C-53C9-DBCA-4586-A6FB9632B282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B01988D7-91F1-C7BB-FB07-1D0D70A8B20C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8C67BE14-130E-24E6-9F24-A5D606464A6C}"/>
              </a:ext>
            </a:extLst>
          </p:cNvPr>
          <p:cNvSpPr txBox="1"/>
          <p:nvPr userDrawn="1"/>
        </p:nvSpPr>
        <p:spPr>
          <a:xfrm>
            <a:off x="1639511" y="568669"/>
            <a:ext cx="681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B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8189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74412656-185B-E7D5-40D8-75A8C8D7570B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600ED94C-EEB8-1A9F-9231-BE63D8A28EE2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07C74595-99DF-76E7-877A-21D3B704408C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2821427A-906F-98AC-FC1F-0A7D79C04C85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7C5E0B35-4D7D-F2FD-55AB-12D17CB69212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5D00335E-DAD1-853D-D392-6D9E5BBF2A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782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Explore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C27ADD4C-BB08-0690-298A-602F984D6A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818E380A-B0D3-E5F5-E1C6-B3533C14445D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D5863EC2-8B8B-F3F9-C757-248B2411FA46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8D50D9D5-7571-079D-3576-D0E7C7013AAE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4BB9EE20-0B2B-FA01-7211-8B115372B9D9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3597B50A-3384-E3D9-C9DA-56C4BEF609B7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7078858B-33FA-1D9B-5A87-6467AD7DB84E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17789BB0-9388-A71F-AA28-941EA87A8D77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25C6CB09-B45F-FA66-011B-DCB0606FEAC4}"/>
              </a:ext>
            </a:extLst>
          </p:cNvPr>
          <p:cNvSpPr txBox="1"/>
          <p:nvPr userDrawn="1"/>
        </p:nvSpPr>
        <p:spPr>
          <a:xfrm>
            <a:off x="1639511" y="568669"/>
            <a:ext cx="681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B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37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7BB448-A321-D017-CF9E-D84DE92015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28" t="4990" r="392" b="1050"/>
          <a:stretch/>
        </p:blipFill>
        <p:spPr>
          <a:xfrm>
            <a:off x="-4653" y="1083685"/>
            <a:ext cx="9148653" cy="50403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05"/>
          <a:stretch/>
        </p:blipFill>
        <p:spPr>
          <a:xfrm>
            <a:off x="-4653" y="5013109"/>
            <a:ext cx="7600863" cy="171214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E2465CDB-6FF2-72CD-2B11-0B9300380E79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7" name="单圆角矩形 11">
              <a:extLst>
                <a:ext uri="{FF2B5EF4-FFF2-40B4-BE49-F238E27FC236}">
                  <a16:creationId xmlns:a16="http://schemas.microsoft.com/office/drawing/2014/main" id="{9539C271-44D6-A125-1CB8-E794C8F1529F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单圆角矩形 12">
              <a:extLst>
                <a:ext uri="{FF2B5EF4-FFF2-40B4-BE49-F238E27FC236}">
                  <a16:creationId xmlns:a16="http://schemas.microsoft.com/office/drawing/2014/main" id="{E8CB27B4-1E47-F560-AC35-9B6876F67AA4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剪去单角的矩形 13">
            <a:extLst>
              <a:ext uri="{FF2B5EF4-FFF2-40B4-BE49-F238E27FC236}">
                <a16:creationId xmlns:a16="http://schemas.microsoft.com/office/drawing/2014/main" id="{2ACA286C-D1E5-3002-258F-DD7557DAED74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同侧圆角矩形 21">
            <a:extLst>
              <a:ext uri="{FF2B5EF4-FFF2-40B4-BE49-F238E27FC236}">
                <a16:creationId xmlns:a16="http://schemas.microsoft.com/office/drawing/2014/main" id="{A7F39538-6C60-5C3B-3E30-BBD976C9B819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单圆角矩形 46">
            <a:extLst>
              <a:ext uri="{FF2B5EF4-FFF2-40B4-BE49-F238E27FC236}">
                <a16:creationId xmlns:a16="http://schemas.microsoft.com/office/drawing/2014/main" id="{9A8F4748-99A1-8DED-2BFF-E6DBA3E09168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46">
            <a:extLst>
              <a:ext uri="{FF2B5EF4-FFF2-40B4-BE49-F238E27FC236}">
                <a16:creationId xmlns:a16="http://schemas.microsoft.com/office/drawing/2014/main" id="{B0BE2424-7AAE-66AC-4553-97DF03DE85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705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Examine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6" name="Picture 2" descr="C:\Users\senj\Desktop\主目录.png">
            <a:hlinkClick r:id="rId4" action="ppaction://hlinksldjump"/>
            <a:extLst>
              <a:ext uri="{FF2B5EF4-FFF2-40B4-BE49-F238E27FC236}">
                <a16:creationId xmlns:a16="http://schemas.microsoft.com/office/drawing/2014/main" id="{802F2063-F6CC-3618-82E0-B96DC0FF2F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: 圆顶角 19">
            <a:extLst>
              <a:ext uri="{FF2B5EF4-FFF2-40B4-BE49-F238E27FC236}">
                <a16:creationId xmlns:a16="http://schemas.microsoft.com/office/drawing/2014/main" id="{C22B658A-6F30-4C96-E244-57E43E7FF271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矩形: 圆顶角 24">
            <a:extLst>
              <a:ext uri="{FF2B5EF4-FFF2-40B4-BE49-F238E27FC236}">
                <a16:creationId xmlns:a16="http://schemas.microsoft.com/office/drawing/2014/main" id="{0B31EBE6-2AD5-5459-2362-94B6F12D287A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矩形: 圆顶角 25">
            <a:extLst>
              <a:ext uri="{FF2B5EF4-FFF2-40B4-BE49-F238E27FC236}">
                <a16:creationId xmlns:a16="http://schemas.microsoft.com/office/drawing/2014/main" id="{2B1F4FF8-8EAD-AAF2-3A8C-736E0A94716A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4F9D4FE7-9E01-BCC4-0477-F2CB8079D24B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8" name="文本框 27">
            <a:hlinkClick r:id="rId7" action="ppaction://hlinksldjump"/>
            <a:extLst>
              <a:ext uri="{FF2B5EF4-FFF2-40B4-BE49-F238E27FC236}">
                <a16:creationId xmlns:a16="http://schemas.microsoft.com/office/drawing/2014/main" id="{7A2FF8C0-7FC8-85B2-2541-9699DBC0344D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9" name="文本框 28">
            <a:hlinkClick r:id="rId8" action="ppaction://hlinksldjump"/>
            <a:extLst>
              <a:ext uri="{FF2B5EF4-FFF2-40B4-BE49-F238E27FC236}">
                <a16:creationId xmlns:a16="http://schemas.microsoft.com/office/drawing/2014/main" id="{BAF7676C-5500-15F0-EB60-4DD045390949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31" name="矩形: 圆顶角 30">
            <a:extLst>
              <a:ext uri="{FF2B5EF4-FFF2-40B4-BE49-F238E27FC236}">
                <a16:creationId xmlns:a16="http://schemas.microsoft.com/office/drawing/2014/main" id="{B92D9723-C2CF-2016-F26D-49B5E0FC8F7F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文本框 31">
            <a:hlinkClick r:id="rId9" action="ppaction://hlinksldjump"/>
            <a:extLst>
              <a:ext uri="{FF2B5EF4-FFF2-40B4-BE49-F238E27FC236}">
                <a16:creationId xmlns:a16="http://schemas.microsoft.com/office/drawing/2014/main" id="{D9EA64FE-1C4E-C654-C56C-EA3B498ADB92}"/>
              </a:ext>
            </a:extLst>
          </p:cNvPr>
          <p:cNvSpPr txBox="1"/>
          <p:nvPr userDrawn="1"/>
        </p:nvSpPr>
        <p:spPr>
          <a:xfrm>
            <a:off x="1641114" y="568669"/>
            <a:ext cx="678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C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09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A52756FD-7F3F-A8CE-CBE4-D6EFD48030AB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6E8925B3-4A52-8F36-834C-BB162AAAD1CC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28305EC5-442E-7E86-49E2-C3D5E4BD30A5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61EEE582-F5A6-18DA-5FE8-6FBA7EFABE0C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2AF12BB0-690D-4B64-04D8-E118A92DF4F7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D656A30E-3984-DC2D-C24E-904BB62F0A05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A60FFC84-7D18-DEE3-2C07-2FD7C3F3E9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705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Examine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E1DE044F-A461-7EC6-BACD-00842F460B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0F38153D-A488-9221-1D1F-9AC1C6AE1542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D48AC891-02A5-6BC2-31FD-82275E962C06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BAA6D835-8807-A1A2-FDBA-D03310C535D5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A1A76CB1-C1FC-0601-A2DC-CAB9CEF6FB1A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F2286CA6-82C6-5FB5-91EA-09D77C4DAC21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C942DAAB-7E2B-2EFA-D5D3-7846998DD846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E67792ED-9E69-FA2B-0B11-9474B7C6186F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035ECA33-2009-DD15-4C82-021D3A3F4BC8}"/>
              </a:ext>
            </a:extLst>
          </p:cNvPr>
          <p:cNvSpPr txBox="1"/>
          <p:nvPr userDrawn="1"/>
        </p:nvSpPr>
        <p:spPr>
          <a:xfrm>
            <a:off x="1641114" y="568669"/>
            <a:ext cx="678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C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054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8089BB2-0405-02B6-C63D-17BEDAAE1088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86D8E10C-B0A2-A300-A315-7A37757E91A9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6690E99A-431F-F0DB-BE5C-20BB2CD0283C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69DA448D-6E62-7C87-7101-2A7D2E63C1A1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B8CA4EF6-6732-36CA-5966-FDB0EF34F111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A9026809-B9B8-09CA-CC36-20CA970D0867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70370CC4-A13D-3687-665E-373209F8D2E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705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Examine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98AC1DD3-055A-FA5D-8016-FBE6BDEE75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8AD891D6-34B9-A74C-AD20-F8F2E2972418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FE3EBA5F-648C-54A7-6D28-92BAED0FB3CE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840FA8E3-E99F-FF9B-D84A-ADFD821ACA19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1FC5F028-2775-1AE4-5820-EF729840E8E0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71BB8455-1057-9801-3157-73BBC616EFF1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45A4C88F-11ED-916C-DFAE-14C38EDE9FC4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5E081E49-DA1C-95E8-475C-ED97842B473F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0BA54FCA-2536-E1A7-3103-EB97858F3CF8}"/>
              </a:ext>
            </a:extLst>
          </p:cNvPr>
          <p:cNvSpPr txBox="1"/>
          <p:nvPr userDrawn="1"/>
        </p:nvSpPr>
        <p:spPr>
          <a:xfrm>
            <a:off x="1641114" y="568669"/>
            <a:ext cx="678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C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63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AC7C60F-BF0F-3A33-C4C6-E272F9B2E07A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084027EB-A4D5-4611-983D-6E9E6B46AD47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86371B36-8171-E553-A5E6-699838C6130E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89CDF06C-74C7-DDC2-D3F3-840E92ECB3BE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DACB884A-1713-393E-5013-41431992B623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F0847DFE-7DCE-C2C4-3C41-87786EE974B1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29440141-0705-3919-0840-D4347F656F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705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Examine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9D6296B8-3CB4-E623-8BB3-B0926DFE3E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2523C219-2060-248B-28B1-6012C23F637C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F9CB7AE2-C1B9-E374-DB3E-603E3DE68FBA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0CE19E0E-F3E5-C05C-66FA-6A41B539EE98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428F05C4-C2B6-6A0A-403C-7E703841AA8C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9F5803D8-4A28-4B82-31EA-F234304BF458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9DCF5959-923D-4505-BDB2-6134EABE3F7E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A237FCCB-204C-6D65-8BA0-F29B8CC5F699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2530657B-39DA-7B98-138E-18D4EC2F5F72}"/>
              </a:ext>
            </a:extLst>
          </p:cNvPr>
          <p:cNvSpPr txBox="1"/>
          <p:nvPr userDrawn="1"/>
        </p:nvSpPr>
        <p:spPr>
          <a:xfrm>
            <a:off x="1641114" y="568669"/>
            <a:ext cx="678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C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81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43CC5853-F0A7-9AEA-1A57-8490BDEA72ED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3A29C92D-529A-909B-6B30-6C5526A418B1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单圆角矩形 12">
              <a:extLst>
                <a:ext uri="{FF2B5EF4-FFF2-40B4-BE49-F238E27FC236}">
                  <a16:creationId xmlns:a16="http://schemas.microsoft.com/office/drawing/2014/main" id="{C0DEBA1E-B605-72CE-C06C-18D7C2449B6C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剪去单角的矩形 13">
            <a:extLst>
              <a:ext uri="{FF2B5EF4-FFF2-40B4-BE49-F238E27FC236}">
                <a16:creationId xmlns:a16="http://schemas.microsoft.com/office/drawing/2014/main" id="{2B2BC631-8FD4-0CD5-8480-8CD41FF2AE9A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同侧圆角矩形 21">
            <a:extLst>
              <a:ext uri="{FF2B5EF4-FFF2-40B4-BE49-F238E27FC236}">
                <a16:creationId xmlns:a16="http://schemas.microsoft.com/office/drawing/2014/main" id="{9A624B48-DF67-DE14-AFD9-A6303056806F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单圆角矩形 46">
            <a:extLst>
              <a:ext uri="{FF2B5EF4-FFF2-40B4-BE49-F238E27FC236}">
                <a16:creationId xmlns:a16="http://schemas.microsoft.com/office/drawing/2014/main" id="{70D1B897-FFD1-F343-1BA8-274C0C50284C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2F033941-B1C4-930C-E4C5-434F99A602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7051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Examine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5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79B00523-1198-DFE4-4114-A462679EA0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: 圆顶角 15">
            <a:extLst>
              <a:ext uri="{FF2B5EF4-FFF2-40B4-BE49-F238E27FC236}">
                <a16:creationId xmlns:a16="http://schemas.microsoft.com/office/drawing/2014/main" id="{DD35C77F-1F77-3E54-AA7F-0B87781D27F7}"/>
              </a:ext>
            </a:extLst>
          </p:cNvPr>
          <p:cNvSpPr/>
          <p:nvPr userDrawn="1"/>
        </p:nvSpPr>
        <p:spPr>
          <a:xfrm>
            <a:off x="2484408" y="507275"/>
            <a:ext cx="2327282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矩形: 圆顶角 20">
            <a:extLst>
              <a:ext uri="{FF2B5EF4-FFF2-40B4-BE49-F238E27FC236}">
                <a16:creationId xmlns:a16="http://schemas.microsoft.com/office/drawing/2014/main" id="{4801B1BA-2B46-7D8E-A655-5B9EC8FFB5F4}"/>
              </a:ext>
            </a:extLst>
          </p:cNvPr>
          <p:cNvSpPr/>
          <p:nvPr userDrawn="1"/>
        </p:nvSpPr>
        <p:spPr>
          <a:xfrm>
            <a:off x="4925683" y="507275"/>
            <a:ext cx="2281508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矩形: 圆顶角 23">
            <a:extLst>
              <a:ext uri="{FF2B5EF4-FFF2-40B4-BE49-F238E27FC236}">
                <a16:creationId xmlns:a16="http://schemas.microsoft.com/office/drawing/2014/main" id="{FF3BFC75-0C67-EB31-DC1E-AB547DA8F0F4}"/>
              </a:ext>
            </a:extLst>
          </p:cNvPr>
          <p:cNvSpPr/>
          <p:nvPr userDrawn="1"/>
        </p:nvSpPr>
        <p:spPr>
          <a:xfrm>
            <a:off x="7315199" y="507275"/>
            <a:ext cx="1649105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C6383E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文本框 24">
            <a:hlinkClick r:id="rId4" action="ppaction://hlinksldjump"/>
            <a:extLst>
              <a:ext uri="{FF2B5EF4-FFF2-40B4-BE49-F238E27FC236}">
                <a16:creationId xmlns:a16="http://schemas.microsoft.com/office/drawing/2014/main" id="{3FEDA04A-1B5F-BCB9-AF6B-77EA47B7F8D7}"/>
              </a:ext>
            </a:extLst>
          </p:cNvPr>
          <p:cNvSpPr txBox="1"/>
          <p:nvPr userDrawn="1"/>
        </p:nvSpPr>
        <p:spPr>
          <a:xfrm>
            <a:off x="2538547" y="568669"/>
            <a:ext cx="2219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Reading Comprehension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26" name="文本框 25">
            <a:hlinkClick r:id="rId5" action="ppaction://hlinksldjump"/>
            <a:extLst>
              <a:ext uri="{FF2B5EF4-FFF2-40B4-BE49-F238E27FC236}">
                <a16:creationId xmlns:a16="http://schemas.microsoft.com/office/drawing/2014/main" id="{5C449002-95AA-4559-538B-5AF9A4567CAD}"/>
              </a:ext>
            </a:extLst>
          </p:cNvPr>
          <p:cNvSpPr txBox="1"/>
          <p:nvPr userDrawn="1"/>
        </p:nvSpPr>
        <p:spPr>
          <a:xfrm>
            <a:off x="4980467" y="568669"/>
            <a:ext cx="2171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Language Enhancement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7" name="文本框 26">
            <a:hlinkClick r:id="rId6" action="ppaction://hlinksldjump"/>
            <a:extLst>
              <a:ext uri="{FF2B5EF4-FFF2-40B4-BE49-F238E27FC236}">
                <a16:creationId xmlns:a16="http://schemas.microsoft.com/office/drawing/2014/main" id="{9B50D521-13E7-D192-6B57-88ACFF1DAC43}"/>
              </a:ext>
            </a:extLst>
          </p:cNvPr>
          <p:cNvSpPr txBox="1"/>
          <p:nvPr userDrawn="1"/>
        </p:nvSpPr>
        <p:spPr>
          <a:xfrm>
            <a:off x="7389373" y="568669"/>
            <a:ext cx="15070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Critical Thinking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sp>
        <p:nvSpPr>
          <p:cNvPr id="28" name="矩形: 圆顶角 27">
            <a:extLst>
              <a:ext uri="{FF2B5EF4-FFF2-40B4-BE49-F238E27FC236}">
                <a16:creationId xmlns:a16="http://schemas.microsoft.com/office/drawing/2014/main" id="{964672ED-7565-D14F-5BAB-63BA87FE64BB}"/>
              </a:ext>
            </a:extLst>
          </p:cNvPr>
          <p:cNvSpPr/>
          <p:nvPr userDrawn="1"/>
        </p:nvSpPr>
        <p:spPr>
          <a:xfrm>
            <a:off x="1584346" y="507275"/>
            <a:ext cx="792054" cy="446062"/>
          </a:xfrm>
          <a:prstGeom prst="round2SameRect">
            <a:avLst>
              <a:gd name="adj1" fmla="val 0"/>
              <a:gd name="adj2" fmla="val 15460"/>
            </a:avLst>
          </a:prstGeom>
          <a:solidFill>
            <a:srgbClr val="0C476D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文本框 28">
            <a:hlinkClick r:id="rId7" action="ppaction://hlinksldjump"/>
            <a:extLst>
              <a:ext uri="{FF2B5EF4-FFF2-40B4-BE49-F238E27FC236}">
                <a16:creationId xmlns:a16="http://schemas.microsoft.com/office/drawing/2014/main" id="{D711ACE1-9525-2832-E292-9992E7C8CE18}"/>
              </a:ext>
            </a:extLst>
          </p:cNvPr>
          <p:cNvSpPr txBox="1"/>
          <p:nvPr userDrawn="1"/>
        </p:nvSpPr>
        <p:spPr>
          <a:xfrm>
            <a:off x="1641114" y="568669"/>
            <a:ext cx="6785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1200" dirty="0">
                <a:solidFill>
                  <a:schemeClr val="bg1"/>
                </a:solidFill>
                <a:effectLst/>
                <a:latin typeface="Calibri" pitchFamily="34" charset="0"/>
                <a:ea typeface="宋体" pitchFamily="2" charset="-122"/>
                <a:cs typeface="+mn-cs"/>
              </a:rPr>
              <a:t>Text C</a:t>
            </a:r>
            <a:endParaRPr lang="zh-CN" altLang="zh-CN" sz="160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42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D87B9CB-FCC4-13D4-CAED-2190491DF451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57E051F3-4B5B-E447-AF37-EEE9F5BDB70F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C9CEC53B-6A36-6204-CF0B-C2F106AAE7DC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3453A96D-B36E-C5B5-EFDA-7E4CEE52B24B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同侧圆角矩形 21">
            <a:extLst>
              <a:ext uri="{FF2B5EF4-FFF2-40B4-BE49-F238E27FC236}">
                <a16:creationId xmlns:a16="http://schemas.microsoft.com/office/drawing/2014/main" id="{79CD70AB-369C-10C0-3CDD-FB92F908096A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单圆角矩形 46">
            <a:extLst>
              <a:ext uri="{FF2B5EF4-FFF2-40B4-BE49-F238E27FC236}">
                <a16:creationId xmlns:a16="http://schemas.microsoft.com/office/drawing/2014/main" id="{1A7EC3E4-8AFF-6CDF-EE43-3F8172CC402B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46">
            <a:extLst>
              <a:ext uri="{FF2B5EF4-FFF2-40B4-BE49-F238E27FC236}">
                <a16:creationId xmlns:a16="http://schemas.microsoft.com/office/drawing/2014/main" id="{77FACCE7-8193-C305-AF95-798BF43362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31180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Reading to Understand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0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91A00DB0-B0A3-AD5D-AD05-39447EA1B5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386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DEDF311-24C5-A6EE-4A76-9BDA6D5D9050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2C84375B-F868-7632-80AE-74BF8FB524B7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0E637A33-BF0C-72E5-D23F-43C4ACF7F850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08927B33-7AB1-0081-A6FA-21CE06B74B0E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96EDEF95-8504-638B-6893-C3D523C52CE3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E2770662-3CAD-D8F8-C066-E86DEA043F7B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4870BD39-4F2B-0056-43C5-E086AB4660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14921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Skill Focus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9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FDD56F25-9AF5-D268-DB05-2FBE019769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0939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5C0FEFA-09A3-19DA-1AE3-628AE0408BFB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A611E679-A74F-A301-09BC-90E58107C46F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06F6E50D-42F5-AA2F-DC9B-99AFD303F6F3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1612B95E-7047-2EB6-0AF0-B209014A7934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E0B3E60F-A1E0-6160-7F31-AA73A8C895F4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DF0D2B32-A38D-60FB-2DBE-78917DD442CE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597C0900-E9C8-4701-C823-FE52F565CA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9269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1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Telling China’s Stories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9" name="Picture 2" descr="C:\Users\senj\Desktop\主目录.png">
            <a:hlinkClick r:id="rId2" action="ppaction://hlinksldjump"/>
            <a:extLst>
              <a:ext uri="{FF2B5EF4-FFF2-40B4-BE49-F238E27FC236}">
                <a16:creationId xmlns:a16="http://schemas.microsoft.com/office/drawing/2014/main" id="{B66224E4-41CD-A8A2-39CB-B9458BDF74F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901" y="113271"/>
            <a:ext cx="401638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9387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39CC6C8-DE9A-BCFD-43A1-FF92883A78FC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BB5DDFA1-9D2F-F314-46D0-FCA29D09298C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AE6595E6-0D2C-32B0-7E47-957A6359C10A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BB3821F9-6891-D4C8-CBEB-22DB55F16455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B1B0F093-7AF2-1D67-7300-1B4F2B9FE391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96709CCC-D4B7-4679-3D26-BEF3FE22BF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0249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Learning Goals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61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39CC6C8-DE9A-BCFD-43A1-FF92883A78FC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BB5DDFA1-9D2F-F314-46D0-FCA29D09298C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AE6595E6-0D2C-32B0-7E47-957A6359C10A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BB3821F9-6891-D4C8-CBEB-22DB55F16455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B1B0F093-7AF2-1D67-7300-1B4F2B9FE391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96709CCC-D4B7-4679-3D26-BEF3FE22BF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7984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Note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85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18030D-B08F-9DA6-4407-823DA6113AE4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22DBB15C-D00A-8F6A-4A6D-B92FBB6C5D17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F12D6299-78ED-A8D7-39BB-5883D720D2D9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C21C33EB-F9E3-BBE7-D285-80EBF5F07F32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B6D96CAA-B76B-3113-6210-F12A61D7F94C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ACDD22E8-0E1A-0028-CF4B-C29DE3271E0E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5F6626B9-6DAF-A097-5B5F-014BA1C0A3F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1572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to Exercises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07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FFA92CE-2912-8D19-102C-72E83C0C6928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AA31CFD2-A78C-27A3-F64C-2DAA2AEDA18B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A2108D15-18D3-BCCF-FB14-0F84830562E7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76384242-B22B-9BDE-06E3-945098371E6A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E5080575-236D-74BC-9B74-4A56D16018C3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54EFA43B-3A5C-52B2-0ACD-62D5B69DD831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4F279F5A-6DD8-4FD4-F292-74CA74BFE9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8966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Script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62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25A9F2D-2B3F-2117-1FC7-E3A514A6811A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C960130A-3E5A-E701-115E-60DFC3624BE5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00412FD6-13F7-7F1C-3DF7-F8857175AE69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04D6DB83-0977-018A-4592-643D019A81CF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1DD489AF-6938-D6E7-DBC3-D17D55A07B7B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155B7A32-596A-B77D-FE82-F3E3414A192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1572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to Exercises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325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E303254-DC7F-AF52-7C20-F3785A5D128E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D65C7D32-EFB8-737F-DB5A-9DFD2051E8EC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D24BB610-A7A5-F061-1ADF-F64F610B82A3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62AF43C4-2396-ED97-123C-5333F3528B03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BCA4016C-EDA3-D732-2F37-C01E30D144A5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AD562982-39BF-3EF0-8BB7-8DF683CE8203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2106BED5-E01C-0F43-D1F9-2517F10FF6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1572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to Exercises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7437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317D26A-7B34-ED3F-3825-F767929AA720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3891A95E-A095-98C6-DAD1-727A50DADF46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71554F63-39FB-C35D-0E63-CB4F7D056D3E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635087BE-6AEF-4D8B-C100-54AB6EDC6046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ED2E1B28-D3E9-D1FE-E937-7A53F50C7FD3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9544EEA4-8314-4969-246B-2A53EE80E13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6802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Related Information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83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剪去同侧角的矩形 15"/>
          <p:cNvSpPr/>
          <p:nvPr userDrawn="1"/>
        </p:nvSpPr>
        <p:spPr>
          <a:xfrm>
            <a:off x="625475" y="428625"/>
            <a:ext cx="7740650" cy="857250"/>
          </a:xfrm>
          <a:prstGeom prst="snip2SameRect">
            <a:avLst>
              <a:gd name="adj1" fmla="val 0"/>
              <a:gd name="adj2" fmla="val 27555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625475" y="1095375"/>
            <a:ext cx="7740650" cy="115888"/>
            <a:chOff x="625475" y="1095375"/>
            <a:chExt cx="7740650" cy="115888"/>
          </a:xfrm>
        </p:grpSpPr>
        <p:cxnSp>
          <p:nvCxnSpPr>
            <p:cNvPr id="18" name="直接连接符 17"/>
            <p:cNvCxnSpPr/>
            <p:nvPr userDrawn="1"/>
          </p:nvCxnSpPr>
          <p:spPr>
            <a:xfrm>
              <a:off x="625475" y="10953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 userDrawn="1"/>
          </p:nvCxnSpPr>
          <p:spPr>
            <a:xfrm>
              <a:off x="625475" y="115252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 userDrawn="1"/>
          </p:nvCxnSpPr>
          <p:spPr>
            <a:xfrm>
              <a:off x="625475" y="12096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剪去同侧角的矩形 24"/>
          <p:cNvSpPr/>
          <p:nvPr userDrawn="1"/>
        </p:nvSpPr>
        <p:spPr>
          <a:xfrm flipV="1">
            <a:off x="625475" y="1556870"/>
            <a:ext cx="7740650" cy="5158276"/>
          </a:xfrm>
          <a:prstGeom prst="snip2SameRect">
            <a:avLst>
              <a:gd name="adj1" fmla="val 0"/>
              <a:gd name="adj2" fmla="val 0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27" name="剪去同侧角的矩形 26"/>
          <p:cNvSpPr/>
          <p:nvPr userDrawn="1"/>
        </p:nvSpPr>
        <p:spPr>
          <a:xfrm flipV="1">
            <a:off x="625475" y="2016917"/>
            <a:ext cx="7740650" cy="7200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F122373-22B9-94D0-43A4-A1A625C51FA1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7" name="单圆角矩形 11">
              <a:extLst>
                <a:ext uri="{FF2B5EF4-FFF2-40B4-BE49-F238E27FC236}">
                  <a16:creationId xmlns:a16="http://schemas.microsoft.com/office/drawing/2014/main" id="{3850E04D-CBDC-C0F6-E6FF-898A9FF64D96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单圆角矩形 12">
              <a:extLst>
                <a:ext uri="{FF2B5EF4-FFF2-40B4-BE49-F238E27FC236}">
                  <a16:creationId xmlns:a16="http://schemas.microsoft.com/office/drawing/2014/main" id="{14EF3468-D9FB-1607-26CD-D9E956166294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同侧圆角矩形 21">
            <a:extLst>
              <a:ext uri="{FF2B5EF4-FFF2-40B4-BE49-F238E27FC236}">
                <a16:creationId xmlns:a16="http://schemas.microsoft.com/office/drawing/2014/main" id="{5E4C1C4A-B95C-0CF0-52A4-15F20BE670EB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单圆角矩形 46">
            <a:extLst>
              <a:ext uri="{FF2B5EF4-FFF2-40B4-BE49-F238E27FC236}">
                <a16:creationId xmlns:a16="http://schemas.microsoft.com/office/drawing/2014/main" id="{43DDA49E-454B-5785-5EB1-BB8BCED59A45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91E99318-84B4-DA1D-C9EA-70BEE9C843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35751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Words and Expressions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1610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剪去同侧角的矩形 20"/>
          <p:cNvSpPr/>
          <p:nvPr userDrawn="1"/>
        </p:nvSpPr>
        <p:spPr>
          <a:xfrm>
            <a:off x="625475" y="428625"/>
            <a:ext cx="7740650" cy="857250"/>
          </a:xfrm>
          <a:prstGeom prst="snip2SameRect">
            <a:avLst>
              <a:gd name="adj1" fmla="val 0"/>
              <a:gd name="adj2" fmla="val 27555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625475" y="1095375"/>
            <a:ext cx="7740650" cy="115888"/>
            <a:chOff x="625475" y="1095375"/>
            <a:chExt cx="7740650" cy="115888"/>
          </a:xfrm>
        </p:grpSpPr>
        <p:cxnSp>
          <p:nvCxnSpPr>
            <p:cNvPr id="26" name="直接连接符 25"/>
            <p:cNvCxnSpPr/>
            <p:nvPr userDrawn="1"/>
          </p:nvCxnSpPr>
          <p:spPr>
            <a:xfrm>
              <a:off x="625475" y="10953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 userDrawn="1"/>
          </p:nvCxnSpPr>
          <p:spPr>
            <a:xfrm>
              <a:off x="625475" y="115252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 userDrawn="1"/>
          </p:nvCxnSpPr>
          <p:spPr>
            <a:xfrm>
              <a:off x="625475" y="12096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剪去同侧角的矩形 29"/>
          <p:cNvSpPr/>
          <p:nvPr userDrawn="1"/>
        </p:nvSpPr>
        <p:spPr>
          <a:xfrm flipV="1">
            <a:off x="625475" y="1556870"/>
            <a:ext cx="7740650" cy="5158276"/>
          </a:xfrm>
          <a:prstGeom prst="snip2SameRect">
            <a:avLst>
              <a:gd name="adj1" fmla="val 0"/>
              <a:gd name="adj2" fmla="val 0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27" name="剪去同侧角的矩形 26"/>
          <p:cNvSpPr/>
          <p:nvPr userDrawn="1"/>
        </p:nvSpPr>
        <p:spPr>
          <a:xfrm flipV="1">
            <a:off x="625475" y="2394261"/>
            <a:ext cx="7740650" cy="7200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E5C294-D4F2-B298-4CF2-DF8EE2D12667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7" name="单圆角矩形 11">
              <a:extLst>
                <a:ext uri="{FF2B5EF4-FFF2-40B4-BE49-F238E27FC236}">
                  <a16:creationId xmlns:a16="http://schemas.microsoft.com/office/drawing/2014/main" id="{92EC723F-5E6E-9CE0-1AFB-94DA63FF8C95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单圆角矩形 12">
              <a:extLst>
                <a:ext uri="{FF2B5EF4-FFF2-40B4-BE49-F238E27FC236}">
                  <a16:creationId xmlns:a16="http://schemas.microsoft.com/office/drawing/2014/main" id="{89B0B317-81B2-EB0A-5A5F-EAB32F61B7BE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同侧圆角矩形 21">
            <a:extLst>
              <a:ext uri="{FF2B5EF4-FFF2-40B4-BE49-F238E27FC236}">
                <a16:creationId xmlns:a16="http://schemas.microsoft.com/office/drawing/2014/main" id="{C5ABC89C-C333-6A83-46B1-9B09B44F9CFB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单圆角矩形 46">
            <a:extLst>
              <a:ext uri="{FF2B5EF4-FFF2-40B4-BE49-F238E27FC236}">
                <a16:creationId xmlns:a16="http://schemas.microsoft.com/office/drawing/2014/main" id="{FDF2109F-0C98-E277-2860-233377434C83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DCC7F7CE-2F71-90E7-3B63-B67E360AB1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35751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Words and Expressions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8388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剪去同侧角的矩形 20"/>
          <p:cNvSpPr/>
          <p:nvPr userDrawn="1"/>
        </p:nvSpPr>
        <p:spPr>
          <a:xfrm>
            <a:off x="625475" y="428625"/>
            <a:ext cx="7740650" cy="857250"/>
          </a:xfrm>
          <a:prstGeom prst="snip2SameRect">
            <a:avLst>
              <a:gd name="adj1" fmla="val 0"/>
              <a:gd name="adj2" fmla="val 27555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625475" y="1095375"/>
            <a:ext cx="7740650" cy="115888"/>
            <a:chOff x="625475" y="1095375"/>
            <a:chExt cx="7740650" cy="115888"/>
          </a:xfrm>
        </p:grpSpPr>
        <p:cxnSp>
          <p:nvCxnSpPr>
            <p:cNvPr id="26" name="直接连接符 25"/>
            <p:cNvCxnSpPr/>
            <p:nvPr userDrawn="1"/>
          </p:nvCxnSpPr>
          <p:spPr>
            <a:xfrm>
              <a:off x="625475" y="10953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 userDrawn="1"/>
          </p:nvCxnSpPr>
          <p:spPr>
            <a:xfrm>
              <a:off x="625475" y="115252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 userDrawn="1"/>
          </p:nvCxnSpPr>
          <p:spPr>
            <a:xfrm>
              <a:off x="625475" y="12096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剪去同侧角的矩形 29"/>
          <p:cNvSpPr/>
          <p:nvPr userDrawn="1"/>
        </p:nvSpPr>
        <p:spPr>
          <a:xfrm flipV="1">
            <a:off x="625475" y="1556870"/>
            <a:ext cx="7740650" cy="5158276"/>
          </a:xfrm>
          <a:prstGeom prst="snip2SameRect">
            <a:avLst>
              <a:gd name="adj1" fmla="val 0"/>
              <a:gd name="adj2" fmla="val 0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27" name="剪去同侧角的矩形 26"/>
          <p:cNvSpPr/>
          <p:nvPr userDrawn="1"/>
        </p:nvSpPr>
        <p:spPr>
          <a:xfrm flipV="1">
            <a:off x="625475" y="2722235"/>
            <a:ext cx="7740650" cy="7200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35A30C0-1636-0721-541D-2DFE9EFC9C49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7" name="单圆角矩形 11">
              <a:extLst>
                <a:ext uri="{FF2B5EF4-FFF2-40B4-BE49-F238E27FC236}">
                  <a16:creationId xmlns:a16="http://schemas.microsoft.com/office/drawing/2014/main" id="{E2D65A9F-39D8-86F1-C56E-05489F0B26CD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单圆角矩形 12">
              <a:extLst>
                <a:ext uri="{FF2B5EF4-FFF2-40B4-BE49-F238E27FC236}">
                  <a16:creationId xmlns:a16="http://schemas.microsoft.com/office/drawing/2014/main" id="{4C36B5E6-54C6-45BB-326A-736B2FB08642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同侧圆角矩形 21">
            <a:extLst>
              <a:ext uri="{FF2B5EF4-FFF2-40B4-BE49-F238E27FC236}">
                <a16:creationId xmlns:a16="http://schemas.microsoft.com/office/drawing/2014/main" id="{B8E43D82-7378-690E-41B9-92488DF9AD7D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单圆角矩形 46">
            <a:extLst>
              <a:ext uri="{FF2B5EF4-FFF2-40B4-BE49-F238E27FC236}">
                <a16:creationId xmlns:a16="http://schemas.microsoft.com/office/drawing/2014/main" id="{8CBA6346-C51F-5D0E-90DA-1D90A3F038FD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94633BB5-EE2A-C6B7-A7B6-858429F7B6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35751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Words and Expressions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69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剪去同侧角的矩形 20"/>
          <p:cNvSpPr/>
          <p:nvPr userDrawn="1"/>
        </p:nvSpPr>
        <p:spPr>
          <a:xfrm>
            <a:off x="625475" y="428625"/>
            <a:ext cx="7740650" cy="857250"/>
          </a:xfrm>
          <a:prstGeom prst="snip2SameRect">
            <a:avLst>
              <a:gd name="adj1" fmla="val 0"/>
              <a:gd name="adj2" fmla="val 27555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625475" y="1095375"/>
            <a:ext cx="7740650" cy="115888"/>
            <a:chOff x="625475" y="1095375"/>
            <a:chExt cx="7740650" cy="115888"/>
          </a:xfrm>
        </p:grpSpPr>
        <p:cxnSp>
          <p:nvCxnSpPr>
            <p:cNvPr id="26" name="直接连接符 25"/>
            <p:cNvCxnSpPr/>
            <p:nvPr userDrawn="1"/>
          </p:nvCxnSpPr>
          <p:spPr>
            <a:xfrm>
              <a:off x="625475" y="10953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 userDrawn="1"/>
          </p:nvCxnSpPr>
          <p:spPr>
            <a:xfrm>
              <a:off x="625475" y="115252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 userDrawn="1"/>
          </p:nvCxnSpPr>
          <p:spPr>
            <a:xfrm>
              <a:off x="625475" y="1209675"/>
              <a:ext cx="7740650" cy="1588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剪去同侧角的矩形 29"/>
          <p:cNvSpPr/>
          <p:nvPr userDrawn="1"/>
        </p:nvSpPr>
        <p:spPr>
          <a:xfrm flipV="1">
            <a:off x="625475" y="1556870"/>
            <a:ext cx="7740650" cy="5158276"/>
          </a:xfrm>
          <a:prstGeom prst="snip2SameRect">
            <a:avLst>
              <a:gd name="adj1" fmla="val 0"/>
              <a:gd name="adj2" fmla="val 0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27" name="剪去同侧角的矩形 26"/>
          <p:cNvSpPr/>
          <p:nvPr userDrawn="1"/>
        </p:nvSpPr>
        <p:spPr>
          <a:xfrm flipV="1">
            <a:off x="625475" y="3095261"/>
            <a:ext cx="7740650" cy="72004"/>
          </a:xfrm>
          <a:prstGeom prst="snip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F5881DA-95F5-2E32-F2FD-0C790ADFBD96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7" name="单圆角矩形 11">
              <a:extLst>
                <a:ext uri="{FF2B5EF4-FFF2-40B4-BE49-F238E27FC236}">
                  <a16:creationId xmlns:a16="http://schemas.microsoft.com/office/drawing/2014/main" id="{BC169587-109E-1E8C-E421-B0B73E187A41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单圆角矩形 12">
              <a:extLst>
                <a:ext uri="{FF2B5EF4-FFF2-40B4-BE49-F238E27FC236}">
                  <a16:creationId xmlns:a16="http://schemas.microsoft.com/office/drawing/2014/main" id="{F96EFD5F-8E22-2C74-D229-F454D72658D5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同侧圆角矩形 21">
            <a:extLst>
              <a:ext uri="{FF2B5EF4-FFF2-40B4-BE49-F238E27FC236}">
                <a16:creationId xmlns:a16="http://schemas.microsoft.com/office/drawing/2014/main" id="{1634C41C-6CD1-9423-DA04-8E8970D32C64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单圆角矩形 46">
            <a:extLst>
              <a:ext uri="{FF2B5EF4-FFF2-40B4-BE49-F238E27FC236}">
                <a16:creationId xmlns:a16="http://schemas.microsoft.com/office/drawing/2014/main" id="{3684E4D6-B3DA-AC2F-C677-833FA45B5B47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5E81329A-60B4-2517-FEFB-329407D25F4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35751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Key Words and Expressions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48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9144000" cy="1025320"/>
          </a:xfrm>
          <a:prstGeom prst="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87FF6E1-1BD8-0E18-4C04-3C90FBB16551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FE7D7901-5471-6B57-A9AB-4FB9C0C635F3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372D4E37-CA89-DD12-3A75-0A3E377EF430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F13E1408-59DD-ADD4-DFFC-67F8109E90E6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B111FD22-5172-E223-A7E7-6E609F13C794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9C98C110-97DE-CD76-8E64-03242E355BA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078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Difficult Sentences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265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9144000" cy="1394652"/>
          </a:xfrm>
          <a:prstGeom prst="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6F4BCE-83CF-F3A3-3BAC-907ACD95581A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28D0C29D-2A4C-E483-EB51-FAFE989AF8B5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DE710853-113D-CB9B-F683-4AF0E1805CD3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26E43CEE-2236-3EE3-ADE4-7CC44DCD539E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C4C59E49-E631-40E6-4C0E-31B3DAF3BB6E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FA812F34-DCC2-05A1-232B-272E2B69AE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078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Difficult Sentences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55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0"/>
            <a:ext cx="9144000" cy="1763984"/>
          </a:xfrm>
          <a:prstGeom prst="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FC29E6-5F3C-FD30-A77D-11A9BF410CAF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6E57CA96-05E8-F429-0EBC-E552CD904F35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B181DDC8-D2A9-4966-71C5-ED9268F3F1BD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8EBA9268-1D47-5900-A2E3-5221D77ECFF2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1E2CCADA-B19B-7083-374F-A0C6FEA92856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EF3707D6-DF4F-1BDE-097B-614D141EBE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078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Difficult Sentences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448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-1"/>
            <a:ext cx="9144000" cy="2133315"/>
          </a:xfrm>
          <a:prstGeom prst="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CC14B69-4A7D-E8B3-C001-ABA2FE6C2055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D48B6A85-46D4-77CA-6999-59FC165E4334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4A38741B-D4E7-E21A-1DBD-F7EC28B74686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CC11BD85-7B78-4E6A-1782-9E048473D81B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2F51B4CE-705E-EAEA-F3E9-9E69BA46A0B4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42D38555-D537-0BBB-241F-3EBF1FE4DC4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5078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Difficult Sentences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450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18"/>
          <p:cNvGrpSpPr>
            <a:grpSpLocks/>
          </p:cNvGrpSpPr>
          <p:nvPr userDrawn="1"/>
        </p:nvGrpSpPr>
        <p:grpSpPr bwMode="auto">
          <a:xfrm>
            <a:off x="612775" y="1852613"/>
            <a:ext cx="7918450" cy="125412"/>
            <a:chOff x="428596" y="1584212"/>
            <a:chExt cx="8280000" cy="125100"/>
          </a:xfrm>
          <a:solidFill>
            <a:srgbClr val="EBF2EF"/>
          </a:solidFill>
        </p:grpSpPr>
        <p:sp>
          <p:nvSpPr>
            <p:cNvPr id="22" name="矩形 21"/>
            <p:cNvSpPr/>
            <p:nvPr/>
          </p:nvSpPr>
          <p:spPr>
            <a:xfrm>
              <a:off x="428596" y="1584212"/>
              <a:ext cx="8280000" cy="174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23" name="矩形 22"/>
            <p:cNvSpPr/>
            <p:nvPr/>
          </p:nvSpPr>
          <p:spPr>
            <a:xfrm>
              <a:off x="428596" y="1642803"/>
              <a:ext cx="8280000" cy="1425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24" name="矩形 23"/>
            <p:cNvSpPr/>
            <p:nvPr/>
          </p:nvSpPr>
          <p:spPr>
            <a:xfrm>
              <a:off x="428596" y="1698228"/>
              <a:ext cx="8280000" cy="1108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29" name="组合 19"/>
          <p:cNvGrpSpPr/>
          <p:nvPr userDrawn="1"/>
        </p:nvGrpSpPr>
        <p:grpSpPr>
          <a:xfrm>
            <a:off x="612000" y="5585152"/>
            <a:ext cx="7920000" cy="125100"/>
            <a:chOff x="428596" y="1584212"/>
            <a:chExt cx="8280000" cy="125100"/>
          </a:xfrm>
          <a:solidFill>
            <a:srgbClr val="EBF2EF"/>
          </a:solidFill>
        </p:grpSpPr>
        <p:sp>
          <p:nvSpPr>
            <p:cNvPr id="31" name="矩形 30"/>
            <p:cNvSpPr/>
            <p:nvPr/>
          </p:nvSpPr>
          <p:spPr>
            <a:xfrm>
              <a:off x="428596" y="1584212"/>
              <a:ext cx="8280000" cy="1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2" name="矩形 31"/>
            <p:cNvSpPr/>
            <p:nvPr/>
          </p:nvSpPr>
          <p:spPr>
            <a:xfrm>
              <a:off x="428596" y="1643162"/>
              <a:ext cx="8280000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9" name="矩形 38"/>
            <p:cNvSpPr/>
            <p:nvPr/>
          </p:nvSpPr>
          <p:spPr>
            <a:xfrm>
              <a:off x="428596" y="1698512"/>
              <a:ext cx="8280000" cy="10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40" name="同侧圆角矩形 39"/>
          <p:cNvSpPr/>
          <p:nvPr userDrawn="1"/>
        </p:nvSpPr>
        <p:spPr>
          <a:xfrm>
            <a:off x="612775" y="806450"/>
            <a:ext cx="7918450" cy="1008063"/>
          </a:xfrm>
          <a:prstGeom prst="round2SameRect">
            <a:avLst>
              <a:gd name="adj1" fmla="val 10997"/>
              <a:gd name="adj2" fmla="val 0"/>
            </a:avLst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41" name="同侧圆角矩形 40"/>
          <p:cNvSpPr/>
          <p:nvPr userDrawn="1"/>
        </p:nvSpPr>
        <p:spPr>
          <a:xfrm rot="10800000">
            <a:off x="612775" y="5761038"/>
            <a:ext cx="7918450" cy="576262"/>
          </a:xfrm>
          <a:prstGeom prst="round2Same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B33132C-0022-00AC-7E16-6D2EBCA21F33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5A7CCD4A-AF09-777F-DDBB-7A74B9F40DE1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68B1FD48-92DE-DE39-241D-CD1E05A72984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EE2E4DC1-0F15-C198-05A0-D81EE127E59E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D0AB8FDA-4510-69DA-9C6B-5D4A3816D0DA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9503CAFA-D3EC-AD8E-B7DC-1D43B1B58F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1369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Text Translation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18"/>
          <p:cNvGrpSpPr>
            <a:grpSpLocks/>
          </p:cNvGrpSpPr>
          <p:nvPr userDrawn="1"/>
        </p:nvGrpSpPr>
        <p:grpSpPr bwMode="auto">
          <a:xfrm>
            <a:off x="612775" y="1457325"/>
            <a:ext cx="7918450" cy="125413"/>
            <a:chOff x="428596" y="1584212"/>
            <a:chExt cx="8280000" cy="125100"/>
          </a:xfrm>
          <a:solidFill>
            <a:srgbClr val="EBF2EF"/>
          </a:solidFill>
        </p:grpSpPr>
        <p:sp>
          <p:nvSpPr>
            <p:cNvPr id="52" name="矩形 51"/>
            <p:cNvSpPr/>
            <p:nvPr/>
          </p:nvSpPr>
          <p:spPr>
            <a:xfrm>
              <a:off x="428596" y="1584212"/>
              <a:ext cx="8280000" cy="174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53" name="矩形 52"/>
            <p:cNvSpPr/>
            <p:nvPr/>
          </p:nvSpPr>
          <p:spPr>
            <a:xfrm>
              <a:off x="428596" y="1642803"/>
              <a:ext cx="8280000" cy="14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54" name="矩形 53"/>
            <p:cNvSpPr/>
            <p:nvPr/>
          </p:nvSpPr>
          <p:spPr>
            <a:xfrm>
              <a:off x="428596" y="1698227"/>
              <a:ext cx="8280000" cy="11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55" name="同侧圆角矩形 54"/>
          <p:cNvSpPr/>
          <p:nvPr userDrawn="1"/>
        </p:nvSpPr>
        <p:spPr>
          <a:xfrm>
            <a:off x="612775" y="806450"/>
            <a:ext cx="7918450" cy="576263"/>
          </a:xfrm>
          <a:prstGeom prst="round2Same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56" name="同侧圆角矩形 55"/>
          <p:cNvSpPr/>
          <p:nvPr userDrawn="1"/>
        </p:nvSpPr>
        <p:spPr>
          <a:xfrm rot="10800000">
            <a:off x="612775" y="5761038"/>
            <a:ext cx="7918450" cy="576262"/>
          </a:xfrm>
          <a:prstGeom prst="round2Same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57" name="组合 19"/>
          <p:cNvGrpSpPr/>
          <p:nvPr userDrawn="1"/>
        </p:nvGrpSpPr>
        <p:grpSpPr>
          <a:xfrm>
            <a:off x="612000" y="5585152"/>
            <a:ext cx="7920000" cy="125100"/>
            <a:chOff x="428596" y="1584212"/>
            <a:chExt cx="8280000" cy="125100"/>
          </a:xfrm>
          <a:solidFill>
            <a:srgbClr val="EBF2EF"/>
          </a:solidFill>
        </p:grpSpPr>
        <p:sp>
          <p:nvSpPr>
            <p:cNvPr id="58" name="矩形 57"/>
            <p:cNvSpPr/>
            <p:nvPr/>
          </p:nvSpPr>
          <p:spPr>
            <a:xfrm>
              <a:off x="428596" y="1584212"/>
              <a:ext cx="8280000" cy="1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59" name="矩形 58"/>
            <p:cNvSpPr/>
            <p:nvPr/>
          </p:nvSpPr>
          <p:spPr>
            <a:xfrm>
              <a:off x="428596" y="1643162"/>
              <a:ext cx="8280000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60" name="矩形 59"/>
            <p:cNvSpPr/>
            <p:nvPr/>
          </p:nvSpPr>
          <p:spPr>
            <a:xfrm>
              <a:off x="428596" y="1698512"/>
              <a:ext cx="8280000" cy="10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3BECB2FE-CE65-D947-DE69-421CFF95CC72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AF3D9D35-D3C8-6EDA-2484-5BA953177E9A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98715ED2-48D9-B376-B1DC-49BF3A5E63C2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89C0169D-7C87-E166-7C50-3202B7A78E6D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653B189D-0B01-1999-C4FF-3D46E46DA202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8E29F6FC-E5F3-64E6-6237-AD1E331CBB9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1369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Text Translation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18"/>
          <p:cNvGrpSpPr>
            <a:grpSpLocks/>
          </p:cNvGrpSpPr>
          <p:nvPr userDrawn="1"/>
        </p:nvGrpSpPr>
        <p:grpSpPr bwMode="auto">
          <a:xfrm>
            <a:off x="612775" y="1457325"/>
            <a:ext cx="7918450" cy="125413"/>
            <a:chOff x="428596" y="1584212"/>
            <a:chExt cx="8280000" cy="125100"/>
          </a:xfrm>
          <a:solidFill>
            <a:srgbClr val="EBF2EF"/>
          </a:solidFill>
        </p:grpSpPr>
        <p:sp>
          <p:nvSpPr>
            <p:cNvPr id="23" name="矩形 22"/>
            <p:cNvSpPr/>
            <p:nvPr/>
          </p:nvSpPr>
          <p:spPr>
            <a:xfrm>
              <a:off x="428596" y="1584212"/>
              <a:ext cx="8280000" cy="174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28" name="矩形 27"/>
            <p:cNvSpPr/>
            <p:nvPr/>
          </p:nvSpPr>
          <p:spPr>
            <a:xfrm>
              <a:off x="428596" y="1642803"/>
              <a:ext cx="8280000" cy="142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29" name="矩形 28"/>
            <p:cNvSpPr/>
            <p:nvPr/>
          </p:nvSpPr>
          <p:spPr>
            <a:xfrm>
              <a:off x="428596" y="1698227"/>
              <a:ext cx="8280000" cy="1108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sp>
        <p:nvSpPr>
          <p:cNvPr id="30" name="同侧圆角矩形 29"/>
          <p:cNvSpPr/>
          <p:nvPr userDrawn="1"/>
        </p:nvSpPr>
        <p:spPr>
          <a:xfrm>
            <a:off x="612775" y="806450"/>
            <a:ext cx="7918450" cy="576263"/>
          </a:xfrm>
          <a:prstGeom prst="round2Same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sp>
        <p:nvSpPr>
          <p:cNvPr id="31" name="同侧圆角矩形 30"/>
          <p:cNvSpPr/>
          <p:nvPr userDrawn="1"/>
        </p:nvSpPr>
        <p:spPr>
          <a:xfrm rot="10800000">
            <a:off x="612775" y="5761038"/>
            <a:ext cx="7918450" cy="576262"/>
          </a:xfrm>
          <a:prstGeom prst="round2SameRect">
            <a:avLst/>
          </a:prstGeom>
          <a:solidFill>
            <a:srgbClr val="EBF2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defRPr/>
            </a:pPr>
            <a:endParaRPr lang="zh-CN" altLang="en-US" noProof="1"/>
          </a:p>
        </p:txBody>
      </p:sp>
      <p:grpSp>
        <p:nvGrpSpPr>
          <p:cNvPr id="32" name="组合 19"/>
          <p:cNvGrpSpPr/>
          <p:nvPr userDrawn="1"/>
        </p:nvGrpSpPr>
        <p:grpSpPr>
          <a:xfrm>
            <a:off x="612000" y="5585152"/>
            <a:ext cx="7920000" cy="125100"/>
            <a:chOff x="428596" y="1584212"/>
            <a:chExt cx="8280000" cy="125100"/>
          </a:xfrm>
          <a:solidFill>
            <a:srgbClr val="EBF2EF"/>
          </a:solidFill>
        </p:grpSpPr>
        <p:sp>
          <p:nvSpPr>
            <p:cNvPr id="33" name="矩形 32"/>
            <p:cNvSpPr/>
            <p:nvPr/>
          </p:nvSpPr>
          <p:spPr>
            <a:xfrm>
              <a:off x="428596" y="1584212"/>
              <a:ext cx="8280000" cy="1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4" name="矩形 33"/>
            <p:cNvSpPr/>
            <p:nvPr/>
          </p:nvSpPr>
          <p:spPr>
            <a:xfrm>
              <a:off x="428596" y="1643162"/>
              <a:ext cx="8280000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  <p:sp>
          <p:nvSpPr>
            <p:cNvPr id="35" name="矩形 34"/>
            <p:cNvSpPr/>
            <p:nvPr/>
          </p:nvSpPr>
          <p:spPr>
            <a:xfrm>
              <a:off x="428596" y="1698512"/>
              <a:ext cx="8280000" cy="10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defRPr/>
              </a:pPr>
              <a:endParaRPr lang="zh-CN" altLang="en-US" noProof="1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C92120-0DA4-E83D-FEA9-3C8995D49514}"/>
              </a:ext>
            </a:extLst>
          </p:cNvPr>
          <p:cNvGrpSpPr/>
          <p:nvPr userDrawn="1"/>
        </p:nvGrpSpPr>
        <p:grpSpPr>
          <a:xfrm>
            <a:off x="0" y="6715148"/>
            <a:ext cx="9144000" cy="142876"/>
            <a:chOff x="0" y="6715148"/>
            <a:chExt cx="9144000" cy="142876"/>
          </a:xfrm>
        </p:grpSpPr>
        <p:sp>
          <p:nvSpPr>
            <p:cNvPr id="3" name="单圆角矩形 11">
              <a:extLst>
                <a:ext uri="{FF2B5EF4-FFF2-40B4-BE49-F238E27FC236}">
                  <a16:creationId xmlns:a16="http://schemas.microsoft.com/office/drawing/2014/main" id="{5B79DC74-6453-FCBB-1979-F144B6FB7A24}"/>
                </a:ext>
              </a:extLst>
            </p:cNvPr>
            <p:cNvSpPr/>
            <p:nvPr/>
          </p:nvSpPr>
          <p:spPr>
            <a:xfrm>
              <a:off x="0" y="6715148"/>
              <a:ext cx="9144000" cy="142876"/>
            </a:xfrm>
            <a:prstGeom prst="round1Rect">
              <a:avLst>
                <a:gd name="adj" fmla="val 0"/>
              </a:avLst>
            </a:prstGeom>
            <a:solidFill>
              <a:srgbClr val="56AB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单圆角矩形 12">
              <a:extLst>
                <a:ext uri="{FF2B5EF4-FFF2-40B4-BE49-F238E27FC236}">
                  <a16:creationId xmlns:a16="http://schemas.microsoft.com/office/drawing/2014/main" id="{5E5CEE0E-CE56-72F3-9AA7-77073C36358B}"/>
                </a:ext>
              </a:extLst>
            </p:cNvPr>
            <p:cNvSpPr/>
            <p:nvPr/>
          </p:nvSpPr>
          <p:spPr>
            <a:xfrm flipV="1">
              <a:off x="0" y="6736080"/>
              <a:ext cx="9144000" cy="36000"/>
            </a:xfrm>
            <a:prstGeom prst="round1Rect">
              <a:avLst>
                <a:gd name="adj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剪去单角的矩形 13">
            <a:extLst>
              <a:ext uri="{FF2B5EF4-FFF2-40B4-BE49-F238E27FC236}">
                <a16:creationId xmlns:a16="http://schemas.microsoft.com/office/drawing/2014/main" id="{9E9AC7CC-61A1-BEBE-2064-63B5F8C6DA86}"/>
              </a:ext>
            </a:extLst>
          </p:cNvPr>
          <p:cNvSpPr/>
          <p:nvPr userDrawn="1"/>
        </p:nvSpPr>
        <p:spPr>
          <a:xfrm flipH="1">
            <a:off x="8215338" y="6357958"/>
            <a:ext cx="928662" cy="357189"/>
          </a:xfrm>
          <a:prstGeom prst="snip1Rect">
            <a:avLst>
              <a:gd name="adj" fmla="val 34429"/>
            </a:avLst>
          </a:prstGeom>
          <a:solidFill>
            <a:srgbClr val="56AB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同侧圆角矩形 21">
            <a:extLst>
              <a:ext uri="{FF2B5EF4-FFF2-40B4-BE49-F238E27FC236}">
                <a16:creationId xmlns:a16="http://schemas.microsoft.com/office/drawing/2014/main" id="{7D215E2C-C19F-55C2-6306-7DB8073D6B73}"/>
              </a:ext>
            </a:extLst>
          </p:cNvPr>
          <p:cNvSpPr/>
          <p:nvPr userDrawn="1"/>
        </p:nvSpPr>
        <p:spPr>
          <a:xfrm rot="10800000">
            <a:off x="0" y="-26"/>
            <a:ext cx="9144000" cy="55007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56AB9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单圆角矩形 46">
            <a:extLst>
              <a:ext uri="{FF2B5EF4-FFF2-40B4-BE49-F238E27FC236}">
                <a16:creationId xmlns:a16="http://schemas.microsoft.com/office/drawing/2014/main" id="{A893A227-7A75-9287-71C0-FC499EB028E9}"/>
              </a:ext>
            </a:extLst>
          </p:cNvPr>
          <p:cNvSpPr/>
          <p:nvPr userDrawn="1"/>
        </p:nvSpPr>
        <p:spPr>
          <a:xfrm flipV="1">
            <a:off x="-32" y="-25"/>
            <a:ext cx="571504" cy="602378"/>
          </a:xfrm>
          <a:prstGeom prst="round1Rect">
            <a:avLst>
              <a:gd name="adj" fmla="val 0"/>
            </a:avLst>
          </a:prstGeom>
          <a:solidFill>
            <a:srgbClr val="C6383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46">
            <a:extLst>
              <a:ext uri="{FF2B5EF4-FFF2-40B4-BE49-F238E27FC236}">
                <a16:creationId xmlns:a16="http://schemas.microsoft.com/office/drawing/2014/main" id="{28D7D8C7-F71E-27FB-9F5C-5E24A5853B9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48852" y="60766"/>
            <a:ext cx="21369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b="0" i="0" u="none" strike="noStrike" kern="1200" baseline="0" dirty="0">
                <a:solidFill>
                  <a:schemeClr val="bg1"/>
                </a:solidFill>
                <a:latin typeface="Calibri" pitchFamily="34" charset="0"/>
                <a:ea typeface="宋体" pitchFamily="2" charset="-122"/>
                <a:cs typeface="+mn-cs"/>
              </a:rPr>
              <a:t>Text Translation</a:t>
            </a:r>
            <a:endParaRPr lang="zh-CN" altLang="zh-CN" sz="2400" b="0" kern="1200" dirty="0">
              <a:solidFill>
                <a:schemeClr val="bg1"/>
              </a:solidFill>
              <a:effectLst/>
              <a:latin typeface="Calibri" pitchFamily="34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34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CC46CFA-3EE2-4488-8B80-506137A36005}" type="datetimeFigureOut">
              <a:rPr lang="zh-CN" altLang="en-US"/>
              <a:pPr>
                <a:defRPr/>
              </a:pPr>
              <a:t>2023/11/22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8411A4B-1651-4FEC-AF7A-CF0AFED201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04" r:id="rId1"/>
    <p:sldLayoutId id="2147484608" r:id="rId2"/>
    <p:sldLayoutId id="2147484767" r:id="rId3"/>
    <p:sldLayoutId id="2147484709" r:id="rId4"/>
    <p:sldLayoutId id="2147484773" r:id="rId5"/>
    <p:sldLayoutId id="2147484774" r:id="rId6"/>
    <p:sldLayoutId id="2147484772" r:id="rId7"/>
    <p:sldLayoutId id="2147484791" r:id="rId8"/>
    <p:sldLayoutId id="2147484775" r:id="rId9"/>
    <p:sldLayoutId id="2147484776" r:id="rId10"/>
    <p:sldLayoutId id="2147484777" r:id="rId11"/>
    <p:sldLayoutId id="2147484793" r:id="rId12"/>
    <p:sldLayoutId id="2147484778" r:id="rId13"/>
    <p:sldLayoutId id="2147484780" r:id="rId14"/>
    <p:sldLayoutId id="2147484781" r:id="rId15"/>
    <p:sldLayoutId id="2147484782" r:id="rId16"/>
    <p:sldLayoutId id="2147484794" r:id="rId17"/>
    <p:sldLayoutId id="2147484779" r:id="rId18"/>
    <p:sldLayoutId id="2147484783" r:id="rId19"/>
    <p:sldLayoutId id="2147484784" r:id="rId20"/>
    <p:sldLayoutId id="2147484785" r:id="rId21"/>
    <p:sldLayoutId id="2147484786" r:id="rId22"/>
    <p:sldLayoutId id="2147484787" r:id="rId23"/>
    <p:sldLayoutId id="2147484788" r:id="rId24"/>
    <p:sldLayoutId id="2147484766" r:id="rId25"/>
    <p:sldLayoutId id="2147484798" r:id="rId26"/>
    <p:sldLayoutId id="2147484795" r:id="rId27"/>
    <p:sldLayoutId id="2147484763" r:id="rId28"/>
    <p:sldLayoutId id="2147484789" r:id="rId29"/>
    <p:sldLayoutId id="2147484790" r:id="rId30"/>
    <p:sldLayoutId id="2147484792" r:id="rId31"/>
    <p:sldLayoutId id="2147484758" r:id="rId32"/>
    <p:sldLayoutId id="2147484759" r:id="rId33"/>
    <p:sldLayoutId id="2147484760" r:id="rId34"/>
    <p:sldLayoutId id="2147484761" r:id="rId35"/>
    <p:sldLayoutId id="2147484796" r:id="rId36"/>
    <p:sldLayoutId id="2147484797" r:id="rId37"/>
    <p:sldLayoutId id="2147484762" r:id="rId38"/>
    <p:sldLayoutId id="2147484768" r:id="rId39"/>
    <p:sldLayoutId id="2147484734" r:id="rId40"/>
    <p:sldLayoutId id="2147484732" r:id="rId41"/>
    <p:sldLayoutId id="2147484769" r:id="rId4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25.xml"/><Relationship Id="rId3" Type="http://schemas.openxmlformats.org/officeDocument/2006/relationships/image" Target="../media/image10.png"/><Relationship Id="rId7" Type="http://schemas.openxmlformats.org/officeDocument/2006/relationships/slide" Target="slide4.xml"/><Relationship Id="rId12" Type="http://schemas.openxmlformats.org/officeDocument/2006/relationships/slide" Target="slide2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1.xml"/><Relationship Id="rId11" Type="http://schemas.openxmlformats.org/officeDocument/2006/relationships/slide" Target="slide15.xml"/><Relationship Id="rId5" Type="http://schemas.openxmlformats.org/officeDocument/2006/relationships/image" Target="../media/image11.png"/><Relationship Id="rId10" Type="http://schemas.openxmlformats.org/officeDocument/2006/relationships/slide" Target="slide8.xml"/><Relationship Id="rId4" Type="http://schemas.microsoft.com/office/2007/relationships/hdphoto" Target="../media/hdphoto3.wdp"/><Relationship Id="rId9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6.xml"/><Relationship Id="rId13" Type="http://schemas.openxmlformats.org/officeDocument/2006/relationships/slide" Target="slide27.xml"/><Relationship Id="rId3" Type="http://schemas.openxmlformats.org/officeDocument/2006/relationships/image" Target="../media/image10.png"/><Relationship Id="rId7" Type="http://schemas.openxmlformats.org/officeDocument/2006/relationships/slide" Target="slide72.xml"/><Relationship Id="rId12" Type="http://schemas.openxmlformats.org/officeDocument/2006/relationships/slide" Target="slide63.xml"/><Relationship Id="rId2" Type="http://schemas.openxmlformats.org/officeDocument/2006/relationships/notesSlide" Target="../notesSlides/notesSlide3.xml"/><Relationship Id="rId16" Type="http://schemas.openxmlformats.org/officeDocument/2006/relationships/slide" Target="slide4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7.xml"/><Relationship Id="rId11" Type="http://schemas.openxmlformats.org/officeDocument/2006/relationships/slide" Target="slide59.xml"/><Relationship Id="rId5" Type="http://schemas.openxmlformats.org/officeDocument/2006/relationships/image" Target="../media/image11.png"/><Relationship Id="rId15" Type="http://schemas.openxmlformats.org/officeDocument/2006/relationships/slide" Target="slide40.xml"/><Relationship Id="rId10" Type="http://schemas.openxmlformats.org/officeDocument/2006/relationships/slide" Target="slide55.xml"/><Relationship Id="rId4" Type="http://schemas.microsoft.com/office/2007/relationships/hdphoto" Target="../media/hdphoto3.wdp"/><Relationship Id="rId9" Type="http://schemas.openxmlformats.org/officeDocument/2006/relationships/slide" Target="slide46.xml"/><Relationship Id="rId14" Type="http://schemas.openxmlformats.org/officeDocument/2006/relationships/slide" Target="slide3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hyperlink" Target="Unit%206.mp4" TargetMode="External"/><Relationship Id="rId2" Type="http://schemas.openxmlformats.org/officeDocument/2006/relationships/slide" Target="slide86.xml"/><Relationship Id="rId1" Type="http://schemas.openxmlformats.org/officeDocument/2006/relationships/slideLayout" Target="../slideLayouts/slideLayout4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Unit%206%20What%20does%20the%20Qingming%20Festival%20mean%20to%20Chinese%20people.mp4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hyperlink" Target="Text%20A_0.mp3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9.png"/><Relationship Id="rId4" Type="http://schemas.openxmlformats.org/officeDocument/2006/relationships/slide" Target="slide9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2.mp3"/><Relationship Id="rId7" Type="http://schemas.openxmlformats.org/officeDocument/2006/relationships/image" Target="../media/image20.png"/><Relationship Id="rId12" Type="http://schemas.openxmlformats.org/officeDocument/2006/relationships/image" Target="../media/image2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slide" Target="slide119.xml"/><Relationship Id="rId11" Type="http://schemas.openxmlformats.org/officeDocument/2006/relationships/slide" Target="slide93.xml"/><Relationship Id="rId5" Type="http://schemas.openxmlformats.org/officeDocument/2006/relationships/slideLayout" Target="../slideLayouts/slideLayout8.xml"/><Relationship Id="rId10" Type="http://schemas.openxmlformats.org/officeDocument/2006/relationships/slide" Target="slide120.xml"/><Relationship Id="rId4" Type="http://schemas.openxmlformats.org/officeDocument/2006/relationships/audio" Target="../media/media2.mp3"/><Relationship Id="rId9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95.xml"/><Relationship Id="rId3" Type="http://schemas.microsoft.com/office/2007/relationships/media" Target="../media/media4.mp3"/><Relationship Id="rId7" Type="http://schemas.openxmlformats.org/officeDocument/2006/relationships/image" Target="../media/image20.png"/><Relationship Id="rId12" Type="http://schemas.openxmlformats.org/officeDocument/2006/relationships/slide" Target="slide94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slide" Target="slide122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8.xml"/><Relationship Id="rId15" Type="http://schemas.openxmlformats.org/officeDocument/2006/relationships/slide" Target="slide97.xml"/><Relationship Id="rId10" Type="http://schemas.openxmlformats.org/officeDocument/2006/relationships/slide" Target="slide121.xml"/><Relationship Id="rId4" Type="http://schemas.openxmlformats.org/officeDocument/2006/relationships/audio" Target="../media/media4.mp3"/><Relationship Id="rId9" Type="http://schemas.microsoft.com/office/2007/relationships/hdphoto" Target="../media/hdphoto3.wdp"/><Relationship Id="rId14" Type="http://schemas.openxmlformats.org/officeDocument/2006/relationships/slide" Target="slide9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98.xml"/><Relationship Id="rId3" Type="http://schemas.microsoft.com/office/2007/relationships/media" Target="../media/media6.mp3"/><Relationship Id="rId7" Type="http://schemas.openxmlformats.org/officeDocument/2006/relationships/image" Target="../media/image20.png"/><Relationship Id="rId12" Type="http://schemas.openxmlformats.org/officeDocument/2006/relationships/slide" Target="slide10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slide" Target="slide123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8.xml"/><Relationship Id="rId10" Type="http://schemas.openxmlformats.org/officeDocument/2006/relationships/slide" Target="slide124.xml"/><Relationship Id="rId4" Type="http://schemas.openxmlformats.org/officeDocument/2006/relationships/audio" Target="../media/media6.mp3"/><Relationship Id="rId9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99.xml"/><Relationship Id="rId3" Type="http://schemas.microsoft.com/office/2007/relationships/media" Target="../media/media8.mp3"/><Relationship Id="rId7" Type="http://schemas.openxmlformats.org/officeDocument/2006/relationships/image" Target="../media/image20.png"/><Relationship Id="rId12" Type="http://schemas.openxmlformats.org/officeDocument/2006/relationships/slide" Target="slide103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slide" Target="slide126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8.xml"/><Relationship Id="rId10" Type="http://schemas.openxmlformats.org/officeDocument/2006/relationships/slide" Target="slide125.xml"/><Relationship Id="rId4" Type="http://schemas.openxmlformats.org/officeDocument/2006/relationships/audio" Target="../media/media8.mp3"/><Relationship Id="rId9" Type="http://schemas.microsoft.com/office/2007/relationships/hdphoto" Target="../media/hdphoto3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101.xml"/><Relationship Id="rId3" Type="http://schemas.microsoft.com/office/2007/relationships/media" Target="../media/media10.mp3"/><Relationship Id="rId7" Type="http://schemas.openxmlformats.org/officeDocument/2006/relationships/image" Target="../media/image20.png"/><Relationship Id="rId12" Type="http://schemas.openxmlformats.org/officeDocument/2006/relationships/slide" Target="slide100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slide" Target="slide127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8.xml"/><Relationship Id="rId10" Type="http://schemas.openxmlformats.org/officeDocument/2006/relationships/slide" Target="slide128.xml"/><Relationship Id="rId4" Type="http://schemas.openxmlformats.org/officeDocument/2006/relationships/audio" Target="../media/media10.mp3"/><Relationship Id="rId9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12.mp3"/><Relationship Id="rId7" Type="http://schemas.openxmlformats.org/officeDocument/2006/relationships/image" Target="../media/image20.png"/><Relationship Id="rId12" Type="http://schemas.openxmlformats.org/officeDocument/2006/relationships/image" Target="../media/image21.png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slide" Target="slide130.xml"/><Relationship Id="rId11" Type="http://schemas.openxmlformats.org/officeDocument/2006/relationships/slide" Target="slide129.xml"/><Relationship Id="rId5" Type="http://schemas.openxmlformats.org/officeDocument/2006/relationships/slideLayout" Target="../slideLayouts/slideLayout8.xml"/><Relationship Id="rId10" Type="http://schemas.openxmlformats.org/officeDocument/2006/relationships/image" Target="../media/image13.png"/><Relationship Id="rId4" Type="http://schemas.openxmlformats.org/officeDocument/2006/relationships/audio" Target="../media/media12.mp3"/><Relationship Id="rId9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microsoft.com/office/2007/relationships/hdphoto" Target="../media/hdphoto3.wdp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4" Type="http://schemas.microsoft.com/office/2007/relationships/hdphoto" Target="../media/hdphoto3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slide" Target="slide9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hyperlink" Target="Text%20B_0.mp3" TargetMode="External"/><Relationship Id="rId4" Type="http://schemas.microsoft.com/office/2007/relationships/hdphoto" Target="../media/hdphoto3.wdp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131.xml"/><Relationship Id="rId13" Type="http://schemas.openxmlformats.org/officeDocument/2006/relationships/slide" Target="slide132.xml"/><Relationship Id="rId3" Type="http://schemas.microsoft.com/office/2007/relationships/media" Target="../media/media14.mp3"/><Relationship Id="rId7" Type="http://schemas.openxmlformats.org/officeDocument/2006/relationships/slideLayout" Target="../slideLayouts/slideLayout13.xml"/><Relationship Id="rId12" Type="http://schemas.microsoft.com/office/2007/relationships/hdphoto" Target="../media/hdphoto3.wdp"/><Relationship Id="rId17" Type="http://schemas.openxmlformats.org/officeDocument/2006/relationships/slide" Target="slide105.xml"/><Relationship Id="rId2" Type="http://schemas.openxmlformats.org/officeDocument/2006/relationships/audio" Target="../media/media13.mp3"/><Relationship Id="rId16" Type="http://schemas.openxmlformats.org/officeDocument/2006/relationships/image" Target="../media/image21.png"/><Relationship Id="rId1" Type="http://schemas.microsoft.com/office/2007/relationships/media" Target="../media/media13.mp3"/><Relationship Id="rId6" Type="http://schemas.openxmlformats.org/officeDocument/2006/relationships/audio" Target="../media/media15.mp3"/><Relationship Id="rId11" Type="http://schemas.openxmlformats.org/officeDocument/2006/relationships/image" Target="../media/image11.png"/><Relationship Id="rId5" Type="http://schemas.microsoft.com/office/2007/relationships/media" Target="../media/media15.mp3"/><Relationship Id="rId15" Type="http://schemas.openxmlformats.org/officeDocument/2006/relationships/slide" Target="slide133.xml"/><Relationship Id="rId10" Type="http://schemas.openxmlformats.org/officeDocument/2006/relationships/slide" Target="slide116.xml"/><Relationship Id="rId4" Type="http://schemas.openxmlformats.org/officeDocument/2006/relationships/audio" Target="../media/media14.mp3"/><Relationship Id="rId9" Type="http://schemas.openxmlformats.org/officeDocument/2006/relationships/image" Target="../media/image20.png"/><Relationship Id="rId14" Type="http://schemas.openxmlformats.org/officeDocument/2006/relationships/slide" Target="slide10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0.png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slide" Target="slide134.xml"/><Relationship Id="rId5" Type="http://schemas.microsoft.com/office/2007/relationships/hdphoto" Target="../media/hdphoto3.wdp"/><Relationship Id="rId10" Type="http://schemas.openxmlformats.org/officeDocument/2006/relationships/slide" Target="slide106.xml"/><Relationship Id="rId4" Type="http://schemas.openxmlformats.org/officeDocument/2006/relationships/image" Target="../media/image11.png"/><Relationship Id="rId9" Type="http://schemas.openxmlformats.org/officeDocument/2006/relationships/slide" Target="slide1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136.xml"/><Relationship Id="rId3" Type="http://schemas.microsoft.com/office/2007/relationships/media" Target="../media/media18.mp3"/><Relationship Id="rId7" Type="http://schemas.microsoft.com/office/2007/relationships/hdphoto" Target="../media/hdphoto3.wdp"/><Relationship Id="rId12" Type="http://schemas.openxmlformats.org/officeDocument/2006/relationships/slide" Target="slide107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6" Type="http://schemas.openxmlformats.org/officeDocument/2006/relationships/image" Target="../media/image11.png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3.xml"/><Relationship Id="rId10" Type="http://schemas.openxmlformats.org/officeDocument/2006/relationships/slide" Target="slide135.xml"/><Relationship Id="rId4" Type="http://schemas.openxmlformats.org/officeDocument/2006/relationships/audio" Target="../media/media18.mp3"/><Relationship Id="rId9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0.png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6" Type="http://schemas.openxmlformats.org/officeDocument/2006/relationships/slide" Target="slide137.xml"/><Relationship Id="rId5" Type="http://schemas.microsoft.com/office/2007/relationships/hdphoto" Target="../media/hdphoto3.wdp"/><Relationship Id="rId4" Type="http://schemas.openxmlformats.org/officeDocument/2006/relationships/image" Target="../media/image11.png"/><Relationship Id="rId9" Type="http://schemas.openxmlformats.org/officeDocument/2006/relationships/slide" Target="slide108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slide" Target="slide111.xml"/><Relationship Id="rId5" Type="http://schemas.openxmlformats.org/officeDocument/2006/relationships/slide" Target="slide110.xml"/><Relationship Id="rId4" Type="http://schemas.openxmlformats.org/officeDocument/2006/relationships/slide" Target="slide109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140.xml"/><Relationship Id="rId13" Type="http://schemas.openxmlformats.org/officeDocument/2006/relationships/slide" Target="slide112.xml"/><Relationship Id="rId3" Type="http://schemas.microsoft.com/office/2007/relationships/media" Target="../media/media21.mp3"/><Relationship Id="rId7" Type="http://schemas.microsoft.com/office/2007/relationships/hdphoto" Target="../media/hdphoto3.wdp"/><Relationship Id="rId12" Type="http://schemas.openxmlformats.org/officeDocument/2006/relationships/slide" Target="slide118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6" Type="http://schemas.openxmlformats.org/officeDocument/2006/relationships/image" Target="../media/image11.png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3.xml"/><Relationship Id="rId10" Type="http://schemas.openxmlformats.org/officeDocument/2006/relationships/slide" Target="slide139.xml"/><Relationship Id="rId4" Type="http://schemas.openxmlformats.org/officeDocument/2006/relationships/audio" Target="../media/media21.mp3"/><Relationship Id="rId9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20.png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6" Type="http://schemas.openxmlformats.org/officeDocument/2006/relationships/slide" Target="slide141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3.xml"/><Relationship Id="rId7" Type="http://schemas.openxmlformats.org/officeDocument/2006/relationships/slide" Target="slide143.xml"/><Relationship Id="rId12" Type="http://schemas.openxmlformats.org/officeDocument/2006/relationships/slide" Target="slide115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6" Type="http://schemas.openxmlformats.org/officeDocument/2006/relationships/image" Target="../media/image13.png"/><Relationship Id="rId11" Type="http://schemas.openxmlformats.org/officeDocument/2006/relationships/slide" Target="slide114.xml"/><Relationship Id="rId5" Type="http://schemas.microsoft.com/office/2007/relationships/hdphoto" Target="../media/hdphoto3.wdp"/><Relationship Id="rId10" Type="http://schemas.openxmlformats.org/officeDocument/2006/relationships/slide" Target="slide113.xml"/><Relationship Id="rId4" Type="http://schemas.openxmlformats.org/officeDocument/2006/relationships/image" Target="../media/image11.png"/><Relationship Id="rId9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Relationship Id="rId4" Type="http://schemas.microsoft.com/office/2007/relationships/hdphoto" Target="../media/hdphoto3.wdp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microsoft.com/office/2007/relationships/hdphoto" Target="../media/hdphoto3.wdp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slide" Target="slide9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hyperlink" Target="Text%20C_0.mp3" TargetMode="External"/><Relationship Id="rId4" Type="http://schemas.microsoft.com/office/2007/relationships/hdphoto" Target="../media/hdphoto3.wdp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" Target="slide145.xml"/><Relationship Id="rId3" Type="http://schemas.microsoft.com/office/2007/relationships/media" Target="../media/media25.mp3"/><Relationship Id="rId7" Type="http://schemas.openxmlformats.org/officeDocument/2006/relationships/image" Target="../media/image20.png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6" Type="http://schemas.openxmlformats.org/officeDocument/2006/relationships/slide" Target="slide144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8.xml"/><Relationship Id="rId10" Type="http://schemas.microsoft.com/office/2007/relationships/hdphoto" Target="../media/hdphoto3.wdp"/><Relationship Id="rId4" Type="http://schemas.openxmlformats.org/officeDocument/2006/relationships/audio" Target="../media/media25.mp3"/><Relationship Id="rId9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146.xml"/><Relationship Id="rId3" Type="http://schemas.microsoft.com/office/2007/relationships/media" Target="../media/media27.mp3"/><Relationship Id="rId7" Type="http://schemas.openxmlformats.org/officeDocument/2006/relationships/slideLayout" Target="../slideLayouts/slideLayout18.xml"/><Relationship Id="rId12" Type="http://schemas.openxmlformats.org/officeDocument/2006/relationships/slide" Target="slide148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6" Type="http://schemas.openxmlformats.org/officeDocument/2006/relationships/audio" Target="../media/media28.mp3"/><Relationship Id="rId11" Type="http://schemas.openxmlformats.org/officeDocument/2006/relationships/image" Target="../media/image20.png"/><Relationship Id="rId5" Type="http://schemas.microsoft.com/office/2007/relationships/media" Target="../media/media28.mp3"/><Relationship Id="rId10" Type="http://schemas.openxmlformats.org/officeDocument/2006/relationships/slide" Target="slide147.xml"/><Relationship Id="rId4" Type="http://schemas.openxmlformats.org/officeDocument/2006/relationships/audio" Target="../media/media27.mp3"/><Relationship Id="rId9" Type="http://schemas.microsoft.com/office/2007/relationships/hdphoto" Target="../media/hdphoto3.wdp"/><Relationship Id="rId1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slide" Target="slide150.xml"/><Relationship Id="rId3" Type="http://schemas.microsoft.com/office/2007/relationships/media" Target="../media/media30.mp3"/><Relationship Id="rId7" Type="http://schemas.microsoft.com/office/2007/relationships/hdphoto" Target="../media/hdphoto3.wdp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6" Type="http://schemas.openxmlformats.org/officeDocument/2006/relationships/image" Target="../media/image11.png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8.xml"/><Relationship Id="rId10" Type="http://schemas.openxmlformats.org/officeDocument/2006/relationships/slide" Target="slide149.xml"/><Relationship Id="rId4" Type="http://schemas.openxmlformats.org/officeDocument/2006/relationships/audio" Target="../media/media30.mp3"/><Relationship Id="rId9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153.xml"/><Relationship Id="rId13" Type="http://schemas.openxmlformats.org/officeDocument/2006/relationships/slide" Target="slide152.xml"/><Relationship Id="rId3" Type="http://schemas.microsoft.com/office/2007/relationships/media" Target="../media/media32.mp3"/><Relationship Id="rId7" Type="http://schemas.openxmlformats.org/officeDocument/2006/relationships/slideLayout" Target="../slideLayouts/slideLayout18.xml"/><Relationship Id="rId12" Type="http://schemas.openxmlformats.org/officeDocument/2006/relationships/slide" Target="slide15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6" Type="http://schemas.openxmlformats.org/officeDocument/2006/relationships/audio" Target="../media/media33.mp3"/><Relationship Id="rId11" Type="http://schemas.microsoft.com/office/2007/relationships/hdphoto" Target="../media/hdphoto3.wdp"/><Relationship Id="rId5" Type="http://schemas.microsoft.com/office/2007/relationships/media" Target="../media/media33.mp3"/><Relationship Id="rId10" Type="http://schemas.openxmlformats.org/officeDocument/2006/relationships/image" Target="../media/image11.png"/><Relationship Id="rId4" Type="http://schemas.openxmlformats.org/officeDocument/2006/relationships/audio" Target="../media/media32.mp3"/><Relationship Id="rId9" Type="http://schemas.openxmlformats.org/officeDocument/2006/relationships/image" Target="../media/image20.png"/><Relationship Id="rId1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audio" Target="../media/media37.mp3"/><Relationship Id="rId13" Type="http://schemas.openxmlformats.org/officeDocument/2006/relationships/image" Target="../media/image11.png"/><Relationship Id="rId3" Type="http://schemas.microsoft.com/office/2007/relationships/media" Target="../media/media35.mp3"/><Relationship Id="rId7" Type="http://schemas.microsoft.com/office/2007/relationships/media" Target="../media/media37.mp3"/><Relationship Id="rId12" Type="http://schemas.openxmlformats.org/officeDocument/2006/relationships/slide" Target="slide156.xml"/><Relationship Id="rId17" Type="http://schemas.openxmlformats.org/officeDocument/2006/relationships/image" Target="../media/image21.png"/><Relationship Id="rId2" Type="http://schemas.openxmlformats.org/officeDocument/2006/relationships/audio" Target="../media/media34.mp3"/><Relationship Id="rId16" Type="http://schemas.openxmlformats.org/officeDocument/2006/relationships/slide" Target="slide157.xml"/><Relationship Id="rId1" Type="http://schemas.microsoft.com/office/2007/relationships/media" Target="../media/media34.mp3"/><Relationship Id="rId6" Type="http://schemas.openxmlformats.org/officeDocument/2006/relationships/audio" Target="../media/media36.mp3"/><Relationship Id="rId11" Type="http://schemas.openxmlformats.org/officeDocument/2006/relationships/image" Target="../media/image20.png"/><Relationship Id="rId5" Type="http://schemas.microsoft.com/office/2007/relationships/media" Target="../media/media36.mp3"/><Relationship Id="rId15" Type="http://schemas.openxmlformats.org/officeDocument/2006/relationships/slide" Target="slide154.xml"/><Relationship Id="rId10" Type="http://schemas.openxmlformats.org/officeDocument/2006/relationships/slide" Target="slide155.xml"/><Relationship Id="rId4" Type="http://schemas.openxmlformats.org/officeDocument/2006/relationships/audio" Target="../media/media35.mp3"/><Relationship Id="rId9" Type="http://schemas.openxmlformats.org/officeDocument/2006/relationships/slideLayout" Target="../slideLayouts/slideLayout18.xml"/><Relationship Id="rId14" Type="http://schemas.microsoft.com/office/2007/relationships/hdphoto" Target="../media/hdphoto3.wdp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slide" Target="slide160.xml"/><Relationship Id="rId3" Type="http://schemas.microsoft.com/office/2007/relationships/media" Target="../media/media39.mp3"/><Relationship Id="rId7" Type="http://schemas.openxmlformats.org/officeDocument/2006/relationships/slideLayout" Target="../slideLayouts/slideLayout18.xml"/><Relationship Id="rId12" Type="http://schemas.openxmlformats.org/officeDocument/2006/relationships/slide" Target="slide158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6" Type="http://schemas.openxmlformats.org/officeDocument/2006/relationships/audio" Target="../media/media40.mp3"/><Relationship Id="rId11" Type="http://schemas.openxmlformats.org/officeDocument/2006/relationships/image" Target="../media/image20.png"/><Relationship Id="rId5" Type="http://schemas.microsoft.com/office/2007/relationships/media" Target="../media/media40.mp3"/><Relationship Id="rId10" Type="http://schemas.openxmlformats.org/officeDocument/2006/relationships/slide" Target="slide159.xml"/><Relationship Id="rId4" Type="http://schemas.openxmlformats.org/officeDocument/2006/relationships/audio" Target="../media/media39.mp3"/><Relationship Id="rId9" Type="http://schemas.microsoft.com/office/2007/relationships/hdphoto" Target="../media/hdphoto3.wdp"/><Relationship Id="rId1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" Target="slide162.xml"/><Relationship Id="rId3" Type="http://schemas.microsoft.com/office/2007/relationships/media" Target="../media/media42.mp3"/><Relationship Id="rId7" Type="http://schemas.openxmlformats.org/officeDocument/2006/relationships/image" Target="../media/image20.png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6" Type="http://schemas.openxmlformats.org/officeDocument/2006/relationships/slide" Target="slide161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8.xml"/><Relationship Id="rId10" Type="http://schemas.microsoft.com/office/2007/relationships/hdphoto" Target="../media/hdphoto3.wdp"/><Relationship Id="rId4" Type="http://schemas.openxmlformats.org/officeDocument/2006/relationships/audio" Target="../media/media42.mp3"/><Relationship Id="rId9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8.xml"/><Relationship Id="rId7" Type="http://schemas.openxmlformats.org/officeDocument/2006/relationships/slide" Target="slide163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6" Type="http://schemas.openxmlformats.org/officeDocument/2006/relationships/image" Target="../media/image13.png"/><Relationship Id="rId5" Type="http://schemas.microsoft.com/office/2007/relationships/hdphoto" Target="../media/hdphoto3.wdp"/><Relationship Id="rId4" Type="http://schemas.openxmlformats.org/officeDocument/2006/relationships/image" Target="../media/image11.png"/><Relationship Id="rId9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microsoft.com/office/2007/relationships/hdphoto" Target="../media/hdphoto3.wdp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Relationship Id="rId4" Type="http://schemas.microsoft.com/office/2007/relationships/hdphoto" Target="../media/hdphoto3.wdp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13.png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3.png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5.png"/><Relationship Id="rId4" Type="http://schemas.openxmlformats.org/officeDocument/2006/relationships/slide" Target="slide83.xml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7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8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Relationship Id="rId4" Type="http://schemas.openxmlformats.org/officeDocument/2006/relationships/slide" Target="slide78.xml"/></Relationships>
</file>

<file path=ppt/slides/_rels/slide8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Relationship Id="rId5" Type="http://schemas.openxmlformats.org/officeDocument/2006/relationships/slide" Target="slide78.xml"/><Relationship Id="rId4" Type="http://schemas.openxmlformats.org/officeDocument/2006/relationships/image" Target="../media/image1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8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4" Type="http://schemas.openxmlformats.org/officeDocument/2006/relationships/slide" Target="slide4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Relationship Id="rId4" Type="http://schemas.openxmlformats.org/officeDocument/2006/relationships/slide" Target="slide4.xml"/></Relationships>
</file>

<file path=ppt/slides/_rels/slide8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Relationship Id="rId5" Type="http://schemas.openxmlformats.org/officeDocument/2006/relationships/slide" Target="slide4.xml"/><Relationship Id="rId4" Type="http://schemas.openxmlformats.org/officeDocument/2006/relationships/image" Target="../media/image11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3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3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31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6" Type="http://schemas.microsoft.com/office/2007/relationships/hdphoto" Target="../media/hdphoto4.wdp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6.png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10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10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4.png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6" Type="http://schemas.openxmlformats.org/officeDocument/2006/relationships/slide" Target="slide12.xml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32.xml"/><Relationship Id="rId7" Type="http://schemas.openxmlformats.org/officeDocument/2006/relationships/slide" Target="slide13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13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3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12.xml"/><Relationship Id="rId1" Type="http://schemas.openxmlformats.org/officeDocument/2006/relationships/slideLayout" Target="../slideLayouts/slideLayout37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53.mp3"/><Relationship Id="rId1" Type="http://schemas.microsoft.com/office/2007/relationships/media" Target="../media/media53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6.png"/><Relationship Id="rId2" Type="http://schemas.openxmlformats.org/officeDocument/2006/relationships/audio" Target="../media/media54.mp3"/><Relationship Id="rId1" Type="http://schemas.microsoft.com/office/2007/relationships/media" Target="../media/media54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6.png"/><Relationship Id="rId2" Type="http://schemas.openxmlformats.org/officeDocument/2006/relationships/audio" Target="../media/media55.mp3"/><Relationship Id="rId1" Type="http://schemas.microsoft.com/office/2007/relationships/media" Target="../media/media55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4.png"/><Relationship Id="rId2" Type="http://schemas.openxmlformats.org/officeDocument/2006/relationships/audio" Target="../media/media56.mp3"/><Relationship Id="rId1" Type="http://schemas.microsoft.com/office/2007/relationships/media" Target="../media/media56.mp3"/><Relationship Id="rId6" Type="http://schemas.openxmlformats.org/officeDocument/2006/relationships/slide" Target="slide30.xml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slide" Target="slide31.xml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57.mp3"/><Relationship Id="rId1" Type="http://schemas.microsoft.com/office/2007/relationships/media" Target="../media/media57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32.xml"/><Relationship Id="rId7" Type="http://schemas.openxmlformats.org/officeDocument/2006/relationships/slide" Target="slide32.xml"/><Relationship Id="rId2" Type="http://schemas.openxmlformats.org/officeDocument/2006/relationships/audio" Target="../media/media58.mp3"/><Relationship Id="rId1" Type="http://schemas.microsoft.com/office/2007/relationships/media" Target="../media/media58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59.mp3"/><Relationship Id="rId1" Type="http://schemas.microsoft.com/office/2007/relationships/media" Target="../media/media59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32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60.mp3"/><Relationship Id="rId1" Type="http://schemas.microsoft.com/office/2007/relationships/media" Target="../media/media60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32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6.png"/><Relationship Id="rId2" Type="http://schemas.openxmlformats.org/officeDocument/2006/relationships/audio" Target="../media/media61.mp3"/><Relationship Id="rId1" Type="http://schemas.microsoft.com/office/2007/relationships/media" Target="../media/media61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slideLayout" Target="../slideLayouts/slideLayout32.xml"/><Relationship Id="rId7" Type="http://schemas.openxmlformats.org/officeDocument/2006/relationships/slide" Target="slide35.xml"/><Relationship Id="rId2" Type="http://schemas.openxmlformats.org/officeDocument/2006/relationships/audio" Target="../media/media62.mp3"/><Relationship Id="rId1" Type="http://schemas.microsoft.com/office/2007/relationships/media" Target="../media/media62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26.png"/><Relationship Id="rId2" Type="http://schemas.openxmlformats.org/officeDocument/2006/relationships/audio" Target="../media/media63.mp3"/><Relationship Id="rId1" Type="http://schemas.microsoft.com/office/2007/relationships/media" Target="../media/media63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35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32.xml"/><Relationship Id="rId7" Type="http://schemas.openxmlformats.org/officeDocument/2006/relationships/image" Target="../media/image26.png"/><Relationship Id="rId2" Type="http://schemas.openxmlformats.org/officeDocument/2006/relationships/audio" Target="../media/media64.mp3"/><Relationship Id="rId1" Type="http://schemas.microsoft.com/office/2007/relationships/media" Target="../media/media64.mp3"/><Relationship Id="rId6" Type="http://schemas.openxmlformats.org/officeDocument/2006/relationships/image" Target="../media/image24.png"/><Relationship Id="rId5" Type="http://schemas.microsoft.com/office/2007/relationships/hdphoto" Target="../media/hdphoto4.wdp"/><Relationship Id="rId4" Type="http://schemas.openxmlformats.org/officeDocument/2006/relationships/image" Target="../media/image25.png"/><Relationship Id="rId9" Type="http://schemas.openxmlformats.org/officeDocument/2006/relationships/slide" Target="slide3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38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29.xml"/><Relationship Id="rId1" Type="http://schemas.openxmlformats.org/officeDocument/2006/relationships/slideLayout" Target="../slideLayouts/slideLayout38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" Target="slide33.xml"/><Relationship Id="rId1" Type="http://schemas.openxmlformats.org/officeDocument/2006/relationships/slideLayout" Target="../slideLayouts/slideLayout3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4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4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4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4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4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4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4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4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4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4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4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40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4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4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4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41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4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4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4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40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4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4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4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4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4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4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4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4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4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4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4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4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4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4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4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4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4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4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" descr="C:\Users\senj\Desktop\按钮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36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2" name="文本框 41">
            <a:hlinkClick r:id="rId6" action="ppaction://hlinksldjump"/>
          </p:cNvPr>
          <p:cNvSpPr txBox="1"/>
          <p:nvPr/>
        </p:nvSpPr>
        <p:spPr>
          <a:xfrm>
            <a:off x="1649507" y="1271019"/>
            <a:ext cx="2821606" cy="4298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-US" altLang="zh-CN" sz="3000" b="1" dirty="0">
                <a:solidFill>
                  <a:srgbClr val="98273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Learning Goals</a:t>
            </a:r>
            <a:endParaRPr lang="zh-CN" altLang="en-US" sz="3000" spc="-30" dirty="0">
              <a:solidFill>
                <a:srgbClr val="982738"/>
              </a:solidFill>
              <a:latin typeface="Cambria" panose="020405030504060302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649506" y="2000717"/>
            <a:ext cx="1122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Lead-in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28" name="文本框 27">
            <a:hlinkClick r:id="rId7" action="ppaction://hlinksldjump"/>
          </p:cNvPr>
          <p:cNvSpPr txBox="1"/>
          <p:nvPr/>
        </p:nvSpPr>
        <p:spPr>
          <a:xfrm>
            <a:off x="2369085" y="2445567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Task 1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29" name="文本框 28">
            <a:hlinkClick r:id="rId8" action="ppaction://hlinksldjump"/>
          </p:cNvPr>
          <p:cNvSpPr txBox="1"/>
          <p:nvPr/>
        </p:nvSpPr>
        <p:spPr>
          <a:xfrm>
            <a:off x="2369085" y="2890417"/>
            <a:ext cx="942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Task 2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0" name="文本框 29">
            <a:hlinkClick r:id="rId9" action="ppaction://hlinksldjump"/>
          </p:cNvPr>
          <p:cNvSpPr txBox="1"/>
          <p:nvPr/>
        </p:nvSpPr>
        <p:spPr>
          <a:xfrm>
            <a:off x="2369085" y="3335267"/>
            <a:ext cx="1866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Optional Task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649507" y="3780117"/>
            <a:ext cx="233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Reading to Focus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32" name="文本框 31">
            <a:hlinkClick r:id="rId10" action="ppaction://hlinksldjump"/>
          </p:cNvPr>
          <p:cNvSpPr txBox="1"/>
          <p:nvPr/>
        </p:nvSpPr>
        <p:spPr>
          <a:xfrm>
            <a:off x="2369085" y="4224967"/>
            <a:ext cx="940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Text A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3" name="文本框 32">
            <a:hlinkClick r:id="rId11" action="ppaction://hlinksldjump"/>
          </p:cNvPr>
          <p:cNvSpPr txBox="1"/>
          <p:nvPr/>
        </p:nvSpPr>
        <p:spPr>
          <a:xfrm>
            <a:off x="2369085" y="4669817"/>
            <a:ext cx="3236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Reading Comprehension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4" name="文本框 33">
            <a:hlinkClick r:id="rId12" action="ppaction://hlinksldjump"/>
          </p:cNvPr>
          <p:cNvSpPr txBox="1"/>
          <p:nvPr/>
        </p:nvSpPr>
        <p:spPr>
          <a:xfrm>
            <a:off x="2369085" y="5114667"/>
            <a:ext cx="3170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Language Enhancement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7" name="文本框 36">
            <a:hlinkClick r:id="rId13" action="ppaction://hlinksldjump"/>
          </p:cNvPr>
          <p:cNvSpPr txBox="1"/>
          <p:nvPr/>
        </p:nvSpPr>
        <p:spPr>
          <a:xfrm>
            <a:off x="2369085" y="5559515"/>
            <a:ext cx="22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Critical Thinking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AA2B886F-70B6-6059-FC6B-6E1669D041B5}"/>
              </a:ext>
            </a:extLst>
          </p:cNvPr>
          <p:cNvSpPr/>
          <p:nvPr/>
        </p:nvSpPr>
        <p:spPr>
          <a:xfrm rot="5400000">
            <a:off x="1415197" y="1349958"/>
            <a:ext cx="251376" cy="186256"/>
          </a:xfrm>
          <a:prstGeom prst="triangle">
            <a:avLst/>
          </a:prstGeom>
          <a:solidFill>
            <a:srgbClr val="9827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" descr="C:\Users\senj\Desktop\按钮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3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26" name="文本框 25">
            <a:hlinkClick r:id="rId6" action="ppaction://hlinksldjump"/>
          </p:cNvPr>
          <p:cNvSpPr txBox="1"/>
          <p:nvPr/>
        </p:nvSpPr>
        <p:spPr>
          <a:xfrm>
            <a:off x="1649506" y="5340658"/>
            <a:ext cx="3118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Reading to Understand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27" name="文本框 26">
            <a:hlinkClick r:id="rId7" action="ppaction://hlinksldjump"/>
          </p:cNvPr>
          <p:cNvSpPr txBox="1"/>
          <p:nvPr/>
        </p:nvSpPr>
        <p:spPr>
          <a:xfrm>
            <a:off x="1649506" y="5766681"/>
            <a:ext cx="1492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Skill Focus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28" name="文本框 27">
            <a:hlinkClick r:id="rId8" action="ppaction://hlinksldjump"/>
          </p:cNvPr>
          <p:cNvSpPr txBox="1"/>
          <p:nvPr/>
        </p:nvSpPr>
        <p:spPr>
          <a:xfrm>
            <a:off x="1649506" y="6192705"/>
            <a:ext cx="2926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Telling China’s Stories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649506" y="3210543"/>
            <a:ext cx="2705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Reading to Examine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30" name="文本框 29">
            <a:hlinkClick r:id="rId9" action="ppaction://hlinksldjump"/>
          </p:cNvPr>
          <p:cNvSpPr txBox="1"/>
          <p:nvPr/>
        </p:nvSpPr>
        <p:spPr>
          <a:xfrm>
            <a:off x="2369084" y="3636566"/>
            <a:ext cx="926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Text C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1" name="文本框 30">
            <a:hlinkClick r:id="rId10" action="ppaction://hlinksldjump"/>
          </p:cNvPr>
          <p:cNvSpPr txBox="1"/>
          <p:nvPr/>
        </p:nvSpPr>
        <p:spPr>
          <a:xfrm>
            <a:off x="2369084" y="4062589"/>
            <a:ext cx="3236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Reading Comprehension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2" name="文本框 31">
            <a:hlinkClick r:id="rId11" action="ppaction://hlinksldjump"/>
          </p:cNvPr>
          <p:cNvSpPr txBox="1"/>
          <p:nvPr/>
        </p:nvSpPr>
        <p:spPr>
          <a:xfrm>
            <a:off x="2369084" y="4488612"/>
            <a:ext cx="3170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Language Enhancement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33" name="文本框 32">
            <a:hlinkClick r:id="rId12" action="ppaction://hlinksldjump"/>
          </p:cNvPr>
          <p:cNvSpPr txBox="1"/>
          <p:nvPr/>
        </p:nvSpPr>
        <p:spPr>
          <a:xfrm>
            <a:off x="2369084" y="4914635"/>
            <a:ext cx="22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Critical Thinking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49506" y="1080428"/>
            <a:ext cx="2339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C476D"/>
                </a:solidFill>
              </a:rPr>
              <a:t>Reading to Focus</a:t>
            </a:r>
            <a:endParaRPr lang="zh-CN" altLang="zh-CN" sz="2400" dirty="0">
              <a:solidFill>
                <a:srgbClr val="0C476D"/>
              </a:solidFill>
            </a:endParaRPr>
          </a:p>
        </p:txBody>
      </p:sp>
      <p:sp>
        <p:nvSpPr>
          <p:cNvPr id="14" name="文本框 13">
            <a:hlinkClick r:id="rId13" action="ppaction://hlinksldjump"/>
          </p:cNvPr>
          <p:cNvSpPr txBox="1"/>
          <p:nvPr/>
        </p:nvSpPr>
        <p:spPr>
          <a:xfrm>
            <a:off x="2369084" y="1506451"/>
            <a:ext cx="940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Text B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5" name="文本框 14">
            <a:hlinkClick r:id="rId14" action="ppaction://hlinksldjump"/>
          </p:cNvPr>
          <p:cNvSpPr txBox="1"/>
          <p:nvPr/>
        </p:nvSpPr>
        <p:spPr>
          <a:xfrm>
            <a:off x="2369084" y="1932474"/>
            <a:ext cx="3236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Reading Comprehension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6" name="文本框 15">
            <a:hlinkClick r:id="rId15" action="ppaction://hlinksldjump"/>
          </p:cNvPr>
          <p:cNvSpPr txBox="1"/>
          <p:nvPr/>
        </p:nvSpPr>
        <p:spPr>
          <a:xfrm>
            <a:off x="2369084" y="2358497"/>
            <a:ext cx="3170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Language Enhancement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  <p:sp>
        <p:nvSpPr>
          <p:cNvPr id="17" name="文本框 16">
            <a:hlinkClick r:id="rId16" action="ppaction://hlinksldjump"/>
          </p:cNvPr>
          <p:cNvSpPr txBox="1"/>
          <p:nvPr/>
        </p:nvSpPr>
        <p:spPr>
          <a:xfrm>
            <a:off x="2369084" y="2784520"/>
            <a:ext cx="2238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Critical Thinking</a:t>
            </a:r>
            <a:endParaRPr lang="zh-CN" altLang="zh-CN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92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0000" y="1140283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Watch the video and answer the following questions.</a:t>
            </a:r>
          </a:p>
        </p:txBody>
      </p:sp>
      <p:pic>
        <p:nvPicPr>
          <p:cNvPr id="14" name="图片 13" descr="未命名-3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240" y="1285558"/>
            <a:ext cx="252000" cy="2920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66165" y="2072905"/>
            <a:ext cx="485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0400" y="2072905"/>
            <a:ext cx="82319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-60" dirty="0"/>
              <a:t>Why do the Chinese people have fish in their New Year’s Eve dinner?</a:t>
            </a:r>
            <a:endParaRPr lang="en-US" altLang="zh-CN" sz="2400" dirty="0"/>
          </a:p>
          <a:p>
            <a:r>
              <a:rPr lang="en-US" altLang="zh-CN" sz="2400" spc="-10" dirty="0"/>
              <a:t>_____________________________________________________</a:t>
            </a:r>
          </a:p>
          <a:p>
            <a:r>
              <a:rPr lang="en-US" altLang="zh-CN" sz="2400" spc="-10" dirty="0"/>
              <a:t>_____________________________________________________</a:t>
            </a:r>
          </a:p>
          <a:p>
            <a:endParaRPr lang="en-US" altLang="zh-CN" sz="2400" dirty="0"/>
          </a:p>
          <a:p>
            <a:r>
              <a:rPr lang="en-US" altLang="zh-CN" sz="2400" dirty="0"/>
              <a:t>T</a:t>
            </a:r>
            <a:r>
              <a:rPr lang="en-US" altLang="zh-CN" sz="2400" spc="50" dirty="0"/>
              <a:t>he video has presented</a:t>
            </a:r>
            <a:r>
              <a:rPr lang="en-US" altLang="zh-CN" sz="2400" spc="60" dirty="0"/>
              <a:t> several typical customs of the Spring </a:t>
            </a:r>
            <a:r>
              <a:rPr lang="en-US" altLang="zh-CN" sz="2400" dirty="0"/>
              <a:t>Festival. Can you list at least five of them?</a:t>
            </a:r>
          </a:p>
          <a:p>
            <a:r>
              <a:rPr lang="en-US" altLang="zh-CN" sz="2400" spc="-10" dirty="0"/>
              <a:t>_____________________________________________________</a:t>
            </a:r>
          </a:p>
          <a:p>
            <a:r>
              <a:rPr lang="en-US" altLang="zh-CN" sz="2400" spc="-10" dirty="0"/>
              <a:t>_____________________________________________________</a:t>
            </a:r>
          </a:p>
          <a:p>
            <a:r>
              <a:rPr lang="en-US" altLang="zh-CN" sz="2400" spc="-10" dirty="0"/>
              <a:t>_____________________________________________________</a:t>
            </a:r>
            <a:endParaRPr lang="en-US" altLang="zh-CN" sz="2400" dirty="0"/>
          </a:p>
          <a:p>
            <a:r>
              <a:rPr lang="en-US" altLang="zh-CN" sz="2400" spc="-10" dirty="0"/>
              <a:t>_____________________________________________________</a:t>
            </a:r>
            <a:endParaRPr lang="en-US" altLang="zh-CN" sz="2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660400" y="2402405"/>
            <a:ext cx="8159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r>
              <a:rPr lang="en-US" altLang="zh-CN" sz="2400" spc="70" dirty="0">
                <a:solidFill>
                  <a:srgbClr val="FF0000"/>
                </a:solidFill>
              </a:rPr>
              <a:t>ecause “fish” in Chinese sounds similar to the character for </a:t>
            </a:r>
            <a:r>
              <a:rPr lang="en-US" altLang="zh-CN" sz="2400" dirty="0">
                <a:solidFill>
                  <a:srgbClr val="FF0000"/>
                </a:solidFill>
              </a:rPr>
              <a:t>“prosperity”, symbolizing an abundant and comfortable life.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60400" y="4226452"/>
            <a:ext cx="81598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W</a:t>
            </a:r>
            <a:r>
              <a:rPr lang="en-US" altLang="zh-CN" sz="2400" spc="20" dirty="0">
                <a:solidFill>
                  <a:srgbClr val="FF0000"/>
                </a:solidFill>
              </a:rPr>
              <a:t>orshi</a:t>
            </a:r>
            <a:r>
              <a:rPr lang="en-US" altLang="zh-CN" sz="2400" spc="30" dirty="0">
                <a:solidFill>
                  <a:srgbClr val="FF0000"/>
                </a:solidFill>
              </a:rPr>
              <a:t>ping the Kitchen God; House cleaning; Shopping; Put up </a:t>
            </a:r>
            <a:r>
              <a:rPr lang="en-US" altLang="zh-CN" sz="2400" dirty="0">
                <a:solidFill>
                  <a:srgbClr val="FF0000"/>
                </a:solidFill>
              </a:rPr>
              <a:t>S</a:t>
            </a:r>
            <a:r>
              <a:rPr lang="en-US" altLang="zh-CN" sz="2400" spc="-30" dirty="0">
                <a:solidFill>
                  <a:srgbClr val="FF0000"/>
                </a:solidFill>
              </a:rPr>
              <a:t>pring Festival </a:t>
            </a:r>
            <a:r>
              <a:rPr lang="en-US" altLang="zh-CN" sz="2400" spc="-20" dirty="0">
                <a:solidFill>
                  <a:srgbClr val="FF0000"/>
                </a:solidFill>
              </a:rPr>
              <a:t>couplets; Staying up late on New Year’s Eve; Having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CN" sz="2400" spc="-30" dirty="0">
                <a:solidFill>
                  <a:srgbClr val="FF0000"/>
                </a:solidFill>
              </a:rPr>
              <a:t> New Year’s Eve dinner; Watching the Spring Festival Gala; Setting </a:t>
            </a:r>
            <a:r>
              <a:rPr lang="en-US" altLang="zh-CN" sz="2400" dirty="0">
                <a:solidFill>
                  <a:srgbClr val="FF0000"/>
                </a:solidFill>
              </a:rPr>
              <a:t>off fireworks and firecrackers, etc.</a:t>
            </a:r>
          </a:p>
        </p:txBody>
      </p:sp>
      <p:sp>
        <p:nvSpPr>
          <p:cNvPr id="11" name="矩形 10"/>
          <p:cNvSpPr/>
          <p:nvPr/>
        </p:nvSpPr>
        <p:spPr>
          <a:xfrm>
            <a:off x="743616" y="2420931"/>
            <a:ext cx="8004673" cy="81247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50243" y="4272448"/>
            <a:ext cx="8004673" cy="152366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 descr="C:\Users\senj\Desktop\按钮.png">
            <a:extLst>
              <a:ext uri="{FF2B5EF4-FFF2-40B4-BE49-F238E27FC236}">
                <a16:creationId xmlns:a16="http://schemas.microsoft.com/office/drawing/2014/main" id="{8139937E-D77A-D7E0-3E50-F9AEF671C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5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87E14A8-28E7-AD05-9685-1DE5568BC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2" descr="C:\Users\senj\Desktop\新建文件夹\外链视频.png">
            <a:hlinkClick r:id="rId7" action="ppaction://hlinkfile"/>
            <a:extLst>
              <a:ext uri="{FF2B5EF4-FFF2-40B4-BE49-F238E27FC236}">
                <a16:creationId xmlns:a16="http://schemas.microsoft.com/office/drawing/2014/main" id="{BE43EDE3-4F0A-F071-FCF8-F3FF8D44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416220" y="1253648"/>
            <a:ext cx="324000" cy="3240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5" grpId="0"/>
      <p:bldP spid="25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366165" y="1140283"/>
            <a:ext cx="485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0400" y="1140283"/>
            <a:ext cx="82319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r>
              <a:rPr lang="en-US" altLang="zh-CN" sz="2400" spc="30" dirty="0"/>
              <a:t>esides what have been mentioned, do you have other ways to </a:t>
            </a:r>
            <a:r>
              <a:rPr lang="en-US" altLang="zh-CN" sz="2400" dirty="0"/>
              <a:t>c</a:t>
            </a:r>
            <a:r>
              <a:rPr lang="en-US" altLang="zh-CN" sz="2400" spc="40" dirty="0"/>
              <a:t>elebrate the Spring Festival? </a:t>
            </a:r>
            <a:r>
              <a:rPr lang="en-US" altLang="zh-CN" sz="2400" spc="50" dirty="0"/>
              <a:t>Specific and personal stories are </a:t>
            </a:r>
            <a:r>
              <a:rPr lang="en-US" altLang="zh-CN" sz="2400" dirty="0"/>
              <a:t>welcomed.</a:t>
            </a:r>
          </a:p>
          <a:p>
            <a:r>
              <a:rPr lang="en-US" altLang="zh-CN" sz="2400" spc="-10" dirty="0"/>
              <a:t>_____________________________________________________</a:t>
            </a:r>
          </a:p>
          <a:p>
            <a:endParaRPr lang="en-US" altLang="zh-CN" sz="2400" dirty="0"/>
          </a:p>
          <a:p>
            <a:r>
              <a:rPr lang="en-US" altLang="zh-CN" sz="2400" dirty="0"/>
              <a:t>W</a:t>
            </a:r>
            <a:r>
              <a:rPr lang="en-US" altLang="zh-CN" sz="2400" spc="60" dirty="0"/>
              <a:t>ith the popularization of technology, new ways to celebrate</a:t>
            </a:r>
          </a:p>
          <a:p>
            <a:r>
              <a:rPr lang="en-US" altLang="zh-CN" sz="2400" dirty="0"/>
              <a:t>traditional festivals have come up. Could you name a few?</a:t>
            </a:r>
          </a:p>
          <a:p>
            <a:r>
              <a:rPr lang="en-US" altLang="zh-CN" sz="2400" spc="-10" dirty="0"/>
              <a:t>_____________________________________________________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60400" y="2195862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Open-ended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60400" y="3656730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Open-ended</a:t>
            </a:r>
          </a:p>
        </p:txBody>
      </p:sp>
      <p:sp>
        <p:nvSpPr>
          <p:cNvPr id="11" name="矩形 10"/>
          <p:cNvSpPr/>
          <p:nvPr/>
        </p:nvSpPr>
        <p:spPr>
          <a:xfrm>
            <a:off x="743616" y="2204916"/>
            <a:ext cx="8004673" cy="4526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50243" y="3673972"/>
            <a:ext cx="8004673" cy="46166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809D324-7904-AAAF-50E3-59BF40B51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5" name="Picture 3" descr="C:\Users\senj\Desktop\按钮.png">
            <a:extLst>
              <a:ext uri="{FF2B5EF4-FFF2-40B4-BE49-F238E27FC236}">
                <a16:creationId xmlns:a16="http://schemas.microsoft.com/office/drawing/2014/main" id="{3F92079E-F895-45D7-96D2-38659B251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765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24" grpId="0"/>
      <p:bldP spid="24" grpId="1"/>
      <p:bldP spid="25" grpId="0"/>
      <p:bldP spid="2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360000" y="1139169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altLang="zh-CN" sz="2400" spc="20" dirty="0">
                <a:latin typeface="Cambria" panose="02040503050406030204" pitchFamily="18" charset="0"/>
                <a:ea typeface="Cambria" panose="02040503050406030204" pitchFamily="18" charset="0"/>
              </a:rPr>
              <a:t>ead the following English version of an ancient Chinese poem.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ry to translate it back into</a:t>
            </a:r>
            <a:r>
              <a:rPr lang="en-US" altLang="zh-CN" sz="2400" spc="40" dirty="0">
                <a:latin typeface="Cambria" panose="02040503050406030204" pitchFamily="18" charset="0"/>
                <a:ea typeface="Cambria" panose="02040503050406030204" pitchFamily="18" charset="0"/>
              </a:rPr>
              <a:t> Chinese and figure out the original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version.</a:t>
            </a:r>
            <a:endParaRPr lang="zh-CN" altLang="en-US" sz="2400" dirty="0">
              <a:solidFill>
                <a:srgbClr val="FF0000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60400" y="2219365"/>
            <a:ext cx="823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The Lunar New Year’s Day</a:t>
            </a:r>
          </a:p>
          <a:p>
            <a:pPr algn="ctr"/>
            <a:r>
              <a:rPr lang="en-US" altLang="zh-CN" sz="2400" dirty="0"/>
              <a:t>Wang </a:t>
            </a:r>
            <a:r>
              <a:rPr lang="en-US" altLang="zh-CN" sz="2400" dirty="0" err="1"/>
              <a:t>Anshi</a:t>
            </a:r>
            <a:endParaRPr lang="en-US" altLang="zh-CN" sz="2400" dirty="0"/>
          </a:p>
          <a:p>
            <a:pPr algn="ctr"/>
            <a:r>
              <a:rPr lang="en-US" altLang="zh-CN" sz="2400" i="1" dirty="0"/>
              <a:t>With crackers’ cracking noise the old year passed away,</a:t>
            </a:r>
          </a:p>
          <a:p>
            <a:pPr algn="ctr"/>
            <a:r>
              <a:rPr lang="en-US" altLang="zh-CN" sz="2400" i="1" dirty="0"/>
              <a:t>The vernal breeze brings us warm wine and a warm spring day.</a:t>
            </a:r>
          </a:p>
          <a:p>
            <a:pPr algn="ctr"/>
            <a:r>
              <a:rPr lang="en-US" altLang="zh-CN" sz="2400" i="1" dirty="0"/>
              <a:t>The rising sun sheds light on doors of each household,</a:t>
            </a:r>
          </a:p>
          <a:p>
            <a:pPr algn="ctr"/>
            <a:r>
              <a:rPr lang="en-US" altLang="zh-CN" sz="2400" i="1" dirty="0"/>
              <a:t>New peach-wood charms are put up to replace the old.</a:t>
            </a:r>
          </a:p>
          <a:p>
            <a:pPr algn="r"/>
            <a:r>
              <a:rPr lang="en-US" altLang="zh-CN" sz="2400" dirty="0"/>
              <a:t>(Translated by Xu </a:t>
            </a:r>
            <a:r>
              <a:rPr lang="en-US" altLang="zh-CN" sz="2400" dirty="0" err="1"/>
              <a:t>Yuanchong</a:t>
            </a:r>
            <a:r>
              <a:rPr lang="en-US" altLang="zh-CN" sz="2400" dirty="0"/>
              <a:t>)</a:t>
            </a:r>
          </a:p>
        </p:txBody>
      </p:sp>
      <p:pic>
        <p:nvPicPr>
          <p:cNvPr id="20" name="钥匙2" descr="C:\Users\senj\Desktop\新建文件夹\答案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139" y="1218624"/>
            <a:ext cx="324000" cy="324000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3248561" y="4375866"/>
            <a:ext cx="26468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元日</a:t>
            </a: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王安石</a:t>
            </a: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爆竹声中一岁除，</a:t>
            </a: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春风送暖入屠苏。</a:t>
            </a: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千门万户曈曈日，</a:t>
            </a:r>
          </a:p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总把新桃换旧符。</a:t>
            </a:r>
          </a:p>
        </p:txBody>
      </p:sp>
      <p:sp>
        <p:nvSpPr>
          <p:cNvPr id="12" name="矩形 11"/>
          <p:cNvSpPr/>
          <p:nvPr/>
        </p:nvSpPr>
        <p:spPr>
          <a:xfrm>
            <a:off x="3316748" y="4437778"/>
            <a:ext cx="2335328" cy="224641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hlinkClick r:id="rId3" action="ppaction://hlinksldjump"/>
            <a:extLst>
              <a:ext uri="{FF2B5EF4-FFF2-40B4-BE49-F238E27FC236}">
                <a16:creationId xmlns:a16="http://schemas.microsoft.com/office/drawing/2014/main" id="{97757A75-72FA-BB73-9851-F9E55F87CB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110" y="2330789"/>
            <a:ext cx="23904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82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60000" y="1139169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Watch the video and answer the following questions.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66165" y="1851759"/>
            <a:ext cx="4859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Cambria" panose="02040503050406030204" pitchFamily="18" charset="0"/>
                <a:cs typeface="Times New Roman" panose="02020603050405020304" pitchFamily="18" charset="0"/>
              </a:rPr>
              <a:t>3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00" y="1851759"/>
            <a:ext cx="8231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20" dirty="0"/>
              <a:t>To protect the environment, people now turn to more eco-friendly</a:t>
            </a:r>
            <a:r>
              <a:rPr lang="en-US" altLang="zh-CN" sz="2400" dirty="0"/>
              <a:t> </a:t>
            </a:r>
            <a:r>
              <a:rPr lang="en-US" altLang="zh-CN" sz="2400" spc="50" dirty="0"/>
              <a:t>ways to show respect to their ancestors and even hold</a:t>
            </a:r>
            <a:r>
              <a:rPr lang="en-US" altLang="zh-CN" sz="2400" dirty="0"/>
              <a:t> ______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__________.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endParaRPr lang="en-US" altLang="zh-CN" sz="2400" dirty="0"/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 dirty="0"/>
              <a:t>Which of the following is not a way how the Chinese people celebrate</a:t>
            </a:r>
            <a:r>
              <a:rPr lang="en-US" altLang="zh-CN" sz="2400" dirty="0"/>
              <a:t> Tomb Sweeping Day?   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A. Tomb sweeping.           B. Eating hot food.          C. Spring outing. 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endParaRPr lang="en-US" altLang="zh-CN" sz="2400" dirty="0"/>
          </a:p>
          <a:p>
            <a:pPr marR="0" lvl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______ made of glutinous rice and red beans, is among the most popular in Qingming festival. 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宋体" panose="02010600030101010101" pitchFamily="2" charset="-122"/>
              <a:buAutoNum type="alphaUcPeriod"/>
            </a:pPr>
            <a:r>
              <a:rPr lang="en-US" altLang="zh-CN" sz="2400" dirty="0"/>
              <a:t>Qingtuan.                      B. Cold pancakes.             C. </a:t>
            </a:r>
            <a:r>
              <a:rPr lang="en-US" altLang="zh-CN" sz="2400" dirty="0" err="1"/>
              <a:t>Sanzi</a:t>
            </a:r>
            <a:r>
              <a:rPr lang="en-US" altLang="zh-CN" sz="2400" dirty="0"/>
              <a:t>.</a:t>
            </a:r>
          </a:p>
        </p:txBody>
      </p:sp>
      <p:pic>
        <p:nvPicPr>
          <p:cNvPr id="8" name="选择1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80272" y="4121756"/>
            <a:ext cx="459698" cy="361192"/>
          </a:xfrm>
          <a:prstGeom prst="rect">
            <a:avLst/>
          </a:prstGeom>
        </p:spPr>
      </p:pic>
      <p:pic>
        <p:nvPicPr>
          <p:cNvPr id="10" name="Picture 2" descr="C:\Users\senj\Desktop\新建文件夹\外链视频.png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44215" y="1183698"/>
            <a:ext cx="324000" cy="324000"/>
          </a:xfrm>
          <a:prstGeom prst="rect">
            <a:avLst/>
          </a:prstGeom>
          <a:noFill/>
        </p:spPr>
      </p:pic>
      <p:pic>
        <p:nvPicPr>
          <p:cNvPr id="11" name="选择2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8442" y="5568933"/>
            <a:ext cx="459698" cy="36119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568098" y="3341361"/>
            <a:ext cx="8321903" cy="122208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84314" y="4869100"/>
            <a:ext cx="8321903" cy="106102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9DB01AD-FB13-F66E-8C31-1BB24C82C955}"/>
              </a:ext>
            </a:extLst>
          </p:cNvPr>
          <p:cNvGrpSpPr/>
          <p:nvPr/>
        </p:nvGrpSpPr>
        <p:grpSpPr>
          <a:xfrm>
            <a:off x="661829" y="2179863"/>
            <a:ext cx="8144388" cy="823122"/>
            <a:chOff x="661829" y="2179863"/>
            <a:chExt cx="8144388" cy="82312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721907E4-3FBF-FDF5-6949-7FA96C82D247}"/>
                </a:ext>
              </a:extLst>
            </p:cNvPr>
            <p:cNvSpPr txBox="1"/>
            <p:nvPr/>
          </p:nvSpPr>
          <p:spPr>
            <a:xfrm>
              <a:off x="661829" y="2541320"/>
              <a:ext cx="16393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FF0000"/>
                  </a:solidFill>
                </a:rPr>
                <a:t>ceremonies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788F7FA2-1471-4537-F9FF-7D23383086AD}"/>
                </a:ext>
              </a:extLst>
            </p:cNvPr>
            <p:cNvSpPr txBox="1"/>
            <p:nvPr/>
          </p:nvSpPr>
          <p:spPr>
            <a:xfrm>
              <a:off x="7821652" y="2179863"/>
              <a:ext cx="98456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FF0000"/>
                  </a:solidFill>
                </a:rPr>
                <a:t>virtual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14B9BA5-0598-15C2-490E-15C3AB1A58DB}"/>
              </a:ext>
            </a:extLst>
          </p:cNvPr>
          <p:cNvGrpSpPr/>
          <p:nvPr/>
        </p:nvGrpSpPr>
        <p:grpSpPr>
          <a:xfrm>
            <a:off x="726860" y="2232351"/>
            <a:ext cx="8050975" cy="694285"/>
            <a:chOff x="726860" y="2232351"/>
            <a:chExt cx="8050975" cy="69428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AB34459-8334-0399-2EAE-31531C08DA70}"/>
                </a:ext>
              </a:extLst>
            </p:cNvPr>
            <p:cNvSpPr/>
            <p:nvPr/>
          </p:nvSpPr>
          <p:spPr>
            <a:xfrm>
              <a:off x="7821652" y="2232351"/>
              <a:ext cx="956183" cy="30896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87BDD06-2011-BA55-B208-6F3453DD34E9}"/>
                </a:ext>
              </a:extLst>
            </p:cNvPr>
            <p:cNvSpPr/>
            <p:nvPr/>
          </p:nvSpPr>
          <p:spPr>
            <a:xfrm>
              <a:off x="726860" y="2617667"/>
              <a:ext cx="1574329" cy="30896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280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87510" y="4826987"/>
            <a:ext cx="837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800" b="1" i="0" u="none" strike="noStrike" kern="1200" baseline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Text A</a:t>
            </a:r>
            <a:endParaRPr lang="zh-CN" altLang="en-US" sz="1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7510" y="5268194"/>
            <a:ext cx="6156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0" i="0" u="none" strike="noStrike" kern="120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L</a:t>
            </a:r>
            <a:r>
              <a:rPr lang="en-US" altLang="zh-CN" sz="2400" b="0" i="0" u="none" strike="noStrike" kern="120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unar New Year’s Traditions</a:t>
            </a:r>
            <a:endParaRPr lang="zh-CN" altLang="en-US" sz="2400" dirty="0">
              <a:solidFill>
                <a:srgbClr val="0A2E4A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78973" y="6139140"/>
            <a:ext cx="2081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800" b="0" i="0" u="none" strike="noStrike" kern="1200" baseline="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Samantha </a:t>
            </a:r>
            <a:r>
              <a:rPr lang="en-US" altLang="zh-CN" sz="1800" b="0" i="0" u="none" strike="noStrike" kern="1200" baseline="0" dirty="0" err="1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Vincenty</a:t>
            </a:r>
            <a:endParaRPr lang="zh-CN" altLang="en-US" sz="1800" dirty="0">
              <a:solidFill>
                <a:srgbClr val="0A2E4A"/>
              </a:solidFill>
              <a:latin typeface="Cambria" panose="02040503050406030204" pitchFamily="18" charset="0"/>
            </a:endParaRPr>
          </a:p>
        </p:txBody>
      </p:sp>
      <p:pic>
        <p:nvPicPr>
          <p:cNvPr id="13" name="超链接" descr="C:\Users\senj\Desktop\新建文件夹\外链音频.png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790" y="4872416"/>
            <a:ext cx="288000" cy="288000"/>
          </a:xfrm>
          <a:prstGeom prst="rect">
            <a:avLst/>
          </a:prstGeom>
          <a:noFill/>
        </p:spPr>
      </p:pic>
      <p:pic>
        <p:nvPicPr>
          <p:cNvPr id="3" name="图片 2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71" y="4885116"/>
            <a:ext cx="228582" cy="275300"/>
          </a:xfrm>
          <a:prstGeom prst="rect">
            <a:avLst/>
          </a:prstGeom>
        </p:spPr>
      </p:pic>
      <p:pic>
        <p:nvPicPr>
          <p:cNvPr id="17" name="Picture 3" descr="C:\Users\senj\Desktop\按钮.png"/>
          <p:cNvPicPr>
            <a:picLocks noChangeAspect="1" noChangeArrowheads="1"/>
          </p:cNvPicPr>
          <p:nvPr/>
        </p:nvPicPr>
        <p:blipFill>
          <a:blip r:embed="rId6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1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984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  <a:r>
              <a:rPr lang="en-US" altLang="zh-CN" sz="2400" dirty="0"/>
              <a:t>     W</a:t>
            </a:r>
            <a:r>
              <a:rPr lang="en-US" altLang="zh-CN" sz="2400" spc="-30" dirty="0"/>
              <a:t>hen people talk about the “holiday season” in the U.S., they</a:t>
            </a:r>
            <a:r>
              <a:rPr lang="en-US" altLang="zh-CN" sz="2400" dirty="0"/>
              <a:t> t</a:t>
            </a:r>
            <a:r>
              <a:rPr lang="en-US" altLang="zh-CN" sz="2400" spc="20" dirty="0"/>
              <a:t>ypically refer</a:t>
            </a:r>
            <a:r>
              <a:rPr lang="en-US" altLang="zh-CN" sz="2400" spc="30" dirty="0"/>
              <a:t> to that period between Thanksgiving dinner and </a:t>
            </a:r>
            <a:r>
              <a:rPr lang="en-US" altLang="zh-CN" sz="2400" dirty="0"/>
              <a:t>N</a:t>
            </a:r>
            <a:r>
              <a:rPr lang="en-US" altLang="zh-CN" sz="2400" spc="10" dirty="0"/>
              <a:t>ew Year’s</a:t>
            </a:r>
            <a:r>
              <a:rPr lang="en-US" altLang="zh-CN" sz="2400" spc="20" dirty="0"/>
              <a:t> Day. But shortly after that, another massive holiday </a:t>
            </a:r>
            <a:r>
              <a:rPr lang="en-US" altLang="zh-CN" sz="2400" dirty="0"/>
              <a:t>b</a:t>
            </a:r>
            <a:r>
              <a:rPr lang="en-US" altLang="zh-CN" sz="2400" spc="-10" dirty="0"/>
              <a:t>rings friends and family together in several Asian countries. The </a:t>
            </a:r>
            <a:r>
              <a:rPr lang="en-US" altLang="zh-CN" sz="2400" dirty="0"/>
              <a:t>L</a:t>
            </a:r>
            <a:r>
              <a:rPr lang="en-US" altLang="zh-CN" sz="2400" spc="50" dirty="0"/>
              <a:t>unar New Year, most commonly associated with the Chinese </a:t>
            </a:r>
            <a:r>
              <a:rPr lang="en-US" altLang="zh-CN" sz="2400" dirty="0"/>
              <a:t>N</a:t>
            </a:r>
            <a:r>
              <a:rPr lang="en-US" altLang="zh-CN" sz="2400" spc="50" dirty="0"/>
              <a:t>ew Year or Spring Festival, typically falls sometime between </a:t>
            </a:r>
            <a:r>
              <a:rPr lang="en-US" altLang="zh-CN" sz="2400" dirty="0"/>
              <a:t>January 21 and February 20 annually.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r>
              <a:rPr lang="en-US" altLang="zh-CN" sz="2400" dirty="0"/>
              <a:t>     It’s called the Lunar New Year because it marks the first new</a:t>
            </a:r>
          </a:p>
          <a:p>
            <a:r>
              <a:rPr lang="en-US" altLang="zh-CN" sz="2400" dirty="0"/>
              <a:t>m</a:t>
            </a:r>
            <a:r>
              <a:rPr lang="en-US" altLang="zh-CN" sz="2400" spc="30" dirty="0"/>
              <a:t>oon of the lunisolar calendars traditional to </a:t>
            </a:r>
            <a:r>
              <a:rPr lang="en-US" altLang="zh-CN" sz="2400" spc="40" dirty="0"/>
              <a:t>many East Asian </a:t>
            </a:r>
            <a:r>
              <a:rPr lang="en-US" altLang="zh-CN" sz="2400" dirty="0"/>
              <a:t>countries </a:t>
            </a:r>
            <a:r>
              <a:rPr lang="en-US" altLang="zh-CN" sz="2400" spc="10" dirty="0"/>
              <a:t>including China, South Korea, and Vietnam, which are </a:t>
            </a:r>
            <a:r>
              <a:rPr lang="en-US" altLang="zh-CN" sz="2400" dirty="0"/>
              <a:t>r</a:t>
            </a:r>
            <a:r>
              <a:rPr lang="en-US" altLang="zh-CN" sz="2400" spc="30" dirty="0"/>
              <a:t>egulated by the </a:t>
            </a:r>
            <a:r>
              <a:rPr lang="en-US" altLang="zh-CN" sz="2400" spc="40" dirty="0"/>
              <a:t>cycles of the moon and sun. As the </a:t>
            </a:r>
            <a:r>
              <a:rPr lang="en-US" altLang="zh-CN" sz="2400" i="1" spc="40" dirty="0"/>
              <a:t>New York </a:t>
            </a:r>
            <a:r>
              <a:rPr lang="en-US" altLang="zh-CN" sz="2400" i="1" dirty="0"/>
              <a:t>T</a:t>
            </a:r>
            <a:r>
              <a:rPr lang="en-US" altLang="zh-CN" sz="2400" i="1" spc="30" dirty="0"/>
              <a:t>imes</a:t>
            </a:r>
            <a:r>
              <a:rPr lang="en-US" altLang="zh-CN" sz="2400" spc="30" dirty="0"/>
              <a:t> explains, “A solar year — the </a:t>
            </a:r>
            <a:r>
              <a:rPr lang="en-US" altLang="zh-CN" sz="2400" spc="40" dirty="0"/>
              <a:t>time it takes Earth to </a:t>
            </a:r>
            <a:r>
              <a:rPr lang="en-US" altLang="zh-CN" sz="2400" spc="40" dirty="0">
                <a:solidFill>
                  <a:srgbClr val="C00000"/>
                </a:solidFill>
              </a:rPr>
              <a:t>orbit</a:t>
            </a:r>
            <a:r>
              <a:rPr lang="en-US" altLang="zh-CN" sz="2400" spc="40" dirty="0"/>
              <a:t> </a:t>
            </a:r>
            <a:r>
              <a:rPr lang="en-US" altLang="zh-CN" sz="2400" dirty="0"/>
              <a:t>t</a:t>
            </a:r>
            <a:r>
              <a:rPr lang="en-US" altLang="zh-CN" sz="2400" spc="40" dirty="0"/>
              <a:t>he sun — lasts around 365 days, while a</a:t>
            </a:r>
            <a:r>
              <a:rPr lang="en-US" altLang="zh-CN" sz="2400" spc="50" dirty="0"/>
              <a:t> lunar year, or 12 full </a:t>
            </a:r>
            <a:r>
              <a:rPr lang="en-US" altLang="zh-CN" sz="2400" dirty="0"/>
              <a:t>c</a:t>
            </a:r>
            <a:r>
              <a:rPr lang="en-US" altLang="zh-CN" sz="2400" spc="-70" dirty="0"/>
              <a:t>ycles of the Moon, is roughly 354 days.” As </a:t>
            </a:r>
            <a:r>
              <a:rPr lang="en-US" altLang="zh-CN" sz="2400" spc="-60" dirty="0"/>
              <a:t>with the Jewish lunisolar</a:t>
            </a:r>
            <a:endParaRPr lang="en-US" altLang="zh-CN" sz="2400" dirty="0"/>
          </a:p>
        </p:txBody>
      </p:sp>
      <p:pic>
        <p:nvPicPr>
          <p:cNvPr id="9" name="图片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pic>
        <p:nvPicPr>
          <p:cNvPr id="14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8" name="图片 7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808095"/>
            <a:ext cx="268800" cy="288000"/>
          </a:xfrm>
          <a:prstGeom prst="rect">
            <a:avLst/>
          </a:prstGeom>
        </p:spPr>
      </p:pic>
      <p:sp>
        <p:nvSpPr>
          <p:cNvPr id="13" name="矩形 12">
            <a:hlinkClick r:id="rId11" action="ppaction://hlinksldjump"/>
          </p:cNvPr>
          <p:cNvSpPr/>
          <p:nvPr/>
        </p:nvSpPr>
        <p:spPr>
          <a:xfrm>
            <a:off x="8128820" y="5257700"/>
            <a:ext cx="72005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Text A_1">
            <a:hlinkClick r:id="" action="ppaction://media"/>
            <a:extLst>
              <a:ext uri="{FF2B5EF4-FFF2-40B4-BE49-F238E27FC236}">
                <a16:creationId xmlns:a16="http://schemas.microsoft.com/office/drawing/2014/main" id="{EA09ED88-99A0-624F-7B37-2E78FE6FCD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  <p:pic>
        <p:nvPicPr>
          <p:cNvPr id="12" name="Text A_2">
            <a:hlinkClick r:id="" action="ppaction://media"/>
            <a:extLst>
              <a:ext uri="{FF2B5EF4-FFF2-40B4-BE49-F238E27FC236}">
                <a16:creationId xmlns:a16="http://schemas.microsoft.com/office/drawing/2014/main" id="{4E5CE55B-206D-6E95-0EA1-ACD9ADE8881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810975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7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numSld="2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273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</a:t>
            </a:r>
            <a:r>
              <a:rPr lang="en-US" altLang="zh-CN" sz="2400" spc="-50" dirty="0"/>
              <a:t>alendar, “a month is still defined </a:t>
            </a:r>
            <a:r>
              <a:rPr lang="en-US" altLang="zh-CN" sz="2400" spc="-40" dirty="0"/>
              <a:t>by the moon, but an extra month </a:t>
            </a:r>
            <a:r>
              <a:rPr lang="en-US" altLang="zh-CN" sz="2400" dirty="0"/>
              <a:t>i</a:t>
            </a:r>
            <a:r>
              <a:rPr lang="en-US" altLang="zh-CN" sz="2400" spc="10" dirty="0"/>
              <a:t>s added </a:t>
            </a:r>
            <a:r>
              <a:rPr lang="en-US" altLang="zh-CN" sz="2400" spc="10" dirty="0">
                <a:solidFill>
                  <a:srgbClr val="C00000"/>
                </a:solidFill>
              </a:rPr>
              <a:t>periodically</a:t>
            </a:r>
            <a:r>
              <a:rPr lang="en-US" altLang="zh-CN" sz="2400" spc="10" dirty="0"/>
              <a:t> </a:t>
            </a:r>
            <a:r>
              <a:rPr lang="en-US" altLang="zh-CN" sz="2400" spc="20" dirty="0"/>
              <a:t>to stay close to the solar year.” This is why </a:t>
            </a:r>
            <a:r>
              <a:rPr lang="en-US" altLang="zh-CN" sz="2400" dirty="0"/>
              <a:t>t</a:t>
            </a:r>
            <a:r>
              <a:rPr lang="en-US" altLang="zh-CN" sz="2400" spc="-70" dirty="0"/>
              <a:t>he new year falls on a </a:t>
            </a:r>
            <a:r>
              <a:rPr lang="en-US" altLang="zh-CN" sz="2400" spc="-60" dirty="0"/>
              <a:t>different day within that month-long window </a:t>
            </a:r>
            <a:r>
              <a:rPr lang="en-US" altLang="zh-CN" sz="2400" dirty="0"/>
              <a:t>each year.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  <a:r>
              <a:rPr lang="en-US" altLang="zh-CN" sz="2400" dirty="0"/>
              <a:t>     I</a:t>
            </a:r>
            <a:r>
              <a:rPr lang="en-US" altLang="zh-CN" sz="2400" spc="10" dirty="0"/>
              <a:t>n China, the 15-day celebration </a:t>
            </a:r>
            <a:r>
              <a:rPr lang="en-US" altLang="zh-CN" sz="2400" spc="10" dirty="0">
                <a:solidFill>
                  <a:srgbClr val="C00000"/>
                </a:solidFill>
              </a:rPr>
              <a:t>kicks off</a:t>
            </a:r>
            <a:r>
              <a:rPr lang="en-US" altLang="zh-CN" sz="2400" spc="10" dirty="0"/>
              <a:t> on </a:t>
            </a:r>
            <a:r>
              <a:rPr lang="en-US" altLang="zh-CN" sz="2400" spc="20" dirty="0"/>
              <a:t>New Year’s Eve </a:t>
            </a:r>
            <a:r>
              <a:rPr lang="en-US" altLang="zh-CN" sz="2400" dirty="0"/>
              <a:t>w</a:t>
            </a:r>
            <a:r>
              <a:rPr lang="en-US" altLang="zh-CN" sz="2400" spc="-20" dirty="0"/>
              <a:t>ith a family feast called a reunion dinner full of traditional Lunar </a:t>
            </a:r>
            <a:r>
              <a:rPr lang="en-US" altLang="zh-CN" sz="2400" dirty="0"/>
              <a:t>N</a:t>
            </a:r>
            <a:r>
              <a:rPr lang="en-US" altLang="zh-CN" sz="2400" spc="-20" dirty="0"/>
              <a:t>ew Year foods, and typically</a:t>
            </a:r>
            <a:r>
              <a:rPr lang="en-US" altLang="zh-CN" sz="2400" spc="-10" dirty="0"/>
              <a:t> ends with the </a:t>
            </a:r>
            <a:r>
              <a:rPr lang="en-US" altLang="zh-CN" sz="2400" spc="-10" dirty="0">
                <a:solidFill>
                  <a:srgbClr val="C00000"/>
                </a:solidFill>
              </a:rPr>
              <a:t>Lantern Festival</a:t>
            </a:r>
            <a:r>
              <a:rPr lang="en-US" altLang="zh-CN" sz="2400" spc="-10" dirty="0"/>
              <a:t>. “It’s </a:t>
            </a:r>
            <a:r>
              <a:rPr lang="en-US" altLang="zh-CN" sz="2400" dirty="0"/>
              <a:t>r</a:t>
            </a:r>
            <a:r>
              <a:rPr lang="en-US" altLang="zh-CN" sz="2400" spc="60" dirty="0"/>
              <a:t>eally a time for</a:t>
            </a:r>
            <a:r>
              <a:rPr lang="en-US" altLang="zh-CN" sz="2400" spc="70" dirty="0"/>
              <a:t> new beginnings, and family gathering,” says </a:t>
            </a:r>
            <a:r>
              <a:rPr lang="en-US" altLang="zh-CN" sz="2400" dirty="0"/>
              <a:t>N</a:t>
            </a:r>
            <a:r>
              <a:rPr lang="en-US" altLang="zh-CN" sz="2400" spc="20" dirty="0"/>
              <a:t>ancy Yao </a:t>
            </a:r>
            <a:r>
              <a:rPr lang="en-US" altLang="zh-CN" sz="2400" spc="30" dirty="0" err="1"/>
              <a:t>Maasbach</a:t>
            </a:r>
            <a:r>
              <a:rPr lang="en-US" altLang="zh-CN" sz="2400" spc="30" dirty="0"/>
              <a:t>, president of New York City’s Museum of </a:t>
            </a:r>
            <a:r>
              <a:rPr lang="en-US" altLang="zh-CN" sz="2400" dirty="0"/>
              <a:t>C</a:t>
            </a:r>
            <a:r>
              <a:rPr lang="en-US" altLang="zh-CN" sz="2400" spc="60" dirty="0"/>
              <a:t>hinese in America. Three </a:t>
            </a:r>
            <a:r>
              <a:rPr lang="en-US" altLang="zh-CN" sz="2400" spc="60" dirty="0">
                <a:solidFill>
                  <a:srgbClr val="C00000"/>
                </a:solidFill>
              </a:rPr>
              <a:t>overarching</a:t>
            </a:r>
            <a:r>
              <a:rPr lang="en-US" altLang="zh-CN" sz="2400" spc="60" dirty="0"/>
              <a:t> themes, </a:t>
            </a:r>
            <a:r>
              <a:rPr lang="en-US" altLang="zh-CN" sz="2400" spc="70" dirty="0"/>
              <a:t>she says, are </a:t>
            </a:r>
            <a:r>
              <a:rPr lang="en-US" altLang="zh-CN" sz="2400" dirty="0"/>
              <a:t>“fortune, happiness, and health”.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r>
              <a:rPr lang="en-US" altLang="zh-CN" sz="2400" dirty="0"/>
              <a:t>     T</a:t>
            </a:r>
            <a:r>
              <a:rPr lang="en-US" altLang="zh-CN" sz="2400" spc="-20" dirty="0"/>
              <a:t>here is a </a:t>
            </a:r>
            <a:r>
              <a:rPr lang="en-US" altLang="zh-CN" sz="2400" spc="-10" dirty="0"/>
              <a:t>weeklong holiday in the People’s Republic of China </a:t>
            </a:r>
            <a:r>
              <a:rPr lang="en-US" altLang="zh-CN" sz="2400" dirty="0"/>
              <a:t>d</a:t>
            </a:r>
            <a:r>
              <a:rPr lang="en-US" altLang="zh-CN" sz="2400" spc="-20" dirty="0"/>
              <a:t>uring the Spring Festival. Ahead of that holiday comes a </a:t>
            </a:r>
            <a:r>
              <a:rPr lang="en-US" altLang="zh-CN" sz="2400" spc="-10" dirty="0">
                <a:solidFill>
                  <a:srgbClr val="C00000"/>
                </a:solidFill>
              </a:rPr>
              <a:t>bustling</a:t>
            </a:r>
            <a:r>
              <a:rPr lang="en-US" altLang="zh-CN" sz="2400" spc="-20" dirty="0"/>
              <a:t> </a:t>
            </a:r>
            <a:r>
              <a:rPr lang="en-US" altLang="zh-CN" sz="2400" dirty="0"/>
              <a:t>t</a:t>
            </a:r>
            <a:r>
              <a:rPr lang="en-US" altLang="zh-CN" sz="2400" spc="-10" dirty="0"/>
              <a:t>ravel period known as </a:t>
            </a:r>
            <a:r>
              <a:rPr lang="en-US" altLang="zh-CN" sz="2400" i="1" spc="-10" dirty="0" err="1"/>
              <a:t>Chunyun</a:t>
            </a:r>
            <a:r>
              <a:rPr lang="en-US" altLang="zh-CN" sz="2400" spc="-10" dirty="0"/>
              <a:t>, in which millions </a:t>
            </a:r>
            <a:r>
              <a:rPr lang="en-US" altLang="zh-CN" sz="2400" dirty="0"/>
              <a:t>of people trek</a:t>
            </a:r>
          </a:p>
        </p:txBody>
      </p:sp>
      <p:pic>
        <p:nvPicPr>
          <p:cNvPr id="9" name="图片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5257700"/>
            <a:ext cx="268800" cy="288000"/>
          </a:xfrm>
          <a:prstGeom prst="rect">
            <a:avLst/>
          </a:prstGeom>
        </p:spPr>
      </p:pic>
      <p:pic>
        <p:nvPicPr>
          <p:cNvPr id="14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图片 2">
            <a:hlinkClick r:id="rId10" action="ppaction://hlinksldjump"/>
            <a:extLst>
              <a:ext uri="{FF2B5EF4-FFF2-40B4-BE49-F238E27FC236}">
                <a16:creationId xmlns:a16="http://schemas.microsoft.com/office/drawing/2014/main" id="{0331CF6D-CC95-9C44-2EA3-06FA875CD7D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973" y="2689900"/>
            <a:ext cx="268800" cy="288000"/>
          </a:xfrm>
          <a:prstGeom prst="rect">
            <a:avLst/>
          </a:prstGeom>
        </p:spPr>
      </p:pic>
      <p:pic>
        <p:nvPicPr>
          <p:cNvPr id="4" name="Text A_3">
            <a:hlinkClick r:id="" action="ppaction://media"/>
            <a:extLst>
              <a:ext uri="{FF2B5EF4-FFF2-40B4-BE49-F238E27FC236}">
                <a16:creationId xmlns:a16="http://schemas.microsoft.com/office/drawing/2014/main" id="{07FA9417-3CF2-C568-8CF1-70E4A0A99FD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2692780"/>
            <a:ext cx="288000" cy="285120"/>
          </a:xfrm>
          <a:prstGeom prst="rect">
            <a:avLst/>
          </a:prstGeom>
        </p:spPr>
      </p:pic>
      <p:pic>
        <p:nvPicPr>
          <p:cNvPr id="5" name="Text A_4">
            <a:hlinkClick r:id="" action="ppaction://media"/>
            <a:extLst>
              <a:ext uri="{FF2B5EF4-FFF2-40B4-BE49-F238E27FC236}">
                <a16:creationId xmlns:a16="http://schemas.microsoft.com/office/drawing/2014/main" id="{A07C7FE2-9615-81E8-BD04-3F40718F15A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5260580"/>
            <a:ext cx="288000" cy="285120"/>
          </a:xfrm>
          <a:prstGeom prst="rect">
            <a:avLst/>
          </a:prstGeom>
        </p:spPr>
      </p:pic>
      <p:sp>
        <p:nvSpPr>
          <p:cNvPr id="31" name="圆角矩形 9">
            <a:extLst>
              <a:ext uri="{FF2B5EF4-FFF2-40B4-BE49-F238E27FC236}">
                <a16:creationId xmlns:a16="http://schemas.microsoft.com/office/drawing/2014/main" id="{20E26876-C51F-2F6D-FB58-CDE6E1ACC93F}"/>
              </a:ext>
            </a:extLst>
          </p:cNvPr>
          <p:cNvSpPr/>
          <p:nvPr/>
        </p:nvSpPr>
        <p:spPr>
          <a:xfrm>
            <a:off x="6210204" y="3429000"/>
            <a:ext cx="1962046" cy="328303"/>
          </a:xfrm>
          <a:prstGeom prst="roundRect">
            <a:avLst/>
          </a:prstGeom>
          <a:solidFill>
            <a:srgbClr val="EDB89B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标注 10">
            <a:extLst>
              <a:ext uri="{FF2B5EF4-FFF2-40B4-BE49-F238E27FC236}">
                <a16:creationId xmlns:a16="http://schemas.microsoft.com/office/drawing/2014/main" id="{A8E563B9-BB43-21BD-8A6D-9436721D919A}"/>
              </a:ext>
            </a:extLst>
          </p:cNvPr>
          <p:cNvSpPr/>
          <p:nvPr/>
        </p:nvSpPr>
        <p:spPr>
          <a:xfrm flipH="1">
            <a:off x="5796085" y="3872460"/>
            <a:ext cx="1565060" cy="341160"/>
          </a:xfrm>
          <a:prstGeom prst="wedgeRectCallout">
            <a:avLst>
              <a:gd name="adj1" fmla="val -39089"/>
              <a:gd name="adj2" fmla="val -84542"/>
            </a:avLst>
          </a:prstGeom>
          <a:solidFill>
            <a:schemeClr val="bg1"/>
          </a:solidFill>
          <a:ln>
            <a:solidFill>
              <a:srgbClr val="C638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D2553C"/>
                </a:solidFill>
              </a:rPr>
              <a:t>元宵节，灯节</a:t>
            </a:r>
          </a:p>
        </p:txBody>
      </p:sp>
      <p:sp>
        <p:nvSpPr>
          <p:cNvPr id="33" name="矩形 32">
            <a:hlinkClick r:id="rId12" action="ppaction://hlinksldjump"/>
            <a:extLst>
              <a:ext uri="{FF2B5EF4-FFF2-40B4-BE49-F238E27FC236}">
                <a16:creationId xmlns:a16="http://schemas.microsoft.com/office/drawing/2014/main" id="{2C7F50B5-656D-E816-6AEF-6A216C2608C3}"/>
              </a:ext>
            </a:extLst>
          </p:cNvPr>
          <p:cNvSpPr/>
          <p:nvPr/>
        </p:nvSpPr>
        <p:spPr>
          <a:xfrm>
            <a:off x="1951244" y="1600300"/>
            <a:ext cx="153115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hlinkClick r:id="rId13" action="ppaction://hlinksldjump"/>
            <a:extLst>
              <a:ext uri="{FF2B5EF4-FFF2-40B4-BE49-F238E27FC236}">
                <a16:creationId xmlns:a16="http://schemas.microsoft.com/office/drawing/2014/main" id="{83F10DCB-BEC9-8B6E-FA8D-8F5B5DAA4FC7}"/>
              </a:ext>
            </a:extLst>
          </p:cNvPr>
          <p:cNvSpPr/>
          <p:nvPr/>
        </p:nvSpPr>
        <p:spPr>
          <a:xfrm>
            <a:off x="5406526" y="2684795"/>
            <a:ext cx="1066179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hlinkClick r:id="rId14" action="ppaction://hlinksldjump"/>
            <a:extLst>
              <a:ext uri="{FF2B5EF4-FFF2-40B4-BE49-F238E27FC236}">
                <a16:creationId xmlns:a16="http://schemas.microsoft.com/office/drawing/2014/main" id="{129C2CA2-35C3-0676-F3A6-5A5BB924673C}"/>
              </a:ext>
            </a:extLst>
          </p:cNvPr>
          <p:cNvSpPr/>
          <p:nvPr/>
        </p:nvSpPr>
        <p:spPr>
          <a:xfrm>
            <a:off x="4322080" y="4528672"/>
            <a:ext cx="1607531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hlinkClick r:id="rId15" action="ppaction://hlinksldjump"/>
            <a:extLst>
              <a:ext uri="{FF2B5EF4-FFF2-40B4-BE49-F238E27FC236}">
                <a16:creationId xmlns:a16="http://schemas.microsoft.com/office/drawing/2014/main" id="{C03A373D-5372-F9F3-FF12-B8E016D8633C}"/>
              </a:ext>
            </a:extLst>
          </p:cNvPr>
          <p:cNvSpPr/>
          <p:nvPr/>
        </p:nvSpPr>
        <p:spPr>
          <a:xfrm>
            <a:off x="7797370" y="5622391"/>
            <a:ext cx="1008493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88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82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numSld="2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home by plane, train, and automobile to celebrate the new year w</a:t>
            </a:r>
            <a:r>
              <a:rPr lang="en-US" altLang="zh-CN" sz="2400" spc="-50" dirty="0"/>
              <a:t>ith their extended </a:t>
            </a:r>
            <a:r>
              <a:rPr lang="en-US" altLang="zh-CN" sz="2400" spc="-40" dirty="0"/>
              <a:t>families. </a:t>
            </a:r>
            <a:r>
              <a:rPr lang="en-US" altLang="zh-CN" sz="2400" i="1" spc="-40" dirty="0" err="1"/>
              <a:t>Chunyun</a:t>
            </a:r>
            <a:r>
              <a:rPr lang="en-US" altLang="zh-CN" sz="2400" spc="-40" dirty="0"/>
              <a:t> is </a:t>
            </a:r>
            <a:r>
              <a:rPr lang="en-US" altLang="zh-CN" sz="2400" spc="-40" dirty="0">
                <a:solidFill>
                  <a:srgbClr val="C00000"/>
                </a:solidFill>
              </a:rPr>
              <a:t>deemed</a:t>
            </a:r>
            <a:r>
              <a:rPr lang="en-US" altLang="zh-CN" sz="2400" spc="-40" dirty="0"/>
              <a:t> to be “the largest </a:t>
            </a:r>
            <a:r>
              <a:rPr lang="en-US" altLang="zh-CN" sz="2400" dirty="0"/>
              <a:t>human migration on the planet”. 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  <a:r>
              <a:rPr lang="en-US" altLang="zh-CN" sz="2400" dirty="0"/>
              <a:t>     “</a:t>
            </a:r>
            <a:r>
              <a:rPr lang="en-US" altLang="zh-CN" sz="2400" spc="-40" dirty="0"/>
              <a:t>When you walk around </a:t>
            </a:r>
            <a:r>
              <a:rPr lang="en-US" altLang="zh-CN" sz="2400" spc="-30" dirty="0"/>
              <a:t>Chinatown, if you’re not familiar with </a:t>
            </a:r>
            <a:r>
              <a:rPr lang="en-US" altLang="zh-CN" sz="2400" dirty="0"/>
              <a:t>t</a:t>
            </a:r>
            <a:r>
              <a:rPr lang="en-US" altLang="zh-CN" sz="2400" spc="50" dirty="0"/>
              <a:t>he layers of meaning in</a:t>
            </a:r>
            <a:r>
              <a:rPr lang="en-US" altLang="zh-CN" sz="2400" spc="60" dirty="0"/>
              <a:t> these festivals, you may miss them,” </a:t>
            </a:r>
            <a:r>
              <a:rPr lang="en-US" altLang="zh-CN" sz="2400" dirty="0" err="1"/>
              <a:t>Maasbach</a:t>
            </a:r>
            <a:r>
              <a:rPr lang="en-US" altLang="zh-CN" sz="2400" dirty="0"/>
              <a:t> says.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Upside-down </a:t>
            </a:r>
            <a:r>
              <a:rPr lang="en-US" altLang="zh-CN" sz="2400" b="1" i="1" dirty="0">
                <a:solidFill>
                  <a:srgbClr val="C6383E"/>
                </a:solidFill>
              </a:rPr>
              <a:t>fu</a:t>
            </a:r>
            <a:r>
              <a:rPr lang="en-US" altLang="zh-CN" sz="2400" b="1" dirty="0">
                <a:solidFill>
                  <a:srgbClr val="C6383E"/>
                </a:solidFill>
              </a:rPr>
              <a:t> characters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  <a:r>
              <a:rPr lang="en-US" altLang="zh-CN" sz="2400" dirty="0"/>
              <a:t>     O</a:t>
            </a:r>
            <a:r>
              <a:rPr lang="en-US" altLang="zh-CN" sz="2400" spc="70" dirty="0"/>
              <a:t>n Chinese New Year,</a:t>
            </a:r>
            <a:r>
              <a:rPr lang="en-US" altLang="zh-CN" sz="2400" spc="80" dirty="0"/>
              <a:t> you’ll commonly see a calligraphy </a:t>
            </a:r>
            <a:r>
              <a:rPr lang="en-US" altLang="zh-CN" sz="2400" dirty="0"/>
              <a:t>c</a:t>
            </a:r>
            <a:r>
              <a:rPr lang="en-US" altLang="zh-CN" sz="2400" spc="40" dirty="0"/>
              <a:t>haracter on a square of red </a:t>
            </a:r>
            <a:r>
              <a:rPr lang="en-US" altLang="zh-CN" sz="2400" spc="50" dirty="0"/>
              <a:t>paper, hung in a diamond shape. </a:t>
            </a:r>
            <a:r>
              <a:rPr lang="en-US" altLang="zh-CN" sz="2400" dirty="0"/>
              <a:t>T</a:t>
            </a:r>
            <a:r>
              <a:rPr lang="en-US" altLang="zh-CN" sz="2400" spc="40" dirty="0"/>
              <a:t>he character, </a:t>
            </a:r>
            <a:r>
              <a:rPr lang="zh-CN" altLang="en-US" sz="2400" spc="40" dirty="0"/>
              <a:t>福 </a:t>
            </a:r>
            <a:r>
              <a:rPr lang="en-US" altLang="zh-CN" sz="2400" spc="40" dirty="0"/>
              <a:t>[</a:t>
            </a:r>
            <a:r>
              <a:rPr lang="en-US" altLang="zh-CN" sz="2400" spc="40" dirty="0" err="1"/>
              <a:t>fú</a:t>
            </a:r>
            <a:r>
              <a:rPr lang="en-US" altLang="zh-CN" sz="2400" spc="40" dirty="0"/>
              <a:t>], </a:t>
            </a:r>
            <a:r>
              <a:rPr lang="en-US" altLang="zh-CN" sz="2400" spc="50" dirty="0"/>
              <a:t>which means good luck, is hung upside </a:t>
            </a:r>
            <a:r>
              <a:rPr lang="en-US" altLang="zh-CN" sz="2400" dirty="0"/>
              <a:t>d</a:t>
            </a:r>
            <a:r>
              <a:rPr lang="en-US" altLang="zh-CN" sz="2400" spc="10" dirty="0"/>
              <a:t>own for Lunar New Year. “The word ‘to arrive’, or to </a:t>
            </a:r>
            <a:r>
              <a:rPr lang="en-US" altLang="zh-CN" sz="2400" spc="20" dirty="0"/>
              <a:t>begin, is a </a:t>
            </a:r>
            <a:r>
              <a:rPr lang="en-US" altLang="zh-CN" sz="2400" dirty="0"/>
              <a:t>homophone for the word </a:t>
            </a:r>
            <a:r>
              <a:rPr lang="en-US" altLang="zh-CN" sz="2400" spc="10" dirty="0"/>
              <a:t>for upside down,” </a:t>
            </a:r>
            <a:r>
              <a:rPr lang="en-US" altLang="zh-CN" sz="2400" spc="10" dirty="0" err="1"/>
              <a:t>Maasbach</a:t>
            </a:r>
            <a:r>
              <a:rPr lang="en-US" altLang="zh-CN" sz="2400" spc="10" dirty="0"/>
              <a:t> explains. </a:t>
            </a:r>
            <a:r>
              <a:rPr lang="en-US" altLang="zh-CN" sz="2400" u="sng" dirty="0">
                <a:solidFill>
                  <a:srgbClr val="0070C0"/>
                </a:solidFill>
              </a:rPr>
              <a:t>T</a:t>
            </a:r>
            <a:r>
              <a:rPr lang="en-US" altLang="zh-CN" sz="2400" u="sng" spc="60" dirty="0">
                <a:solidFill>
                  <a:srgbClr val="0070C0"/>
                </a:solidFill>
              </a:rPr>
              <a:t>hrough this bit of pictorial </a:t>
            </a:r>
            <a:r>
              <a:rPr lang="en-US" altLang="zh-CN" sz="2400" u="sng" spc="70" dirty="0">
                <a:solidFill>
                  <a:srgbClr val="0070C0"/>
                </a:solidFill>
              </a:rPr>
              <a:t>wordplay, the symbol effectively </a:t>
            </a:r>
            <a:r>
              <a:rPr lang="en-US" altLang="zh-CN" sz="2400" u="sng" dirty="0">
                <a:solidFill>
                  <a:srgbClr val="0070C0"/>
                </a:solidFill>
              </a:rPr>
              <a:t>means that good luck is arriving, or pouring down on you.</a:t>
            </a:r>
            <a:endParaRPr lang="en-US" altLang="zh-CN" sz="2400" b="1" u="sng" dirty="0">
              <a:solidFill>
                <a:srgbClr val="0070C0"/>
              </a:solidFill>
            </a:endParaRPr>
          </a:p>
        </p:txBody>
      </p:sp>
      <p:pic>
        <p:nvPicPr>
          <p:cNvPr id="9" name="图片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2328875"/>
            <a:ext cx="268800" cy="288000"/>
          </a:xfrm>
          <a:prstGeom prst="rect">
            <a:avLst/>
          </a:prstGeom>
        </p:spPr>
      </p:pic>
      <p:pic>
        <p:nvPicPr>
          <p:cNvPr id="14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19" name="图片 18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798570"/>
            <a:ext cx="268800" cy="288000"/>
          </a:xfrm>
          <a:prstGeom prst="rect">
            <a:avLst/>
          </a:prstGeom>
        </p:spPr>
      </p:pic>
      <p:pic>
        <p:nvPicPr>
          <p:cNvPr id="6" name="Text A_5">
            <a:hlinkClick r:id="" action="ppaction://media"/>
            <a:extLst>
              <a:ext uri="{FF2B5EF4-FFF2-40B4-BE49-F238E27FC236}">
                <a16:creationId xmlns:a16="http://schemas.microsoft.com/office/drawing/2014/main" id="{4C9A6BA9-62AE-4594-FB4E-AEDB728BF1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2328875"/>
            <a:ext cx="288000" cy="285120"/>
          </a:xfrm>
          <a:prstGeom prst="rect">
            <a:avLst/>
          </a:prstGeom>
        </p:spPr>
      </p:pic>
      <p:pic>
        <p:nvPicPr>
          <p:cNvPr id="12" name="Text A_6">
            <a:hlinkClick r:id="" action="ppaction://media"/>
            <a:extLst>
              <a:ext uri="{FF2B5EF4-FFF2-40B4-BE49-F238E27FC236}">
                <a16:creationId xmlns:a16="http://schemas.microsoft.com/office/drawing/2014/main" id="{615B6ABE-E432-9BD4-CDC3-9F57D637CF3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801450"/>
            <a:ext cx="288000" cy="285120"/>
          </a:xfrm>
          <a:prstGeom prst="rect">
            <a:avLst/>
          </a:prstGeom>
        </p:spPr>
      </p:pic>
      <p:sp>
        <p:nvSpPr>
          <p:cNvPr id="29" name="矩形 28">
            <a:hlinkClick r:id="rId12" action="ppaction://hlinksldjump"/>
            <a:extLst>
              <a:ext uri="{FF2B5EF4-FFF2-40B4-BE49-F238E27FC236}">
                <a16:creationId xmlns:a16="http://schemas.microsoft.com/office/drawing/2014/main" id="{D981250B-58B9-0373-4AFF-7AD086035B6C}"/>
              </a:ext>
            </a:extLst>
          </p:cNvPr>
          <p:cNvSpPr/>
          <p:nvPr/>
        </p:nvSpPr>
        <p:spPr>
          <a:xfrm>
            <a:off x="875659" y="5598675"/>
            <a:ext cx="7934966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hlinkClick r:id="rId12" action="ppaction://hlinksldjump"/>
            <a:extLst>
              <a:ext uri="{FF2B5EF4-FFF2-40B4-BE49-F238E27FC236}">
                <a16:creationId xmlns:a16="http://schemas.microsoft.com/office/drawing/2014/main" id="{5B489B87-BEE1-1412-B41D-D5185037DED9}"/>
              </a:ext>
            </a:extLst>
          </p:cNvPr>
          <p:cNvSpPr/>
          <p:nvPr/>
        </p:nvSpPr>
        <p:spPr>
          <a:xfrm>
            <a:off x="874682" y="5964506"/>
            <a:ext cx="7153558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hlinkClick r:id="rId13" action="ppaction://hlinksldjump"/>
            <a:extLst>
              <a:ext uri="{FF2B5EF4-FFF2-40B4-BE49-F238E27FC236}">
                <a16:creationId xmlns:a16="http://schemas.microsoft.com/office/drawing/2014/main" id="{3F9D3A68-C4BC-B9A4-5395-BD12CF673037}"/>
              </a:ext>
            </a:extLst>
          </p:cNvPr>
          <p:cNvSpPr/>
          <p:nvPr/>
        </p:nvSpPr>
        <p:spPr>
          <a:xfrm>
            <a:off x="5652075" y="1590775"/>
            <a:ext cx="1017596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81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821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92030" y="1147670"/>
            <a:ext cx="81002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Red packets full of money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  <a:r>
              <a:rPr lang="en-US" altLang="zh-CN" sz="2400" dirty="0"/>
              <a:t>     K</a:t>
            </a:r>
            <a:r>
              <a:rPr lang="en-US" altLang="zh-CN" sz="2400" spc="-30" dirty="0"/>
              <a:t>nown as </a:t>
            </a:r>
            <a:r>
              <a:rPr lang="en-US" altLang="zh-CN" sz="2400" spc="-30" dirty="0" err="1"/>
              <a:t>hóngbāo</a:t>
            </a:r>
            <a:r>
              <a:rPr lang="en-US" altLang="zh-CN" sz="2400" spc="-30" dirty="0"/>
              <a:t> in </a:t>
            </a:r>
            <a:r>
              <a:rPr lang="en-US" altLang="zh-CN" sz="2400" spc="-20" dirty="0"/>
              <a:t>Mandarin, in China they’re traditionally </a:t>
            </a:r>
            <a:r>
              <a:rPr lang="en-US" altLang="zh-CN" sz="2400" dirty="0"/>
              <a:t>g</a:t>
            </a:r>
            <a:r>
              <a:rPr lang="en-US" altLang="zh-CN" sz="2400" spc="-20" dirty="0"/>
              <a:t>ifted from an elder or </a:t>
            </a:r>
            <a:r>
              <a:rPr lang="en-US" altLang="zh-CN" sz="2400" spc="-10" dirty="0"/>
              <a:t>parent to children, or really anyone who’s </a:t>
            </a:r>
            <a:r>
              <a:rPr lang="en-US" altLang="zh-CN" sz="2400" dirty="0"/>
              <a:t>u</a:t>
            </a:r>
            <a:r>
              <a:rPr lang="en-US" altLang="zh-CN" sz="2400" spc="-20" dirty="0"/>
              <a:t>nmarried. “It’s really fun, because </a:t>
            </a:r>
            <a:r>
              <a:rPr lang="en-US" altLang="zh-CN" sz="2400" spc="-10" dirty="0"/>
              <a:t>even if your brother is 40 and </a:t>
            </a:r>
            <a:r>
              <a:rPr lang="en-US" altLang="zh-CN" sz="2400" dirty="0"/>
              <a:t>h</a:t>
            </a:r>
            <a:r>
              <a:rPr lang="en-US" altLang="zh-CN" sz="2400" spc="10" dirty="0"/>
              <a:t>e’s unmarried he still gets red envelopes,” </a:t>
            </a:r>
            <a:r>
              <a:rPr lang="en-US" altLang="zh-CN" sz="2400" spc="10" dirty="0" err="1"/>
              <a:t>Maasbach</a:t>
            </a:r>
            <a:r>
              <a:rPr lang="en-US" altLang="zh-CN" sz="2400" spc="10" dirty="0"/>
              <a:t> says. </a:t>
            </a:r>
            <a:r>
              <a:rPr lang="en-US" altLang="zh-CN" sz="2400" u="sng" spc="10" dirty="0">
                <a:solidFill>
                  <a:srgbClr val="0070C0"/>
                </a:solidFill>
              </a:rPr>
              <a:t>The </a:t>
            </a:r>
            <a:r>
              <a:rPr lang="en-US" altLang="zh-CN" sz="2400" u="sng" dirty="0">
                <a:solidFill>
                  <a:srgbClr val="0070C0"/>
                </a:solidFill>
              </a:rPr>
              <a:t>c</a:t>
            </a:r>
            <a:r>
              <a:rPr lang="en-US" altLang="zh-CN" sz="2400" u="sng" spc="30" dirty="0">
                <a:solidFill>
                  <a:srgbClr val="0070C0"/>
                </a:solidFill>
              </a:rPr>
              <a:t>ustom arose </a:t>
            </a:r>
            <a:r>
              <a:rPr lang="en-US" altLang="zh-CN" sz="2400" u="sng" spc="40" dirty="0">
                <a:solidFill>
                  <a:srgbClr val="0070C0"/>
                </a:solidFill>
              </a:rPr>
              <a:t>out of a tradition of using coins as a gift to </a:t>
            </a:r>
            <a:r>
              <a:rPr lang="en-US" altLang="zh-CN" sz="2400" u="sng" spc="40" dirty="0">
                <a:solidFill>
                  <a:srgbClr val="C00000"/>
                </a:solidFill>
              </a:rPr>
              <a:t>ward </a:t>
            </a:r>
            <a:r>
              <a:rPr lang="en-US" altLang="zh-CN" sz="2400" u="sng" dirty="0">
                <a:solidFill>
                  <a:srgbClr val="C00000"/>
                </a:solidFill>
              </a:rPr>
              <a:t>off</a:t>
            </a:r>
            <a:r>
              <a:rPr lang="en-US" altLang="zh-CN" sz="2400" u="sng" dirty="0">
                <a:solidFill>
                  <a:srgbClr val="0070C0"/>
                </a:solidFill>
              </a:rPr>
              <a:t> evil spirits.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  <a:r>
              <a:rPr lang="en-US" altLang="zh-CN" sz="2400" dirty="0"/>
              <a:t>     I</a:t>
            </a:r>
            <a:r>
              <a:rPr lang="en-US" altLang="zh-CN" sz="2400" spc="20" dirty="0"/>
              <a:t>t’s an </a:t>
            </a:r>
            <a:r>
              <a:rPr lang="en-US" altLang="zh-CN" sz="2400" spc="30" dirty="0"/>
              <a:t>occasion for kids to have a little fun when asking for </a:t>
            </a:r>
            <a:r>
              <a:rPr lang="en-US" altLang="zh-CN" sz="2400" dirty="0">
                <a:latin typeface="+mj-lt"/>
              </a:rPr>
              <a:t>a</a:t>
            </a:r>
            <a:r>
              <a:rPr lang="en-US" altLang="zh-CN" sz="2400" spc="10" dirty="0">
                <a:latin typeface="+mj-lt"/>
              </a:rPr>
              <a:t>n envelope, too. When asking, “you have to </a:t>
            </a:r>
            <a:r>
              <a:rPr lang="en-US" altLang="zh-CN" sz="2400" spc="20" dirty="0">
                <a:latin typeface="+mj-lt"/>
              </a:rPr>
              <a:t>say things like ‘</a:t>
            </a:r>
            <a:r>
              <a:rPr lang="en-US" altLang="zh-CN" sz="2400" spc="20" dirty="0" err="1">
                <a:latin typeface="+mj-lt"/>
              </a:rPr>
              <a:t>xīn</a:t>
            </a:r>
            <a:r>
              <a:rPr lang="en-US" altLang="zh-CN" sz="2400" spc="20" dirty="0">
                <a:latin typeface="+mj-lt"/>
              </a:rPr>
              <a:t> </a:t>
            </a:r>
            <a:r>
              <a:rPr lang="en-US" altLang="zh-CN" sz="2400" dirty="0" err="1">
                <a:latin typeface="+mj-lt"/>
              </a:rPr>
              <a:t>n</a:t>
            </a:r>
            <a:r>
              <a:rPr lang="en-US" altLang="zh-CN" sz="2400" spc="-20" dirty="0" err="1">
                <a:latin typeface="+mj-lt"/>
              </a:rPr>
              <a:t>íɑn</a:t>
            </a:r>
            <a:r>
              <a:rPr lang="en-US" altLang="zh-CN" sz="2400" spc="-20" dirty="0">
                <a:latin typeface="+mj-lt"/>
              </a:rPr>
              <a:t> </a:t>
            </a:r>
            <a:r>
              <a:rPr lang="en-US" altLang="zh-CN" sz="2400" spc="-20" dirty="0" err="1">
                <a:latin typeface="+mj-lt"/>
              </a:rPr>
              <a:t>kuài</a:t>
            </a:r>
            <a:r>
              <a:rPr lang="en-US" altLang="zh-CN" sz="2400" spc="-20" dirty="0">
                <a:latin typeface="+mj-lt"/>
              </a:rPr>
              <a:t> </a:t>
            </a:r>
            <a:r>
              <a:rPr lang="en-US" altLang="zh-CN" sz="2400" spc="-20" dirty="0" err="1">
                <a:latin typeface="+mj-lt"/>
              </a:rPr>
              <a:t>lè</a:t>
            </a:r>
            <a:r>
              <a:rPr lang="en-US" altLang="zh-CN" sz="2400" spc="-20" dirty="0">
                <a:latin typeface="+mj-lt"/>
              </a:rPr>
              <a:t>’, or ‘Happy New Year,’ or ‘</a:t>
            </a:r>
            <a:r>
              <a:rPr lang="en-US" altLang="zh-CN" sz="2400" spc="-20" dirty="0" err="1">
                <a:latin typeface="+mj-lt"/>
              </a:rPr>
              <a:t>ɡōnɡ</a:t>
            </a:r>
            <a:r>
              <a:rPr lang="zh-CN" altLang="en-US" sz="2400" spc="-20" dirty="0">
                <a:latin typeface="+mj-lt"/>
              </a:rPr>
              <a:t> </a:t>
            </a:r>
            <a:r>
              <a:rPr lang="en-US" altLang="zh-CN" sz="2400" spc="-20" dirty="0" err="1">
                <a:latin typeface="+mj-lt"/>
              </a:rPr>
              <a:t>xǐ</a:t>
            </a:r>
            <a:r>
              <a:rPr lang="zh-CN" altLang="en-US" sz="2400" spc="-20" dirty="0">
                <a:latin typeface="+mj-lt"/>
              </a:rPr>
              <a:t> </a:t>
            </a:r>
            <a:r>
              <a:rPr lang="en-US" altLang="zh-CN" sz="2400" spc="-20" dirty="0" err="1">
                <a:latin typeface="+mj-lt"/>
              </a:rPr>
              <a:t>fā</a:t>
            </a:r>
            <a:r>
              <a:rPr lang="zh-CN" altLang="en-US" sz="2400" spc="-20" dirty="0">
                <a:latin typeface="+mj-lt"/>
              </a:rPr>
              <a:t> </a:t>
            </a:r>
            <a:r>
              <a:rPr lang="en-US" altLang="zh-CN" sz="2400" spc="-20" dirty="0" err="1">
                <a:latin typeface="+mj-lt"/>
              </a:rPr>
              <a:t>cái</a:t>
            </a:r>
            <a:r>
              <a:rPr lang="en-US" altLang="zh-CN" sz="2400" spc="-20" dirty="0">
                <a:latin typeface="+mj-lt"/>
              </a:rPr>
              <a:t>’, which means </a:t>
            </a:r>
            <a:r>
              <a:rPr lang="en-US" altLang="zh-CN" sz="2400" dirty="0">
                <a:latin typeface="+mj-lt"/>
              </a:rPr>
              <a:t>‘</a:t>
            </a:r>
            <a:r>
              <a:rPr lang="en-US" altLang="zh-CN" sz="2400" spc="-80" dirty="0">
                <a:latin typeface="+mj-lt"/>
              </a:rPr>
              <a:t>make money in the new year’. But </a:t>
            </a:r>
            <a:r>
              <a:rPr lang="en-US" altLang="zh-CN" sz="2400" spc="-70" dirty="0">
                <a:latin typeface="+mj-lt"/>
              </a:rPr>
              <a:t>it kind of has a rhyme,” </a:t>
            </a:r>
            <a:r>
              <a:rPr lang="en-US" altLang="zh-CN" sz="2400" spc="-70" dirty="0" err="1">
                <a:latin typeface="+mj-lt"/>
              </a:rPr>
              <a:t>Maasbach</a:t>
            </a:r>
            <a:r>
              <a:rPr lang="en-US" altLang="zh-CN" sz="2400" spc="-70" dirty="0">
                <a:latin typeface="+mj-lt"/>
              </a:rPr>
              <a:t> </a:t>
            </a:r>
            <a:r>
              <a:rPr lang="en-US" altLang="zh-CN" sz="2400" dirty="0">
                <a:latin typeface="+mj-lt"/>
              </a:rPr>
              <a:t>s</a:t>
            </a:r>
            <a:r>
              <a:rPr lang="en-US" altLang="zh-CN" sz="2400" spc="-10" dirty="0">
                <a:latin typeface="+mj-lt"/>
              </a:rPr>
              <a:t>ays. “You’ll say, ‘</a:t>
            </a:r>
            <a:r>
              <a:rPr lang="en-US" altLang="zh-CN" sz="2400" spc="-10" dirty="0" err="1">
                <a:latin typeface="+mj-lt"/>
              </a:rPr>
              <a:t>ɡōnɡ</a:t>
            </a:r>
            <a:r>
              <a:rPr lang="zh-CN" altLang="en-US" sz="2400" spc="-10" dirty="0">
                <a:latin typeface="+mj-lt"/>
              </a:rPr>
              <a:t> </a:t>
            </a:r>
            <a:r>
              <a:rPr lang="en-US" altLang="zh-CN" sz="2400" spc="-10" dirty="0" err="1">
                <a:latin typeface="+mj-lt"/>
              </a:rPr>
              <a:t>xǐ</a:t>
            </a:r>
            <a:r>
              <a:rPr lang="zh-CN" altLang="en-US" sz="2400" spc="-10" dirty="0">
                <a:latin typeface="+mj-lt"/>
              </a:rPr>
              <a:t> </a:t>
            </a:r>
            <a:r>
              <a:rPr lang="en-US" altLang="zh-CN" sz="2400" spc="-10" dirty="0" err="1">
                <a:latin typeface="+mj-lt"/>
              </a:rPr>
              <a:t>fā</a:t>
            </a:r>
            <a:r>
              <a:rPr lang="zh-CN" altLang="en-US" sz="2400" spc="-10" dirty="0">
                <a:latin typeface="+mj-lt"/>
              </a:rPr>
              <a:t> </a:t>
            </a:r>
            <a:r>
              <a:rPr lang="en-US" altLang="zh-CN" sz="2400" spc="-10" dirty="0" err="1">
                <a:latin typeface="+mj-lt"/>
              </a:rPr>
              <a:t>cái</a:t>
            </a:r>
            <a:r>
              <a:rPr lang="en-US" altLang="zh-CN" sz="2400" dirty="0">
                <a:latin typeface="+mj-lt"/>
              </a:rPr>
              <a:t>, </a:t>
            </a:r>
            <a:r>
              <a:rPr lang="en-US" altLang="zh-CN" sz="2400" dirty="0" err="1">
                <a:latin typeface="+mj-lt"/>
              </a:rPr>
              <a:t>hónɡ</a:t>
            </a:r>
            <a:r>
              <a:rPr lang="en-US" altLang="zh-CN" sz="2400" dirty="0">
                <a:latin typeface="+mj-lt"/>
              </a:rPr>
              <a:t> </a:t>
            </a:r>
            <a:r>
              <a:rPr lang="en-US" altLang="zh-CN" sz="2400" dirty="0" err="1">
                <a:latin typeface="+mj-lt"/>
              </a:rPr>
              <a:t>bāo</a:t>
            </a:r>
            <a:r>
              <a:rPr lang="en-US" altLang="zh-CN" sz="2400" dirty="0">
                <a:latin typeface="+mj-lt"/>
              </a:rPr>
              <a:t> </a:t>
            </a:r>
            <a:r>
              <a:rPr lang="en-US" altLang="zh-CN" sz="2400" dirty="0" err="1">
                <a:latin typeface="+mj-lt"/>
              </a:rPr>
              <a:t>ná</a:t>
            </a:r>
            <a:r>
              <a:rPr lang="zh-CN" altLang="en-US" sz="2400" dirty="0">
                <a:latin typeface="+mj-lt"/>
              </a:rPr>
              <a:t> </a:t>
            </a:r>
            <a:r>
              <a:rPr lang="en-US" altLang="zh-CN" sz="2400" dirty="0" err="1">
                <a:latin typeface="+mj-lt"/>
              </a:rPr>
              <a:t>lái</a:t>
            </a:r>
            <a:r>
              <a:rPr lang="en-US" altLang="zh-CN" sz="2400" dirty="0">
                <a:latin typeface="+mj-lt"/>
              </a:rPr>
              <a:t>!’” This translates t</a:t>
            </a:r>
            <a:r>
              <a:rPr lang="en-US" altLang="zh-CN" sz="2400" spc="-10" dirty="0">
                <a:latin typeface="+mj-lt"/>
              </a:rPr>
              <a:t>o, “Make a lot of money in the new year — </a:t>
            </a:r>
            <a:r>
              <a:rPr lang="en-US" altLang="zh-CN" sz="2400" dirty="0">
                <a:latin typeface="+mj-lt"/>
              </a:rPr>
              <a:t>now give me my red envelope!”</a:t>
            </a:r>
          </a:p>
          <a:p>
            <a:endParaRPr lang="en-US" altLang="zh-CN" sz="2400" dirty="0"/>
          </a:p>
        </p:txBody>
      </p:sp>
      <p:pic>
        <p:nvPicPr>
          <p:cNvPr id="9" name="图片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798550"/>
            <a:ext cx="268800" cy="288000"/>
          </a:xfrm>
          <a:prstGeom prst="rect">
            <a:avLst/>
          </a:prstGeom>
        </p:spPr>
      </p:pic>
      <p:pic>
        <p:nvPicPr>
          <p:cNvPr id="14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4"/>
            <a:ext cx="254793" cy="245255"/>
          </a:xfrm>
          <a:prstGeom prst="rect">
            <a:avLst/>
          </a:prstGeom>
          <a:noFill/>
        </p:spPr>
      </p:pic>
      <p:pic>
        <p:nvPicPr>
          <p:cNvPr id="3" name="图片 2">
            <a:hlinkClick r:id="rId10" action="ppaction://hlinksldjump"/>
            <a:extLst>
              <a:ext uri="{FF2B5EF4-FFF2-40B4-BE49-F238E27FC236}">
                <a16:creationId xmlns:a16="http://schemas.microsoft.com/office/drawing/2014/main" id="{06FEEC6E-3AD2-E286-1406-CEE73C5B9B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590775"/>
            <a:ext cx="268800" cy="288000"/>
          </a:xfrm>
          <a:prstGeom prst="rect">
            <a:avLst/>
          </a:prstGeom>
        </p:spPr>
      </p:pic>
      <p:pic>
        <p:nvPicPr>
          <p:cNvPr id="4" name="Text A_7">
            <a:hlinkClick r:id="" action="ppaction://media"/>
            <a:extLst>
              <a:ext uri="{FF2B5EF4-FFF2-40B4-BE49-F238E27FC236}">
                <a16:creationId xmlns:a16="http://schemas.microsoft.com/office/drawing/2014/main" id="{6D81036C-ED58-BD65-12B9-F221EA64F2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590775"/>
            <a:ext cx="288000" cy="285120"/>
          </a:xfrm>
          <a:prstGeom prst="rect">
            <a:avLst/>
          </a:prstGeom>
        </p:spPr>
      </p:pic>
      <p:pic>
        <p:nvPicPr>
          <p:cNvPr id="5" name="Text A_8">
            <a:hlinkClick r:id="" action="ppaction://media"/>
            <a:extLst>
              <a:ext uri="{FF2B5EF4-FFF2-40B4-BE49-F238E27FC236}">
                <a16:creationId xmlns:a16="http://schemas.microsoft.com/office/drawing/2014/main" id="{8417991E-66C9-52E6-60B4-1808CBE1EDC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798550"/>
            <a:ext cx="288000" cy="285120"/>
          </a:xfrm>
          <a:prstGeom prst="rect">
            <a:avLst/>
          </a:prstGeom>
        </p:spPr>
      </p:pic>
      <p:sp>
        <p:nvSpPr>
          <p:cNvPr id="18" name="矩形 17">
            <a:hlinkClick r:id="rId12" action="ppaction://hlinksldjump"/>
            <a:extLst>
              <a:ext uri="{FF2B5EF4-FFF2-40B4-BE49-F238E27FC236}">
                <a16:creationId xmlns:a16="http://schemas.microsoft.com/office/drawing/2014/main" id="{DF1DB002-861C-E6B8-44D0-54E5A4DA5D0F}"/>
              </a:ext>
            </a:extLst>
          </p:cNvPr>
          <p:cNvSpPr/>
          <p:nvPr/>
        </p:nvSpPr>
        <p:spPr>
          <a:xfrm>
            <a:off x="875659" y="3033930"/>
            <a:ext cx="7934966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hlinkClick r:id="rId12" action="ppaction://hlinksldjump"/>
            <a:extLst>
              <a:ext uri="{FF2B5EF4-FFF2-40B4-BE49-F238E27FC236}">
                <a16:creationId xmlns:a16="http://schemas.microsoft.com/office/drawing/2014/main" id="{A0566268-A243-F9B0-B87E-E4569A72C067}"/>
              </a:ext>
            </a:extLst>
          </p:cNvPr>
          <p:cNvSpPr/>
          <p:nvPr/>
        </p:nvSpPr>
        <p:spPr>
          <a:xfrm>
            <a:off x="874682" y="3399761"/>
            <a:ext cx="7153558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hlinkClick r:id="rId12" action="ppaction://hlinksldjump"/>
            <a:extLst>
              <a:ext uri="{FF2B5EF4-FFF2-40B4-BE49-F238E27FC236}">
                <a16:creationId xmlns:a16="http://schemas.microsoft.com/office/drawing/2014/main" id="{7DB158CA-97B3-C468-2319-21EDD6D101E0}"/>
              </a:ext>
            </a:extLst>
          </p:cNvPr>
          <p:cNvSpPr/>
          <p:nvPr/>
        </p:nvSpPr>
        <p:spPr>
          <a:xfrm>
            <a:off x="8351970" y="2708950"/>
            <a:ext cx="458654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E9872A2-204E-B462-B564-B53471972526}"/>
              </a:ext>
            </a:extLst>
          </p:cNvPr>
          <p:cNvGrpSpPr/>
          <p:nvPr/>
        </p:nvGrpSpPr>
        <p:grpSpPr>
          <a:xfrm>
            <a:off x="837265" y="3043454"/>
            <a:ext cx="7973359" cy="721190"/>
            <a:chOff x="837265" y="3043454"/>
            <a:chExt cx="7973359" cy="721190"/>
          </a:xfrm>
        </p:grpSpPr>
        <p:sp>
          <p:nvSpPr>
            <p:cNvPr id="22" name="矩形 21">
              <a:hlinkClick r:id="rId13" action="ppaction://hlinksldjump"/>
              <a:extLst>
                <a:ext uri="{FF2B5EF4-FFF2-40B4-BE49-F238E27FC236}">
                  <a16:creationId xmlns:a16="http://schemas.microsoft.com/office/drawing/2014/main" id="{9116C9E0-9972-A652-3CA4-9EEA07588A9E}"/>
                </a:ext>
              </a:extLst>
            </p:cNvPr>
            <p:cNvSpPr/>
            <p:nvPr/>
          </p:nvSpPr>
          <p:spPr>
            <a:xfrm>
              <a:off x="8110599" y="3043454"/>
              <a:ext cx="700025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hlinkClick r:id="rId13" action="ppaction://hlinksldjump"/>
              <a:extLst>
                <a:ext uri="{FF2B5EF4-FFF2-40B4-BE49-F238E27FC236}">
                  <a16:creationId xmlns:a16="http://schemas.microsoft.com/office/drawing/2014/main" id="{F1C9DCEC-AA57-2C51-8A6A-4B9A098C8BD4}"/>
                </a:ext>
              </a:extLst>
            </p:cNvPr>
            <p:cNvSpPr/>
            <p:nvPr/>
          </p:nvSpPr>
          <p:spPr>
            <a:xfrm>
              <a:off x="837265" y="3428335"/>
              <a:ext cx="422505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768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2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142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92030" y="1147670"/>
            <a:ext cx="81002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Firecrackers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9</a:t>
            </a:r>
            <a:r>
              <a:rPr lang="en-US" altLang="zh-CN" sz="2400" dirty="0"/>
              <a:t>     F</a:t>
            </a:r>
            <a:r>
              <a:rPr lang="en-US" altLang="zh-CN" sz="2400" spc="-20" dirty="0"/>
              <a:t>irecrackers and fireworks are often set off </a:t>
            </a:r>
            <a:r>
              <a:rPr lang="en-US" altLang="zh-CN" sz="2400" spc="-10" dirty="0"/>
              <a:t>throughout Lunar </a:t>
            </a:r>
            <a:r>
              <a:rPr lang="en-US" altLang="zh-CN" sz="2400" dirty="0"/>
              <a:t>N</a:t>
            </a:r>
            <a:r>
              <a:rPr lang="en-US" altLang="zh-CN" sz="2400" spc="10" dirty="0"/>
              <a:t>ew Year, both to ward off an ancient monste</a:t>
            </a:r>
            <a:r>
              <a:rPr lang="en-US" altLang="zh-CN" sz="2400" spc="20" dirty="0"/>
              <a:t>r called </a:t>
            </a:r>
            <a:r>
              <a:rPr lang="en-US" altLang="zh-CN" sz="2400" i="1" spc="20" dirty="0" err="1"/>
              <a:t>Nian</a:t>
            </a:r>
            <a:r>
              <a:rPr lang="en-US" altLang="zh-CN" sz="2400" spc="20" dirty="0"/>
              <a:t>, and </a:t>
            </a:r>
            <a:r>
              <a:rPr lang="en-US" altLang="zh-CN" sz="2400" dirty="0"/>
              <a:t>because it’s become a </a:t>
            </a:r>
            <a:r>
              <a:rPr lang="en-US" altLang="zh-CN" sz="2400" dirty="0">
                <a:solidFill>
                  <a:srgbClr val="C00000"/>
                </a:solidFill>
              </a:rPr>
              <a:t>raucous</a:t>
            </a:r>
            <a:r>
              <a:rPr lang="en-US" altLang="zh-CN" sz="2400" dirty="0"/>
              <a:t> way to celebrate. It’s common to s</a:t>
            </a:r>
            <a:r>
              <a:rPr lang="en-US" altLang="zh-CN" sz="2400" spc="-40" dirty="0"/>
              <a:t>ee families shooting off the equally </a:t>
            </a:r>
            <a:r>
              <a:rPr lang="en-US" altLang="zh-CN" sz="2400" spc="-40" dirty="0">
                <a:solidFill>
                  <a:srgbClr val="C00000"/>
                </a:solidFill>
              </a:rPr>
              <a:t>festive</a:t>
            </a:r>
            <a:r>
              <a:rPr lang="en-US" altLang="zh-CN" sz="2400" spc="-30" dirty="0"/>
              <a:t>, and non-fiery, confetti </a:t>
            </a:r>
            <a:r>
              <a:rPr lang="en-US" altLang="zh-CN" sz="2400" dirty="0"/>
              <a:t>cannons on the streets of U.S. Chinatowns on New Year’s Day.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The Lion Dance and Dragon Dance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10</a:t>
            </a:r>
            <a:r>
              <a:rPr lang="en-US" altLang="zh-CN" sz="2400" dirty="0"/>
              <a:t>   T</a:t>
            </a:r>
            <a:r>
              <a:rPr lang="en-US" altLang="zh-CN" sz="2400" spc="-50" dirty="0"/>
              <a:t>raditional dances and gymnastic performances </a:t>
            </a:r>
            <a:r>
              <a:rPr lang="en-US" altLang="zh-CN" sz="2400" spc="-40" dirty="0"/>
              <a:t>are an exciting </a:t>
            </a:r>
            <a:r>
              <a:rPr lang="en-US" altLang="zh-CN" sz="2400" dirty="0"/>
              <a:t>part of a Lunar New Year parade. A Lion Dance typically features t</a:t>
            </a:r>
            <a:r>
              <a:rPr lang="en-US" altLang="zh-CN" sz="2400" spc="10" dirty="0"/>
              <a:t>wo performers inside the cost</a:t>
            </a:r>
            <a:r>
              <a:rPr lang="en-US" altLang="zh-CN" sz="2400" spc="20" dirty="0"/>
              <a:t>ume, operating as the creature’s </a:t>
            </a:r>
            <a:r>
              <a:rPr lang="en-US" altLang="zh-CN" sz="2400" dirty="0"/>
              <a:t>front and back legs. “It’s supposed to send away any evil spirits,” </a:t>
            </a:r>
            <a:r>
              <a:rPr lang="en-US" altLang="zh-CN" sz="2400" dirty="0" err="1"/>
              <a:t>M</a:t>
            </a:r>
            <a:r>
              <a:rPr lang="en-US" altLang="zh-CN" sz="2400" spc="50" dirty="0" err="1"/>
              <a:t>aasbac</a:t>
            </a:r>
            <a:r>
              <a:rPr lang="en-US" altLang="zh-CN" sz="2400" spc="60" dirty="0" err="1"/>
              <a:t>h</a:t>
            </a:r>
            <a:r>
              <a:rPr lang="en-US" altLang="zh-CN" sz="2400" spc="60" dirty="0"/>
              <a:t> says. “It’s an opportunity to feed the lion with red </a:t>
            </a:r>
            <a:r>
              <a:rPr lang="en-US" altLang="zh-CN" sz="2400" dirty="0"/>
              <a:t>envelopes.”</a:t>
            </a:r>
          </a:p>
        </p:txBody>
      </p:sp>
      <p:pic>
        <p:nvPicPr>
          <p:cNvPr id="9" name="图片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590775"/>
            <a:ext cx="268800" cy="288000"/>
          </a:xfrm>
          <a:prstGeom prst="rect">
            <a:avLst/>
          </a:prstGeom>
        </p:spPr>
      </p:pic>
      <p:pic>
        <p:nvPicPr>
          <p:cNvPr id="14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8" name="图片 7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798550"/>
            <a:ext cx="268800" cy="288000"/>
          </a:xfrm>
          <a:prstGeom prst="rect">
            <a:avLst/>
          </a:prstGeom>
        </p:spPr>
      </p:pic>
      <p:pic>
        <p:nvPicPr>
          <p:cNvPr id="5" name="Text A_9">
            <a:hlinkClick r:id="" action="ppaction://media"/>
            <a:extLst>
              <a:ext uri="{FF2B5EF4-FFF2-40B4-BE49-F238E27FC236}">
                <a16:creationId xmlns:a16="http://schemas.microsoft.com/office/drawing/2014/main" id="{16B5D8D5-7356-A0EF-983E-7E1EEF39DF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590775"/>
            <a:ext cx="288000" cy="285120"/>
          </a:xfrm>
          <a:prstGeom prst="rect">
            <a:avLst/>
          </a:prstGeom>
        </p:spPr>
      </p:pic>
      <p:pic>
        <p:nvPicPr>
          <p:cNvPr id="6" name="Text A_10">
            <a:hlinkClick r:id="" action="ppaction://media"/>
            <a:extLst>
              <a:ext uri="{FF2B5EF4-FFF2-40B4-BE49-F238E27FC236}">
                <a16:creationId xmlns:a16="http://schemas.microsoft.com/office/drawing/2014/main" id="{B0FC91B0-EDC4-8966-A52F-6CDC24E62EC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798550"/>
            <a:ext cx="288000" cy="285120"/>
          </a:xfrm>
          <a:prstGeom prst="rect">
            <a:avLst/>
          </a:prstGeom>
        </p:spPr>
      </p:pic>
      <p:sp>
        <p:nvSpPr>
          <p:cNvPr id="21" name="矩形 20">
            <a:hlinkClick r:id="rId12" action="ppaction://hlinksldjump"/>
            <a:extLst>
              <a:ext uri="{FF2B5EF4-FFF2-40B4-BE49-F238E27FC236}">
                <a16:creationId xmlns:a16="http://schemas.microsoft.com/office/drawing/2014/main" id="{1CBB546C-3983-83FF-9F55-1045402FB07C}"/>
              </a:ext>
            </a:extLst>
          </p:cNvPr>
          <p:cNvSpPr/>
          <p:nvPr/>
        </p:nvSpPr>
        <p:spPr>
          <a:xfrm>
            <a:off x="3654986" y="2329875"/>
            <a:ext cx="100807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hlinkClick r:id="rId13" action="ppaction://hlinksldjump"/>
            <a:extLst>
              <a:ext uri="{FF2B5EF4-FFF2-40B4-BE49-F238E27FC236}">
                <a16:creationId xmlns:a16="http://schemas.microsoft.com/office/drawing/2014/main" id="{A4668922-076C-68C4-2BA3-59A10CC7974F}"/>
              </a:ext>
            </a:extLst>
          </p:cNvPr>
          <p:cNvSpPr/>
          <p:nvPr/>
        </p:nvSpPr>
        <p:spPr>
          <a:xfrm>
            <a:off x="5186140" y="2693943"/>
            <a:ext cx="82596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64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5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87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11</a:t>
            </a:r>
            <a:r>
              <a:rPr lang="en-US" altLang="zh-CN" sz="2400" dirty="0"/>
              <a:t>   T</a:t>
            </a:r>
            <a:r>
              <a:rPr lang="en-US" altLang="zh-CN" sz="2400" spc="-10" dirty="0"/>
              <a:t>he Dragon Dance</a:t>
            </a:r>
            <a:r>
              <a:rPr lang="en-US" altLang="zh-CN" sz="2400" dirty="0"/>
              <a:t> features visible puppeteers holding poles as they make the dragon move in a</a:t>
            </a:r>
            <a:r>
              <a:rPr lang="en-US" altLang="zh-CN" sz="2400" spc="10" dirty="0"/>
              <a:t> flowing motion. While these </a:t>
            </a:r>
            <a:r>
              <a:rPr lang="en-US" altLang="zh-CN" sz="2400" dirty="0"/>
              <a:t>t</a:t>
            </a:r>
            <a:r>
              <a:rPr lang="en-US" altLang="zh-CN" sz="2400" spc="20" dirty="0"/>
              <a:t>wo dances are among the best</a:t>
            </a:r>
            <a:r>
              <a:rPr lang="en-US" altLang="zh-CN" sz="2400" spc="30" dirty="0"/>
              <a:t> known, </a:t>
            </a:r>
            <a:r>
              <a:rPr lang="en-US" altLang="zh-CN" sz="2400" spc="30" dirty="0" err="1"/>
              <a:t>Maasbach</a:t>
            </a:r>
            <a:r>
              <a:rPr lang="en-US" altLang="zh-CN" sz="2400" spc="30" dirty="0"/>
              <a:t> says they’re </a:t>
            </a:r>
            <a:r>
              <a:rPr lang="en-US" altLang="zh-CN" sz="2400" dirty="0"/>
              <a:t>j</a:t>
            </a:r>
            <a:r>
              <a:rPr lang="en-US" altLang="zh-CN" sz="2400" spc="40" dirty="0"/>
              <a:t>ust a few examples native to specific regions. “China is a very </a:t>
            </a:r>
            <a:r>
              <a:rPr lang="en-US" altLang="zh-CN" sz="2400" dirty="0"/>
              <a:t>d</a:t>
            </a:r>
            <a:r>
              <a:rPr lang="en-US" altLang="zh-CN" sz="2400" spc="30" dirty="0"/>
              <a:t>iverse country, with many different practices,” she continues.</a:t>
            </a:r>
            <a:r>
              <a:rPr lang="en-US" altLang="zh-CN" sz="2400" dirty="0"/>
              <a:t> “</a:t>
            </a:r>
            <a:r>
              <a:rPr lang="en-US" altLang="zh-CN" sz="2400" spc="-10" dirty="0"/>
              <a:t>The Fan Dance, the Phoenix Dance, the Lion Dance — those are </a:t>
            </a:r>
            <a:r>
              <a:rPr lang="en-US" altLang="zh-CN" sz="2400" dirty="0"/>
              <a:t>all provincial expert pieces.”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Foods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12</a:t>
            </a:r>
            <a:r>
              <a:rPr lang="en-US" altLang="zh-CN" sz="2400" dirty="0"/>
              <a:t>   S</a:t>
            </a:r>
            <a:r>
              <a:rPr lang="en-US" altLang="zh-CN" sz="2400" spc="60" dirty="0"/>
              <a:t>everal traditional Lunar New Year foods also</a:t>
            </a:r>
            <a:r>
              <a:rPr lang="en-US" altLang="zh-CN" sz="2400" spc="70" dirty="0"/>
              <a:t> carry extra </a:t>
            </a:r>
            <a:r>
              <a:rPr lang="en-US" altLang="zh-CN" sz="2400" dirty="0"/>
              <a:t>m</a:t>
            </a:r>
            <a:r>
              <a:rPr lang="en-US" altLang="zh-CN" sz="2400" spc="80" dirty="0"/>
              <a:t>eaning in China, because the way they’re pronounced </a:t>
            </a:r>
            <a:r>
              <a:rPr lang="en-US" altLang="zh-CN" sz="2400" spc="90" dirty="0"/>
              <a:t>is a</a:t>
            </a:r>
            <a:r>
              <a:rPr lang="en-US" altLang="zh-CN" sz="2400" spc="80" dirty="0"/>
              <a:t> </a:t>
            </a:r>
            <a:r>
              <a:rPr lang="en-US" altLang="zh-CN" sz="2400" dirty="0"/>
              <a:t>h</a:t>
            </a:r>
            <a:r>
              <a:rPr lang="en-US" altLang="zh-CN" sz="2400" spc="60" dirty="0"/>
              <a:t>omophone for another luck-related </a:t>
            </a:r>
            <a:r>
              <a:rPr lang="en-US" altLang="zh-CN" sz="2400" spc="70" dirty="0"/>
              <a:t>word. For example, the </a:t>
            </a:r>
            <a:r>
              <a:rPr lang="en-US" altLang="zh-CN" sz="2400" dirty="0"/>
              <a:t>p</a:t>
            </a:r>
            <a:r>
              <a:rPr lang="en-US" altLang="zh-CN" sz="2400" spc="10" dirty="0"/>
              <a:t>ronunciation for “fish” in Mandarin and many </a:t>
            </a:r>
            <a:r>
              <a:rPr lang="en-US" altLang="zh-CN" sz="2400" spc="20" dirty="0"/>
              <a:t>other dialects is </a:t>
            </a:r>
            <a:r>
              <a:rPr lang="en-US" altLang="zh-CN" sz="2400" dirty="0"/>
              <a:t>“</a:t>
            </a:r>
            <a:r>
              <a:rPr lang="en-US" altLang="zh-CN" sz="2400" spc="10" dirty="0" err="1"/>
              <a:t>yú</a:t>
            </a:r>
            <a:r>
              <a:rPr lang="en-US" altLang="zh-CN" sz="2400" spc="10" dirty="0"/>
              <a:t>”, which is the sa</a:t>
            </a:r>
            <a:r>
              <a:rPr lang="en-US" altLang="zh-CN" sz="2400" spc="20" dirty="0"/>
              <a:t>me pronunciation as “surplus”, meaning an </a:t>
            </a:r>
            <a:r>
              <a:rPr lang="en-US" altLang="zh-CN" sz="2400" dirty="0"/>
              <a:t>abundance of food or wealth for the next year.</a:t>
            </a:r>
          </a:p>
        </p:txBody>
      </p:sp>
      <p:pic>
        <p:nvPicPr>
          <p:cNvPr id="9" name="图片 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4177645"/>
            <a:ext cx="268800" cy="288000"/>
          </a:xfrm>
          <a:prstGeom prst="rect">
            <a:avLst/>
          </a:prstGeom>
        </p:spPr>
      </p:pic>
      <p:pic>
        <p:nvPicPr>
          <p:cNvPr id="3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6A1A175-E2E9-C2AC-9FDC-1D305A567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extLst>
              <a:ext uri="{FF2B5EF4-FFF2-40B4-BE49-F238E27FC236}">
                <a16:creationId xmlns:a16="http://schemas.microsoft.com/office/drawing/2014/main" id="{EAF476B5-1880-C81E-696A-8392C85D6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5" name="图片 4">
            <a:hlinkClick r:id="rId11" action="ppaction://hlinksldjump"/>
            <a:extLst>
              <a:ext uri="{FF2B5EF4-FFF2-40B4-BE49-F238E27FC236}">
                <a16:creationId xmlns:a16="http://schemas.microsoft.com/office/drawing/2014/main" id="{2B0B419A-8600-EB8B-349B-BC46184D31F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40275"/>
            <a:ext cx="268800" cy="288000"/>
          </a:xfrm>
          <a:prstGeom prst="rect">
            <a:avLst/>
          </a:prstGeom>
        </p:spPr>
      </p:pic>
      <p:pic>
        <p:nvPicPr>
          <p:cNvPr id="6" name="Text A_11">
            <a:hlinkClick r:id="" action="ppaction://media"/>
            <a:extLst>
              <a:ext uri="{FF2B5EF4-FFF2-40B4-BE49-F238E27FC236}">
                <a16:creationId xmlns:a16="http://schemas.microsoft.com/office/drawing/2014/main" id="{A2E4E469-DC1B-484E-80B7-417EA1030B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40275"/>
            <a:ext cx="288000" cy="285120"/>
          </a:xfrm>
          <a:prstGeom prst="rect">
            <a:avLst/>
          </a:prstGeom>
        </p:spPr>
      </p:pic>
      <p:pic>
        <p:nvPicPr>
          <p:cNvPr id="8" name="Text A_12">
            <a:hlinkClick r:id="" action="ppaction://media"/>
            <a:extLst>
              <a:ext uri="{FF2B5EF4-FFF2-40B4-BE49-F238E27FC236}">
                <a16:creationId xmlns:a16="http://schemas.microsoft.com/office/drawing/2014/main" id="{78A214EB-9946-972E-26B5-57B49BE6026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177645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7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87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The following statements </a:t>
            </a:r>
            <a:r>
              <a:rPr lang="en-US" altLang="zh-CN" sz="2400" spc="40" dirty="0">
                <a:latin typeface="Cambria" panose="02040503050406030204" pitchFamily="18" charset="0"/>
                <a:ea typeface="Cambria" panose="02040503050406030204" pitchFamily="18" charset="0"/>
              </a:rPr>
              <a:t>are based on Text A. Decide whether 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they are true (T) or false (F).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6165" y="2454452"/>
            <a:ext cx="1757665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343025" y="2454452"/>
            <a:ext cx="7549275" cy="429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10" dirty="0"/>
              <a:t>he Lunar New Year falls sometime between January 21 and </a:t>
            </a:r>
            <a:r>
              <a:rPr lang="en-US" altLang="zh-CN" sz="2400" dirty="0"/>
              <a:t>February 20 annually.</a:t>
            </a: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T</a:t>
            </a:r>
            <a:r>
              <a:rPr lang="en-US" altLang="zh-CN" sz="2400" spc="30" dirty="0"/>
              <a:t>he lunisolar calendars are only regulated by the cycle</a:t>
            </a:r>
            <a:r>
              <a:rPr lang="en-US" altLang="zh-CN" sz="2400" spc="40" dirty="0"/>
              <a:t>s of </a:t>
            </a:r>
            <a:r>
              <a:rPr lang="en-US" altLang="zh-CN" sz="2400" dirty="0"/>
              <a:t>the moon.</a:t>
            </a: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Two performers operate inside a costume as the lion’s front and back legs to present a Lion Dance.</a:t>
            </a: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T</a:t>
            </a:r>
            <a:r>
              <a:rPr lang="en-US" altLang="zh-CN" sz="2400" spc="30" dirty="0"/>
              <a:t>raditionally, red envelopes can be gifted from an </a:t>
            </a:r>
            <a:r>
              <a:rPr lang="en-US" altLang="zh-CN" sz="2400" spc="40" dirty="0"/>
              <a:t>elder to </a:t>
            </a:r>
            <a:r>
              <a:rPr lang="en-US" altLang="zh-CN" sz="2400" dirty="0"/>
              <a:t>someone who’s unmarried.</a:t>
            </a:r>
          </a:p>
          <a:p>
            <a:pPr>
              <a:lnSpc>
                <a:spcPts val="1000"/>
              </a:lnSpc>
            </a:pP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A</a:t>
            </a:r>
            <a:r>
              <a:rPr lang="en-US" altLang="zh-CN" sz="2400" spc="-30" dirty="0"/>
              <a:t> solar year lasts about 354 days, while a lunar year</a:t>
            </a:r>
            <a:r>
              <a:rPr lang="en-US" altLang="zh-CN" sz="2400" spc="-20" dirty="0"/>
              <a:t> is around </a:t>
            </a:r>
            <a:r>
              <a:rPr lang="en-US" altLang="zh-CN" sz="2400" dirty="0"/>
              <a:t>365 days.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98151" y="2466328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8151" y="3328420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8151" y="4182955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8151" y="5037490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8151" y="5900490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6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27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14" name="矩形 13"/>
          <p:cNvSpPr/>
          <p:nvPr/>
        </p:nvSpPr>
        <p:spPr>
          <a:xfrm>
            <a:off x="467262" y="2564939"/>
            <a:ext cx="587632" cy="26182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67262" y="3432287"/>
            <a:ext cx="587632" cy="26182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3461" y="4288198"/>
            <a:ext cx="587632" cy="26182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53461" y="5148064"/>
            <a:ext cx="587632" cy="26182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27276" y="6001604"/>
            <a:ext cx="587632" cy="26182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359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66165" y="2216915"/>
            <a:ext cx="485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400" y="2216915"/>
            <a:ext cx="823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30" dirty="0"/>
              <a:t>here’s no better way to </a:t>
            </a:r>
            <a:r>
              <a:rPr lang="en-US" altLang="zh-CN" sz="2400" u="sng" spc="-30" dirty="0"/>
              <a:t>kick off</a:t>
            </a:r>
            <a:r>
              <a:rPr lang="en-US" altLang="zh-CN" sz="2400" spc="-30" dirty="0"/>
              <a:t> the party season than with a feast.</a:t>
            </a:r>
          </a:p>
          <a:p>
            <a:r>
              <a:rPr lang="en-US" altLang="zh-CN" sz="2400" dirty="0"/>
              <a:t>A. strike </a:t>
            </a:r>
          </a:p>
          <a:p>
            <a:r>
              <a:rPr lang="en-US" altLang="zh-CN" sz="2400" dirty="0"/>
              <a:t>C. remove </a:t>
            </a:r>
          </a:p>
          <a:p>
            <a:endParaRPr lang="en-US" altLang="zh-CN" sz="2400" dirty="0"/>
          </a:p>
          <a:p>
            <a:r>
              <a:rPr lang="en-US" altLang="zh-CN" sz="2400" dirty="0"/>
              <a:t>C</a:t>
            </a:r>
            <a:r>
              <a:rPr lang="en-US" altLang="zh-CN" sz="2400" spc="-20" dirty="0"/>
              <a:t>omputer downtime is an </a:t>
            </a:r>
            <a:r>
              <a:rPr lang="en-US" altLang="zh-CN" sz="2400" u="sng" spc="-20" dirty="0"/>
              <a:t>overarching</a:t>
            </a:r>
            <a:r>
              <a:rPr lang="en-US" altLang="zh-CN" sz="2400" spc="-30" dirty="0"/>
              <a:t> problem in all departments.</a:t>
            </a:r>
          </a:p>
          <a:p>
            <a:r>
              <a:rPr lang="en-US" altLang="zh-CN" sz="2400" dirty="0"/>
              <a:t>A. long-term </a:t>
            </a:r>
          </a:p>
          <a:p>
            <a:r>
              <a:rPr lang="en-US" altLang="zh-CN" sz="2400" dirty="0"/>
              <a:t>C. comprehensive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60000" y="1133951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pPr algn="just"/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Choose the answer that best explains the underlined part.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3ACF69F-65C4-608B-EF79-D4DFD91BEE0C}"/>
              </a:ext>
            </a:extLst>
          </p:cNvPr>
          <p:cNvSpPr txBox="1"/>
          <p:nvPr/>
        </p:nvSpPr>
        <p:spPr>
          <a:xfrm>
            <a:off x="4572000" y="2216915"/>
            <a:ext cx="4320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B. begin </a:t>
            </a:r>
          </a:p>
          <a:p>
            <a:r>
              <a:rPr lang="en-US" altLang="zh-CN" sz="2400" dirty="0"/>
              <a:t>D. stop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B. slight </a:t>
            </a:r>
          </a:p>
          <a:p>
            <a:r>
              <a:rPr lang="en-US" altLang="zh-CN" sz="2400" dirty="0"/>
              <a:t>D. underlying</a:t>
            </a:r>
          </a:p>
          <a:p>
            <a:endParaRPr lang="en-US" altLang="zh-CN" sz="2400" dirty="0"/>
          </a:p>
        </p:txBody>
      </p:sp>
      <p:pic>
        <p:nvPicPr>
          <p:cNvPr id="26" name="选择1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34807" y="2655995"/>
            <a:ext cx="459698" cy="361192"/>
          </a:xfrm>
          <a:prstGeom prst="rect">
            <a:avLst/>
          </a:prstGeom>
        </p:spPr>
      </p:pic>
      <p:pic>
        <p:nvPicPr>
          <p:cNvPr id="27" name="选择2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8442" y="4480500"/>
            <a:ext cx="459698" cy="361192"/>
          </a:xfrm>
          <a:prstGeom prst="rect">
            <a:avLst/>
          </a:prstGeom>
        </p:spPr>
      </p:pic>
      <p:pic>
        <p:nvPicPr>
          <p:cNvPr id="1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24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734326" y="2317559"/>
            <a:ext cx="7988473" cy="111144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11725" y="3789025"/>
            <a:ext cx="8231900" cy="105266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735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66165" y="1137712"/>
            <a:ext cx="48595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400" y="1137712"/>
            <a:ext cx="82319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“Ph” is a </a:t>
            </a:r>
            <a:r>
              <a:rPr lang="en-US" altLang="zh-CN" sz="2400" u="sng" dirty="0"/>
              <a:t>homophone</a:t>
            </a:r>
            <a:r>
              <a:rPr lang="en-US" altLang="zh-CN" sz="2400" dirty="0"/>
              <a:t> of “f ” in English.</a:t>
            </a:r>
          </a:p>
          <a:p>
            <a:r>
              <a:rPr lang="en-US" altLang="zh-CN" sz="2400" dirty="0"/>
              <a:t>A. w</a:t>
            </a:r>
            <a:r>
              <a:rPr lang="en-US" altLang="zh-CN" sz="2400" spc="20" dirty="0"/>
              <a:t>ords having the same pronunciation but </a:t>
            </a:r>
            <a:r>
              <a:rPr lang="en-US" altLang="zh-CN" sz="2400" spc="30" dirty="0"/>
              <a:t>different meanings  </a:t>
            </a:r>
          </a:p>
          <a:p>
            <a:r>
              <a:rPr lang="en-US" altLang="zh-CN" sz="2400" dirty="0"/>
              <a:t>     or spellings</a:t>
            </a:r>
          </a:p>
          <a:p>
            <a:r>
              <a:rPr lang="en-US" altLang="zh-CN" sz="2400" dirty="0"/>
              <a:t>B. words having the same meaning but different pronunciations</a:t>
            </a:r>
          </a:p>
          <a:p>
            <a:r>
              <a:rPr lang="en-US" altLang="zh-CN" sz="2400" dirty="0"/>
              <a:t>C. words having the same meaning and pronunciation</a:t>
            </a:r>
          </a:p>
          <a:p>
            <a:r>
              <a:rPr lang="en-US" altLang="zh-CN" sz="2400" dirty="0"/>
              <a:t>D. words having the same origin but different spellings</a:t>
            </a:r>
          </a:p>
          <a:p>
            <a:endParaRPr lang="en-US" altLang="zh-CN" sz="2400" dirty="0"/>
          </a:p>
          <a:p>
            <a:r>
              <a:rPr lang="en-US" altLang="zh-CN" sz="2400" dirty="0"/>
              <a:t>His passion for </a:t>
            </a:r>
            <a:r>
              <a:rPr lang="en-US" altLang="zh-CN" sz="2400" u="sng" dirty="0"/>
              <a:t>trekking</a:t>
            </a:r>
            <a:r>
              <a:rPr lang="en-US" altLang="zh-CN" sz="2400" dirty="0"/>
              <a:t> around the world in </a:t>
            </a:r>
            <a:r>
              <a:rPr lang="en-US" altLang="zh-CN" sz="2400" spc="10" dirty="0"/>
              <a:t>search of new plants </a:t>
            </a:r>
            <a:r>
              <a:rPr lang="en-US" altLang="zh-CN" sz="2400" dirty="0"/>
              <a:t>began 10 years ago.</a:t>
            </a:r>
          </a:p>
          <a:p>
            <a:r>
              <a:rPr lang="en-US" altLang="zh-CN" sz="2400" dirty="0"/>
              <a:t>A. travel by sea </a:t>
            </a:r>
          </a:p>
          <a:p>
            <a:r>
              <a:rPr lang="en-US" altLang="zh-CN" sz="2400" dirty="0"/>
              <a:t>B. go on an excursion for pleasure</a:t>
            </a:r>
          </a:p>
          <a:p>
            <a:r>
              <a:rPr lang="en-US" altLang="zh-CN" sz="2400" dirty="0"/>
              <a:t>C. go on a short tour </a:t>
            </a:r>
          </a:p>
          <a:p>
            <a:r>
              <a:rPr lang="en-US" altLang="zh-CN" sz="2400" dirty="0"/>
              <a:t>D. make a long and difficult journey</a:t>
            </a:r>
          </a:p>
        </p:txBody>
      </p:sp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8" name="选择1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8442" y="1561033"/>
            <a:ext cx="459698" cy="361192"/>
          </a:xfrm>
          <a:prstGeom prst="rect">
            <a:avLst/>
          </a:prstGeom>
        </p:spPr>
      </p:pic>
      <p:pic>
        <p:nvPicPr>
          <p:cNvPr id="9" name="选择2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8442" y="5587983"/>
            <a:ext cx="459698" cy="36119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734326" y="1237484"/>
            <a:ext cx="7988473" cy="216100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19177" y="3767820"/>
            <a:ext cx="7988473" cy="218135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707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6165" y="1137712"/>
            <a:ext cx="4859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</a:p>
          <a:p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1137712"/>
            <a:ext cx="82319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u="sng" dirty="0"/>
              <a:t>Raucous</a:t>
            </a:r>
            <a:r>
              <a:rPr lang="en-US" altLang="zh-CN" sz="2400" dirty="0"/>
              <a:t> laughter surges and ebbs like waves at the seashore.</a:t>
            </a:r>
          </a:p>
          <a:p>
            <a:r>
              <a:rPr lang="en-US" altLang="zh-CN" sz="2400" dirty="0"/>
              <a:t>A. pleasantly soft </a:t>
            </a:r>
          </a:p>
          <a:p>
            <a:r>
              <a:rPr lang="en-US" altLang="zh-CN" sz="2400" dirty="0"/>
              <a:t>C. cold and bitter</a:t>
            </a:r>
          </a:p>
          <a:p>
            <a:endParaRPr lang="en-US" altLang="zh-CN" sz="2400" dirty="0"/>
          </a:p>
          <a:p>
            <a:r>
              <a:rPr lang="en-US" altLang="zh-CN" sz="2400" dirty="0"/>
              <a:t>V</a:t>
            </a:r>
            <a:r>
              <a:rPr lang="en-US" altLang="zh-CN" sz="2400" spc="20" dirty="0"/>
              <a:t>itamin C helps the body convert food</a:t>
            </a:r>
            <a:r>
              <a:rPr lang="en-US" altLang="zh-CN" sz="2400" spc="30" dirty="0"/>
              <a:t> into energy and </a:t>
            </a:r>
            <a:r>
              <a:rPr lang="en-US" altLang="zh-CN" sz="2400" u="sng" spc="30" dirty="0"/>
              <a:t>ward off</a:t>
            </a:r>
            <a:r>
              <a:rPr lang="en-US" altLang="zh-CN" sz="2400" spc="30" dirty="0"/>
              <a:t> </a:t>
            </a:r>
            <a:r>
              <a:rPr lang="en-US" altLang="zh-CN" sz="2400" dirty="0"/>
              <a:t>disease.</a:t>
            </a:r>
          </a:p>
          <a:p>
            <a:r>
              <a:rPr lang="en-US" altLang="zh-CN" sz="2400" dirty="0"/>
              <a:t>A. cure </a:t>
            </a:r>
          </a:p>
          <a:p>
            <a:r>
              <a:rPr lang="en-US" altLang="zh-CN" sz="2400" dirty="0"/>
              <a:t>C. prevent</a:t>
            </a:r>
          </a:p>
          <a:p>
            <a:endParaRPr lang="en-US" altLang="zh-CN" sz="2400" dirty="0"/>
          </a:p>
          <a:p>
            <a:r>
              <a:rPr lang="en-US" altLang="zh-CN" sz="2400" dirty="0"/>
              <a:t>In the oldest section of the forest, far from the </a:t>
            </a:r>
            <a:r>
              <a:rPr lang="en-US" altLang="zh-CN" sz="2400" u="sng" dirty="0"/>
              <a:t>bustling</a:t>
            </a:r>
            <a:r>
              <a:rPr lang="en-US" altLang="zh-CN" sz="2400" dirty="0"/>
              <a:t> </a:t>
            </a:r>
            <a:r>
              <a:rPr lang="en-US" altLang="zh-CN" sz="2400" spc="10" dirty="0"/>
              <a:t>city life, a </a:t>
            </a:r>
            <a:r>
              <a:rPr lang="en-US" altLang="zh-CN" sz="2400" dirty="0"/>
              <a:t>valley is perfectly exposed to the sky.</a:t>
            </a:r>
          </a:p>
          <a:p>
            <a:r>
              <a:rPr lang="en-US" altLang="zh-CN" sz="2400" dirty="0"/>
              <a:t>A. traditional and classic </a:t>
            </a:r>
          </a:p>
          <a:p>
            <a:r>
              <a:rPr lang="en-US" altLang="zh-CN" sz="2400" dirty="0"/>
              <a:t>C. lively and busy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604E31-44BB-8346-1A76-0895F170674E}"/>
              </a:ext>
            </a:extLst>
          </p:cNvPr>
          <p:cNvSpPr txBox="1"/>
          <p:nvPr/>
        </p:nvSpPr>
        <p:spPr>
          <a:xfrm>
            <a:off x="4572000" y="1137712"/>
            <a:ext cx="43203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spc="-20" dirty="0"/>
              <a:t>B. harshly loud</a:t>
            </a:r>
          </a:p>
          <a:p>
            <a:r>
              <a:rPr lang="en-US" altLang="zh-CN" sz="2400" spc="-20" dirty="0"/>
              <a:t>D. polite and gentle</a:t>
            </a:r>
          </a:p>
          <a:p>
            <a:endParaRPr lang="en-US" altLang="zh-CN" sz="2400" spc="-20" dirty="0"/>
          </a:p>
          <a:p>
            <a:endParaRPr lang="en-US" altLang="zh-CN" sz="2400" spc="-20" dirty="0"/>
          </a:p>
          <a:p>
            <a:endParaRPr lang="en-US" altLang="zh-CN" sz="2400" spc="-20" dirty="0"/>
          </a:p>
          <a:p>
            <a:r>
              <a:rPr lang="en-US" altLang="zh-CN" sz="2400" dirty="0"/>
              <a:t>B. protect</a:t>
            </a:r>
          </a:p>
          <a:p>
            <a:r>
              <a:rPr lang="en-US" altLang="zh-CN" sz="2400" dirty="0"/>
              <a:t>D. spread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B. peaceful and quiet</a:t>
            </a:r>
          </a:p>
          <a:p>
            <a:r>
              <a:rPr lang="en-US" altLang="zh-CN" sz="2400" dirty="0"/>
              <a:t>D. large and modern</a:t>
            </a:r>
          </a:p>
        </p:txBody>
      </p:sp>
      <p:pic>
        <p:nvPicPr>
          <p:cNvPr id="9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3" name="选择1" descr="圈圈.png">
            <a:extLst>
              <a:ext uri="{FF2B5EF4-FFF2-40B4-BE49-F238E27FC236}">
                <a16:creationId xmlns:a16="http://schemas.microsoft.com/office/drawing/2014/main" id="{DC756351-7770-8EB1-D1C3-0DB6D3C27A7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34807" y="1566395"/>
            <a:ext cx="459698" cy="361192"/>
          </a:xfrm>
          <a:prstGeom prst="rect">
            <a:avLst/>
          </a:prstGeom>
        </p:spPr>
      </p:pic>
      <p:pic>
        <p:nvPicPr>
          <p:cNvPr id="4" name="选择2" descr="圈圈.png">
            <a:extLst>
              <a:ext uri="{FF2B5EF4-FFF2-40B4-BE49-F238E27FC236}">
                <a16:creationId xmlns:a16="http://schemas.microsoft.com/office/drawing/2014/main" id="{DEA9A4FA-CE43-1164-152B-1FF08A71F5D5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8442" y="3763959"/>
            <a:ext cx="459698" cy="36119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996FA74-85C6-C32E-A5E7-D4B764A0FD51}"/>
              </a:ext>
            </a:extLst>
          </p:cNvPr>
          <p:cNvSpPr/>
          <p:nvPr/>
        </p:nvSpPr>
        <p:spPr>
          <a:xfrm>
            <a:off x="734326" y="1237484"/>
            <a:ext cx="7988473" cy="112741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A9B2A7-D9ED-2B06-179F-814C743109F8}"/>
              </a:ext>
            </a:extLst>
          </p:cNvPr>
          <p:cNvSpPr/>
          <p:nvPr/>
        </p:nvSpPr>
        <p:spPr>
          <a:xfrm>
            <a:off x="719177" y="2677567"/>
            <a:ext cx="7988473" cy="147148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选择1" descr="圈圈.png">
            <a:extLst>
              <a:ext uri="{FF2B5EF4-FFF2-40B4-BE49-F238E27FC236}">
                <a16:creationId xmlns:a16="http://schemas.microsoft.com/office/drawing/2014/main" id="{2AC95395-CC6F-0949-1146-8125766BF6E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8442" y="5589150"/>
            <a:ext cx="459698" cy="361192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313D7C8-0DB3-DC12-13CF-DBEAC96DF725}"/>
              </a:ext>
            </a:extLst>
          </p:cNvPr>
          <p:cNvSpPr/>
          <p:nvPr/>
        </p:nvSpPr>
        <p:spPr>
          <a:xfrm>
            <a:off x="734326" y="4509075"/>
            <a:ext cx="7988473" cy="152228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281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6165" y="1137712"/>
            <a:ext cx="485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1137712"/>
            <a:ext cx="823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en-US" altLang="zh-CN" sz="2400" spc="-20" dirty="0"/>
              <a:t>odernizat</a:t>
            </a:r>
            <a:r>
              <a:rPr lang="en-US" altLang="zh-CN" sz="2400" spc="-10" dirty="0"/>
              <a:t>ion has resulted in a slight breakdown of the extended </a:t>
            </a:r>
            <a:r>
              <a:rPr lang="en-US" altLang="zh-CN" sz="2400" dirty="0"/>
              <a:t>f</a:t>
            </a:r>
            <a:r>
              <a:rPr lang="en-US" altLang="zh-CN" sz="2400" spc="-20" dirty="0"/>
              <a:t>amily structure and replaced it with a more Western-style</a:t>
            </a:r>
            <a:r>
              <a:rPr lang="en-US" altLang="zh-CN" sz="2400" spc="-30" dirty="0"/>
              <a:t> </a:t>
            </a:r>
            <a:r>
              <a:rPr lang="en-US" altLang="zh-CN" sz="2400" u="sng" spc="-30" dirty="0"/>
              <a:t>nuclear </a:t>
            </a:r>
            <a:r>
              <a:rPr lang="en-US" altLang="zh-CN" sz="2400" u="sng" dirty="0"/>
              <a:t>family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A. a family of parents and their child/children</a:t>
            </a:r>
          </a:p>
          <a:p>
            <a:r>
              <a:rPr lang="en-US" altLang="zh-CN" sz="2400" dirty="0"/>
              <a:t>B. a family of one parent and the child/children</a:t>
            </a:r>
          </a:p>
          <a:p>
            <a:r>
              <a:rPr lang="en-US" altLang="zh-CN" sz="2400" dirty="0"/>
              <a:t>C. a family of several generations living together</a:t>
            </a:r>
          </a:p>
          <a:p>
            <a:r>
              <a:rPr lang="en-US" altLang="zh-CN" sz="2400" dirty="0"/>
              <a:t>D. a family of grandparents and their grandchild/grandchildren</a:t>
            </a:r>
          </a:p>
        </p:txBody>
      </p:sp>
      <p:pic>
        <p:nvPicPr>
          <p:cNvPr id="4" name="选择1" descr="圈圈.png">
            <a:extLst>
              <a:ext uri="{FF2B5EF4-FFF2-40B4-BE49-F238E27FC236}">
                <a16:creationId xmlns:a16="http://schemas.microsoft.com/office/drawing/2014/main" id="{CF87722C-9890-C0E5-3AEA-72B278D47934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8442" y="2295970"/>
            <a:ext cx="459698" cy="36119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194E14A-5F1D-5941-031C-B7F1F33FF3B1}"/>
              </a:ext>
            </a:extLst>
          </p:cNvPr>
          <p:cNvSpPr/>
          <p:nvPr/>
        </p:nvSpPr>
        <p:spPr>
          <a:xfrm>
            <a:off x="734326" y="1237484"/>
            <a:ext cx="7988473" cy="257788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63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1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20" name="文本框 19"/>
          <p:cNvSpPr txBox="1"/>
          <p:nvPr/>
        </p:nvSpPr>
        <p:spPr>
          <a:xfrm>
            <a:off x="366165" y="3691792"/>
            <a:ext cx="485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</a:p>
          <a:p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60400" y="3691792"/>
            <a:ext cx="823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The event was ________ a great success.</a:t>
            </a:r>
          </a:p>
          <a:p>
            <a:r>
              <a:rPr lang="en-US" altLang="zh-CN" sz="2400" dirty="0"/>
              <a:t>I</a:t>
            </a:r>
            <a:r>
              <a:rPr lang="en-US" altLang="zh-CN" sz="2400" spc="-20" dirty="0"/>
              <a:t> ______________ be home by midnight or my coach will turn into </a:t>
            </a:r>
            <a:r>
              <a:rPr lang="en-US" altLang="zh-CN" sz="2400" dirty="0"/>
              <a:t>a pumpkin.</a:t>
            </a:r>
          </a:p>
          <a:p>
            <a:r>
              <a:rPr lang="en-US" altLang="zh-CN" sz="2400" dirty="0"/>
              <a:t>T</a:t>
            </a:r>
            <a:r>
              <a:rPr lang="en-US" altLang="zh-CN" sz="2400" spc="40" dirty="0"/>
              <a:t>he characters you play </a:t>
            </a:r>
            <a:r>
              <a:rPr lang="en-US" altLang="zh-CN" sz="2400" spc="50" dirty="0"/>
              <a:t>on the show are extremely </a:t>
            </a:r>
            <a:r>
              <a:rPr lang="en-US" altLang="zh-CN" sz="2400" dirty="0"/>
              <a:t>_______ — ranging from a rich boy to a Jewish grandpa.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60" dirty="0"/>
              <a:t>he alarm system undergoes ________</a:t>
            </a:r>
            <a:r>
              <a:rPr lang="en-US" altLang="zh-CN" sz="2400" spc="-70" dirty="0"/>
              <a:t> testing to ensure its reliability.</a:t>
            </a:r>
          </a:p>
          <a:p>
            <a:r>
              <a:rPr lang="en-US" altLang="zh-CN" sz="2400" dirty="0"/>
              <a:t>The tropical island boasts _______________ wildlife.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Fill in the blanks with one of the </a:t>
            </a:r>
            <a:r>
              <a:rPr lang="en-US" altLang="zh-CN" sz="2400" spc="40" dirty="0">
                <a:latin typeface="Cambria" panose="02040503050406030204" pitchFamily="18" charset="0"/>
                <a:ea typeface="Cambria" panose="02040503050406030204" pitchFamily="18" charset="0"/>
              </a:rPr>
              <a:t>words or phrases given in the 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box, making possible changes where necessary.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67715" y="2420930"/>
            <a:ext cx="8323860" cy="1179520"/>
          </a:xfrm>
          <a:prstGeom prst="roundRect">
            <a:avLst/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7145" y="2527028"/>
            <a:ext cx="1628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periodically</a:t>
            </a:r>
            <a:endParaRPr lang="zh-CN" altLang="en-US" sz="2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557144" y="3028718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an abundance of</a:t>
            </a:r>
            <a:endParaRPr lang="zh-CN" altLang="en-US" sz="2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3118217" y="2527028"/>
            <a:ext cx="1607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burgeoning</a:t>
            </a:r>
            <a:endParaRPr lang="zh-CN" altLang="en-US" sz="2400" dirty="0"/>
          </a:p>
        </p:txBody>
      </p:sp>
      <p:sp>
        <p:nvSpPr>
          <p:cNvPr id="26" name="文本框 25"/>
          <p:cNvSpPr txBox="1"/>
          <p:nvPr/>
        </p:nvSpPr>
        <p:spPr>
          <a:xfrm>
            <a:off x="3118217" y="3028718"/>
            <a:ext cx="2118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associated with</a:t>
            </a:r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520785" y="2527028"/>
            <a:ext cx="171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supposed to</a:t>
            </a:r>
            <a:endParaRPr lang="zh-CN" altLang="en-US" sz="24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520785" y="3028718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deem</a:t>
            </a:r>
            <a:endParaRPr lang="zh-CN" altLang="en-US" sz="2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7524205" y="2527028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diverse</a:t>
            </a:r>
            <a:endParaRPr lang="zh-CN" altLang="en-US" sz="2400" dirty="0"/>
          </a:p>
        </p:txBody>
      </p:sp>
      <p:sp>
        <p:nvSpPr>
          <p:cNvPr id="30" name="文本框 29"/>
          <p:cNvSpPr txBox="1"/>
          <p:nvPr/>
        </p:nvSpPr>
        <p:spPr>
          <a:xfrm>
            <a:off x="7524205" y="3028718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surplus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57233" y="4009310"/>
            <a:ext cx="21805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am supposed to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86100" y="4783089"/>
            <a:ext cx="1083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diverse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618629" y="3697927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deemed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9120" y="4098504"/>
            <a:ext cx="2120610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380195" y="4835622"/>
            <a:ext cx="1083695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625354" y="3742537"/>
            <a:ext cx="1201946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5520785" y="3028718"/>
            <a:ext cx="89960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deem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520785" y="2527028"/>
            <a:ext cx="171893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supposed to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524205" y="2527028"/>
            <a:ext cx="108369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diverse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96CD4C9-7151-9E3D-ED52-9D9CE11CE2A3}"/>
              </a:ext>
            </a:extLst>
          </p:cNvPr>
          <p:cNvSpPr txBox="1"/>
          <p:nvPr/>
        </p:nvSpPr>
        <p:spPr>
          <a:xfrm>
            <a:off x="3948118" y="5879031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 abundance of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1DF44B-F8F8-8801-3070-5A0548867350}"/>
              </a:ext>
            </a:extLst>
          </p:cNvPr>
          <p:cNvSpPr txBox="1"/>
          <p:nvPr/>
        </p:nvSpPr>
        <p:spPr>
          <a:xfrm>
            <a:off x="4154825" y="5477985"/>
            <a:ext cx="1202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periodic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42D4E20-145C-F5EB-97C5-178B478295A9}"/>
              </a:ext>
            </a:extLst>
          </p:cNvPr>
          <p:cNvSpPr/>
          <p:nvPr/>
        </p:nvSpPr>
        <p:spPr>
          <a:xfrm>
            <a:off x="3923955" y="5928990"/>
            <a:ext cx="2300748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269703-6077-D3ED-6E64-A2C72D7E33E7}"/>
              </a:ext>
            </a:extLst>
          </p:cNvPr>
          <p:cNvSpPr/>
          <p:nvPr/>
        </p:nvSpPr>
        <p:spPr>
          <a:xfrm>
            <a:off x="4211975" y="5564770"/>
            <a:ext cx="1080075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823B0E-8CC3-0A61-F025-791378D45347}"/>
              </a:ext>
            </a:extLst>
          </p:cNvPr>
          <p:cNvSpPr txBox="1"/>
          <p:nvPr/>
        </p:nvSpPr>
        <p:spPr>
          <a:xfrm>
            <a:off x="557145" y="2527028"/>
            <a:ext cx="162801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periodically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2D8FCCE-375A-A319-2FF7-90CE560CEF29}"/>
              </a:ext>
            </a:extLst>
          </p:cNvPr>
          <p:cNvSpPr txBox="1"/>
          <p:nvPr/>
        </p:nvSpPr>
        <p:spPr>
          <a:xfrm>
            <a:off x="557144" y="3028718"/>
            <a:ext cx="227658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an abundance of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10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31" grpId="0"/>
      <p:bldP spid="34" grpId="0" animBg="1"/>
      <p:bldP spid="35" grpId="0" animBg="1"/>
      <p:bldP spid="36" grpId="0" animBg="1"/>
      <p:bldP spid="6" grpId="0"/>
      <p:bldP spid="8" grpId="0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366165" y="2602664"/>
            <a:ext cx="485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0400" y="2602664"/>
            <a:ext cx="8231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80" dirty="0"/>
              <a:t>he </a:t>
            </a:r>
            <a:r>
              <a:rPr lang="en-US" altLang="zh-CN" sz="2400" spc="90" dirty="0"/>
              <a:t>company was criticized for not doing more to reduce its </a:t>
            </a:r>
            <a:r>
              <a:rPr lang="en-US" altLang="zh-CN" sz="2400" dirty="0"/>
              <a:t>___________ debt.</a:t>
            </a:r>
          </a:p>
          <a:p>
            <a:r>
              <a:rPr lang="en-US" altLang="zh-CN" sz="2400" dirty="0"/>
              <a:t>Rainfall ________________ humidity.</a:t>
            </a:r>
          </a:p>
          <a:p>
            <a:r>
              <a:rPr lang="en-US" altLang="zh-CN" sz="2400" dirty="0"/>
              <a:t>________ grain is being sold for export.</a:t>
            </a:r>
          </a:p>
        </p:txBody>
      </p:sp>
      <p:pic>
        <p:nvPicPr>
          <p:cNvPr id="32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59" name="圆角矩形 3">
            <a:extLst>
              <a:ext uri="{FF2B5EF4-FFF2-40B4-BE49-F238E27FC236}">
                <a16:creationId xmlns:a16="http://schemas.microsoft.com/office/drawing/2014/main" id="{B92C79DA-8298-A0DC-16E6-E2C238C38CF9}"/>
              </a:ext>
            </a:extLst>
          </p:cNvPr>
          <p:cNvSpPr/>
          <p:nvPr/>
        </p:nvSpPr>
        <p:spPr>
          <a:xfrm>
            <a:off x="467715" y="1287900"/>
            <a:ext cx="8323860" cy="1179520"/>
          </a:xfrm>
          <a:prstGeom prst="roundRect">
            <a:avLst/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A7AC3BB-A3D1-3311-AE6F-72691025B859}"/>
              </a:ext>
            </a:extLst>
          </p:cNvPr>
          <p:cNvSpPr txBox="1"/>
          <p:nvPr/>
        </p:nvSpPr>
        <p:spPr>
          <a:xfrm>
            <a:off x="557145" y="1393998"/>
            <a:ext cx="16280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periodically</a:t>
            </a:r>
            <a:endParaRPr lang="zh-CN" altLang="en-US" sz="2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BCFED597-1836-2976-1E45-A3113E69C8D0}"/>
              </a:ext>
            </a:extLst>
          </p:cNvPr>
          <p:cNvSpPr txBox="1"/>
          <p:nvPr/>
        </p:nvSpPr>
        <p:spPr>
          <a:xfrm>
            <a:off x="557144" y="1895688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an abundance of</a:t>
            </a:r>
            <a:endParaRPr lang="zh-CN" altLang="en-US" sz="24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4D022D12-E3D0-73F7-F191-169BAD5DA994}"/>
              </a:ext>
            </a:extLst>
          </p:cNvPr>
          <p:cNvSpPr txBox="1"/>
          <p:nvPr/>
        </p:nvSpPr>
        <p:spPr>
          <a:xfrm>
            <a:off x="3118217" y="1393998"/>
            <a:ext cx="1607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burgeoning</a:t>
            </a:r>
            <a:endParaRPr lang="zh-CN" altLang="en-US" sz="24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06893A2-C70D-74CD-1E8C-2C8913EB3D00}"/>
              </a:ext>
            </a:extLst>
          </p:cNvPr>
          <p:cNvSpPr txBox="1"/>
          <p:nvPr/>
        </p:nvSpPr>
        <p:spPr>
          <a:xfrm>
            <a:off x="3118217" y="1895688"/>
            <a:ext cx="2118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associated with</a:t>
            </a:r>
            <a:endParaRPr lang="zh-CN" altLang="en-US" sz="24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9BC4E02-6A3C-A3CF-FBD5-4813F01B9187}"/>
              </a:ext>
            </a:extLst>
          </p:cNvPr>
          <p:cNvSpPr txBox="1"/>
          <p:nvPr/>
        </p:nvSpPr>
        <p:spPr>
          <a:xfrm>
            <a:off x="5520785" y="1393998"/>
            <a:ext cx="171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supposed to</a:t>
            </a:r>
            <a:endParaRPr lang="zh-CN" altLang="en-US" sz="24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0305C1B-E31B-AD54-A502-907391B4AEE3}"/>
              </a:ext>
            </a:extLst>
          </p:cNvPr>
          <p:cNvSpPr txBox="1"/>
          <p:nvPr/>
        </p:nvSpPr>
        <p:spPr>
          <a:xfrm>
            <a:off x="5520785" y="1895688"/>
            <a:ext cx="899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deem</a:t>
            </a:r>
            <a:endParaRPr lang="zh-CN" altLang="en-US" sz="24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11CB1AD-F0B9-629D-15E8-C413ECCC7B71}"/>
              </a:ext>
            </a:extLst>
          </p:cNvPr>
          <p:cNvSpPr txBox="1"/>
          <p:nvPr/>
        </p:nvSpPr>
        <p:spPr>
          <a:xfrm>
            <a:off x="7524205" y="1393998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diverse</a:t>
            </a:r>
            <a:endParaRPr lang="zh-CN" altLang="en-US" sz="24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F8EB081-D116-B2F4-B13E-68B33074B3BA}"/>
              </a:ext>
            </a:extLst>
          </p:cNvPr>
          <p:cNvSpPr txBox="1"/>
          <p:nvPr/>
        </p:nvSpPr>
        <p:spPr>
          <a:xfrm>
            <a:off x="7524205" y="1895688"/>
            <a:ext cx="1088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surplus</a:t>
            </a:r>
            <a:endParaRPr lang="zh-CN" altLang="en-US" sz="24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F920FAC-EFC2-2941-0414-D1EAEF01EE24}"/>
              </a:ext>
            </a:extLst>
          </p:cNvPr>
          <p:cNvSpPr txBox="1"/>
          <p:nvPr/>
        </p:nvSpPr>
        <p:spPr>
          <a:xfrm>
            <a:off x="5520785" y="1895688"/>
            <a:ext cx="89960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deem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9A28729-D897-5D76-B2CC-4E7C76333867}"/>
              </a:ext>
            </a:extLst>
          </p:cNvPr>
          <p:cNvSpPr txBox="1"/>
          <p:nvPr/>
        </p:nvSpPr>
        <p:spPr>
          <a:xfrm>
            <a:off x="5520785" y="1393998"/>
            <a:ext cx="171893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supposed to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4197B0E-2F28-18F0-893B-29F4F655EF2A}"/>
              </a:ext>
            </a:extLst>
          </p:cNvPr>
          <p:cNvSpPr txBox="1"/>
          <p:nvPr/>
        </p:nvSpPr>
        <p:spPr>
          <a:xfrm>
            <a:off x="7524205" y="1393998"/>
            <a:ext cx="108369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diverse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1274FCE-A12C-9D28-8DDA-D38E088164E0}"/>
              </a:ext>
            </a:extLst>
          </p:cNvPr>
          <p:cNvSpPr txBox="1"/>
          <p:nvPr/>
        </p:nvSpPr>
        <p:spPr>
          <a:xfrm>
            <a:off x="557145" y="1393998"/>
            <a:ext cx="162801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periodically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472C9C04-1475-F080-391E-F182CCE242CF}"/>
              </a:ext>
            </a:extLst>
          </p:cNvPr>
          <p:cNvSpPr txBox="1"/>
          <p:nvPr/>
        </p:nvSpPr>
        <p:spPr>
          <a:xfrm>
            <a:off x="557144" y="1895688"/>
            <a:ext cx="227658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an abundance of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892D57B-B281-757E-8D72-EA981D0C2782}"/>
              </a:ext>
            </a:extLst>
          </p:cNvPr>
          <p:cNvSpPr txBox="1"/>
          <p:nvPr/>
        </p:nvSpPr>
        <p:spPr>
          <a:xfrm>
            <a:off x="794577" y="2913810"/>
            <a:ext cx="1607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burgeoning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9E41468-287D-7B4C-D23A-18CF91C4D33C}"/>
              </a:ext>
            </a:extLst>
          </p:cNvPr>
          <p:cNvSpPr/>
          <p:nvPr/>
        </p:nvSpPr>
        <p:spPr>
          <a:xfrm>
            <a:off x="770568" y="3020215"/>
            <a:ext cx="1688250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A253822-E055-E647-6D9C-8C10178E3BC3}"/>
              </a:ext>
            </a:extLst>
          </p:cNvPr>
          <p:cNvSpPr txBox="1"/>
          <p:nvPr/>
        </p:nvSpPr>
        <p:spPr>
          <a:xfrm>
            <a:off x="3118217" y="1393998"/>
            <a:ext cx="160774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burgeoning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C210BAD-3436-E4B3-E14A-1C2E65BBC490}"/>
              </a:ext>
            </a:extLst>
          </p:cNvPr>
          <p:cNvSpPr txBox="1"/>
          <p:nvPr/>
        </p:nvSpPr>
        <p:spPr>
          <a:xfrm>
            <a:off x="1759393" y="3336885"/>
            <a:ext cx="2377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is associated with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EF1E1B2-35D8-CFD0-E039-141F22888594}"/>
              </a:ext>
            </a:extLst>
          </p:cNvPr>
          <p:cNvSpPr txBox="1"/>
          <p:nvPr/>
        </p:nvSpPr>
        <p:spPr>
          <a:xfrm>
            <a:off x="809272" y="3649285"/>
            <a:ext cx="11095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Surplus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ADD3959-2D28-4557-B58F-8148608C4F2D}"/>
              </a:ext>
            </a:extLst>
          </p:cNvPr>
          <p:cNvSpPr/>
          <p:nvPr/>
        </p:nvSpPr>
        <p:spPr>
          <a:xfrm>
            <a:off x="1716180" y="3387979"/>
            <a:ext cx="2420980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9D8AF00-D1CD-6DA5-2C8F-B808B5D43D90}"/>
              </a:ext>
            </a:extLst>
          </p:cNvPr>
          <p:cNvSpPr/>
          <p:nvPr/>
        </p:nvSpPr>
        <p:spPr>
          <a:xfrm>
            <a:off x="755735" y="3749790"/>
            <a:ext cx="1224085" cy="3367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3CBA4CF-FC9E-6CF7-6670-71FCB4FFABCC}"/>
              </a:ext>
            </a:extLst>
          </p:cNvPr>
          <p:cNvSpPr txBox="1"/>
          <p:nvPr/>
        </p:nvSpPr>
        <p:spPr>
          <a:xfrm>
            <a:off x="3118217" y="1895688"/>
            <a:ext cx="211808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associated with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7C61752F-1153-6938-C46A-D7C273B48896}"/>
              </a:ext>
            </a:extLst>
          </p:cNvPr>
          <p:cNvSpPr txBox="1"/>
          <p:nvPr/>
        </p:nvSpPr>
        <p:spPr>
          <a:xfrm>
            <a:off x="7524205" y="1895688"/>
            <a:ext cx="1088760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surplus</a:t>
            </a:r>
          </a:p>
        </p:txBody>
      </p:sp>
    </p:spTree>
    <p:extLst>
      <p:ext uri="{BB962C8B-B14F-4D97-AF65-F5344CB8AC3E}">
        <p14:creationId xmlns:p14="http://schemas.microsoft.com/office/powerpoint/2010/main" val="405636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</p:childTnLst>
        </p:cTn>
      </p:par>
    </p:tnLst>
    <p:bldLst>
      <p:bldP spid="73" grpId="0"/>
      <p:bldP spid="75" grpId="0" animBg="1"/>
      <p:bldP spid="76" grpId="0"/>
      <p:bldP spid="77" grpId="0"/>
      <p:bldP spid="80" grpId="0" animBg="1"/>
      <p:bldP spid="8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32" name="文本框 31"/>
          <p:cNvSpPr txBox="1"/>
          <p:nvPr/>
        </p:nvSpPr>
        <p:spPr>
          <a:xfrm>
            <a:off x="360000" y="1133951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r>
              <a:rPr lang="en-US" altLang="zh-CN" sz="2400" b="1" spc="20" dirty="0">
                <a:solidFill>
                  <a:srgbClr val="C6383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6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701040" y="1133951"/>
            <a:ext cx="8191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2400" spc="-20" dirty="0">
                <a:latin typeface="Cambria" panose="02040503050406030204" pitchFamily="18" charset="0"/>
                <a:ea typeface="Cambria" panose="02040503050406030204" pitchFamily="18" charset="0"/>
              </a:rPr>
              <a:t>Translate the following sentences into English, using the words or phrases given in brackets.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6165" y="2600733"/>
            <a:ext cx="485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2</a:t>
            </a:r>
            <a:endParaRPr lang="zh-CN" altLang="en-US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0400" y="2600733"/>
            <a:ext cx="823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中国人从除夕开始欢庆春节。</a:t>
            </a:r>
            <a:r>
              <a:rPr lang="en-US" altLang="zh-CN" sz="2400" dirty="0"/>
              <a:t>(kick off)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</a:p>
          <a:p>
            <a:pPr algn="just"/>
            <a:endParaRPr lang="en-US" altLang="zh-CN" sz="2400" spc="-10" dirty="0"/>
          </a:p>
          <a:p>
            <a:r>
              <a:rPr lang="zh-CN" altLang="en-US" sz="2400" spc="-30" dirty="0"/>
              <a:t>邻居们家门上倒贴着带有“福”字的菱形红纸。</a:t>
            </a:r>
            <a:r>
              <a:rPr lang="en-US" altLang="zh-CN" sz="2400" spc="-30" dirty="0"/>
              <a:t>(upside down)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0400" y="2924965"/>
            <a:ext cx="8159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</a:t>
            </a:r>
            <a:r>
              <a:rPr lang="en-US" altLang="zh-CN" sz="2400" spc="20" dirty="0">
                <a:solidFill>
                  <a:srgbClr val="FF0000"/>
                </a:solidFill>
              </a:rPr>
              <a:t>n China, the celebration of the </a:t>
            </a:r>
            <a:r>
              <a:rPr lang="en-US" altLang="zh-CN" sz="2400" spc="30" dirty="0">
                <a:solidFill>
                  <a:srgbClr val="FF0000"/>
                </a:solidFill>
              </a:rPr>
              <a:t>Spring Festival kicks off on New </a:t>
            </a:r>
            <a:r>
              <a:rPr lang="en-US" altLang="zh-CN" sz="2400" dirty="0">
                <a:solidFill>
                  <a:srgbClr val="FF0000"/>
                </a:solidFill>
              </a:rPr>
              <a:t>Year’s Eve.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56496" y="4393203"/>
            <a:ext cx="8159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 diamond-shaped </a:t>
            </a:r>
            <a:r>
              <a:rPr lang="en-US" altLang="zh-CN" sz="2400" spc="-10" dirty="0">
                <a:solidFill>
                  <a:srgbClr val="FF0000"/>
                </a:solidFill>
              </a:rPr>
              <a:t>piece of red paper with the character “</a:t>
            </a:r>
            <a:r>
              <a:rPr lang="zh-CN" altLang="en-US" sz="2400" spc="-10" dirty="0">
                <a:solidFill>
                  <a:srgbClr val="FF0000"/>
                </a:solidFill>
              </a:rPr>
              <a:t>福</a:t>
            </a:r>
            <a:r>
              <a:rPr lang="en-US" altLang="zh-CN" sz="2400" spc="-10" dirty="0">
                <a:solidFill>
                  <a:srgbClr val="FF0000"/>
                </a:solidFill>
              </a:rPr>
              <a:t>[</a:t>
            </a:r>
            <a:r>
              <a:rPr lang="en-US" altLang="zh-CN" sz="2400" spc="-10" dirty="0" err="1">
                <a:solidFill>
                  <a:srgbClr val="FF0000"/>
                </a:solidFill>
              </a:rPr>
              <a:t>fú</a:t>
            </a:r>
            <a:r>
              <a:rPr lang="en-US" altLang="zh-CN" sz="2400" spc="-10" dirty="0">
                <a:solidFill>
                  <a:srgbClr val="FF0000"/>
                </a:solidFill>
              </a:rPr>
              <a:t>]” </a:t>
            </a:r>
            <a:r>
              <a:rPr lang="en-US" altLang="zh-CN" sz="2400" dirty="0">
                <a:solidFill>
                  <a:srgbClr val="FF0000"/>
                </a:solidFill>
              </a:rPr>
              <a:t>is hung upside down on the doors of the </a:t>
            </a:r>
            <a:r>
              <a:rPr lang="en-US" altLang="zh-CN" sz="2400" dirty="0" err="1">
                <a:solidFill>
                  <a:srgbClr val="FF0000"/>
                </a:solidFill>
              </a:rPr>
              <a:t>neighbours</a:t>
            </a:r>
            <a:r>
              <a:rPr lang="en-US" altLang="zh-CN" sz="2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3" name="矩形 12"/>
          <p:cNvSpPr/>
          <p:nvPr/>
        </p:nvSpPr>
        <p:spPr>
          <a:xfrm>
            <a:off x="736497" y="3011729"/>
            <a:ext cx="8060656" cy="7109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36497" y="4485100"/>
            <a:ext cx="8060656" cy="7109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06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6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6165" y="1162940"/>
            <a:ext cx="4859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zh-CN" altLang="en-US" sz="2400" dirty="0">
                <a:latin typeface="+mn-ea"/>
                <a:ea typeface="+mn-ea"/>
              </a:rPr>
              <a:t> 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+mn-ea"/>
                <a:ea typeface="+mn-ea"/>
              </a:rPr>
              <a:t> </a:t>
            </a:r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0400" y="1162940"/>
            <a:ext cx="8231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年夜饭是阖家团圆的好机会。</a:t>
            </a:r>
            <a:r>
              <a:rPr lang="en-US" altLang="zh-CN" sz="2400" dirty="0"/>
              <a:t>(occasion)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</a:p>
          <a:p>
            <a:pPr algn="just"/>
            <a:endParaRPr lang="en-US" altLang="zh-CN" sz="2400" spc="-10" dirty="0"/>
          </a:p>
          <a:p>
            <a:r>
              <a:rPr lang="zh-CN" altLang="en-US" sz="2400" dirty="0"/>
              <a:t>人们放烟花燃爆竹，热热闹闹过大年。</a:t>
            </a:r>
            <a:r>
              <a:rPr lang="en-US" altLang="zh-CN" sz="2400" dirty="0"/>
              <a:t>(set off; raucous)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</a:p>
          <a:p>
            <a:pPr algn="just"/>
            <a:endParaRPr lang="en-US" altLang="zh-CN" sz="2400" spc="-10" dirty="0"/>
          </a:p>
          <a:p>
            <a:r>
              <a:rPr lang="zh-CN" altLang="en-US" sz="2400" dirty="0">
                <a:latin typeface="+mn-ea"/>
                <a:ea typeface="+mn-ea"/>
              </a:rPr>
              <a:t>菜</a:t>
            </a:r>
            <a:r>
              <a:rPr lang="zh-CN" altLang="en-US" sz="2400" spc="-100" dirty="0">
                <a:latin typeface="+mn-ea"/>
                <a:ea typeface="+mn-ea"/>
              </a:rPr>
              <a:t>肴名通过使用双关语，赋予了食物多层含义。</a:t>
            </a:r>
            <a:r>
              <a:rPr lang="en-US" altLang="zh-CN" sz="2400" spc="-100" dirty="0"/>
              <a:t>(wordplay; layer)</a:t>
            </a:r>
            <a:endParaRPr lang="en-US" altLang="zh-CN" sz="2400" dirty="0"/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56496" y="1489353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 New Year’s Eve feast is a good occasion for family gathering.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56496" y="2958870"/>
            <a:ext cx="8159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Firecrackers</a:t>
            </a:r>
            <a:r>
              <a:rPr lang="en-US" altLang="zh-CN" sz="2400" spc="10" dirty="0">
                <a:solidFill>
                  <a:srgbClr val="FF0000"/>
                </a:solidFill>
              </a:rPr>
              <a:t> and fireworks are set off throughout the Lunar New </a:t>
            </a:r>
            <a:r>
              <a:rPr lang="en-US" altLang="zh-CN" sz="2400" dirty="0">
                <a:solidFill>
                  <a:srgbClr val="FF0000"/>
                </a:solidFill>
              </a:rPr>
              <a:t>Year in a raucous way.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56496" y="4418020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Foods carry extra layers of meaning through wordplay.</a:t>
            </a:r>
          </a:p>
        </p:txBody>
      </p:sp>
      <p:sp>
        <p:nvSpPr>
          <p:cNvPr id="13" name="矩形 12"/>
          <p:cNvSpPr/>
          <p:nvPr/>
        </p:nvSpPr>
        <p:spPr>
          <a:xfrm>
            <a:off x="736497" y="1594970"/>
            <a:ext cx="8060656" cy="7109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36497" y="3044595"/>
            <a:ext cx="8060656" cy="7109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36497" y="4523088"/>
            <a:ext cx="8060656" cy="71090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24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360000" y="1671245"/>
            <a:ext cx="8532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         一</a:t>
            </a:r>
            <a:r>
              <a:rPr lang="zh-CN" altLang="en-US" sz="2400" spc="100" dirty="0"/>
              <a:t>家人热热闹闹的年夜饭，边点评边看完的春晚（</a:t>
            </a:r>
            <a:r>
              <a:rPr lang="en-US" altLang="zh-CN" sz="2400" spc="100" dirty="0"/>
              <a:t>CCTV </a:t>
            </a:r>
            <a:r>
              <a:rPr lang="en-US" altLang="zh-CN" sz="2400" spc="20" dirty="0"/>
              <a:t>New Year’s Gala</a:t>
            </a:r>
            <a:r>
              <a:rPr lang="zh-CN" altLang="en-US" sz="2400" spc="20" dirty="0"/>
              <a:t>），喧嚣而缤纷的烟花鞭炮</a:t>
            </a:r>
            <a:r>
              <a:rPr lang="en-US" altLang="zh-CN" sz="2400" spc="20" dirty="0">
                <a:latin typeface="+mn-ea"/>
                <a:ea typeface="+mn-ea"/>
              </a:rPr>
              <a:t>……</a:t>
            </a:r>
            <a:r>
              <a:rPr lang="zh-CN" altLang="en-US" sz="2400" spc="20" dirty="0"/>
              <a:t>年复一年，这些固定程序构成了我们对于春节的记忆，似乎有了这些仪式，才算过了一个完整的春节。这些我们习以为常的仪式，其实都有着千年的文化根源。不过在时代的变迁中，许多习俗不论从形式还是内核，都发生了巨大的变化。更有很多曾风靡一时的传统习俗，如今已经销声匿迹。</a:t>
            </a:r>
            <a:endParaRPr lang="en-US" altLang="zh-CN" sz="2400" b="1" spc="20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0000" y="1133951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spc="20" dirty="0">
                <a:solidFill>
                  <a:srgbClr val="C6383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1040" y="1133951"/>
            <a:ext cx="8191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Translate the following passage into English.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钥匙2" descr="C:\Users\senj\Desktop\新建文件夹\答案.png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139" y="1212085"/>
            <a:ext cx="324000" cy="324000"/>
          </a:xfrm>
          <a:prstGeom prst="rect">
            <a:avLst/>
          </a:prstGeom>
          <a:noFill/>
        </p:spPr>
      </p:pic>
      <p:grpSp>
        <p:nvGrpSpPr>
          <p:cNvPr id="11" name="组合 10"/>
          <p:cNvGrpSpPr/>
          <p:nvPr/>
        </p:nvGrpSpPr>
        <p:grpSpPr>
          <a:xfrm>
            <a:off x="9461137" y="1132940"/>
            <a:ext cx="9144000" cy="5171599"/>
            <a:chOff x="9461137" y="1132940"/>
            <a:chExt cx="9144000" cy="5171599"/>
          </a:xfrm>
        </p:grpSpPr>
        <p:sp>
          <p:nvSpPr>
            <p:cNvPr id="12" name="矩形 11"/>
            <p:cNvSpPr/>
            <p:nvPr/>
          </p:nvSpPr>
          <p:spPr>
            <a:xfrm>
              <a:off x="9461137" y="1132940"/>
              <a:ext cx="9144000" cy="51715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766987" y="1271916"/>
              <a:ext cx="8532300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2400" dirty="0"/>
                <a:t>     T</a:t>
              </a:r>
              <a:r>
                <a:rPr lang="en-US" altLang="zh-CN" sz="2400" spc="20" dirty="0"/>
                <a:t>he lively New Year’s Eve </a:t>
              </a:r>
              <a:r>
                <a:rPr lang="en-US" altLang="zh-CN" sz="2400" spc="30" dirty="0"/>
                <a:t>family feast, the critical comments on </a:t>
              </a:r>
              <a:r>
                <a:rPr lang="en-US" altLang="zh-CN" sz="2400" dirty="0"/>
                <a:t>t</a:t>
              </a:r>
              <a:r>
                <a:rPr lang="en-US" altLang="zh-CN" sz="2400" spc="40" dirty="0"/>
                <a:t>he CCTV New Year’s Gala, the noisy and colorful firecrackers and </a:t>
              </a:r>
              <a:r>
                <a:rPr lang="en-US" altLang="zh-CN" sz="2400" dirty="0"/>
                <a:t>f</a:t>
              </a:r>
              <a:r>
                <a:rPr lang="en-US" altLang="zh-CN" sz="2400" spc="-60" dirty="0"/>
                <a:t>ireworks ... these fixed </a:t>
              </a:r>
              <a:r>
                <a:rPr lang="en-US" altLang="zh-CN" sz="2400" spc="-50" dirty="0"/>
                <a:t>procedures, year after year, form our memories </a:t>
              </a:r>
              <a:r>
                <a:rPr lang="en-US" altLang="zh-CN" sz="2400" dirty="0"/>
                <a:t>o</a:t>
              </a:r>
              <a:r>
                <a:rPr lang="en-US" altLang="zh-CN" sz="2400" spc="-50" dirty="0"/>
                <a:t>f the Spring Festival. It seems that the festival is not complete without </a:t>
              </a:r>
              <a:r>
                <a:rPr lang="en-US" altLang="zh-CN" sz="2400" dirty="0"/>
                <a:t>t</a:t>
              </a:r>
              <a:r>
                <a:rPr lang="en-US" altLang="zh-CN" sz="2400" spc="-10" dirty="0"/>
                <a:t>hese rituals, which are taken for granted but have the cultural roots </a:t>
              </a:r>
              <a:r>
                <a:rPr lang="en-US" altLang="zh-CN" sz="2400" dirty="0"/>
                <a:t>d</a:t>
              </a:r>
              <a:r>
                <a:rPr lang="en-US" altLang="zh-CN" sz="2400" spc="-20" dirty="0"/>
                <a:t>ating back thousands of years. </a:t>
              </a:r>
              <a:r>
                <a:rPr lang="en-US" altLang="zh-CN" sz="2400" spc="-10" dirty="0"/>
                <a:t>However, many of these rituals have </a:t>
              </a:r>
              <a:r>
                <a:rPr lang="en-US" altLang="zh-CN" sz="2400" dirty="0"/>
                <a:t>c</a:t>
              </a:r>
              <a:r>
                <a:rPr lang="en-US" altLang="zh-CN" sz="2400" spc="30" dirty="0"/>
                <a:t>hanged dramatically over the years, both in form and in essence. </a:t>
              </a:r>
              <a:r>
                <a:rPr lang="en-US" altLang="zh-CN" sz="2400" dirty="0"/>
                <a:t>T</a:t>
              </a:r>
              <a:r>
                <a:rPr lang="en-US" altLang="zh-CN" sz="2400" spc="-20" dirty="0"/>
                <a:t>here are many traditional customs that were once popular but have </a:t>
              </a:r>
              <a:r>
                <a:rPr lang="en-US" altLang="zh-CN" sz="2400" dirty="0"/>
                <a:t>now disappeared without a trace.</a:t>
              </a:r>
              <a:endParaRPr lang="zh-CN" altLang="en-US" sz="2400" dirty="0"/>
            </a:p>
          </p:txBody>
        </p:sp>
      </p:grpSp>
      <p:pic>
        <p:nvPicPr>
          <p:cNvPr id="4" name="Picture 3" descr="C:\Users\senj\Desktop\按钮.png">
            <a:extLst>
              <a:ext uri="{FF2B5EF4-FFF2-40B4-BE49-F238E27FC236}">
                <a16:creationId xmlns:a16="http://schemas.microsoft.com/office/drawing/2014/main" id="{4D518791-8EA1-15ED-56B5-A664AB08F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787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7 L -1.03472 0.000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7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7 L -2.22222E-6 0.25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360000" y="1133951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Work in a small group and discuss the following topics.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17CB44-7FE5-1000-90E1-5C42F2A6A977}"/>
              </a:ext>
            </a:extLst>
          </p:cNvPr>
          <p:cNvSpPr txBox="1"/>
          <p:nvPr/>
        </p:nvSpPr>
        <p:spPr>
          <a:xfrm>
            <a:off x="366165" y="1647925"/>
            <a:ext cx="485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ea typeface="+mn-ea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899A73-9797-D2A9-A5C2-0F06A5417E52}"/>
              </a:ext>
            </a:extLst>
          </p:cNvPr>
          <p:cNvSpPr txBox="1"/>
          <p:nvPr/>
        </p:nvSpPr>
        <p:spPr>
          <a:xfrm>
            <a:off x="660400" y="1647925"/>
            <a:ext cx="8231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</a:t>
            </a:r>
            <a:r>
              <a:rPr lang="en-US" altLang="zh-CN" sz="2400" spc="40" dirty="0"/>
              <a:t>re you familiar with the traditions in the description below of </a:t>
            </a:r>
            <a:r>
              <a:rPr lang="en-US" altLang="zh-CN" sz="2400" dirty="0"/>
              <a:t>t</a:t>
            </a:r>
            <a:r>
              <a:rPr lang="en-US" altLang="zh-CN" sz="2400" spc="40" dirty="0"/>
              <a:t>he Chinese New Year? Is there anything new or </a:t>
            </a:r>
            <a:r>
              <a:rPr lang="en-US" altLang="zh-CN" sz="2400" spc="50" dirty="0"/>
              <a:t>different in its </a:t>
            </a:r>
            <a:r>
              <a:rPr lang="en-US" altLang="zh-CN" sz="2400" dirty="0"/>
              <a:t>c</a:t>
            </a:r>
            <a:r>
              <a:rPr lang="en-US" altLang="zh-CN" sz="2400" spc="20" dirty="0"/>
              <a:t>ontempo</a:t>
            </a:r>
            <a:r>
              <a:rPr lang="en-US" altLang="zh-CN" sz="2400" spc="30" dirty="0"/>
              <a:t>rary celebrations? What’s the possible cause of these</a:t>
            </a:r>
          </a:p>
          <a:p>
            <a:r>
              <a:rPr lang="en-US" altLang="zh-CN" sz="2400" dirty="0"/>
              <a:t>changes?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4AFB3B-6783-80B3-66B8-C64386D82986}"/>
              </a:ext>
            </a:extLst>
          </p:cNvPr>
          <p:cNvSpPr/>
          <p:nvPr/>
        </p:nvSpPr>
        <p:spPr>
          <a:xfrm>
            <a:off x="755650" y="3252686"/>
            <a:ext cx="7993062" cy="3046988"/>
          </a:xfrm>
          <a:prstGeom prst="roundRect">
            <a:avLst>
              <a:gd name="adj" fmla="val 5423"/>
            </a:avLst>
          </a:prstGeom>
          <a:solidFill>
            <a:srgbClr val="F9E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7EABDFC-7A95-8E70-2897-B26FB51CABC4}"/>
              </a:ext>
            </a:extLst>
          </p:cNvPr>
          <p:cNvSpPr txBox="1"/>
          <p:nvPr/>
        </p:nvSpPr>
        <p:spPr>
          <a:xfrm>
            <a:off x="815588" y="3262212"/>
            <a:ext cx="78702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T</a:t>
            </a:r>
            <a:r>
              <a:rPr lang="en-US" altLang="zh-CN" sz="2400" spc="20" dirty="0"/>
              <a:t>o “all between the four seas</a:t>
            </a:r>
            <a:r>
              <a:rPr lang="en-US" altLang="zh-CN" sz="2400" spc="30" dirty="0"/>
              <a:t>,” the New Year is a period of </a:t>
            </a:r>
            <a:r>
              <a:rPr lang="en-US" altLang="zh-CN" sz="2400" dirty="0"/>
              <a:t>m</a:t>
            </a:r>
            <a:r>
              <a:rPr lang="en-US" altLang="zh-CN" sz="2400" spc="10" dirty="0"/>
              <a:t>uch i</a:t>
            </a:r>
            <a:r>
              <a:rPr lang="en-US" altLang="zh-CN" sz="2400" spc="20" dirty="0"/>
              <a:t>ntensity. On the 23rd or 24th of the preceding moon it </a:t>
            </a:r>
            <a:r>
              <a:rPr lang="en-US" altLang="zh-CN" sz="2400" dirty="0"/>
              <a:t>i</a:t>
            </a:r>
            <a:r>
              <a:rPr lang="en-US" altLang="zh-CN" sz="2400" spc="30" dirty="0"/>
              <a:t>s the du</a:t>
            </a:r>
            <a:r>
              <a:rPr lang="en-US" altLang="zh-CN" sz="2400" spc="40" dirty="0"/>
              <a:t>ty of every family to bid farewell to the Spirit of the </a:t>
            </a:r>
            <a:r>
              <a:rPr lang="en-US" altLang="zh-CN" sz="2400" dirty="0"/>
              <a:t>H</a:t>
            </a:r>
            <a:r>
              <a:rPr lang="en-US" altLang="zh-CN" sz="2400" spc="-10" dirty="0"/>
              <a:t>earth, and to return </a:t>
            </a:r>
            <a:r>
              <a:rPr lang="en-US" altLang="zh-CN" sz="2400" dirty="0"/>
              <a:t>thanks for the protection granted during t</a:t>
            </a:r>
            <a:r>
              <a:rPr lang="en-US" altLang="zh-CN" sz="2400" spc="20" dirty="0"/>
              <a:t>he past year </a:t>
            </a:r>
            <a:r>
              <a:rPr lang="en-US" altLang="zh-CN" sz="2400" spc="30" dirty="0"/>
              <a:t>to each member of the household. The Spirit is </a:t>
            </a:r>
            <a:r>
              <a:rPr lang="en-US" altLang="zh-CN" sz="2400" dirty="0"/>
              <a:t>a</a:t>
            </a:r>
            <a:r>
              <a:rPr lang="en-US" altLang="zh-CN" sz="2400" spc="-10" dirty="0"/>
              <a:t>bout to make</a:t>
            </a:r>
            <a:r>
              <a:rPr lang="en-US" altLang="zh-CN" sz="2400" dirty="0"/>
              <a:t> his annual journey to heaven, and lest anything o</a:t>
            </a:r>
            <a:r>
              <a:rPr lang="en-US" altLang="zh-CN" sz="2400" spc="70" dirty="0"/>
              <a:t>f the disclosures he might make should entail </a:t>
            </a:r>
            <a:r>
              <a:rPr lang="en-US" altLang="zh-CN" sz="2400" spc="80" dirty="0"/>
              <a:t>unpleasant</a:t>
            </a:r>
            <a:r>
              <a:rPr lang="en-US" altLang="zh-CN" sz="2400" spc="70" dirty="0"/>
              <a:t> </a:t>
            </a:r>
            <a:r>
              <a:rPr lang="en-US" altLang="zh-CN" sz="2400" dirty="0"/>
              <a:t>c</a:t>
            </a:r>
            <a:r>
              <a:rPr lang="en-US" altLang="zh-CN" sz="2400" spc="60" dirty="0"/>
              <a:t>onse</a:t>
            </a:r>
            <a:r>
              <a:rPr lang="en-US" altLang="zh-CN" sz="2400" spc="70" dirty="0"/>
              <a:t>quences, it is deemed best that he shall be rendered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83939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66165" y="3822088"/>
            <a:ext cx="485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2</a:t>
            </a:r>
            <a:endParaRPr lang="zh-CN" altLang="en-US" sz="2400" b="1" dirty="0">
              <a:solidFill>
                <a:srgbClr val="C6383E"/>
              </a:solidFill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60400" y="3822088"/>
            <a:ext cx="8231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</a:t>
            </a:r>
            <a:r>
              <a:rPr lang="en-US" altLang="zh-CN" sz="2400" spc="10" dirty="0"/>
              <a:t>hich is the better translati</a:t>
            </a:r>
            <a:r>
              <a:rPr lang="en-US" altLang="zh-CN" sz="2400" spc="20" dirty="0"/>
              <a:t>on for “</a:t>
            </a:r>
            <a:r>
              <a:rPr lang="zh-CN" altLang="en-US" sz="2400" spc="20" dirty="0"/>
              <a:t>清明节”</a:t>
            </a:r>
            <a:r>
              <a:rPr lang="en-US" altLang="zh-CN" sz="2400" spc="20" dirty="0"/>
              <a:t>, Qingming Festival </a:t>
            </a:r>
            <a:r>
              <a:rPr lang="en-US" altLang="zh-CN" sz="2400" dirty="0"/>
              <a:t>or Tomb Sweeping Day? Why?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E73E749-27FB-2A39-53CE-7545A44A6044}"/>
              </a:ext>
            </a:extLst>
          </p:cNvPr>
          <p:cNvSpPr/>
          <p:nvPr/>
        </p:nvSpPr>
        <p:spPr>
          <a:xfrm>
            <a:off x="755650" y="1278376"/>
            <a:ext cx="7993062" cy="2317850"/>
          </a:xfrm>
          <a:prstGeom prst="roundRect">
            <a:avLst>
              <a:gd name="adj" fmla="val 5423"/>
            </a:avLst>
          </a:prstGeom>
          <a:solidFill>
            <a:srgbClr val="F9E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4A7795-4E5D-88B4-226E-94B58FBB879E}"/>
              </a:ext>
            </a:extLst>
          </p:cNvPr>
          <p:cNvSpPr txBox="1"/>
          <p:nvPr/>
        </p:nvSpPr>
        <p:spPr>
          <a:xfrm>
            <a:off x="815588" y="1287901"/>
            <a:ext cx="78702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</a:t>
            </a:r>
            <a:r>
              <a:rPr lang="en-US" altLang="zh-CN" sz="2400" spc="90" dirty="0"/>
              <a:t>ncapable of making any disclosures at all. With this view, </a:t>
            </a:r>
            <a:r>
              <a:rPr lang="en-US" altLang="zh-CN" sz="2400" dirty="0"/>
              <a:t>q</a:t>
            </a:r>
            <a:r>
              <a:rPr lang="en-US" altLang="zh-CN" sz="2400" spc="-60" dirty="0"/>
              <a:t>uantities of a very sti</a:t>
            </a:r>
            <a:r>
              <a:rPr lang="en-US" altLang="zh-CN" sz="2400" spc="-50" dirty="0"/>
              <a:t>cky sweetmeat are prepared and presented </a:t>
            </a:r>
            <a:r>
              <a:rPr lang="en-US" altLang="zh-CN" sz="2400" dirty="0"/>
              <a:t>a</a:t>
            </a:r>
            <a:r>
              <a:rPr lang="en-US" altLang="zh-CN" sz="2400" spc="-20" dirty="0"/>
              <a:t>s it were in s</a:t>
            </a:r>
            <a:r>
              <a:rPr lang="en-US" altLang="zh-CN" sz="2400" spc="-10" dirty="0"/>
              <a:t>acrifice, on eating which the unwary god finds his </a:t>
            </a:r>
            <a:r>
              <a:rPr lang="en-US" altLang="zh-CN" sz="2400" dirty="0"/>
              <a:t>lips tightly glued together, and h</a:t>
            </a:r>
            <a:r>
              <a:rPr lang="en-US" altLang="zh-CN" sz="2400" spc="10" dirty="0"/>
              <a:t>imself unable to utter a single </a:t>
            </a:r>
            <a:r>
              <a:rPr lang="en-US" altLang="zh-CN" sz="2400" dirty="0"/>
              <a:t>syllable. Beans are also offe</a:t>
            </a:r>
            <a:r>
              <a:rPr lang="en-US" altLang="zh-CN" sz="2400" spc="10" dirty="0"/>
              <a:t>red as food for the horse on which </a:t>
            </a:r>
            <a:r>
              <a:rPr lang="en-US" altLang="zh-CN" sz="2400" dirty="0"/>
              <a:t>he is supposed to ride.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7C4FC3-5B22-0418-C8C7-21D7E422EE44}"/>
              </a:ext>
            </a:extLst>
          </p:cNvPr>
          <p:cNvSpPr txBox="1"/>
          <p:nvPr/>
        </p:nvSpPr>
        <p:spPr>
          <a:xfrm>
            <a:off x="656496" y="4695455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Answers will vary.</a:t>
            </a:r>
          </a:p>
        </p:txBody>
      </p:sp>
      <p:pic>
        <p:nvPicPr>
          <p:cNvPr id="5" name="钥匙2" descr="C:\Users\senj\Desktop\新建文件夹\答案.png">
            <a:hlinkClick r:id="" action="ppaction://noaction"/>
            <a:extLst>
              <a:ext uri="{FF2B5EF4-FFF2-40B4-BE49-F238E27FC236}">
                <a16:creationId xmlns:a16="http://schemas.microsoft.com/office/drawing/2014/main" id="{5A2E3070-1A9D-2D32-1C05-19485E922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139" y="3897055"/>
            <a:ext cx="324000" cy="324000"/>
          </a:xfrm>
          <a:prstGeom prst="rect">
            <a:avLst/>
          </a:prstGeom>
          <a:noFill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949E8A1-0D26-6A46-BE48-477D32C8D1FB}"/>
              </a:ext>
            </a:extLst>
          </p:cNvPr>
          <p:cNvSpPr/>
          <p:nvPr/>
        </p:nvSpPr>
        <p:spPr>
          <a:xfrm>
            <a:off x="755735" y="4671916"/>
            <a:ext cx="8090475" cy="5572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3ACB14F-68FD-0F4D-5A5E-3D27CC338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9" name="Picture 3" descr="C:\Users\senj\Desktop\按钮.png">
            <a:extLst>
              <a:ext uri="{FF2B5EF4-FFF2-40B4-BE49-F238E27FC236}">
                <a16:creationId xmlns:a16="http://schemas.microsoft.com/office/drawing/2014/main" id="{2987C5F6-E63A-DF0B-1EB3-8563EA0A4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6394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/>
        </p:nvSpPr>
        <p:spPr>
          <a:xfrm>
            <a:off x="287510" y="4931580"/>
            <a:ext cx="837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800" b="1" i="0" u="none" strike="noStrike" kern="1200" baseline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Text B</a:t>
            </a:r>
            <a:endParaRPr lang="zh-CN" altLang="en-US" sz="1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7510" y="5249144"/>
            <a:ext cx="6156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0" i="0" u="none" strike="noStrike" kern="1200" baseline="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</a:t>
            </a:r>
            <a:r>
              <a:rPr lang="en-US" altLang="zh-CN" sz="2400" spc="-1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 Legends Behind the Dragon Boat Festival</a:t>
            </a:r>
            <a:endParaRPr lang="zh-CN" altLang="en-US" sz="2400" spc="-10" dirty="0">
              <a:solidFill>
                <a:srgbClr val="0A2E4A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46015" y="5955667"/>
            <a:ext cx="214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dirty="0" err="1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Jeninne</a:t>
            </a:r>
            <a:r>
              <a:rPr lang="en-US" altLang="zh-CN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Lee-St. John</a:t>
            </a:r>
            <a:endParaRPr lang="zh-CN" altLang="en-US" sz="1800" dirty="0">
              <a:solidFill>
                <a:srgbClr val="0A2E4A"/>
              </a:solidFill>
              <a:latin typeface="Cambria" panose="02040503050406030204" pitchFamily="18" charset="0"/>
            </a:endParaRPr>
          </a:p>
        </p:txBody>
      </p:sp>
      <p:pic>
        <p:nvPicPr>
          <p:cNvPr id="17" name="超链接" descr="C:\Users\senj\Desktop\新建文件夹\外链音频.png">
            <a:hlinkClick r:id="rId5" action="ppaction://hlinkfile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9790" y="4977009"/>
            <a:ext cx="288000" cy="288000"/>
          </a:xfrm>
          <a:prstGeom prst="rect">
            <a:avLst/>
          </a:prstGeom>
          <a:noFill/>
        </p:spPr>
      </p:pic>
      <p:pic>
        <p:nvPicPr>
          <p:cNvPr id="18" name="图片 17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71" y="4989709"/>
            <a:ext cx="228582" cy="2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4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  <a:r>
              <a:rPr lang="en-US" altLang="zh-CN" sz="2400" dirty="0"/>
              <a:t>     There are many competing explanations for </a:t>
            </a:r>
            <a:r>
              <a:rPr lang="en-US" altLang="zh-CN" sz="2400" i="1" dirty="0" err="1"/>
              <a:t>Duanwu</a:t>
            </a:r>
            <a:r>
              <a:rPr lang="en-US" altLang="zh-CN" sz="2400" i="1" dirty="0"/>
              <a:t> Jie</a:t>
            </a:r>
            <a:r>
              <a:rPr lang="en-US" altLang="zh-CN" sz="2400" dirty="0"/>
              <a:t>, the D</a:t>
            </a:r>
            <a:r>
              <a:rPr lang="en-US" altLang="zh-CN" sz="2400" spc="-40" dirty="0"/>
              <a:t>ragon Boat Festival, which falls on the fifth</a:t>
            </a:r>
            <a:r>
              <a:rPr lang="en-US" altLang="zh-CN" sz="2400" spc="-30" dirty="0"/>
              <a:t> day of the fifth month </a:t>
            </a:r>
            <a:r>
              <a:rPr lang="en-US" altLang="zh-CN" sz="2400" dirty="0"/>
              <a:t>o</a:t>
            </a:r>
            <a:r>
              <a:rPr lang="en-US" altLang="zh-CN" sz="2400" spc="20" dirty="0"/>
              <a:t>f the Chinese lunar </a:t>
            </a:r>
            <a:r>
              <a:rPr lang="en-US" altLang="zh-CN" sz="2400" spc="30" dirty="0"/>
              <a:t>calendar. All involve some combination of </a:t>
            </a:r>
            <a:r>
              <a:rPr lang="en-US" altLang="zh-CN" sz="2400" dirty="0"/>
              <a:t>d</a:t>
            </a:r>
            <a:r>
              <a:rPr lang="en-US" altLang="zh-CN" sz="2400" spc="50" dirty="0"/>
              <a:t>ragons</a:t>
            </a:r>
            <a:r>
              <a:rPr lang="en-US" altLang="zh-CN" sz="2400" spc="60" dirty="0"/>
              <a:t>, spirits, loyalty, honor and food — some of the most </a:t>
            </a:r>
            <a:r>
              <a:rPr lang="en-US" altLang="zh-CN" sz="2400" dirty="0"/>
              <a:t>i</a:t>
            </a:r>
            <a:r>
              <a:rPr lang="en-US" altLang="zh-CN" sz="2400" spc="-100" dirty="0"/>
              <a:t>mportant traditions in Chinese culture. </a:t>
            </a:r>
            <a:r>
              <a:rPr lang="en-US" altLang="zh-CN" sz="2400" spc="-90" dirty="0"/>
              <a:t>The festival’s main elements — </a:t>
            </a:r>
            <a:r>
              <a:rPr lang="en-US" altLang="zh-CN" sz="2400" dirty="0"/>
              <a:t>n</a:t>
            </a:r>
            <a:r>
              <a:rPr lang="en-US" altLang="zh-CN" sz="2400" spc="10" dirty="0"/>
              <a:t>ow popular the world over </a:t>
            </a:r>
            <a:r>
              <a:rPr lang="en-US" altLang="zh-CN" sz="2400" spc="20" dirty="0"/>
              <a:t>— are racing long, narrow wooden </a:t>
            </a:r>
            <a:r>
              <a:rPr lang="en-US" altLang="zh-CN" sz="2400" dirty="0"/>
              <a:t>b</a:t>
            </a:r>
            <a:r>
              <a:rPr lang="en-US" altLang="zh-CN" sz="2400" spc="-40" dirty="0"/>
              <a:t>oats deco</a:t>
            </a:r>
            <a:r>
              <a:rPr lang="en-US" altLang="zh-CN" sz="2400" spc="-30" dirty="0"/>
              <a:t>rated with dragons and eating sticky-rice balls wrapped </a:t>
            </a:r>
            <a:r>
              <a:rPr lang="en-US" altLang="zh-CN" sz="2400" dirty="0"/>
              <a:t>i</a:t>
            </a:r>
            <a:r>
              <a:rPr lang="en-US" altLang="zh-CN" sz="2400" spc="-60" dirty="0"/>
              <a:t>n bamboo leaves, called </a:t>
            </a:r>
            <a:r>
              <a:rPr lang="en-US" altLang="zh-CN" sz="2400" i="1" spc="-60" dirty="0"/>
              <a:t>zongzi</a:t>
            </a:r>
            <a:r>
              <a:rPr lang="en-US" altLang="zh-CN" sz="2400" spc="-60" dirty="0"/>
              <a:t> in Mandarin, </a:t>
            </a:r>
            <a:r>
              <a:rPr lang="en-US" altLang="zh-CN" sz="2400" spc="-70" dirty="0"/>
              <a:t>and </a:t>
            </a:r>
            <a:r>
              <a:rPr lang="en-US" altLang="zh-CN" sz="2400" i="1" spc="-70" dirty="0" err="1"/>
              <a:t>jung</a:t>
            </a:r>
            <a:r>
              <a:rPr lang="en-US" altLang="zh-CN" sz="2400" spc="-70" dirty="0"/>
              <a:t> in Cantonese.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r>
              <a:rPr lang="en-US" altLang="zh-CN" sz="2400" dirty="0"/>
              <a:t>     “</a:t>
            </a:r>
            <a:r>
              <a:rPr lang="en-US" altLang="zh-CN" sz="2400" spc="60" dirty="0"/>
              <a:t>Usually Chinese festivals are explained by the</a:t>
            </a:r>
            <a:r>
              <a:rPr lang="en-US" altLang="zh-CN" sz="2400" spc="70" dirty="0"/>
              <a:t> traumatic </a:t>
            </a:r>
            <a:r>
              <a:rPr lang="en-US" altLang="zh-CN" sz="2400" dirty="0"/>
              <a:t>d</a:t>
            </a:r>
            <a:r>
              <a:rPr lang="en-US" altLang="zh-CN" sz="2400" spc="10" dirty="0"/>
              <a:t>eath of some great </a:t>
            </a:r>
            <a:r>
              <a:rPr lang="en-US" altLang="zh-CN" sz="2400" spc="20" dirty="0">
                <a:solidFill>
                  <a:srgbClr val="C00000"/>
                </a:solidFill>
              </a:rPr>
              <a:t>paragon</a:t>
            </a:r>
            <a:r>
              <a:rPr lang="en-US" altLang="zh-CN" sz="2400" spc="20" dirty="0"/>
              <a:t> of virtue,” says Andrew Chittick, a </a:t>
            </a:r>
            <a:r>
              <a:rPr lang="en-US" altLang="zh-CN" sz="2400" dirty="0"/>
              <a:t>p</a:t>
            </a:r>
            <a:r>
              <a:rPr lang="en-US" altLang="zh-CN" sz="2400" spc="20" dirty="0"/>
              <a:t>rofessor of East Asian Humanities at Eckerd College in Florida.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  <a:r>
              <a:rPr lang="en-US" altLang="zh-CN" sz="2400" dirty="0"/>
              <a:t>     A</a:t>
            </a:r>
            <a:r>
              <a:rPr lang="en-US" altLang="zh-CN" sz="2400" spc="10" dirty="0"/>
              <a:t>nd so the story goes with Qu </a:t>
            </a:r>
            <a:r>
              <a:rPr lang="en-US" altLang="zh-CN" sz="2400" spc="20" dirty="0"/>
              <a:t>Yuan, an advisor in the court </a:t>
            </a:r>
            <a:r>
              <a:rPr lang="en-US" altLang="zh-CN" sz="2400" dirty="0"/>
              <a:t>o</a:t>
            </a:r>
            <a:r>
              <a:rPr lang="en-US" altLang="zh-CN" sz="2400" spc="40" dirty="0"/>
              <a:t>f Chu during the Warring States period of </a:t>
            </a:r>
            <a:r>
              <a:rPr lang="en-US" altLang="zh-CN" sz="2400" spc="50" dirty="0"/>
              <a:t>ancient China who </a:t>
            </a:r>
            <a:r>
              <a:rPr lang="en-US" altLang="zh-CN" sz="2400" dirty="0"/>
              <a:t>was exiled by the emperor for </a:t>
            </a:r>
            <a:r>
              <a:rPr lang="en-US" altLang="zh-CN" sz="2400" dirty="0">
                <a:solidFill>
                  <a:srgbClr val="C00000"/>
                </a:solidFill>
              </a:rPr>
              <a:t>perceived</a:t>
            </a:r>
            <a:r>
              <a:rPr lang="en-US" altLang="zh-CN" sz="2400" dirty="0"/>
              <a:t> disloyalty. </a:t>
            </a:r>
            <a:r>
              <a:rPr lang="en-US" altLang="zh-CN" sz="2400" u="sng" dirty="0">
                <a:solidFill>
                  <a:srgbClr val="0070C0"/>
                </a:solidFill>
              </a:rPr>
              <a:t>Qu Yuan had</a:t>
            </a:r>
          </a:p>
        </p:txBody>
      </p:sp>
      <p:pic>
        <p:nvPicPr>
          <p:cNvPr id="5" name="图片 4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sp>
        <p:nvSpPr>
          <p:cNvPr id="21" name="矩形 20">
            <a:hlinkClick r:id="rId10" action="ppaction://hlinksldjump"/>
          </p:cNvPr>
          <p:cNvSpPr/>
          <p:nvPr/>
        </p:nvSpPr>
        <p:spPr>
          <a:xfrm>
            <a:off x="7164180" y="5972891"/>
            <a:ext cx="165470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3" name="图片 12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4158595"/>
            <a:ext cx="268800" cy="288000"/>
          </a:xfrm>
          <a:prstGeom prst="rect">
            <a:avLst/>
          </a:prstGeom>
        </p:spPr>
      </p:pic>
      <p:sp>
        <p:nvSpPr>
          <p:cNvPr id="18" name="矩形 17">
            <a:hlinkClick r:id="rId14" action="ppaction://hlinksldjump"/>
          </p:cNvPr>
          <p:cNvSpPr/>
          <p:nvPr/>
        </p:nvSpPr>
        <p:spPr>
          <a:xfrm>
            <a:off x="3444299" y="4518600"/>
            <a:ext cx="108007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hlinkClick r:id="rId15" action="ppaction://hlinksldjump"/>
            <a:extLst>
              <a:ext uri="{FF2B5EF4-FFF2-40B4-BE49-F238E27FC236}">
                <a16:creationId xmlns:a16="http://schemas.microsoft.com/office/drawing/2014/main" id="{94D9E308-E0AA-E6C7-9FD4-B5B5894629B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5238650"/>
            <a:ext cx="268800" cy="288000"/>
          </a:xfrm>
          <a:prstGeom prst="rect">
            <a:avLst/>
          </a:prstGeom>
        </p:spPr>
      </p:pic>
      <p:pic>
        <p:nvPicPr>
          <p:cNvPr id="17" name="Text B_1">
            <a:hlinkClick r:id="" action="ppaction://media"/>
            <a:extLst>
              <a:ext uri="{FF2B5EF4-FFF2-40B4-BE49-F238E27FC236}">
                <a16:creationId xmlns:a16="http://schemas.microsoft.com/office/drawing/2014/main" id="{2BFF7E84-EC03-F70D-6785-550EA19EF8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  <p:pic>
        <p:nvPicPr>
          <p:cNvPr id="22" name="Text B_2">
            <a:hlinkClick r:id="" action="ppaction://media"/>
            <a:extLst>
              <a:ext uri="{FF2B5EF4-FFF2-40B4-BE49-F238E27FC236}">
                <a16:creationId xmlns:a16="http://schemas.microsoft.com/office/drawing/2014/main" id="{2A7427E1-74C9-ADCC-6436-331427047E6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161475"/>
            <a:ext cx="288000" cy="285120"/>
          </a:xfrm>
          <a:prstGeom prst="rect">
            <a:avLst/>
          </a:prstGeom>
        </p:spPr>
      </p:pic>
      <p:pic>
        <p:nvPicPr>
          <p:cNvPr id="23" name="Text B_3">
            <a:hlinkClick r:id="" action="ppaction://media"/>
            <a:extLst>
              <a:ext uri="{FF2B5EF4-FFF2-40B4-BE49-F238E27FC236}">
                <a16:creationId xmlns:a16="http://schemas.microsoft.com/office/drawing/2014/main" id="{F55E3F97-53C8-4FDD-3F49-ACA22857D2B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5241530"/>
            <a:ext cx="288000" cy="285120"/>
          </a:xfrm>
          <a:prstGeom prst="rect">
            <a:avLst/>
          </a:prstGeom>
        </p:spPr>
      </p:pic>
      <p:sp>
        <p:nvSpPr>
          <p:cNvPr id="34" name="矩形 33">
            <a:hlinkClick r:id="rId17" action="ppaction://hlinksldjump"/>
            <a:extLst>
              <a:ext uri="{FF2B5EF4-FFF2-40B4-BE49-F238E27FC236}">
                <a16:creationId xmlns:a16="http://schemas.microsoft.com/office/drawing/2014/main" id="{5DAF2000-9365-F066-7D46-772DC76248A3}"/>
              </a:ext>
            </a:extLst>
          </p:cNvPr>
          <p:cNvSpPr/>
          <p:nvPr/>
        </p:nvSpPr>
        <p:spPr>
          <a:xfrm>
            <a:off x="4615430" y="5989100"/>
            <a:ext cx="126218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67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 numSld="2">
                <p:cTn id="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seq concurrent="1" nextAc="seek">
              <p:cTn id="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40907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3818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792030" y="1147670"/>
            <a:ext cx="81002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u="sng" dirty="0">
                <a:solidFill>
                  <a:srgbClr val="0070C0"/>
                </a:solidFill>
              </a:rPr>
              <a:t>p</a:t>
            </a:r>
            <a:r>
              <a:rPr lang="en-US" altLang="zh-CN" sz="2400" u="sng" spc="-10" dirty="0">
                <a:solidFill>
                  <a:srgbClr val="0070C0"/>
                </a:solidFill>
              </a:rPr>
              <a:t>roposed a strategic alliance with the st</a:t>
            </a:r>
            <a:r>
              <a:rPr lang="en-US" altLang="zh-CN" sz="2400" u="sng" dirty="0">
                <a:solidFill>
                  <a:srgbClr val="0070C0"/>
                </a:solidFill>
              </a:rPr>
              <a:t>ate of Qi in order to fend o</a:t>
            </a:r>
            <a:r>
              <a:rPr lang="en-US" altLang="zh-CN" sz="2400" u="sng" spc="40" dirty="0">
                <a:solidFill>
                  <a:srgbClr val="0070C0"/>
                </a:solidFill>
              </a:rPr>
              <a:t>ff the threatening state of Qin, but the emperor didn’t buy it </a:t>
            </a:r>
            <a:r>
              <a:rPr lang="en-US" altLang="zh-CN" sz="2400" u="sng" dirty="0">
                <a:solidFill>
                  <a:srgbClr val="0070C0"/>
                </a:solidFill>
              </a:rPr>
              <a:t>a</a:t>
            </a:r>
            <a:r>
              <a:rPr lang="en-US" altLang="zh-CN" sz="2400" u="sng" spc="10" dirty="0">
                <a:solidFill>
                  <a:srgbClr val="0070C0"/>
                </a:solidFill>
              </a:rPr>
              <a:t>nd sent Qu Yuan off to the wilderness.</a:t>
            </a:r>
            <a:r>
              <a:rPr lang="en-US" altLang="zh-CN" sz="2400" spc="10" dirty="0"/>
              <a:t> Unfortunat</a:t>
            </a:r>
            <a:r>
              <a:rPr lang="en-US" altLang="zh-CN" sz="2400" spc="20" dirty="0"/>
              <a:t>ely, Qu Yuan </a:t>
            </a:r>
            <a:r>
              <a:rPr lang="en-US" altLang="zh-CN" sz="2400" dirty="0"/>
              <a:t>w</a:t>
            </a:r>
            <a:r>
              <a:rPr lang="en-US" altLang="zh-CN" sz="2400" spc="90" dirty="0"/>
              <a:t>as right about the threat presented by the </a:t>
            </a:r>
            <a:r>
              <a:rPr lang="en-US" altLang="zh-CN" sz="2400" spc="100" dirty="0"/>
              <a:t>Qin, who soon </a:t>
            </a:r>
            <a:r>
              <a:rPr lang="en-US" altLang="zh-CN" sz="2400" dirty="0"/>
              <a:t>c</a:t>
            </a:r>
            <a:r>
              <a:rPr lang="en-US" altLang="zh-CN" sz="2400" spc="40" dirty="0"/>
              <a:t>aptured and imprisoned the Chu emperor. The </a:t>
            </a:r>
            <a:r>
              <a:rPr lang="en-US" altLang="zh-CN" sz="2400" spc="50" dirty="0"/>
              <a:t>next Chu king </a:t>
            </a:r>
            <a:r>
              <a:rPr lang="en-US" altLang="zh-CN" sz="2400" dirty="0"/>
              <a:t>s</a:t>
            </a:r>
            <a:r>
              <a:rPr lang="en-US" altLang="zh-CN" sz="2400" spc="50" dirty="0"/>
              <a:t>urrendered</a:t>
            </a:r>
            <a:r>
              <a:rPr lang="en-US" altLang="zh-CN" sz="2400" spc="60" dirty="0"/>
              <a:t> the state to their rivals. Upon hearing the tragic </a:t>
            </a:r>
            <a:r>
              <a:rPr lang="en-US" altLang="zh-CN" sz="2400" dirty="0"/>
              <a:t>n</a:t>
            </a:r>
            <a:r>
              <a:rPr lang="en-US" altLang="zh-CN" sz="2400" spc="60" dirty="0"/>
              <a:t>ews, Qu Yuan</a:t>
            </a:r>
            <a:r>
              <a:rPr lang="en-US" altLang="zh-CN" sz="2400" spc="70" dirty="0"/>
              <a:t> drowned himself in the </a:t>
            </a:r>
            <a:r>
              <a:rPr lang="en-US" altLang="zh-CN" sz="2400" spc="70" dirty="0" err="1"/>
              <a:t>Miluo</a:t>
            </a:r>
            <a:r>
              <a:rPr lang="en-US" altLang="zh-CN" sz="2400" spc="70" dirty="0"/>
              <a:t> River in Hunan </a:t>
            </a:r>
            <a:r>
              <a:rPr lang="en-US" altLang="zh-CN" sz="2400" dirty="0"/>
              <a:t>Province in 278 B.C.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r>
              <a:rPr lang="en-US" altLang="zh-CN" sz="2400" dirty="0"/>
              <a:t>     I</a:t>
            </a:r>
            <a:r>
              <a:rPr lang="en-US" altLang="zh-CN" sz="2400" spc="30" dirty="0"/>
              <a:t>n the first origin st</a:t>
            </a:r>
            <a:r>
              <a:rPr lang="en-US" altLang="zh-CN" sz="2400" spc="40" dirty="0"/>
              <a:t>ory of </a:t>
            </a:r>
            <a:r>
              <a:rPr lang="en-US" altLang="zh-CN" sz="2400" i="1" spc="40" dirty="0"/>
              <a:t>zongzi</a:t>
            </a:r>
            <a:r>
              <a:rPr lang="en-US" altLang="zh-CN" sz="2400" spc="40" dirty="0"/>
              <a:t>, told during the early Han </a:t>
            </a:r>
            <a:r>
              <a:rPr lang="en-US" altLang="zh-CN" sz="2400" dirty="0"/>
              <a:t>d</a:t>
            </a:r>
            <a:r>
              <a:rPr lang="en-US" altLang="zh-CN" sz="2400" spc="-10" dirty="0"/>
              <a:t>ynasty, Qu Yuan became a water sp</a:t>
            </a:r>
            <a:r>
              <a:rPr lang="en-US" altLang="zh-CN" sz="2400" dirty="0"/>
              <a:t>irit after his death. “You can t</a:t>
            </a:r>
            <a:r>
              <a:rPr lang="en-US" altLang="zh-CN" sz="2400" spc="50" dirty="0"/>
              <a:t>hink of it as a ghost, a spirit energy that has </a:t>
            </a:r>
            <a:r>
              <a:rPr lang="en-US" altLang="zh-CN" sz="2400" spc="60" dirty="0"/>
              <a:t>to be </a:t>
            </a:r>
            <a:r>
              <a:rPr lang="en-US" altLang="zh-CN" sz="2400" spc="60" dirty="0">
                <a:solidFill>
                  <a:srgbClr val="C00000"/>
                </a:solidFill>
              </a:rPr>
              <a:t>appeased</a:t>
            </a:r>
            <a:r>
              <a:rPr lang="en-US" altLang="zh-CN" sz="2400" spc="60" dirty="0"/>
              <a:t>. </a:t>
            </a:r>
            <a:r>
              <a:rPr lang="en-US" altLang="zh-CN" sz="2400" dirty="0"/>
              <a:t>T</a:t>
            </a:r>
            <a:r>
              <a:rPr lang="en-US" altLang="zh-CN" sz="2400" spc="30" dirty="0"/>
              <a:t>here are a variety of ways one might appease a ghost but </a:t>
            </a:r>
            <a:r>
              <a:rPr lang="en-US" altLang="zh-CN" sz="2400" spc="40" dirty="0"/>
              <a:t>the</a:t>
            </a:r>
            <a:r>
              <a:rPr lang="en-US" altLang="zh-CN" sz="2400" spc="30" dirty="0"/>
              <a:t> </a:t>
            </a:r>
            <a:r>
              <a:rPr lang="en-US" altLang="zh-CN" sz="2400" dirty="0"/>
              <a:t>best and most enduring is to give it food,” explains Chittick.</a:t>
            </a:r>
          </a:p>
        </p:txBody>
      </p:sp>
      <p:pic>
        <p:nvPicPr>
          <p:cNvPr id="10" name="图片 9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30" y="4158595"/>
            <a:ext cx="268800" cy="288000"/>
          </a:xfrm>
          <a:prstGeom prst="rect">
            <a:avLst/>
          </a:prstGeom>
        </p:spPr>
      </p:pic>
      <p:pic>
        <p:nvPicPr>
          <p:cNvPr id="5" name="Text B_4">
            <a:hlinkClick r:id="" action="ppaction://media"/>
            <a:extLst>
              <a:ext uri="{FF2B5EF4-FFF2-40B4-BE49-F238E27FC236}">
                <a16:creationId xmlns:a16="http://schemas.microsoft.com/office/drawing/2014/main" id="{E02C3F29-F2C0-42DC-E9CE-96C8D86DBDB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161475"/>
            <a:ext cx="288000" cy="28512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615D90DB-0303-CFE2-C7FA-3521C134C33E}"/>
              </a:ext>
            </a:extLst>
          </p:cNvPr>
          <p:cNvGrpSpPr/>
          <p:nvPr/>
        </p:nvGrpSpPr>
        <p:grpSpPr>
          <a:xfrm>
            <a:off x="792030" y="1206370"/>
            <a:ext cx="8026850" cy="1070550"/>
            <a:chOff x="792030" y="1206370"/>
            <a:chExt cx="8026850" cy="1070550"/>
          </a:xfrm>
        </p:grpSpPr>
        <p:sp>
          <p:nvSpPr>
            <p:cNvPr id="21" name="矩形 20">
              <a:hlinkClick r:id="rId9" action="ppaction://hlinksldjump"/>
              <a:extLst>
                <a:ext uri="{FF2B5EF4-FFF2-40B4-BE49-F238E27FC236}">
                  <a16:creationId xmlns:a16="http://schemas.microsoft.com/office/drawing/2014/main" id="{CACB099C-9FCA-9EEB-62AF-56FCF448CBBC}"/>
                </a:ext>
              </a:extLst>
            </p:cNvPr>
            <p:cNvSpPr/>
            <p:nvPr/>
          </p:nvSpPr>
          <p:spPr>
            <a:xfrm>
              <a:off x="792030" y="1206370"/>
              <a:ext cx="8026850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hlinkClick r:id="rId9" action="ppaction://hlinksldjump"/>
              <a:extLst>
                <a:ext uri="{FF2B5EF4-FFF2-40B4-BE49-F238E27FC236}">
                  <a16:creationId xmlns:a16="http://schemas.microsoft.com/office/drawing/2014/main" id="{CEF80AE3-4939-73D3-D115-1EAA2C92CB39}"/>
                </a:ext>
              </a:extLst>
            </p:cNvPr>
            <p:cNvSpPr/>
            <p:nvPr/>
          </p:nvSpPr>
          <p:spPr>
            <a:xfrm>
              <a:off x="792030" y="1571061"/>
              <a:ext cx="8026850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hlinkClick r:id="rId9" action="ppaction://hlinksldjump"/>
              <a:extLst>
                <a:ext uri="{FF2B5EF4-FFF2-40B4-BE49-F238E27FC236}">
                  <a16:creationId xmlns:a16="http://schemas.microsoft.com/office/drawing/2014/main" id="{B7AE99D8-C0C8-D10F-E3CB-E81D298E2782}"/>
                </a:ext>
              </a:extLst>
            </p:cNvPr>
            <p:cNvSpPr/>
            <p:nvPr/>
          </p:nvSpPr>
          <p:spPr>
            <a:xfrm>
              <a:off x="792030" y="1940611"/>
              <a:ext cx="5004055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5" name="矩形 24">
            <a:hlinkClick r:id="rId10" action="ppaction://hlinksldjump"/>
            <a:extLst>
              <a:ext uri="{FF2B5EF4-FFF2-40B4-BE49-F238E27FC236}">
                <a16:creationId xmlns:a16="http://schemas.microsoft.com/office/drawing/2014/main" id="{48D2DFE8-D969-D061-5F60-06DD5569F1F3}"/>
              </a:ext>
            </a:extLst>
          </p:cNvPr>
          <p:cNvSpPr/>
          <p:nvPr/>
        </p:nvSpPr>
        <p:spPr>
          <a:xfrm>
            <a:off x="7432040" y="4897675"/>
            <a:ext cx="1316673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51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86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  <a:r>
              <a:rPr lang="en-US" altLang="zh-CN" sz="2400" dirty="0"/>
              <a:t>     For years after Qu Yuan’s death</a:t>
            </a:r>
            <a:r>
              <a:rPr lang="en-US" altLang="zh-CN" sz="2400" spc="10" dirty="0"/>
              <a:t>, his supporters threw rice in </a:t>
            </a:r>
            <a:r>
              <a:rPr lang="en-US" altLang="zh-CN" sz="2400" dirty="0"/>
              <a:t>the water to feed his spirit, but the food, it </a:t>
            </a:r>
            <a:r>
              <a:rPr lang="en-US" altLang="zh-CN" sz="2400" spc="10" dirty="0"/>
              <a:t>was said, was always </a:t>
            </a:r>
            <a:r>
              <a:rPr lang="en-US" altLang="zh-CN" sz="2400" dirty="0">
                <a:solidFill>
                  <a:srgbClr val="C00000"/>
                </a:solidFill>
              </a:rPr>
              <a:t>intercepted</a:t>
            </a:r>
            <a:r>
              <a:rPr lang="en-US" altLang="zh-CN" sz="2400" dirty="0"/>
              <a:t> by a water dragon. (Master </a:t>
            </a:r>
            <a:r>
              <a:rPr lang="en-US" altLang="zh-CN" sz="2400" spc="10" dirty="0"/>
              <a:t>Chef Martin Yan, author </a:t>
            </a:r>
            <a:r>
              <a:rPr lang="en-US" altLang="zh-CN" sz="2400" dirty="0"/>
              <a:t>a</a:t>
            </a:r>
            <a:r>
              <a:rPr lang="en-US" altLang="zh-CN" sz="2400" spc="-20" dirty="0"/>
              <a:t>nd host of the pioneering </a:t>
            </a:r>
            <a:r>
              <a:rPr lang="en-US" altLang="zh-CN" sz="2400" i="1" spc="-20" dirty="0"/>
              <a:t>Yan Can Cook</a:t>
            </a:r>
            <a:r>
              <a:rPr lang="en-US" altLang="zh-CN" sz="2400" spc="-20" dirty="0"/>
              <a:t> TV </a:t>
            </a:r>
            <a:r>
              <a:rPr lang="en-US" altLang="zh-CN" sz="2400" spc="-10" dirty="0"/>
              <a:t>show, suggests there </a:t>
            </a:r>
            <a:r>
              <a:rPr lang="en-US" altLang="zh-CN" sz="2400" dirty="0"/>
              <a:t>m</a:t>
            </a:r>
            <a:r>
              <a:rPr lang="en-US" altLang="zh-CN" sz="2400" spc="-60" dirty="0"/>
              <a:t>ay have been truth to this: “</a:t>
            </a:r>
            <a:r>
              <a:rPr lang="en-US" altLang="zh-CN" sz="2400" spc="-50" dirty="0"/>
              <a:t>Some freshwater fish — like catfish — </a:t>
            </a:r>
            <a:r>
              <a:rPr lang="en-US" altLang="zh-CN" sz="2400" dirty="0"/>
              <a:t>g</a:t>
            </a:r>
            <a:r>
              <a:rPr lang="en-US" altLang="zh-CN" sz="2400" spc="-10" dirty="0"/>
              <a:t>row so huge that </a:t>
            </a:r>
            <a:r>
              <a:rPr lang="en-US" altLang="zh-CN" sz="2400" dirty="0"/>
              <a:t>the Chinese considered them dragons.”) After a</a:t>
            </a:r>
            <a:r>
              <a:rPr lang="en-US" altLang="zh-CN" sz="2400" spc="20" dirty="0"/>
              <a:t> couple of </a:t>
            </a:r>
            <a:r>
              <a:rPr lang="en-US" altLang="zh-CN" sz="2400" spc="30" dirty="0"/>
              <a:t>centuries of this frustration, Qu Yuan came back to </a:t>
            </a:r>
            <a:r>
              <a:rPr lang="en-US" altLang="zh-CN" sz="2400" dirty="0"/>
              <a:t>t</a:t>
            </a:r>
            <a:r>
              <a:rPr lang="en-US" altLang="zh-CN" sz="2400" spc="-30" dirty="0"/>
              <a:t>ell the people to wrap the </a:t>
            </a:r>
            <a:r>
              <a:rPr lang="en-US" altLang="zh-CN" sz="2400" spc="-20" dirty="0"/>
              <a:t>rice in leaves, or stuff it into a bamboo </a:t>
            </a:r>
            <a:r>
              <a:rPr lang="en-US" altLang="zh-CN" sz="2400" dirty="0"/>
              <a:t>stalk, so </a:t>
            </a:r>
            <a:r>
              <a:rPr lang="en-US" altLang="zh-CN" sz="2400" spc="10" dirty="0"/>
              <a:t>the dragon couldn’t eat it. It was only generations later </a:t>
            </a:r>
            <a:r>
              <a:rPr lang="en-US" altLang="zh-CN" sz="2400" dirty="0"/>
              <a:t>t</a:t>
            </a:r>
            <a:r>
              <a:rPr lang="en-US" altLang="zh-CN" sz="2400" spc="50" dirty="0"/>
              <a:t>hat people began to </a:t>
            </a:r>
            <a:r>
              <a:rPr lang="en-US" altLang="zh-CN" sz="2400" spc="60" dirty="0"/>
              <a:t>retroactively credit Qu Yuan’s erstwhile </a:t>
            </a:r>
            <a:r>
              <a:rPr lang="en-US" altLang="zh-CN" sz="2400" dirty="0"/>
              <a:t>lifesavers with starting the rice-ball-tossing tradition.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  <a:r>
              <a:rPr lang="en-US" altLang="zh-CN" sz="2400" dirty="0"/>
              <a:t>     T</a:t>
            </a:r>
            <a:r>
              <a:rPr lang="en-US" altLang="zh-CN" sz="2400" spc="20" dirty="0"/>
              <a:t>o make sense of how the water dragon gets into the story,</a:t>
            </a:r>
            <a:r>
              <a:rPr lang="en-US" altLang="zh-CN" sz="2400" dirty="0"/>
              <a:t> o</a:t>
            </a:r>
            <a:r>
              <a:rPr lang="en-US" altLang="zh-CN" sz="2400" spc="-10" dirty="0"/>
              <a:t>r indeed of the boats carved with dragons on </a:t>
            </a:r>
            <a:r>
              <a:rPr lang="en-US" altLang="zh-CN" sz="2400" dirty="0"/>
              <a:t>them, we need to g</a:t>
            </a:r>
            <a:r>
              <a:rPr lang="en-US" altLang="zh-CN" sz="2400" spc="-20" dirty="0"/>
              <a:t>o back further in time — more than 6,000 years ago, the earliest</a:t>
            </a:r>
            <a:endParaRPr lang="en-US" altLang="zh-CN" sz="2400" dirty="0"/>
          </a:p>
        </p:txBody>
      </p:sp>
      <p:pic>
        <p:nvPicPr>
          <p:cNvPr id="9" name="图片 8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5238650"/>
            <a:ext cx="268800" cy="288000"/>
          </a:xfrm>
          <a:prstGeom prst="rect">
            <a:avLst/>
          </a:prstGeom>
        </p:spPr>
      </p:pic>
      <p:pic>
        <p:nvPicPr>
          <p:cNvPr id="11" name="图片 10">
            <a:hlinkClick r:id="rId10" action="ppaction://hlinksldjump"/>
            <a:extLst>
              <a:ext uri="{FF2B5EF4-FFF2-40B4-BE49-F238E27FC236}">
                <a16:creationId xmlns:a16="http://schemas.microsoft.com/office/drawing/2014/main" id="{F021900A-8719-67E5-D944-CF1F7E2FCAA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pic>
        <p:nvPicPr>
          <p:cNvPr id="18" name="Text B_5">
            <a:hlinkClick r:id="" action="ppaction://media"/>
            <a:extLst>
              <a:ext uri="{FF2B5EF4-FFF2-40B4-BE49-F238E27FC236}">
                <a16:creationId xmlns:a16="http://schemas.microsoft.com/office/drawing/2014/main" id="{4EB18BDF-68AE-4937-CF79-93DBD8A6F2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  <p:pic>
        <p:nvPicPr>
          <p:cNvPr id="19" name="Text B_6">
            <a:hlinkClick r:id="" action="ppaction://media"/>
            <a:extLst>
              <a:ext uri="{FF2B5EF4-FFF2-40B4-BE49-F238E27FC236}">
                <a16:creationId xmlns:a16="http://schemas.microsoft.com/office/drawing/2014/main" id="{57D09E69-3528-043C-A220-8B5F854C33E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5241530"/>
            <a:ext cx="288000" cy="285120"/>
          </a:xfrm>
          <a:prstGeom prst="rect">
            <a:avLst/>
          </a:prstGeom>
        </p:spPr>
      </p:pic>
      <p:sp>
        <p:nvSpPr>
          <p:cNvPr id="25" name="矩形 24">
            <a:hlinkClick r:id="rId12" action="ppaction://hlinksldjump"/>
            <a:extLst>
              <a:ext uri="{FF2B5EF4-FFF2-40B4-BE49-F238E27FC236}">
                <a16:creationId xmlns:a16="http://schemas.microsoft.com/office/drawing/2014/main" id="{0A61ED2F-01E5-999A-1D2A-38B11D3EAA2F}"/>
              </a:ext>
            </a:extLst>
          </p:cNvPr>
          <p:cNvSpPr/>
          <p:nvPr/>
        </p:nvSpPr>
        <p:spPr>
          <a:xfrm>
            <a:off x="856315" y="1960325"/>
            <a:ext cx="148772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02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177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numSld="2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d</a:t>
            </a:r>
            <a:r>
              <a:rPr lang="en-US" altLang="zh-CN" sz="2400" spc="-10" dirty="0"/>
              <a:t>ated figure of a dragon </a:t>
            </a:r>
            <a:r>
              <a:rPr lang="en-US" altLang="zh-CN" sz="2400" dirty="0"/>
              <a:t>found within the boundaries of modern C</a:t>
            </a:r>
            <a:r>
              <a:rPr lang="en-US" altLang="zh-CN" sz="2400" spc="-10" dirty="0"/>
              <a:t>hina. “One of the most important mythical creatures in Chinese </a:t>
            </a:r>
            <a:r>
              <a:rPr lang="en-US" altLang="zh-CN" sz="2400" dirty="0"/>
              <a:t>mythology, the dragon is the controller </a:t>
            </a:r>
            <a:r>
              <a:rPr lang="en-US" altLang="zh-CN" sz="2400" spc="10" dirty="0"/>
              <a:t>of the rain, the river, the </a:t>
            </a:r>
            <a:r>
              <a:rPr lang="en-US" altLang="zh-CN" sz="2400" dirty="0"/>
              <a:t>s</a:t>
            </a:r>
            <a:r>
              <a:rPr lang="en-US" altLang="zh-CN" sz="2400" spc="50" dirty="0"/>
              <a:t>ea, and all other kinds of water; symbol of divine po</a:t>
            </a:r>
            <a:r>
              <a:rPr lang="en-US" altLang="zh-CN" sz="2400" spc="60" dirty="0"/>
              <a:t>wer and </a:t>
            </a:r>
            <a:r>
              <a:rPr lang="en-US" altLang="zh-CN" sz="2400" dirty="0"/>
              <a:t>e</a:t>
            </a:r>
            <a:r>
              <a:rPr lang="en-US" altLang="zh-CN" sz="2400" spc="20" dirty="0"/>
              <a:t>nergy .... In the imperial era it was </a:t>
            </a:r>
            <a:r>
              <a:rPr lang="en-US" altLang="zh-CN" sz="2400" spc="30" dirty="0"/>
              <a:t>identified as the symbol of </a:t>
            </a:r>
            <a:r>
              <a:rPr lang="en-US" altLang="zh-CN" sz="2400" dirty="0"/>
              <a:t>i</a:t>
            </a:r>
            <a:r>
              <a:rPr lang="en-US" altLang="zh-CN" sz="2400" spc="-10" dirty="0"/>
              <a:t>mperial power,” writes Deming </a:t>
            </a:r>
            <a:r>
              <a:rPr lang="en-US" altLang="zh-CN" sz="2400" dirty="0"/>
              <a:t>An, Ph.D., a professor of folklore a</a:t>
            </a:r>
            <a:r>
              <a:rPr lang="en-US" altLang="zh-CN" sz="2400" spc="-20" dirty="0"/>
              <a:t>t the Institute of Literature, Chinese </a:t>
            </a:r>
            <a:r>
              <a:rPr lang="en-US" altLang="zh-CN" sz="2400" spc="-10" dirty="0"/>
              <a:t>Academy of Social Sciences, </a:t>
            </a:r>
            <a:r>
              <a:rPr lang="en-US" altLang="zh-CN" sz="2400" dirty="0"/>
              <a:t>i</a:t>
            </a:r>
            <a:r>
              <a:rPr lang="en-US" altLang="zh-CN" sz="2400" spc="50" dirty="0"/>
              <a:t>n Beijing, and co-</a:t>
            </a:r>
            <a:r>
              <a:rPr lang="en-US" altLang="zh-CN" sz="2400" spc="60" dirty="0"/>
              <a:t>author of </a:t>
            </a:r>
            <a:r>
              <a:rPr lang="en-US" altLang="zh-CN" sz="2400" i="1" spc="60" dirty="0"/>
              <a:t>Handbook of Chinese Mythology</a:t>
            </a:r>
            <a:r>
              <a:rPr lang="en-US" altLang="zh-CN" sz="2400" spc="60" dirty="0"/>
              <a:t>. </a:t>
            </a:r>
            <a:r>
              <a:rPr lang="en-US" altLang="zh-CN" sz="2400" dirty="0"/>
              <a:t>“</a:t>
            </a:r>
            <a:r>
              <a:rPr lang="en-US" altLang="zh-CN" sz="2400" spc="10" dirty="0"/>
              <a:t>In people’s </a:t>
            </a:r>
            <a:r>
              <a:rPr lang="en-US" altLang="zh-CN" sz="2400" spc="20" dirty="0"/>
              <a:t>imaginations, dragons usually live in water and are </a:t>
            </a:r>
            <a:r>
              <a:rPr lang="en-US" altLang="zh-CN" sz="2400" dirty="0"/>
              <a:t>the controllers of rain.”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  <a:r>
              <a:rPr lang="en-US" altLang="zh-CN" sz="2400" dirty="0"/>
              <a:t>     D</a:t>
            </a:r>
            <a:r>
              <a:rPr lang="en-US" altLang="zh-CN" sz="2400" spc="20" dirty="0"/>
              <a:t>ragon boat racing is </a:t>
            </a:r>
            <a:r>
              <a:rPr lang="en-US" altLang="zh-CN" sz="2400" spc="20" dirty="0">
                <a:solidFill>
                  <a:srgbClr val="C00000"/>
                </a:solidFill>
              </a:rPr>
              <a:t>ascribed</a:t>
            </a:r>
            <a:r>
              <a:rPr lang="en-US" altLang="zh-CN" sz="2400" spc="30" dirty="0"/>
              <a:t> to organized celebrations of </a:t>
            </a:r>
            <a:r>
              <a:rPr lang="en-US" altLang="zh-CN" sz="2400" dirty="0"/>
              <a:t>Q</a:t>
            </a:r>
            <a:r>
              <a:rPr lang="en-US" altLang="zh-CN" sz="2400" spc="-20" dirty="0"/>
              <a:t>u Yuan beginning in the 5th or 6th century </a:t>
            </a:r>
            <a:r>
              <a:rPr lang="en-US" altLang="zh-CN" sz="2400" spc="-10" dirty="0"/>
              <a:t>A.D. But scholars say </a:t>
            </a:r>
            <a:r>
              <a:rPr lang="en-US" altLang="zh-CN" sz="2400" dirty="0"/>
              <a:t>t</a:t>
            </a:r>
            <a:r>
              <a:rPr lang="en-US" altLang="zh-CN" sz="2400" spc="10" dirty="0"/>
              <a:t>he boats were first </a:t>
            </a:r>
            <a:r>
              <a:rPr lang="en-US" altLang="zh-CN" sz="2400" spc="20" dirty="0"/>
              <a:t>used hundreds of years earlier, perhaps for </a:t>
            </a:r>
            <a:r>
              <a:rPr lang="en-US" altLang="zh-CN" sz="2400" dirty="0"/>
              <a:t>v</a:t>
            </a:r>
            <a:r>
              <a:rPr lang="en-US" altLang="zh-CN" sz="2400" spc="-30" dirty="0"/>
              <a:t>aried reasons. On the lunar </a:t>
            </a:r>
            <a:r>
              <a:rPr lang="en-US" altLang="zh-CN" sz="2400" spc="-20" dirty="0"/>
              <a:t>calendar, May is the summer solstice</a:t>
            </a:r>
            <a:endParaRPr lang="en-US" altLang="zh-CN" sz="2400" dirty="0"/>
          </a:p>
        </p:txBody>
      </p:sp>
      <p:pic>
        <p:nvPicPr>
          <p:cNvPr id="6" name="图片 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4888150"/>
            <a:ext cx="268800" cy="288000"/>
          </a:xfrm>
          <a:prstGeom prst="rect">
            <a:avLst/>
          </a:prstGeom>
        </p:spPr>
      </p:pic>
      <p:pic>
        <p:nvPicPr>
          <p:cNvPr id="5" name="Text B_7">
            <a:hlinkClick r:id="" action="ppaction://media"/>
            <a:extLst>
              <a:ext uri="{FF2B5EF4-FFF2-40B4-BE49-F238E27FC236}">
                <a16:creationId xmlns:a16="http://schemas.microsoft.com/office/drawing/2014/main" id="{9586AD42-5875-94DC-B647-46891373FC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891030"/>
            <a:ext cx="288000" cy="285120"/>
          </a:xfrm>
          <a:prstGeom prst="rect">
            <a:avLst/>
          </a:prstGeom>
        </p:spPr>
      </p:pic>
      <p:sp>
        <p:nvSpPr>
          <p:cNvPr id="17" name="矩形 16">
            <a:hlinkClick r:id="rId9" action="ppaction://hlinksldjump"/>
            <a:extLst>
              <a:ext uri="{FF2B5EF4-FFF2-40B4-BE49-F238E27FC236}">
                <a16:creationId xmlns:a16="http://schemas.microsoft.com/office/drawing/2014/main" id="{3081ACB8-EDB0-2F2B-7B3D-0FE1519B1C38}"/>
              </a:ext>
            </a:extLst>
          </p:cNvPr>
          <p:cNvSpPr/>
          <p:nvPr/>
        </p:nvSpPr>
        <p:spPr>
          <a:xfrm>
            <a:off x="4077491" y="4897675"/>
            <a:ext cx="111398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4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 numSld="2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</a:t>
            </a:r>
            <a:r>
              <a:rPr lang="en-US" altLang="zh-CN" sz="2400" spc="10" dirty="0"/>
              <a:t>eriod, the </a:t>
            </a:r>
            <a:r>
              <a:rPr lang="en-US" altLang="zh-CN" sz="2400" spc="10" dirty="0">
                <a:solidFill>
                  <a:srgbClr val="C00000"/>
                </a:solidFill>
              </a:rPr>
              <a:t>crucial</a:t>
            </a:r>
            <a:r>
              <a:rPr lang="en-US" altLang="zh-CN" sz="2400" spc="20" dirty="0"/>
              <a:t> time when rice seedlings were transplanted. </a:t>
            </a:r>
            <a:r>
              <a:rPr lang="en-US" altLang="zh-CN" sz="2400" dirty="0"/>
              <a:t>A</a:t>
            </a:r>
            <a:r>
              <a:rPr lang="en-US" altLang="zh-CN" sz="2400" spc="-30" dirty="0"/>
              <a:t>t the same time, says An, “According to </a:t>
            </a:r>
            <a:r>
              <a:rPr lang="en-US" altLang="zh-CN" sz="2400" spc="-40" dirty="0"/>
              <a:t>Chinese traditional belief, </a:t>
            </a:r>
            <a:r>
              <a:rPr lang="en-US" altLang="zh-CN" sz="2400" dirty="0"/>
              <a:t>t</a:t>
            </a:r>
            <a:r>
              <a:rPr lang="en-US" altLang="zh-CN" sz="2400" spc="-10" dirty="0"/>
              <a:t>he date figu</a:t>
            </a:r>
            <a:r>
              <a:rPr lang="en-US" altLang="zh-CN" sz="2400" dirty="0"/>
              <a:t>red with double ‘5’ is extremely unlucky.” To ensure a</a:t>
            </a:r>
            <a:r>
              <a:rPr lang="en-US" altLang="zh-CN" sz="2400" spc="10" dirty="0"/>
              <a:t> good harvest, southern Chinese </a:t>
            </a:r>
            <a:r>
              <a:rPr lang="en-US" altLang="zh-CN" sz="2400" spc="20" dirty="0"/>
              <a:t>people would have asked the </a:t>
            </a:r>
            <a:r>
              <a:rPr lang="en-US" altLang="zh-CN" sz="2400" dirty="0"/>
              <a:t>dragons to watch over their crops, says </a:t>
            </a:r>
            <a:r>
              <a:rPr lang="en-US" altLang="zh-CN" sz="2400" spc="10" dirty="0"/>
              <a:t>Jessica Anderson Turner, </a:t>
            </a:r>
            <a:r>
              <a:rPr lang="en-US" altLang="zh-CN" sz="2400" dirty="0"/>
              <a:t>a </a:t>
            </a:r>
            <a:r>
              <a:rPr lang="en-US" altLang="zh-CN" sz="2400" i="1" dirty="0"/>
              <a:t>Handbook of Chi</a:t>
            </a:r>
            <a:r>
              <a:rPr lang="en-US" altLang="zh-CN" sz="2400" i="1" spc="-10" dirty="0"/>
              <a:t>nese Mythology</a:t>
            </a:r>
            <a:r>
              <a:rPr lang="en-US" altLang="zh-CN" sz="2400" spc="-10" dirty="0"/>
              <a:t> contributor who holds a Ph.D. </a:t>
            </a:r>
            <a:r>
              <a:rPr lang="en-US" altLang="zh-CN" sz="2400" dirty="0"/>
              <a:t>i</a:t>
            </a:r>
            <a:r>
              <a:rPr lang="en-US" altLang="zh-CN" sz="2400" spc="20" dirty="0"/>
              <a:t>n folklore from Indiana University. They would </a:t>
            </a:r>
            <a:r>
              <a:rPr lang="en-US" altLang="zh-CN" sz="2400" spc="30" dirty="0"/>
              <a:t>have decorated </a:t>
            </a:r>
            <a:r>
              <a:rPr lang="en-US" altLang="zh-CN" sz="2400" dirty="0"/>
              <a:t>t</a:t>
            </a:r>
            <a:r>
              <a:rPr lang="en-US" altLang="zh-CN" sz="2400" spc="40" dirty="0"/>
              <a:t>heir boats with</a:t>
            </a:r>
            <a:r>
              <a:rPr lang="en-US" altLang="zh-CN" sz="2400" spc="50" dirty="0"/>
              <a:t> </a:t>
            </a:r>
            <a:r>
              <a:rPr lang="en-US" altLang="zh-CN" sz="2400" spc="50" dirty="0">
                <a:solidFill>
                  <a:srgbClr val="C00000"/>
                </a:solidFill>
              </a:rPr>
              <a:t>ornate</a:t>
            </a:r>
            <a:r>
              <a:rPr lang="en-US" altLang="zh-CN" sz="2400" spc="50" dirty="0"/>
              <a:t> dragon carvings, “and the rowing was </a:t>
            </a:r>
            <a:r>
              <a:rPr lang="en-US" altLang="zh-CN" sz="2400" dirty="0"/>
              <a:t>symbolic of the planting of the rice back in the water,” Anderson T</a:t>
            </a:r>
            <a:r>
              <a:rPr lang="en-US" altLang="zh-CN" sz="2400" spc="-40" dirty="0"/>
              <a:t>urner explains. </a:t>
            </a:r>
            <a:r>
              <a:rPr lang="en-US" altLang="zh-CN" sz="2400" spc="-30" dirty="0"/>
              <a:t>This </a:t>
            </a:r>
            <a:r>
              <a:rPr lang="en-US" altLang="zh-CN" sz="2400" spc="-30" dirty="0">
                <a:solidFill>
                  <a:srgbClr val="C00000"/>
                </a:solidFill>
              </a:rPr>
              <a:t>jibes</a:t>
            </a:r>
            <a:r>
              <a:rPr lang="en-US" altLang="zh-CN" sz="2400" spc="-30" dirty="0"/>
              <a:t> with Yan’s explanation of the symbolism </a:t>
            </a:r>
            <a:r>
              <a:rPr lang="en-US" altLang="zh-CN" sz="2400" dirty="0"/>
              <a:t>b</a:t>
            </a:r>
            <a:r>
              <a:rPr lang="en-US" altLang="zh-CN" sz="2400" spc="-30" dirty="0"/>
              <a:t>ehind the shape</a:t>
            </a:r>
            <a:r>
              <a:rPr lang="en-US" altLang="zh-CN" sz="2400" spc="-20" dirty="0"/>
              <a:t> of </a:t>
            </a:r>
            <a:r>
              <a:rPr lang="en-US" altLang="zh-CN" sz="2400" i="1" spc="-20" dirty="0"/>
              <a:t>zongzi</a:t>
            </a:r>
            <a:r>
              <a:rPr lang="en-US" altLang="zh-CN" sz="2400" spc="-20" dirty="0"/>
              <a:t>: tetrahedral. “The points are intended </a:t>
            </a:r>
            <a:r>
              <a:rPr lang="en-US" altLang="zh-CN" sz="2400" dirty="0"/>
              <a:t>t</a:t>
            </a:r>
            <a:r>
              <a:rPr lang="en-US" altLang="zh-CN" sz="2400" spc="30" dirty="0"/>
              <a:t>o re</a:t>
            </a:r>
            <a:r>
              <a:rPr lang="en-US" altLang="zh-CN" sz="2400" spc="40" dirty="0"/>
              <a:t>semble the horn of a cow,” Yan says, “which was a sacred </a:t>
            </a:r>
            <a:r>
              <a:rPr lang="en-US" altLang="zh-CN" sz="2400" dirty="0"/>
              <a:t>s</a:t>
            </a:r>
            <a:r>
              <a:rPr lang="en-US" altLang="zh-CN" sz="2400" spc="-30" dirty="0"/>
              <a:t>ymbol in </a:t>
            </a:r>
            <a:r>
              <a:rPr lang="en-US" altLang="zh-CN" sz="2400" spc="-20" dirty="0"/>
              <a:t>the ancient agrarian culture for blessings and abundant </a:t>
            </a:r>
            <a:r>
              <a:rPr lang="en-US" altLang="zh-CN" sz="2400" dirty="0"/>
              <a:t>crops.” </a:t>
            </a:r>
          </a:p>
        </p:txBody>
      </p:sp>
      <p:sp>
        <p:nvSpPr>
          <p:cNvPr id="5" name="矩形 4">
            <a:hlinkClick r:id="rId4" action="ppaction://hlinksldjump"/>
            <a:extLst>
              <a:ext uri="{FF2B5EF4-FFF2-40B4-BE49-F238E27FC236}">
                <a16:creationId xmlns:a16="http://schemas.microsoft.com/office/drawing/2014/main" id="{90DC5AEE-E2BE-FFE3-9969-AB38D8CA4BE6}"/>
              </a:ext>
            </a:extLst>
          </p:cNvPr>
          <p:cNvSpPr/>
          <p:nvPr/>
        </p:nvSpPr>
        <p:spPr>
          <a:xfrm>
            <a:off x="2286890" y="1240275"/>
            <a:ext cx="90749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hlinkClick r:id="rId5" action="ppaction://hlinksldjump"/>
            <a:extLst>
              <a:ext uri="{FF2B5EF4-FFF2-40B4-BE49-F238E27FC236}">
                <a16:creationId xmlns:a16="http://schemas.microsoft.com/office/drawing/2014/main" id="{D57912E2-DBB1-3A1D-D092-43D679A40B8F}"/>
              </a:ext>
            </a:extLst>
          </p:cNvPr>
          <p:cNvSpPr/>
          <p:nvPr/>
        </p:nvSpPr>
        <p:spPr>
          <a:xfrm>
            <a:off x="2959315" y="3798209"/>
            <a:ext cx="90749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hlinkClick r:id="rId6" action="ppaction://hlinksldjump"/>
            <a:extLst>
              <a:ext uri="{FF2B5EF4-FFF2-40B4-BE49-F238E27FC236}">
                <a16:creationId xmlns:a16="http://schemas.microsoft.com/office/drawing/2014/main" id="{7AA656D9-60EC-34B8-6CB9-A90ED3F99D60}"/>
              </a:ext>
            </a:extLst>
          </p:cNvPr>
          <p:cNvSpPr/>
          <p:nvPr/>
        </p:nvSpPr>
        <p:spPr>
          <a:xfrm>
            <a:off x="3333060" y="4523266"/>
            <a:ext cx="64804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1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  <a:r>
              <a:rPr lang="en-US" altLang="zh-CN" sz="2400" dirty="0"/>
              <a:t>     I</a:t>
            </a:r>
            <a:r>
              <a:rPr lang="en-US" altLang="zh-CN" sz="2400" spc="50" dirty="0"/>
              <a:t>n another interpretation, Chittick argues that the </a:t>
            </a:r>
            <a:r>
              <a:rPr lang="en-US" altLang="zh-CN" sz="2400" spc="60" dirty="0"/>
              <a:t>dragon</a:t>
            </a:r>
            <a:r>
              <a:rPr lang="en-US" altLang="zh-CN" sz="2400" spc="50" dirty="0"/>
              <a:t> </a:t>
            </a:r>
            <a:r>
              <a:rPr lang="en-US" altLang="zh-CN" sz="2400" dirty="0"/>
              <a:t>b</a:t>
            </a:r>
            <a:r>
              <a:rPr lang="en-US" altLang="zh-CN" sz="2400" spc="20" dirty="0"/>
              <a:t>oat races were “initially a military exercise” in the Hubei area, </a:t>
            </a:r>
            <a:r>
              <a:rPr lang="en-US" altLang="zh-CN" sz="2400" dirty="0"/>
              <a:t>h</a:t>
            </a:r>
            <a:r>
              <a:rPr lang="en-US" altLang="zh-CN" sz="2400" spc="30" dirty="0"/>
              <a:t>ome of the state of Chu, which </a:t>
            </a:r>
            <a:r>
              <a:rPr lang="en-US" altLang="zh-CN" sz="2400" spc="40" dirty="0"/>
              <a:t>took place during the solstice </a:t>
            </a:r>
            <a:r>
              <a:rPr lang="en-US" altLang="zh-CN" sz="2400" dirty="0"/>
              <a:t>b</a:t>
            </a:r>
            <a:r>
              <a:rPr lang="en-US" altLang="zh-CN" sz="2400" spc="40" dirty="0"/>
              <a:t>ecause that’s when</a:t>
            </a:r>
            <a:r>
              <a:rPr lang="en-US" altLang="zh-CN" sz="2400" spc="50" dirty="0"/>
              <a:t> the river was highest. “Small boats were </a:t>
            </a:r>
            <a:r>
              <a:rPr lang="en-US" altLang="zh-CN" sz="2400" dirty="0"/>
              <a:t>a</a:t>
            </a:r>
            <a:r>
              <a:rPr lang="en-US" altLang="zh-CN" sz="2400" spc="-30" dirty="0"/>
              <a:t>n important part </a:t>
            </a:r>
            <a:r>
              <a:rPr lang="en-US" altLang="zh-CN" sz="2400" spc="-20" dirty="0"/>
              <a:t>of warfare. Then they turned it into a spectator</a:t>
            </a:r>
            <a:r>
              <a:rPr lang="en-US" altLang="zh-CN" sz="2400" spc="-30" dirty="0"/>
              <a:t> </a:t>
            </a:r>
            <a:r>
              <a:rPr lang="en-US" altLang="zh-CN" sz="2400" dirty="0"/>
              <a:t>sport.”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9</a:t>
            </a:r>
            <a:r>
              <a:rPr lang="en-US" altLang="zh-CN" sz="2400" dirty="0"/>
              <a:t>     </a:t>
            </a:r>
            <a:r>
              <a:rPr lang="en-US" altLang="zh-CN" sz="2400" u="sng" dirty="0">
                <a:solidFill>
                  <a:srgbClr val="0070C0"/>
                </a:solidFill>
              </a:rPr>
              <a:t>These disparate histories and stories blended </a:t>
            </a:r>
            <a:r>
              <a:rPr lang="en-US" altLang="zh-CN" sz="2400" u="sng" spc="10" dirty="0">
                <a:solidFill>
                  <a:srgbClr val="0070C0"/>
                </a:solidFill>
              </a:rPr>
              <a:t>over time into</a:t>
            </a:r>
          </a:p>
          <a:p>
            <a:r>
              <a:rPr lang="en-US" altLang="zh-CN" sz="2400" u="sng" dirty="0">
                <a:solidFill>
                  <a:srgbClr val="0070C0"/>
                </a:solidFill>
              </a:rPr>
              <a:t>t</a:t>
            </a:r>
            <a:r>
              <a:rPr lang="en-US" altLang="zh-CN" sz="2400" u="sng" spc="10" dirty="0">
                <a:solidFill>
                  <a:srgbClr val="0070C0"/>
                </a:solidFill>
              </a:rPr>
              <a:t>he </a:t>
            </a:r>
            <a:r>
              <a:rPr lang="en-US" altLang="zh-CN" sz="2400" u="sng" spc="10" dirty="0">
                <a:solidFill>
                  <a:srgbClr val="C00000"/>
                </a:solidFill>
              </a:rPr>
              <a:t>encompassing</a:t>
            </a:r>
            <a:r>
              <a:rPr lang="en-US" altLang="zh-CN" sz="2400" u="sng" spc="10" dirty="0">
                <a:solidFill>
                  <a:srgbClr val="0070C0"/>
                </a:solidFill>
              </a:rPr>
              <a:t> myth of Qu Yuan, seemingly without issue to </a:t>
            </a:r>
            <a:r>
              <a:rPr lang="en-US" altLang="zh-CN" sz="2400" u="sng" dirty="0">
                <a:solidFill>
                  <a:srgbClr val="0070C0"/>
                </a:solidFill>
              </a:rPr>
              <a:t>t</a:t>
            </a:r>
            <a:r>
              <a:rPr lang="en-US" altLang="zh-CN" sz="2400" u="sng" spc="20" dirty="0">
                <a:solidFill>
                  <a:srgbClr val="0070C0"/>
                </a:solidFill>
              </a:rPr>
              <a:t>he celebrators.</a:t>
            </a:r>
            <a:r>
              <a:rPr lang="en-US" altLang="zh-CN" sz="2400" spc="20" dirty="0">
                <a:solidFill>
                  <a:srgbClr val="0070C0"/>
                </a:solidFill>
              </a:rPr>
              <a:t> </a:t>
            </a:r>
            <a:r>
              <a:rPr lang="en-US" altLang="zh-CN" sz="2400" spc="20" dirty="0"/>
              <a:t>“The com</a:t>
            </a:r>
            <a:r>
              <a:rPr lang="en-US" altLang="zh-CN" sz="2400" spc="30" dirty="0"/>
              <a:t>bining of stories is how people make </a:t>
            </a:r>
            <a:r>
              <a:rPr lang="en-US" altLang="zh-CN" sz="2400" dirty="0"/>
              <a:t>s</a:t>
            </a:r>
            <a:r>
              <a:rPr lang="en-US" altLang="zh-CN" sz="2400" spc="100" dirty="0"/>
              <a:t>ense </a:t>
            </a:r>
            <a:r>
              <a:rPr lang="en-US" altLang="zh-CN" sz="2400" spc="110" dirty="0"/>
              <a:t>of things,” says Anderson Turner. “Myths are always </a:t>
            </a:r>
            <a:r>
              <a:rPr lang="en-US" altLang="zh-CN" sz="2400" dirty="0"/>
              <a:t>c</a:t>
            </a:r>
            <a:r>
              <a:rPr lang="en-US" altLang="zh-CN" sz="2400" spc="10" dirty="0"/>
              <a:t>hanging to fit the needs of the </a:t>
            </a:r>
            <a:r>
              <a:rPr lang="en-US" altLang="zh-CN" sz="2400" spc="20" dirty="0"/>
              <a:t>community. For a lot of people, </a:t>
            </a:r>
            <a:r>
              <a:rPr lang="en-US" altLang="zh-CN" sz="2400" dirty="0"/>
              <a:t>y</a:t>
            </a:r>
            <a:r>
              <a:rPr lang="en-US" altLang="zh-CN" sz="2400" spc="50" dirty="0"/>
              <a:t>ou can have both history and culture; both can </a:t>
            </a:r>
            <a:r>
              <a:rPr lang="en-US" altLang="zh-CN" sz="2400" spc="60" dirty="0"/>
              <a:t>be authentic </a:t>
            </a:r>
            <a:r>
              <a:rPr lang="en-US" altLang="zh-CN" sz="2400" dirty="0"/>
              <a:t>and true.”</a:t>
            </a:r>
          </a:p>
          <a:p>
            <a:endParaRPr lang="en-US" altLang="zh-CN" sz="2400" dirty="0"/>
          </a:p>
        </p:txBody>
      </p:sp>
      <p:pic>
        <p:nvPicPr>
          <p:cNvPr id="7" name="图片 6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429020"/>
            <a:ext cx="268800" cy="288000"/>
          </a:xfrm>
          <a:prstGeom prst="rect">
            <a:avLst/>
          </a:prstGeom>
        </p:spPr>
      </p:pic>
      <p:pic>
        <p:nvPicPr>
          <p:cNvPr id="5" name="图片 4">
            <a:hlinkClick r:id="rId10" action="ppaction://hlinksldjump"/>
            <a:extLst>
              <a:ext uri="{FF2B5EF4-FFF2-40B4-BE49-F238E27FC236}">
                <a16:creationId xmlns:a16="http://schemas.microsoft.com/office/drawing/2014/main" id="{504282E5-9080-8CB9-F447-5305537732F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pic>
        <p:nvPicPr>
          <p:cNvPr id="8" name="Text B_8">
            <a:hlinkClick r:id="" action="ppaction://media"/>
            <a:extLst>
              <a:ext uri="{FF2B5EF4-FFF2-40B4-BE49-F238E27FC236}">
                <a16:creationId xmlns:a16="http://schemas.microsoft.com/office/drawing/2014/main" id="{562281DA-0E62-8E60-324F-71ACA99227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  <p:pic>
        <p:nvPicPr>
          <p:cNvPr id="9" name="Text B_9">
            <a:hlinkClick r:id="" action="ppaction://media"/>
            <a:extLst>
              <a:ext uri="{FF2B5EF4-FFF2-40B4-BE49-F238E27FC236}">
                <a16:creationId xmlns:a16="http://schemas.microsoft.com/office/drawing/2014/main" id="{35213F2F-E297-6DE7-75EF-AE06794506D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429020"/>
            <a:ext cx="288000" cy="285120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215A6184-6027-23DF-8A4D-76AC9DE85A45}"/>
              </a:ext>
            </a:extLst>
          </p:cNvPr>
          <p:cNvGrpSpPr/>
          <p:nvPr/>
        </p:nvGrpSpPr>
        <p:grpSpPr>
          <a:xfrm>
            <a:off x="792030" y="3404620"/>
            <a:ext cx="8026850" cy="1070550"/>
            <a:chOff x="792030" y="1273045"/>
            <a:chExt cx="8026850" cy="1070550"/>
          </a:xfrm>
        </p:grpSpPr>
        <p:sp>
          <p:nvSpPr>
            <p:cNvPr id="13" name="矩形 12">
              <a:hlinkClick r:id="rId12" action="ppaction://hlinksldjump"/>
              <a:extLst>
                <a:ext uri="{FF2B5EF4-FFF2-40B4-BE49-F238E27FC236}">
                  <a16:creationId xmlns:a16="http://schemas.microsoft.com/office/drawing/2014/main" id="{E61DAA9E-4978-21E5-0A4E-208B017AB2E7}"/>
                </a:ext>
              </a:extLst>
            </p:cNvPr>
            <p:cNvSpPr/>
            <p:nvPr/>
          </p:nvSpPr>
          <p:spPr>
            <a:xfrm>
              <a:off x="1403350" y="1273045"/>
              <a:ext cx="7415530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矩形 13">
              <a:hlinkClick r:id="rId12" action="ppaction://hlinksldjump"/>
              <a:extLst>
                <a:ext uri="{FF2B5EF4-FFF2-40B4-BE49-F238E27FC236}">
                  <a16:creationId xmlns:a16="http://schemas.microsoft.com/office/drawing/2014/main" id="{4B546D74-2D9E-38ED-88EE-A5EC5C9D707E}"/>
                </a:ext>
              </a:extLst>
            </p:cNvPr>
            <p:cNvSpPr/>
            <p:nvPr/>
          </p:nvSpPr>
          <p:spPr>
            <a:xfrm>
              <a:off x="792030" y="1637736"/>
              <a:ext cx="8026850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矩形 14">
              <a:hlinkClick r:id="rId12" action="ppaction://hlinksldjump"/>
              <a:extLst>
                <a:ext uri="{FF2B5EF4-FFF2-40B4-BE49-F238E27FC236}">
                  <a16:creationId xmlns:a16="http://schemas.microsoft.com/office/drawing/2014/main" id="{58D91B7F-F632-0AFE-0483-9E96F453D898}"/>
                </a:ext>
              </a:extLst>
            </p:cNvPr>
            <p:cNvSpPr/>
            <p:nvPr/>
          </p:nvSpPr>
          <p:spPr>
            <a:xfrm>
              <a:off x="792030" y="2007286"/>
              <a:ext cx="2123855" cy="336309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>
            <a:hlinkClick r:id="rId13" action="ppaction://hlinksldjump"/>
            <a:extLst>
              <a:ext uri="{FF2B5EF4-FFF2-40B4-BE49-F238E27FC236}">
                <a16:creationId xmlns:a16="http://schemas.microsoft.com/office/drawing/2014/main" id="{B7C4718E-7FCB-158E-B491-27629719823B}"/>
              </a:ext>
            </a:extLst>
          </p:cNvPr>
          <p:cNvSpPr/>
          <p:nvPr/>
        </p:nvSpPr>
        <p:spPr>
          <a:xfrm>
            <a:off x="1322250" y="3793027"/>
            <a:ext cx="187213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184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95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821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4" name="文本框 3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10</a:t>
            </a:r>
            <a:r>
              <a:rPr lang="en-US" altLang="zh-CN" sz="2400" dirty="0"/>
              <a:t>   E</a:t>
            </a:r>
            <a:r>
              <a:rPr lang="en-US" altLang="zh-CN" sz="2400" spc="70" dirty="0"/>
              <a:t>ven </a:t>
            </a:r>
            <a:r>
              <a:rPr lang="en-US" altLang="zh-CN" sz="2400" spc="80" dirty="0"/>
              <a:t>the Qu Yuan story isn’t the only legend behind the </a:t>
            </a:r>
            <a:r>
              <a:rPr lang="en-US" altLang="zh-CN" sz="2400" dirty="0"/>
              <a:t>c</a:t>
            </a:r>
            <a:r>
              <a:rPr lang="en-US" altLang="zh-CN" sz="2400" spc="-50" dirty="0"/>
              <a:t>elebration of </a:t>
            </a:r>
            <a:r>
              <a:rPr lang="en-US" altLang="zh-CN" sz="2400" i="1" spc="-50" dirty="0" err="1"/>
              <a:t>Duanwu</a:t>
            </a:r>
            <a:r>
              <a:rPr lang="en-US" altLang="zh-CN" sz="2400" i="1" spc="-50" dirty="0"/>
              <a:t> Jie</a:t>
            </a:r>
            <a:r>
              <a:rPr lang="en-US" altLang="zh-CN" sz="2400" spc="-50" dirty="0"/>
              <a:t>. Some </a:t>
            </a:r>
            <a:r>
              <a:rPr lang="en-US" altLang="zh-CN" sz="2400" spc="-40" dirty="0"/>
              <a:t>northern Chinese people, Chittick </a:t>
            </a:r>
            <a:r>
              <a:rPr lang="en-US" altLang="zh-CN" sz="2400" dirty="0"/>
              <a:t>e</a:t>
            </a:r>
            <a:r>
              <a:rPr lang="en-US" altLang="zh-CN" sz="2400" spc="-20" dirty="0"/>
              <a:t>xplains, told the tale of a man who fled to the woods after being </a:t>
            </a:r>
            <a:r>
              <a:rPr lang="en-US" altLang="zh-CN" sz="2400" dirty="0"/>
              <a:t>w</a:t>
            </a:r>
            <a:r>
              <a:rPr lang="en-US" altLang="zh-CN" sz="2400" spc="-20" dirty="0"/>
              <a:t>ronged by his </a:t>
            </a:r>
            <a:r>
              <a:rPr lang="en-US" altLang="zh-CN" sz="2400" spc="-10" dirty="0"/>
              <a:t>lord. Trying to flush the man out, the lord burned </a:t>
            </a:r>
            <a:r>
              <a:rPr lang="en-US" altLang="zh-CN" sz="2400" dirty="0"/>
              <a:t>d</a:t>
            </a:r>
            <a:r>
              <a:rPr lang="en-US" altLang="zh-CN" sz="2400" spc="-20" dirty="0"/>
              <a:t>own the forest and accidentally killed the </a:t>
            </a:r>
            <a:r>
              <a:rPr lang="en-US" altLang="zh-CN" sz="2400" spc="-10" dirty="0"/>
              <a:t>loyal servant. Another </a:t>
            </a:r>
            <a:r>
              <a:rPr lang="en-US" altLang="zh-CN" sz="2400" dirty="0"/>
              <a:t>c</a:t>
            </a:r>
            <a:r>
              <a:rPr lang="en-US" altLang="zh-CN" sz="2400" spc="60" dirty="0"/>
              <a:t>ompeting myth, from what is now </a:t>
            </a:r>
            <a:r>
              <a:rPr lang="en-US" altLang="zh-CN" sz="2400" spc="70" dirty="0"/>
              <a:t>the southern province of </a:t>
            </a:r>
            <a:r>
              <a:rPr lang="en-US" altLang="zh-CN" sz="2400" dirty="0"/>
              <a:t>F</a:t>
            </a:r>
            <a:r>
              <a:rPr lang="en-US" altLang="zh-CN" sz="2400" spc="-10" dirty="0"/>
              <a:t>ujian, is that </a:t>
            </a:r>
            <a:r>
              <a:rPr lang="en-US" altLang="zh-CN" sz="2400" dirty="0"/>
              <a:t>of Wu </a:t>
            </a:r>
            <a:r>
              <a:rPr lang="en-US" altLang="zh-CN" sz="2400" dirty="0" err="1"/>
              <a:t>Zixu</a:t>
            </a:r>
            <a:r>
              <a:rPr lang="en-US" altLang="zh-CN" sz="2400" dirty="0"/>
              <a:t>, who was also wronged by his king. Wu </a:t>
            </a:r>
            <a:r>
              <a:rPr lang="en-US" altLang="zh-CN" sz="2400" dirty="0" err="1"/>
              <a:t>Z</a:t>
            </a:r>
            <a:r>
              <a:rPr lang="en-US" altLang="zh-CN" sz="2400" spc="20" dirty="0" err="1"/>
              <a:t>ixu’s</a:t>
            </a:r>
            <a:r>
              <a:rPr lang="en-US" altLang="zh-CN" sz="2400" spc="20" dirty="0"/>
              <a:t> story involves revenge, triumphant </a:t>
            </a:r>
            <a:r>
              <a:rPr lang="en-US" altLang="zh-CN" sz="2400" spc="30" dirty="0"/>
              <a:t>battles, the whipping </a:t>
            </a:r>
            <a:r>
              <a:rPr lang="en-US" altLang="zh-CN" sz="2400" dirty="0"/>
              <a:t>o</a:t>
            </a:r>
            <a:r>
              <a:rPr lang="en-US" altLang="zh-CN" sz="2400" spc="10" dirty="0"/>
              <a:t>f his old foe’s corpse, and suicide. As</a:t>
            </a:r>
            <a:r>
              <a:rPr lang="en-US" altLang="zh-CN" sz="2400" spc="20" dirty="0"/>
              <a:t> a final act, he asked that, </a:t>
            </a:r>
            <a:r>
              <a:rPr lang="en-US" altLang="zh-CN" sz="2400" dirty="0"/>
              <a:t>o</a:t>
            </a:r>
            <a:r>
              <a:rPr lang="en-US" altLang="zh-CN" sz="2400" spc="10" dirty="0"/>
              <a:t>nce dead, </a:t>
            </a:r>
            <a:r>
              <a:rPr lang="en-US" altLang="zh-CN" sz="2400" spc="20" dirty="0"/>
              <a:t>his head be removed and placed on the city gate so </a:t>
            </a:r>
            <a:r>
              <a:rPr lang="en-US" altLang="zh-CN" sz="2400" dirty="0"/>
              <a:t>h</a:t>
            </a:r>
            <a:r>
              <a:rPr lang="en-US" altLang="zh-CN" sz="2400" spc="-10" dirty="0"/>
              <a:t>e could watch the invaders take </a:t>
            </a:r>
            <a:r>
              <a:rPr lang="en-US" altLang="zh-CN" sz="2400" dirty="0"/>
              <a:t>over his betrayers. The body of W</a:t>
            </a:r>
            <a:r>
              <a:rPr lang="en-US" altLang="zh-CN" sz="2400" spc="-40" dirty="0"/>
              <a:t>u </a:t>
            </a:r>
            <a:r>
              <a:rPr lang="en-US" altLang="zh-CN" sz="2400" spc="-40" dirty="0" err="1"/>
              <a:t>Zixu</a:t>
            </a:r>
            <a:r>
              <a:rPr lang="en-US" altLang="zh-CN" sz="2400" spc="-40" dirty="0"/>
              <a:t> was tossed </a:t>
            </a:r>
            <a:r>
              <a:rPr lang="en-US" altLang="zh-CN" sz="2400" spc="-30" dirty="0"/>
              <a:t>in the river and his fury is said to create raging </a:t>
            </a:r>
            <a:r>
              <a:rPr lang="en-US" altLang="zh-CN" sz="2400" dirty="0"/>
              <a:t>tides, and so he is worshipped as a</a:t>
            </a:r>
            <a:r>
              <a:rPr lang="en-US" altLang="zh-CN" sz="2400" spc="10" dirty="0"/>
              <a:t> river god in parts of China — </a:t>
            </a:r>
            <a:r>
              <a:rPr lang="en-US" altLang="zh-CN" sz="2400" dirty="0"/>
              <a:t>which is why some connect him with the Dragon Boat Festival.</a:t>
            </a:r>
          </a:p>
        </p:txBody>
      </p:sp>
      <p:pic>
        <p:nvPicPr>
          <p:cNvPr id="5" name="图片 4">
            <a:hlinkClick r:id="rId6" action="ppaction://hlinksldjump"/>
            <a:extLst>
              <a:ext uri="{FF2B5EF4-FFF2-40B4-BE49-F238E27FC236}">
                <a16:creationId xmlns:a16="http://schemas.microsoft.com/office/drawing/2014/main" id="{7A58E23D-BEFB-52CF-738D-BE5A753895A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pic>
        <p:nvPicPr>
          <p:cNvPr id="8" name="Text B_10">
            <a:hlinkClick r:id="" action="ppaction://media"/>
            <a:extLst>
              <a:ext uri="{FF2B5EF4-FFF2-40B4-BE49-F238E27FC236}">
                <a16:creationId xmlns:a16="http://schemas.microsoft.com/office/drawing/2014/main" id="{74DB7A5A-2CB2-8150-3F39-7C3F7AB9CB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9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893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2030" y="1147670"/>
            <a:ext cx="81002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11</a:t>
            </a:r>
            <a:r>
              <a:rPr lang="en-US" altLang="zh-CN" sz="2400" dirty="0"/>
              <a:t>   B</a:t>
            </a:r>
            <a:r>
              <a:rPr lang="en-US" altLang="zh-CN" sz="2400" spc="-20" dirty="0"/>
              <a:t>ut Qu Yuan became the face of </a:t>
            </a:r>
            <a:r>
              <a:rPr lang="en-US" altLang="zh-CN" sz="2400" i="1" spc="-20" dirty="0" err="1"/>
              <a:t>Duanwu</a:t>
            </a:r>
            <a:r>
              <a:rPr lang="en-US" altLang="zh-CN" sz="2400" i="1" spc="-20" dirty="0"/>
              <a:t> Jie</a:t>
            </a:r>
            <a:r>
              <a:rPr lang="en-US" altLang="zh-CN" sz="2400" spc="-20" dirty="0"/>
              <a:t>, because he was </a:t>
            </a:r>
            <a:r>
              <a:rPr lang="en-US" altLang="zh-CN" sz="2400" dirty="0"/>
              <a:t>a</a:t>
            </a:r>
            <a:r>
              <a:rPr lang="en-US" altLang="zh-CN" sz="2400" spc="-10" dirty="0"/>
              <a:t> </a:t>
            </a:r>
            <a:r>
              <a:rPr lang="en-US" altLang="zh-CN" sz="2400" spc="-10" dirty="0">
                <a:solidFill>
                  <a:srgbClr val="C00000"/>
                </a:solidFill>
              </a:rPr>
              <a:t>prolific</a:t>
            </a:r>
            <a:r>
              <a:rPr lang="en-US" altLang="zh-CN" sz="2400" spc="-10" dirty="0"/>
              <a:t> poet whose work was studied and loved by generations </a:t>
            </a:r>
            <a:r>
              <a:rPr lang="en-US" altLang="zh-CN" sz="2400" dirty="0"/>
              <a:t>o</a:t>
            </a:r>
            <a:r>
              <a:rPr lang="en-US" altLang="zh-CN" sz="2400" spc="60" dirty="0"/>
              <a:t>f Chinese scholars who followed </a:t>
            </a:r>
            <a:r>
              <a:rPr lang="en-US" altLang="zh-CN" sz="2400" spc="70" dirty="0"/>
              <a:t>him. “One reason Qu Yuan </a:t>
            </a:r>
            <a:r>
              <a:rPr lang="en-US" altLang="zh-CN" sz="2400" dirty="0"/>
              <a:t>w</a:t>
            </a:r>
            <a:r>
              <a:rPr lang="en-US" altLang="zh-CN" sz="2400" spc="10" dirty="0"/>
              <a:t>ins the drowning </a:t>
            </a:r>
            <a:r>
              <a:rPr lang="en-US" altLang="zh-CN" sz="2400" spc="20" dirty="0"/>
              <a:t>war is that his story was written in historical </a:t>
            </a:r>
            <a:r>
              <a:rPr lang="en-US" altLang="zh-CN" sz="2400" dirty="0"/>
              <a:t>t</a:t>
            </a:r>
            <a:r>
              <a:rPr lang="en-US" altLang="zh-CN" sz="2400" spc="-60" dirty="0"/>
              <a:t>exts — over and over,” says Anderson Turner. </a:t>
            </a:r>
            <a:r>
              <a:rPr lang="en-US" altLang="zh-CN" sz="2400" spc="-50" dirty="0"/>
              <a:t>Having demonstrated </a:t>
            </a:r>
            <a:r>
              <a:rPr lang="en-US" altLang="zh-CN" sz="2400" dirty="0"/>
              <a:t>b</a:t>
            </a:r>
            <a:r>
              <a:rPr lang="en-US" altLang="zh-CN" sz="2400" spc="-30" dirty="0"/>
              <a:t>oth a love for his country and contempt for the ungracious ruling </a:t>
            </a:r>
            <a:r>
              <a:rPr lang="en-US" altLang="zh-CN" sz="2400" dirty="0"/>
              <a:t>c</a:t>
            </a:r>
            <a:r>
              <a:rPr lang="en-US" altLang="zh-CN" sz="2400" spc="-10" dirty="0"/>
              <a:t>lass, he is known as the People’s Poet. For the Chinese, Qu Yuan</a:t>
            </a:r>
            <a:r>
              <a:rPr lang="en-US" altLang="zh-CN" sz="2400" dirty="0"/>
              <a:t> h</a:t>
            </a:r>
            <a:r>
              <a:rPr lang="en-US" altLang="zh-CN" sz="2400" spc="10" dirty="0"/>
              <a:t>as </a:t>
            </a:r>
            <a:r>
              <a:rPr lang="en-US" altLang="zh-CN" sz="2400" spc="10" dirty="0">
                <a:solidFill>
                  <a:srgbClr val="C00000"/>
                </a:solidFill>
              </a:rPr>
              <a:t>transcended</a:t>
            </a:r>
            <a:r>
              <a:rPr lang="en-US" altLang="zh-CN" sz="2400" spc="10" dirty="0"/>
              <a:t> the simple story of his self-sacrifice, </a:t>
            </a:r>
            <a:r>
              <a:rPr lang="en-US" altLang="zh-CN" sz="2400" spc="20" dirty="0"/>
              <a:t>coming to </a:t>
            </a:r>
            <a:r>
              <a:rPr lang="en-US" altLang="zh-CN" sz="2400" dirty="0"/>
              <a:t>represent the very </a:t>
            </a:r>
            <a:r>
              <a:rPr lang="en-US" altLang="zh-CN" sz="2400" dirty="0">
                <a:solidFill>
                  <a:srgbClr val="C00000"/>
                </a:solidFill>
              </a:rPr>
              <a:t>embodiment</a:t>
            </a:r>
            <a:r>
              <a:rPr lang="en-US" altLang="zh-CN" sz="2400" dirty="0"/>
              <a:t> of patriotism.</a:t>
            </a:r>
          </a:p>
        </p:txBody>
      </p:sp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3" descr="C:\Users\senj\Desktop\按钮.png"/>
          <p:cNvPicPr>
            <a:picLocks noChangeAspect="1" noChangeArrowheads="1"/>
          </p:cNvPicPr>
          <p:nvPr/>
        </p:nvPicPr>
        <p:blipFill>
          <a:blip r:embed="rId6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3" name="图片 2">
            <a:hlinkClick r:id="rId7" action="ppaction://hlinksldjump"/>
            <a:extLst>
              <a:ext uri="{FF2B5EF4-FFF2-40B4-BE49-F238E27FC236}">
                <a16:creationId xmlns:a16="http://schemas.microsoft.com/office/drawing/2014/main" id="{F96A98B4-EB04-CFE2-FE0C-09D1E99DF31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pic>
        <p:nvPicPr>
          <p:cNvPr id="8" name="Text B_11">
            <a:hlinkClick r:id="" action="ppaction://media"/>
            <a:extLst>
              <a:ext uri="{FF2B5EF4-FFF2-40B4-BE49-F238E27FC236}">
                <a16:creationId xmlns:a16="http://schemas.microsoft.com/office/drawing/2014/main" id="{64B527E9-7A13-4F48-2C97-EACCF1D0E4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  <p:sp>
        <p:nvSpPr>
          <p:cNvPr id="17" name="矩形 16">
            <a:hlinkClick r:id="rId10" action="ppaction://hlinksldjump"/>
            <a:extLst>
              <a:ext uri="{FF2B5EF4-FFF2-40B4-BE49-F238E27FC236}">
                <a16:creationId xmlns:a16="http://schemas.microsoft.com/office/drawing/2014/main" id="{1FD902E7-AB7A-E65D-A664-7E835567ABF9}"/>
              </a:ext>
            </a:extLst>
          </p:cNvPr>
          <p:cNvSpPr/>
          <p:nvPr/>
        </p:nvSpPr>
        <p:spPr>
          <a:xfrm>
            <a:off x="1053280" y="1590775"/>
            <a:ext cx="926540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hlinkClick r:id="rId11" action="ppaction://hlinksldjump"/>
            <a:extLst>
              <a:ext uri="{FF2B5EF4-FFF2-40B4-BE49-F238E27FC236}">
                <a16:creationId xmlns:a16="http://schemas.microsoft.com/office/drawing/2014/main" id="{54CEFEBF-6E94-551A-3814-8A357D6DCDDA}"/>
              </a:ext>
            </a:extLst>
          </p:cNvPr>
          <p:cNvSpPr/>
          <p:nvPr/>
        </p:nvSpPr>
        <p:spPr>
          <a:xfrm>
            <a:off x="1350824" y="3798550"/>
            <a:ext cx="163706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hlinkClick r:id="rId12" action="ppaction://hlinksldjump"/>
            <a:extLst>
              <a:ext uri="{FF2B5EF4-FFF2-40B4-BE49-F238E27FC236}">
                <a16:creationId xmlns:a16="http://schemas.microsoft.com/office/drawing/2014/main" id="{369BF9C8-07F8-6BEB-9554-5E2F404F6080}"/>
              </a:ext>
            </a:extLst>
          </p:cNvPr>
          <p:cNvSpPr/>
          <p:nvPr/>
        </p:nvSpPr>
        <p:spPr>
          <a:xfrm>
            <a:off x="3213430" y="4154918"/>
            <a:ext cx="1656115" cy="3363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29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78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0000" y="1133951"/>
            <a:ext cx="8532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E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ach of the following statements contains information</a:t>
            </a:r>
            <a:r>
              <a:rPr lang="en-US" altLang="zh-CN" sz="2400" spc="40" dirty="0">
                <a:latin typeface="Cambria" panose="02040503050406030204" pitchFamily="18" charset="0"/>
                <a:ea typeface="Cambria" panose="02040503050406030204" pitchFamily="18" charset="0"/>
              </a:rPr>
              <a:t> given in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o</a:t>
            </a:r>
            <a:r>
              <a:rPr lang="en-US" altLang="zh-CN" sz="2400" spc="-40" dirty="0">
                <a:latin typeface="Cambria" panose="02040503050406030204" pitchFamily="18" charset="0"/>
                <a:ea typeface="Cambria" panose="02040503050406030204" pitchFamily="18" charset="0"/>
              </a:rPr>
              <a:t>ne of the paragraphs of Text B. Ide</a:t>
            </a:r>
            <a:r>
              <a:rPr lang="en-US" altLang="zh-CN" sz="2400" spc="-30" dirty="0">
                <a:latin typeface="Cambria" panose="02040503050406030204" pitchFamily="18" charset="0"/>
                <a:ea typeface="Cambria" panose="02040503050406030204" pitchFamily="18" charset="0"/>
              </a:rPr>
              <a:t>ntify the paragraph from which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he information is derived, and </a:t>
            </a:r>
            <a:r>
              <a:rPr lang="en-US" altLang="zh-CN" sz="2400" spc="40" dirty="0">
                <a:latin typeface="Cambria" panose="02040503050406030204" pitchFamily="18" charset="0"/>
                <a:ea typeface="Cambria" panose="02040503050406030204" pitchFamily="18" charset="0"/>
              </a:rPr>
              <a:t>write the paragraph number in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the blank. You may choose a paragraph more than once.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66165" y="3303657"/>
            <a:ext cx="17576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A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B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C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D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343025" y="3303657"/>
            <a:ext cx="754927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</a:t>
            </a:r>
            <a:r>
              <a:rPr lang="en-US" altLang="zh-CN" sz="2400" spc="10" dirty="0"/>
              <a:t>u Yuan was an advisor of the Chu king during the</a:t>
            </a:r>
            <a:r>
              <a:rPr lang="en-US" altLang="zh-CN" sz="2400" spc="20" dirty="0"/>
              <a:t> Warring </a:t>
            </a:r>
            <a:r>
              <a:rPr lang="en-US" altLang="zh-CN" sz="2400" dirty="0"/>
              <a:t>States period.</a:t>
            </a:r>
          </a:p>
          <a:p>
            <a:r>
              <a:rPr lang="en-US" altLang="zh-CN" sz="2400" dirty="0"/>
              <a:t>I</a:t>
            </a:r>
            <a:r>
              <a:rPr lang="en-US" altLang="zh-CN" sz="2400" spc="40" dirty="0"/>
              <a:t>t was once told that Qu Yuan</a:t>
            </a:r>
            <a:r>
              <a:rPr lang="en-US" altLang="zh-CN" sz="2400" spc="50" dirty="0"/>
              <a:t> became a water spirit after </a:t>
            </a:r>
            <a:r>
              <a:rPr lang="en-US" altLang="zh-CN" sz="2400" dirty="0"/>
              <a:t>his death.</a:t>
            </a:r>
          </a:p>
          <a:p>
            <a:r>
              <a:rPr lang="en-US" altLang="zh-CN" sz="2400" dirty="0"/>
              <a:t>T</a:t>
            </a:r>
            <a:r>
              <a:rPr lang="en-US" altLang="zh-CN" sz="2400" spc="50" dirty="0"/>
              <a:t>he summer</a:t>
            </a:r>
            <a:r>
              <a:rPr lang="en-US" altLang="zh-CN" sz="2400" spc="60" dirty="0"/>
              <a:t> solstice period is the crucial time when rice </a:t>
            </a:r>
            <a:r>
              <a:rPr lang="en-US" altLang="zh-CN" sz="2400" dirty="0"/>
              <a:t>seedlings are transplanted.</a:t>
            </a:r>
          </a:p>
          <a:p>
            <a:r>
              <a:rPr lang="en-US" altLang="zh-CN" sz="2400" dirty="0"/>
              <a:t>The story of Qu Yuan is not the only legend </a:t>
            </a:r>
            <a:r>
              <a:rPr lang="en-US" altLang="zh-CN" sz="2400" spc="10" dirty="0"/>
              <a:t>behind </a:t>
            </a:r>
            <a:r>
              <a:rPr lang="en-US" altLang="zh-CN" sz="2400" i="1" spc="10" dirty="0" err="1"/>
              <a:t>Duanwu</a:t>
            </a:r>
            <a:r>
              <a:rPr lang="en-US" altLang="zh-CN" sz="2400" i="1" spc="10" dirty="0"/>
              <a:t> </a:t>
            </a:r>
            <a:r>
              <a:rPr lang="en-US" altLang="zh-CN" sz="2400" i="1" dirty="0"/>
              <a:t>Jie</a:t>
            </a:r>
            <a:r>
              <a:rPr lang="en-US" altLang="zh-CN" sz="2400" dirty="0"/>
              <a:t>.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5746" y="3306008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2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2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24" name="文本框 23"/>
          <p:cNvSpPr txBox="1"/>
          <p:nvPr/>
        </p:nvSpPr>
        <p:spPr>
          <a:xfrm>
            <a:off x="595746" y="404125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5746" y="47765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7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18001" y="5511746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10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1365" y="3371850"/>
            <a:ext cx="599085" cy="30707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60118" y="3400425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67337" y="4133401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67337" y="4841623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67337" y="5583219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983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20" grpId="1"/>
      <p:bldP spid="24" grpId="1"/>
      <p:bldP spid="25" grpId="1"/>
      <p:bldP spid="26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66165" y="1124840"/>
            <a:ext cx="17576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E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F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G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H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I</a:t>
            </a: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J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343025" y="1124840"/>
            <a:ext cx="75492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50" dirty="0"/>
              <a:t>he Chinese regarded the dragon as the controller</a:t>
            </a:r>
            <a:r>
              <a:rPr lang="en-US" altLang="zh-CN" sz="2400" spc="60" dirty="0"/>
              <a:t> of the </a:t>
            </a:r>
            <a:r>
              <a:rPr lang="en-US" altLang="zh-CN" sz="2400" dirty="0"/>
              <a:t>rain, the river and the sea.</a:t>
            </a:r>
          </a:p>
          <a:p>
            <a:r>
              <a:rPr lang="en-US" altLang="zh-CN" sz="2400" dirty="0"/>
              <a:t>Some huge fish in fresh</a:t>
            </a:r>
            <a:r>
              <a:rPr lang="en-US" altLang="zh-CN" sz="2400" spc="10" dirty="0"/>
              <a:t> water might be considered dragons </a:t>
            </a:r>
            <a:r>
              <a:rPr lang="en-US" altLang="zh-CN" sz="2400" dirty="0"/>
              <a:t>by the ancient Chinese.</a:t>
            </a:r>
          </a:p>
          <a:p>
            <a:r>
              <a:rPr lang="en-US" altLang="zh-CN" sz="2400" dirty="0"/>
              <a:t>T</a:t>
            </a:r>
            <a:r>
              <a:rPr lang="en-US" altLang="zh-CN" sz="2400" spc="50" dirty="0"/>
              <a:t>he </a:t>
            </a:r>
            <a:r>
              <a:rPr lang="en-US" altLang="zh-CN" sz="2400" spc="60" dirty="0"/>
              <a:t>story of Qu Yuan was frequently written in historical </a:t>
            </a:r>
            <a:r>
              <a:rPr lang="en-US" altLang="zh-CN" sz="2400" dirty="0"/>
              <a:t>texts.</a:t>
            </a:r>
          </a:p>
          <a:p>
            <a:r>
              <a:rPr lang="en-US" altLang="zh-CN" sz="2400" dirty="0"/>
              <a:t>Histories and stories blended into the myth of Qu Yuan.</a:t>
            </a:r>
          </a:p>
          <a:p>
            <a:r>
              <a:rPr lang="en-US" altLang="zh-CN" sz="2400" dirty="0"/>
              <a:t>The dragon boat races were initially a military exercise.</a:t>
            </a:r>
          </a:p>
          <a:p>
            <a:r>
              <a:rPr lang="en-US" altLang="zh-CN" sz="2400" dirty="0"/>
              <a:t>T</a:t>
            </a:r>
            <a:r>
              <a:rPr lang="en-US" altLang="zh-CN" sz="2400" spc="10" dirty="0"/>
              <a:t>he dragon was identified as </a:t>
            </a:r>
            <a:r>
              <a:rPr lang="en-US" altLang="zh-CN" sz="2400" spc="20" dirty="0"/>
              <a:t>the symbol of imperial power </a:t>
            </a:r>
            <a:r>
              <a:rPr lang="en-US" altLang="zh-CN" sz="2400" dirty="0"/>
              <a:t>in the imperial era.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95746" y="11271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9" name="文本框 8"/>
          <p:cNvSpPr txBox="1"/>
          <p:nvPr/>
        </p:nvSpPr>
        <p:spPr>
          <a:xfrm>
            <a:off x="595746" y="184489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8001" y="2593919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11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5746" y="331558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9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2906" y="403725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6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2906" y="368738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8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19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15" name="矩形 14"/>
          <p:cNvSpPr/>
          <p:nvPr/>
        </p:nvSpPr>
        <p:spPr>
          <a:xfrm>
            <a:off x="467715" y="1222988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63216" y="1944111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63216" y="2697004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63216" y="3404787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63292" y="4148251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0512" y="3800971"/>
            <a:ext cx="599538" cy="27985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38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0" grpId="1"/>
      <p:bldP spid="9" grpId="1"/>
      <p:bldP spid="10" grpId="1"/>
      <p:bldP spid="12" grpId="1"/>
      <p:bldP spid="13" grpId="1"/>
      <p:bldP spid="1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3" name="文本框 12"/>
          <p:cNvSpPr txBox="1"/>
          <p:nvPr/>
        </p:nvSpPr>
        <p:spPr>
          <a:xfrm>
            <a:off x="366165" y="2604352"/>
            <a:ext cx="4859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0400" y="2604352"/>
            <a:ext cx="8231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70" dirty="0"/>
              <a:t>he main elements of </a:t>
            </a:r>
            <a:r>
              <a:rPr lang="en-US" altLang="zh-CN" sz="2400" i="1" spc="-60" dirty="0" err="1"/>
              <a:t>Duanwu</a:t>
            </a:r>
            <a:r>
              <a:rPr lang="en-US" altLang="zh-CN" sz="2400" i="1" spc="-60" dirty="0"/>
              <a:t> Jie</a:t>
            </a:r>
            <a:r>
              <a:rPr lang="en-US" altLang="zh-CN" sz="2400" spc="-60" dirty="0"/>
              <a:t> include the sticky-rice balls ______ </a:t>
            </a:r>
            <a:r>
              <a:rPr lang="en-US" altLang="zh-CN" sz="2400" dirty="0"/>
              <a:t>in bamboo leaves.</a:t>
            </a:r>
          </a:p>
          <a:p>
            <a:r>
              <a:rPr lang="en-US" altLang="zh-CN" sz="2400" dirty="0"/>
              <a:t>A. decorated </a:t>
            </a:r>
          </a:p>
          <a:p>
            <a:r>
              <a:rPr lang="en-US" altLang="zh-CN" sz="2400" dirty="0"/>
              <a:t>C. blended</a:t>
            </a:r>
          </a:p>
          <a:p>
            <a:endParaRPr lang="en-US" altLang="zh-CN" sz="2400" dirty="0"/>
          </a:p>
          <a:p>
            <a:r>
              <a:rPr lang="en-US" altLang="zh-CN" sz="2400" dirty="0"/>
              <a:t>Qu Yuan was ______ by the em</a:t>
            </a:r>
            <a:r>
              <a:rPr lang="en-US" altLang="zh-CN" sz="2400" spc="10" dirty="0"/>
              <a:t>peror because he was considered </a:t>
            </a:r>
            <a:r>
              <a:rPr lang="en-US" altLang="zh-CN" sz="2400" dirty="0"/>
              <a:t>disloyal.</a:t>
            </a:r>
          </a:p>
          <a:p>
            <a:r>
              <a:rPr lang="en-US" altLang="zh-CN" sz="2400" dirty="0"/>
              <a:t>A. exiled </a:t>
            </a:r>
          </a:p>
          <a:p>
            <a:r>
              <a:rPr lang="en-US" altLang="zh-CN" sz="2400" dirty="0"/>
              <a:t>C. proposed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altLang="zh-CN" sz="2400" spc="20" dirty="0">
                <a:latin typeface="Cambria" panose="02040503050406030204" pitchFamily="18" charset="0"/>
                <a:ea typeface="Cambria" panose="02040503050406030204" pitchFamily="18" charset="0"/>
              </a:rPr>
              <a:t>omplete the following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 sentences according to the information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given in Text B.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9" name="选择1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44332" y="3403676"/>
            <a:ext cx="459698" cy="361192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4572000" y="2604352"/>
            <a:ext cx="4320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spc="20" dirty="0"/>
              <a:t>B. wrapped </a:t>
            </a:r>
          </a:p>
          <a:p>
            <a:r>
              <a:rPr lang="en-US" altLang="zh-CN" sz="2400" spc="20" dirty="0"/>
              <a:t>D. rolled 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spc="20" dirty="0"/>
              <a:t>B. advised </a:t>
            </a:r>
            <a:endParaRPr lang="en-US" altLang="zh-CN" sz="2400" dirty="0"/>
          </a:p>
          <a:p>
            <a:r>
              <a:rPr lang="en-US" altLang="zh-CN" sz="2400" spc="20" dirty="0"/>
              <a:t>D. presented</a:t>
            </a:r>
            <a:endParaRPr lang="en-US" altLang="zh-CN" sz="2400" dirty="0"/>
          </a:p>
        </p:txBody>
      </p:sp>
      <p:pic>
        <p:nvPicPr>
          <p:cNvPr id="28" name="选择1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5219600"/>
            <a:ext cx="459698" cy="36119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19139" y="2684569"/>
            <a:ext cx="8401155" cy="13924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19139" y="4537650"/>
            <a:ext cx="8401155" cy="139247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65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3" name="文本框 12"/>
          <p:cNvSpPr txBox="1"/>
          <p:nvPr/>
        </p:nvSpPr>
        <p:spPr>
          <a:xfrm>
            <a:off x="366165" y="1142946"/>
            <a:ext cx="4859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</a:rPr>
              <a:t>4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5</a:t>
            </a:r>
            <a:endParaRPr lang="zh-CN" altLang="en-US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60400" y="1142946"/>
            <a:ext cx="82319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Giving food is regarded as a way to ______ a spirit energy.</a:t>
            </a:r>
          </a:p>
          <a:p>
            <a:r>
              <a:rPr lang="en-US" altLang="zh-CN" sz="2400" dirty="0"/>
              <a:t>A. fend off </a:t>
            </a:r>
          </a:p>
          <a:p>
            <a:r>
              <a:rPr lang="en-US" altLang="zh-CN" sz="2400" dirty="0"/>
              <a:t>C. drown</a:t>
            </a:r>
          </a:p>
          <a:p>
            <a:endParaRPr lang="en-US" altLang="zh-CN" sz="2400" dirty="0"/>
          </a:p>
          <a:p>
            <a:r>
              <a:rPr lang="en-US" altLang="zh-CN" sz="2400" dirty="0"/>
              <a:t>The points of zongzi are intended to ______ the horn of a cow.</a:t>
            </a:r>
          </a:p>
          <a:p>
            <a:r>
              <a:rPr lang="en-US" altLang="zh-CN" sz="2400" dirty="0"/>
              <a:t>A. decorate </a:t>
            </a:r>
          </a:p>
          <a:p>
            <a:r>
              <a:rPr lang="en-US" altLang="zh-CN" sz="2400" dirty="0"/>
              <a:t>C. resemble</a:t>
            </a:r>
          </a:p>
          <a:p>
            <a:endParaRPr lang="en-US" altLang="zh-CN" sz="2400" dirty="0"/>
          </a:p>
          <a:p>
            <a:r>
              <a:rPr lang="en-US" altLang="zh-CN" sz="2400" dirty="0"/>
              <a:t>Besides being a patriot, Qu Yuan was a ______ poet.</a:t>
            </a:r>
          </a:p>
          <a:p>
            <a:r>
              <a:rPr lang="en-US" altLang="zh-CN" sz="2400" dirty="0"/>
              <a:t>A. gracious </a:t>
            </a:r>
          </a:p>
          <a:p>
            <a:r>
              <a:rPr lang="en-US" altLang="zh-CN" sz="2400" dirty="0"/>
              <a:t>C. competing</a:t>
            </a:r>
          </a:p>
        </p:txBody>
      </p:sp>
      <p:pic>
        <p:nvPicPr>
          <p:cNvPr id="16" name="选择1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56201" y="1942270"/>
            <a:ext cx="459698" cy="361192"/>
          </a:xfrm>
          <a:prstGeom prst="rect">
            <a:avLst/>
          </a:prstGeom>
        </p:spPr>
      </p:pic>
      <p:pic>
        <p:nvPicPr>
          <p:cNvPr id="22" name="选择1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3395095"/>
            <a:ext cx="459698" cy="361192"/>
          </a:xfrm>
          <a:prstGeom prst="rect">
            <a:avLst/>
          </a:prstGeom>
        </p:spPr>
      </p:pic>
      <p:pic>
        <p:nvPicPr>
          <p:cNvPr id="27" name="选择1" descr="圈圈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56201" y="4498383"/>
            <a:ext cx="459698" cy="361192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4572000" y="1142946"/>
            <a:ext cx="4320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B. capture</a:t>
            </a:r>
          </a:p>
          <a:p>
            <a:r>
              <a:rPr lang="en-US" altLang="zh-CN" sz="2400" dirty="0"/>
              <a:t>D. appease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B. encompass</a:t>
            </a:r>
          </a:p>
          <a:p>
            <a:r>
              <a:rPr lang="en-US" altLang="zh-CN" sz="2400" dirty="0"/>
              <a:t>D. transcend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B. prolific</a:t>
            </a:r>
          </a:p>
          <a:p>
            <a:r>
              <a:rPr lang="en-US" altLang="zh-CN" sz="2400" dirty="0"/>
              <a:t>D. furious</a:t>
            </a:r>
          </a:p>
        </p:txBody>
      </p:sp>
      <p:pic>
        <p:nvPicPr>
          <p:cNvPr id="28" name="Picture 3" descr="C:\Users\senj\Desktop\按钮.png"/>
          <p:cNvPicPr>
            <a:picLocks noChangeAspect="1" noChangeArrowheads="1"/>
          </p:cNvPicPr>
          <p:nvPr/>
        </p:nvPicPr>
        <p:blipFill>
          <a:blip r:embed="rId5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11" name="矩形 10"/>
          <p:cNvSpPr/>
          <p:nvPr/>
        </p:nvSpPr>
        <p:spPr>
          <a:xfrm>
            <a:off x="419139" y="1244471"/>
            <a:ext cx="8401155" cy="11488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69940" y="2708951"/>
            <a:ext cx="8401155" cy="11488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19139" y="4149051"/>
            <a:ext cx="8401155" cy="114888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17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altLang="zh-CN" sz="2400" spc="50" dirty="0">
                <a:latin typeface="Cambria" panose="02040503050406030204" pitchFamily="18" charset="0"/>
                <a:ea typeface="Cambria" panose="02040503050406030204" pitchFamily="18" charset="0"/>
              </a:rPr>
              <a:t>omplete the following table and then fill in the bla</a:t>
            </a:r>
            <a:r>
              <a:rPr lang="en-US" altLang="zh-CN" sz="2400" spc="60" dirty="0">
                <a:latin typeface="Cambria" panose="02040503050406030204" pitchFamily="18" charset="0"/>
                <a:ea typeface="Cambria" panose="02040503050406030204" pitchFamily="18" charset="0"/>
              </a:rPr>
              <a:t>nk of each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sentence with a word from the table.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钥匙2" descr="C:\Users\senj\Desktop\新建文件夹\答案.png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139" y="1592895"/>
            <a:ext cx="324000" cy="324000"/>
          </a:xfrm>
          <a:prstGeom prst="rect">
            <a:avLst/>
          </a:prstGeom>
          <a:noFill/>
        </p:spPr>
      </p:pic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398293"/>
              </p:ext>
            </p:extLst>
          </p:nvPr>
        </p:nvGraphicFramePr>
        <p:xfrm>
          <a:off x="1031860" y="2631924"/>
          <a:ext cx="708028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40140">
                  <a:extLst>
                    <a:ext uri="{9D8B030D-6E8A-4147-A177-3AD203B41FA5}">
                      <a16:colId xmlns:a16="http://schemas.microsoft.com/office/drawing/2014/main" val="3823967904"/>
                    </a:ext>
                  </a:extLst>
                </a:gridCol>
                <a:gridCol w="3540140">
                  <a:extLst>
                    <a:ext uri="{9D8B030D-6E8A-4147-A177-3AD203B41FA5}">
                      <a16:colId xmlns:a16="http://schemas.microsoft.com/office/drawing/2014/main" val="34378847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Noun</a:t>
                      </a:r>
                      <a:endParaRPr lang="zh-CN" altLang="en-US" sz="2400" b="1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Verb</a:t>
                      </a:r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5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frustration</a:t>
                      </a:r>
                      <a:endParaRPr lang="zh-CN" altLang="en-US" sz="24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frustrate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618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resemblance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resemble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671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demonstration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demonstrate</a:t>
                      </a:r>
                      <a:endParaRPr lang="zh-CN" altLang="en-US" sz="2400" dirty="0"/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6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transcendence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transcend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2311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alliance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ally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360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embodiment</a:t>
                      </a:r>
                      <a:endParaRPr lang="zh-CN" altLang="en-US" sz="24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0" u="none" strike="noStrike" kern="1200" baseline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embody</a:t>
                      </a:r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259609"/>
                  </a:ext>
                </a:extLst>
              </a:tr>
            </a:tbl>
          </a:graphicData>
        </a:graphic>
      </p:graphicFrame>
      <p:pic>
        <p:nvPicPr>
          <p:cNvPr id="12" name="Picture 3" descr="C:\Users\senj\Desktop\按钮.png"/>
          <p:cNvPicPr>
            <a:picLocks noChangeAspect="1" noChangeArrowheads="1"/>
          </p:cNvPicPr>
          <p:nvPr/>
        </p:nvPicPr>
        <p:blipFill>
          <a:blip r:embed="rId3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13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4584700" y="3105261"/>
            <a:ext cx="3533775" cy="42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023936" y="3563484"/>
            <a:ext cx="3533775" cy="42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31860" y="4018081"/>
            <a:ext cx="3533775" cy="42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031860" y="4477325"/>
            <a:ext cx="3533775" cy="42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585501" y="4930593"/>
            <a:ext cx="3533775" cy="42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85501" y="5389919"/>
            <a:ext cx="3533775" cy="428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603395" y="3105262"/>
            <a:ext cx="3515881" cy="42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52145" y="3560104"/>
            <a:ext cx="3515881" cy="42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54880" y="4016176"/>
            <a:ext cx="3515881" cy="42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1054880" y="4480016"/>
            <a:ext cx="3515881" cy="42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574470" y="4930593"/>
            <a:ext cx="3515881" cy="42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574470" y="5389587"/>
            <a:ext cx="3515881" cy="42851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98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17" grpId="0" animBg="1"/>
      <p:bldP spid="17" grpId="1" animBg="1"/>
      <p:bldP spid="17" grpId="2" animBg="1"/>
      <p:bldP spid="17" grpId="3" animBg="1"/>
      <p:bldP spid="18" grpId="0" animBg="1"/>
      <p:bldP spid="18" grpId="1" animBg="1"/>
      <p:bldP spid="18" grpId="2" animBg="1"/>
      <p:bldP spid="18" grpId="3" animBg="1"/>
      <p:bldP spid="20" grpId="0" animBg="1"/>
      <p:bldP spid="20" grpId="1" animBg="1"/>
      <p:bldP spid="20" grpId="2" animBg="1"/>
      <p:bldP spid="20" grpId="3" animBg="1"/>
      <p:bldP spid="21" grpId="0" animBg="1"/>
      <p:bldP spid="21" grpId="1" animBg="1"/>
      <p:bldP spid="21" grpId="2" animBg="1"/>
      <p:bldP spid="21" grpId="3" animBg="1"/>
      <p:bldP spid="22" grpId="0" animBg="1"/>
      <p:bldP spid="22" grpId="1" animBg="1"/>
      <p:bldP spid="22" grpId="2" animBg="1"/>
      <p:bldP spid="22" grpId="3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EF00891-F638-F212-B31A-997FF27788A0}"/>
              </a:ext>
            </a:extLst>
          </p:cNvPr>
          <p:cNvSpPr txBox="1"/>
          <p:nvPr/>
        </p:nvSpPr>
        <p:spPr>
          <a:xfrm>
            <a:off x="2932161" y="1382834"/>
            <a:ext cx="1266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frustrate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77D5F3-8732-816A-5EF8-8AE12A98DA00}"/>
              </a:ext>
            </a:extLst>
          </p:cNvPr>
          <p:cNvSpPr txBox="1"/>
          <p:nvPr/>
        </p:nvSpPr>
        <p:spPr>
          <a:xfrm>
            <a:off x="7034752" y="1381366"/>
            <a:ext cx="1347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resemble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AA86F-FC87-60E7-8353-EDE7B633636C}"/>
              </a:ext>
            </a:extLst>
          </p:cNvPr>
          <p:cNvSpPr txBox="1"/>
          <p:nvPr/>
        </p:nvSpPr>
        <p:spPr>
          <a:xfrm>
            <a:off x="2932161" y="1954702"/>
            <a:ext cx="1787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demonstrate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89F40B-0648-97CA-4174-B9AAD18D3F76}"/>
              </a:ext>
            </a:extLst>
          </p:cNvPr>
          <p:cNvSpPr txBox="1"/>
          <p:nvPr/>
        </p:nvSpPr>
        <p:spPr>
          <a:xfrm>
            <a:off x="7034752" y="1954702"/>
            <a:ext cx="142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transcend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93E553-3155-DC85-BADB-9D869689D6EE}"/>
              </a:ext>
            </a:extLst>
          </p:cNvPr>
          <p:cNvSpPr txBox="1"/>
          <p:nvPr/>
        </p:nvSpPr>
        <p:spPr>
          <a:xfrm>
            <a:off x="2932161" y="2528037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ally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4A4AAD-B193-7956-F4E6-DD8008591024}"/>
              </a:ext>
            </a:extLst>
          </p:cNvPr>
          <p:cNvSpPr txBox="1"/>
          <p:nvPr/>
        </p:nvSpPr>
        <p:spPr>
          <a:xfrm>
            <a:off x="7034752" y="2528037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embody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467715" y="1286955"/>
            <a:ext cx="8323860" cy="1834191"/>
          </a:xfrm>
          <a:prstGeom prst="roundRect">
            <a:avLst>
              <a:gd name="adj" fmla="val 10517"/>
            </a:avLst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755735" y="1381367"/>
            <a:ext cx="1510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frustration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64802" y="1381367"/>
            <a:ext cx="17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resemblance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755735" y="1954702"/>
            <a:ext cx="2031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demonstration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4864802" y="1954702"/>
            <a:ext cx="202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transcendence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55735" y="2528037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alliance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864802" y="2528037"/>
            <a:ext cx="180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embodiment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66165" y="3448524"/>
            <a:ext cx="485955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60400" y="3448524"/>
            <a:ext cx="823190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10" dirty="0"/>
              <a:t>he family </a:t>
            </a:r>
            <a:r>
              <a:rPr lang="en-US" altLang="zh-CN" sz="2400" dirty="0"/>
              <a:t>___________</a:t>
            </a:r>
            <a:r>
              <a:rPr lang="en-US" altLang="zh-CN" sz="2400" spc="10" dirty="0"/>
              <a:t> between the two men was </a:t>
            </a:r>
            <a:r>
              <a:rPr lang="en-US" altLang="zh-CN" sz="2400" spc="20" dirty="0"/>
              <a:t>exaggerated</a:t>
            </a:r>
            <a:r>
              <a:rPr lang="en-US" altLang="zh-CN" sz="2400" spc="10" dirty="0"/>
              <a:t> </a:t>
            </a:r>
            <a:r>
              <a:rPr lang="en-US" altLang="zh-CN" sz="2400" dirty="0"/>
              <a:t>by their posture.</a:t>
            </a: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dirty="0"/>
              <a:t>This was an issue ____________ party politics.</a:t>
            </a: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dirty="0"/>
              <a:t>E</a:t>
            </a:r>
            <a:r>
              <a:rPr lang="en-US" altLang="zh-CN" sz="2400" spc="40" dirty="0"/>
              <a:t>mployers tell us that this </a:t>
            </a:r>
            <a:r>
              <a:rPr lang="en-US" altLang="zh-CN" sz="2400" spc="50" dirty="0"/>
              <a:t>is their biggest </a:t>
            </a:r>
            <a:r>
              <a:rPr lang="en-US" altLang="zh-CN" sz="2400" dirty="0"/>
              <a:t>__________</a:t>
            </a:r>
            <a:r>
              <a:rPr lang="en-US" altLang="zh-CN" sz="2400" spc="50" dirty="0"/>
              <a:t> with job </a:t>
            </a:r>
            <a:r>
              <a:rPr lang="en-US" altLang="zh-CN" sz="2400" dirty="0"/>
              <a:t>seekers and it can really hold you back in your job search.</a:t>
            </a: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dirty="0"/>
              <a:t>My brother __________ some of the qualities my father has.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58982" y="3448050"/>
            <a:ext cx="1786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resemblance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942360" y="4222383"/>
            <a:ext cx="1802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transcending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19687" y="4695455"/>
            <a:ext cx="1510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frustration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282719" y="5506083"/>
            <a:ext cx="1414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embodies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089925" y="3536429"/>
            <a:ext cx="1690020" cy="30331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929664" y="4257721"/>
            <a:ext cx="1802225" cy="39118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111264" y="4783127"/>
            <a:ext cx="1527389" cy="30331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2195835" y="5596045"/>
            <a:ext cx="1584110" cy="30331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864802" y="1381367"/>
            <a:ext cx="178683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resemblance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46682" y="1381367"/>
            <a:ext cx="151054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frustration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034752" y="1954702"/>
            <a:ext cx="142551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transcend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034752" y="2528037"/>
            <a:ext cx="120898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embody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7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164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4" grpId="0"/>
      <p:bldP spid="21" grpId="0"/>
      <p:bldP spid="22" grpId="0"/>
      <p:bldP spid="23" grpId="0"/>
      <p:bldP spid="32" grpId="0" animBg="1"/>
      <p:bldP spid="33" grpId="0" animBg="1"/>
      <p:bldP spid="34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679FE5BD-134D-0D1A-3EEB-610D24DAEFD4}"/>
              </a:ext>
            </a:extLst>
          </p:cNvPr>
          <p:cNvSpPr txBox="1"/>
          <p:nvPr/>
        </p:nvSpPr>
        <p:spPr>
          <a:xfrm>
            <a:off x="366165" y="3448524"/>
            <a:ext cx="48595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EE4EA4C-E5E6-7754-D58D-1EE0507BC6B0}"/>
              </a:ext>
            </a:extLst>
          </p:cNvPr>
          <p:cNvSpPr txBox="1"/>
          <p:nvPr/>
        </p:nvSpPr>
        <p:spPr>
          <a:xfrm>
            <a:off x="660400" y="3448524"/>
            <a:ext cx="82319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</a:t>
            </a:r>
            <a:r>
              <a:rPr lang="en-US" altLang="zh-CN" sz="2400" spc="60" dirty="0"/>
              <a:t> can think of no better way to </a:t>
            </a:r>
            <a:r>
              <a:rPr lang="en-US" altLang="zh-CN" sz="2400" dirty="0"/>
              <a:t>____________</a:t>
            </a:r>
            <a:r>
              <a:rPr lang="en-US" altLang="zh-CN" sz="2400" spc="60" dirty="0"/>
              <a:t> how littl</a:t>
            </a:r>
            <a:r>
              <a:rPr lang="en-US" altLang="zh-CN" sz="2400" spc="70" dirty="0"/>
              <a:t>e things </a:t>
            </a:r>
            <a:r>
              <a:rPr lang="en-US" altLang="zh-CN" sz="2400" dirty="0"/>
              <a:t>have changed.</a:t>
            </a:r>
          </a:p>
          <a:p>
            <a:pPr>
              <a:lnSpc>
                <a:spcPts val="60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dirty="0"/>
              <a:t>Before he ______ himself with this company, he was freelance.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30ACB15-445E-B27A-A700-6403CE11E3A5}"/>
              </a:ext>
            </a:extLst>
          </p:cNvPr>
          <p:cNvSpPr txBox="1"/>
          <p:nvPr/>
        </p:nvSpPr>
        <p:spPr>
          <a:xfrm>
            <a:off x="2932161" y="1382834"/>
            <a:ext cx="1266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frustrate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5ADAFB-62A9-894C-2D6E-C0D047BCB3D2}"/>
              </a:ext>
            </a:extLst>
          </p:cNvPr>
          <p:cNvSpPr txBox="1"/>
          <p:nvPr/>
        </p:nvSpPr>
        <p:spPr>
          <a:xfrm>
            <a:off x="7034752" y="1381366"/>
            <a:ext cx="13476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resemble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B679B3-4392-A720-2632-376F86850CEA}"/>
              </a:ext>
            </a:extLst>
          </p:cNvPr>
          <p:cNvSpPr txBox="1"/>
          <p:nvPr/>
        </p:nvSpPr>
        <p:spPr>
          <a:xfrm>
            <a:off x="2932161" y="1954702"/>
            <a:ext cx="1787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demonstrate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EA31B0-1AF7-FB90-6EA0-39E765B0BA8B}"/>
              </a:ext>
            </a:extLst>
          </p:cNvPr>
          <p:cNvSpPr txBox="1"/>
          <p:nvPr/>
        </p:nvSpPr>
        <p:spPr>
          <a:xfrm>
            <a:off x="7034752" y="1954702"/>
            <a:ext cx="1425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transcend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061AA91-A9D1-2EE9-4AF6-0CEFE9581FF0}"/>
              </a:ext>
            </a:extLst>
          </p:cNvPr>
          <p:cNvSpPr txBox="1"/>
          <p:nvPr/>
        </p:nvSpPr>
        <p:spPr>
          <a:xfrm>
            <a:off x="2932161" y="2528037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ally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163617-D816-E79B-39A1-748FD96AEC0A}"/>
              </a:ext>
            </a:extLst>
          </p:cNvPr>
          <p:cNvSpPr txBox="1"/>
          <p:nvPr/>
        </p:nvSpPr>
        <p:spPr>
          <a:xfrm>
            <a:off x="7034752" y="2528037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embody</a:t>
            </a:r>
          </a:p>
        </p:txBody>
      </p:sp>
      <p:sp>
        <p:nvSpPr>
          <p:cNvPr id="14" name="圆角矩形 10">
            <a:extLst>
              <a:ext uri="{FF2B5EF4-FFF2-40B4-BE49-F238E27FC236}">
                <a16:creationId xmlns:a16="http://schemas.microsoft.com/office/drawing/2014/main" id="{F31215C4-B950-9CD1-E6E6-04C41D2AD56F}"/>
              </a:ext>
            </a:extLst>
          </p:cNvPr>
          <p:cNvSpPr/>
          <p:nvPr/>
        </p:nvSpPr>
        <p:spPr>
          <a:xfrm>
            <a:off x="467715" y="1286955"/>
            <a:ext cx="8323860" cy="1834191"/>
          </a:xfrm>
          <a:prstGeom prst="roundRect">
            <a:avLst>
              <a:gd name="adj" fmla="val 10517"/>
            </a:avLst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4CBD46F-3CEA-DBA3-B28A-32092D44634E}"/>
              </a:ext>
            </a:extLst>
          </p:cNvPr>
          <p:cNvSpPr txBox="1"/>
          <p:nvPr/>
        </p:nvSpPr>
        <p:spPr>
          <a:xfrm>
            <a:off x="755735" y="1381367"/>
            <a:ext cx="15105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frustration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750E78-3626-B710-1539-BD18F14BB1D4}"/>
              </a:ext>
            </a:extLst>
          </p:cNvPr>
          <p:cNvSpPr txBox="1"/>
          <p:nvPr/>
        </p:nvSpPr>
        <p:spPr>
          <a:xfrm>
            <a:off x="4864802" y="1381367"/>
            <a:ext cx="17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resemblance</a:t>
            </a:r>
            <a:endParaRPr lang="zh-CN" altLang="en-US" sz="2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26B614-9F0D-FFE1-A4AD-0FFCE635777E}"/>
              </a:ext>
            </a:extLst>
          </p:cNvPr>
          <p:cNvSpPr txBox="1"/>
          <p:nvPr/>
        </p:nvSpPr>
        <p:spPr>
          <a:xfrm>
            <a:off x="755735" y="1954702"/>
            <a:ext cx="2031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demonstration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692B3C8-E8E0-9FC9-ACF0-D84C711C9581}"/>
              </a:ext>
            </a:extLst>
          </p:cNvPr>
          <p:cNvSpPr txBox="1"/>
          <p:nvPr/>
        </p:nvSpPr>
        <p:spPr>
          <a:xfrm>
            <a:off x="4864802" y="1954702"/>
            <a:ext cx="202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transcendence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6912DC-AA24-0016-3C42-EE775CBFD8DB}"/>
              </a:ext>
            </a:extLst>
          </p:cNvPr>
          <p:cNvSpPr txBox="1"/>
          <p:nvPr/>
        </p:nvSpPr>
        <p:spPr>
          <a:xfrm>
            <a:off x="755735" y="2528037"/>
            <a:ext cx="1136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alliance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EF20E01-F2F7-948C-3E30-3482C4E012BE}"/>
              </a:ext>
            </a:extLst>
          </p:cNvPr>
          <p:cNvSpPr txBox="1"/>
          <p:nvPr/>
        </p:nvSpPr>
        <p:spPr>
          <a:xfrm>
            <a:off x="4864802" y="2528037"/>
            <a:ext cx="180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embodiment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532E35-BFBA-5644-51B4-16E52CFA2A72}"/>
              </a:ext>
            </a:extLst>
          </p:cNvPr>
          <p:cNvSpPr txBox="1"/>
          <p:nvPr/>
        </p:nvSpPr>
        <p:spPr>
          <a:xfrm>
            <a:off x="4864802" y="1381367"/>
            <a:ext cx="178683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resemblance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9FE3174-470E-B1FF-E26B-CF35B7930F71}"/>
              </a:ext>
            </a:extLst>
          </p:cNvPr>
          <p:cNvSpPr txBox="1"/>
          <p:nvPr/>
        </p:nvSpPr>
        <p:spPr>
          <a:xfrm>
            <a:off x="746682" y="1381367"/>
            <a:ext cx="151054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frustration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32BA4E4-850A-2185-6E47-F4A55BFD4B1D}"/>
              </a:ext>
            </a:extLst>
          </p:cNvPr>
          <p:cNvSpPr txBox="1"/>
          <p:nvPr/>
        </p:nvSpPr>
        <p:spPr>
          <a:xfrm>
            <a:off x="7034752" y="1954702"/>
            <a:ext cx="142551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transcend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28269C6-0969-0DFF-EA3C-199572F84C90}"/>
              </a:ext>
            </a:extLst>
          </p:cNvPr>
          <p:cNvSpPr txBox="1"/>
          <p:nvPr/>
        </p:nvSpPr>
        <p:spPr>
          <a:xfrm>
            <a:off x="7034752" y="2528037"/>
            <a:ext cx="120898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embody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7299FE-EAC7-0846-0B8D-842EA52C5C49}"/>
              </a:ext>
            </a:extLst>
          </p:cNvPr>
          <p:cNvSpPr txBox="1"/>
          <p:nvPr/>
        </p:nvSpPr>
        <p:spPr>
          <a:xfrm>
            <a:off x="4769075" y="3448050"/>
            <a:ext cx="1778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demonstrate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1CC4369-EBC4-FDE5-C183-CA2BE43E536E}"/>
              </a:ext>
            </a:extLst>
          </p:cNvPr>
          <p:cNvSpPr txBox="1"/>
          <p:nvPr/>
        </p:nvSpPr>
        <p:spPr>
          <a:xfrm>
            <a:off x="2045063" y="4263425"/>
            <a:ext cx="859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allied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4D2C00C-9842-34D8-3A4B-E810DFD36154}"/>
              </a:ext>
            </a:extLst>
          </p:cNvPr>
          <p:cNvSpPr/>
          <p:nvPr/>
        </p:nvSpPr>
        <p:spPr>
          <a:xfrm>
            <a:off x="4761753" y="3535722"/>
            <a:ext cx="1816862" cy="30331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F2F5D4-F723-8767-EA3D-D9DD84FCEB22}"/>
              </a:ext>
            </a:extLst>
          </p:cNvPr>
          <p:cNvSpPr/>
          <p:nvPr/>
        </p:nvSpPr>
        <p:spPr>
          <a:xfrm>
            <a:off x="2005804" y="4343862"/>
            <a:ext cx="910081" cy="30331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0AD8B68-E76B-3069-9905-FE6C2AF0C584}"/>
              </a:ext>
            </a:extLst>
          </p:cNvPr>
          <p:cNvSpPr txBox="1"/>
          <p:nvPr/>
        </p:nvSpPr>
        <p:spPr>
          <a:xfrm>
            <a:off x="2932161" y="1954702"/>
            <a:ext cx="1778372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demonstrate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97B1435-AA8F-1220-8EFC-EBB0C073DCED}"/>
              </a:ext>
            </a:extLst>
          </p:cNvPr>
          <p:cNvSpPr txBox="1"/>
          <p:nvPr/>
        </p:nvSpPr>
        <p:spPr>
          <a:xfrm>
            <a:off x="2932161" y="2528037"/>
            <a:ext cx="61266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ally</a:t>
            </a:r>
            <a:endParaRPr lang="zh-CN" altLang="en-US" sz="2400" strike="sngStrike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16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9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r>
              <a:rPr lang="en-US" altLang="zh-CN" sz="2400" spc="20" dirty="0">
                <a:latin typeface="Cambria" panose="02040503050406030204" pitchFamily="18" charset="0"/>
                <a:ea typeface="Cambria" panose="02040503050406030204" pitchFamily="18" charset="0"/>
              </a:rPr>
              <a:t>Translate the following sentences into English, </a:t>
            </a:r>
            <a:r>
              <a:rPr lang="en-US" altLang="zh-CN" sz="2400" spc="30" dirty="0">
                <a:latin typeface="Cambria" panose="02040503050406030204" pitchFamily="18" charset="0"/>
                <a:ea typeface="Cambria" panose="02040503050406030204" pitchFamily="18" charset="0"/>
              </a:rPr>
              <a:t>using the words </a:t>
            </a:r>
            <a:r>
              <a:rPr lang="en-US" altLang="zh-CN" sz="2400" spc="20" dirty="0">
                <a:latin typeface="Cambria" panose="02040503050406030204" pitchFamily="18" charset="0"/>
                <a:ea typeface="Cambria" panose="02040503050406030204" pitchFamily="18" charset="0"/>
              </a:rPr>
              <a:t>given in brackets.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6" name="文本框 5"/>
          <p:cNvSpPr txBox="1"/>
          <p:nvPr/>
        </p:nvSpPr>
        <p:spPr>
          <a:xfrm>
            <a:off x="366165" y="2604860"/>
            <a:ext cx="485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60400" y="2604860"/>
            <a:ext cx="823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屈原被楚王流放至荒野。</a:t>
            </a:r>
            <a:r>
              <a:rPr lang="en-US" altLang="zh-CN" sz="2400" dirty="0"/>
              <a:t>(exile)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  <a:endParaRPr lang="en-US" altLang="zh-CN" sz="2400" dirty="0"/>
          </a:p>
          <a:p>
            <a:pPr algn="just"/>
            <a:endParaRPr lang="en-US" altLang="zh-CN" sz="2400" dirty="0"/>
          </a:p>
          <a:p>
            <a:r>
              <a:rPr lang="zh-CN" altLang="en-US" sz="2400" dirty="0"/>
              <a:t>人们用竹叶把糯米包裹起来做成粽子。</a:t>
            </a:r>
            <a:r>
              <a:rPr lang="en-US" altLang="zh-CN" sz="2400" dirty="0"/>
              <a:t>(wrap)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  <a:endParaRPr lang="en-US" altLang="zh-CN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56496" y="2924965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Qu Yuan was exiled by the Chu emperor to the wilderness.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56496" y="4382845"/>
            <a:ext cx="8159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</a:t>
            </a:r>
            <a:r>
              <a:rPr lang="en-US" altLang="zh-CN" sz="2400" spc="30" dirty="0">
                <a:solidFill>
                  <a:srgbClr val="FF0000"/>
                </a:solidFill>
              </a:rPr>
              <a:t>eople </a:t>
            </a:r>
            <a:r>
              <a:rPr lang="en-US" altLang="zh-CN" sz="2400" spc="40" dirty="0">
                <a:solidFill>
                  <a:srgbClr val="FF0000"/>
                </a:solidFill>
              </a:rPr>
              <a:t>make </a:t>
            </a:r>
            <a:r>
              <a:rPr lang="en-US" altLang="zh-CN" sz="2400" i="1" spc="40" dirty="0">
                <a:solidFill>
                  <a:srgbClr val="FF0000"/>
                </a:solidFill>
              </a:rPr>
              <a:t>zongzi</a:t>
            </a:r>
            <a:r>
              <a:rPr lang="en-US" altLang="zh-CN" sz="2400" spc="40" dirty="0">
                <a:solidFill>
                  <a:srgbClr val="FF0000"/>
                </a:solidFill>
              </a:rPr>
              <a:t> by wrapping sticky-rice balls with bamboo </a:t>
            </a:r>
            <a:r>
              <a:rPr lang="en-US" altLang="zh-CN" sz="2400" dirty="0">
                <a:solidFill>
                  <a:srgbClr val="FF0000"/>
                </a:solidFill>
              </a:rPr>
              <a:t>leaves.</a:t>
            </a:r>
          </a:p>
        </p:txBody>
      </p:sp>
      <p:sp>
        <p:nvSpPr>
          <p:cNvPr id="13" name="矩形 12"/>
          <p:cNvSpPr/>
          <p:nvPr/>
        </p:nvSpPr>
        <p:spPr>
          <a:xfrm>
            <a:off x="725916" y="3030566"/>
            <a:ext cx="8090475" cy="72539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24490" y="4423485"/>
            <a:ext cx="8090475" cy="72539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215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1"/>
      <p:bldP spid="14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6" name="文本框 5"/>
          <p:cNvSpPr txBox="1"/>
          <p:nvPr/>
        </p:nvSpPr>
        <p:spPr>
          <a:xfrm>
            <a:off x="366165" y="1158745"/>
            <a:ext cx="48595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3</a:t>
            </a: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 </a:t>
            </a: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 </a:t>
            </a: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</a:rPr>
              <a:t>4</a:t>
            </a: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ea"/>
                <a:ea typeface="+mn-ea"/>
                <a:cs typeface="Times New Roman" panose="02020603050405020304" pitchFamily="18" charset="0"/>
              </a:rPr>
              <a:t>5</a:t>
            </a:r>
          </a:p>
          <a:p>
            <a:endParaRPr lang="en-US" altLang="zh-CN" sz="2400" b="1" dirty="0">
              <a:solidFill>
                <a:srgbClr val="C6383E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0400" y="1158745"/>
            <a:ext cx="8231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关于赛龙舟的起源有很多传说。</a:t>
            </a:r>
            <a:r>
              <a:rPr lang="en-US" altLang="zh-CN" sz="2400" dirty="0"/>
              <a:t>(ascribe)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  <a:endParaRPr lang="en-US" altLang="zh-CN" sz="2400" dirty="0"/>
          </a:p>
          <a:p>
            <a:pPr algn="just"/>
            <a:endParaRPr lang="en-US" altLang="zh-CN" sz="2400" dirty="0"/>
          </a:p>
          <a:p>
            <a:r>
              <a:rPr lang="zh-CN" altLang="en-US" sz="2400" dirty="0"/>
              <a:t>龙是东方传说中的神物。</a:t>
            </a:r>
            <a:r>
              <a:rPr lang="en-US" altLang="zh-CN" sz="2400" dirty="0"/>
              <a:t>(mythology)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  <a:endParaRPr lang="en-US" altLang="zh-CN" sz="2400" dirty="0"/>
          </a:p>
          <a:p>
            <a:pPr algn="just"/>
            <a:endParaRPr lang="en-US" altLang="zh-CN" sz="2400" dirty="0"/>
          </a:p>
          <a:p>
            <a:r>
              <a:rPr lang="zh-CN" altLang="en-US" sz="2400" dirty="0"/>
              <a:t>屈原是中国历史上伟大的爱国诗人。</a:t>
            </a:r>
            <a:r>
              <a:rPr lang="en-US" altLang="zh-CN" sz="2400" dirty="0"/>
              <a:t>(patriotism)</a:t>
            </a:r>
          </a:p>
          <a:p>
            <a:pPr algn="just"/>
            <a:r>
              <a:rPr lang="en-US" altLang="zh-CN" sz="2400" spc="-10" dirty="0"/>
              <a:t>__________________________________________________________________________________________________________</a:t>
            </a:r>
            <a:endParaRPr lang="en-US" altLang="zh-CN" sz="2400" dirty="0"/>
          </a:p>
          <a:p>
            <a:pPr algn="just"/>
            <a:endParaRPr lang="en-US" altLang="zh-CN" sz="2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56496" y="1484865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Dragon boat racing can be ascribed to various legends.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62621" y="2930262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 dragon is a divine creature in the oriental mythology.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60636" y="4406590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Qu Yuan is a great poet of patriotism in Chinese history.</a:t>
            </a:r>
          </a:p>
        </p:txBody>
      </p:sp>
      <p:pic>
        <p:nvPicPr>
          <p:cNvPr id="15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10" name="矩形 9"/>
          <p:cNvSpPr/>
          <p:nvPr/>
        </p:nvSpPr>
        <p:spPr>
          <a:xfrm>
            <a:off x="766933" y="1556870"/>
            <a:ext cx="8090475" cy="72539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66933" y="3002811"/>
            <a:ext cx="8090475" cy="72539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66933" y="4467550"/>
            <a:ext cx="8090475" cy="72539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25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2" grpId="1"/>
      <p:bldP spid="13" grpId="1"/>
      <p:bldP spid="14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0000" y="1133951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Work in a small group and discuss the following views.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A3076D-671E-661F-C2CD-FB5E6F255C55}"/>
              </a:ext>
            </a:extLst>
          </p:cNvPr>
          <p:cNvSpPr txBox="1"/>
          <p:nvPr/>
        </p:nvSpPr>
        <p:spPr>
          <a:xfrm>
            <a:off x="366165" y="1772885"/>
            <a:ext cx="485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ea typeface="+mn-ea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2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ea typeface="+mn-ea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ea typeface="+mn-ea"/>
              </a:rPr>
              <a:t>3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29BB04-0784-EE64-2BE5-49B9AB9F3457}"/>
              </a:ext>
            </a:extLst>
          </p:cNvPr>
          <p:cNvSpPr txBox="1"/>
          <p:nvPr/>
        </p:nvSpPr>
        <p:spPr>
          <a:xfrm>
            <a:off x="660400" y="1772885"/>
            <a:ext cx="82319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F</a:t>
            </a:r>
            <a:r>
              <a:rPr lang="en-US" altLang="zh-CN" sz="2400" spc="-10" dirty="0"/>
              <a:t>estivals </a:t>
            </a:r>
            <a:r>
              <a:rPr lang="en-US" altLang="zh-CN" sz="2400" dirty="0"/>
              <a:t>also mean that the family members can be together and celebrate something they believe in.</a:t>
            </a:r>
          </a:p>
          <a:p>
            <a:r>
              <a:rPr lang="en-US" altLang="zh-CN" sz="2400" dirty="0"/>
              <a:t>L</a:t>
            </a:r>
            <a:r>
              <a:rPr lang="en-US" altLang="zh-CN" sz="2400" spc="-70" dirty="0"/>
              <a:t>ife is a happy thing</a:t>
            </a:r>
            <a:r>
              <a:rPr lang="en-US" altLang="zh-CN" sz="2400" spc="-60" dirty="0"/>
              <a:t>, a festival to be enjoyed rather than the drudgery </a:t>
            </a:r>
            <a:r>
              <a:rPr lang="en-US" altLang="zh-CN" sz="2400" dirty="0"/>
              <a:t>to be endured.</a:t>
            </a:r>
          </a:p>
          <a:p>
            <a:r>
              <a:rPr lang="en-US" altLang="zh-CN" sz="2400" dirty="0"/>
              <a:t>T</a:t>
            </a:r>
            <a:r>
              <a:rPr lang="en-US" altLang="zh-CN" sz="2400" spc="30" dirty="0"/>
              <a:t>he festivals have become abstractions, matters of</a:t>
            </a:r>
            <a:r>
              <a:rPr lang="en-US" altLang="zh-CN" sz="2400" spc="40" dirty="0"/>
              <a:t> indifference </a:t>
            </a:r>
            <a:r>
              <a:rPr lang="en-US" altLang="zh-CN" sz="2400" dirty="0"/>
              <a:t>to modern people.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9FB394-714C-48B5-1753-6DF1962F7A69}"/>
              </a:ext>
            </a:extLst>
          </p:cNvPr>
          <p:cNvSpPr txBox="1"/>
          <p:nvPr/>
        </p:nvSpPr>
        <p:spPr>
          <a:xfrm>
            <a:off x="656496" y="4155395"/>
            <a:ext cx="8159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Answers will vary.</a:t>
            </a:r>
          </a:p>
        </p:txBody>
      </p:sp>
      <p:pic>
        <p:nvPicPr>
          <p:cNvPr id="5" name="钥匙2" descr="C:\Users\senj\Desktop\新建文件夹\答案.png">
            <a:hlinkClick r:id="" action="ppaction://noaction"/>
            <a:extLst>
              <a:ext uri="{FF2B5EF4-FFF2-40B4-BE49-F238E27FC236}">
                <a16:creationId xmlns:a16="http://schemas.microsoft.com/office/drawing/2014/main" id="{6FCB1928-8B80-8A23-00D2-A931AA8B1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139" y="1232870"/>
            <a:ext cx="324000" cy="324000"/>
          </a:xfrm>
          <a:prstGeom prst="rect">
            <a:avLst/>
          </a:prstGeom>
          <a:noFill/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81B2DE2-F162-744D-9D45-27CC5273D7D4}"/>
              </a:ext>
            </a:extLst>
          </p:cNvPr>
          <p:cNvSpPr/>
          <p:nvPr/>
        </p:nvSpPr>
        <p:spPr>
          <a:xfrm>
            <a:off x="755735" y="4131856"/>
            <a:ext cx="8090475" cy="5572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3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11" name="文本框 10"/>
          <p:cNvSpPr txBox="1"/>
          <p:nvPr/>
        </p:nvSpPr>
        <p:spPr>
          <a:xfrm>
            <a:off x="296327" y="5365280"/>
            <a:ext cx="82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800" b="1" i="0" u="none" strike="noStrike" kern="1200" baseline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Text </a:t>
            </a:r>
            <a:r>
              <a:rPr lang="en-US" altLang="zh-CN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endParaRPr lang="zh-CN" altLang="en-US" sz="18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7510" y="5682844"/>
            <a:ext cx="61566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0" i="0" u="none" strike="noStrike" kern="1200" baseline="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</a:t>
            </a:r>
            <a:r>
              <a:rPr lang="en-US" altLang="zh-CN" sz="2400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 Chinese Calendar</a:t>
            </a:r>
            <a:endParaRPr lang="zh-CN" altLang="en-US" sz="2400" dirty="0">
              <a:solidFill>
                <a:srgbClr val="0A2E4A"/>
              </a:solidFill>
              <a:latin typeface="Cambria" panose="02040503050406030204" pitchFamily="18" charset="0"/>
            </a:endParaRPr>
          </a:p>
        </p:txBody>
      </p:sp>
      <p:pic>
        <p:nvPicPr>
          <p:cNvPr id="17" name="超链接" descr="C:\Users\senj\Desktop\新建文件夹\外链音频.png">
            <a:hlinkClick r:id="rId5" action="ppaction://hlinkfile"/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259790" y="5410709"/>
            <a:ext cx="288000" cy="288000"/>
          </a:xfrm>
          <a:prstGeom prst="rect">
            <a:avLst/>
          </a:prstGeom>
          <a:noFill/>
        </p:spPr>
      </p:pic>
      <p:pic>
        <p:nvPicPr>
          <p:cNvPr id="9" name="图片 8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71" y="5423409"/>
            <a:ext cx="228582" cy="2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  <a:r>
              <a:rPr lang="en-US" altLang="zh-CN" sz="2400" dirty="0"/>
              <a:t>     T</a:t>
            </a:r>
            <a:r>
              <a:rPr lang="en-US" altLang="zh-CN" sz="2400" spc="20" dirty="0"/>
              <a:t>he beginnings of the Chinese calendar </a:t>
            </a:r>
            <a:r>
              <a:rPr lang="en-US" altLang="zh-CN" sz="2400" spc="30" dirty="0"/>
              <a:t>can be traced back </a:t>
            </a:r>
            <a:r>
              <a:rPr lang="en-US" altLang="zh-CN" sz="2400" dirty="0"/>
              <a:t>t</a:t>
            </a:r>
            <a:r>
              <a:rPr lang="en-US" altLang="zh-CN" sz="2400" spc="50" dirty="0"/>
              <a:t>o the 14th century BCE. Legend has it </a:t>
            </a:r>
            <a:r>
              <a:rPr lang="en-US" altLang="zh-CN" sz="2400" spc="60" dirty="0"/>
              <a:t>that Emperor Huangdi </a:t>
            </a:r>
            <a:r>
              <a:rPr lang="en-US" altLang="zh-CN" sz="2400" dirty="0"/>
              <a:t>i</a:t>
            </a:r>
            <a:r>
              <a:rPr lang="en-US" altLang="zh-CN" sz="2400" spc="-30" dirty="0"/>
              <a:t>nvented the </a:t>
            </a:r>
            <a:r>
              <a:rPr lang="en-US" altLang="zh-CN" sz="2400" spc="-20" dirty="0"/>
              <a:t>calendar in 2637 BCE. The Chinese calendar is based </a:t>
            </a:r>
            <a:r>
              <a:rPr lang="en-US" altLang="zh-CN" sz="2400" dirty="0"/>
              <a:t>o</a:t>
            </a:r>
            <a:r>
              <a:rPr lang="en-US" altLang="zh-CN" sz="2400" spc="20" dirty="0"/>
              <a:t>n exact astronomical observations of the </a:t>
            </a:r>
            <a:r>
              <a:rPr lang="en-US" altLang="zh-CN" sz="2400" spc="30" dirty="0"/>
              <a:t>longitude of the sun </a:t>
            </a:r>
            <a:r>
              <a:rPr lang="en-US" altLang="zh-CN" sz="2400" dirty="0"/>
              <a:t>a</a:t>
            </a:r>
            <a:r>
              <a:rPr lang="en-US" altLang="zh-CN" sz="2400" spc="30" dirty="0"/>
              <a:t>nd the phases of the moon. This means that </a:t>
            </a:r>
            <a:r>
              <a:rPr lang="en-US" altLang="zh-CN" sz="2400" spc="40" dirty="0"/>
              <a:t>the principles of </a:t>
            </a:r>
            <a:r>
              <a:rPr lang="en-US" altLang="zh-CN" sz="2400" dirty="0"/>
              <a:t>modern science have had an impact on the Chinese calendar.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What Does the Chinese Year Look Like?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r>
              <a:rPr lang="en-US" altLang="zh-CN" sz="2400" dirty="0"/>
              <a:t>     T</a:t>
            </a:r>
            <a:r>
              <a:rPr lang="en-US" altLang="zh-CN" sz="2400" spc="40" dirty="0"/>
              <a:t>he Chinese calendar — like </a:t>
            </a:r>
            <a:r>
              <a:rPr lang="en-US" altLang="zh-CN" sz="2400" spc="50" dirty="0"/>
              <a:t>the Hebrew — is a combined </a:t>
            </a:r>
            <a:r>
              <a:rPr lang="en-US" altLang="zh-CN" sz="2400" dirty="0"/>
              <a:t>s</a:t>
            </a:r>
            <a:r>
              <a:rPr lang="en-US" altLang="zh-CN" sz="2400" spc="-10" dirty="0"/>
              <a:t>olar/lunar calendar (considered as </a:t>
            </a:r>
            <a:r>
              <a:rPr lang="en-US" altLang="zh-CN" sz="2400" i="1" spc="-10" dirty="0"/>
              <a:t>yin-yang li</a:t>
            </a:r>
            <a:r>
              <a:rPr lang="en-US" altLang="zh-CN" sz="2400" spc="-10" dirty="0"/>
              <a:t> by the Chin</a:t>
            </a:r>
            <a:r>
              <a:rPr lang="en-US" altLang="zh-CN" sz="2400" dirty="0"/>
              <a:t>ese) in t</a:t>
            </a:r>
            <a:r>
              <a:rPr lang="en-US" altLang="zh-CN" sz="2400" spc="-20" dirty="0"/>
              <a:t>hat it strives to have </a:t>
            </a:r>
            <a:r>
              <a:rPr lang="en-US" altLang="zh-CN" sz="2400" spc="-10" dirty="0"/>
              <a:t>its years coincide with the tropical year and </a:t>
            </a:r>
            <a:r>
              <a:rPr lang="en-US" altLang="zh-CN" sz="2400" dirty="0"/>
              <a:t>its months coincide with the synodic </a:t>
            </a:r>
            <a:r>
              <a:rPr lang="en-US" altLang="zh-CN" sz="2400" spc="10" dirty="0"/>
              <a:t>months. It is not surprising </a:t>
            </a:r>
            <a:r>
              <a:rPr lang="en-US" altLang="zh-CN" sz="2400" dirty="0"/>
              <a:t>t</a:t>
            </a:r>
            <a:r>
              <a:rPr lang="en-US" altLang="zh-CN" sz="2400" spc="40" dirty="0"/>
              <a:t>hat a few similarities </a:t>
            </a:r>
            <a:r>
              <a:rPr lang="en-US" altLang="zh-CN" sz="2400" spc="50" dirty="0"/>
              <a:t>exist between the Chinese and Hebrew </a:t>
            </a:r>
            <a:r>
              <a:rPr lang="en-US" altLang="zh-CN" sz="2400" dirty="0"/>
              <a:t>calendars:</a:t>
            </a:r>
          </a:p>
        </p:txBody>
      </p:sp>
      <p:pic>
        <p:nvPicPr>
          <p:cNvPr id="6" name="图片 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32638"/>
            <a:ext cx="268800" cy="288000"/>
          </a:xfrm>
          <a:prstGeom prst="rect">
            <a:avLst/>
          </a:prstGeom>
        </p:spPr>
      </p:pic>
      <p:pic>
        <p:nvPicPr>
          <p:cNvPr id="8" name="图片 7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798078"/>
            <a:ext cx="268800" cy="288000"/>
          </a:xfrm>
          <a:prstGeom prst="rect">
            <a:avLst/>
          </a:prstGeom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11" name="Text C_1">
            <a:hlinkClick r:id="" action="ppaction://media"/>
            <a:extLst>
              <a:ext uri="{FF2B5EF4-FFF2-40B4-BE49-F238E27FC236}">
                <a16:creationId xmlns:a16="http://schemas.microsoft.com/office/drawing/2014/main" id="{B772A0CF-10B2-27B2-386C-50B9505344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32638"/>
            <a:ext cx="288000" cy="285120"/>
          </a:xfrm>
          <a:prstGeom prst="rect">
            <a:avLst/>
          </a:prstGeom>
        </p:spPr>
      </p:pic>
      <p:pic>
        <p:nvPicPr>
          <p:cNvPr id="13" name="Text C_2">
            <a:hlinkClick r:id="" action="ppaction://media"/>
            <a:extLst>
              <a:ext uri="{FF2B5EF4-FFF2-40B4-BE49-F238E27FC236}">
                <a16:creationId xmlns:a16="http://schemas.microsoft.com/office/drawing/2014/main" id="{48114713-179B-F70F-1B14-04AFBEC8790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800958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1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numSld="2">
                <p:cTn id="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seq concurrent="1" nextAc="seek">
              <p:cTn id="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" fill="hold">
                      <p:stCondLst>
                        <p:cond delay="0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0902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  <a:r>
              <a:rPr lang="en-US" altLang="zh-CN" sz="2400" dirty="0"/>
              <a:t>     When determining what a Chinese year looks </a:t>
            </a:r>
            <a:r>
              <a:rPr lang="en-US" altLang="zh-CN" sz="2400" spc="10" dirty="0"/>
              <a:t>like, one must </a:t>
            </a:r>
            <a:r>
              <a:rPr lang="en-US" altLang="zh-CN" sz="2400" dirty="0"/>
              <a:t>make a number of astronomical calculations: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r>
              <a:rPr lang="en-US" altLang="zh-CN" sz="2400" dirty="0"/>
              <a:t>     F</a:t>
            </a:r>
            <a:r>
              <a:rPr lang="en-US" altLang="zh-CN" sz="2400" spc="20" dirty="0"/>
              <a:t>irst, determine the dates for the</a:t>
            </a:r>
            <a:r>
              <a:rPr lang="en-US" altLang="zh-CN" sz="2400" spc="30" dirty="0"/>
              <a:t> new moons. Here, a new </a:t>
            </a:r>
            <a:r>
              <a:rPr lang="en-US" altLang="zh-CN" sz="2400" dirty="0"/>
              <a:t>m</a:t>
            </a:r>
            <a:r>
              <a:rPr lang="en-US" altLang="zh-CN" sz="2400" spc="-10" dirty="0"/>
              <a:t>oon is the completely “black” moon (that is</a:t>
            </a:r>
            <a:r>
              <a:rPr lang="en-US" altLang="zh-CN" sz="2400" dirty="0"/>
              <a:t>, when the moon is i</a:t>
            </a:r>
            <a:r>
              <a:rPr lang="en-US" altLang="zh-CN" sz="2400" spc="20" dirty="0"/>
              <a:t>n conjunc</a:t>
            </a:r>
            <a:r>
              <a:rPr lang="en-US" altLang="zh-CN" sz="2400" spc="30" dirty="0"/>
              <a:t>tion with the sun), not the first visible crescent used </a:t>
            </a:r>
            <a:r>
              <a:rPr lang="en-US" altLang="zh-CN" sz="2400" dirty="0"/>
              <a:t>in the Islamic and Hebrew calendars. The date </a:t>
            </a:r>
            <a:r>
              <a:rPr lang="en-US" altLang="zh-CN" sz="2400" spc="10" dirty="0"/>
              <a:t>of a new moon is </a:t>
            </a:r>
            <a:r>
              <a:rPr lang="en-US" altLang="zh-CN" sz="2400" dirty="0"/>
              <a:t>the first day of a new month.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  <a:r>
              <a:rPr lang="en-US" altLang="zh-CN" sz="2400" dirty="0"/>
              <a:t>     S</a:t>
            </a:r>
            <a:r>
              <a:rPr lang="en-US" altLang="zh-CN" sz="2400" spc="30" dirty="0"/>
              <a:t>econd, determine the dates when the sun’s longitude is a </a:t>
            </a:r>
            <a:r>
              <a:rPr lang="en-US" altLang="zh-CN" sz="2400" dirty="0"/>
              <a:t>m</a:t>
            </a:r>
            <a:r>
              <a:rPr lang="en-US" altLang="zh-CN" sz="2400" spc="-30" dirty="0"/>
              <a:t>ultiple of 30 degrees. (The sun’s longitude is 0 </a:t>
            </a:r>
            <a:r>
              <a:rPr lang="en-US" altLang="zh-CN" sz="2400" spc="-40" dirty="0"/>
              <a:t>at Vernal Equinox, </a:t>
            </a:r>
            <a:r>
              <a:rPr lang="en-US" altLang="zh-CN" sz="2400" dirty="0"/>
              <a:t>9</a:t>
            </a:r>
            <a:r>
              <a:rPr lang="en-US" altLang="zh-CN" sz="2400" spc="-60" dirty="0"/>
              <a:t>0 at Summer Solstice, 180 at Autumnal Equinox, and 270 at Winter </a:t>
            </a:r>
            <a:r>
              <a:rPr lang="en-US" altLang="zh-CN" sz="2400" dirty="0"/>
              <a:t>S</a:t>
            </a:r>
            <a:r>
              <a:rPr lang="en-US" altLang="zh-CN" sz="2400" spc="-20" dirty="0"/>
              <a:t>olstice.) These </a:t>
            </a:r>
            <a:r>
              <a:rPr lang="en-US" altLang="zh-CN" sz="2400" spc="-10" dirty="0"/>
              <a:t>dates are called the Principal Terms and are used </a:t>
            </a:r>
            <a:r>
              <a:rPr lang="en-US" altLang="zh-CN" sz="2400" dirty="0"/>
              <a:t>to determine the number of each month:</a:t>
            </a:r>
          </a:p>
        </p:txBody>
      </p:sp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8" name="图片 7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068975"/>
            <a:ext cx="268800" cy="288000"/>
          </a:xfrm>
          <a:prstGeom prst="rect">
            <a:avLst/>
          </a:prstGeom>
        </p:spPr>
      </p:pic>
      <p:pic>
        <p:nvPicPr>
          <p:cNvPr id="9" name="图片 8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4905332"/>
            <a:ext cx="268800" cy="28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7F3B4D6-D4B7-3719-0A93-C9318BD467EB}"/>
              </a:ext>
            </a:extLst>
          </p:cNvPr>
          <p:cNvSpPr txBox="1"/>
          <p:nvPr/>
        </p:nvSpPr>
        <p:spPr>
          <a:xfrm>
            <a:off x="1290250" y="1147670"/>
            <a:ext cx="7602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A</a:t>
            </a:r>
            <a:r>
              <a:rPr lang="en-US" altLang="zh-CN" sz="2400" spc="-40" dirty="0"/>
              <a:t>n ordinary year has 12 </a:t>
            </a:r>
            <a:r>
              <a:rPr lang="en-US" altLang="zh-CN" sz="2400" spc="-50" dirty="0"/>
              <a:t>months; a leap year has 13 months.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A</a:t>
            </a:r>
            <a:r>
              <a:rPr lang="en-US" altLang="zh-CN" sz="2400" spc="40" dirty="0"/>
              <a:t>n ordinary year has 353, 354, or </a:t>
            </a:r>
            <a:r>
              <a:rPr lang="en-US" altLang="zh-CN" sz="2400" spc="50" dirty="0"/>
              <a:t>355 days; a leap year </a:t>
            </a:r>
            <a:r>
              <a:rPr lang="en-US" altLang="zh-CN" sz="2400" dirty="0"/>
              <a:t>has 383, 384, or 385 days.</a:t>
            </a:r>
          </a:p>
        </p:txBody>
      </p:sp>
      <p:pic>
        <p:nvPicPr>
          <p:cNvPr id="12" name="图片 11">
            <a:hlinkClick r:id="rId13" action="ppaction://hlinksldjump"/>
            <a:extLst>
              <a:ext uri="{FF2B5EF4-FFF2-40B4-BE49-F238E27FC236}">
                <a16:creationId xmlns:a16="http://schemas.microsoft.com/office/drawing/2014/main" id="{93410CE3-6B46-E881-43E2-42A05F66469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30" y="2339872"/>
            <a:ext cx="268800" cy="288000"/>
          </a:xfrm>
          <a:prstGeom prst="rect">
            <a:avLst/>
          </a:prstGeom>
        </p:spPr>
      </p:pic>
      <p:pic>
        <p:nvPicPr>
          <p:cNvPr id="13" name="Text C_3">
            <a:hlinkClick r:id="" action="ppaction://media"/>
            <a:extLst>
              <a:ext uri="{FF2B5EF4-FFF2-40B4-BE49-F238E27FC236}">
                <a16:creationId xmlns:a16="http://schemas.microsoft.com/office/drawing/2014/main" id="{817FCF6F-1484-D483-BBB8-18EFFF3503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2339872"/>
            <a:ext cx="288000" cy="285120"/>
          </a:xfrm>
          <a:prstGeom prst="rect">
            <a:avLst/>
          </a:prstGeom>
        </p:spPr>
      </p:pic>
      <p:pic>
        <p:nvPicPr>
          <p:cNvPr id="16" name="Text C_4">
            <a:hlinkClick r:id="" action="ppaction://media"/>
            <a:extLst>
              <a:ext uri="{FF2B5EF4-FFF2-40B4-BE49-F238E27FC236}">
                <a16:creationId xmlns:a16="http://schemas.microsoft.com/office/drawing/2014/main" id="{7DB70EA6-17DB-B4BC-61E7-0EBCD56A79B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071855"/>
            <a:ext cx="288000" cy="285120"/>
          </a:xfrm>
          <a:prstGeom prst="rect">
            <a:avLst/>
          </a:prstGeom>
        </p:spPr>
      </p:pic>
      <p:pic>
        <p:nvPicPr>
          <p:cNvPr id="17" name="Text C_5">
            <a:hlinkClick r:id="" action="ppaction://media"/>
            <a:extLst>
              <a:ext uri="{FF2B5EF4-FFF2-40B4-BE49-F238E27FC236}">
                <a16:creationId xmlns:a16="http://schemas.microsoft.com/office/drawing/2014/main" id="{00C55971-7001-4163-AF8C-A0A44098290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908212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2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0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2386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 numSld="2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  <a:r>
              <a:rPr lang="en-US" altLang="zh-CN" sz="2400" dirty="0"/>
              <a:t>     E</a:t>
            </a:r>
            <a:r>
              <a:rPr lang="en-US" altLang="zh-CN" sz="2400" spc="40" dirty="0"/>
              <a:t>ach month carries the number of the </a:t>
            </a:r>
            <a:r>
              <a:rPr lang="en-US" altLang="zh-CN" sz="2400" spc="50" dirty="0"/>
              <a:t>Principal Term that </a:t>
            </a:r>
            <a:r>
              <a:rPr lang="en-US" altLang="zh-CN" sz="2400" dirty="0"/>
              <a:t>occurs in that month.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  <a:r>
              <a:rPr lang="en-US" altLang="zh-CN" sz="2400" dirty="0"/>
              <a:t>     I</a:t>
            </a:r>
            <a:r>
              <a:rPr lang="en-US" altLang="zh-CN" sz="2400" spc="30" dirty="0"/>
              <a:t>n rare cases, a month may contain t</a:t>
            </a:r>
            <a:r>
              <a:rPr lang="en-US" altLang="zh-CN" sz="2400" spc="40" dirty="0"/>
              <a:t>wo Principal Terms; in </a:t>
            </a:r>
            <a:r>
              <a:rPr lang="en-US" altLang="zh-CN" sz="2400" dirty="0"/>
              <a:t>t</a:t>
            </a:r>
            <a:r>
              <a:rPr lang="en-US" altLang="zh-CN" sz="2400" spc="-10" dirty="0"/>
              <a:t>his case, the months, numbers may have to </a:t>
            </a:r>
            <a:r>
              <a:rPr lang="en-US" altLang="zh-CN" sz="2400" dirty="0"/>
              <a:t>be shifted. Principal Term 11 (Winter Solstice) must always fall in the 11th month.</a:t>
            </a:r>
          </a:p>
        </p:txBody>
      </p:sp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6" name="图片 5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5265357"/>
            <a:ext cx="268800" cy="288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6C85C98-A923-38DE-1EAC-EE9D70F063A9}"/>
              </a:ext>
            </a:extLst>
          </p:cNvPr>
          <p:cNvSpPr txBox="1"/>
          <p:nvPr/>
        </p:nvSpPr>
        <p:spPr>
          <a:xfrm>
            <a:off x="1290250" y="1147670"/>
            <a:ext cx="76020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P</a:t>
            </a:r>
            <a:r>
              <a:rPr lang="en-US" altLang="zh-CN" sz="2400" spc="30" dirty="0"/>
              <a:t>rincipal Term 1 </a:t>
            </a:r>
            <a:r>
              <a:rPr lang="en-US" altLang="zh-CN" sz="2400" spc="40" dirty="0"/>
              <a:t>occurs when the sun’s longitude is 330 </a:t>
            </a:r>
            <a:r>
              <a:rPr lang="en-US" altLang="zh-CN" sz="2400" dirty="0"/>
              <a:t>degrees.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P</a:t>
            </a:r>
            <a:r>
              <a:rPr lang="en-US" altLang="zh-CN" sz="2400" spc="-80" dirty="0"/>
              <a:t>rincipal Term 2 occurs </a:t>
            </a:r>
            <a:r>
              <a:rPr lang="en-US" altLang="zh-CN" sz="2400" spc="-70" dirty="0"/>
              <a:t>when the sun’s longitude is 0 degrees.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P</a:t>
            </a:r>
            <a:r>
              <a:rPr lang="en-US" altLang="zh-CN" sz="2400" spc="60" dirty="0"/>
              <a:t>rincipal Term 3 occurs when the sun’s longitude is 30 </a:t>
            </a:r>
            <a:r>
              <a:rPr lang="en-US" altLang="zh-CN" sz="2400" dirty="0"/>
              <a:t>degrees. (etc.)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P</a:t>
            </a:r>
            <a:r>
              <a:rPr lang="en-US" altLang="zh-CN" sz="2400" spc="10" dirty="0"/>
              <a:t>rincipal Term 11 occurs when </a:t>
            </a:r>
            <a:r>
              <a:rPr lang="en-US" altLang="zh-CN" sz="2400" spc="20" dirty="0"/>
              <a:t>the sun’s longitude is 270 </a:t>
            </a:r>
            <a:r>
              <a:rPr lang="en-US" altLang="zh-CN" sz="2400" dirty="0"/>
              <a:t>degrees.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P</a:t>
            </a:r>
            <a:r>
              <a:rPr lang="en-US" altLang="zh-CN" sz="2400" spc="10" dirty="0"/>
              <a:t>rincipal Term 12 occurs when the </a:t>
            </a:r>
            <a:r>
              <a:rPr lang="en-US" altLang="zh-CN" sz="2400" spc="20" dirty="0"/>
              <a:t>sun’s longitude is 300 </a:t>
            </a:r>
            <a:r>
              <a:rPr lang="en-US" altLang="zh-CN" sz="2400" dirty="0"/>
              <a:t>degrees.</a:t>
            </a:r>
          </a:p>
        </p:txBody>
      </p:sp>
      <p:pic>
        <p:nvPicPr>
          <p:cNvPr id="11" name="图片 10">
            <a:hlinkClick r:id="rId10" action="ppaction://hlinksldjump"/>
            <a:extLst>
              <a:ext uri="{FF2B5EF4-FFF2-40B4-BE49-F238E27FC236}">
                <a16:creationId xmlns:a16="http://schemas.microsoft.com/office/drawing/2014/main" id="{7CD7063A-9AA2-E003-C9E5-7C1887F30E6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30" y="4545287"/>
            <a:ext cx="268800" cy="288000"/>
          </a:xfrm>
          <a:prstGeom prst="rect">
            <a:avLst/>
          </a:prstGeom>
        </p:spPr>
      </p:pic>
      <p:pic>
        <p:nvPicPr>
          <p:cNvPr id="13" name="Text C_6">
            <a:hlinkClick r:id="" action="ppaction://media"/>
            <a:extLst>
              <a:ext uri="{FF2B5EF4-FFF2-40B4-BE49-F238E27FC236}">
                <a16:creationId xmlns:a16="http://schemas.microsoft.com/office/drawing/2014/main" id="{E3B745B2-A9DA-8AFC-EEAD-7C9A180355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548167"/>
            <a:ext cx="288000" cy="285120"/>
          </a:xfrm>
          <a:prstGeom prst="rect">
            <a:avLst/>
          </a:prstGeom>
        </p:spPr>
      </p:pic>
      <p:pic>
        <p:nvPicPr>
          <p:cNvPr id="14" name="Text C_7">
            <a:hlinkClick r:id="" action="ppaction://media"/>
            <a:extLst>
              <a:ext uri="{FF2B5EF4-FFF2-40B4-BE49-F238E27FC236}">
                <a16:creationId xmlns:a16="http://schemas.microsoft.com/office/drawing/2014/main" id="{83DB55B9-C8BB-C88C-EFCB-9E00191E504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5268237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2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47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6039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  <a:r>
              <a:rPr lang="en-US" altLang="zh-CN" sz="2400" dirty="0"/>
              <a:t>     A</a:t>
            </a:r>
            <a:r>
              <a:rPr lang="en-US" altLang="zh-CN" sz="2400" spc="-70" dirty="0"/>
              <a:t>ll the astronomical calculations are carried out for </a:t>
            </a:r>
            <a:r>
              <a:rPr lang="en-US" altLang="zh-CN" sz="2400" spc="-60" dirty="0"/>
              <a:t>the meridian </a:t>
            </a:r>
            <a:r>
              <a:rPr lang="en-US" altLang="zh-CN" sz="2400" dirty="0"/>
              <a:t>120 degrees east of Greenwich. This </a:t>
            </a:r>
            <a:r>
              <a:rPr lang="en-US" altLang="zh-CN" sz="2400" spc="10" dirty="0"/>
              <a:t>roughly corresponds to the </a:t>
            </a:r>
            <a:r>
              <a:rPr lang="en-US" altLang="zh-CN" sz="2400" dirty="0"/>
              <a:t>east coast of China.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9</a:t>
            </a:r>
            <a:r>
              <a:rPr lang="en-US" altLang="zh-CN" sz="2400" dirty="0"/>
              <a:t>     S</a:t>
            </a:r>
            <a:r>
              <a:rPr lang="en-US" altLang="zh-CN" sz="2400" spc="40" dirty="0"/>
              <a:t>ome variations in these rules are seen in various Chinese </a:t>
            </a:r>
            <a:r>
              <a:rPr lang="en-US" altLang="zh-CN" sz="2400" dirty="0"/>
              <a:t>communities.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What Years Are Leap Years?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10</a:t>
            </a:r>
            <a:r>
              <a:rPr lang="en-US" altLang="zh-CN" sz="2400" dirty="0"/>
              <a:t>   L</a:t>
            </a:r>
            <a:r>
              <a:rPr lang="en-US" altLang="zh-CN" sz="2400" spc="10" dirty="0"/>
              <a:t>eap years have </a:t>
            </a:r>
            <a:r>
              <a:rPr lang="en-US" altLang="zh-CN" sz="2400" spc="20" dirty="0"/>
              <a:t>13 months. To determine if a year is a leap </a:t>
            </a:r>
            <a:r>
              <a:rPr lang="en-US" altLang="zh-CN" sz="2400" dirty="0"/>
              <a:t>y</a:t>
            </a:r>
            <a:r>
              <a:rPr lang="en-US" altLang="zh-CN" sz="2400" spc="70" dirty="0"/>
              <a:t>ear, calculate the number of new </a:t>
            </a:r>
            <a:r>
              <a:rPr lang="en-US" altLang="zh-CN" sz="2400" spc="80" dirty="0"/>
              <a:t>moons between the 11th </a:t>
            </a:r>
            <a:r>
              <a:rPr lang="en-US" altLang="zh-CN" sz="2400" dirty="0"/>
              <a:t>m</a:t>
            </a:r>
            <a:r>
              <a:rPr lang="en-US" altLang="zh-CN" sz="2400" spc="-30" dirty="0"/>
              <a:t>onth in one year (i.e., the month containing </a:t>
            </a:r>
            <a:r>
              <a:rPr lang="en-US" altLang="zh-CN" sz="2400" spc="-20" dirty="0"/>
              <a:t>the Winter Solstice) </a:t>
            </a:r>
            <a:r>
              <a:rPr lang="en-US" altLang="zh-CN" sz="2400" dirty="0"/>
              <a:t>a</a:t>
            </a:r>
            <a:r>
              <a:rPr lang="en-US" altLang="zh-CN" sz="2400" spc="40" dirty="0"/>
              <a:t>nd the 11th month</a:t>
            </a:r>
            <a:r>
              <a:rPr lang="en-US" altLang="zh-CN" sz="2400" spc="50" dirty="0"/>
              <a:t> in the following year. If there are 13 new </a:t>
            </a:r>
            <a:r>
              <a:rPr lang="en-US" altLang="zh-CN" sz="2400" dirty="0"/>
              <a:t>m</a:t>
            </a:r>
            <a:r>
              <a:rPr lang="en-US" altLang="zh-CN" sz="2400" spc="20" dirty="0"/>
              <a:t>oons from the start of the 11th month</a:t>
            </a:r>
            <a:r>
              <a:rPr lang="en-US" altLang="zh-CN" sz="2400" spc="30" dirty="0"/>
              <a:t> in the first year to the </a:t>
            </a:r>
            <a:r>
              <a:rPr lang="en-US" altLang="zh-CN" sz="2400" dirty="0"/>
              <a:t>s</a:t>
            </a:r>
            <a:r>
              <a:rPr lang="en-US" altLang="zh-CN" sz="2400" spc="20" dirty="0"/>
              <a:t>tart of t</a:t>
            </a:r>
            <a:r>
              <a:rPr lang="en-US" altLang="zh-CN" sz="2400" spc="30" dirty="0"/>
              <a:t>he 11th month in the second year, a leap month must </a:t>
            </a:r>
            <a:r>
              <a:rPr lang="en-US" altLang="zh-CN" sz="2400" dirty="0"/>
              <a:t>be inserted.</a:t>
            </a:r>
          </a:p>
        </p:txBody>
      </p:sp>
      <p:pic>
        <p:nvPicPr>
          <p:cNvPr id="6" name="图片 5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438073"/>
            <a:ext cx="268800" cy="288000"/>
          </a:xfrm>
          <a:prstGeom prst="rect">
            <a:avLst/>
          </a:prstGeom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8" name="图片 7">
            <a:hlinkClick r:id="rId12" action="ppaction://hlinksldjump"/>
            <a:extLst>
              <a:ext uri="{FF2B5EF4-FFF2-40B4-BE49-F238E27FC236}">
                <a16:creationId xmlns:a16="http://schemas.microsoft.com/office/drawing/2014/main" id="{C06158AB-FCBF-5A77-B153-2C48CAC4869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41691"/>
            <a:ext cx="268800" cy="288000"/>
          </a:xfrm>
          <a:prstGeom prst="rect">
            <a:avLst/>
          </a:prstGeom>
        </p:spPr>
      </p:pic>
      <p:pic>
        <p:nvPicPr>
          <p:cNvPr id="9" name="图片 8">
            <a:hlinkClick r:id="rId13" action="ppaction://hlinksldjump"/>
            <a:extLst>
              <a:ext uri="{FF2B5EF4-FFF2-40B4-BE49-F238E27FC236}">
                <a16:creationId xmlns:a16="http://schemas.microsoft.com/office/drawing/2014/main" id="{E2AAC205-4519-2D0D-D055-5171421D2AB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30" y="2330819"/>
            <a:ext cx="268800" cy="288000"/>
          </a:xfrm>
          <a:prstGeom prst="rect">
            <a:avLst/>
          </a:prstGeom>
        </p:spPr>
      </p:pic>
      <p:pic>
        <p:nvPicPr>
          <p:cNvPr id="11" name="Text C_8">
            <a:hlinkClick r:id="" action="ppaction://media"/>
            <a:extLst>
              <a:ext uri="{FF2B5EF4-FFF2-40B4-BE49-F238E27FC236}">
                <a16:creationId xmlns:a16="http://schemas.microsoft.com/office/drawing/2014/main" id="{03755A99-14A4-2EC8-0FB6-B16A3B9F9A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41691"/>
            <a:ext cx="288000" cy="285120"/>
          </a:xfrm>
          <a:prstGeom prst="rect">
            <a:avLst/>
          </a:prstGeom>
        </p:spPr>
      </p:pic>
      <p:pic>
        <p:nvPicPr>
          <p:cNvPr id="12" name="Text C_9">
            <a:hlinkClick r:id="" action="ppaction://media"/>
            <a:extLst>
              <a:ext uri="{FF2B5EF4-FFF2-40B4-BE49-F238E27FC236}">
                <a16:creationId xmlns:a16="http://schemas.microsoft.com/office/drawing/2014/main" id="{4B43F0C5-6240-056F-642A-D07C3210E79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2330819"/>
            <a:ext cx="288000" cy="285120"/>
          </a:xfrm>
          <a:prstGeom prst="rect">
            <a:avLst/>
          </a:prstGeom>
        </p:spPr>
      </p:pic>
      <p:pic>
        <p:nvPicPr>
          <p:cNvPr id="13" name="Text C_10">
            <a:hlinkClick r:id="" action="ppaction://media"/>
            <a:extLst>
              <a:ext uri="{FF2B5EF4-FFF2-40B4-BE49-F238E27FC236}">
                <a16:creationId xmlns:a16="http://schemas.microsoft.com/office/drawing/2014/main" id="{535B97B7-5175-4948-514B-406D898ACB6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438073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4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61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535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3186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11</a:t>
            </a:r>
            <a:r>
              <a:rPr lang="en-US" altLang="zh-CN" sz="2400" dirty="0"/>
              <a:t>   I</a:t>
            </a:r>
            <a:r>
              <a:rPr lang="en-US" altLang="zh-CN" sz="2400" spc="-20" dirty="0"/>
              <a:t>n leap years, at least one month does </a:t>
            </a:r>
            <a:r>
              <a:rPr lang="en-US" altLang="zh-CN" sz="2400" spc="-10" dirty="0"/>
              <a:t>not contain a Principal </a:t>
            </a:r>
            <a:r>
              <a:rPr lang="en-US" altLang="zh-CN" sz="2400" dirty="0"/>
              <a:t>T</a:t>
            </a:r>
            <a:r>
              <a:rPr lang="en-US" altLang="zh-CN" sz="2400" spc="-10" dirty="0"/>
              <a:t>erm. The first such month is the leap month</a:t>
            </a:r>
            <a:r>
              <a:rPr lang="en-US" altLang="zh-CN" sz="2400" dirty="0"/>
              <a:t>. It carries the same n</a:t>
            </a:r>
            <a:r>
              <a:rPr lang="en-US" altLang="zh-CN" sz="2400" spc="10" dirty="0"/>
              <a:t>umber as the </a:t>
            </a:r>
            <a:r>
              <a:rPr lang="en-US" altLang="zh-CN" sz="2400" spc="20" dirty="0"/>
              <a:t>previous month, with the additional note that it </a:t>
            </a:r>
            <a:r>
              <a:rPr lang="en-US" altLang="zh-CN" sz="2400" dirty="0"/>
              <a:t>is the leap month.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How Does One Count Years?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12</a:t>
            </a:r>
            <a:r>
              <a:rPr lang="en-US" altLang="zh-CN" sz="2400" dirty="0"/>
              <a:t>   Unlike most other calendars, the </a:t>
            </a:r>
            <a:r>
              <a:rPr lang="en-US" altLang="zh-CN" sz="2400" spc="10" dirty="0"/>
              <a:t>Chinese calendar does not </a:t>
            </a:r>
            <a:r>
              <a:rPr lang="en-US" altLang="zh-CN" sz="2400" dirty="0"/>
              <a:t>c</a:t>
            </a:r>
            <a:r>
              <a:rPr lang="en-US" altLang="zh-CN" sz="2400" spc="20" dirty="0"/>
              <a:t>ount years in an infinite</a:t>
            </a:r>
            <a:r>
              <a:rPr lang="en-US" altLang="zh-CN" sz="2400" spc="30" dirty="0"/>
              <a:t> sequence. Instead, years have names </a:t>
            </a:r>
            <a:r>
              <a:rPr lang="en-US" altLang="zh-CN" sz="2400" dirty="0"/>
              <a:t>t</a:t>
            </a:r>
            <a:r>
              <a:rPr lang="en-US" altLang="zh-CN" sz="2400" spc="10" dirty="0"/>
              <a:t>hat are repeated </a:t>
            </a:r>
            <a:r>
              <a:rPr lang="en-US" altLang="zh-CN" sz="2400" spc="20" dirty="0"/>
              <a:t>every 60 years. (Historically, years used to be </a:t>
            </a:r>
            <a:r>
              <a:rPr lang="en-US" altLang="zh-CN" sz="2400" dirty="0"/>
              <a:t>c</a:t>
            </a:r>
            <a:r>
              <a:rPr lang="en-US" altLang="zh-CN" sz="2400" spc="-40" dirty="0"/>
              <a:t>ounted since</a:t>
            </a:r>
            <a:r>
              <a:rPr lang="en-US" altLang="zh-CN" sz="2400" spc="-30" dirty="0"/>
              <a:t> the accession of an emperor, but this was abolished </a:t>
            </a:r>
            <a:r>
              <a:rPr lang="en-US" altLang="zh-CN" sz="2400" dirty="0"/>
              <a:t>after the 1911 revolution.)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13</a:t>
            </a:r>
            <a:r>
              <a:rPr lang="en-US" altLang="zh-CN" sz="2400" dirty="0"/>
              <a:t>   W</a:t>
            </a:r>
            <a:r>
              <a:rPr lang="en-US" altLang="zh-CN" sz="2400" spc="70" dirty="0"/>
              <a:t>ithin each 60-year cycle, each year </a:t>
            </a:r>
            <a:r>
              <a:rPr lang="en-US" altLang="zh-CN" sz="2400" spc="80" dirty="0"/>
              <a:t>is assigned a name </a:t>
            </a:r>
            <a:r>
              <a:rPr lang="en-US" altLang="zh-CN" sz="2400" dirty="0"/>
              <a:t>consisting of two components: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14</a:t>
            </a:r>
            <a:r>
              <a:rPr lang="en-US" altLang="zh-CN" sz="2400" dirty="0"/>
              <a:t>   T</a:t>
            </a:r>
            <a:r>
              <a:rPr lang="en-US" altLang="zh-CN" sz="2400" spc="-20" dirty="0"/>
              <a:t>he first component is a Celestial Stem. These words have no </a:t>
            </a:r>
            <a:r>
              <a:rPr lang="en-US" altLang="zh-CN" sz="2400" dirty="0"/>
              <a:t>E</a:t>
            </a:r>
            <a:r>
              <a:rPr lang="en-US" altLang="zh-CN" sz="2400" spc="-30" dirty="0"/>
              <a:t>nglish equivalent: </a:t>
            </a:r>
            <a:r>
              <a:rPr lang="en-US" altLang="zh-CN" sz="2400" i="1" spc="-30" dirty="0"/>
              <a:t>jia</a:t>
            </a:r>
            <a:r>
              <a:rPr lang="en-US" altLang="zh-CN" sz="2400" spc="-30" dirty="0"/>
              <a:t>, </a:t>
            </a:r>
            <a:r>
              <a:rPr lang="en-US" altLang="zh-CN" sz="2400" i="1" spc="-30" dirty="0" err="1"/>
              <a:t>yi</a:t>
            </a:r>
            <a:r>
              <a:rPr lang="en-US" altLang="zh-CN" sz="2400" spc="-30" dirty="0"/>
              <a:t>, </a:t>
            </a:r>
            <a:r>
              <a:rPr lang="en-US" altLang="zh-CN" sz="2400" i="1" spc="-30" dirty="0" err="1"/>
              <a:t>bing</a:t>
            </a:r>
            <a:r>
              <a:rPr lang="en-US" altLang="zh-CN" sz="2400" spc="-30" dirty="0"/>
              <a:t>, </a:t>
            </a:r>
            <a:r>
              <a:rPr lang="en-US" altLang="zh-CN" sz="2400" i="1" spc="-30" dirty="0"/>
              <a:t>ding</a:t>
            </a:r>
            <a:r>
              <a:rPr lang="en-US" altLang="zh-CN" sz="2400" spc="-30" dirty="0"/>
              <a:t>, </a:t>
            </a:r>
            <a:r>
              <a:rPr lang="en-US" altLang="zh-CN" sz="2400" i="1" spc="-30" dirty="0" err="1"/>
              <a:t>wu</a:t>
            </a:r>
            <a:r>
              <a:rPr lang="en-US" altLang="zh-CN" sz="2400" spc="-30" dirty="0"/>
              <a:t>, </a:t>
            </a:r>
            <a:r>
              <a:rPr lang="en-US" altLang="zh-CN" sz="2400" i="1" spc="-30" dirty="0"/>
              <a:t>ji</a:t>
            </a:r>
            <a:r>
              <a:rPr lang="en-US" altLang="zh-CN" sz="2400" spc="-30" dirty="0"/>
              <a:t>, </a:t>
            </a:r>
            <a:r>
              <a:rPr lang="en-US" altLang="zh-CN" sz="2400" i="1" spc="-30" dirty="0" err="1"/>
              <a:t>geng</a:t>
            </a:r>
            <a:r>
              <a:rPr lang="en-US" altLang="zh-CN" sz="2400" spc="-30" dirty="0"/>
              <a:t>, </a:t>
            </a:r>
            <a:r>
              <a:rPr lang="en-US" altLang="zh-CN" sz="2400" i="1" spc="-30" dirty="0" err="1"/>
              <a:t>xin</a:t>
            </a:r>
            <a:r>
              <a:rPr lang="en-US" altLang="zh-CN" sz="2400" spc="-30" dirty="0"/>
              <a:t>, </a:t>
            </a:r>
            <a:r>
              <a:rPr lang="en-US" altLang="zh-CN" sz="2400" i="1" spc="-30" dirty="0"/>
              <a:t>ren</a:t>
            </a:r>
            <a:r>
              <a:rPr lang="en-US" altLang="zh-CN" sz="2400" spc="-30" dirty="0"/>
              <a:t>, and </a:t>
            </a:r>
            <a:r>
              <a:rPr lang="en-US" altLang="zh-CN" sz="2400" i="1" spc="-30" dirty="0" err="1"/>
              <a:t>gui</a:t>
            </a:r>
            <a:r>
              <a:rPr lang="en-US" altLang="zh-CN" sz="2400" spc="-30" dirty="0"/>
              <a:t>.</a:t>
            </a:r>
          </a:p>
        </p:txBody>
      </p:sp>
      <p:pic>
        <p:nvPicPr>
          <p:cNvPr id="6" name="图片 5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087101"/>
            <a:ext cx="268800" cy="288000"/>
          </a:xfrm>
          <a:prstGeom prst="rect">
            <a:avLst/>
          </a:prstGeom>
        </p:spPr>
      </p:pic>
      <p:pic>
        <p:nvPicPr>
          <p:cNvPr id="7" name="图片 6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4869100"/>
            <a:ext cx="268800" cy="288000"/>
          </a:xfrm>
          <a:prstGeom prst="rect">
            <a:avLst/>
          </a:prstGeom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8" name="图片 7">
            <a:hlinkClick r:id="rId15" action="ppaction://hlinksldjump"/>
            <a:extLst>
              <a:ext uri="{FF2B5EF4-FFF2-40B4-BE49-F238E27FC236}">
                <a16:creationId xmlns:a16="http://schemas.microsoft.com/office/drawing/2014/main" id="{10A03730-8AFC-7285-3192-2AA44F3BC8E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41691"/>
            <a:ext cx="268800" cy="288000"/>
          </a:xfrm>
          <a:prstGeom prst="rect">
            <a:avLst/>
          </a:prstGeom>
        </p:spPr>
      </p:pic>
      <p:pic>
        <p:nvPicPr>
          <p:cNvPr id="9" name="图片 8">
            <a:hlinkClick r:id="rId16" action="ppaction://hlinksldjump"/>
            <a:extLst>
              <a:ext uri="{FF2B5EF4-FFF2-40B4-BE49-F238E27FC236}">
                <a16:creationId xmlns:a16="http://schemas.microsoft.com/office/drawing/2014/main" id="{33393919-9C7B-AE28-E39B-19B5D24D5F3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5625382"/>
            <a:ext cx="268800" cy="288000"/>
          </a:xfrm>
          <a:prstGeom prst="rect">
            <a:avLst/>
          </a:prstGeom>
        </p:spPr>
      </p:pic>
      <p:pic>
        <p:nvPicPr>
          <p:cNvPr id="11" name="Text C_11">
            <a:hlinkClick r:id="" action="ppaction://media"/>
            <a:extLst>
              <a:ext uri="{FF2B5EF4-FFF2-40B4-BE49-F238E27FC236}">
                <a16:creationId xmlns:a16="http://schemas.microsoft.com/office/drawing/2014/main" id="{FF60C67C-BBBE-6508-AC4C-AE7ADECDEE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41691"/>
            <a:ext cx="288000" cy="285120"/>
          </a:xfrm>
          <a:prstGeom prst="rect">
            <a:avLst/>
          </a:prstGeom>
        </p:spPr>
      </p:pic>
      <p:pic>
        <p:nvPicPr>
          <p:cNvPr id="12" name="Text C_12">
            <a:hlinkClick r:id="" action="ppaction://media"/>
            <a:extLst>
              <a:ext uri="{FF2B5EF4-FFF2-40B4-BE49-F238E27FC236}">
                <a16:creationId xmlns:a16="http://schemas.microsoft.com/office/drawing/2014/main" id="{BF5CBD93-4F06-688F-6A39-4BE755431EC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089981"/>
            <a:ext cx="288000" cy="285120"/>
          </a:xfrm>
          <a:prstGeom prst="rect">
            <a:avLst/>
          </a:prstGeom>
        </p:spPr>
      </p:pic>
      <p:pic>
        <p:nvPicPr>
          <p:cNvPr id="13" name="Text C_13">
            <a:hlinkClick r:id="" action="ppaction://media"/>
            <a:extLst>
              <a:ext uri="{FF2B5EF4-FFF2-40B4-BE49-F238E27FC236}">
                <a16:creationId xmlns:a16="http://schemas.microsoft.com/office/drawing/2014/main" id="{3FA908E4-706F-F065-9EFB-D22FB0C885F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4871980"/>
            <a:ext cx="288000" cy="285120"/>
          </a:xfrm>
          <a:prstGeom prst="rect">
            <a:avLst/>
          </a:prstGeom>
        </p:spPr>
      </p:pic>
      <p:pic>
        <p:nvPicPr>
          <p:cNvPr id="14" name="Text C_14">
            <a:hlinkClick r:id="" action="ppaction://media"/>
            <a:extLst>
              <a:ext uri="{FF2B5EF4-FFF2-40B4-BE49-F238E27FC236}">
                <a16:creationId xmlns:a16="http://schemas.microsoft.com/office/drawing/2014/main" id="{47882D08-958C-3177-80ED-DD92E9555BB4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5628262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8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25809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702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880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15</a:t>
            </a:r>
            <a:r>
              <a:rPr lang="en-US" altLang="zh-CN" sz="2400" dirty="0"/>
              <a:t>   T</a:t>
            </a:r>
            <a:r>
              <a:rPr lang="en-US" altLang="zh-CN" sz="2400" spc="-10" dirty="0"/>
              <a:t>he second component is a Terrestrial Branch. The </a:t>
            </a:r>
            <a:r>
              <a:rPr lang="en-US" altLang="zh-CN" sz="2400" dirty="0"/>
              <a:t>names of t</a:t>
            </a:r>
            <a:r>
              <a:rPr lang="en-US" altLang="zh-CN" sz="2400" spc="10" dirty="0"/>
              <a:t>he corresponding animals in the zodiac </a:t>
            </a:r>
            <a:r>
              <a:rPr lang="en-US" altLang="zh-CN" sz="2400" spc="20" dirty="0"/>
              <a:t>cycle of 12 animals are </a:t>
            </a:r>
            <a:r>
              <a:rPr lang="en-US" altLang="zh-CN" sz="2400" dirty="0"/>
              <a:t>g</a:t>
            </a:r>
            <a:r>
              <a:rPr lang="en-US" altLang="zh-CN" sz="2400" spc="30" dirty="0"/>
              <a:t>iven in parentheses</a:t>
            </a:r>
            <a:r>
              <a:rPr lang="en-US" altLang="zh-CN" sz="2400" spc="40" dirty="0"/>
              <a:t>: </a:t>
            </a:r>
            <a:r>
              <a:rPr lang="en-US" altLang="zh-CN" sz="2400" i="1" spc="40" dirty="0"/>
              <a:t>zi</a:t>
            </a:r>
            <a:r>
              <a:rPr lang="en-US" altLang="zh-CN" sz="2400" spc="40" dirty="0"/>
              <a:t> (rat), </a:t>
            </a:r>
            <a:r>
              <a:rPr lang="en-US" altLang="zh-CN" sz="2400" i="1" spc="40" dirty="0"/>
              <a:t>chou</a:t>
            </a:r>
            <a:r>
              <a:rPr lang="en-US" altLang="zh-CN" sz="2400" spc="40" dirty="0"/>
              <a:t> (ox), </a:t>
            </a:r>
            <a:r>
              <a:rPr lang="en-US" altLang="zh-CN" sz="2400" i="1" spc="40" dirty="0"/>
              <a:t>yin</a:t>
            </a:r>
            <a:r>
              <a:rPr lang="en-US" altLang="zh-CN" sz="2400" spc="40" dirty="0"/>
              <a:t> (tiger), </a:t>
            </a:r>
            <a:r>
              <a:rPr lang="en-US" altLang="zh-CN" sz="2400" i="1" spc="40" dirty="0" err="1"/>
              <a:t>mao</a:t>
            </a:r>
            <a:r>
              <a:rPr lang="en-US" altLang="zh-CN" sz="2400" spc="40" dirty="0"/>
              <a:t> (hare, </a:t>
            </a:r>
            <a:r>
              <a:rPr lang="en-US" altLang="zh-CN" sz="2400" dirty="0"/>
              <a:t>r</a:t>
            </a:r>
            <a:r>
              <a:rPr lang="en-US" altLang="zh-CN" sz="2400" spc="40" dirty="0"/>
              <a:t>abbit), </a:t>
            </a:r>
            <a:r>
              <a:rPr lang="en-US" altLang="zh-CN" sz="2400" i="1" spc="40" dirty="0" err="1"/>
              <a:t>chen</a:t>
            </a:r>
            <a:r>
              <a:rPr lang="en-US" altLang="zh-CN" sz="2400" spc="40" dirty="0"/>
              <a:t> (dragon), </a:t>
            </a:r>
            <a:r>
              <a:rPr lang="en-US" altLang="zh-CN" sz="2400" i="1" spc="40" dirty="0" err="1"/>
              <a:t>si</a:t>
            </a:r>
            <a:r>
              <a:rPr lang="en-US" altLang="zh-CN" sz="2400" spc="40" dirty="0"/>
              <a:t> (snake</a:t>
            </a:r>
            <a:r>
              <a:rPr lang="en-US" altLang="zh-CN" sz="2400" spc="50" dirty="0"/>
              <a:t>), </a:t>
            </a:r>
            <a:r>
              <a:rPr lang="en-US" altLang="zh-CN" sz="2400" i="1" spc="50" dirty="0" err="1"/>
              <a:t>wu</a:t>
            </a:r>
            <a:r>
              <a:rPr lang="en-US" altLang="zh-CN" sz="2400" spc="50" dirty="0"/>
              <a:t> (horse), </a:t>
            </a:r>
            <a:r>
              <a:rPr lang="en-US" altLang="zh-CN" sz="2400" i="1" spc="50" dirty="0" err="1"/>
              <a:t>wei</a:t>
            </a:r>
            <a:r>
              <a:rPr lang="en-US" altLang="zh-CN" sz="2400" spc="50" dirty="0"/>
              <a:t> (goat), </a:t>
            </a:r>
            <a:r>
              <a:rPr lang="en-US" altLang="zh-CN" sz="2400" i="1" spc="50" dirty="0" err="1"/>
              <a:t>shen</a:t>
            </a:r>
            <a:r>
              <a:rPr lang="en-US" altLang="zh-CN" sz="2400" spc="50" dirty="0"/>
              <a:t> </a:t>
            </a:r>
            <a:r>
              <a:rPr lang="en-US" altLang="zh-CN" sz="2400" dirty="0"/>
              <a:t>(monkey), </a:t>
            </a:r>
            <a:r>
              <a:rPr lang="en-US" altLang="zh-CN" sz="2400" i="1" dirty="0"/>
              <a:t>you</a:t>
            </a:r>
            <a:r>
              <a:rPr lang="en-US" altLang="zh-CN" sz="2400" dirty="0"/>
              <a:t> (rooster), </a:t>
            </a:r>
            <a:r>
              <a:rPr lang="en-US" altLang="zh-CN" sz="2400" i="1" dirty="0"/>
              <a:t>xu</a:t>
            </a:r>
            <a:r>
              <a:rPr lang="en-US" altLang="zh-CN" sz="2400" dirty="0"/>
              <a:t> (dog), and </a:t>
            </a:r>
            <a:r>
              <a:rPr lang="en-US" altLang="zh-CN" sz="2400" i="1" dirty="0" err="1"/>
              <a:t>hai</a:t>
            </a:r>
            <a:r>
              <a:rPr lang="en-US" altLang="zh-CN" sz="2400" dirty="0"/>
              <a:t> (pig).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16</a:t>
            </a:r>
            <a:r>
              <a:rPr lang="en-US" altLang="zh-CN" sz="2400" dirty="0"/>
              <a:t>   E</a:t>
            </a:r>
            <a:r>
              <a:rPr lang="en-US" altLang="zh-CN" sz="2400" spc="10" dirty="0"/>
              <a:t>ach of the two components is used </a:t>
            </a:r>
            <a:r>
              <a:rPr lang="en-US" altLang="zh-CN" sz="2400" spc="20" dirty="0"/>
              <a:t>sequentially. Thus, the </a:t>
            </a:r>
            <a:r>
              <a:rPr lang="en-US" altLang="zh-CN" sz="2400" dirty="0"/>
              <a:t>1</a:t>
            </a:r>
            <a:r>
              <a:rPr lang="en-US" altLang="zh-CN" sz="2400" spc="30" dirty="0"/>
              <a:t>st year of the 60-year cycle becomes </a:t>
            </a:r>
            <a:r>
              <a:rPr lang="en-US" altLang="zh-CN" sz="2400" i="1" spc="30" dirty="0"/>
              <a:t>jia-zi</a:t>
            </a:r>
            <a:r>
              <a:rPr lang="en-US" altLang="zh-CN" sz="2400" spc="30" dirty="0"/>
              <a:t>, the 2nd year is </a:t>
            </a:r>
            <a:r>
              <a:rPr lang="en-US" altLang="zh-CN" sz="2400" i="1" spc="30" dirty="0" err="1"/>
              <a:t>yi</a:t>
            </a:r>
            <a:r>
              <a:rPr lang="en-US" altLang="zh-CN" sz="2400" i="1" dirty="0"/>
              <a:t>-c</a:t>
            </a:r>
            <a:r>
              <a:rPr lang="en-US" altLang="zh-CN" sz="2400" i="1" spc="20" dirty="0"/>
              <a:t>hou</a:t>
            </a:r>
            <a:r>
              <a:rPr lang="en-US" altLang="zh-CN" sz="2400" spc="20" dirty="0"/>
              <a:t>, the 3rd year is </a:t>
            </a:r>
            <a:r>
              <a:rPr lang="en-US" altLang="zh-CN" sz="2400" i="1" spc="20" dirty="0" err="1"/>
              <a:t>bing</a:t>
            </a:r>
            <a:r>
              <a:rPr lang="en-US" altLang="zh-CN" sz="2400" i="1" spc="20" dirty="0"/>
              <a:t>-yin</a:t>
            </a:r>
            <a:r>
              <a:rPr lang="en-US" altLang="zh-CN" sz="2400" spc="20" dirty="0"/>
              <a:t>, etc. When we reach the </a:t>
            </a:r>
            <a:r>
              <a:rPr lang="en-US" altLang="zh-CN" sz="2400" spc="30" dirty="0"/>
              <a:t>end of a </a:t>
            </a:r>
            <a:r>
              <a:rPr lang="en-US" altLang="zh-CN" sz="2400" dirty="0"/>
              <a:t>c</a:t>
            </a:r>
            <a:r>
              <a:rPr lang="en-US" altLang="zh-CN" sz="2400" spc="30" dirty="0"/>
              <a:t>omponent, we start from the beginning: The 10th year is </a:t>
            </a:r>
            <a:r>
              <a:rPr lang="en-US" altLang="zh-CN" sz="2400" i="1" spc="30" dirty="0" err="1"/>
              <a:t>gui</a:t>
            </a:r>
            <a:r>
              <a:rPr lang="en-US" altLang="zh-CN" sz="2400" i="1" dirty="0"/>
              <a:t>-y</a:t>
            </a:r>
            <a:r>
              <a:rPr lang="en-US" altLang="zh-CN" sz="2400" i="1" spc="40" dirty="0"/>
              <a:t>ou</a:t>
            </a:r>
            <a:r>
              <a:rPr lang="en-US" altLang="zh-CN" sz="2400" spc="40" dirty="0"/>
              <a:t>, the 11th year is </a:t>
            </a:r>
            <a:r>
              <a:rPr lang="en-US" altLang="zh-CN" sz="2400" i="1" spc="40" dirty="0"/>
              <a:t>jia-xu</a:t>
            </a:r>
            <a:r>
              <a:rPr lang="en-US" altLang="zh-CN" sz="2400" spc="40" dirty="0"/>
              <a:t> (restarting the </a:t>
            </a:r>
            <a:r>
              <a:rPr lang="en-US" altLang="zh-CN" sz="2400" spc="50" dirty="0"/>
              <a:t>Celestial Stem), the </a:t>
            </a:r>
            <a:r>
              <a:rPr lang="en-US" altLang="zh-CN" sz="2400" dirty="0"/>
              <a:t>1</a:t>
            </a:r>
            <a:r>
              <a:rPr lang="en-US" altLang="zh-CN" sz="2400" spc="40" dirty="0"/>
              <a:t>2th year is </a:t>
            </a:r>
            <a:r>
              <a:rPr lang="en-US" altLang="zh-CN" sz="2400" i="1" spc="50" dirty="0" err="1"/>
              <a:t>yi-hai</a:t>
            </a:r>
            <a:r>
              <a:rPr lang="en-US" altLang="zh-CN" sz="2400" spc="50" dirty="0"/>
              <a:t>, and the 13th year is </a:t>
            </a:r>
            <a:r>
              <a:rPr lang="en-US" altLang="zh-CN" sz="2400" i="1" spc="50" dirty="0" err="1"/>
              <a:t>bing</a:t>
            </a:r>
            <a:r>
              <a:rPr lang="en-US" altLang="zh-CN" sz="2400" i="1" spc="50" dirty="0"/>
              <a:t>-zi</a:t>
            </a:r>
            <a:r>
              <a:rPr lang="en-US" altLang="zh-CN" sz="2400" spc="50" dirty="0"/>
              <a:t> (restarting the </a:t>
            </a:r>
            <a:r>
              <a:rPr lang="en-US" altLang="zh-CN" sz="2400" dirty="0"/>
              <a:t>Terrestrial Branch). Finally, the 60th year becomes </a:t>
            </a:r>
            <a:r>
              <a:rPr lang="en-US" altLang="zh-CN" sz="2400" i="1" dirty="0" err="1"/>
              <a:t>gui-hai</a:t>
            </a:r>
            <a:r>
              <a:rPr lang="en-US" altLang="zh-CN" sz="2400" dirty="0"/>
              <a:t>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17</a:t>
            </a:r>
            <a:r>
              <a:rPr lang="en-US" altLang="zh-CN" sz="2400" dirty="0"/>
              <a:t>   T</a:t>
            </a:r>
            <a:r>
              <a:rPr lang="en-US" altLang="zh-CN" sz="2400" spc="30" dirty="0"/>
              <a:t>his way of naming </a:t>
            </a:r>
            <a:r>
              <a:rPr lang="en-US" altLang="zh-CN" sz="2400" spc="40" dirty="0"/>
              <a:t>years within a 60-year cycle goes back </a:t>
            </a:r>
            <a:r>
              <a:rPr lang="en-US" altLang="zh-CN" sz="2400" dirty="0"/>
              <a:t>approximately 2,000 years. A similar style of naming of days </a:t>
            </a:r>
            <a:r>
              <a:rPr lang="en-US" altLang="zh-CN" sz="2400" spc="10" dirty="0"/>
              <a:t>and</a:t>
            </a:r>
            <a:endParaRPr lang="en-US" altLang="zh-CN" sz="2400" dirty="0"/>
          </a:p>
        </p:txBody>
      </p:sp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2" name="图片 1">
            <a:hlinkClick r:id="rId10" action="ppaction://hlinksldjump"/>
            <a:extLst>
              <a:ext uri="{FF2B5EF4-FFF2-40B4-BE49-F238E27FC236}">
                <a16:creationId xmlns:a16="http://schemas.microsoft.com/office/drawing/2014/main" id="{6A55EF38-BB43-2387-5242-52D17B51F2E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087101"/>
            <a:ext cx="268800" cy="288000"/>
          </a:xfrm>
          <a:prstGeom prst="rect">
            <a:avLst/>
          </a:prstGeom>
        </p:spPr>
      </p:pic>
      <p:pic>
        <p:nvPicPr>
          <p:cNvPr id="3" name="图片 2">
            <a:hlinkClick r:id="rId12" action="ppaction://hlinksldjump"/>
            <a:extLst>
              <a:ext uri="{FF2B5EF4-FFF2-40B4-BE49-F238E27FC236}">
                <a16:creationId xmlns:a16="http://schemas.microsoft.com/office/drawing/2014/main" id="{D70979B4-0303-B17B-69B2-B2E6F3A5478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41691"/>
            <a:ext cx="268800" cy="288000"/>
          </a:xfrm>
          <a:prstGeom prst="rect">
            <a:avLst/>
          </a:prstGeom>
        </p:spPr>
      </p:pic>
      <p:pic>
        <p:nvPicPr>
          <p:cNvPr id="8" name="图片 7">
            <a:hlinkClick r:id="rId13" action="ppaction://hlinksldjump"/>
            <a:extLst>
              <a:ext uri="{FF2B5EF4-FFF2-40B4-BE49-F238E27FC236}">
                <a16:creationId xmlns:a16="http://schemas.microsoft.com/office/drawing/2014/main" id="{12A0BC6A-5CDA-9AFC-8C10-6C0C2B3997B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5625382"/>
            <a:ext cx="268800" cy="288000"/>
          </a:xfrm>
          <a:prstGeom prst="rect">
            <a:avLst/>
          </a:prstGeom>
        </p:spPr>
      </p:pic>
      <p:pic>
        <p:nvPicPr>
          <p:cNvPr id="9" name="Text C_15">
            <a:hlinkClick r:id="" action="ppaction://media"/>
            <a:extLst>
              <a:ext uri="{FF2B5EF4-FFF2-40B4-BE49-F238E27FC236}">
                <a16:creationId xmlns:a16="http://schemas.microsoft.com/office/drawing/2014/main" id="{B86EDA19-E4B0-BEA4-9DDD-D6CB229FCA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41691"/>
            <a:ext cx="288000" cy="285120"/>
          </a:xfrm>
          <a:prstGeom prst="rect">
            <a:avLst/>
          </a:prstGeom>
        </p:spPr>
      </p:pic>
      <p:pic>
        <p:nvPicPr>
          <p:cNvPr id="11" name="Text C_16">
            <a:hlinkClick r:id="" action="ppaction://media"/>
            <a:extLst>
              <a:ext uri="{FF2B5EF4-FFF2-40B4-BE49-F238E27FC236}">
                <a16:creationId xmlns:a16="http://schemas.microsoft.com/office/drawing/2014/main" id="{FEA3E09F-C307-C88C-A04B-454812B196D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089981"/>
            <a:ext cx="288000" cy="285120"/>
          </a:xfrm>
          <a:prstGeom prst="rect">
            <a:avLst/>
          </a:prstGeom>
        </p:spPr>
      </p:pic>
      <p:pic>
        <p:nvPicPr>
          <p:cNvPr id="12" name="Text C_17">
            <a:hlinkClick r:id="" action="ppaction://media"/>
            <a:extLst>
              <a:ext uri="{FF2B5EF4-FFF2-40B4-BE49-F238E27FC236}">
                <a16:creationId xmlns:a16="http://schemas.microsoft.com/office/drawing/2014/main" id="{FD14873D-E55F-F7F8-9785-0B47429E265C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5628262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6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817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30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audio>
              <p:cMediaNode vol="8000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numSld="2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92030" y="1147670"/>
            <a:ext cx="810027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</a:t>
            </a:r>
            <a:r>
              <a:rPr lang="en-US" altLang="zh-CN" sz="2400" spc="-130" dirty="0"/>
              <a:t>onths has fallen into disuse, but the date name is </a:t>
            </a:r>
            <a:r>
              <a:rPr lang="en-US" altLang="zh-CN" sz="2400" spc="-120" dirty="0"/>
              <a:t>still listed in calendars.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18</a:t>
            </a:r>
            <a:r>
              <a:rPr lang="en-US" altLang="zh-CN" sz="2400" dirty="0"/>
              <a:t>   I</a:t>
            </a:r>
            <a:r>
              <a:rPr lang="en-US" altLang="zh-CN" sz="2400" spc="-10" dirty="0"/>
              <a:t>t is customary to number the 60-year cycles since 2637 BCE, </a:t>
            </a:r>
            <a:r>
              <a:rPr lang="en-US" altLang="zh-CN" sz="2400" dirty="0"/>
              <a:t>w</a:t>
            </a:r>
            <a:r>
              <a:rPr lang="en-US" altLang="zh-CN" sz="2400" spc="30" dirty="0"/>
              <a:t>hen the calendar was supposedly </a:t>
            </a:r>
            <a:r>
              <a:rPr lang="en-US" altLang="zh-CN" sz="2400" spc="40" dirty="0"/>
              <a:t>invented. The first 60-year </a:t>
            </a:r>
            <a:r>
              <a:rPr lang="en-US" altLang="zh-CN" sz="2400" dirty="0"/>
              <a:t>cycle started in that year.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When Were Foreign Calendars Introduced?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19</a:t>
            </a:r>
            <a:r>
              <a:rPr lang="en-US" altLang="zh-CN" sz="2400" dirty="0"/>
              <a:t>   A</a:t>
            </a:r>
            <a:r>
              <a:rPr lang="en-US" altLang="zh-CN" sz="2400" spc="-70" dirty="0"/>
              <a:t>lthough the </a:t>
            </a:r>
            <a:r>
              <a:rPr lang="en-US" altLang="zh-CN" sz="2400" i="1" spc="-70" dirty="0"/>
              <a:t>yin-yang li</a:t>
            </a:r>
            <a:r>
              <a:rPr lang="en-US" altLang="zh-CN" sz="2400" spc="-70" dirty="0"/>
              <a:t> has been continuously </a:t>
            </a:r>
            <a:r>
              <a:rPr lang="en-US" altLang="zh-CN" sz="2400" spc="-80" dirty="0"/>
              <a:t>employed by the </a:t>
            </a:r>
            <a:r>
              <a:rPr lang="en-US" altLang="zh-CN" sz="2400" spc="10" dirty="0"/>
              <a:t>C</a:t>
            </a:r>
            <a:r>
              <a:rPr lang="en-US" altLang="zh-CN" sz="2400" spc="-30" dirty="0"/>
              <a:t>hinese, foreign calendars</a:t>
            </a:r>
            <a:r>
              <a:rPr lang="en-US" altLang="zh-CN" sz="2400" spc="-20" dirty="0"/>
              <a:t> were introduced to China — the Hindu </a:t>
            </a:r>
            <a:r>
              <a:rPr lang="en-US" altLang="zh-CN" sz="2400" dirty="0"/>
              <a:t>c</a:t>
            </a:r>
            <a:r>
              <a:rPr lang="en-US" altLang="zh-CN" sz="2400" spc="-40" dirty="0"/>
              <a:t>alendar, for instance, during the </a:t>
            </a:r>
            <a:r>
              <a:rPr lang="en-US" altLang="zh-CN" sz="2400" spc="-40" dirty="0" err="1"/>
              <a:t>T’ang</a:t>
            </a:r>
            <a:r>
              <a:rPr lang="en-US" altLang="zh-CN" sz="2400" spc="-40" dirty="0"/>
              <a:t> (Tang) dynasty — and were </a:t>
            </a:r>
            <a:r>
              <a:rPr lang="en-US" altLang="zh-CN" sz="2400" dirty="0"/>
              <a:t>o</a:t>
            </a:r>
            <a:r>
              <a:rPr lang="en-US" altLang="zh-CN" sz="2400" spc="20" dirty="0"/>
              <a:t>nce used concurrently with the native </a:t>
            </a:r>
            <a:r>
              <a:rPr lang="en-US" altLang="zh-CN" sz="2400" spc="30" dirty="0"/>
              <a:t>calendar. This situation </a:t>
            </a:r>
            <a:r>
              <a:rPr lang="en-US" altLang="zh-CN" sz="2400" dirty="0"/>
              <a:t>a</a:t>
            </a:r>
            <a:r>
              <a:rPr lang="en-US" altLang="zh-CN" sz="2400" spc="40" dirty="0"/>
              <a:t>lso held </a:t>
            </a:r>
            <a:r>
              <a:rPr lang="en-US" altLang="zh-CN" sz="2400" spc="50" dirty="0"/>
              <a:t>true for the Muslim calendar, which was introduced </a:t>
            </a:r>
            <a:r>
              <a:rPr lang="en-US" altLang="zh-CN" sz="2400" dirty="0"/>
              <a:t>d</a:t>
            </a:r>
            <a:r>
              <a:rPr lang="en-US" altLang="zh-CN" sz="2400" spc="30" dirty="0"/>
              <a:t>uring the Yuan dynasty</a:t>
            </a:r>
            <a:r>
              <a:rPr lang="en-US" altLang="zh-CN" sz="2400" spc="40" dirty="0"/>
              <a:t>. The Gregorian calendar was taken to </a:t>
            </a:r>
            <a:r>
              <a:rPr lang="en-US" altLang="zh-CN" sz="2400" dirty="0"/>
              <a:t>C</a:t>
            </a:r>
            <a:r>
              <a:rPr lang="en-US" altLang="zh-CN" sz="2400" spc="-30" dirty="0"/>
              <a:t>hina by Jesuit missionaries</a:t>
            </a:r>
            <a:r>
              <a:rPr lang="en-US" altLang="zh-CN" sz="2400" spc="-20" dirty="0"/>
              <a:t> in 1582, the very year that it was first </a:t>
            </a:r>
            <a:r>
              <a:rPr lang="en-US" altLang="zh-CN" sz="2400" dirty="0"/>
              <a:t>used by Europeans. Not until 1912, after the Gregorian calendar w</a:t>
            </a:r>
            <a:r>
              <a:rPr lang="en-US" altLang="zh-CN" sz="2400" spc="-70" dirty="0"/>
              <a:t>as officially adopted, did the </a:t>
            </a:r>
            <a:r>
              <a:rPr lang="en-US" altLang="zh-CN" sz="2400" i="1" spc="-80" dirty="0"/>
              <a:t>yin-yang li</a:t>
            </a:r>
            <a:r>
              <a:rPr lang="en-US" altLang="zh-CN" sz="2400" spc="-80" dirty="0"/>
              <a:t> lose its primary importance.</a:t>
            </a:r>
          </a:p>
        </p:txBody>
      </p:sp>
      <p:pic>
        <p:nvPicPr>
          <p:cNvPr id="6" name="图片 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610769"/>
            <a:ext cx="268800" cy="288000"/>
          </a:xfrm>
          <a:prstGeom prst="rect">
            <a:avLst/>
          </a:prstGeom>
        </p:spPr>
      </p:pic>
      <p:pic>
        <p:nvPicPr>
          <p:cNvPr id="7" name="图片 6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3087081"/>
            <a:ext cx="268800" cy="288000"/>
          </a:xfrm>
          <a:prstGeom prst="rect">
            <a:avLst/>
          </a:prstGeom>
        </p:spPr>
      </p:pic>
      <p:pic>
        <p:nvPicPr>
          <p:cNvPr id="10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2" name="Text C_18">
            <a:hlinkClick r:id="" action="ppaction://media"/>
            <a:extLst>
              <a:ext uri="{FF2B5EF4-FFF2-40B4-BE49-F238E27FC236}">
                <a16:creationId xmlns:a16="http://schemas.microsoft.com/office/drawing/2014/main" id="{8D81893A-CB13-DFF7-8DE0-9C47B15569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610769"/>
            <a:ext cx="288000" cy="285120"/>
          </a:xfrm>
          <a:prstGeom prst="rect">
            <a:avLst/>
          </a:prstGeom>
        </p:spPr>
      </p:pic>
      <p:pic>
        <p:nvPicPr>
          <p:cNvPr id="3" name="Text C_19">
            <a:hlinkClick r:id="" action="ppaction://media"/>
            <a:extLst>
              <a:ext uri="{FF2B5EF4-FFF2-40B4-BE49-F238E27FC236}">
                <a16:creationId xmlns:a16="http://schemas.microsoft.com/office/drawing/2014/main" id="{ABBE1F55-C992-B9D9-8812-FAAC5D4C868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3087081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64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2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93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5" name="文本框 4"/>
          <p:cNvSpPr txBox="1"/>
          <p:nvPr/>
        </p:nvSpPr>
        <p:spPr>
          <a:xfrm>
            <a:off x="792030" y="1147670"/>
            <a:ext cx="81002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20</a:t>
            </a:r>
            <a:r>
              <a:rPr lang="en-US" altLang="zh-CN" sz="2400" dirty="0"/>
              <a:t>   W</a:t>
            </a:r>
            <a:r>
              <a:rPr lang="en-US" altLang="zh-CN" sz="2400" spc="-90" dirty="0"/>
              <a:t>estern (pre-Copernican) astronomical theories were introduced </a:t>
            </a:r>
            <a:r>
              <a:rPr lang="en-US" altLang="zh-CN" sz="2400" dirty="0"/>
              <a:t>t</a:t>
            </a:r>
            <a:r>
              <a:rPr lang="en-US" altLang="zh-CN" sz="2400" spc="-70" dirty="0"/>
              <a:t>o China by Jesuit missionaries in the seventeenth century. </a:t>
            </a:r>
            <a:r>
              <a:rPr lang="en-US" altLang="zh-CN" sz="2400" spc="-80" dirty="0"/>
              <a:t>Gradually, </a:t>
            </a:r>
            <a:r>
              <a:rPr lang="en-US" altLang="zh-CN" sz="2400" dirty="0"/>
              <a:t>m</a:t>
            </a:r>
            <a:r>
              <a:rPr lang="en-US" altLang="zh-CN" sz="2400" spc="10" dirty="0"/>
              <a:t>ore</a:t>
            </a:r>
            <a:r>
              <a:rPr lang="en-US" altLang="zh-CN" sz="2400" spc="20" dirty="0"/>
              <a:t> modern Western concepts became known. Following the </a:t>
            </a:r>
            <a:r>
              <a:rPr lang="en-US" altLang="zh-CN" sz="2400" dirty="0"/>
              <a:t>r</a:t>
            </a:r>
            <a:r>
              <a:rPr lang="en-US" altLang="zh-CN" sz="2400" spc="-30" dirty="0"/>
              <a:t>evolution of 1911, the trad</a:t>
            </a:r>
            <a:r>
              <a:rPr lang="en-US" altLang="zh-CN" sz="2400" spc="-20" dirty="0"/>
              <a:t>itional practice of counting years from </a:t>
            </a:r>
            <a:r>
              <a:rPr lang="en-US" altLang="zh-CN" sz="2400" dirty="0"/>
              <a:t>the accession of an emperor was abolished.</a:t>
            </a:r>
            <a:endParaRPr lang="en-US" altLang="zh-CN" sz="2400" spc="-80" dirty="0"/>
          </a:p>
        </p:txBody>
      </p:sp>
      <p:pic>
        <p:nvPicPr>
          <p:cNvPr id="8" name="Picture 3" descr="C:\Users\senj\Desktop\按钮.png"/>
          <p:cNvPicPr>
            <a:picLocks noChangeAspect="1" noChangeArrowheads="1"/>
          </p:cNvPicPr>
          <p:nvPr/>
        </p:nvPicPr>
        <p:blipFill>
          <a:blip r:embed="rId6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7" name="图片 6">
            <a:hlinkClick r:id="rId7" action="ppaction://hlinksldjump"/>
            <a:extLst>
              <a:ext uri="{FF2B5EF4-FFF2-40B4-BE49-F238E27FC236}">
                <a16:creationId xmlns:a16="http://schemas.microsoft.com/office/drawing/2014/main" id="{8469EAFA-7599-345F-5C91-1174C7A7358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60" y="1241691"/>
            <a:ext cx="268800" cy="288000"/>
          </a:xfrm>
          <a:prstGeom prst="rect">
            <a:avLst/>
          </a:prstGeom>
        </p:spPr>
      </p:pic>
      <p:pic>
        <p:nvPicPr>
          <p:cNvPr id="10" name="Text C_20">
            <a:hlinkClick r:id="" action="ppaction://media"/>
            <a:extLst>
              <a:ext uri="{FF2B5EF4-FFF2-40B4-BE49-F238E27FC236}">
                <a16:creationId xmlns:a16="http://schemas.microsoft.com/office/drawing/2014/main" id="{CB6047CD-1C38-59D4-40AC-44C6D38C74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345" y="1241691"/>
            <a:ext cx="288000" cy="28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1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8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6165" y="2604352"/>
            <a:ext cx="4859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zh-CN" altLang="en-US" sz="2400" b="1" dirty="0">
              <a:solidFill>
                <a:srgbClr val="C6383E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0" y="2604352"/>
            <a:ext cx="82319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Which of the following is unique to the Chinese calendar?</a:t>
            </a:r>
          </a:p>
          <a:p>
            <a:r>
              <a:rPr lang="en-US" altLang="zh-CN" sz="2400" dirty="0"/>
              <a:t>A. leap year</a:t>
            </a:r>
          </a:p>
          <a:p>
            <a:r>
              <a:rPr lang="en-US" altLang="zh-CN" sz="2400" dirty="0"/>
              <a:t>C. Summer Solstice</a:t>
            </a:r>
          </a:p>
          <a:p>
            <a:endParaRPr lang="en-US" altLang="zh-CN" sz="2400" dirty="0"/>
          </a:p>
          <a:p>
            <a:r>
              <a:rPr lang="en-US" altLang="zh-CN" sz="2400" dirty="0"/>
              <a:t>What is a “new moon” in China?</a:t>
            </a:r>
          </a:p>
          <a:p>
            <a:r>
              <a:rPr lang="en-US" altLang="zh-CN" sz="2400" dirty="0"/>
              <a:t>A. The first visible crescent. </a:t>
            </a:r>
          </a:p>
          <a:p>
            <a:r>
              <a:rPr lang="en-US" altLang="zh-CN" sz="2400" dirty="0"/>
              <a:t>B. The moon in Principle Term 1.</a:t>
            </a:r>
          </a:p>
          <a:p>
            <a:r>
              <a:rPr lang="en-US" altLang="zh-CN" sz="2400" dirty="0"/>
              <a:t>C. The completely “black” moon. </a:t>
            </a:r>
          </a:p>
          <a:p>
            <a:r>
              <a:rPr lang="en-US" altLang="zh-CN" sz="2400" dirty="0"/>
              <a:t>D. The moon of the leap month.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r>
              <a:rPr lang="en-US" altLang="zh-CN" sz="2400" spc="-10" dirty="0">
                <a:latin typeface="Cambria" panose="02040503050406030204" pitchFamily="18" charset="0"/>
                <a:ea typeface="Cambria" panose="02040503050406030204" pitchFamily="18" charset="0"/>
              </a:rPr>
              <a:t>Choose the best answer according to the information given in the text.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3" name="选择1" descr="圈圈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31360" y="3040649"/>
            <a:ext cx="459698" cy="36119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72000" y="2604352"/>
            <a:ext cx="4320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B. Celestial Stem</a:t>
            </a:r>
          </a:p>
          <a:p>
            <a:r>
              <a:rPr lang="en-US" altLang="zh-CN" sz="2400" dirty="0"/>
              <a:t>D. astronomical calculations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pic>
        <p:nvPicPr>
          <p:cNvPr id="18" name="选择1" descr="圈圈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0269" y="5246064"/>
            <a:ext cx="459698" cy="361192"/>
          </a:xfrm>
          <a:prstGeom prst="rect">
            <a:avLst/>
          </a:prstGeom>
        </p:spPr>
      </p:pic>
      <p:pic>
        <p:nvPicPr>
          <p:cNvPr id="20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21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14" name="矩形 13"/>
          <p:cNvSpPr/>
          <p:nvPr/>
        </p:nvSpPr>
        <p:spPr>
          <a:xfrm>
            <a:off x="456467" y="2677584"/>
            <a:ext cx="8363828" cy="109523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56467" y="4149050"/>
            <a:ext cx="8363828" cy="187162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74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6165" y="1145160"/>
            <a:ext cx="48595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4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5</a:t>
            </a:r>
            <a:endParaRPr lang="zh-CN" altLang="en-US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0" y="1145160"/>
            <a:ext cx="82319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How does the Chinese calendar count years?</a:t>
            </a:r>
          </a:p>
          <a:p>
            <a:r>
              <a:rPr lang="en-US" altLang="zh-CN" sz="2400" dirty="0"/>
              <a:t>A. It counts years in an infinite sequence.</a:t>
            </a:r>
          </a:p>
          <a:p>
            <a:r>
              <a:rPr lang="en-US" altLang="zh-CN" sz="2400" dirty="0"/>
              <a:t>B. It assigns a new name to each year.</a:t>
            </a:r>
          </a:p>
          <a:p>
            <a:r>
              <a:rPr lang="en-US" altLang="zh-CN" sz="2400" dirty="0"/>
              <a:t>C. It uses the names of the emperors.</a:t>
            </a:r>
          </a:p>
          <a:p>
            <a:r>
              <a:rPr lang="en-US" altLang="zh-CN" sz="2400" dirty="0"/>
              <a:t>D. It counts years with names which are repeated every 60 years.</a:t>
            </a:r>
          </a:p>
          <a:p>
            <a:endParaRPr lang="en-US" altLang="zh-CN" sz="2400" dirty="0"/>
          </a:p>
          <a:p>
            <a:r>
              <a:rPr lang="en-US" altLang="zh-CN" sz="2400" dirty="0"/>
              <a:t>How is each component of the name of the Chinese year used?</a:t>
            </a:r>
          </a:p>
          <a:p>
            <a:r>
              <a:rPr lang="en-US" altLang="zh-CN" sz="2400" dirty="0"/>
              <a:t>A. Freely. </a:t>
            </a:r>
          </a:p>
          <a:p>
            <a:r>
              <a:rPr lang="en-US" altLang="zh-CN" sz="2400" dirty="0"/>
              <a:t>C. Alternately. </a:t>
            </a:r>
          </a:p>
          <a:p>
            <a:endParaRPr lang="en-US" altLang="zh-CN" sz="2400" dirty="0"/>
          </a:p>
          <a:p>
            <a:r>
              <a:rPr lang="en-US" altLang="zh-CN" sz="2400" dirty="0"/>
              <a:t>What animal does “</a:t>
            </a:r>
            <a:r>
              <a:rPr lang="en-US" altLang="zh-CN" sz="2400" i="1" dirty="0" err="1"/>
              <a:t>shen</a:t>
            </a:r>
            <a:r>
              <a:rPr lang="en-US" altLang="zh-CN" sz="2400" dirty="0"/>
              <a:t>” correspond to in a Terrestrial Branch?</a:t>
            </a:r>
          </a:p>
          <a:p>
            <a:r>
              <a:rPr lang="en-US" altLang="zh-CN" sz="2400" dirty="0"/>
              <a:t>A. Ox. </a:t>
            </a:r>
          </a:p>
          <a:p>
            <a:r>
              <a:rPr lang="en-US" altLang="zh-CN" sz="2400" dirty="0"/>
              <a:t>C. Dragon. </a:t>
            </a:r>
          </a:p>
        </p:txBody>
      </p:sp>
      <p:pic>
        <p:nvPicPr>
          <p:cNvPr id="13" name="选择1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9920" y="2689677"/>
            <a:ext cx="459698" cy="361192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572000" y="1145160"/>
            <a:ext cx="43203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B. Sequentially.</a:t>
            </a:r>
          </a:p>
          <a:p>
            <a:r>
              <a:rPr lang="en-US" altLang="zh-CN" sz="2400" dirty="0"/>
              <a:t>D. Simultaneously.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B. Monkey.</a:t>
            </a:r>
          </a:p>
          <a:p>
            <a:r>
              <a:rPr lang="en-US" altLang="zh-CN" sz="2400" dirty="0"/>
              <a:t>D. Dog.</a:t>
            </a:r>
          </a:p>
        </p:txBody>
      </p:sp>
      <p:pic>
        <p:nvPicPr>
          <p:cNvPr id="18" name="选择1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23711" y="3789025"/>
            <a:ext cx="459698" cy="361192"/>
          </a:xfrm>
          <a:prstGeom prst="rect">
            <a:avLst/>
          </a:prstGeom>
        </p:spPr>
      </p:pic>
      <p:pic>
        <p:nvPicPr>
          <p:cNvPr id="9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15" name="选择1" descr="圈圈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23711" y="5256284"/>
            <a:ext cx="459698" cy="36119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56467" y="1217166"/>
            <a:ext cx="8363828" cy="1833196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56467" y="3436062"/>
            <a:ext cx="8363828" cy="1068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456467" y="4898447"/>
            <a:ext cx="8363828" cy="10688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83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5" name="文本框 14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r>
              <a:rPr lang="en-US" altLang="zh-CN" sz="2400" spc="-10" dirty="0">
                <a:latin typeface="Cambria" panose="02040503050406030204" pitchFamily="18" charset="0"/>
                <a:ea typeface="Cambria" panose="02040503050406030204" pitchFamily="18" charset="0"/>
              </a:rPr>
              <a:t>Choose the best explanation of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the underlined part in each of the </a:t>
            </a:r>
            <a:r>
              <a:rPr lang="en-US" altLang="zh-CN" sz="2400" spc="-10" dirty="0">
                <a:latin typeface="Cambria" panose="02040503050406030204" pitchFamily="18" charset="0"/>
                <a:ea typeface="Cambria" panose="02040503050406030204" pitchFamily="18" charset="0"/>
              </a:rPr>
              <a:t>sentences.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67715" y="2420930"/>
            <a:ext cx="8323860" cy="1596191"/>
          </a:xfrm>
          <a:prstGeom prst="roundRect">
            <a:avLst>
              <a:gd name="adj" fmla="val 9889"/>
            </a:avLst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577066" y="2527028"/>
            <a:ext cx="281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 make a great effort</a:t>
            </a:r>
            <a:endParaRPr lang="zh-CN" altLang="en-US" sz="2400" dirty="0"/>
          </a:p>
        </p:txBody>
      </p:sp>
      <p:sp>
        <p:nvSpPr>
          <p:cNvPr id="23" name="文本框 22"/>
          <p:cNvSpPr txBox="1"/>
          <p:nvPr/>
        </p:nvSpPr>
        <p:spPr>
          <a:xfrm>
            <a:off x="3426249" y="3025446"/>
            <a:ext cx="1997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 officially end</a:t>
            </a:r>
            <a:endParaRPr lang="zh-CN" altLang="en-US" sz="2400" dirty="0"/>
          </a:p>
        </p:txBody>
      </p:sp>
      <p:sp>
        <p:nvSpPr>
          <p:cNvPr id="24" name="文本框 23"/>
          <p:cNvSpPr txBox="1"/>
          <p:nvPr/>
        </p:nvSpPr>
        <p:spPr>
          <a:xfrm>
            <a:off x="3426249" y="2527028"/>
            <a:ext cx="2206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 approximately</a:t>
            </a:r>
            <a:endParaRPr lang="zh-CN" altLang="en-US" sz="24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100896" y="3028718"/>
            <a:ext cx="2609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 happening before</a:t>
            </a:r>
            <a:endParaRPr lang="zh-CN" altLang="en-US" sz="2400" dirty="0"/>
          </a:p>
        </p:txBody>
      </p:sp>
      <p:sp>
        <p:nvSpPr>
          <p:cNvPr id="26" name="文本框 25"/>
          <p:cNvSpPr txBox="1"/>
          <p:nvPr/>
        </p:nvSpPr>
        <p:spPr>
          <a:xfrm>
            <a:off x="6100896" y="2527028"/>
            <a:ext cx="1198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 slowly</a:t>
            </a:r>
            <a:endParaRPr lang="zh-CN" altLang="en-US" sz="2400" dirty="0"/>
          </a:p>
        </p:txBody>
      </p:sp>
      <p:sp>
        <p:nvSpPr>
          <p:cNvPr id="27" name="文本框 26"/>
          <p:cNvSpPr txBox="1"/>
          <p:nvPr/>
        </p:nvSpPr>
        <p:spPr>
          <a:xfrm>
            <a:off x="577066" y="3524325"/>
            <a:ext cx="255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G at the same time</a:t>
            </a:r>
            <a:endParaRPr lang="zh-CN" altLang="en-US" sz="2400" dirty="0"/>
          </a:p>
        </p:txBody>
      </p:sp>
      <p:sp>
        <p:nvSpPr>
          <p:cNvPr id="28" name="文本框 27"/>
          <p:cNvSpPr txBox="1"/>
          <p:nvPr/>
        </p:nvSpPr>
        <p:spPr>
          <a:xfrm>
            <a:off x="577066" y="3025446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 find the origins</a:t>
            </a:r>
            <a:endParaRPr lang="zh-CN" altLang="en-US" sz="2400" dirty="0"/>
          </a:p>
        </p:txBody>
      </p:sp>
      <p:sp>
        <p:nvSpPr>
          <p:cNvPr id="29" name="文本框 28"/>
          <p:cNvSpPr txBox="1"/>
          <p:nvPr/>
        </p:nvSpPr>
        <p:spPr>
          <a:xfrm>
            <a:off x="3426249" y="3524325"/>
            <a:ext cx="2638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 add in the middle</a:t>
            </a:r>
            <a:endParaRPr lang="zh-CN" altLang="en-US" sz="2400" dirty="0"/>
          </a:p>
        </p:txBody>
      </p:sp>
      <p:sp>
        <p:nvSpPr>
          <p:cNvPr id="42" name="文本框 41"/>
          <p:cNvSpPr txBox="1"/>
          <p:nvPr/>
        </p:nvSpPr>
        <p:spPr>
          <a:xfrm>
            <a:off x="366165" y="4370208"/>
            <a:ext cx="17576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343025" y="4370208"/>
            <a:ext cx="75492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80" dirty="0"/>
              <a:t>he style of these paintings can </a:t>
            </a:r>
            <a:r>
              <a:rPr lang="en-US" altLang="zh-CN" sz="2400" u="sng" spc="-70" dirty="0"/>
              <a:t>be traced back</a:t>
            </a:r>
            <a:r>
              <a:rPr lang="en-US" altLang="zh-CN" sz="2400" spc="-70" dirty="0"/>
              <a:t> to early medieval </a:t>
            </a:r>
            <a:r>
              <a:rPr lang="en-US" altLang="zh-CN" sz="2400" dirty="0"/>
              <a:t>influences.</a:t>
            </a:r>
          </a:p>
          <a:p>
            <a:r>
              <a:rPr lang="en-US" altLang="zh-CN" sz="2400" dirty="0"/>
              <a:t>He </a:t>
            </a:r>
            <a:r>
              <a:rPr lang="en-US" altLang="zh-CN" sz="2400" u="sng" dirty="0"/>
              <a:t>strove</a:t>
            </a:r>
            <a:r>
              <a:rPr lang="en-US" altLang="zh-CN" sz="2400" dirty="0"/>
              <a:t> to be recognized as a musician.</a:t>
            </a:r>
          </a:p>
          <a:p>
            <a:r>
              <a:rPr lang="en-US" altLang="zh-CN" sz="2400" dirty="0"/>
              <a:t>He </a:t>
            </a:r>
            <a:r>
              <a:rPr lang="en-US" altLang="zh-CN" sz="2400" u="sng" dirty="0"/>
              <a:t>inserted</a:t>
            </a:r>
            <a:r>
              <a:rPr lang="en-US" altLang="zh-CN" sz="2400" dirty="0"/>
              <a:t> one unscripted item in his speech.</a:t>
            </a:r>
          </a:p>
          <a:p>
            <a:r>
              <a:rPr lang="en-US" altLang="zh-CN" sz="2400" dirty="0"/>
              <a:t>We live </a:t>
            </a:r>
            <a:r>
              <a:rPr lang="en-US" altLang="zh-CN" sz="2400" u="sng" dirty="0"/>
              <a:t>roughly</a:t>
            </a:r>
            <a:r>
              <a:rPr lang="en-US" altLang="zh-CN" sz="2400" dirty="0"/>
              <a:t> halfway between here and the coast.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69235" y="4384115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67632" y="5480521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74845" y="511369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8190" y="4463264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458190" y="5556215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458190" y="5197423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577066" y="2527028"/>
            <a:ext cx="28133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A make a great effort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426249" y="3524325"/>
            <a:ext cx="26388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H add in the middle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577066" y="3025446"/>
            <a:ext cx="23246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 find the origins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D0D6CC-8CE8-6B13-CB21-A14F719ABEF0}"/>
              </a:ext>
            </a:extLst>
          </p:cNvPr>
          <p:cNvSpPr txBox="1"/>
          <p:nvPr/>
        </p:nvSpPr>
        <p:spPr>
          <a:xfrm>
            <a:off x="580456" y="5849475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17139A-D0C2-1AED-7402-319300EBC296}"/>
              </a:ext>
            </a:extLst>
          </p:cNvPr>
          <p:cNvSpPr/>
          <p:nvPr/>
        </p:nvSpPr>
        <p:spPr>
          <a:xfrm>
            <a:off x="458190" y="5928624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B2D858-C95E-3142-C296-D57E946A0243}"/>
              </a:ext>
            </a:extLst>
          </p:cNvPr>
          <p:cNvSpPr txBox="1"/>
          <p:nvPr/>
        </p:nvSpPr>
        <p:spPr>
          <a:xfrm>
            <a:off x="3426249" y="2527028"/>
            <a:ext cx="220650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B approximately</a:t>
            </a:r>
          </a:p>
        </p:txBody>
      </p:sp>
    </p:spTree>
    <p:extLst>
      <p:ext uri="{BB962C8B-B14F-4D97-AF65-F5344CB8AC3E}">
        <p14:creationId xmlns:p14="http://schemas.microsoft.com/office/powerpoint/2010/main" val="329808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2" grpId="0"/>
      <p:bldP spid="44" grpId="0"/>
      <p:bldP spid="45" grpId="0"/>
      <p:bldP spid="49" grpId="0" animBg="1"/>
      <p:bldP spid="50" grpId="0" animBg="1"/>
      <p:bldP spid="51" grpId="0" animBg="1"/>
      <p:bldP spid="3" grpId="0"/>
      <p:bldP spid="1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366165" y="3334217"/>
            <a:ext cx="17576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</a:p>
          <a:p>
            <a:endParaRPr lang="en-US" altLang="zh-CN" sz="2400" b="1" dirty="0">
              <a:solidFill>
                <a:srgbClr val="D2553C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</a:p>
          <a:p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1343025" y="3334217"/>
            <a:ext cx="75492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I</a:t>
            </a:r>
            <a:r>
              <a:rPr lang="en-US" altLang="zh-CN" sz="2400" spc="-80" dirty="0"/>
              <a:t> regret that a </a:t>
            </a:r>
            <a:r>
              <a:rPr lang="en-US" altLang="zh-CN" sz="2400" u="sng" spc="-80" dirty="0"/>
              <a:t>previous</a:t>
            </a:r>
            <a:r>
              <a:rPr lang="en-US" altLang="zh-CN" sz="2400" spc="-80" dirty="0"/>
              <a:t> engagement prevents me from accepting </a:t>
            </a:r>
            <a:r>
              <a:rPr lang="en-US" altLang="zh-CN" sz="2400" dirty="0"/>
              <a:t>your kind invitation.</a:t>
            </a:r>
          </a:p>
          <a:p>
            <a:r>
              <a:rPr lang="en-US" altLang="zh-CN" sz="2400" dirty="0"/>
              <a:t>H</a:t>
            </a:r>
            <a:r>
              <a:rPr lang="en-US" altLang="zh-CN" sz="2400" spc="-80" dirty="0"/>
              <a:t>er two dramas are </a:t>
            </a:r>
            <a:r>
              <a:rPr lang="en-US" altLang="zh-CN" sz="2400" spc="-70" dirty="0"/>
              <a:t>being shown </a:t>
            </a:r>
            <a:r>
              <a:rPr lang="en-US" altLang="zh-CN" sz="2400" u="sng" spc="-70" dirty="0"/>
              <a:t>concurrently</a:t>
            </a:r>
            <a:r>
              <a:rPr lang="en-US" altLang="zh-CN" sz="2400" spc="-70" dirty="0"/>
              <a:t> by rival television </a:t>
            </a:r>
            <a:r>
              <a:rPr lang="en-US" altLang="zh-CN" sz="2400" dirty="0"/>
              <a:t>stations.</a:t>
            </a:r>
          </a:p>
          <a:p>
            <a:r>
              <a:rPr lang="en-US" altLang="zh-CN" sz="2400" dirty="0"/>
              <a:t>The bank slopes </a:t>
            </a:r>
            <a:r>
              <a:rPr lang="en-US" altLang="zh-CN" sz="2400" u="sng" dirty="0"/>
              <a:t>gradually</a:t>
            </a:r>
            <a:r>
              <a:rPr lang="en-US" altLang="zh-CN" sz="2400" dirty="0"/>
              <a:t> down to the river.</a:t>
            </a:r>
          </a:p>
          <a:p>
            <a:r>
              <a:rPr lang="en-US" altLang="zh-CN" sz="2400" dirty="0"/>
              <a:t>National service </a:t>
            </a:r>
            <a:r>
              <a:rPr lang="en-US" altLang="zh-CN" sz="2400" u="sng" dirty="0"/>
              <a:t>was abolished</a:t>
            </a:r>
            <a:r>
              <a:rPr lang="en-US" altLang="zh-CN" sz="2400" dirty="0"/>
              <a:t> in Britain in 1960.</a:t>
            </a:r>
          </a:p>
        </p:txBody>
      </p:sp>
      <p:pic>
        <p:nvPicPr>
          <p:cNvPr id="14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45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18" name="圆角矩形 20">
            <a:extLst>
              <a:ext uri="{FF2B5EF4-FFF2-40B4-BE49-F238E27FC236}">
                <a16:creationId xmlns:a16="http://schemas.microsoft.com/office/drawing/2014/main" id="{3BFE1FF7-7F89-4FF9-8BA5-0D7083192221}"/>
              </a:ext>
            </a:extLst>
          </p:cNvPr>
          <p:cNvSpPr/>
          <p:nvPr/>
        </p:nvSpPr>
        <p:spPr>
          <a:xfrm>
            <a:off x="467715" y="1286956"/>
            <a:ext cx="8323860" cy="1596191"/>
          </a:xfrm>
          <a:prstGeom prst="roundRect">
            <a:avLst>
              <a:gd name="adj" fmla="val 9889"/>
            </a:avLst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690A20C-85FC-5819-DBE5-2B7EBE2D1473}"/>
              </a:ext>
            </a:extLst>
          </p:cNvPr>
          <p:cNvSpPr txBox="1"/>
          <p:nvPr/>
        </p:nvSpPr>
        <p:spPr>
          <a:xfrm>
            <a:off x="577066" y="1393054"/>
            <a:ext cx="281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 make a great effort</a:t>
            </a:r>
            <a:endParaRPr lang="zh-CN" altLang="en-US" sz="24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0E8F7F0-DD30-50DD-DEE2-946D08C02C23}"/>
              </a:ext>
            </a:extLst>
          </p:cNvPr>
          <p:cNvSpPr txBox="1"/>
          <p:nvPr/>
        </p:nvSpPr>
        <p:spPr>
          <a:xfrm>
            <a:off x="3426249" y="1891472"/>
            <a:ext cx="1997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E officially end</a:t>
            </a:r>
            <a:endParaRPr lang="zh-CN" altLang="en-US" sz="2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73DAB6A-0E45-ACCC-B43F-E3CA4A16FA3D}"/>
              </a:ext>
            </a:extLst>
          </p:cNvPr>
          <p:cNvSpPr txBox="1"/>
          <p:nvPr/>
        </p:nvSpPr>
        <p:spPr>
          <a:xfrm>
            <a:off x="3426249" y="1393054"/>
            <a:ext cx="2206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 approximately</a:t>
            </a:r>
            <a:endParaRPr lang="zh-CN" altLang="en-US" sz="2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9B078D6-F7A1-7863-FD47-651C6E7E5232}"/>
              </a:ext>
            </a:extLst>
          </p:cNvPr>
          <p:cNvSpPr txBox="1"/>
          <p:nvPr/>
        </p:nvSpPr>
        <p:spPr>
          <a:xfrm>
            <a:off x="6100896" y="1894744"/>
            <a:ext cx="2609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F happening before</a:t>
            </a:r>
            <a:endParaRPr lang="zh-CN" altLang="en-US" sz="2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1F241B4-659A-8DF0-8136-0AC5DEB3EBA6}"/>
              </a:ext>
            </a:extLst>
          </p:cNvPr>
          <p:cNvSpPr txBox="1"/>
          <p:nvPr/>
        </p:nvSpPr>
        <p:spPr>
          <a:xfrm>
            <a:off x="6100896" y="1393054"/>
            <a:ext cx="1198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 slowly</a:t>
            </a:r>
            <a:endParaRPr lang="zh-CN" altLang="en-US" sz="2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3BDD052-9866-1335-3132-200393E4A374}"/>
              </a:ext>
            </a:extLst>
          </p:cNvPr>
          <p:cNvSpPr txBox="1"/>
          <p:nvPr/>
        </p:nvSpPr>
        <p:spPr>
          <a:xfrm>
            <a:off x="577066" y="2390351"/>
            <a:ext cx="25590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G at the same time</a:t>
            </a:r>
            <a:endParaRPr lang="zh-CN" altLang="en-US" sz="2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CB293C8-F6C3-24C3-FB4B-E82DB1DD02A8}"/>
              </a:ext>
            </a:extLst>
          </p:cNvPr>
          <p:cNvSpPr txBox="1"/>
          <p:nvPr/>
        </p:nvSpPr>
        <p:spPr>
          <a:xfrm>
            <a:off x="577066" y="1891472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 find the origins</a:t>
            </a:r>
            <a:endParaRPr lang="zh-CN" altLang="en-US" sz="24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64CC949-B34E-3FD7-7FEE-5A12F9399F92}"/>
              </a:ext>
            </a:extLst>
          </p:cNvPr>
          <p:cNvSpPr txBox="1"/>
          <p:nvPr/>
        </p:nvSpPr>
        <p:spPr>
          <a:xfrm>
            <a:off x="3426249" y="2390351"/>
            <a:ext cx="26388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H add in the middle</a:t>
            </a:r>
            <a:endParaRPr lang="zh-CN" altLang="en-US" sz="24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A34D9BC-9C55-3D95-A334-34C85726C767}"/>
              </a:ext>
            </a:extLst>
          </p:cNvPr>
          <p:cNvSpPr txBox="1"/>
          <p:nvPr/>
        </p:nvSpPr>
        <p:spPr>
          <a:xfrm>
            <a:off x="577066" y="1393054"/>
            <a:ext cx="281339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A make a great effort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636761-F154-9954-DD1F-DBA809565152}"/>
              </a:ext>
            </a:extLst>
          </p:cNvPr>
          <p:cNvSpPr txBox="1"/>
          <p:nvPr/>
        </p:nvSpPr>
        <p:spPr>
          <a:xfrm>
            <a:off x="3426249" y="2390351"/>
            <a:ext cx="263886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H add in the middle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7B1CC61-2177-6C85-1A36-26EEAFFB1ECE}"/>
              </a:ext>
            </a:extLst>
          </p:cNvPr>
          <p:cNvSpPr txBox="1"/>
          <p:nvPr/>
        </p:nvSpPr>
        <p:spPr>
          <a:xfrm>
            <a:off x="577066" y="1891472"/>
            <a:ext cx="232467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D find the origins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D20557C5-AC2A-CFD9-5E22-C44857728534}"/>
              </a:ext>
            </a:extLst>
          </p:cNvPr>
          <p:cNvSpPr txBox="1"/>
          <p:nvPr/>
        </p:nvSpPr>
        <p:spPr>
          <a:xfrm>
            <a:off x="3426249" y="1393054"/>
            <a:ext cx="220650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B approximately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7C77A87-8499-2C6A-7371-EE43A27366AB}"/>
              </a:ext>
            </a:extLst>
          </p:cNvPr>
          <p:cNvSpPr txBox="1"/>
          <p:nvPr/>
        </p:nvSpPr>
        <p:spPr>
          <a:xfrm>
            <a:off x="571914" y="4077045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F077B18-D228-758D-E0B6-0AC1828FC619}"/>
              </a:ext>
            </a:extLst>
          </p:cNvPr>
          <p:cNvSpPr txBox="1"/>
          <p:nvPr/>
        </p:nvSpPr>
        <p:spPr>
          <a:xfrm>
            <a:off x="592753" y="3347470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6A2FAF8-A01C-7FB6-9350-37CBD4FA7A2F}"/>
              </a:ext>
            </a:extLst>
          </p:cNvPr>
          <p:cNvSpPr/>
          <p:nvPr/>
        </p:nvSpPr>
        <p:spPr>
          <a:xfrm>
            <a:off x="462472" y="4152739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D00CB7B-2B84-F8CD-FFC0-AB28DF95B9C0}"/>
              </a:ext>
            </a:extLst>
          </p:cNvPr>
          <p:cNvSpPr/>
          <p:nvPr/>
        </p:nvSpPr>
        <p:spPr>
          <a:xfrm>
            <a:off x="462472" y="3421678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2A2022D-48CC-61C8-1680-53B678510F99}"/>
              </a:ext>
            </a:extLst>
          </p:cNvPr>
          <p:cNvSpPr txBox="1"/>
          <p:nvPr/>
        </p:nvSpPr>
        <p:spPr>
          <a:xfrm>
            <a:off x="6100896" y="1894744"/>
            <a:ext cx="260962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F happening before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6324603-55AC-94A8-EE92-A158764F6486}"/>
              </a:ext>
            </a:extLst>
          </p:cNvPr>
          <p:cNvSpPr txBox="1"/>
          <p:nvPr/>
        </p:nvSpPr>
        <p:spPr>
          <a:xfrm>
            <a:off x="577066" y="2390351"/>
            <a:ext cx="255903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G at the same time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C0FCBA4-0962-5110-C218-2874BAD431C8}"/>
              </a:ext>
            </a:extLst>
          </p:cNvPr>
          <p:cNvSpPr txBox="1"/>
          <p:nvPr/>
        </p:nvSpPr>
        <p:spPr>
          <a:xfrm>
            <a:off x="592753" y="5170915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7EC1A5B-D277-9400-B355-190359377C42}"/>
              </a:ext>
            </a:extLst>
          </p:cNvPr>
          <p:cNvSpPr txBox="1"/>
          <p:nvPr/>
        </p:nvSpPr>
        <p:spPr>
          <a:xfrm>
            <a:off x="586341" y="4810890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1799F13-983B-7531-6B02-C8868B9C0D9B}"/>
              </a:ext>
            </a:extLst>
          </p:cNvPr>
          <p:cNvSpPr/>
          <p:nvPr/>
        </p:nvSpPr>
        <p:spPr>
          <a:xfrm>
            <a:off x="462472" y="5256134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637590E-200E-6468-3547-AA9500F96136}"/>
              </a:ext>
            </a:extLst>
          </p:cNvPr>
          <p:cNvSpPr/>
          <p:nvPr/>
        </p:nvSpPr>
        <p:spPr>
          <a:xfrm>
            <a:off x="462472" y="4894623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1514611-6490-AEF6-3714-C07155528D88}"/>
              </a:ext>
            </a:extLst>
          </p:cNvPr>
          <p:cNvSpPr txBox="1"/>
          <p:nvPr/>
        </p:nvSpPr>
        <p:spPr>
          <a:xfrm>
            <a:off x="6100896" y="1393054"/>
            <a:ext cx="119814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C slowly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36EA6AE-CB25-745F-C110-0BEB5586E2DF}"/>
              </a:ext>
            </a:extLst>
          </p:cNvPr>
          <p:cNvSpPr txBox="1"/>
          <p:nvPr/>
        </p:nvSpPr>
        <p:spPr>
          <a:xfrm>
            <a:off x="3426249" y="1891472"/>
            <a:ext cx="1997855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strike="sngStrike" dirty="0">
                <a:solidFill>
                  <a:schemeClr val="bg1">
                    <a:lumMod val="65000"/>
                  </a:schemeClr>
                </a:solidFill>
              </a:rPr>
              <a:t>E officially end</a:t>
            </a:r>
          </a:p>
        </p:txBody>
      </p:sp>
    </p:spTree>
    <p:extLst>
      <p:ext uri="{BB962C8B-B14F-4D97-AF65-F5344CB8AC3E}">
        <p14:creationId xmlns:p14="http://schemas.microsoft.com/office/powerpoint/2010/main" val="198139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2" grpId="0" animBg="1"/>
      <p:bldP spid="63" grpId="0" animBg="1"/>
      <p:bldP spid="64" grpId="0"/>
      <p:bldP spid="65" grpId="0"/>
      <p:bldP spid="68" grpId="0" animBg="1"/>
      <p:bldP spid="6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0000" y="1133951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Match the English expressions with their Chinese equivalents.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165" y="2132910"/>
            <a:ext cx="1757665" cy="40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5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6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7</a:t>
            </a:r>
            <a:endParaRPr lang="en-US" altLang="zh-CN" sz="2400" b="1" dirty="0">
              <a:solidFill>
                <a:srgbClr val="D2553C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</a:t>
            </a:r>
            <a:r>
              <a:rPr lang="en-US" altLang="zh-CN" sz="2400" b="1" dirty="0">
                <a:solidFill>
                  <a:srgbClr val="D2553C"/>
                </a:solidFill>
              </a:rPr>
              <a:t> </a:t>
            </a:r>
            <a:r>
              <a:rPr lang="en-US" altLang="zh-CN" sz="2400" b="1" dirty="0">
                <a:solidFill>
                  <a:srgbClr val="C6383E"/>
                </a:solidFill>
              </a:rPr>
              <a:t>8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343026" y="2132910"/>
            <a:ext cx="3444990" cy="40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synodic month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Summer Solstice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Celestial Stem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Autumn Equinox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Winter Solstice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leap year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Terrestrial Branch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Chinese zodiac signs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80070" y="2132910"/>
            <a:ext cx="2304160" cy="40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A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B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C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D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E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F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G</a:t>
            </a:r>
          </a:p>
          <a:p>
            <a:pPr>
              <a:lnSpc>
                <a:spcPts val="3880"/>
              </a:lnSpc>
            </a:pPr>
            <a:r>
              <a:rPr lang="en-US" altLang="zh-CN" sz="2400" b="1" dirty="0">
                <a:solidFill>
                  <a:srgbClr val="C6383E"/>
                </a:solidFill>
              </a:rPr>
              <a:t>H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868090" y="2132910"/>
            <a:ext cx="2304160" cy="4043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zh-CN" altLang="en-US" sz="2400" dirty="0"/>
              <a:t>天干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地支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生肖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夏至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冬至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秋分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闰年</a:t>
            </a:r>
          </a:p>
          <a:p>
            <a:pPr>
              <a:lnSpc>
                <a:spcPts val="3880"/>
              </a:lnSpc>
            </a:pPr>
            <a:r>
              <a:rPr lang="zh-CN" altLang="en-US" sz="2400" dirty="0"/>
              <a:t>阴历月份</a:t>
            </a:r>
            <a:endParaRPr lang="en-US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73000" y="2230087"/>
            <a:ext cx="377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4603" y="2720773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0213" y="3211459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98648" y="3712128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93839" y="4206769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72198" y="4700217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85824" y="5197109"/>
            <a:ext cx="351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87427" y="5682551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pic>
        <p:nvPicPr>
          <p:cNvPr id="2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30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sp>
        <p:nvSpPr>
          <p:cNvPr id="19" name="矩形 18"/>
          <p:cNvSpPr/>
          <p:nvPr/>
        </p:nvSpPr>
        <p:spPr>
          <a:xfrm>
            <a:off x="458796" y="2295968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458309" y="2796762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458309" y="3286001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458309" y="3774347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458309" y="4275783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58309" y="4769301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458309" y="5265694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58309" y="5764104"/>
            <a:ext cx="59591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73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8" grpId="0"/>
      <p:bldP spid="18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0000" y="1133951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F</a:t>
            </a:r>
            <a:r>
              <a:rPr lang="en-US" altLang="zh-CN" sz="2400" spc="-10" dirty="0">
                <a:latin typeface="Cambria" panose="02040503050406030204" pitchFamily="18" charset="0"/>
                <a:ea typeface="Cambria" panose="02040503050406030204" pitchFamily="18" charset="0"/>
              </a:rPr>
              <a:t>ill in each blank with the proper form of t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he given verb, and add a preposition or adverb if necessary.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2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2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31" name="文本框 30"/>
          <p:cNvSpPr txBox="1"/>
          <p:nvPr/>
        </p:nvSpPr>
        <p:spPr>
          <a:xfrm>
            <a:off x="366165" y="2470885"/>
            <a:ext cx="485955" cy="4008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</a:rPr>
              <a:t>1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</a:rPr>
              <a:t>2</a:t>
            </a: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3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4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5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6</a:t>
            </a:r>
            <a:endParaRPr lang="zh-CN" altLang="en-US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0400" y="2470885"/>
            <a:ext cx="8231900" cy="4008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His vocation _____________ (coincide) his avocation.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dirty="0"/>
              <a:t>We all have certain jobs to ________ (carry).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dirty="0"/>
              <a:t>The British job of Lecturer</a:t>
            </a:r>
            <a:r>
              <a:rPr lang="en-US" altLang="zh-CN" sz="2400" spc="-10" dirty="0"/>
              <a:t> roughly </a:t>
            </a:r>
            <a:r>
              <a:rPr lang="en-US" altLang="zh-CN" sz="2400" dirty="0"/>
              <a:t>______________</a:t>
            </a:r>
            <a:r>
              <a:rPr lang="en-US" altLang="zh-CN" sz="2400" spc="-10" dirty="0"/>
              <a:t> (correspond) </a:t>
            </a:r>
            <a:r>
              <a:rPr lang="en-US" altLang="zh-CN" sz="2400" dirty="0"/>
              <a:t>the U.S. job of Associate Professor.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dirty="0"/>
              <a:t>T</a:t>
            </a:r>
            <a:r>
              <a:rPr lang="en-US" altLang="zh-CN" sz="2400" spc="-30" dirty="0"/>
              <a:t>hat area’s future weather pattern might _________</a:t>
            </a:r>
            <a:r>
              <a:rPr lang="en-US" altLang="zh-CN" sz="2400" spc="-20" dirty="0"/>
              <a:t> (consist) long, </a:t>
            </a:r>
            <a:r>
              <a:rPr lang="en-US" altLang="zh-CN" sz="2400" dirty="0"/>
              <a:t>dry periods.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dirty="0"/>
              <a:t>The </a:t>
            </a:r>
            <a:r>
              <a:rPr lang="en-US" altLang="zh-CN" sz="2400" dirty="0" err="1"/>
              <a:t>rumour</a:t>
            </a:r>
            <a:r>
              <a:rPr lang="en-US" altLang="zh-CN" sz="2400" dirty="0"/>
              <a:t> was __________ (trace) to a journalist.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</a:endParaRPr>
          </a:p>
          <a:p>
            <a:r>
              <a:rPr lang="en-US" altLang="zh-CN" sz="2400" dirty="0"/>
              <a:t>Her birthday will ______ (fall) a Friday this year.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2327261" y="2467495"/>
            <a:ext cx="19662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coincides with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080053" y="2985005"/>
            <a:ext cx="1207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carry 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044727" y="3548705"/>
            <a:ext cx="2056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corresponds to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308211" y="2558340"/>
            <a:ext cx="1966244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067964" y="3113315"/>
            <a:ext cx="1219983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4997534" y="3667811"/>
            <a:ext cx="2142265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B10AFF5-5E99-20D6-FB3B-97AE74C80103}"/>
              </a:ext>
            </a:extLst>
          </p:cNvPr>
          <p:cNvSpPr txBox="1"/>
          <p:nvPr/>
        </p:nvSpPr>
        <p:spPr>
          <a:xfrm>
            <a:off x="2781400" y="5419909"/>
            <a:ext cx="16291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traced back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F0666F-E816-7BB2-603A-FDB6E5D5A557}"/>
              </a:ext>
            </a:extLst>
          </p:cNvPr>
          <p:cNvSpPr txBox="1"/>
          <p:nvPr/>
        </p:nvSpPr>
        <p:spPr>
          <a:xfrm>
            <a:off x="2843880" y="5988075"/>
            <a:ext cx="954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fall 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C4D46BD-3E1B-71C2-D6F3-B60BB1695BC0}"/>
              </a:ext>
            </a:extLst>
          </p:cNvPr>
          <p:cNvSpPr txBox="1"/>
          <p:nvPr/>
        </p:nvSpPr>
        <p:spPr>
          <a:xfrm>
            <a:off x="5695505" y="4506682"/>
            <a:ext cx="1371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consist of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C16EDA-01B7-A968-BF37-59B966064C0B}"/>
              </a:ext>
            </a:extLst>
          </p:cNvPr>
          <p:cNvSpPr/>
          <p:nvPr/>
        </p:nvSpPr>
        <p:spPr>
          <a:xfrm>
            <a:off x="2792405" y="5511047"/>
            <a:ext cx="1608570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029812-0064-27AB-526F-E19D8C6F1B63}"/>
              </a:ext>
            </a:extLst>
          </p:cNvPr>
          <p:cNvSpPr/>
          <p:nvPr/>
        </p:nvSpPr>
        <p:spPr>
          <a:xfrm>
            <a:off x="2834679" y="6068548"/>
            <a:ext cx="954168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A42187-F051-A81A-C439-772236B3EA6D}"/>
              </a:ext>
            </a:extLst>
          </p:cNvPr>
          <p:cNvSpPr/>
          <p:nvPr/>
        </p:nvSpPr>
        <p:spPr>
          <a:xfrm>
            <a:off x="5705030" y="4598868"/>
            <a:ext cx="1343715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90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33" grpId="1"/>
      <p:bldP spid="34" grpId="1"/>
      <p:bldP spid="36" grpId="1"/>
      <p:bldP spid="2" grpId="1"/>
      <p:bldP spid="3" grpId="1"/>
      <p:bldP spid="4" grpId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2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9" name="文本框 18"/>
          <p:cNvSpPr txBox="1"/>
          <p:nvPr/>
        </p:nvSpPr>
        <p:spPr>
          <a:xfrm>
            <a:off x="366165" y="1145160"/>
            <a:ext cx="485955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7</a:t>
            </a:r>
          </a:p>
          <a:p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solidFill>
                  <a:srgbClr val="C6383E"/>
                </a:solidFill>
                <a:latin typeface="+mn-lt"/>
                <a:cs typeface="Times New Roman" panose="02020603050405020304" pitchFamily="18" charset="0"/>
              </a:rPr>
              <a:t>8</a:t>
            </a:r>
            <a:endParaRPr lang="zh-CN" altLang="en-US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60400" y="1145160"/>
            <a:ext cx="8231900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</a:t>
            </a:r>
            <a:r>
              <a:rPr lang="en-US" altLang="zh-CN" sz="2400" spc="-40" dirty="0"/>
              <a:t>lectronic technology has also been ________________ (introduce) </a:t>
            </a:r>
            <a:r>
              <a:rPr lang="en-US" altLang="zh-CN" sz="2400" dirty="0"/>
              <a:t>traditional Chinese medicine.</a:t>
            </a:r>
          </a:p>
          <a:p>
            <a:pPr>
              <a:lnSpc>
                <a:spcPts val="1500"/>
              </a:lnSpc>
            </a:pPr>
            <a:endParaRPr lang="en-US" altLang="zh-CN" sz="2400" b="1" dirty="0">
              <a:solidFill>
                <a:srgbClr val="C6383E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altLang="zh-CN" sz="2400" dirty="0"/>
              <a:t>D</a:t>
            </a:r>
            <a:r>
              <a:rPr lang="en-US" altLang="zh-CN" sz="2400" spc="-20" dirty="0"/>
              <a:t>iets are most effective when _____________ (combine) </a:t>
            </a:r>
            <a:r>
              <a:rPr lang="en-US" altLang="zh-CN" sz="2400" spc="-10" dirty="0"/>
              <a:t>exercise.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5004030" y="1125149"/>
            <a:ext cx="24906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introduced to/into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380365" y="2067290"/>
            <a:ext cx="2052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2400" dirty="0">
                <a:solidFill>
                  <a:srgbClr val="FF0000"/>
                </a:solidFill>
              </a:rPr>
              <a:t>combined with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036186" y="1230495"/>
            <a:ext cx="2396964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389889" y="2160465"/>
            <a:ext cx="2024231" cy="30072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821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7" grpId="1"/>
      <p:bldP spid="31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360000" y="1133951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Task 3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Translate the following passage into Chinese.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165" y="2132910"/>
            <a:ext cx="85261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Although the </a:t>
            </a:r>
            <a:r>
              <a:rPr lang="en-US" altLang="zh-CN" sz="2400" i="1" dirty="0"/>
              <a:t>yin-yang</a:t>
            </a:r>
            <a:r>
              <a:rPr lang="en-US" altLang="zh-CN" sz="2400" i="1" spc="10" dirty="0"/>
              <a:t> li</a:t>
            </a:r>
            <a:r>
              <a:rPr lang="en-US" altLang="zh-CN" sz="2400" spc="10" dirty="0"/>
              <a:t> has been continuously employed by the </a:t>
            </a:r>
            <a:r>
              <a:rPr lang="en-US" altLang="zh-CN" sz="2400" dirty="0"/>
              <a:t>C</a:t>
            </a:r>
            <a:r>
              <a:rPr lang="en-US" altLang="zh-CN" sz="2400" spc="30" dirty="0"/>
              <a:t>hinese, foreign</a:t>
            </a:r>
            <a:r>
              <a:rPr lang="en-US" altLang="zh-CN" sz="2400" spc="40" dirty="0"/>
              <a:t> calendars were introduced to the Chinese — the </a:t>
            </a:r>
            <a:r>
              <a:rPr lang="en-US" altLang="zh-CN" sz="2400" dirty="0"/>
              <a:t>Hindu calendar, for instance, during the </a:t>
            </a:r>
            <a:r>
              <a:rPr lang="en-US" altLang="zh-CN" sz="2400" dirty="0" err="1"/>
              <a:t>T’ang</a:t>
            </a:r>
            <a:r>
              <a:rPr lang="en-US" altLang="zh-CN" sz="2400" dirty="0"/>
              <a:t> (Tang) dynasty — and w</a:t>
            </a:r>
            <a:r>
              <a:rPr lang="en-US" altLang="zh-CN" sz="2400" spc="-10" dirty="0"/>
              <a:t>ere once used concurrently with the native calendar. This situ</a:t>
            </a:r>
            <a:r>
              <a:rPr lang="en-US" altLang="zh-CN" sz="2400" dirty="0"/>
              <a:t>ation</a:t>
            </a:r>
            <a:r>
              <a:rPr lang="en-US" altLang="zh-CN" sz="2400" spc="-10" dirty="0"/>
              <a:t> </a:t>
            </a:r>
            <a:r>
              <a:rPr lang="en-US" altLang="zh-CN" sz="2400" dirty="0"/>
              <a:t>a</a:t>
            </a:r>
            <a:r>
              <a:rPr lang="en-US" altLang="zh-CN" sz="2400" spc="-10" dirty="0"/>
              <a:t>lso held true for the Muslim calendar, which was introduced during </a:t>
            </a:r>
            <a:r>
              <a:rPr lang="en-US" altLang="zh-CN" sz="2400" dirty="0"/>
              <a:t>t</a:t>
            </a:r>
            <a:r>
              <a:rPr lang="en-US" altLang="zh-CN" sz="2400" spc="50" dirty="0"/>
              <a:t>he Yuan dynasty. The </a:t>
            </a:r>
            <a:r>
              <a:rPr lang="en-US" altLang="zh-CN" sz="2400" spc="60" dirty="0"/>
              <a:t>Gregorian calendar was taken to China by </a:t>
            </a:r>
            <a:r>
              <a:rPr lang="en-US" altLang="zh-CN" sz="2400" dirty="0"/>
              <a:t>J</a:t>
            </a:r>
            <a:r>
              <a:rPr lang="en-US" altLang="zh-CN" sz="2400" spc="40" dirty="0"/>
              <a:t>esuit missionaries in 1582, the very year that it was first used by </a:t>
            </a:r>
            <a:r>
              <a:rPr lang="en-US" altLang="zh-CN" sz="2400" dirty="0"/>
              <a:t>E</a:t>
            </a:r>
            <a:r>
              <a:rPr lang="en-US" altLang="zh-CN" sz="2400" spc="-30" dirty="0"/>
              <a:t>uropeans. Not until 1912</a:t>
            </a:r>
            <a:r>
              <a:rPr lang="en-US" altLang="zh-CN" sz="2400" spc="-20" dirty="0"/>
              <a:t>, after the Gregorian calendar was officially </a:t>
            </a:r>
            <a:r>
              <a:rPr lang="en-US" altLang="zh-CN" sz="2400" dirty="0"/>
              <a:t>adopted, did the </a:t>
            </a:r>
            <a:r>
              <a:rPr lang="en-US" altLang="zh-CN" sz="2400" i="1" dirty="0"/>
              <a:t>yin-yang li</a:t>
            </a:r>
            <a:r>
              <a:rPr lang="en-US" altLang="zh-CN" sz="2400" dirty="0"/>
              <a:t> lose its primary importance.</a:t>
            </a:r>
            <a:endParaRPr lang="en-US" altLang="zh-CN" sz="2400" b="1" dirty="0">
              <a:solidFill>
                <a:srgbClr val="C6383E"/>
              </a:solidFill>
            </a:endParaRPr>
          </a:p>
        </p:txBody>
      </p:sp>
      <p:pic>
        <p:nvPicPr>
          <p:cNvPr id="29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19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26" name="钥匙2" descr="C:\Users\senj\Desktop\新建文件夹\答案.png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139" y="1592895"/>
            <a:ext cx="324000" cy="324000"/>
          </a:xfrm>
          <a:prstGeom prst="rect">
            <a:avLst/>
          </a:prstGeom>
          <a:noFill/>
        </p:spPr>
      </p:pic>
      <p:grpSp>
        <p:nvGrpSpPr>
          <p:cNvPr id="27" name="组合 26"/>
          <p:cNvGrpSpPr/>
          <p:nvPr/>
        </p:nvGrpSpPr>
        <p:grpSpPr>
          <a:xfrm>
            <a:off x="9461137" y="1132940"/>
            <a:ext cx="9144000" cy="5171599"/>
            <a:chOff x="9461137" y="1132940"/>
            <a:chExt cx="9144000" cy="5171599"/>
          </a:xfrm>
        </p:grpSpPr>
        <p:sp>
          <p:nvSpPr>
            <p:cNvPr id="30" name="矩形 29"/>
            <p:cNvSpPr/>
            <p:nvPr/>
          </p:nvSpPr>
          <p:spPr>
            <a:xfrm>
              <a:off x="9461137" y="1132940"/>
              <a:ext cx="9144000" cy="517159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766987" y="2573445"/>
              <a:ext cx="85323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2400" dirty="0"/>
                <a:t>         虽</a:t>
              </a:r>
              <a:r>
                <a:rPr lang="zh-CN" altLang="en-US" sz="2400" spc="40" dirty="0"/>
                <a:t>然中国人</a:t>
              </a:r>
              <a:r>
                <a:rPr lang="zh-CN" altLang="en-US" sz="2400" spc="40" dirty="0">
                  <a:latin typeface="+mn-ea"/>
                  <a:ea typeface="+mn-ea"/>
                </a:rPr>
                <a:t>一直沿用阴阳历，但外国历法也被引入</a:t>
              </a:r>
              <a:r>
                <a:rPr lang="en-US" altLang="zh-CN" sz="2400" spc="40" dirty="0">
                  <a:latin typeface="+mn-ea"/>
                  <a:ea typeface="+mn-ea"/>
                </a:rPr>
                <a:t>——</a:t>
              </a:r>
              <a:r>
                <a:rPr lang="zh-CN" altLang="en-US" sz="2400" spc="40" dirty="0">
                  <a:latin typeface="+mn-ea"/>
                  <a:ea typeface="+mn-ea"/>
                </a:rPr>
                <a:t>例如，唐朝期间中国引进了印度历法</a:t>
              </a:r>
              <a:r>
                <a:rPr lang="en-US" altLang="zh-CN" sz="2400" spc="40" dirty="0">
                  <a:latin typeface="+mn-ea"/>
                  <a:ea typeface="+mn-ea"/>
                </a:rPr>
                <a:t>——</a:t>
              </a:r>
              <a:r>
                <a:rPr lang="zh-CN" altLang="en-US" sz="2400" spc="40" dirty="0">
                  <a:latin typeface="+mn-ea"/>
                  <a:ea typeface="+mn-ea"/>
                </a:rPr>
                <a:t>并一度与本国历法共同使</a:t>
              </a:r>
              <a:r>
                <a:rPr lang="zh-CN" altLang="en-US" sz="2400" spc="10" dirty="0">
                  <a:latin typeface="+mn-ea"/>
                  <a:ea typeface="+mn-ea"/>
                </a:rPr>
                <a:t>用。类似的情况还有回历，回历</a:t>
              </a:r>
              <a:r>
                <a:rPr lang="zh-CN" altLang="en-US" sz="2400" spc="10" dirty="0"/>
                <a:t>于元朝时传入了中国。</a:t>
              </a:r>
              <a:r>
                <a:rPr lang="en-US" altLang="zh-CN" sz="2400" spc="10" dirty="0"/>
                <a:t>1582</a:t>
              </a:r>
              <a:r>
                <a:rPr lang="zh-CN" altLang="en-US" sz="2400" spc="40" dirty="0"/>
                <a:t>年</a:t>
              </a:r>
              <a:r>
                <a:rPr lang="zh-CN" altLang="en-US" sz="2400" spc="30" dirty="0"/>
                <a:t>，欧洲人首次使用公历，同年，公历被耶稣会传教士引入中</a:t>
              </a:r>
              <a:r>
                <a:rPr lang="zh-CN" altLang="en-US" sz="2400" spc="40" dirty="0"/>
                <a:t>国</a:t>
              </a:r>
              <a:r>
                <a:rPr lang="zh-CN" altLang="en-US" sz="2400" spc="30" dirty="0"/>
                <a:t>。直至</a:t>
              </a:r>
              <a:r>
                <a:rPr lang="en-US" altLang="zh-CN" sz="2400" spc="30" dirty="0"/>
                <a:t>1912</a:t>
              </a:r>
              <a:r>
                <a:rPr lang="zh-CN" altLang="en-US" sz="2400" spc="30" dirty="0"/>
                <a:t>年，公历被正式采用后，阴阳历才失去了其主要</a:t>
              </a:r>
              <a:r>
                <a:rPr lang="zh-CN" altLang="en-US" sz="2400" spc="40" dirty="0"/>
                <a:t>地位。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403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7 L -1.03472 0.000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7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3.7037E-7 L -2.22222E-6 0.25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23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6BF11CE-1243-8FE8-805B-E744CF826ED5}"/>
              </a:ext>
            </a:extLst>
          </p:cNvPr>
          <p:cNvSpPr txBox="1"/>
          <p:nvPr/>
        </p:nvSpPr>
        <p:spPr>
          <a:xfrm>
            <a:off x="360000" y="1133951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L</a:t>
            </a:r>
            <a:r>
              <a:rPr lang="en-US" altLang="zh-CN" sz="2400" spc="40" dirty="0">
                <a:latin typeface="Cambria" panose="02040503050406030204" pitchFamily="18" charset="0"/>
                <a:ea typeface="Cambria" panose="02040503050406030204" pitchFamily="18" charset="0"/>
              </a:rPr>
              <a:t>ook at the following graphic and write the solar terms before </a:t>
            </a:r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the corresponding meanings.</a:t>
            </a:r>
            <a:endParaRPr lang="en-US" altLang="zh-CN" sz="2400" b="1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2AA7E6-A91E-1D0C-502D-DCA97957479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63" t="21653" r="16882" b="47899"/>
          <a:stretch/>
        </p:blipFill>
        <p:spPr>
          <a:xfrm>
            <a:off x="1022934" y="1972931"/>
            <a:ext cx="7098133" cy="437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42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908F946-66B0-7C30-E58A-2F61ED7E70A3}"/>
              </a:ext>
            </a:extLst>
          </p:cNvPr>
          <p:cNvSpPr txBox="1"/>
          <p:nvPr/>
        </p:nvSpPr>
        <p:spPr>
          <a:xfrm>
            <a:off x="366165" y="1133951"/>
            <a:ext cx="3125760" cy="555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C0630C-0DCC-62E9-503E-0A024D8D6C24}"/>
              </a:ext>
            </a:extLst>
          </p:cNvPr>
          <p:cNvSpPr txBox="1"/>
          <p:nvPr/>
        </p:nvSpPr>
        <p:spPr>
          <a:xfrm>
            <a:off x="3503174" y="1133951"/>
            <a:ext cx="5389125" cy="50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Spring begins.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Summer begins.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Autumn begins.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Winter begins.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It begins to rain.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It begins to snow.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It snows heavily.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Rainfall is helpful to grain.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Hibernating animals come to sense.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It is warm and bright.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6CED76-FB2D-A2C9-320B-D2B38532E11B}"/>
              </a:ext>
            </a:extLst>
          </p:cNvPr>
          <p:cNvSpPr txBox="1"/>
          <p:nvPr/>
        </p:nvSpPr>
        <p:spPr>
          <a:xfrm>
            <a:off x="612070" y="1180511"/>
            <a:ext cx="2601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Beginning of Spring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E6E1CA-A6A8-0425-2452-D6265B723C72}"/>
              </a:ext>
            </a:extLst>
          </p:cNvPr>
          <p:cNvSpPr txBox="1"/>
          <p:nvPr/>
        </p:nvSpPr>
        <p:spPr>
          <a:xfrm>
            <a:off x="478219" y="1671197"/>
            <a:ext cx="28696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Beginning of Summer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16AC9C-A131-A895-4BB1-172B43115EAE}"/>
              </a:ext>
            </a:extLst>
          </p:cNvPr>
          <p:cNvSpPr txBox="1"/>
          <p:nvPr/>
        </p:nvSpPr>
        <p:spPr>
          <a:xfrm>
            <a:off x="499860" y="2161883"/>
            <a:ext cx="2826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Beginning of Autumn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2CCC61-2586-11E3-5EA5-DF69F8F8E8BA}"/>
              </a:ext>
            </a:extLst>
          </p:cNvPr>
          <p:cNvSpPr txBox="1"/>
          <p:nvPr/>
        </p:nvSpPr>
        <p:spPr>
          <a:xfrm>
            <a:off x="573502" y="2662552"/>
            <a:ext cx="2679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Beginning of Winter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6BA396-5EC1-DCC0-DB0C-FFDE74943145}"/>
              </a:ext>
            </a:extLst>
          </p:cNvPr>
          <p:cNvSpPr txBox="1"/>
          <p:nvPr/>
        </p:nvSpPr>
        <p:spPr>
          <a:xfrm>
            <a:off x="1128654" y="3201567"/>
            <a:ext cx="1568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Rain Water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5DEED-1D48-D93D-C3DD-E6CE7A1EA27C}"/>
              </a:ext>
            </a:extLst>
          </p:cNvPr>
          <p:cNvSpPr txBox="1"/>
          <p:nvPr/>
        </p:nvSpPr>
        <p:spPr>
          <a:xfrm>
            <a:off x="1051902" y="3704068"/>
            <a:ext cx="1722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Lesser Snow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A864DE-D260-3947-2CE3-B03FD684E870}"/>
              </a:ext>
            </a:extLst>
          </p:cNvPr>
          <p:cNvSpPr txBox="1"/>
          <p:nvPr/>
        </p:nvSpPr>
        <p:spPr>
          <a:xfrm>
            <a:off x="966462" y="4200960"/>
            <a:ext cx="1893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Greater Snow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30450B-7F00-576F-D8E9-483533E070C4}"/>
              </a:ext>
            </a:extLst>
          </p:cNvPr>
          <p:cNvSpPr txBox="1"/>
          <p:nvPr/>
        </p:nvSpPr>
        <p:spPr>
          <a:xfrm>
            <a:off x="1175461" y="4686402"/>
            <a:ext cx="1475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Grain Rain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DDB2BF-F1A3-3381-8E50-F405E670DBFF}"/>
              </a:ext>
            </a:extLst>
          </p:cNvPr>
          <p:cNvSpPr/>
          <p:nvPr/>
        </p:nvSpPr>
        <p:spPr>
          <a:xfrm>
            <a:off x="478706" y="1194722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A1588B-4224-77E1-52A9-0B4CA7E2F802}"/>
              </a:ext>
            </a:extLst>
          </p:cNvPr>
          <p:cNvSpPr/>
          <p:nvPr/>
        </p:nvSpPr>
        <p:spPr>
          <a:xfrm>
            <a:off x="478219" y="1690288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C88520-8726-7502-506C-1E498F183A61}"/>
              </a:ext>
            </a:extLst>
          </p:cNvPr>
          <p:cNvSpPr/>
          <p:nvPr/>
        </p:nvSpPr>
        <p:spPr>
          <a:xfrm>
            <a:off x="478219" y="2185854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C8D70A-196F-748F-4C6B-51E7599D3534}"/>
              </a:ext>
            </a:extLst>
          </p:cNvPr>
          <p:cNvSpPr/>
          <p:nvPr/>
        </p:nvSpPr>
        <p:spPr>
          <a:xfrm>
            <a:off x="478219" y="2681420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F2C3F1-F6FC-42A3-3F09-8DA59A189134}"/>
              </a:ext>
            </a:extLst>
          </p:cNvPr>
          <p:cNvSpPr/>
          <p:nvPr/>
        </p:nvSpPr>
        <p:spPr>
          <a:xfrm>
            <a:off x="478219" y="3176986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BB4F6C-DD0A-53FD-5135-254536A35D8F}"/>
              </a:ext>
            </a:extLst>
          </p:cNvPr>
          <p:cNvSpPr/>
          <p:nvPr/>
        </p:nvSpPr>
        <p:spPr>
          <a:xfrm>
            <a:off x="478219" y="3672552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9840B0-BE8A-48B3-0480-48F3A3F0929F}"/>
              </a:ext>
            </a:extLst>
          </p:cNvPr>
          <p:cNvSpPr/>
          <p:nvPr/>
        </p:nvSpPr>
        <p:spPr>
          <a:xfrm>
            <a:off x="478219" y="4168118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9BF58D-4044-5122-726E-BD2B98D7BA4F}"/>
              </a:ext>
            </a:extLst>
          </p:cNvPr>
          <p:cNvSpPr/>
          <p:nvPr/>
        </p:nvSpPr>
        <p:spPr>
          <a:xfrm>
            <a:off x="478219" y="4663684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C2C9E870-3D48-4D11-0541-DC9AC10B7A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54DB7CB0-0DF6-587E-8309-84424DB941EE}"/>
              </a:ext>
            </a:extLst>
          </p:cNvPr>
          <p:cNvSpPr txBox="1"/>
          <p:nvPr/>
        </p:nvSpPr>
        <p:spPr>
          <a:xfrm>
            <a:off x="727197" y="5145058"/>
            <a:ext cx="2371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Waking of Insects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A57ABBE-5D70-E5A1-84B8-05D86788C9E6}"/>
              </a:ext>
            </a:extLst>
          </p:cNvPr>
          <p:cNvSpPr txBox="1"/>
          <p:nvPr/>
        </p:nvSpPr>
        <p:spPr>
          <a:xfrm>
            <a:off x="843960" y="5640025"/>
            <a:ext cx="21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Pure Brightness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BA74B0-B409-8BCF-4E7F-A4D383BC6274}"/>
              </a:ext>
            </a:extLst>
          </p:cNvPr>
          <p:cNvSpPr/>
          <p:nvPr/>
        </p:nvSpPr>
        <p:spPr>
          <a:xfrm>
            <a:off x="478219" y="5159250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4B25D8-D27B-AA37-CEF3-FB4697D4C15A}"/>
              </a:ext>
            </a:extLst>
          </p:cNvPr>
          <p:cNvSpPr/>
          <p:nvPr/>
        </p:nvSpPr>
        <p:spPr>
          <a:xfrm>
            <a:off x="478219" y="5654820"/>
            <a:ext cx="2869696" cy="40605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40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  <p:bldLst>
      <p:bldP spid="5" grpId="1"/>
      <p:bldP spid="6" grpId="1"/>
      <p:bldP spid="7" grpId="1"/>
      <p:bldP spid="8" grpId="1"/>
      <p:bldP spid="9" grpId="1"/>
      <p:bldP spid="10" grpId="1"/>
      <p:bldP spid="11" grpId="1"/>
      <p:bldP spid="12" grpId="1"/>
      <p:bldP spid="28" grpId="1"/>
      <p:bldP spid="29" grpId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9C0630C-0DCC-62E9-503E-0A024D8D6C24}"/>
              </a:ext>
            </a:extLst>
          </p:cNvPr>
          <p:cNvSpPr txBox="1"/>
          <p:nvPr/>
        </p:nvSpPr>
        <p:spPr>
          <a:xfrm>
            <a:off x="3503174" y="1133951"/>
            <a:ext cx="5389125" cy="50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It is rather cold.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Kernels plump.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Wheat grows ripe.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Torridity comes.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Heat hides.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Dew curdles.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Dew is very cold.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The mid of autumn.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Frost descends.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It is the hottest moment of a year.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08F946-66B0-7C30-E58A-2F61ED7E70A3}"/>
              </a:ext>
            </a:extLst>
          </p:cNvPr>
          <p:cNvSpPr txBox="1"/>
          <p:nvPr/>
        </p:nvSpPr>
        <p:spPr>
          <a:xfrm>
            <a:off x="366165" y="1133951"/>
            <a:ext cx="3125760" cy="50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6CED76-FB2D-A2C9-320B-D2B38532E11B}"/>
              </a:ext>
            </a:extLst>
          </p:cNvPr>
          <p:cNvSpPr txBox="1"/>
          <p:nvPr/>
        </p:nvSpPr>
        <p:spPr>
          <a:xfrm>
            <a:off x="1093654" y="1221109"/>
            <a:ext cx="1596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Lesser Cold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E6E1CA-A6A8-0425-2452-D6265B723C72}"/>
              </a:ext>
            </a:extLst>
          </p:cNvPr>
          <p:cNvSpPr txBox="1"/>
          <p:nvPr/>
        </p:nvSpPr>
        <p:spPr>
          <a:xfrm>
            <a:off x="414719" y="1716091"/>
            <a:ext cx="29547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spc="-50" dirty="0">
                <a:solidFill>
                  <a:srgbClr val="FF0000"/>
                </a:solidFill>
              </a:rPr>
              <a:t>Lesser Fullness of Grain</a:t>
            </a:r>
            <a:endParaRPr lang="zh-CN" altLang="en-US" sz="2400" spc="-5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16AC9C-A131-A895-4BB1-172B43115EAE}"/>
              </a:ext>
            </a:extLst>
          </p:cNvPr>
          <p:cNvSpPr txBox="1"/>
          <p:nvPr/>
        </p:nvSpPr>
        <p:spPr>
          <a:xfrm>
            <a:off x="910559" y="2211073"/>
            <a:ext cx="1963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Grain in Beard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2CCC61-2586-11E3-5EA5-DF69F8F8E8BA}"/>
              </a:ext>
            </a:extLst>
          </p:cNvPr>
          <p:cNvSpPr txBox="1"/>
          <p:nvPr/>
        </p:nvSpPr>
        <p:spPr>
          <a:xfrm>
            <a:off x="1075861" y="2706055"/>
            <a:ext cx="163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Lesser Heat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6BA396-5EC1-DCC0-DB0C-FFDE74943145}"/>
              </a:ext>
            </a:extLst>
          </p:cNvPr>
          <p:cNvSpPr txBox="1"/>
          <p:nvPr/>
        </p:nvSpPr>
        <p:spPr>
          <a:xfrm>
            <a:off x="1068647" y="3203932"/>
            <a:ext cx="16469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End of Heat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D5DEED-1D48-D93D-C3DD-E6CE7A1EA27C}"/>
              </a:ext>
            </a:extLst>
          </p:cNvPr>
          <p:cNvSpPr txBox="1"/>
          <p:nvPr/>
        </p:nvSpPr>
        <p:spPr>
          <a:xfrm>
            <a:off x="1104875" y="3698914"/>
            <a:ext cx="1574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White Dew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7A864DE-D260-3947-2CE3-B03FD684E870}"/>
              </a:ext>
            </a:extLst>
          </p:cNvPr>
          <p:cNvSpPr txBox="1"/>
          <p:nvPr/>
        </p:nvSpPr>
        <p:spPr>
          <a:xfrm>
            <a:off x="1205800" y="4193896"/>
            <a:ext cx="13726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Cold Dew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30450B-7F00-576F-D8E9-483533E070C4}"/>
              </a:ext>
            </a:extLst>
          </p:cNvPr>
          <p:cNvSpPr txBox="1"/>
          <p:nvPr/>
        </p:nvSpPr>
        <p:spPr>
          <a:xfrm>
            <a:off x="763884" y="4632975"/>
            <a:ext cx="2256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Autumn Equinox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DDB2BF-F1A3-3381-8E50-F405E670DBFF}"/>
              </a:ext>
            </a:extLst>
          </p:cNvPr>
          <p:cNvSpPr/>
          <p:nvPr/>
        </p:nvSpPr>
        <p:spPr>
          <a:xfrm>
            <a:off x="414719" y="1174429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A1588B-4224-77E1-52A9-0B4CA7E2F802}"/>
              </a:ext>
            </a:extLst>
          </p:cNvPr>
          <p:cNvSpPr/>
          <p:nvPr/>
        </p:nvSpPr>
        <p:spPr>
          <a:xfrm>
            <a:off x="414719" y="1669995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C88520-8726-7502-506C-1E498F183A61}"/>
              </a:ext>
            </a:extLst>
          </p:cNvPr>
          <p:cNvSpPr/>
          <p:nvPr/>
        </p:nvSpPr>
        <p:spPr>
          <a:xfrm>
            <a:off x="414719" y="2165561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C8D70A-196F-748F-4C6B-51E7599D3534}"/>
              </a:ext>
            </a:extLst>
          </p:cNvPr>
          <p:cNvSpPr/>
          <p:nvPr/>
        </p:nvSpPr>
        <p:spPr>
          <a:xfrm>
            <a:off x="414719" y="2661127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F2C3F1-F6FC-42A3-3F09-8DA59A189134}"/>
              </a:ext>
            </a:extLst>
          </p:cNvPr>
          <p:cNvSpPr/>
          <p:nvPr/>
        </p:nvSpPr>
        <p:spPr>
          <a:xfrm>
            <a:off x="414719" y="3156693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BB4F6C-DD0A-53FD-5135-254536A35D8F}"/>
              </a:ext>
            </a:extLst>
          </p:cNvPr>
          <p:cNvSpPr/>
          <p:nvPr/>
        </p:nvSpPr>
        <p:spPr>
          <a:xfrm>
            <a:off x="414719" y="3652259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9840B0-BE8A-48B3-0480-48F3A3F0929F}"/>
              </a:ext>
            </a:extLst>
          </p:cNvPr>
          <p:cNvSpPr/>
          <p:nvPr/>
        </p:nvSpPr>
        <p:spPr>
          <a:xfrm>
            <a:off x="414719" y="4147825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9BF58D-4044-5122-726E-BD2B98D7BA4F}"/>
              </a:ext>
            </a:extLst>
          </p:cNvPr>
          <p:cNvSpPr/>
          <p:nvPr/>
        </p:nvSpPr>
        <p:spPr>
          <a:xfrm>
            <a:off x="414719" y="4643391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4289A37-68DF-1BC8-FBAC-EB3A4F983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25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77CE649-B026-B2C2-0CAC-A79DAD116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D68F76D-940D-9EEA-D2B9-FC9B8C171D6F}"/>
              </a:ext>
            </a:extLst>
          </p:cNvPr>
          <p:cNvSpPr txBox="1"/>
          <p:nvPr/>
        </p:nvSpPr>
        <p:spPr>
          <a:xfrm>
            <a:off x="854101" y="5183630"/>
            <a:ext cx="2076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Frost’s Descent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55E202C-ECBA-F1BB-140A-81AAB41A8FC5}"/>
              </a:ext>
            </a:extLst>
          </p:cNvPr>
          <p:cNvSpPr txBox="1"/>
          <p:nvPr/>
        </p:nvSpPr>
        <p:spPr>
          <a:xfrm>
            <a:off x="990421" y="5678125"/>
            <a:ext cx="1803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Greater Heat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C5745D8-55BA-34D0-82A2-F1C642232941}"/>
              </a:ext>
            </a:extLst>
          </p:cNvPr>
          <p:cNvSpPr/>
          <p:nvPr/>
        </p:nvSpPr>
        <p:spPr>
          <a:xfrm>
            <a:off x="414719" y="5138957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F4F3B4C-1C5E-8C53-DBFC-FEC84834C6CA}"/>
              </a:ext>
            </a:extLst>
          </p:cNvPr>
          <p:cNvSpPr/>
          <p:nvPr/>
        </p:nvSpPr>
        <p:spPr>
          <a:xfrm>
            <a:off x="414719" y="5634527"/>
            <a:ext cx="2954782" cy="4263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11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5" grpId="1"/>
      <p:bldP spid="6" grpId="1"/>
      <p:bldP spid="7" grpId="1"/>
      <p:bldP spid="8" grpId="1"/>
      <p:bldP spid="9" grpId="1"/>
      <p:bldP spid="10" grpId="1"/>
      <p:bldP spid="11" grpId="1"/>
      <p:bldP spid="12" grpId="1"/>
      <p:bldP spid="31" grpId="1"/>
      <p:bldP spid="32" grpId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pic>
        <p:nvPicPr>
          <p:cNvPr id="22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908F946-66B0-7C30-E58A-2F61ED7E70A3}"/>
              </a:ext>
            </a:extLst>
          </p:cNvPr>
          <p:cNvSpPr txBox="1"/>
          <p:nvPr/>
        </p:nvSpPr>
        <p:spPr>
          <a:xfrm>
            <a:off x="366165" y="1133951"/>
            <a:ext cx="3125760" cy="30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endParaRPr lang="en-US" altLang="zh-CN" sz="2400" dirty="0"/>
          </a:p>
          <a:p>
            <a:pPr>
              <a:lnSpc>
                <a:spcPts val="3880"/>
              </a:lnSpc>
            </a:pPr>
            <a:r>
              <a:rPr lang="en-US" altLang="zh-CN" sz="2400" dirty="0"/>
              <a:t>___________________:</a:t>
            </a:r>
            <a:endParaRPr lang="en-US" altLang="zh-CN" sz="2400" b="1" dirty="0">
              <a:solidFill>
                <a:srgbClr val="C6383E"/>
              </a:solidFill>
            </a:endParaRPr>
          </a:p>
          <a:p>
            <a:pPr>
              <a:lnSpc>
                <a:spcPts val="3880"/>
              </a:lnSpc>
            </a:pPr>
            <a:endParaRPr lang="en-US" altLang="zh-CN" sz="2400" b="1" dirty="0">
              <a:solidFill>
                <a:srgbClr val="C6383E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C0630C-0DCC-62E9-503E-0A024D8D6C24}"/>
              </a:ext>
            </a:extLst>
          </p:cNvPr>
          <p:cNvSpPr txBox="1"/>
          <p:nvPr/>
        </p:nvSpPr>
        <p:spPr>
          <a:xfrm>
            <a:off x="3503174" y="1133951"/>
            <a:ext cx="5389125" cy="30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80"/>
              </a:lnSpc>
            </a:pPr>
            <a:r>
              <a:rPr lang="en-US" altLang="zh-CN" sz="2400" dirty="0"/>
              <a:t>It is the coldest moment of a year.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Day and night are equally long.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</a:t>
            </a:r>
            <a:r>
              <a:rPr lang="en-US" altLang="zh-CN" sz="2400" spc="-30" dirty="0"/>
              <a:t>t has </a:t>
            </a:r>
            <a:r>
              <a:rPr lang="en-US" altLang="zh-CN" sz="2400" spc="-20" dirty="0"/>
              <a:t>the longest daytime and the shortest </a:t>
            </a:r>
            <a:r>
              <a:rPr lang="en-US" altLang="zh-CN" sz="2400" dirty="0"/>
              <a:t>night of a year.</a:t>
            </a:r>
          </a:p>
          <a:p>
            <a:pPr>
              <a:lnSpc>
                <a:spcPts val="3880"/>
              </a:lnSpc>
            </a:pPr>
            <a:r>
              <a:rPr lang="en-US" altLang="zh-CN" sz="2400" dirty="0"/>
              <a:t>I</a:t>
            </a:r>
            <a:r>
              <a:rPr lang="en-US" altLang="zh-CN" sz="2400" spc="-20" dirty="0"/>
              <a:t>t has the shortest daytime and the</a:t>
            </a:r>
            <a:r>
              <a:rPr lang="en-US" altLang="zh-CN" sz="2400" spc="-30" dirty="0"/>
              <a:t> longest </a:t>
            </a:r>
            <a:r>
              <a:rPr lang="en-US" altLang="zh-CN" sz="2400" dirty="0"/>
              <a:t>night of a year.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6CED76-FB2D-A2C9-320B-D2B38532E11B}"/>
              </a:ext>
            </a:extLst>
          </p:cNvPr>
          <p:cNvSpPr txBox="1"/>
          <p:nvPr/>
        </p:nvSpPr>
        <p:spPr>
          <a:xfrm>
            <a:off x="1007530" y="1221109"/>
            <a:ext cx="17677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Greater Cold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E6E1CA-A6A8-0425-2452-D6265B723C72}"/>
              </a:ext>
            </a:extLst>
          </p:cNvPr>
          <p:cNvSpPr txBox="1"/>
          <p:nvPr/>
        </p:nvSpPr>
        <p:spPr>
          <a:xfrm>
            <a:off x="852606" y="1671197"/>
            <a:ext cx="2077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Spring Equinox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16AC9C-A131-A895-4BB1-172B43115EAE}"/>
              </a:ext>
            </a:extLst>
          </p:cNvPr>
          <p:cNvSpPr txBox="1"/>
          <p:nvPr/>
        </p:nvSpPr>
        <p:spPr>
          <a:xfrm>
            <a:off x="763682" y="2204915"/>
            <a:ext cx="2255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Summer Solstice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6BA396-5EC1-DCC0-DB0C-FFDE74943145}"/>
              </a:ext>
            </a:extLst>
          </p:cNvPr>
          <p:cNvSpPr txBox="1"/>
          <p:nvPr/>
        </p:nvSpPr>
        <p:spPr>
          <a:xfrm>
            <a:off x="858964" y="3200225"/>
            <a:ext cx="2064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Winter Solstice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DDB2BF-F1A3-3381-8E50-F405E670DBFF}"/>
              </a:ext>
            </a:extLst>
          </p:cNvPr>
          <p:cNvSpPr/>
          <p:nvPr/>
        </p:nvSpPr>
        <p:spPr>
          <a:xfrm>
            <a:off x="421589" y="1231038"/>
            <a:ext cx="2926326" cy="3697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A1588B-4224-77E1-52A9-0B4CA7E2F802}"/>
              </a:ext>
            </a:extLst>
          </p:cNvPr>
          <p:cNvSpPr/>
          <p:nvPr/>
        </p:nvSpPr>
        <p:spPr>
          <a:xfrm>
            <a:off x="437981" y="1729927"/>
            <a:ext cx="2926326" cy="3697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C88520-8726-7502-506C-1E498F183A61}"/>
              </a:ext>
            </a:extLst>
          </p:cNvPr>
          <p:cNvSpPr/>
          <p:nvPr/>
        </p:nvSpPr>
        <p:spPr>
          <a:xfrm>
            <a:off x="437981" y="2220058"/>
            <a:ext cx="2926326" cy="3697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F2C3F1-F6FC-42A3-3F09-8DA59A189134}"/>
              </a:ext>
            </a:extLst>
          </p:cNvPr>
          <p:cNvSpPr/>
          <p:nvPr/>
        </p:nvSpPr>
        <p:spPr>
          <a:xfrm>
            <a:off x="437981" y="3213273"/>
            <a:ext cx="2926326" cy="36973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45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5" grpId="1"/>
      <p:bldP spid="6" grpId="1"/>
      <p:bldP spid="7" grpId="1"/>
      <p:bldP spid="9" grpId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60000" y="1144140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Read the following passage and finish </a:t>
            </a:r>
            <a:r>
              <a:rPr lang="en-US" altLang="zh-CN" sz="2400">
                <a:latin typeface="Cambria" panose="02040503050406030204" pitchFamily="18" charset="0"/>
                <a:ea typeface="Cambria" panose="02040503050406030204" pitchFamily="18" charset="0"/>
              </a:rPr>
              <a:t>the exercises.</a:t>
            </a:r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0000" y="1875645"/>
            <a:ext cx="85323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 dirty="0"/>
              <a:t>Confidence in Chinese Culture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     </a:t>
            </a:r>
            <a:r>
              <a:rPr lang="en-US" altLang="zh-CN" sz="2400" spc="-40" dirty="0"/>
              <a:t>I hope we all have full confidence in our culture and work to lift our</a:t>
            </a:r>
            <a:r>
              <a:rPr lang="en-US" altLang="zh-CN" sz="2400" dirty="0"/>
              <a:t> </a:t>
            </a:r>
            <a:r>
              <a:rPr lang="en-US" altLang="zh-CN" sz="2400" spc="-10" dirty="0"/>
              <a:t>national spirit with literary and art works. The realization of national</a:t>
            </a:r>
            <a:r>
              <a:rPr lang="en-US" altLang="zh-CN" sz="2400" dirty="0"/>
              <a:t> </a:t>
            </a:r>
            <a:r>
              <a:rPr lang="en-US" altLang="zh-CN" sz="2400" spc="30" dirty="0"/>
              <a:t>rejuvenation requires us to have confidence in the path, theories, </a:t>
            </a:r>
            <a:r>
              <a:rPr lang="en-US" altLang="zh-CN" sz="2400" spc="-10" dirty="0"/>
              <a:t>system and culture of socialism with Chinese characteristics. A good</a:t>
            </a:r>
            <a:r>
              <a:rPr lang="en-US" altLang="zh-CN" sz="2400" dirty="0"/>
              <a:t> understanding of and strong confidence in China’s profound culture </a:t>
            </a:r>
            <a:r>
              <a:rPr lang="en-US" altLang="zh-CN" sz="2400" spc="-20" dirty="0"/>
              <a:t>are the prerequisites for the creation of excellent works with distinct</a:t>
            </a:r>
            <a:r>
              <a:rPr lang="en-US" altLang="zh-CN" sz="2400" dirty="0"/>
              <a:t> </a:t>
            </a:r>
            <a:r>
              <a:rPr lang="en-US" altLang="zh-CN" sz="2400" spc="-40" dirty="0"/>
              <a:t>national features and unique personal style. Writers and artists should</a:t>
            </a:r>
            <a:r>
              <a:rPr lang="en-US" altLang="zh-CN" sz="2400" dirty="0"/>
              <a:t> </a:t>
            </a:r>
            <a:r>
              <a:rPr lang="en-US" altLang="zh-CN" sz="2400" spc="-20" dirty="0"/>
              <a:t>excel in learning from the best of the country’s cultural heritage, and</a:t>
            </a:r>
            <a:r>
              <a:rPr lang="en-US" altLang="zh-CN" sz="2400" dirty="0"/>
              <a:t> </a:t>
            </a:r>
            <a:r>
              <a:rPr lang="en-US" altLang="zh-CN" sz="2400" spc="-90" dirty="0"/>
              <a:t>siphon energy from it. They should have full confidence in the aspirations, </a:t>
            </a:r>
            <a:r>
              <a:rPr lang="en-US" altLang="zh-CN" sz="2400" spc="-30" dirty="0"/>
              <a:t>values, vitality and creativity of their own culture, and produce works</a:t>
            </a:r>
            <a:r>
              <a:rPr lang="en-US" altLang="zh-CN" sz="2400" dirty="0"/>
              <a:t> </a:t>
            </a:r>
            <a:r>
              <a:rPr lang="en-US" altLang="zh-CN" sz="2400" spc="-40" dirty="0"/>
              <a:t>of art that give strength to the Chinese people on their march towards</a:t>
            </a:r>
            <a:r>
              <a:rPr lang="en-US" altLang="zh-CN" sz="2400" dirty="0"/>
              <a:t> the future.</a:t>
            </a:r>
          </a:p>
        </p:txBody>
      </p:sp>
      <p:pic>
        <p:nvPicPr>
          <p:cNvPr id="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0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702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0000" y="1146045"/>
            <a:ext cx="8532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     </a:t>
            </a:r>
            <a:r>
              <a:rPr lang="en-US" altLang="zh-CN" sz="2400" spc="-50" dirty="0"/>
              <a:t>Culture is the soul of both a country and a nation. History and reality</a:t>
            </a:r>
            <a:r>
              <a:rPr lang="en-US" altLang="zh-CN" sz="2400" dirty="0"/>
              <a:t> </a:t>
            </a:r>
            <a:r>
              <a:rPr lang="en-US" altLang="zh-CN" sz="2400" spc="-20" dirty="0"/>
              <a:t>have proven that a nation which abandons or betrays its own history</a:t>
            </a:r>
            <a:r>
              <a:rPr lang="en-US" altLang="zh-CN" sz="2400" dirty="0"/>
              <a:t> </a:t>
            </a:r>
            <a:r>
              <a:rPr lang="en-US" altLang="zh-CN" sz="2400" spc="-30" dirty="0"/>
              <a:t>and culture cannot prosper, and is likely to end in tragedy. Confidence</a:t>
            </a:r>
            <a:r>
              <a:rPr lang="en-US" altLang="zh-CN" sz="2400" dirty="0"/>
              <a:t> </a:t>
            </a:r>
            <a:r>
              <a:rPr lang="en-US" altLang="zh-CN" sz="2400" spc="-30" dirty="0"/>
              <a:t>in culture is basic, deep-rooted, and reaches far and wide; it is a force</a:t>
            </a:r>
            <a:r>
              <a:rPr lang="en-US" altLang="zh-CN" sz="2400" dirty="0"/>
              <a:t> </a:t>
            </a:r>
            <a:r>
              <a:rPr lang="en-US" altLang="zh-CN" sz="2400" spc="-50" dirty="0"/>
              <a:t>that is more fundamental, stable and persistent. Increasing confidence</a:t>
            </a:r>
            <a:r>
              <a:rPr lang="en-US" altLang="zh-CN" sz="2400" dirty="0"/>
              <a:t> </a:t>
            </a:r>
            <a:r>
              <a:rPr lang="en-US" altLang="zh-CN" sz="2400" spc="10" dirty="0"/>
              <a:t>in our own culture is critical to the prospects of our country, to our </a:t>
            </a:r>
            <a:r>
              <a:rPr lang="en-US" altLang="zh-CN" sz="2400" spc="-10" dirty="0"/>
              <a:t>cultural security, and to the independence of our national character. </a:t>
            </a:r>
            <a:r>
              <a:rPr lang="en-US" altLang="zh-CN" sz="2400" dirty="0"/>
              <a:t>Without confidence in culture, there is no way to create works that are hard-hitting, unique and charming.</a:t>
            </a:r>
          </a:p>
          <a:p>
            <a:pPr algn="di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     </a:t>
            </a:r>
            <a:r>
              <a:rPr lang="en-US" altLang="zh-CN" sz="2400" spc="10" dirty="0"/>
              <a:t>Human history tells us that all nations across the globe, without </a:t>
            </a:r>
            <a:r>
              <a:rPr lang="en-US" altLang="zh-CN" sz="2400" spc="30" dirty="0"/>
              <a:t>exception, are deeply influenced by excellent art and literature as </a:t>
            </a:r>
            <a:r>
              <a:rPr lang="en-US" altLang="zh-CN" sz="2400" dirty="0"/>
              <a:t>well as by gifted writers and artists in each and every phase of their </a:t>
            </a:r>
            <a:r>
              <a:rPr lang="en-US" altLang="zh-CN" sz="2400" spc="-10" dirty="0"/>
              <a:t>historical development. The spirit of the Chinese nation is embodied</a:t>
            </a:r>
            <a:r>
              <a:rPr lang="en-US" altLang="zh-CN" sz="2400" dirty="0"/>
              <a:t> in the striving of the Chinese people and their achievements, in the</a:t>
            </a:r>
          </a:p>
        </p:txBody>
      </p:sp>
    </p:spTree>
    <p:extLst>
      <p:ext uri="{BB962C8B-B14F-4D97-AF65-F5344CB8AC3E}">
        <p14:creationId xmlns:p14="http://schemas.microsoft.com/office/powerpoint/2010/main" val="71929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0000" y="1146045"/>
            <a:ext cx="85323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30" dirty="0"/>
              <a:t>cultural life of the Chinese people, in all the marvelous works created</a:t>
            </a:r>
            <a:r>
              <a:rPr lang="en-US" altLang="zh-CN" sz="2400" dirty="0"/>
              <a:t> </a:t>
            </a:r>
            <a:r>
              <a:rPr lang="en-US" altLang="zh-CN" sz="2400" spc="-50" dirty="0"/>
              <a:t>by the Chinese nation over thousands of years, and also in the fantastic</a:t>
            </a:r>
            <a:r>
              <a:rPr lang="en-US" altLang="zh-CN" sz="2400" dirty="0"/>
              <a:t> creative activities of all Chinese writers and artists.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(</a:t>
            </a:r>
            <a:r>
              <a:rPr lang="en-US" altLang="zh-CN" sz="2400" i="1" dirty="0"/>
              <a:t>Xi Jinping: The Governance of China</a:t>
            </a:r>
            <a:r>
              <a:rPr lang="en-US" altLang="zh-CN" sz="2400" dirty="0"/>
              <a:t>, Volume Two: 378-381)</a:t>
            </a:r>
          </a:p>
        </p:txBody>
      </p:sp>
    </p:spTree>
    <p:extLst>
      <p:ext uri="{BB962C8B-B14F-4D97-AF65-F5344CB8AC3E}">
        <p14:creationId xmlns:p14="http://schemas.microsoft.com/office/powerpoint/2010/main" val="314247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6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0000" y="1133951"/>
            <a:ext cx="8532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C6383E"/>
                </a:solidFill>
              </a:rPr>
              <a:t>Task 1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spc="-70" dirty="0">
                <a:latin typeface="Cambria" panose="02040503050406030204" pitchFamily="18" charset="0"/>
                <a:ea typeface="Cambria" panose="02040503050406030204" pitchFamily="18" charset="0"/>
              </a:rPr>
              <a:t>Match the terms in the passage with the correct Chinese translations.</a:t>
            </a:r>
          </a:p>
          <a:p>
            <a:pPr algn="just"/>
            <a:endParaRPr lang="en-US" altLang="zh-CN" sz="2400" b="1" spc="-10" dirty="0">
              <a:solidFill>
                <a:srgbClr val="C6383E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实现中华民族伟大复兴</a:t>
            </a:r>
            <a:endParaRPr lang="en-US" altLang="zh-CN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______________________________________________________</a:t>
            </a:r>
            <a:endParaRPr lang="zh-CN" altLang="en-US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altLang="zh-CN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文化自信</a:t>
            </a:r>
            <a:endParaRPr lang="en-US" altLang="zh-CN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______________________________________________________</a:t>
            </a:r>
            <a:endParaRPr lang="zh-CN" altLang="en-US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altLang="zh-CN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民族精神独立性</a:t>
            </a:r>
            <a:endParaRPr lang="en-US" altLang="zh-CN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/>
              <a:t>______________________________________________________</a:t>
            </a:r>
            <a:endParaRPr lang="zh-CN" altLang="en-US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altLang="zh-CN" sz="2400" dirty="0"/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/>
              <a:t>中华民族精神</a:t>
            </a:r>
          </a:p>
          <a:p>
            <a:pPr algn="just"/>
            <a:r>
              <a:rPr lang="en-US" altLang="zh-CN" sz="2400" dirty="0"/>
              <a:t>______________</a:t>
            </a:r>
            <a:r>
              <a:rPr lang="en-US" altLang="zh-CN" sz="2400" spc="-10" dirty="0">
                <a:ea typeface="Cambria" panose="02040503050406030204" pitchFamily="18" charset="0"/>
              </a:rPr>
              <a:t>_________________________________________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EF6A18-AD7D-C0F7-4610-ED8594802298}"/>
              </a:ext>
            </a:extLst>
          </p:cNvPr>
          <p:cNvSpPr txBox="1"/>
          <p:nvPr/>
        </p:nvSpPr>
        <p:spPr>
          <a:xfrm>
            <a:off x="360000" y="2539540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40" dirty="0">
                <a:solidFill>
                  <a:srgbClr val="FF0000"/>
                </a:solidFill>
              </a:rPr>
              <a:t>the realization of national rejuvenation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B726BB-9EA7-5EED-A40D-330B6C5609B9}"/>
              </a:ext>
            </a:extLst>
          </p:cNvPr>
          <p:cNvSpPr txBox="1"/>
          <p:nvPr/>
        </p:nvSpPr>
        <p:spPr>
          <a:xfrm>
            <a:off x="360000" y="3643916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40" dirty="0">
                <a:solidFill>
                  <a:srgbClr val="FF0000"/>
                </a:solidFill>
              </a:rPr>
              <a:t>confidence in culture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B0F76C-BBED-EF9B-8DE7-5B12449932B2}"/>
              </a:ext>
            </a:extLst>
          </p:cNvPr>
          <p:cNvSpPr txBox="1"/>
          <p:nvPr/>
        </p:nvSpPr>
        <p:spPr>
          <a:xfrm>
            <a:off x="360000" y="4740767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40" dirty="0">
                <a:solidFill>
                  <a:srgbClr val="FF0000"/>
                </a:solidFill>
              </a:rPr>
              <a:t>the independence of our national character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D6DFC-7BA7-2E26-1981-0C405A17CB36}"/>
              </a:ext>
            </a:extLst>
          </p:cNvPr>
          <p:cNvSpPr/>
          <p:nvPr/>
        </p:nvSpPr>
        <p:spPr>
          <a:xfrm>
            <a:off x="429260" y="2598308"/>
            <a:ext cx="8359140" cy="40289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6772E2-CC00-6C8D-B1F9-84BD11643A24}"/>
              </a:ext>
            </a:extLst>
          </p:cNvPr>
          <p:cNvSpPr/>
          <p:nvPr/>
        </p:nvSpPr>
        <p:spPr>
          <a:xfrm>
            <a:off x="446580" y="3704494"/>
            <a:ext cx="8359140" cy="40108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611473-ED4F-A9E6-F2FF-006DAA572F9A}"/>
              </a:ext>
            </a:extLst>
          </p:cNvPr>
          <p:cNvSpPr/>
          <p:nvPr/>
        </p:nvSpPr>
        <p:spPr>
          <a:xfrm>
            <a:off x="446580" y="4831522"/>
            <a:ext cx="8359140" cy="3255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432FA81-64C3-1FE2-9BCE-8FCD83FEF609}"/>
              </a:ext>
            </a:extLst>
          </p:cNvPr>
          <p:cNvSpPr txBox="1"/>
          <p:nvPr/>
        </p:nvSpPr>
        <p:spPr>
          <a:xfrm>
            <a:off x="323705" y="5838228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40" dirty="0">
                <a:solidFill>
                  <a:srgbClr val="FF0000"/>
                </a:solidFill>
              </a:rPr>
              <a:t>the spirit of the Chinese nation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660F64-5D5D-F296-B759-2A9563FDDDDC}"/>
              </a:ext>
            </a:extLst>
          </p:cNvPr>
          <p:cNvSpPr/>
          <p:nvPr/>
        </p:nvSpPr>
        <p:spPr>
          <a:xfrm>
            <a:off x="410285" y="5928983"/>
            <a:ext cx="8359140" cy="3255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245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2" grpId="1"/>
      <p:bldP spid="3" grpId="1"/>
      <p:bldP spid="4" grpId="1"/>
      <p:bldP spid="9" grpId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7" name="文本框 6"/>
          <p:cNvSpPr txBox="1"/>
          <p:nvPr/>
        </p:nvSpPr>
        <p:spPr>
          <a:xfrm>
            <a:off x="360000" y="1133951"/>
            <a:ext cx="85323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C6383E"/>
                </a:solidFill>
              </a:rPr>
              <a:t>Task 2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Find the translations of the following expressions in the passage. </a:t>
            </a:r>
          </a:p>
          <a:p>
            <a:pPr algn="just"/>
            <a:endParaRPr lang="en-US" altLang="zh-CN" sz="2400" spc="-1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5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保持对自身文化理想、文化价值的高度信心，保持对自身文化生命力、创造力的高度信心。</a:t>
            </a:r>
            <a:endParaRPr lang="zh-CN" altLang="en-US" sz="2400" kern="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5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____________________________________________________________________________________________________________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altLang="zh-CN" sz="2400" kern="5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400" kern="5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文化是一个国家、一个民族的灵魂。</a:t>
            </a:r>
            <a:endParaRPr lang="en-US" altLang="zh-CN" sz="2400" kern="5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altLang="zh-CN" sz="2400" kern="50" dirty="0">
                <a:latin typeface="宋体" panose="02010600030101010101" pitchFamily="2" charset="-122"/>
                <a:cs typeface="Times New Roman" panose="02020603050405020304" pitchFamily="18" charset="0"/>
              </a:rPr>
              <a:t>______________________________________________________</a:t>
            </a:r>
            <a:endParaRPr lang="zh-CN" altLang="en-US" sz="2400" kern="5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D4B3F64-08BB-03F9-8B2D-04D8F488B07C}"/>
              </a:ext>
            </a:extLst>
          </p:cNvPr>
          <p:cNvSpPr txBox="1"/>
          <p:nvPr/>
        </p:nvSpPr>
        <p:spPr>
          <a:xfrm>
            <a:off x="398861" y="2924965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They should have full confidence in the aspirations, values, vitality and creativity of their own culture.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1FFCB6-F6FC-5C47-4C61-D064B65E30A5}"/>
              </a:ext>
            </a:extLst>
          </p:cNvPr>
          <p:cNvSpPr/>
          <p:nvPr/>
        </p:nvSpPr>
        <p:spPr>
          <a:xfrm>
            <a:off x="410285" y="3015720"/>
            <a:ext cx="8359140" cy="74024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CECCFE-C444-2066-F16A-5DA958349501}"/>
              </a:ext>
            </a:extLst>
          </p:cNvPr>
          <p:cNvSpPr txBox="1"/>
          <p:nvPr/>
        </p:nvSpPr>
        <p:spPr>
          <a:xfrm>
            <a:off x="398861" y="4365065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40" dirty="0">
                <a:solidFill>
                  <a:srgbClr val="FF0000"/>
                </a:solidFill>
              </a:rPr>
              <a:t>Culture is the soul of both a country and a nation.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7E7DCB-1575-DB4F-D415-7AFAA20E8218}"/>
              </a:ext>
            </a:extLst>
          </p:cNvPr>
          <p:cNvSpPr/>
          <p:nvPr/>
        </p:nvSpPr>
        <p:spPr>
          <a:xfrm>
            <a:off x="410285" y="4455820"/>
            <a:ext cx="8359140" cy="3255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48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3" grpId="1"/>
      <p:bldP spid="5" grpId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0000" y="1146890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Are Chinese characters necessary in English texts?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66165" y="1859340"/>
            <a:ext cx="85261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W</a:t>
            </a:r>
            <a:r>
              <a:rPr lang="en-US" altLang="zh-CN" sz="2400" spc="30" dirty="0"/>
              <a:t>hen Samantha </a:t>
            </a:r>
            <a:r>
              <a:rPr lang="en-US" altLang="zh-CN" sz="2400" spc="30" dirty="0" err="1"/>
              <a:t>Vincenty</a:t>
            </a:r>
            <a:r>
              <a:rPr lang="en-US" altLang="zh-CN" sz="2400" spc="30" dirty="0"/>
              <a:t>, the </a:t>
            </a:r>
            <a:r>
              <a:rPr lang="en-US" altLang="zh-CN" sz="2400" spc="40" dirty="0"/>
              <a:t>author of Text A, introduces the </a:t>
            </a:r>
            <a:r>
              <a:rPr lang="en-US" altLang="zh-CN" sz="2400" dirty="0"/>
              <a:t>C</a:t>
            </a:r>
            <a:r>
              <a:rPr lang="en-US" altLang="zh-CN" sz="2400" spc="-60" dirty="0"/>
              <a:t>hinese festive </a:t>
            </a:r>
            <a:r>
              <a:rPr lang="en-US" altLang="zh-CN" sz="2400" spc="-50" dirty="0"/>
              <a:t>traditions, she uses a Chinese character in the following </a:t>
            </a:r>
            <a:r>
              <a:rPr lang="en-US" altLang="zh-CN" sz="2400" dirty="0"/>
              <a:t>sentence:</a:t>
            </a:r>
          </a:p>
          <a:p>
            <a:endParaRPr lang="en-US" altLang="zh-CN" sz="2400" dirty="0"/>
          </a:p>
          <a:p>
            <a:r>
              <a:rPr lang="en-US" altLang="zh-CN" sz="2400" dirty="0"/>
              <a:t>     </a:t>
            </a:r>
            <a:r>
              <a:rPr lang="en-US" altLang="zh-CN" sz="2400" dirty="0">
                <a:solidFill>
                  <a:srgbClr val="0A2E4A"/>
                </a:solidFill>
              </a:rPr>
              <a:t>O</a:t>
            </a:r>
            <a:r>
              <a:rPr lang="en-US" altLang="zh-CN" sz="2400" spc="-20" dirty="0">
                <a:solidFill>
                  <a:srgbClr val="0A2E4A"/>
                </a:solidFill>
              </a:rPr>
              <a:t>n Chinese New Year, you’ll commonly see a calligraphy character </a:t>
            </a:r>
            <a:r>
              <a:rPr lang="en-US" altLang="zh-CN" sz="2400" dirty="0">
                <a:solidFill>
                  <a:srgbClr val="0A2E4A"/>
                </a:solidFill>
              </a:rPr>
              <a:t>o</a:t>
            </a:r>
            <a:r>
              <a:rPr lang="en-US" altLang="zh-CN" sz="2400" spc="20" dirty="0">
                <a:solidFill>
                  <a:srgbClr val="0A2E4A"/>
                </a:solidFill>
              </a:rPr>
              <a:t>n a square of red paper, hung in a diamond shape. The </a:t>
            </a:r>
            <a:r>
              <a:rPr lang="en-US" altLang="zh-CN" sz="2400" spc="30" dirty="0">
                <a:solidFill>
                  <a:srgbClr val="0A2E4A"/>
                </a:solidFill>
              </a:rPr>
              <a:t>character, </a:t>
            </a:r>
            <a:r>
              <a:rPr lang="zh-CN" altLang="en-US" sz="2400" dirty="0">
                <a:solidFill>
                  <a:srgbClr val="0A2E4A"/>
                </a:solidFill>
              </a:rPr>
              <a:t>福</a:t>
            </a:r>
            <a:r>
              <a:rPr lang="zh-CN" altLang="en-US" sz="2400" spc="-10" dirty="0">
                <a:solidFill>
                  <a:srgbClr val="0A2E4A"/>
                </a:solidFill>
              </a:rPr>
              <a:t> </a:t>
            </a:r>
            <a:r>
              <a:rPr lang="en-US" altLang="zh-CN" sz="2400" spc="-10" dirty="0">
                <a:solidFill>
                  <a:srgbClr val="0A2E4A"/>
                </a:solidFill>
              </a:rPr>
              <a:t>[</a:t>
            </a:r>
            <a:r>
              <a:rPr lang="en-US" altLang="zh-CN" sz="2400" spc="-10" dirty="0" err="1">
                <a:solidFill>
                  <a:srgbClr val="0A2E4A"/>
                </a:solidFill>
              </a:rPr>
              <a:t>fú</a:t>
            </a:r>
            <a:r>
              <a:rPr lang="en-US" altLang="zh-CN" sz="2400" spc="-10" dirty="0">
                <a:solidFill>
                  <a:srgbClr val="0A2E4A"/>
                </a:solidFill>
              </a:rPr>
              <a:t>], which </a:t>
            </a:r>
            <a:r>
              <a:rPr lang="en-US" altLang="zh-CN" sz="2400" dirty="0">
                <a:solidFill>
                  <a:srgbClr val="0A2E4A"/>
                </a:solidFill>
              </a:rPr>
              <a:t>means good luck, is hung upside down for Lunar New</a:t>
            </a:r>
            <a:r>
              <a:rPr lang="en-US" altLang="zh-CN" sz="2400" spc="-10" dirty="0">
                <a:solidFill>
                  <a:srgbClr val="0A2E4A"/>
                </a:solidFill>
              </a:rPr>
              <a:t> </a:t>
            </a:r>
            <a:r>
              <a:rPr lang="en-US" altLang="zh-CN" sz="2400" dirty="0">
                <a:solidFill>
                  <a:srgbClr val="0A2E4A"/>
                </a:solidFill>
              </a:rPr>
              <a:t>Year.</a:t>
            </a:r>
          </a:p>
          <a:p>
            <a:endParaRPr lang="en-US" altLang="zh-CN" sz="2400" dirty="0"/>
          </a:p>
          <a:p>
            <a:pPr indent="457200" algn="just"/>
            <a:r>
              <a:rPr lang="en-US" altLang="zh-CN" sz="2400" dirty="0"/>
              <a:t>D</a:t>
            </a:r>
            <a:r>
              <a:rPr lang="en-US" altLang="zh-CN" sz="2400" spc="-20" dirty="0"/>
              <a:t>oes the Chinese character </a:t>
            </a:r>
            <a:r>
              <a:rPr lang="zh-CN" altLang="en-US" sz="2400" spc="-20" dirty="0"/>
              <a:t>福 </a:t>
            </a:r>
            <a:r>
              <a:rPr lang="en-US" altLang="zh-CN" sz="2400" spc="-20" dirty="0"/>
              <a:t>make any sense here? As we all know, </a:t>
            </a:r>
            <a:r>
              <a:rPr lang="en-US" altLang="zh-CN" sz="2400" dirty="0"/>
              <a:t>t</a:t>
            </a:r>
            <a:r>
              <a:rPr lang="en-US" altLang="zh-CN" sz="2400" spc="10" dirty="0"/>
              <a:t>he appearance of </a:t>
            </a:r>
            <a:r>
              <a:rPr lang="en-US" altLang="zh-CN" sz="2400" spc="20" dirty="0"/>
              <a:t>Chinese characters in English texts may hamper </a:t>
            </a:r>
            <a:r>
              <a:rPr lang="en-US" altLang="zh-CN" sz="2400" dirty="0"/>
              <a:t>reading and understanding.</a:t>
            </a:r>
          </a:p>
        </p:txBody>
      </p:sp>
      <p:pic>
        <p:nvPicPr>
          <p:cNvPr id="8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0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2279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360000" y="1146890"/>
            <a:ext cx="8532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I</a:t>
            </a:r>
            <a:r>
              <a:rPr lang="en-US" altLang="zh-CN" sz="2400" spc="20" dirty="0"/>
              <a:t>n academic writings, Chinese characters should only be </a:t>
            </a:r>
            <a:r>
              <a:rPr lang="en-US" altLang="zh-CN" sz="2400" spc="30" dirty="0"/>
              <a:t>used in </a:t>
            </a:r>
            <a:r>
              <a:rPr lang="en-US" altLang="zh-CN" sz="2400" dirty="0"/>
              <a:t>b</a:t>
            </a:r>
            <a:r>
              <a:rPr lang="en-US" altLang="zh-CN" sz="2400" spc="10" dirty="0"/>
              <a:t>ibliographic references where a significant number </a:t>
            </a:r>
            <a:r>
              <a:rPr lang="en-US" altLang="zh-CN" sz="2400" spc="20" dirty="0"/>
              <a:t>of readers can </a:t>
            </a:r>
            <a:r>
              <a:rPr lang="en-US" altLang="zh-CN" sz="2400" dirty="0"/>
              <a:t>be assumed to have Chinese language skills, for example:</a:t>
            </a:r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0A2E4A"/>
                </a:solidFill>
              </a:rPr>
              <a:t>     Liang Chen (</a:t>
            </a:r>
            <a:r>
              <a:rPr lang="zh-CN" altLang="en-US" sz="2400" dirty="0">
                <a:solidFill>
                  <a:srgbClr val="0A2E4A"/>
                </a:solidFill>
              </a:rPr>
              <a:t>梁晨</a:t>
            </a:r>
            <a:r>
              <a:rPr lang="en-US" altLang="zh-CN" sz="2400" dirty="0">
                <a:solidFill>
                  <a:srgbClr val="0A2E4A"/>
                </a:solidFill>
              </a:rPr>
              <a:t>), Zhang Hao (</a:t>
            </a:r>
            <a:r>
              <a:rPr lang="zh-CN" altLang="en-US" sz="2400" dirty="0">
                <a:solidFill>
                  <a:srgbClr val="0A2E4A"/>
                </a:solidFill>
              </a:rPr>
              <a:t>张浩</a:t>
            </a:r>
            <a:r>
              <a:rPr lang="en-US" altLang="zh-CN" sz="2400" spc="-10" dirty="0">
                <a:solidFill>
                  <a:srgbClr val="0A2E4A"/>
                </a:solidFill>
              </a:rPr>
              <a:t>), and Li </a:t>
            </a:r>
            <a:r>
              <a:rPr lang="en-US" altLang="zh-CN" sz="2400" spc="-10" dirty="0" err="1">
                <a:solidFill>
                  <a:srgbClr val="0A2E4A"/>
                </a:solidFill>
              </a:rPr>
              <a:t>Zhongqing</a:t>
            </a:r>
            <a:r>
              <a:rPr lang="en-US" altLang="zh-CN" sz="2400" spc="-10" dirty="0">
                <a:solidFill>
                  <a:srgbClr val="0A2E4A"/>
                </a:solidFill>
              </a:rPr>
              <a:t> (</a:t>
            </a:r>
            <a:r>
              <a:rPr lang="zh-CN" altLang="en-US" sz="2400" spc="-10" dirty="0">
                <a:solidFill>
                  <a:srgbClr val="0A2E4A"/>
                </a:solidFill>
              </a:rPr>
              <a:t>李中清</a:t>
            </a:r>
            <a:r>
              <a:rPr lang="en-US" altLang="zh-CN" sz="2400" spc="-10" dirty="0">
                <a:solidFill>
                  <a:srgbClr val="0A2E4A"/>
                </a:solidFill>
              </a:rPr>
              <a:t>), </a:t>
            </a:r>
            <a:r>
              <a:rPr lang="en-US" altLang="zh-CN" sz="2400" dirty="0">
                <a:solidFill>
                  <a:srgbClr val="0A2E4A"/>
                </a:solidFill>
              </a:rPr>
              <a:t>e</a:t>
            </a:r>
            <a:r>
              <a:rPr lang="en-US" altLang="zh-CN" sz="2400" spc="-50" dirty="0">
                <a:solidFill>
                  <a:srgbClr val="0A2E4A"/>
                </a:solidFill>
              </a:rPr>
              <a:t>ds.《</a:t>
            </a:r>
            <a:r>
              <a:rPr lang="zh-CN" altLang="en-US" sz="2400" spc="-50" dirty="0">
                <a:solidFill>
                  <a:srgbClr val="0A2E4A"/>
                </a:solidFill>
              </a:rPr>
              <a:t>无声的革命</a:t>
            </a:r>
            <a:r>
              <a:rPr lang="en-US" altLang="zh-CN" sz="2400" spc="-50" dirty="0">
                <a:solidFill>
                  <a:srgbClr val="0A2E4A"/>
                </a:solidFill>
              </a:rPr>
              <a:t>: </a:t>
            </a:r>
            <a:r>
              <a:rPr lang="zh-CN" altLang="en-US" sz="2400" spc="-50" dirty="0">
                <a:solidFill>
                  <a:srgbClr val="0A2E4A"/>
                </a:solidFill>
              </a:rPr>
              <a:t>北京大学、</a:t>
            </a:r>
            <a:r>
              <a:rPr lang="zh-CN" altLang="en-US" sz="2400" spc="-40" dirty="0">
                <a:solidFill>
                  <a:srgbClr val="0A2E4A"/>
                </a:solidFill>
              </a:rPr>
              <a:t>苏州大学学生社会来源研究 </a:t>
            </a:r>
            <a:r>
              <a:rPr lang="en-US" altLang="zh-CN" sz="2400" spc="-50" dirty="0">
                <a:solidFill>
                  <a:srgbClr val="0A2E4A"/>
                </a:solidFill>
              </a:rPr>
              <a:t>1949–</a:t>
            </a:r>
            <a:r>
              <a:rPr lang="en-US" altLang="zh-CN" sz="2400" dirty="0">
                <a:solidFill>
                  <a:srgbClr val="0A2E4A"/>
                </a:solidFill>
              </a:rPr>
              <a:t>2</a:t>
            </a:r>
            <a:r>
              <a:rPr lang="en-US" altLang="zh-CN" sz="2400" spc="-10" dirty="0">
                <a:solidFill>
                  <a:srgbClr val="0A2E4A"/>
                </a:solidFill>
              </a:rPr>
              <a:t>002》[Silent revolution</a:t>
            </a:r>
            <a:r>
              <a:rPr lang="en-US" altLang="zh-CN" sz="2400" dirty="0">
                <a:solidFill>
                  <a:srgbClr val="0A2E4A"/>
                </a:solidFill>
              </a:rPr>
              <a:t>: The social origins of Peking University and S</a:t>
            </a:r>
            <a:r>
              <a:rPr lang="en-US" altLang="zh-CN" sz="2400" spc="30" dirty="0">
                <a:solidFill>
                  <a:srgbClr val="0A2E4A"/>
                </a:solidFill>
              </a:rPr>
              <a:t>oochow University undergraduates, 1949–2002]. </a:t>
            </a:r>
            <a:r>
              <a:rPr lang="zh-CN" altLang="en-US" sz="2400" spc="30" dirty="0">
                <a:solidFill>
                  <a:srgbClr val="0A2E4A"/>
                </a:solidFill>
              </a:rPr>
              <a:t>北京：生活</a:t>
            </a:r>
            <a:r>
              <a:rPr lang="en-US" altLang="zh-CN" sz="2400" spc="30" dirty="0">
                <a:solidFill>
                  <a:srgbClr val="0A2E4A"/>
                </a:solidFill>
              </a:rPr>
              <a:t>·</a:t>
            </a:r>
            <a:r>
              <a:rPr lang="zh-CN" altLang="en-US" sz="2400" spc="20" dirty="0">
                <a:solidFill>
                  <a:srgbClr val="0A2E4A"/>
                </a:solidFill>
              </a:rPr>
              <a:t>读</a:t>
            </a:r>
            <a:r>
              <a:rPr lang="zh-CN" altLang="en-US" sz="2400" dirty="0">
                <a:solidFill>
                  <a:srgbClr val="0A2E4A"/>
                </a:solidFill>
              </a:rPr>
              <a:t>书</a:t>
            </a:r>
            <a:r>
              <a:rPr lang="en-US" altLang="zh-CN" sz="2400" dirty="0">
                <a:solidFill>
                  <a:srgbClr val="0A2E4A"/>
                </a:solidFill>
              </a:rPr>
              <a:t>·</a:t>
            </a:r>
            <a:r>
              <a:rPr lang="zh-CN" altLang="en-US" sz="2400" dirty="0">
                <a:solidFill>
                  <a:srgbClr val="0A2E4A"/>
                </a:solidFill>
              </a:rPr>
              <a:t>新知三联书店，</a:t>
            </a:r>
            <a:r>
              <a:rPr lang="en-US" altLang="zh-CN" sz="2400" dirty="0">
                <a:solidFill>
                  <a:srgbClr val="0A2E4A"/>
                </a:solidFill>
              </a:rPr>
              <a:t>2013.</a:t>
            </a:r>
          </a:p>
          <a:p>
            <a:endParaRPr lang="en-US" altLang="zh-CN" sz="2400" dirty="0"/>
          </a:p>
          <a:p>
            <a:r>
              <a:rPr lang="en-US" altLang="zh-CN" sz="2400" dirty="0"/>
              <a:t>     B</a:t>
            </a:r>
            <a:r>
              <a:rPr lang="en-US" altLang="zh-CN" sz="2400" spc="-20" dirty="0"/>
              <a:t>ut in rare cases like Text</a:t>
            </a:r>
            <a:r>
              <a:rPr lang="en-US" altLang="zh-CN" sz="2400" spc="-10" dirty="0"/>
              <a:t> A you may find that the specific concept </a:t>
            </a:r>
            <a:r>
              <a:rPr lang="en-US" altLang="zh-CN" sz="2400" dirty="0"/>
              <a:t>o</a:t>
            </a:r>
            <a:r>
              <a:rPr lang="en-US" altLang="zh-CN" sz="2400" spc="-10" dirty="0"/>
              <a:t>f </a:t>
            </a:r>
            <a:r>
              <a:rPr lang="zh-CN" altLang="en-US" sz="2400" spc="-10" dirty="0"/>
              <a:t>福 </a:t>
            </a:r>
            <a:r>
              <a:rPr lang="en-US" altLang="zh-CN" sz="2400" spc="-10" dirty="0"/>
              <a:t>can only be </a:t>
            </a:r>
            <a:r>
              <a:rPr lang="en-US" altLang="zh-CN" sz="2400" dirty="0"/>
              <a:t>rendered properly in Chinese character and pinyin t</a:t>
            </a:r>
            <a:r>
              <a:rPr lang="en-US" altLang="zh-CN" sz="2400" spc="20" dirty="0"/>
              <a:t>ogether. Don’t overdo it though. It is necessary to </a:t>
            </a:r>
            <a:r>
              <a:rPr lang="en-US" altLang="zh-CN" sz="2400" spc="30" dirty="0"/>
              <a:t>limit the use of </a:t>
            </a:r>
            <a:r>
              <a:rPr lang="en-US" altLang="zh-CN" sz="2400" dirty="0"/>
              <a:t>Chinese characters in </a:t>
            </a:r>
            <a:r>
              <a:rPr lang="en-US" altLang="zh-CN" sz="2400" dirty="0" err="1"/>
              <a:t>non-</a:t>
            </a:r>
            <a:r>
              <a:rPr lang="en-US" altLang="zh-CN" sz="2400" spc="-10" dirty="0" err="1"/>
              <a:t>Chinese</a:t>
            </a:r>
            <a:r>
              <a:rPr lang="en-US" altLang="zh-CN" sz="2400" spc="-10" dirty="0"/>
              <a:t> texts to the absolutely necessary.</a:t>
            </a:r>
          </a:p>
        </p:txBody>
      </p:sp>
    </p:spTree>
    <p:extLst>
      <p:ext uri="{BB962C8B-B14F-4D97-AF65-F5344CB8AC3E}">
        <p14:creationId xmlns:p14="http://schemas.microsoft.com/office/powerpoint/2010/main" val="166708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360000" y="1146890"/>
            <a:ext cx="8532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What is a professional </a:t>
            </a:r>
            <a:r>
              <a:rPr lang="en-US" altLang="zh-CN" sz="2400" spc="10" dirty="0" err="1"/>
              <a:t>sinological</a:t>
            </a:r>
            <a:r>
              <a:rPr lang="en-US" altLang="zh-CN" sz="2400" spc="10" dirty="0"/>
              <a:t> way to render a Chinese term? </a:t>
            </a:r>
            <a:r>
              <a:rPr lang="en-US" altLang="zh-CN" sz="2400" dirty="0"/>
              <a:t>U</a:t>
            </a:r>
            <a:r>
              <a:rPr lang="en-US" altLang="zh-CN" sz="2400" spc="10" dirty="0"/>
              <a:t>se </a:t>
            </a:r>
            <a:r>
              <a:rPr lang="en-US" altLang="zh-CN" sz="2400" i="1" spc="10" dirty="0"/>
              <a:t>Hanyu pinyin</a:t>
            </a:r>
            <a:r>
              <a:rPr lang="en-US" altLang="zh-CN" sz="2400" spc="30" dirty="0"/>
              <a:t> in the </a:t>
            </a:r>
            <a:r>
              <a:rPr lang="en-US" altLang="zh-CN" sz="2400" spc="20" dirty="0"/>
              <a:t>running text to render Chinese names and </a:t>
            </a:r>
            <a:r>
              <a:rPr lang="en-US" altLang="zh-CN" sz="2400" dirty="0"/>
              <a:t>t</a:t>
            </a:r>
            <a:r>
              <a:rPr lang="en-US" altLang="zh-CN" sz="2400" spc="60" dirty="0"/>
              <a:t>erms, and add Chinese </a:t>
            </a:r>
            <a:r>
              <a:rPr lang="en-US" altLang="zh-CN" sz="2400" spc="70" dirty="0"/>
              <a:t>characters in parenthesis upon the first </a:t>
            </a:r>
            <a:r>
              <a:rPr lang="en-US" altLang="zh-CN" sz="2400" dirty="0"/>
              <a:t>o</a:t>
            </a:r>
            <a:r>
              <a:rPr lang="en-US" altLang="zh-CN" sz="2400" spc="-40" dirty="0"/>
              <a:t>ccurrence. Use pinyin for </a:t>
            </a:r>
            <a:r>
              <a:rPr lang="en-US" altLang="zh-CN" sz="2400" spc="-30" dirty="0"/>
              <a:t>authors’ names in bibliographic references, </a:t>
            </a:r>
            <a:r>
              <a:rPr lang="en-US" altLang="zh-CN" sz="2400" dirty="0"/>
              <a:t>f</a:t>
            </a:r>
            <a:r>
              <a:rPr lang="en-US" altLang="zh-CN" sz="2400" spc="40" dirty="0"/>
              <a:t>ollowed by Chinese characters. The titles of the works should be</a:t>
            </a:r>
            <a:r>
              <a:rPr lang="en-US" altLang="zh-CN" sz="2400" dirty="0"/>
              <a:t> t</a:t>
            </a:r>
            <a:r>
              <a:rPr lang="en-US" altLang="zh-CN" sz="2400" spc="-80" dirty="0"/>
              <a:t>ranslated into English. Please refer to</a:t>
            </a:r>
            <a:r>
              <a:rPr lang="en-US" altLang="zh-CN" sz="2400" spc="-70" dirty="0"/>
              <a:t> the abovementioned bibliographic </a:t>
            </a:r>
            <a:r>
              <a:rPr lang="en-US" altLang="zh-CN" sz="2400" dirty="0"/>
              <a:t>example.</a:t>
            </a:r>
          </a:p>
        </p:txBody>
      </p:sp>
    </p:spTree>
    <p:extLst>
      <p:ext uri="{BB962C8B-B14F-4D97-AF65-F5344CB8AC3E}">
        <p14:creationId xmlns:p14="http://schemas.microsoft.com/office/powerpoint/2010/main" val="184678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10" name="文本框 9"/>
          <p:cNvSpPr txBox="1"/>
          <p:nvPr/>
        </p:nvSpPr>
        <p:spPr>
          <a:xfrm>
            <a:off x="360000" y="1146890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A2E4A"/>
                </a:solidFill>
              </a:rPr>
              <a:t>Task</a:t>
            </a:r>
          </a:p>
          <a:p>
            <a:r>
              <a:rPr lang="en-US" altLang="zh-CN" sz="2400" dirty="0"/>
              <a:t>     Try to find another occasion when you need to include</a:t>
            </a:r>
            <a:r>
              <a:rPr lang="en-US" altLang="zh-CN" sz="2400" spc="10" dirty="0"/>
              <a:t> a Chinese </a:t>
            </a:r>
            <a:r>
              <a:rPr lang="en-US" altLang="zh-CN" sz="2400" dirty="0"/>
              <a:t>character in your English writing.</a:t>
            </a:r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1F9F3C-12C1-A045-D3C1-E1782E720610}"/>
              </a:ext>
            </a:extLst>
          </p:cNvPr>
          <p:cNvSpPr txBox="1"/>
          <p:nvPr/>
        </p:nvSpPr>
        <p:spPr>
          <a:xfrm>
            <a:off x="317012" y="2372464"/>
            <a:ext cx="8499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Answers will vary.</a:t>
            </a:r>
          </a:p>
        </p:txBody>
      </p:sp>
      <p:pic>
        <p:nvPicPr>
          <p:cNvPr id="3" name="钥匙2" descr="C:\Users\senj\Desktop\新建文件夹\答案.png">
            <a:hlinkClick r:id="" action="ppaction://noaction"/>
            <a:extLst>
              <a:ext uri="{FF2B5EF4-FFF2-40B4-BE49-F238E27FC236}">
                <a16:creationId xmlns:a16="http://schemas.microsoft.com/office/drawing/2014/main" id="{FF9B1EDF-81E3-7634-F95F-68A104732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139" y="1232870"/>
            <a:ext cx="324000" cy="324000"/>
          </a:xfrm>
          <a:prstGeom prst="rect">
            <a:avLst/>
          </a:prstGeom>
          <a:noFill/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A6D8F0E-5F9A-1025-7579-8A73E9E94AA9}"/>
              </a:ext>
            </a:extLst>
          </p:cNvPr>
          <p:cNvSpPr/>
          <p:nvPr/>
        </p:nvSpPr>
        <p:spPr>
          <a:xfrm>
            <a:off x="419139" y="2348925"/>
            <a:ext cx="8427071" cy="55720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37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0000" y="1146255"/>
            <a:ext cx="853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Chinese zodiac from my own perspective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467715" y="1736672"/>
            <a:ext cx="8323860" cy="4565476"/>
          </a:xfrm>
          <a:prstGeom prst="roundRect">
            <a:avLst>
              <a:gd name="adj" fmla="val 9889"/>
            </a:avLst>
          </a:prstGeom>
          <a:noFill/>
          <a:ln>
            <a:solidFill>
              <a:srgbClr val="C6383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577066" y="1777833"/>
            <a:ext cx="81457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Presentation Skill: Support your message with a story</a:t>
            </a:r>
          </a:p>
          <a:p>
            <a:r>
              <a:rPr lang="en-US" altLang="zh-CN" sz="2400" dirty="0"/>
              <a:t>     T</a:t>
            </a:r>
            <a:r>
              <a:rPr lang="en-US" altLang="zh-CN" sz="2400" spc="50" dirty="0"/>
              <a:t>elling a story — either about something that </a:t>
            </a:r>
            <a:r>
              <a:rPr lang="en-US" altLang="zh-CN" sz="2400" spc="60" dirty="0"/>
              <a:t>happened to </a:t>
            </a:r>
            <a:r>
              <a:rPr lang="en-US" altLang="zh-CN" sz="2400" dirty="0"/>
              <a:t>y</a:t>
            </a:r>
            <a:r>
              <a:rPr lang="en-US" altLang="zh-CN" sz="2400" spc="80" dirty="0"/>
              <a:t>ou persona</a:t>
            </a:r>
            <a:r>
              <a:rPr lang="en-US" altLang="zh-CN" sz="2400" spc="90" dirty="0"/>
              <a:t>lly or about something you heard — is often an </a:t>
            </a:r>
            <a:r>
              <a:rPr lang="en-US" altLang="zh-CN" sz="2400" dirty="0"/>
              <a:t>i</a:t>
            </a:r>
            <a:r>
              <a:rPr lang="en-US" altLang="zh-CN" sz="2400" spc="-40" dirty="0"/>
              <a:t>nteresting way to support your message. There are</a:t>
            </a:r>
            <a:r>
              <a:rPr lang="en-US" altLang="zh-CN" sz="2400" spc="-30" dirty="0"/>
              <a:t> three common</a:t>
            </a:r>
            <a:r>
              <a:rPr lang="en-US" altLang="zh-CN" sz="2400" spc="-40" dirty="0"/>
              <a:t> </a:t>
            </a:r>
            <a:r>
              <a:rPr lang="en-US" altLang="zh-CN" sz="2400" dirty="0"/>
              <a:t>ways to use a story in a talk or presentation.</a:t>
            </a:r>
            <a:endParaRPr lang="zh-CN" altLang="en-US" sz="2400" dirty="0"/>
          </a:p>
        </p:txBody>
      </p:sp>
      <p:pic>
        <p:nvPicPr>
          <p:cNvPr id="11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12" name="Picture 3" descr="C:\Users\senj\Desktop\按钮.png"/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CE87D6A-98FF-79CA-8964-B513178A9A1A}"/>
              </a:ext>
            </a:extLst>
          </p:cNvPr>
          <p:cNvSpPr txBox="1"/>
          <p:nvPr/>
        </p:nvSpPr>
        <p:spPr>
          <a:xfrm>
            <a:off x="917851" y="1777833"/>
            <a:ext cx="7804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endParaRPr lang="en-US" altLang="zh-CN" sz="2400" dirty="0"/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T</a:t>
            </a:r>
            <a:r>
              <a:rPr lang="en-US" altLang="zh-CN" sz="2400" spc="-30" dirty="0"/>
              <a:t>ell the story first. Then give the overall message</a:t>
            </a:r>
            <a:r>
              <a:rPr lang="en-US" altLang="zh-CN" sz="2400" spc="-20" dirty="0"/>
              <a:t> and explain </a:t>
            </a:r>
            <a:r>
              <a:rPr lang="en-US" altLang="zh-CN" sz="2400" dirty="0"/>
              <a:t>how the story is relevant to it.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G</a:t>
            </a:r>
            <a:r>
              <a:rPr lang="en-US" altLang="zh-CN" sz="2400" spc="60" dirty="0"/>
              <a:t>ive the overall message first. Then give the story</a:t>
            </a:r>
            <a:r>
              <a:rPr lang="en-US" altLang="zh-CN" sz="2400" spc="70" dirty="0"/>
              <a:t> as an </a:t>
            </a:r>
            <a:r>
              <a:rPr lang="en-US" altLang="zh-CN" sz="2400" dirty="0"/>
              <a:t>example to support the message.</a:t>
            </a:r>
          </a:p>
          <a:p>
            <a:pPr marL="342900" indent="-342900">
              <a:buClr>
                <a:srgbClr val="C6383E"/>
              </a:buClr>
              <a:buFont typeface="Wingdings" panose="05000000000000000000" pitchFamily="2" charset="2"/>
              <a:buChar char="l"/>
            </a:pPr>
            <a:r>
              <a:rPr lang="en-US" altLang="zh-CN" sz="2400" dirty="0"/>
              <a:t>B</a:t>
            </a:r>
            <a:r>
              <a:rPr lang="en-US" altLang="zh-CN" sz="2400" spc="10" dirty="0"/>
              <a:t>reak the story and overall message into parts. Say part of </a:t>
            </a:r>
            <a:r>
              <a:rPr lang="en-US" altLang="zh-CN" sz="2400" dirty="0"/>
              <a:t>t</a:t>
            </a:r>
            <a:r>
              <a:rPr lang="en-US" altLang="zh-CN" sz="2400" spc="10" dirty="0"/>
              <a:t>he story and then part of the message. Repeat in this way </a:t>
            </a:r>
            <a:r>
              <a:rPr lang="en-US" altLang="zh-CN" sz="2400" dirty="0"/>
              <a:t>so that the story and message are woven together.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5714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60000" y="1146255"/>
            <a:ext cx="85323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Task</a:t>
            </a:r>
          </a:p>
          <a:p>
            <a:r>
              <a:rPr lang="en-US" altLang="zh-CN" sz="2400" dirty="0"/>
              <a:t>     G</a:t>
            </a:r>
            <a:r>
              <a:rPr lang="en-US" altLang="zh-CN" sz="2400" spc="-40" dirty="0"/>
              <a:t>ive a presentation about your Chinese zodiac sign and personality. </a:t>
            </a:r>
            <a:r>
              <a:rPr lang="en-US" altLang="zh-CN" sz="2400" dirty="0"/>
              <a:t>T</a:t>
            </a:r>
            <a:r>
              <a:rPr lang="en-US" altLang="zh-CN" sz="2400" spc="10" dirty="0"/>
              <a:t>ry to support your message</a:t>
            </a:r>
            <a:r>
              <a:rPr lang="en-US" altLang="zh-CN" sz="2400" spc="20" dirty="0"/>
              <a:t> by telling a story that introduces your </a:t>
            </a:r>
            <a:r>
              <a:rPr lang="en-US" altLang="zh-CN" sz="2400" dirty="0"/>
              <a:t>s</a:t>
            </a:r>
            <a:r>
              <a:rPr lang="en-US" altLang="zh-CN" sz="2400" spc="30" dirty="0"/>
              <a:t>ign and the relationship between your </a:t>
            </a:r>
            <a:r>
              <a:rPr lang="en-US" altLang="zh-CN" sz="2400" spc="40" dirty="0"/>
              <a:t>sign and your personality. </a:t>
            </a:r>
            <a:r>
              <a:rPr lang="en-US" altLang="zh-CN" sz="2400" dirty="0"/>
              <a:t>F</a:t>
            </a:r>
            <a:r>
              <a:rPr lang="en-US" altLang="zh-CN" sz="2400" spc="-10" dirty="0"/>
              <a:t>irst finish the following outline to organize your presentation, using </a:t>
            </a:r>
            <a:r>
              <a:rPr lang="en-US" altLang="zh-CN" sz="2400" dirty="0"/>
              <a:t>t</a:t>
            </a:r>
            <a:r>
              <a:rPr lang="en-US" altLang="zh-CN" sz="2400" spc="-10" dirty="0"/>
              <a:t>he words and expressions given below if necessary. Then </a:t>
            </a:r>
            <a:r>
              <a:rPr lang="en-US" altLang="zh-CN" sz="2400" dirty="0"/>
              <a:t>work with</a:t>
            </a:r>
            <a:r>
              <a:rPr lang="en-US" altLang="zh-CN" sz="2400" spc="-10" dirty="0"/>
              <a:t> </a:t>
            </a:r>
            <a:r>
              <a:rPr lang="en-US" altLang="zh-CN" sz="2400" dirty="0"/>
              <a:t>a partner to practice your presentation.</a:t>
            </a:r>
            <a:endParaRPr lang="en-US" altLang="zh-CN" sz="2400" b="1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279425-DCBF-872A-955A-92176630D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5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0A4D200-DA33-8D09-C8CE-A54577B3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941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0F279425-DCBF-872A-955A-92176630D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  <p:pic>
        <p:nvPicPr>
          <p:cNvPr id="5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0A4D200-DA33-8D09-C8CE-A54577B3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013E93D-8253-E31A-6599-BE04ED4626CB}"/>
              </a:ext>
            </a:extLst>
          </p:cNvPr>
          <p:cNvSpPr txBox="1"/>
          <p:nvPr/>
        </p:nvSpPr>
        <p:spPr>
          <a:xfrm>
            <a:off x="360000" y="1146255"/>
            <a:ext cx="85323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pc="-10" dirty="0"/>
              <a:t>Presentation Outline</a:t>
            </a:r>
          </a:p>
          <a:p>
            <a:endParaRPr lang="en-US" altLang="zh-CN" sz="2400" spc="-1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2400" b="1" dirty="0" err="1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altLang="zh-CN" sz="2400" b="1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endParaRPr lang="en-US" altLang="zh-CN" sz="2400" b="1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2400" b="1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ii </a:t>
            </a:r>
          </a:p>
          <a:p>
            <a:endParaRPr lang="en-US" altLang="zh-CN" sz="2400" b="1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2400" b="1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2400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2400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2400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2400" dirty="0">
              <a:solidFill>
                <a:srgbClr val="0A2E4A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2400" b="1" dirty="0">
                <a:solidFill>
                  <a:srgbClr val="0A2E4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iii</a:t>
            </a:r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钥匙2" descr="C:\Users\senj\Desktop\新建文件夹\答案.png">
            <a:hlinkClick r:id="rId4" action="ppaction://hlinksldjump"/>
            <a:extLst>
              <a:ext uri="{FF2B5EF4-FFF2-40B4-BE49-F238E27FC236}">
                <a16:creationId xmlns:a16="http://schemas.microsoft.com/office/drawing/2014/main" id="{44F81654-015B-0B70-45C0-AEA47BDB1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5139" y="1223817"/>
            <a:ext cx="324000" cy="324000"/>
          </a:xfrm>
          <a:prstGeom prst="rect">
            <a:avLst/>
          </a:prstGeom>
          <a:noFill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10E2E8A-81D1-A603-E819-7291201093C7}"/>
              </a:ext>
            </a:extLst>
          </p:cNvPr>
          <p:cNvSpPr txBox="1"/>
          <p:nvPr/>
        </p:nvSpPr>
        <p:spPr>
          <a:xfrm>
            <a:off x="827088" y="1146255"/>
            <a:ext cx="806521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zh-C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zh-CN" sz="2400" dirty="0"/>
              <a:t>Introduction</a:t>
            </a:r>
          </a:p>
          <a:p>
            <a:r>
              <a:rPr lang="en-US" altLang="zh-CN" sz="2400" dirty="0"/>
              <a:t>Your sign (What is your Chinese zodiac sign?): </a:t>
            </a:r>
            <a:r>
              <a:rPr lang="en-US" altLang="zh-CN" sz="2400" spc="-60" dirty="0"/>
              <a:t>_______________</a:t>
            </a:r>
          </a:p>
          <a:p>
            <a:r>
              <a:rPr lang="en-US" altLang="zh-CN" sz="2400" dirty="0"/>
              <a:t>Body</a:t>
            </a:r>
          </a:p>
          <a:p>
            <a:r>
              <a:rPr lang="en-US" altLang="zh-CN" sz="2400" dirty="0"/>
              <a:t>A</a:t>
            </a:r>
            <a:r>
              <a:rPr lang="en-US" altLang="zh-CN" sz="2400" spc="30" dirty="0"/>
              <a:t>. Story (Can you share an interesting story </a:t>
            </a:r>
            <a:r>
              <a:rPr lang="en-US" altLang="zh-CN" sz="2400" spc="40" dirty="0"/>
              <a:t>about your sign?): </a:t>
            </a:r>
            <a:r>
              <a:rPr lang="en-US" altLang="zh-CN" sz="2400" spc="-10" dirty="0"/>
              <a:t>____________________________________________________</a:t>
            </a:r>
          </a:p>
          <a:p>
            <a:r>
              <a:rPr lang="en-US" altLang="zh-CN" sz="2400" dirty="0"/>
              <a:t>B</a:t>
            </a:r>
            <a:r>
              <a:rPr lang="en-US" altLang="zh-CN" sz="2400" spc="40" dirty="0"/>
              <a:t>. Your point of view (Do you think your personality is r</a:t>
            </a:r>
            <a:r>
              <a:rPr lang="en-US" altLang="zh-CN" sz="2400" spc="50" dirty="0"/>
              <a:t>el</a:t>
            </a:r>
            <a:r>
              <a:rPr lang="en-US" altLang="zh-CN" sz="2400" spc="40" dirty="0"/>
              <a:t>a</a:t>
            </a:r>
            <a:r>
              <a:rPr lang="en-US" altLang="zh-CN" sz="2400" spc="50" dirty="0"/>
              <a:t>ted</a:t>
            </a:r>
            <a:r>
              <a:rPr lang="en-US" altLang="zh-CN" sz="2400" spc="40" dirty="0"/>
              <a:t> </a:t>
            </a:r>
            <a:r>
              <a:rPr lang="en-US" altLang="zh-CN" sz="2400" dirty="0"/>
              <a:t>to your sign in the story?): _______________</a:t>
            </a:r>
            <a:r>
              <a:rPr lang="en-US" altLang="zh-CN" sz="2400" spc="-10" dirty="0"/>
              <a:t>_______________</a:t>
            </a:r>
          </a:p>
          <a:p>
            <a:r>
              <a:rPr lang="en-US" altLang="zh-CN" sz="2400" dirty="0"/>
              <a:t>C</a:t>
            </a:r>
            <a:r>
              <a:rPr lang="en-US" altLang="zh-CN" sz="2400" spc="20" dirty="0"/>
              <a:t>. Illustration (How to support your view with the story and/or</a:t>
            </a:r>
            <a:r>
              <a:rPr lang="en-US" altLang="zh-CN" sz="2400" dirty="0"/>
              <a:t> your experience?): ____________________________________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Conclusion</a:t>
            </a:r>
          </a:p>
          <a:p>
            <a:r>
              <a:rPr lang="en-US" altLang="zh-CN" sz="2400" dirty="0">
                <a:latin typeface="Cambria" panose="02040503050406030204" pitchFamily="18" charset="0"/>
                <a:ea typeface="Cambria" panose="02040503050406030204" pitchFamily="18" charset="0"/>
              </a:rPr>
              <a:t>Restate your idea: </a:t>
            </a:r>
            <a:r>
              <a:rPr lang="en-US" altLang="zh-CN" sz="2400" spc="-10" dirty="0">
                <a:latin typeface="Cambria" panose="02040503050406030204" pitchFamily="18" charset="0"/>
                <a:ea typeface="Cambria" panose="02040503050406030204" pitchFamily="18" charset="0"/>
              </a:rPr>
              <a:t>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358670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597971"/>
              </p:ext>
            </p:extLst>
          </p:nvPr>
        </p:nvGraphicFramePr>
        <p:xfrm>
          <a:off x="447393" y="1279895"/>
          <a:ext cx="8341005" cy="3840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52602">
                  <a:extLst>
                    <a:ext uri="{9D8B030D-6E8A-4147-A177-3AD203B41FA5}">
                      <a16:colId xmlns:a16="http://schemas.microsoft.com/office/drawing/2014/main" val="3823967904"/>
                    </a:ext>
                  </a:extLst>
                </a:gridCol>
                <a:gridCol w="4288403">
                  <a:extLst>
                    <a:ext uri="{9D8B030D-6E8A-4147-A177-3AD203B41FA5}">
                      <a16:colId xmlns:a16="http://schemas.microsoft.com/office/drawing/2014/main" val="343788478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baseline="0" dirty="0">
                          <a:solidFill>
                            <a:srgbClr val="0A2E4A"/>
                          </a:solidFill>
                        </a:rPr>
                        <a:t>Useful words and expressions</a:t>
                      </a:r>
                      <a:endParaRPr lang="en-US" altLang="zh-CN" sz="2400" b="1" baseline="0" dirty="0">
                        <a:solidFill>
                          <a:srgbClr val="0A2E4A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DE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400" b="1" dirty="0"/>
                    </a:p>
                  </a:txBody>
                  <a:tcPr>
                    <a:lnL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38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758373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2400" b="0" i="0" u="none" strike="noStrike" kern="1200" spc="-12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at: charming, creative, resourceful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r>
                        <a:rPr lang="en-US" altLang="zh-CN" sz="2400" b="0" i="0" u="none" strike="noStrike" kern="1200" spc="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x: responsible, conservative, </a:t>
                      </a:r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determined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altLang="zh-CN" sz="2400" b="0" i="0" u="none" strike="noStrike" kern="1200" spc="3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iger: independent</a:t>
                      </a:r>
                      <a:r>
                        <a:rPr lang="en-US" altLang="zh-CN" sz="2400" b="0" i="0" u="none" strike="noStrike" kern="1200" spc="4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confident, </a:t>
                      </a:r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affectionate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2400" b="0" i="0" u="none" strike="noStrike" kern="1200" spc="-8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abbit: friendly, cautious, creative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altLang="zh-CN" sz="2400" b="0" i="0" u="none" strike="noStrike" kern="1200" spc="-8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ragon: charismatic, free-spirited, </a:t>
                      </a:r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independent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Snake: patient, intelligent, wise</a:t>
                      </a:r>
                      <a:endParaRPr lang="zh-CN" altLang="en-US" sz="2400" spc="0" baseline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en-US" altLang="zh-CN" sz="2400" b="0" i="0" u="none" strike="noStrike" kern="1200" spc="-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orse: optimistic, sociable, energetic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r>
                        <a:rPr lang="en-US" altLang="zh-CN" sz="2400" b="0" i="0" u="none" strike="noStrike" kern="1200" spc="7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oat: easy-going, free-spirited, </a:t>
                      </a:r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compassionate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</a:t>
                      </a:r>
                      <a:r>
                        <a:rPr lang="en-US" altLang="zh-CN" sz="2400" b="0" i="0" u="none" strike="noStrike" kern="1200" spc="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onkey: inventive, resourceful, </a:t>
                      </a:r>
                      <a:r>
                        <a:rPr lang="en-US" altLang="zh-CN" sz="2400" b="0" i="0" u="none" strike="noStrike" kern="1200" spc="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charming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2400" b="0" i="0" u="none" strike="noStrike" kern="1200" spc="-12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ooster: hard-working, brave, patient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Dog: loyal, diligent, trustworthy</a:t>
                      </a:r>
                    </a:p>
                    <a:p>
                      <a:r>
                        <a:rPr lang="en-US" altLang="zh-CN" sz="2400" b="0" i="0" u="none" strike="noStrike" kern="1200" spc="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altLang="zh-CN" sz="2400" b="0" i="0" u="none" strike="noStrike" kern="1200" spc="15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ig: compassionate, tolerant, </a:t>
                      </a:r>
                      <a:r>
                        <a:rPr lang="en-US" altLang="zh-CN" sz="2400" b="0" i="0" u="none" strike="noStrike" kern="1200" spc="1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intelligent</a:t>
                      </a:r>
                      <a:endParaRPr lang="zh-CN" altLang="en-US" sz="2400" spc="100" baseline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618640"/>
                  </a:ext>
                </a:extLst>
              </a:tr>
            </a:tbl>
          </a:graphicData>
        </a:graphic>
      </p:graphicFrame>
      <p:pic>
        <p:nvPicPr>
          <p:cNvPr id="2" name="Picture 3" descr="C:\Users\senj\Desktop\按钮.png">
            <a:extLst>
              <a:ext uri="{FF2B5EF4-FFF2-40B4-BE49-F238E27FC236}">
                <a16:creationId xmlns:a16="http://schemas.microsoft.com/office/drawing/2014/main" id="{A5E6C3FE-83C0-9935-7BCA-5144F640D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756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D:\sflep\策划项目\外教社Logo\W-A1-淡绿横向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44995" y="6177839"/>
            <a:ext cx="1616075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1864385" y="764815"/>
            <a:ext cx="541686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上海外语教育出版社            出版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4385" y="1226480"/>
            <a:ext cx="1633781" cy="132343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200" dirty="0"/>
              <a:t>主</a:t>
            </a:r>
            <a:r>
              <a:rPr lang="en-US" sz="2200" dirty="0"/>
              <a:t>         </a:t>
            </a:r>
            <a:r>
              <a:rPr lang="zh-CN" altLang="en-US" sz="2200" dirty="0"/>
              <a:t>编：</a:t>
            </a:r>
          </a:p>
          <a:p>
            <a:pPr>
              <a:lnSpc>
                <a:spcPts val="3200"/>
              </a:lnSpc>
            </a:pPr>
            <a:r>
              <a:rPr lang="zh-CN" altLang="en-US" sz="2200" spc="40" dirty="0"/>
              <a:t>副</a:t>
            </a:r>
            <a:r>
              <a:rPr lang="en-US" altLang="zh-CN" sz="2200" spc="40" dirty="0"/>
              <a:t>  </a:t>
            </a:r>
            <a:r>
              <a:rPr lang="zh-CN" altLang="en-US" sz="2200" spc="40" dirty="0"/>
              <a:t>主</a:t>
            </a:r>
            <a:r>
              <a:rPr lang="en-US" altLang="zh-CN" sz="2200" spc="40" dirty="0"/>
              <a:t>  </a:t>
            </a:r>
            <a:r>
              <a:rPr lang="zh-CN" altLang="en-US" sz="2200" spc="40" dirty="0"/>
              <a:t>编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>
              <a:lnSpc>
                <a:spcPts val="3200"/>
              </a:lnSpc>
            </a:pPr>
            <a:r>
              <a:rPr lang="zh-CN" altLang="en-US" sz="2200" dirty="0"/>
              <a:t>编</a:t>
            </a:r>
            <a:r>
              <a:rPr lang="en-US" sz="2200" dirty="0"/>
              <a:t>         </a:t>
            </a:r>
            <a:r>
              <a:rPr lang="zh-CN" altLang="en-US" sz="2200" dirty="0"/>
              <a:t>者：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4385" y="3493444"/>
            <a:ext cx="5416868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晟景科技（厦门）有限公司      制作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4385" y="3951994"/>
            <a:ext cx="1595309" cy="9130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200" dirty="0"/>
              <a:t>制作策划：</a:t>
            </a:r>
            <a:endParaRPr lang="en-US" altLang="zh-CN" sz="2200" dirty="0"/>
          </a:p>
          <a:p>
            <a:pPr>
              <a:lnSpc>
                <a:spcPts val="3200"/>
              </a:lnSpc>
            </a:pPr>
            <a:r>
              <a:rPr lang="zh-CN" altLang="en-US" sz="2200" dirty="0"/>
              <a:t>美术设计：</a:t>
            </a:r>
            <a:endParaRPr lang="en-US" altLang="zh-CN" sz="2200" dirty="0"/>
          </a:p>
        </p:txBody>
      </p:sp>
      <p:grpSp>
        <p:nvGrpSpPr>
          <p:cNvPr id="3" name="组合 20"/>
          <p:cNvGrpSpPr/>
          <p:nvPr/>
        </p:nvGrpSpPr>
        <p:grpSpPr>
          <a:xfrm>
            <a:off x="1953285" y="3953006"/>
            <a:ext cx="5178464" cy="2103"/>
            <a:chOff x="2465372" y="2856981"/>
            <a:chExt cx="5178464" cy="2103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5280170" y="2856981"/>
              <a:ext cx="2363666" cy="1809"/>
            </a:xfrm>
            <a:prstGeom prst="line">
              <a:avLst/>
            </a:prstGeom>
            <a:ln>
              <a:solidFill>
                <a:srgbClr val="9827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2465372" y="2857496"/>
              <a:ext cx="2821008" cy="1588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" name="组合 26"/>
          <p:cNvGrpSpPr/>
          <p:nvPr/>
        </p:nvGrpSpPr>
        <p:grpSpPr>
          <a:xfrm>
            <a:off x="1953285" y="1226774"/>
            <a:ext cx="5178464" cy="2103"/>
            <a:chOff x="2465372" y="2856981"/>
            <a:chExt cx="5178464" cy="2103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5280170" y="2856981"/>
              <a:ext cx="2363666" cy="1809"/>
            </a:xfrm>
            <a:prstGeom prst="line">
              <a:avLst/>
            </a:prstGeom>
            <a:ln>
              <a:solidFill>
                <a:srgbClr val="98273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2465372" y="2857496"/>
              <a:ext cx="2821008" cy="1588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/>
        </p:nvSpPr>
        <p:spPr>
          <a:xfrm>
            <a:off x="1062805" y="6150335"/>
            <a:ext cx="52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982738"/>
                </a:solidFill>
                <a:ea typeface="宋体" pitchFamily="2" charset="-122"/>
                <a:cs typeface="Times New Roman" pitchFamily="18" charset="0"/>
              </a:rPr>
              <a:t>©</a:t>
            </a:r>
            <a:r>
              <a:rPr lang="zh-CN" altLang="en-US" b="1" dirty="0">
                <a:solidFill>
                  <a:srgbClr val="982738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上海外语教育出版社，</a:t>
            </a:r>
            <a:r>
              <a:rPr lang="en-US" altLang="zh-CN" b="1" dirty="0">
                <a:solidFill>
                  <a:srgbClr val="982738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2023   </a:t>
            </a:r>
            <a:r>
              <a:rPr lang="zh-CN" altLang="en-US" b="1" dirty="0">
                <a:solidFill>
                  <a:srgbClr val="982738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版权所有  翻版必究</a:t>
            </a:r>
            <a:endParaRPr lang="zh-CN" altLang="en-US" b="1" dirty="0">
              <a:solidFill>
                <a:srgbClr val="982738"/>
              </a:solidFill>
            </a:endParaRPr>
          </a:p>
        </p:txBody>
      </p:sp>
      <p:sp>
        <p:nvSpPr>
          <p:cNvPr id="168" name="TextBox 16"/>
          <p:cNvSpPr txBox="1"/>
          <p:nvPr/>
        </p:nvSpPr>
        <p:spPr>
          <a:xfrm>
            <a:off x="3363789" y="1226480"/>
            <a:ext cx="3643946" cy="128240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dirty="0"/>
              <a:t>肖维青     马乐东</a:t>
            </a:r>
            <a:endParaRPr lang="en-US" altLang="zh-CN" sz="2400" dirty="0"/>
          </a:p>
          <a:p>
            <a:pPr>
              <a:lnSpc>
                <a:spcPts val="3200"/>
              </a:lnSpc>
            </a:pPr>
            <a:r>
              <a:rPr lang="zh-CN" altLang="en-US" sz="2400" dirty="0"/>
              <a:t>李</a:t>
            </a:r>
            <a:r>
              <a:rPr lang="zh-CN" altLang="en-US" sz="2400" dirty="0">
                <a:solidFill>
                  <a:schemeClr val="bg1"/>
                </a:solidFill>
              </a:rPr>
              <a:t>涛</a:t>
            </a:r>
            <a:r>
              <a:rPr lang="zh-CN" altLang="en-US" sz="2400" dirty="0"/>
              <a:t>涛     彭文青</a:t>
            </a:r>
          </a:p>
          <a:p>
            <a:r>
              <a:rPr lang="zh-CN" altLang="en-US" sz="2400" dirty="0"/>
              <a:t>张</a:t>
            </a:r>
            <a:r>
              <a:rPr lang="zh-CN" altLang="en-US" sz="2400" dirty="0">
                <a:solidFill>
                  <a:schemeClr val="bg1"/>
                </a:solidFill>
              </a:rPr>
              <a:t>汨</a:t>
            </a:r>
            <a:r>
              <a:rPr lang="zh-CN" altLang="en-US" sz="2400" dirty="0"/>
              <a:t>汨     唐一辰     李</a:t>
            </a:r>
            <a:r>
              <a:rPr lang="zh-CN" altLang="en-US" sz="2400" dirty="0">
                <a:solidFill>
                  <a:schemeClr val="bg1"/>
                </a:solidFill>
              </a:rPr>
              <a:t>颖</a:t>
            </a:r>
            <a:r>
              <a:rPr lang="zh-CN" altLang="en-US" sz="2400" dirty="0"/>
              <a:t>颖</a:t>
            </a:r>
          </a:p>
        </p:txBody>
      </p:sp>
      <p:sp>
        <p:nvSpPr>
          <p:cNvPr id="184" name="TextBox 16"/>
          <p:cNvSpPr txBox="1"/>
          <p:nvPr/>
        </p:nvSpPr>
        <p:spPr>
          <a:xfrm>
            <a:off x="3363789" y="3951994"/>
            <a:ext cx="2375971" cy="9130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dirty="0"/>
              <a:t>曹晓英     陈楚玲</a:t>
            </a:r>
            <a:endParaRPr lang="en-US" altLang="zh-CN" sz="2400" dirty="0"/>
          </a:p>
          <a:p>
            <a:pPr>
              <a:lnSpc>
                <a:spcPts val="3200"/>
              </a:lnSpc>
            </a:pPr>
            <a:r>
              <a:rPr lang="zh-CN" altLang="en-US" sz="2400" dirty="0"/>
              <a:t>叶捷鑫     吴永锋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0000" y="764815"/>
            <a:ext cx="8532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Upon completion of this unit, you are expected to have:</a:t>
            </a:r>
          </a:p>
          <a:p>
            <a:r>
              <a:rPr lang="en-US" altLang="zh-CN" sz="2400" b="1" dirty="0">
                <a:solidFill>
                  <a:srgbClr val="C6383E"/>
                </a:solidFill>
              </a:rPr>
              <a:t>1</a:t>
            </a:r>
            <a:endParaRPr lang="en-US" altLang="zh-CN" sz="2400" dirty="0"/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2</a:t>
            </a:r>
            <a:endParaRPr lang="en-US" altLang="zh-CN" sz="2400" dirty="0"/>
          </a:p>
          <a:p>
            <a:r>
              <a:rPr lang="en-US" altLang="zh-CN" sz="2400" b="1" dirty="0">
                <a:solidFill>
                  <a:srgbClr val="C6383E"/>
                </a:solidFill>
              </a:rPr>
              <a:t>3</a:t>
            </a:r>
            <a:endParaRPr lang="en-US" altLang="zh-CN" sz="2400" dirty="0"/>
          </a:p>
          <a:p>
            <a:endParaRPr lang="en-US" altLang="zh-CN" sz="2400" b="1" dirty="0">
              <a:solidFill>
                <a:srgbClr val="C6383E"/>
              </a:solidFill>
            </a:endParaRPr>
          </a:p>
          <a:p>
            <a:r>
              <a:rPr lang="en-US" altLang="zh-CN" sz="2400" b="1" dirty="0">
                <a:solidFill>
                  <a:srgbClr val="C6383E"/>
                </a:solidFill>
              </a:rPr>
              <a:t>4</a:t>
            </a:r>
            <a:endParaRPr lang="en-US" altLang="zh-CN" sz="2400" dirty="0"/>
          </a:p>
          <a:p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0240" y="764815"/>
            <a:ext cx="82420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/>
          </a:p>
          <a:p>
            <a:r>
              <a:rPr lang="en-US" altLang="zh-CN" sz="2400" dirty="0"/>
              <a:t>a</a:t>
            </a:r>
            <a:r>
              <a:rPr lang="en-US" altLang="zh-CN" sz="2400" spc="20" dirty="0"/>
              <a:t>chieved a </a:t>
            </a:r>
            <a:r>
              <a:rPr lang="en-US" altLang="zh-CN" sz="2400" spc="30" dirty="0"/>
              <a:t>thorough understanding of the Chinese festivals and </a:t>
            </a:r>
            <a:r>
              <a:rPr lang="en-US" altLang="zh-CN" sz="2400" dirty="0"/>
              <a:t>calendar;</a:t>
            </a:r>
          </a:p>
          <a:p>
            <a:r>
              <a:rPr lang="en-US" altLang="zh-CN" sz="2400" dirty="0"/>
              <a:t>built up an active vocabulary about holidays, festivals, etc.;</a:t>
            </a:r>
          </a:p>
          <a:p>
            <a:r>
              <a:rPr lang="en-US" altLang="zh-CN" sz="2400" dirty="0"/>
              <a:t>d</a:t>
            </a:r>
            <a:r>
              <a:rPr lang="en-US" altLang="zh-CN" sz="2400" spc="10" dirty="0"/>
              <a:t>eveloped critical thinking abilities </a:t>
            </a:r>
            <a:r>
              <a:rPr lang="en-US" altLang="zh-CN" sz="2400" spc="20" dirty="0"/>
              <a:t>about festivals and calendars </a:t>
            </a:r>
            <a:r>
              <a:rPr lang="en-US" altLang="zh-CN" sz="2400" dirty="0"/>
              <a:t>by means of comparison, discussion, and presentation;</a:t>
            </a:r>
          </a:p>
          <a:p>
            <a:r>
              <a:rPr lang="en-US" altLang="zh-CN" sz="2400" dirty="0"/>
              <a:t>d</a:t>
            </a:r>
            <a:r>
              <a:rPr lang="en-US" altLang="zh-CN" sz="2400" spc="30" dirty="0"/>
              <a:t>eveloped the ability to introduce Chinese </a:t>
            </a:r>
            <a:r>
              <a:rPr lang="en-US" altLang="zh-CN" sz="2400" spc="40" dirty="0"/>
              <a:t>festivals and related </a:t>
            </a:r>
            <a:r>
              <a:rPr lang="en-US" altLang="zh-CN" sz="2400" dirty="0"/>
              <a:t>topics effectively.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00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31A8C8-BCBF-E9EE-006D-A33D933A4156}"/>
              </a:ext>
            </a:extLst>
          </p:cNvPr>
          <p:cNvSpPr txBox="1"/>
          <p:nvPr/>
        </p:nvSpPr>
        <p:spPr>
          <a:xfrm>
            <a:off x="360000" y="764815"/>
            <a:ext cx="85323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</a:t>
            </a:r>
            <a:r>
              <a:rPr lang="en-US" altLang="zh-CN" sz="2400" spc="40" dirty="0"/>
              <a:t>. “Crackers” here refers to firecrackers. Setting off firecrackers is </a:t>
            </a:r>
            <a:r>
              <a:rPr lang="en-US" altLang="zh-CN" sz="2400" dirty="0"/>
              <a:t>o</a:t>
            </a:r>
            <a:r>
              <a:rPr lang="en-US" altLang="zh-CN" sz="2400" spc="10" dirty="0"/>
              <a:t>ne of the time-honored customs of celebrating Chinese New Year. </a:t>
            </a:r>
            <a:r>
              <a:rPr lang="en-US" altLang="zh-CN" sz="2400" dirty="0"/>
              <a:t>I</a:t>
            </a:r>
            <a:r>
              <a:rPr lang="en-US" altLang="zh-CN" sz="2400" spc="30" dirty="0"/>
              <a:t>n traditional Chinese culture</a:t>
            </a:r>
            <a:r>
              <a:rPr lang="en-US" altLang="zh-CN" sz="2400" spc="40" dirty="0"/>
              <a:t>, firecrackers were originally used to </a:t>
            </a:r>
            <a:r>
              <a:rPr lang="en-US" altLang="zh-CN" sz="2400" dirty="0"/>
              <a:t>s</a:t>
            </a:r>
            <a:r>
              <a:rPr lang="en-US" altLang="zh-CN" sz="2400" spc="60" dirty="0"/>
              <a:t>care away evil spirits. For the sake of safety and </a:t>
            </a:r>
            <a:r>
              <a:rPr lang="en-US" altLang="zh-CN" sz="2400" spc="70" dirty="0"/>
              <a:t>environmental</a:t>
            </a:r>
            <a:r>
              <a:rPr lang="en-US" altLang="zh-CN" sz="2400" spc="60" dirty="0"/>
              <a:t> </a:t>
            </a:r>
            <a:r>
              <a:rPr lang="en-US" altLang="zh-CN" sz="2400" dirty="0"/>
              <a:t>p</a:t>
            </a:r>
            <a:r>
              <a:rPr lang="en-US" altLang="zh-CN" sz="2400" spc="-40" dirty="0"/>
              <a:t>rotection, many cities across China have imposed bans or restrictions </a:t>
            </a:r>
            <a:r>
              <a:rPr lang="en-US" altLang="zh-CN" sz="2400" dirty="0"/>
              <a:t>o</a:t>
            </a:r>
            <a:r>
              <a:rPr lang="en-US" altLang="zh-CN" sz="2400" spc="-20" dirty="0"/>
              <a:t>n the use of fireworks and firecrackers during </a:t>
            </a:r>
            <a:r>
              <a:rPr lang="en-US" altLang="zh-CN" sz="2400" spc="-10" dirty="0"/>
              <a:t>festivals and holidays. </a:t>
            </a:r>
            <a:r>
              <a:rPr lang="en-US" altLang="zh-CN" sz="2400" dirty="0"/>
              <a:t>2. I</a:t>
            </a:r>
            <a:r>
              <a:rPr lang="en-US" altLang="zh-CN" sz="2400" spc="-20" dirty="0"/>
              <a:t>n ancient China, the peach</a:t>
            </a:r>
            <a:r>
              <a:rPr lang="en-US" altLang="zh-CN" sz="2400" spc="-10" dirty="0"/>
              <a:t> symbolized longevity and peach-wood </a:t>
            </a:r>
            <a:r>
              <a:rPr lang="en-US" altLang="zh-CN" sz="2400" dirty="0"/>
              <a:t>w</a:t>
            </a:r>
            <a:r>
              <a:rPr lang="en-US" altLang="zh-CN" sz="2400" spc="10" dirty="0"/>
              <a:t>as also believed to have a special pow</a:t>
            </a:r>
            <a:r>
              <a:rPr lang="en-US" altLang="zh-CN" sz="2400" spc="20" dirty="0"/>
              <a:t>er to keep away evil spirits. </a:t>
            </a:r>
            <a:r>
              <a:rPr lang="en-US" altLang="zh-CN" sz="2400" dirty="0"/>
              <a:t>A</a:t>
            </a:r>
            <a:r>
              <a:rPr lang="en-US" altLang="zh-CN" sz="2400" spc="60" dirty="0"/>
              <a:t> tradition gradually developed</a:t>
            </a:r>
            <a:r>
              <a:rPr lang="en-US" altLang="zh-CN" sz="2400" spc="70" dirty="0"/>
              <a:t> to hang peach-wood charms on </a:t>
            </a:r>
            <a:r>
              <a:rPr lang="en-US" altLang="zh-CN" sz="2400" dirty="0"/>
              <a:t>g</a:t>
            </a:r>
            <a:r>
              <a:rPr lang="en-US" altLang="zh-CN" sz="2400" spc="30" dirty="0"/>
              <a:t>ates and </a:t>
            </a:r>
            <a:r>
              <a:rPr lang="en-US" altLang="zh-CN" sz="2400" spc="40" dirty="0"/>
              <a:t>doors for protection from evil influences. This tradition </a:t>
            </a:r>
            <a:r>
              <a:rPr lang="en-US" altLang="zh-CN" sz="2400" dirty="0"/>
              <a:t>f</a:t>
            </a:r>
            <a:r>
              <a:rPr lang="en-US" altLang="zh-CN" sz="2400" spc="70" dirty="0"/>
              <a:t>urther evolved during the Song dynasty whe</a:t>
            </a:r>
            <a:r>
              <a:rPr lang="en-US" altLang="zh-CN" sz="2400" spc="80" dirty="0"/>
              <a:t>n the peach-wood </a:t>
            </a:r>
            <a:r>
              <a:rPr lang="en-US" altLang="zh-CN" sz="2400" dirty="0"/>
              <a:t>D</a:t>
            </a:r>
            <a:r>
              <a:rPr lang="en-US" altLang="zh-CN" sz="2400" spc="-10" dirty="0"/>
              <a:t>oor-God charms were replaced by </a:t>
            </a:r>
            <a:r>
              <a:rPr lang="en-US" altLang="zh-CN" sz="2400" dirty="0"/>
              <a:t>spring couplets (</a:t>
            </a:r>
            <a:r>
              <a:rPr lang="en-US" altLang="zh-CN" sz="2400" i="1" dirty="0" err="1"/>
              <a:t>chunlian</a:t>
            </a:r>
            <a:r>
              <a:rPr lang="en-US" altLang="zh-CN" sz="2400" i="1" dirty="0"/>
              <a:t> </a:t>
            </a:r>
            <a:r>
              <a:rPr lang="zh-CN" altLang="en-US" sz="2400" dirty="0"/>
              <a:t>春联</a:t>
            </a:r>
            <a:r>
              <a:rPr lang="en-US" altLang="zh-CN" sz="2400" dirty="0"/>
              <a:t>), w</a:t>
            </a:r>
            <a:r>
              <a:rPr lang="en-US" altLang="zh-CN" sz="2400" spc="30" dirty="0"/>
              <a:t>hich are auspicious verses written on red paper and hung above </a:t>
            </a:r>
            <a:r>
              <a:rPr lang="en-US" altLang="zh-CN" sz="2400" dirty="0"/>
              <a:t>and at the sides of doors and gates.</a:t>
            </a:r>
            <a:endParaRPr lang="zh-CN" altLang="en-US" sz="2400" dirty="0">
              <a:solidFill>
                <a:srgbClr val="FF0000"/>
              </a:solidFill>
              <a:latin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933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Sample</a:t>
            </a:r>
          </a:p>
          <a:p>
            <a:pPr algn="ctr"/>
            <a:r>
              <a:rPr lang="en-US" altLang="zh-CN" sz="2400" b="1" dirty="0"/>
              <a:t>My Chinese Zodiac Sign</a:t>
            </a:r>
          </a:p>
          <a:p>
            <a:r>
              <a:rPr lang="en-US" altLang="zh-CN" sz="2400" dirty="0"/>
              <a:t>     M</a:t>
            </a:r>
            <a:r>
              <a:rPr lang="en-US" altLang="zh-CN" sz="2400" spc="30" dirty="0"/>
              <a:t>y Chinese zodiac</a:t>
            </a:r>
            <a:r>
              <a:rPr lang="en-US" altLang="zh-CN" sz="2400" spc="40" dirty="0"/>
              <a:t> sign is the Rabbit, which ranks fourth in the </a:t>
            </a:r>
            <a:r>
              <a:rPr lang="en-US" altLang="zh-CN" sz="2400" dirty="0"/>
              <a:t>Chinese zodiac.</a:t>
            </a:r>
          </a:p>
          <a:p>
            <a:r>
              <a:rPr lang="en-US" altLang="zh-CN" sz="2400" dirty="0"/>
              <a:t>     L</a:t>
            </a:r>
            <a:r>
              <a:rPr lang="en-US" altLang="zh-CN" sz="2400" spc="30" dirty="0"/>
              <a:t>egend has it that a long time ago, there </a:t>
            </a:r>
            <a:r>
              <a:rPr lang="en-US" altLang="zh-CN" sz="2400" spc="40" dirty="0"/>
              <a:t>were three immortals </a:t>
            </a:r>
            <a:r>
              <a:rPr lang="en-US" altLang="zh-CN" sz="2400" dirty="0"/>
              <a:t>w</a:t>
            </a:r>
            <a:r>
              <a:rPr lang="en-US" altLang="zh-CN" sz="2400" spc="30" dirty="0"/>
              <a:t>ho came to the mortal world and disguised as </a:t>
            </a:r>
            <a:r>
              <a:rPr lang="en-US" altLang="zh-CN" sz="2400" spc="40" dirty="0"/>
              <a:t>three old beggars </a:t>
            </a:r>
            <a:r>
              <a:rPr lang="en-US" altLang="zh-CN" sz="2400" dirty="0"/>
              <a:t>w</a:t>
            </a:r>
            <a:r>
              <a:rPr lang="en-US" altLang="zh-CN" sz="2400" spc="50" dirty="0"/>
              <a:t>hile traveling around the world. They begged many animals for </a:t>
            </a:r>
            <a:r>
              <a:rPr lang="en-US" altLang="zh-CN" sz="2400" dirty="0"/>
              <a:t>f</a:t>
            </a:r>
            <a:r>
              <a:rPr lang="en-US" altLang="zh-CN" sz="2400" spc="-20" dirty="0"/>
              <a:t>ood but received nothing. Then a rabbit jumped to them</a:t>
            </a:r>
            <a:r>
              <a:rPr lang="en-US" altLang="zh-CN" sz="2400" spc="-10" dirty="0"/>
              <a:t>, comforted </a:t>
            </a:r>
            <a:r>
              <a:rPr lang="en-US" altLang="zh-CN" sz="2400" dirty="0"/>
              <a:t>t</a:t>
            </a:r>
            <a:r>
              <a:rPr lang="en-US" altLang="zh-CN" sz="2400" spc="20" dirty="0"/>
              <a:t>hem softly and set a fire for them to warm their bodies. However, </a:t>
            </a:r>
            <a:r>
              <a:rPr lang="en-US" altLang="zh-CN" sz="2400" dirty="0"/>
              <a:t>the rabbit had no food to offer them, so </a:t>
            </a:r>
            <a:r>
              <a:rPr lang="en-US" altLang="zh-CN" sz="2400" spc="10" dirty="0"/>
              <a:t>it leaped into the fire to be </a:t>
            </a:r>
            <a:r>
              <a:rPr lang="en-US" altLang="zh-CN" sz="2400" dirty="0"/>
              <a:t>t</a:t>
            </a:r>
            <a:r>
              <a:rPr lang="en-US" altLang="zh-CN" sz="2400" spc="30" dirty="0"/>
              <a:t>he food for them. The three immorta</a:t>
            </a:r>
            <a:r>
              <a:rPr lang="en-US" altLang="zh-CN" sz="2400" spc="40" dirty="0"/>
              <a:t>ls were deeply touched and </a:t>
            </a:r>
            <a:r>
              <a:rPr lang="en-US" altLang="zh-CN" sz="2400" dirty="0"/>
              <a:t>g</a:t>
            </a:r>
            <a:r>
              <a:rPr lang="en-US" altLang="zh-CN" sz="2400" spc="30" dirty="0"/>
              <a:t>ave the </a:t>
            </a:r>
            <a:r>
              <a:rPr lang="en-US" altLang="zh-CN" sz="2400" spc="40" dirty="0"/>
              <a:t>rabbit a position in heaven in return for its kindness and </a:t>
            </a:r>
            <a:r>
              <a:rPr lang="en-US" altLang="zh-CN" sz="2400" dirty="0"/>
              <a:t>generosity. Generally speaking, rabbits </a:t>
            </a:r>
            <a:r>
              <a:rPr lang="en-US" altLang="zh-CN" sz="2400" spc="10" dirty="0"/>
              <a:t>tend to be friendly, cautious </a:t>
            </a:r>
            <a:r>
              <a:rPr lang="en-US" altLang="zh-CN" sz="2400" dirty="0"/>
              <a:t>a</a:t>
            </a:r>
            <a:r>
              <a:rPr lang="en-US" altLang="zh-CN" sz="2400" spc="10" dirty="0"/>
              <a:t>nd creative. However, that is not what I am, especially when I was </a:t>
            </a:r>
            <a:r>
              <a:rPr lang="en-US" altLang="zh-CN" sz="2400" dirty="0"/>
              <a:t>a little kid.</a:t>
            </a:r>
            <a:endParaRPr lang="zh-CN" altLang="en-US" sz="2400" dirty="0"/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3" descr="C:\Users\senj\Desktop\按钮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9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00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W</a:t>
            </a:r>
            <a:r>
              <a:rPr lang="en-US" altLang="zh-CN" sz="2400" spc="-50" dirty="0"/>
              <a:t>hen I was in </a:t>
            </a:r>
            <a:r>
              <a:rPr lang="en-US" altLang="zh-CN" sz="2400" spc="-40" dirty="0"/>
              <a:t>primary school, I was not a very good student. Unlike </a:t>
            </a:r>
            <a:r>
              <a:rPr lang="en-US" altLang="zh-CN" sz="2400" dirty="0"/>
              <a:t>t</a:t>
            </a:r>
            <a:r>
              <a:rPr lang="en-US" altLang="zh-CN" sz="2400" spc="-20" dirty="0"/>
              <a:t>he little rabbit that was gentle and </a:t>
            </a:r>
            <a:r>
              <a:rPr lang="en-US" altLang="zh-CN" sz="2400" spc="-10" dirty="0"/>
              <a:t>considerate in the story, I tended </a:t>
            </a:r>
            <a:r>
              <a:rPr lang="en-US" altLang="zh-CN" sz="2400" dirty="0"/>
              <a:t>t</a:t>
            </a:r>
            <a:r>
              <a:rPr lang="en-US" altLang="zh-CN" sz="2400" spc="20" dirty="0"/>
              <a:t>o miss out on important details and make careless mistakes in my </a:t>
            </a:r>
            <a:r>
              <a:rPr lang="en-US" altLang="zh-CN" sz="2400" dirty="0"/>
              <a:t>a</a:t>
            </a:r>
            <a:r>
              <a:rPr lang="en-US" altLang="zh-CN" sz="2400" spc="-50" dirty="0"/>
              <a:t>ssignments. Though my parents</a:t>
            </a:r>
            <a:r>
              <a:rPr lang="en-US" altLang="zh-CN" sz="2400" spc="-40" dirty="0"/>
              <a:t> had criticized me for my carelessness </a:t>
            </a:r>
            <a:r>
              <a:rPr lang="en-US" altLang="zh-CN" sz="2400" dirty="0"/>
              <a:t>m</a:t>
            </a:r>
            <a:r>
              <a:rPr lang="en-US" altLang="zh-CN" sz="2400" spc="-50" dirty="0"/>
              <a:t>any times and I thought I had put a lot of </a:t>
            </a:r>
            <a:r>
              <a:rPr lang="en-US" altLang="zh-CN" sz="2400" spc="-40" dirty="0"/>
              <a:t>effort into double checking, </a:t>
            </a:r>
            <a:r>
              <a:rPr lang="en-US" altLang="zh-CN" sz="2400" dirty="0"/>
              <a:t>I</a:t>
            </a:r>
            <a:r>
              <a:rPr lang="en-US" altLang="zh-CN" sz="2400" spc="10" dirty="0"/>
              <a:t> still made many mistakes on my papers</a:t>
            </a:r>
            <a:r>
              <a:rPr lang="en-US" altLang="zh-CN" sz="2400" spc="20" dirty="0"/>
              <a:t> and assignments. Hearing </a:t>
            </a:r>
            <a:r>
              <a:rPr lang="en-US" altLang="zh-CN" sz="2400" dirty="0"/>
              <a:t>c</a:t>
            </a:r>
            <a:r>
              <a:rPr lang="en-US" altLang="zh-CN" sz="2400" spc="-10" dirty="0"/>
              <a:t>riticism all the time, I became</a:t>
            </a:r>
            <a:r>
              <a:rPr lang="en-US" altLang="zh-CN" sz="2400" dirty="0"/>
              <a:t> unfriendly and bad-tempered, which has nothing to do with that kind rabbit.</a:t>
            </a:r>
          </a:p>
          <a:p>
            <a:r>
              <a:rPr lang="en-US" altLang="zh-CN" sz="2400" dirty="0"/>
              <a:t>     I</a:t>
            </a:r>
            <a:r>
              <a:rPr lang="en-US" altLang="zh-CN" sz="2400" spc="50" dirty="0"/>
              <a:t>t was not until high school that I </a:t>
            </a:r>
            <a:r>
              <a:rPr lang="en-US" altLang="zh-CN" sz="2400" spc="60" dirty="0"/>
              <a:t>managed to improve myself. </a:t>
            </a:r>
            <a:r>
              <a:rPr lang="en-US" altLang="zh-CN" sz="2400" dirty="0"/>
              <a:t>W</a:t>
            </a:r>
            <a:r>
              <a:rPr lang="en-US" altLang="zh-CN" sz="2400" spc="30" dirty="0"/>
              <a:t>ith the careless mistakes becoming fewer</a:t>
            </a:r>
            <a:r>
              <a:rPr lang="en-US" altLang="zh-CN" sz="2400" spc="40" dirty="0"/>
              <a:t>, I was more confident </a:t>
            </a:r>
            <a:r>
              <a:rPr lang="en-US" altLang="zh-CN" sz="2400" dirty="0"/>
              <a:t>a</a:t>
            </a:r>
            <a:r>
              <a:rPr lang="en-US" altLang="zh-CN" sz="2400" spc="-40" dirty="0"/>
              <a:t>nd finally realized the love and expectations my parents and teachers </a:t>
            </a:r>
            <a:r>
              <a:rPr lang="en-US" altLang="zh-CN" sz="2400" dirty="0"/>
              <a:t>h</a:t>
            </a:r>
            <a:r>
              <a:rPr lang="en-US" altLang="zh-CN" sz="2400" spc="-20" dirty="0"/>
              <a:t>ad for me. In the next</a:t>
            </a:r>
            <a:r>
              <a:rPr lang="en-US" altLang="zh-CN" sz="2400" spc="-10" dirty="0"/>
              <a:t> few years, I became more and more cautious </a:t>
            </a:r>
            <a:r>
              <a:rPr lang="en-US" altLang="zh-CN" sz="2400" dirty="0"/>
              <a:t>and started treating others kindly.</a:t>
            </a:r>
          </a:p>
          <a:p>
            <a:r>
              <a:rPr lang="en-US" altLang="zh-CN" sz="2400" dirty="0"/>
              <a:t>     A</a:t>
            </a:r>
            <a:r>
              <a:rPr lang="en-US" altLang="zh-CN" sz="2400" spc="10" dirty="0"/>
              <a:t>s one grows older, one’s personality could change. </a:t>
            </a:r>
            <a:r>
              <a:rPr lang="en-US" altLang="zh-CN" sz="2400" spc="20" dirty="0"/>
              <a:t>Experiences</a:t>
            </a:r>
            <a:r>
              <a:rPr lang="en-US" altLang="zh-CN" sz="2400" spc="10" dirty="0"/>
              <a:t> </a:t>
            </a:r>
            <a:r>
              <a:rPr lang="en-US" altLang="zh-CN" sz="2400" dirty="0"/>
              <a:t>p</a:t>
            </a:r>
            <a:r>
              <a:rPr lang="en-US" altLang="zh-CN" sz="2400" spc="60" dirty="0"/>
              <a:t>lay an important role in shaping one’s personality. </a:t>
            </a:r>
            <a:r>
              <a:rPr lang="en-US" altLang="zh-CN" sz="2400" spc="50" dirty="0"/>
              <a:t>And it is not</a:t>
            </a:r>
            <a:endParaRPr lang="zh-CN" altLang="en-US" sz="2400" dirty="0"/>
          </a:p>
        </p:txBody>
      </p:sp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3" name="虚尾箭头 5">
            <a:hlinkClick r:id="rId4" action="ppaction://hlinksldjump"/>
            <a:extLst>
              <a:ext uri="{FF2B5EF4-FFF2-40B4-BE49-F238E27FC236}">
                <a16:creationId xmlns:a16="http://schemas.microsoft.com/office/drawing/2014/main" id="{63071EF2-1478-4F32-CF7E-F62D9F69A616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E6046B9-EECA-2454-239D-58435EEC8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6223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necessarily attributable to zodiac signs, whether </a:t>
            </a:r>
            <a:r>
              <a:rPr lang="en-US" altLang="zh-CN" sz="2400" spc="10" dirty="0"/>
              <a:t>Ox or Taurus, Goat </a:t>
            </a:r>
            <a:r>
              <a:rPr lang="en-US" altLang="zh-CN" sz="2400" dirty="0"/>
              <a:t>or Aries, or in my case, the Rabbit.</a:t>
            </a:r>
            <a:endParaRPr lang="zh-CN" altLang="en-US" sz="2400" dirty="0"/>
          </a:p>
        </p:txBody>
      </p:sp>
      <p:pic>
        <p:nvPicPr>
          <p:cNvPr id="4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3" name="虚尾箭头 5">
            <a:hlinkClick r:id="rId5" action="ppaction://hlinksldjump"/>
            <a:extLst>
              <a:ext uri="{FF2B5EF4-FFF2-40B4-BE49-F238E27FC236}">
                <a16:creationId xmlns:a16="http://schemas.microsoft.com/office/drawing/2014/main" id="{63071EF2-1478-4F32-CF7E-F62D9F69A616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00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Spring Festival</a:t>
            </a:r>
          </a:p>
          <a:p>
            <a:r>
              <a:rPr lang="en-US" altLang="zh-CN" sz="2400" dirty="0"/>
              <a:t>T</a:t>
            </a:r>
            <a:r>
              <a:rPr lang="en-US" altLang="zh-CN" sz="2400" spc="-60" dirty="0"/>
              <a:t>he first day of the first lunar month is the Spring Festival, the beginning </a:t>
            </a:r>
          </a:p>
          <a:p>
            <a:r>
              <a:rPr lang="en-US" altLang="zh-CN" sz="2400" dirty="0"/>
              <a:t>     of a new year for China.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40" dirty="0"/>
              <a:t>he Spring Festival is China’s biggest </a:t>
            </a:r>
            <a:r>
              <a:rPr lang="en-US" altLang="zh-CN" sz="2400" spc="-30" dirty="0"/>
              <a:t>extravaganza and a day for family </a:t>
            </a:r>
          </a:p>
          <a:p>
            <a:r>
              <a:rPr lang="en-US" altLang="zh-CN" sz="2400" dirty="0"/>
              <a:t>     reunion.</a:t>
            </a:r>
          </a:p>
          <a:p>
            <a:r>
              <a:rPr lang="en-US" altLang="zh-CN" sz="2400" dirty="0"/>
              <a:t>Being around family members at the </a:t>
            </a:r>
            <a:r>
              <a:rPr lang="en-US" altLang="zh-CN" sz="2400" spc="10" dirty="0"/>
              <a:t>turn of the year is a vital ritual </a:t>
            </a:r>
          </a:p>
          <a:p>
            <a:r>
              <a:rPr lang="en-US" altLang="zh-CN" sz="2400" dirty="0"/>
              <a:t>     for the Chinese people.</a:t>
            </a:r>
          </a:p>
          <a:p>
            <a:r>
              <a:rPr lang="en-US" altLang="zh-CN" sz="2400" dirty="0"/>
              <a:t>M</a:t>
            </a:r>
            <a:r>
              <a:rPr lang="en-US" altLang="zh-CN" sz="2400" spc="-30" dirty="0"/>
              <a:t>any of those living away from their hometowns return home during </a:t>
            </a:r>
          </a:p>
          <a:p>
            <a:r>
              <a:rPr lang="en-US" altLang="zh-CN" sz="2400" dirty="0"/>
              <a:t>     t</a:t>
            </a:r>
            <a:r>
              <a:rPr lang="en-US" altLang="zh-CN" sz="2400" spc="10" dirty="0"/>
              <a:t>he Spring Festival,</a:t>
            </a:r>
            <a:r>
              <a:rPr lang="en-US" altLang="zh-CN" sz="2400" spc="20" dirty="0"/>
              <a:t> which gives rise to what’s called “the largest </a:t>
            </a:r>
          </a:p>
          <a:p>
            <a:r>
              <a:rPr lang="en-US" altLang="zh-CN" sz="2400" dirty="0"/>
              <a:t>     a</a:t>
            </a:r>
            <a:r>
              <a:rPr lang="en-US" altLang="zh-CN" sz="2400" spc="-20" dirty="0"/>
              <a:t>nnual human migration  in the </a:t>
            </a:r>
            <a:r>
              <a:rPr lang="en-US" altLang="zh-CN" sz="2400" spc="-10" dirty="0"/>
              <a:t>world”, also known as the “Spring </a:t>
            </a:r>
          </a:p>
          <a:p>
            <a:r>
              <a:rPr lang="en-US" altLang="zh-CN" sz="2400" dirty="0"/>
              <a:t>     Festival travel rush”.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20" dirty="0"/>
              <a:t>he Spring Festival </a:t>
            </a:r>
            <a:r>
              <a:rPr lang="en-US" altLang="zh-CN" sz="2400" spc="-10" dirty="0"/>
              <a:t>celebration is a continuous process, starting from </a:t>
            </a:r>
          </a:p>
          <a:p>
            <a:r>
              <a:rPr lang="en-US" altLang="zh-CN" sz="2400" dirty="0"/>
              <a:t>     the 23rd or 24th of the 12th lunar month.</a:t>
            </a:r>
          </a:p>
          <a:p>
            <a:r>
              <a:rPr lang="en-US" altLang="zh-CN" sz="2400" dirty="0"/>
              <a:t>P</a:t>
            </a:r>
            <a:r>
              <a:rPr lang="en-US" altLang="zh-CN" sz="2400" spc="10" dirty="0"/>
              <a:t>eople often worship the Kitchen God, </a:t>
            </a:r>
            <a:r>
              <a:rPr lang="en-US" altLang="zh-CN" sz="2400" spc="20" dirty="0"/>
              <a:t>clean their houses, do their </a:t>
            </a:r>
          </a:p>
          <a:p>
            <a:r>
              <a:rPr lang="en-US" altLang="zh-CN" sz="2400" dirty="0"/>
              <a:t>     s</a:t>
            </a:r>
            <a:r>
              <a:rPr lang="en-US" altLang="zh-CN" sz="2400" spc="-50" dirty="0"/>
              <a:t>hopping and put up Spring Festival couplets (blessing words posted 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Picture 3" descr="C:\Users\senj\Desktop\按钮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9" name="Picture 3" descr="C:\Users\senj\Desktop\按钮.png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5795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on door frames) until New Year’s Eve on the lunar calendar.</a:t>
            </a:r>
          </a:p>
          <a:p>
            <a:r>
              <a:rPr lang="en-US" altLang="zh-CN" sz="2400" dirty="0"/>
              <a:t>These customs can be traced back to a Chinese legend.</a:t>
            </a:r>
          </a:p>
          <a:p>
            <a:r>
              <a:rPr lang="en-US" altLang="zh-CN" sz="2400" dirty="0"/>
              <a:t>I</a:t>
            </a:r>
            <a:r>
              <a:rPr lang="en-US" altLang="zh-CN" sz="2400" spc="50" dirty="0"/>
              <a:t>t is said that in ancient times, there was a monster named </a:t>
            </a:r>
            <a:r>
              <a:rPr lang="en-US" altLang="zh-CN" sz="2400" spc="50" dirty="0" err="1"/>
              <a:t>Nian</a:t>
            </a:r>
            <a:r>
              <a:rPr lang="en-US" altLang="zh-CN" sz="2400" spc="50" dirty="0"/>
              <a:t>, </a:t>
            </a:r>
          </a:p>
          <a:p>
            <a:r>
              <a:rPr lang="en-US" altLang="zh-CN" sz="2400" dirty="0"/>
              <a:t>     w</a:t>
            </a:r>
            <a:r>
              <a:rPr lang="en-US" altLang="zh-CN" sz="2400" spc="-30" dirty="0"/>
              <a:t>ho would come out and harm the world by the end of each lunar</a:t>
            </a:r>
            <a:r>
              <a:rPr lang="en-US" altLang="zh-CN" sz="2400" dirty="0"/>
              <a:t> </a:t>
            </a:r>
          </a:p>
          <a:p>
            <a:r>
              <a:rPr lang="en-US" altLang="zh-CN" sz="2400" dirty="0"/>
              <a:t>     year.</a:t>
            </a:r>
          </a:p>
          <a:p>
            <a:r>
              <a:rPr lang="en-US" altLang="zh-CN" sz="2400" dirty="0"/>
              <a:t>P</a:t>
            </a:r>
            <a:r>
              <a:rPr lang="en-US" altLang="zh-CN" sz="2400" spc="-40" dirty="0"/>
              <a:t>eople then took measures to send the monster </a:t>
            </a:r>
            <a:r>
              <a:rPr lang="en-US" altLang="zh-CN" sz="2400" spc="-30" dirty="0"/>
              <a:t>away, such as putting </a:t>
            </a:r>
          </a:p>
          <a:p>
            <a:r>
              <a:rPr lang="en-US" altLang="zh-CN" sz="2400" dirty="0"/>
              <a:t>     u</a:t>
            </a:r>
            <a:r>
              <a:rPr lang="en-US" altLang="zh-CN" sz="2400" spc="40" dirty="0"/>
              <a:t>p red couplets as </a:t>
            </a:r>
            <a:r>
              <a:rPr lang="en-US" altLang="zh-CN" sz="2400" spc="40" dirty="0" err="1"/>
              <a:t>Nian</a:t>
            </a:r>
            <a:r>
              <a:rPr lang="en-US" altLang="zh-CN" sz="2400" spc="40" dirty="0"/>
              <a:t> detested the color </a:t>
            </a:r>
            <a:r>
              <a:rPr lang="en-US" altLang="zh-CN" sz="2400" spc="50" dirty="0"/>
              <a:t>red, and setting off </a:t>
            </a:r>
          </a:p>
          <a:p>
            <a:r>
              <a:rPr lang="en-US" altLang="zh-CN" sz="2400" dirty="0"/>
              <a:t>     fireworks and firecrackers at their doors to scare it away.</a:t>
            </a:r>
          </a:p>
          <a:p>
            <a:r>
              <a:rPr lang="en-US" altLang="zh-CN" sz="2400" dirty="0"/>
              <a:t>I</a:t>
            </a:r>
            <a:r>
              <a:rPr lang="en-US" altLang="zh-CN" sz="2400" spc="-10" dirty="0"/>
              <a:t>n addition to staying up late on New Year’s Eve, having a New Year’s </a:t>
            </a:r>
          </a:p>
          <a:p>
            <a:r>
              <a:rPr lang="en-US" altLang="zh-CN" sz="2400" dirty="0"/>
              <a:t>     E</a:t>
            </a:r>
            <a:r>
              <a:rPr lang="en-US" altLang="zh-CN" sz="2400" spc="-40" dirty="0"/>
              <a:t>ve dinner and watching the Spring Festival Gala </a:t>
            </a:r>
            <a:r>
              <a:rPr lang="en-US" altLang="zh-CN" sz="2400" spc="-30" dirty="0"/>
              <a:t>are two important </a:t>
            </a:r>
          </a:p>
          <a:p>
            <a:r>
              <a:rPr lang="en-US" altLang="zh-CN" sz="2400" dirty="0"/>
              <a:t>     customs of the Spring Festival.</a:t>
            </a:r>
          </a:p>
          <a:p>
            <a:r>
              <a:rPr lang="en-US" altLang="zh-CN" sz="2400" dirty="0"/>
              <a:t>N</a:t>
            </a:r>
            <a:r>
              <a:rPr lang="en-US" altLang="zh-CN" sz="2400" spc="10" dirty="0"/>
              <a:t>ew Year’s Eve dinner are manifested </a:t>
            </a:r>
            <a:r>
              <a:rPr lang="en-US" altLang="zh-CN" sz="2400" spc="20" dirty="0"/>
              <a:t>in different ways in different </a:t>
            </a:r>
          </a:p>
          <a:p>
            <a:r>
              <a:rPr lang="en-US" altLang="zh-CN" sz="2400" dirty="0"/>
              <a:t>     parts of China.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60" dirty="0"/>
              <a:t>hose in South China must have a dish of fish</a:t>
            </a:r>
            <a:r>
              <a:rPr lang="en-US" altLang="zh-CN" sz="2400" spc="-50" dirty="0"/>
              <a:t>, because “fish” in Chinese </a:t>
            </a:r>
          </a:p>
          <a:p>
            <a:r>
              <a:rPr lang="en-US" altLang="zh-CN" sz="2400" dirty="0"/>
              <a:t>     s</a:t>
            </a:r>
            <a:r>
              <a:rPr lang="en-US" altLang="zh-CN" sz="2400" spc="20" dirty="0"/>
              <a:t>ounds similar </a:t>
            </a:r>
            <a:r>
              <a:rPr lang="en-US" altLang="zh-CN" sz="2400" spc="30" dirty="0"/>
              <a:t>to the character for “prosperity”, symbolizing an </a:t>
            </a:r>
          </a:p>
        </p:txBody>
      </p:sp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8" name="虚尾箭头 7">
            <a:hlinkClick r:id="rId4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6918F32-A1AD-26BD-CB60-AC5746F7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316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abundant and comfortable life.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30" dirty="0"/>
              <a:t>hose in North China often eat dumplings, which </a:t>
            </a:r>
            <a:r>
              <a:rPr lang="en-US" altLang="zh-CN" sz="2400" spc="-40" dirty="0"/>
              <a:t>symbolize “reunion” </a:t>
            </a:r>
          </a:p>
          <a:p>
            <a:r>
              <a:rPr lang="en-US" altLang="zh-CN" sz="2400" dirty="0"/>
              <a:t>     and “fortune”.</a:t>
            </a:r>
          </a:p>
          <a:p>
            <a:r>
              <a:rPr lang="en-US" altLang="zh-CN" sz="2400" dirty="0"/>
              <a:t>T</a:t>
            </a:r>
            <a:r>
              <a:rPr lang="en-US" altLang="zh-CN" sz="2400" spc="10" dirty="0"/>
              <a:t>he Spring Festival Gala is a variety TV program broadcast </a:t>
            </a:r>
            <a:r>
              <a:rPr lang="en-US" altLang="zh-CN" sz="2400" spc="20" dirty="0"/>
              <a:t>annually</a:t>
            </a:r>
            <a:r>
              <a:rPr lang="en-US" altLang="zh-CN" sz="2400" spc="10" dirty="0"/>
              <a:t> </a:t>
            </a:r>
          </a:p>
          <a:p>
            <a:r>
              <a:rPr lang="en-US" altLang="zh-CN" sz="2400" dirty="0"/>
              <a:t>     to celebrate the lunar New Year.</a:t>
            </a:r>
          </a:p>
          <a:p>
            <a:r>
              <a:rPr lang="en-US" altLang="zh-CN" sz="2400" dirty="0"/>
              <a:t>The gala attracts the largest audience of any entertainment show in </a:t>
            </a:r>
          </a:p>
          <a:p>
            <a:r>
              <a:rPr lang="en-US" altLang="zh-CN" sz="2400" dirty="0"/>
              <a:t>     t</a:t>
            </a:r>
            <a:r>
              <a:rPr lang="en-US" altLang="zh-CN" sz="2400" spc="-40" dirty="0"/>
              <a:t>he world, and runs for more than four hours, </a:t>
            </a:r>
            <a:r>
              <a:rPr lang="en-US" altLang="zh-CN" sz="2400" spc="-30" dirty="0"/>
              <a:t>making it the longest </a:t>
            </a:r>
          </a:p>
          <a:p>
            <a:r>
              <a:rPr lang="en-US" altLang="zh-CN" sz="2400" dirty="0"/>
              <a:t>     TV show in the world.</a:t>
            </a:r>
          </a:p>
          <a:p>
            <a:r>
              <a:rPr lang="en-US" altLang="zh-CN" sz="2400" dirty="0"/>
              <a:t>I</a:t>
            </a:r>
            <a:r>
              <a:rPr lang="en-US" altLang="zh-CN" sz="2400" spc="-70" dirty="0"/>
              <a:t>t is often hailed as a cultural feast for Chinese people on New Year’s Eve.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80" dirty="0"/>
              <a:t>here is also a custom of giving and receiving</a:t>
            </a:r>
            <a:r>
              <a:rPr lang="en-US" altLang="zh-CN" sz="2400" spc="-70" dirty="0"/>
              <a:t> red envelopes, or </a:t>
            </a:r>
            <a:r>
              <a:rPr lang="en-US" altLang="zh-CN" sz="2400" i="1" spc="-70" dirty="0" err="1"/>
              <a:t>hongbao</a:t>
            </a:r>
            <a:r>
              <a:rPr lang="en-US" altLang="zh-CN" sz="2400" spc="-70" dirty="0"/>
              <a:t>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20" dirty="0"/>
              <a:t>raditionally, adults placed money </a:t>
            </a:r>
            <a:r>
              <a:rPr lang="en-US" altLang="zh-CN" sz="2400" spc="-10" dirty="0"/>
              <a:t>into red envelopes and gave them </a:t>
            </a:r>
          </a:p>
          <a:p>
            <a:r>
              <a:rPr lang="en-US" altLang="zh-CN" sz="2400" dirty="0"/>
              <a:t>     t</a:t>
            </a:r>
            <a:r>
              <a:rPr lang="en-US" altLang="zh-CN" sz="2400" spc="-60" dirty="0"/>
              <a:t>o the children to wish them peace and good luck in the coming year.</a:t>
            </a:r>
          </a:p>
          <a:p>
            <a:r>
              <a:rPr lang="en-US" altLang="zh-CN" sz="2400" dirty="0"/>
              <a:t>Nowadays, with the popularization of mobile payment in China, it is </a:t>
            </a:r>
          </a:p>
          <a:p>
            <a:r>
              <a:rPr lang="en-US" altLang="zh-CN" sz="2400" dirty="0"/>
              <a:t>     a trend to send red envelopes digitally.</a:t>
            </a:r>
          </a:p>
          <a:p>
            <a:r>
              <a:rPr lang="en-US" altLang="zh-CN" sz="2400" dirty="0"/>
              <a:t>The internet can deliver</a:t>
            </a:r>
            <a:r>
              <a:rPr lang="en-US" altLang="zh-CN" sz="2400" spc="10" dirty="0"/>
              <a:t> New Year’s wishes to each and every loved </a:t>
            </a:r>
          </a:p>
        </p:txBody>
      </p:sp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8" name="虚尾箭头 7">
            <a:hlinkClick r:id="rId4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6918F32-A1AD-26BD-CB60-AC5746F73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5759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one, even if they are thousands of miles away.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10" dirty="0"/>
              <a:t>he joyous atmosphere of Chinese New Year will linger </a:t>
            </a:r>
            <a:r>
              <a:rPr lang="en-US" altLang="zh-CN" sz="2400" spc="-20" dirty="0"/>
              <a:t>until the first </a:t>
            </a:r>
          </a:p>
          <a:p>
            <a:r>
              <a:rPr lang="en-US" altLang="zh-CN" sz="2400" dirty="0"/>
              <a:t>     full moon of the first lunar month.</a:t>
            </a:r>
          </a:p>
          <a:p>
            <a:r>
              <a:rPr lang="en-US" altLang="zh-CN" sz="2400" dirty="0"/>
              <a:t>T</a:t>
            </a:r>
            <a:r>
              <a:rPr lang="en-US" altLang="zh-CN" sz="2400" spc="-30" dirty="0"/>
              <a:t>hen the Lantern Festival is </a:t>
            </a:r>
            <a:r>
              <a:rPr lang="en-US" altLang="zh-CN" sz="2400" spc="-20" dirty="0"/>
              <a:t>celebrated, which is bound to be another </a:t>
            </a:r>
          </a:p>
          <a:p>
            <a:r>
              <a:rPr lang="en-US" altLang="zh-CN" sz="2400" dirty="0"/>
              <a:t>     busy day.</a:t>
            </a:r>
            <a:endParaRPr lang="zh-CN" altLang="en-US" sz="2400" dirty="0"/>
          </a:p>
        </p:txBody>
      </p:sp>
      <p:pic>
        <p:nvPicPr>
          <p:cNvPr id="4" name="Picture 3" descr="C:\Users\senj\Desktop\按钮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5" name="Picture 3" descr="C:\Users\senj\Desktop\按钮.png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  <p:sp>
        <p:nvSpPr>
          <p:cNvPr id="8" name="虚尾箭头 7">
            <a:hlinkClick r:id="rId5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79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About the Author</a:t>
            </a:r>
          </a:p>
          <a:p>
            <a:r>
              <a:rPr lang="en-US" altLang="zh-CN" sz="2400" dirty="0"/>
              <a:t>S</a:t>
            </a:r>
            <a:r>
              <a:rPr lang="en-US" altLang="zh-CN" sz="2400" spc="50" dirty="0"/>
              <a:t>amantha </a:t>
            </a:r>
            <a:r>
              <a:rPr lang="en-US" altLang="zh-CN" sz="2400" spc="50" dirty="0" err="1"/>
              <a:t>Vincenty</a:t>
            </a:r>
            <a:r>
              <a:rPr lang="en-US" altLang="zh-CN" sz="2400" spc="50" dirty="0"/>
              <a:t> is a freelance wri</a:t>
            </a:r>
            <a:r>
              <a:rPr lang="en-US" altLang="zh-CN" sz="2400" spc="60" dirty="0"/>
              <a:t>ter, editor and social media </a:t>
            </a:r>
            <a:r>
              <a:rPr lang="en-US" altLang="zh-CN" sz="2400" dirty="0"/>
              <a:t>consultant.</a:t>
            </a:r>
          </a:p>
          <a:p>
            <a:endParaRPr lang="en-US" altLang="zh-CN" sz="2400" dirty="0"/>
          </a:p>
          <a:p>
            <a:r>
              <a:rPr lang="en-US" altLang="zh-CN" sz="2400" b="1" dirty="0"/>
              <a:t>About the Article</a:t>
            </a:r>
          </a:p>
          <a:p>
            <a:r>
              <a:rPr lang="en-US" altLang="zh-CN" sz="2400" dirty="0"/>
              <a:t>T</a:t>
            </a:r>
            <a:r>
              <a:rPr lang="en-US" altLang="zh-CN" sz="2400" spc="-30" dirty="0"/>
              <a:t>his text is adapted from an on</a:t>
            </a:r>
            <a:r>
              <a:rPr lang="en-US" altLang="zh-CN" sz="2400" spc="-20" dirty="0"/>
              <a:t>line article “Lunar New Year Traditions </a:t>
            </a:r>
            <a:r>
              <a:rPr lang="en-US" altLang="zh-CN" sz="2400" dirty="0"/>
              <a:t>a</a:t>
            </a:r>
            <a:r>
              <a:rPr lang="en-US" altLang="zh-CN" sz="2400" spc="-50" dirty="0"/>
              <a:t>nd Superstitions, </a:t>
            </a:r>
            <a:r>
              <a:rPr lang="en-US" altLang="zh-CN" sz="2400" spc="-40" dirty="0"/>
              <a:t>Explained” written by Samantha </a:t>
            </a:r>
            <a:r>
              <a:rPr lang="en-US" altLang="zh-CN" sz="2400" spc="-40" dirty="0" err="1"/>
              <a:t>Vincenty</a:t>
            </a:r>
            <a:r>
              <a:rPr lang="en-US" altLang="zh-CN" sz="2400" spc="-40" dirty="0"/>
              <a:t> published </a:t>
            </a:r>
            <a:r>
              <a:rPr lang="en-US" altLang="zh-CN" sz="2400" dirty="0"/>
              <a:t>on Jan 24, 2023.</a:t>
            </a:r>
            <a:endParaRPr lang="zh-CN" altLang="en-US" sz="2400" spc="-20" dirty="0">
              <a:solidFill>
                <a:srgbClr val="FF0000"/>
              </a:solidFill>
            </a:endParaRPr>
          </a:p>
        </p:txBody>
      </p:sp>
      <p:sp>
        <p:nvSpPr>
          <p:cNvPr id="4" name="虚尾箭头 3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338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About the Author</a:t>
            </a:r>
          </a:p>
          <a:p>
            <a:r>
              <a:rPr lang="en-US" altLang="zh-CN" sz="2400" dirty="0" err="1"/>
              <a:t>J</a:t>
            </a:r>
            <a:r>
              <a:rPr lang="en-US" altLang="zh-CN" sz="2400" spc="30" dirty="0" err="1"/>
              <a:t>eninne</a:t>
            </a:r>
            <a:r>
              <a:rPr lang="en-US" altLang="zh-CN" sz="2400" spc="30" dirty="0"/>
              <a:t> Lee-St. John is an accomplished writer and journalist. She </a:t>
            </a:r>
            <a:r>
              <a:rPr lang="en-US" altLang="zh-CN" sz="2400" dirty="0"/>
              <a:t>h</a:t>
            </a:r>
            <a:r>
              <a:rPr lang="en-US" altLang="zh-CN" sz="2400" spc="10" dirty="0"/>
              <a:t>as written for various publications, </a:t>
            </a:r>
            <a:r>
              <a:rPr lang="en-US" altLang="zh-CN" sz="2400" spc="20" dirty="0"/>
              <a:t>including </a:t>
            </a:r>
            <a:r>
              <a:rPr lang="en-US" altLang="zh-CN" sz="2400" i="1" spc="20" dirty="0"/>
              <a:t>Time</a:t>
            </a:r>
            <a:r>
              <a:rPr lang="en-US" altLang="zh-CN" sz="2400" spc="20" dirty="0"/>
              <a:t> magazine. Lee</a:t>
            </a:r>
            <a:r>
              <a:rPr lang="en-US" altLang="zh-CN" sz="2400" dirty="0"/>
              <a:t>-S</a:t>
            </a:r>
            <a:r>
              <a:rPr lang="en-US" altLang="zh-CN" sz="2400" spc="-40" dirty="0"/>
              <a:t>t. John has covered a range of topics throughout her career, including </a:t>
            </a:r>
            <a:r>
              <a:rPr lang="en-US" altLang="zh-CN" sz="2400" dirty="0"/>
              <a:t>culture, travel, and lifestyle.</a:t>
            </a:r>
          </a:p>
          <a:p>
            <a:endParaRPr lang="en-US" altLang="zh-CN" sz="2400" dirty="0"/>
          </a:p>
          <a:p>
            <a:r>
              <a:rPr lang="en-US" altLang="zh-CN" sz="2400" b="1" dirty="0"/>
              <a:t>About the Article</a:t>
            </a:r>
          </a:p>
          <a:p>
            <a:r>
              <a:rPr lang="en-US" altLang="zh-CN" sz="2400" dirty="0"/>
              <a:t>T</a:t>
            </a:r>
            <a:r>
              <a:rPr lang="en-US" altLang="zh-CN" sz="2400" spc="10" dirty="0"/>
              <a:t>his text is adapted from </a:t>
            </a:r>
            <a:r>
              <a:rPr lang="en-US" altLang="zh-CN" sz="2400" i="1" spc="10" dirty="0"/>
              <a:t>Smithsonian </a:t>
            </a:r>
            <a:r>
              <a:rPr lang="en-US" altLang="zh-CN" sz="2400" i="1" spc="20" dirty="0"/>
              <a:t>Magazine</a:t>
            </a:r>
            <a:r>
              <a:rPr lang="en-US" altLang="zh-CN" sz="2400" spc="20" dirty="0"/>
              <a:t> published on May </a:t>
            </a:r>
            <a:r>
              <a:rPr lang="en-US" altLang="zh-CN" sz="2400" dirty="0"/>
              <a:t>14, 2009.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虚尾箭头 7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3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60000" y="764815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About the Article</a:t>
            </a:r>
          </a:p>
          <a:p>
            <a:r>
              <a:rPr lang="en-US" altLang="zh-CN" sz="2400" dirty="0"/>
              <a:t>T</a:t>
            </a:r>
            <a:r>
              <a:rPr lang="en-US" altLang="zh-CN" sz="2400" spc="-20" dirty="0"/>
              <a:t>his text is adapted from </a:t>
            </a:r>
            <a:r>
              <a:rPr lang="en-US" altLang="zh-CN" sz="2400" i="1" spc="-20" dirty="0"/>
              <a:t>Calendars Through</a:t>
            </a:r>
            <a:r>
              <a:rPr lang="en-US" altLang="zh-CN" sz="2400" spc="-20" dirty="0"/>
              <a:t> the </a:t>
            </a:r>
            <a:r>
              <a:rPr lang="en-US" altLang="zh-CN" sz="2400" spc="-10" dirty="0"/>
              <a:t>Ages, one of several </a:t>
            </a:r>
            <a:r>
              <a:rPr lang="en-US" altLang="zh-CN" sz="2400" dirty="0"/>
              <a:t>exhibits in the </a:t>
            </a:r>
            <a:r>
              <a:rPr lang="en-US" altLang="zh-CN" sz="2400" i="1" dirty="0" err="1"/>
              <a:t>WebExhibits</a:t>
            </a:r>
            <a:r>
              <a:rPr lang="en-US" altLang="zh-CN" sz="2400" dirty="0"/>
              <a:t> online museum.</a:t>
            </a:r>
            <a:endParaRPr lang="zh-CN" altLang="en-US" sz="2400" spc="-20" dirty="0">
              <a:solidFill>
                <a:srgbClr val="FF0000"/>
              </a:solidFill>
            </a:endParaRPr>
          </a:p>
        </p:txBody>
      </p:sp>
      <p:sp>
        <p:nvSpPr>
          <p:cNvPr id="8" name="虚尾箭头 7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96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8066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orbit</a:t>
            </a:r>
          </a:p>
        </p:txBody>
      </p:sp>
      <p:pic>
        <p:nvPicPr>
          <p:cNvPr id="8" name="图片 7" descr="EG.png"/>
          <p:cNvPicPr>
            <a:picLocks noChangeAspect="1"/>
          </p:cNvPicPr>
          <p:nvPr/>
        </p:nvPicPr>
        <p:blipFill>
          <a:blip r:embed="rId4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earth takes a year to </a:t>
            </a:r>
            <a:r>
              <a:rPr lang="en-US" altLang="zh-CN" sz="2400" dirty="0">
                <a:solidFill>
                  <a:srgbClr val="C00000"/>
                </a:solidFill>
              </a:rPr>
              <a:t>orbit</a:t>
            </a:r>
            <a:r>
              <a:rPr lang="en-US" altLang="zh-CN" sz="2400" dirty="0"/>
              <a:t> the sun.</a:t>
            </a:r>
            <a:endParaRPr lang="zh-CN" altLang="en-US" sz="2400" dirty="0"/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to move in a circle </a:t>
            </a:r>
            <a:r>
              <a:rPr lang="zh-CN" altLang="en-US" sz="2400" dirty="0"/>
              <a:t>绕</a:t>
            </a:r>
            <a:r>
              <a:rPr lang="en-US" altLang="zh-CN" sz="2400" dirty="0"/>
              <a:t>……</a:t>
            </a:r>
            <a:r>
              <a:rPr lang="zh-CN" altLang="en-US" sz="2400" dirty="0"/>
              <a:t>运行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16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地球绕太阳一周需要一年的时间。</a:t>
            </a:r>
          </a:p>
        </p:txBody>
      </p:sp>
      <p:sp>
        <p:nvSpPr>
          <p:cNvPr id="20" name="虚尾箭头 19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orbit">
            <a:hlinkClick r:id="" action="ppaction://media"/>
            <a:extLst>
              <a:ext uri="{FF2B5EF4-FFF2-40B4-BE49-F238E27FC236}">
                <a16:creationId xmlns:a16="http://schemas.microsoft.com/office/drawing/2014/main" id="{4EDB3851-E25A-E8E0-FC30-51A465B82C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862822" y="63718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7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9" grpId="0"/>
      <p:bldP spid="18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6704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periodically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at regularly occurring intervals </a:t>
            </a:r>
            <a:r>
              <a:rPr lang="zh-CN" altLang="en-US" sz="2400" dirty="0"/>
              <a:t>周期性地；定期地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You should have your eyes examined </a:t>
            </a:r>
            <a:r>
              <a:rPr lang="en-US" altLang="zh-CN" sz="2400" dirty="0">
                <a:solidFill>
                  <a:srgbClr val="C00000"/>
                </a:solidFill>
              </a:rPr>
              <a:t>periodically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你应该定期去检查眼睛。</a:t>
            </a:r>
          </a:p>
        </p:txBody>
      </p:sp>
      <p:sp>
        <p:nvSpPr>
          <p:cNvPr id="24" name="虚尾箭头 23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eriodically">
            <a:hlinkClick r:id="" action="ppaction://media"/>
            <a:extLst>
              <a:ext uri="{FF2B5EF4-FFF2-40B4-BE49-F238E27FC236}">
                <a16:creationId xmlns:a16="http://schemas.microsoft.com/office/drawing/2014/main" id="{44E5E97F-0DDA-11CF-5E60-3153A59ED0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044390" y="5589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5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32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kick off</a:t>
            </a:r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to start </a:t>
            </a:r>
            <a:r>
              <a:rPr lang="zh-CN" altLang="en-US" sz="2400" dirty="0"/>
              <a:t>开始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concert </a:t>
            </a:r>
            <a:r>
              <a:rPr lang="en-US" altLang="zh-CN" sz="2400" dirty="0">
                <a:solidFill>
                  <a:srgbClr val="C00000"/>
                </a:solidFill>
              </a:rPr>
              <a:t>kicked off</a:t>
            </a:r>
            <a:r>
              <a:rPr lang="en-US" altLang="zh-CN" sz="2400" dirty="0"/>
              <a:t> with a folk song.</a:t>
            </a:r>
            <a:endParaRPr lang="zh-CN" altLang="en-US" sz="2400" dirty="0"/>
          </a:p>
        </p:txBody>
      </p:sp>
      <p:pic>
        <p:nvPicPr>
          <p:cNvPr id="3" name="T1">
            <a:extLst>
              <a:ext uri="{FF2B5EF4-FFF2-40B4-BE49-F238E27FC236}">
                <a16:creationId xmlns:a16="http://schemas.microsoft.com/office/drawing/2014/main" id="{D137C764-0E5B-0591-195C-129B85CEC40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19B8CC-8898-D2B9-410C-ABF95712FB3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音乐会以一首民歌开始。</a:t>
            </a:r>
          </a:p>
        </p:txBody>
      </p:sp>
      <p:sp>
        <p:nvSpPr>
          <p:cNvPr id="2" name="虚尾箭头 23">
            <a:hlinkClick r:id="rId8" action="ppaction://hlinksldjump"/>
            <a:extLst>
              <a:ext uri="{FF2B5EF4-FFF2-40B4-BE49-F238E27FC236}">
                <a16:creationId xmlns:a16="http://schemas.microsoft.com/office/drawing/2014/main" id="{C8395CBE-DE6C-8C3D-D858-61B744230616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kick off">
            <a:hlinkClick r:id="" action="ppaction://media"/>
            <a:extLst>
              <a:ext uri="{FF2B5EF4-FFF2-40B4-BE49-F238E27FC236}">
                <a16:creationId xmlns:a16="http://schemas.microsoft.com/office/drawing/2014/main" id="{CDEDCE10-1999-4857-0DC7-8DE325EFADE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80284" y="6213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5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78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4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6862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overarching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c</a:t>
            </a:r>
            <a:r>
              <a:rPr lang="en-US" altLang="zh-CN" sz="2400" spc="20" dirty="0"/>
              <a:t>omprehensive; all-embracing </a:t>
            </a:r>
            <a:r>
              <a:rPr lang="zh-CN" altLang="en-US" sz="2400" spc="20" dirty="0"/>
              <a:t>综合的，全面的；包</a:t>
            </a:r>
            <a:r>
              <a:rPr lang="zh-CN" altLang="en-US" sz="2400" dirty="0"/>
              <a:t>罗万象的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3" name="图片 2" descr="EG.png">
            <a:extLst>
              <a:ext uri="{FF2B5EF4-FFF2-40B4-BE49-F238E27FC236}">
                <a16:creationId xmlns:a16="http://schemas.microsoft.com/office/drawing/2014/main" id="{F95AC0F3-F3E8-2D84-B39A-66C6055D72B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66955"/>
            <a:ext cx="269242" cy="25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95F12DB-9C34-0F9F-34DE-68FF120B50F9}"/>
              </a:ext>
            </a:extLst>
          </p:cNvPr>
          <p:cNvSpPr/>
          <p:nvPr/>
        </p:nvSpPr>
        <p:spPr>
          <a:xfrm>
            <a:off x="1132704" y="268037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There exists no single </a:t>
            </a:r>
            <a:r>
              <a:rPr lang="en-US" altLang="zh-CN" sz="2400" dirty="0">
                <a:solidFill>
                  <a:srgbClr val="C00000"/>
                </a:solidFill>
              </a:rPr>
              <a:t>overarching</a:t>
            </a:r>
            <a:r>
              <a:rPr lang="en-US" altLang="zh-CN" sz="2400" dirty="0"/>
              <a:t> principle.</a:t>
            </a:r>
            <a:endParaRPr lang="zh-CN" altLang="en-US" sz="2400" dirty="0"/>
          </a:p>
        </p:txBody>
      </p:sp>
      <p:pic>
        <p:nvPicPr>
          <p:cNvPr id="5" name="T1">
            <a:extLst>
              <a:ext uri="{FF2B5EF4-FFF2-40B4-BE49-F238E27FC236}">
                <a16:creationId xmlns:a16="http://schemas.microsoft.com/office/drawing/2014/main" id="{307827A9-E2F1-45CE-274B-20B87CF8663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232659"/>
            <a:ext cx="268800" cy="2877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AA9E78E-D089-86C8-AF58-DB8FBABED944}"/>
              </a:ext>
            </a:extLst>
          </p:cNvPr>
          <p:cNvSpPr/>
          <p:nvPr/>
        </p:nvSpPr>
        <p:spPr>
          <a:xfrm>
            <a:off x="1132704" y="315477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不存在一条无所不包的单一原则。</a:t>
            </a:r>
          </a:p>
        </p:txBody>
      </p:sp>
      <p:pic>
        <p:nvPicPr>
          <p:cNvPr id="2" name="overching">
            <a:hlinkClick r:id="" action="ppaction://media"/>
            <a:extLst>
              <a:ext uri="{FF2B5EF4-FFF2-40B4-BE49-F238E27FC236}">
                <a16:creationId xmlns:a16="http://schemas.microsoft.com/office/drawing/2014/main" id="{6515F63B-2203-66F0-5047-0B5A095B44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756370" y="479001"/>
            <a:ext cx="609600" cy="609600"/>
          </a:xfrm>
          <a:prstGeom prst="rect">
            <a:avLst/>
          </a:prstGeom>
        </p:spPr>
      </p:pic>
      <p:sp>
        <p:nvSpPr>
          <p:cNvPr id="8" name="虚尾箭头 23">
            <a:hlinkClick r:id="rId9" action="ppaction://hlinksldjump"/>
            <a:extLst>
              <a:ext uri="{FF2B5EF4-FFF2-40B4-BE49-F238E27FC236}">
                <a16:creationId xmlns:a16="http://schemas.microsoft.com/office/drawing/2014/main" id="{CFD4E047-CB94-AF6A-A0F7-A3ABDB0B8C9A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58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2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2039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bustling</a:t>
            </a:r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busy, crowded </a:t>
            </a:r>
            <a:r>
              <a:rPr lang="zh-CN" altLang="en-US" sz="2400" dirty="0"/>
              <a:t>喧嚷的；忙乱的；奔忙的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FEEEB8A-4C60-6589-5913-D23B8463FFD7}"/>
              </a:ext>
            </a:extLst>
          </p:cNvPr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pic>
        <p:nvPicPr>
          <p:cNvPr id="4" name="图片 3" descr="EG.png">
            <a:extLst>
              <a:ext uri="{FF2B5EF4-FFF2-40B4-BE49-F238E27FC236}">
                <a16:creationId xmlns:a16="http://schemas.microsoft.com/office/drawing/2014/main" id="{ECB7D6BF-B2D8-FB48-B4D8-051F7AEF29D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7023D3-E994-D093-B354-155DCA8D4A66}"/>
              </a:ext>
            </a:extLst>
          </p:cNvPr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market was </a:t>
            </a:r>
            <a:r>
              <a:rPr lang="en-US" altLang="zh-CN" sz="2400" dirty="0">
                <a:solidFill>
                  <a:srgbClr val="C00000"/>
                </a:solidFill>
              </a:rPr>
              <a:t>bustling</a:t>
            </a:r>
            <a:r>
              <a:rPr lang="en-US" altLang="zh-CN" sz="2400" dirty="0"/>
              <a:t> with life.</a:t>
            </a:r>
            <a:endParaRPr lang="zh-CN" altLang="en-US" sz="2400" dirty="0"/>
          </a:p>
        </p:txBody>
      </p:sp>
      <p:pic>
        <p:nvPicPr>
          <p:cNvPr id="7" name="T1">
            <a:extLst>
              <a:ext uri="{FF2B5EF4-FFF2-40B4-BE49-F238E27FC236}">
                <a16:creationId xmlns:a16="http://schemas.microsoft.com/office/drawing/2014/main" id="{C68FEE64-6E4A-23F7-99EF-1301682573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CA0221A-D329-3C5F-8712-7C6AFF8E42D4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市场上生机勃勃。</a:t>
            </a:r>
          </a:p>
        </p:txBody>
      </p:sp>
      <p:pic>
        <p:nvPicPr>
          <p:cNvPr id="2" name="bustling">
            <a:hlinkClick r:id="" action="ppaction://media"/>
            <a:extLst>
              <a:ext uri="{FF2B5EF4-FFF2-40B4-BE49-F238E27FC236}">
                <a16:creationId xmlns:a16="http://schemas.microsoft.com/office/drawing/2014/main" id="{9ADD333E-3065-C4CF-0752-0C91A6B5C0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828375" y="621344"/>
            <a:ext cx="609600" cy="609600"/>
          </a:xfrm>
          <a:prstGeom prst="rect">
            <a:avLst/>
          </a:prstGeom>
        </p:spPr>
      </p:pic>
      <p:sp>
        <p:nvSpPr>
          <p:cNvPr id="9" name="虚尾箭头 23">
            <a:hlinkClick r:id="rId9" action="ppaction://hlinksldjump"/>
            <a:extLst>
              <a:ext uri="{FF2B5EF4-FFF2-40B4-BE49-F238E27FC236}">
                <a16:creationId xmlns:a16="http://schemas.microsoft.com/office/drawing/2014/main" id="{FB8CF393-E4B5-5404-56A6-642F5D7A9C8E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81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2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9108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deem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to consider </a:t>
            </a:r>
            <a:r>
              <a:rPr lang="zh-CN" altLang="en-US" sz="2400" dirty="0"/>
              <a:t>认为；以为；视为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evening was </a:t>
            </a:r>
            <a:r>
              <a:rPr lang="en-US" altLang="zh-CN" sz="2400" dirty="0">
                <a:solidFill>
                  <a:srgbClr val="C00000"/>
                </a:solidFill>
              </a:rPr>
              <a:t>deemed</a:t>
            </a:r>
            <a:r>
              <a:rPr lang="en-US" altLang="zh-CN" sz="2400" dirty="0"/>
              <a:t> a great success.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大家认为这次晚会非常成功。</a:t>
            </a:r>
          </a:p>
        </p:txBody>
      </p:sp>
      <p:sp>
        <p:nvSpPr>
          <p:cNvPr id="11" name="虚尾箭头 10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deem">
            <a:hlinkClick r:id="" action="ppaction://media"/>
            <a:extLst>
              <a:ext uri="{FF2B5EF4-FFF2-40B4-BE49-F238E27FC236}">
                <a16:creationId xmlns:a16="http://schemas.microsoft.com/office/drawing/2014/main" id="{879CA2F1-B31F-B6DA-7768-C2F3956397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48908" y="6213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4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2627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ward off</a:t>
            </a:r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to protect or defend yourself against </a:t>
            </a:r>
            <a:r>
              <a:rPr lang="en-US" altLang="zh-CN" sz="2400" dirty="0" err="1"/>
              <a:t>sth</a:t>
            </a:r>
            <a:r>
              <a:rPr lang="en-US" altLang="zh-CN" sz="2400" dirty="0"/>
              <a:t>. bad </a:t>
            </a:r>
            <a:r>
              <a:rPr lang="zh-CN" altLang="en-US" sz="2400" dirty="0"/>
              <a:t>躲避，防止（危险、疾病等）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sp>
        <p:nvSpPr>
          <p:cNvPr id="18" name="虚尾箭头 17">
            <a:hlinkClick r:id="rId6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EG.png">
            <a:extLst>
              <a:ext uri="{FF2B5EF4-FFF2-40B4-BE49-F238E27FC236}">
                <a16:creationId xmlns:a16="http://schemas.microsoft.com/office/drawing/2014/main" id="{66DA8799-CD61-9216-A0F8-4E92D3826BD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66955"/>
            <a:ext cx="269242" cy="25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95264B3-AEAE-1231-6DD3-08D080EEA018}"/>
              </a:ext>
            </a:extLst>
          </p:cNvPr>
          <p:cNvSpPr/>
          <p:nvPr/>
        </p:nvSpPr>
        <p:spPr>
          <a:xfrm>
            <a:off x="1132704" y="268037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to </a:t>
            </a:r>
            <a:r>
              <a:rPr lang="en-US" altLang="zh-CN" sz="2400" dirty="0">
                <a:solidFill>
                  <a:srgbClr val="C00000"/>
                </a:solidFill>
              </a:rPr>
              <a:t>ward off</a:t>
            </a:r>
            <a:r>
              <a:rPr lang="en-US" altLang="zh-CN" sz="2400" dirty="0"/>
              <a:t> the sun with an umbrella</a:t>
            </a:r>
            <a:endParaRPr lang="zh-CN" altLang="en-US" sz="2400" dirty="0"/>
          </a:p>
        </p:txBody>
      </p:sp>
      <p:pic>
        <p:nvPicPr>
          <p:cNvPr id="5" name="T1">
            <a:extLst>
              <a:ext uri="{FF2B5EF4-FFF2-40B4-BE49-F238E27FC236}">
                <a16:creationId xmlns:a16="http://schemas.microsoft.com/office/drawing/2014/main" id="{3C8A5D31-8DCB-C7BB-BCCC-ADB1C614844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232659"/>
            <a:ext cx="268800" cy="2877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803D4A9-87D3-532E-2D1A-A3839FCA7F57}"/>
              </a:ext>
            </a:extLst>
          </p:cNvPr>
          <p:cNvSpPr/>
          <p:nvPr/>
        </p:nvSpPr>
        <p:spPr>
          <a:xfrm>
            <a:off x="1132704" y="315477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用伞遮挡阳光</a:t>
            </a:r>
          </a:p>
        </p:txBody>
      </p:sp>
      <p:pic>
        <p:nvPicPr>
          <p:cNvPr id="2" name="ward off">
            <a:hlinkClick r:id="" action="ppaction://media"/>
            <a:extLst>
              <a:ext uri="{FF2B5EF4-FFF2-40B4-BE49-F238E27FC236}">
                <a16:creationId xmlns:a16="http://schemas.microsoft.com/office/drawing/2014/main" id="{000FE2D4-7097-CF4E-BB4F-769B268169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644968" y="5589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9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27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1847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raucous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noisy, rowdy </a:t>
            </a:r>
            <a:r>
              <a:rPr lang="zh-CN" altLang="en-US" sz="2400" dirty="0"/>
              <a:t>喧闹的；闹腾的；刺耳的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11" name="图片 10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a group of </a:t>
            </a:r>
            <a:r>
              <a:rPr lang="en-US" altLang="zh-CN" sz="2400" dirty="0">
                <a:solidFill>
                  <a:srgbClr val="C00000"/>
                </a:solidFill>
              </a:rPr>
              <a:t>raucous</a:t>
            </a:r>
            <a:r>
              <a:rPr lang="en-US" altLang="zh-CN" sz="2400" dirty="0"/>
              <a:t> young men</a:t>
            </a:r>
            <a:endParaRPr lang="zh-CN" altLang="en-US" sz="2400" dirty="0"/>
          </a:p>
        </p:txBody>
      </p:sp>
      <p:sp>
        <p:nvSpPr>
          <p:cNvPr id="18" name="虚尾箭头 17">
            <a:hlinkClick r:id="rId7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T1">
            <a:extLst>
              <a:ext uri="{FF2B5EF4-FFF2-40B4-BE49-F238E27FC236}">
                <a16:creationId xmlns:a16="http://schemas.microsoft.com/office/drawing/2014/main" id="{7F34D977-B578-1F10-3A3A-408505DB79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9744C01-13C8-980B-B811-706A1F8D3CE3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一群吵闹的年轻人</a:t>
            </a:r>
          </a:p>
        </p:txBody>
      </p:sp>
      <p:pic>
        <p:nvPicPr>
          <p:cNvPr id="2" name="raucous">
            <a:hlinkClick r:id="" action="ppaction://media"/>
            <a:extLst>
              <a:ext uri="{FF2B5EF4-FFF2-40B4-BE49-F238E27FC236}">
                <a16:creationId xmlns:a16="http://schemas.microsoft.com/office/drawing/2014/main" id="{69BCF839-36E7-9695-AFD6-59E112AFD1B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56370" y="5473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03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/>
      <p:bldP spid="4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03374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festive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jolly, joyous </a:t>
            </a:r>
            <a:r>
              <a:rPr lang="zh-CN" altLang="en-US" sz="2400" dirty="0"/>
              <a:t>节日的；欢乐的；欢闹的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whole town is in </a:t>
            </a:r>
            <a:r>
              <a:rPr lang="en-US" altLang="zh-CN" sz="2400" dirty="0">
                <a:solidFill>
                  <a:srgbClr val="C00000"/>
                </a:solidFill>
              </a:rPr>
              <a:t>festive</a:t>
            </a:r>
            <a:r>
              <a:rPr lang="en-US" altLang="zh-CN" sz="2400" dirty="0"/>
              <a:t> mood.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全城喜气洋洋。</a:t>
            </a:r>
          </a:p>
        </p:txBody>
      </p:sp>
      <p:pic>
        <p:nvPicPr>
          <p:cNvPr id="2" name="festive">
            <a:hlinkClick r:id="" action="ppaction://media"/>
            <a:extLst>
              <a:ext uri="{FF2B5EF4-FFF2-40B4-BE49-F238E27FC236}">
                <a16:creationId xmlns:a16="http://schemas.microsoft.com/office/drawing/2014/main" id="{1EA53557-55B3-4BBA-4344-A01A7DB77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756370" y="547376"/>
            <a:ext cx="609600" cy="609600"/>
          </a:xfrm>
          <a:prstGeom prst="rect">
            <a:avLst/>
          </a:prstGeom>
        </p:spPr>
      </p:pic>
      <p:sp>
        <p:nvSpPr>
          <p:cNvPr id="3" name="虚尾箭头 17">
            <a:hlinkClick r:id="rId9" action="ppaction://hlinksldjump"/>
            <a:extLst>
              <a:ext uri="{FF2B5EF4-FFF2-40B4-BE49-F238E27FC236}">
                <a16:creationId xmlns:a16="http://schemas.microsoft.com/office/drawing/2014/main" id="{5D650A74-4C04-1BD2-902E-BAD8A26ABBCA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01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9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虚尾箭头 13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0000" y="563655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Through this bit of pictorial wordplay, the </a:t>
            </a:r>
            <a:r>
              <a:rPr lang="en-US" altLang="zh-CN" sz="2400" spc="10" dirty="0">
                <a:solidFill>
                  <a:srgbClr val="0070C0"/>
                </a:solidFill>
              </a:rPr>
              <a:t>symbol effectively means </a:t>
            </a:r>
            <a:r>
              <a:rPr lang="en-US" altLang="zh-CN" sz="2400" dirty="0">
                <a:solidFill>
                  <a:srgbClr val="0070C0"/>
                </a:solidFill>
              </a:rPr>
              <a:t>that good luck is arriving, or pouring down on you.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3BA40E-DB40-03C1-A523-CBF762DC15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9515"/>
            <a:ext cx="845283" cy="252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44E097E-E9BE-C7DC-B63B-E02F116F5A94}"/>
              </a:ext>
            </a:extLst>
          </p:cNvPr>
          <p:cNvSpPr txBox="1"/>
          <p:nvPr/>
        </p:nvSpPr>
        <p:spPr>
          <a:xfrm>
            <a:off x="360000" y="1922026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B</a:t>
            </a:r>
            <a:r>
              <a:rPr lang="en-US" altLang="zh-CN" sz="2400" spc="10" dirty="0"/>
              <a:t>y using a picture to display the </a:t>
            </a:r>
            <a:r>
              <a:rPr lang="en-US" altLang="zh-CN" sz="2400" spc="20" dirty="0"/>
              <a:t>witty pun, the symbol conveys the </a:t>
            </a:r>
            <a:r>
              <a:rPr lang="en-US" altLang="zh-CN" sz="2400" dirty="0"/>
              <a:t>m</a:t>
            </a:r>
            <a:r>
              <a:rPr lang="en-US" altLang="zh-CN" sz="2400" spc="20" dirty="0"/>
              <a:t>essage that a significant amount of </a:t>
            </a:r>
            <a:r>
              <a:rPr lang="en-US" altLang="zh-CN" sz="2400" spc="30" dirty="0"/>
              <a:t>good fortune is on its way to </a:t>
            </a:r>
            <a:r>
              <a:rPr lang="en-US" altLang="zh-CN" sz="2400" dirty="0"/>
              <a:t>you.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268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虚尾箭头 13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0000" y="563655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T</a:t>
            </a:r>
            <a:r>
              <a:rPr lang="en-US" altLang="zh-CN" sz="2400" spc="20" dirty="0">
                <a:solidFill>
                  <a:srgbClr val="0070C0"/>
                </a:solidFill>
              </a:rPr>
              <a:t>he custom arose out of a tradition of using </a:t>
            </a:r>
            <a:r>
              <a:rPr lang="en-US" altLang="zh-CN" sz="2400" spc="30" dirty="0">
                <a:solidFill>
                  <a:srgbClr val="0070C0"/>
                </a:solidFill>
              </a:rPr>
              <a:t>coins as a gift to ward </a:t>
            </a:r>
            <a:r>
              <a:rPr lang="en-US" altLang="zh-CN" sz="2400" dirty="0">
                <a:solidFill>
                  <a:srgbClr val="0070C0"/>
                </a:solidFill>
              </a:rPr>
              <a:t>off evil spirits.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69515"/>
            <a:ext cx="845283" cy="252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0000" y="1922026"/>
            <a:ext cx="8532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30" dirty="0"/>
              <a:t>he custom originated from the traditional </a:t>
            </a:r>
            <a:r>
              <a:rPr lang="en-US" altLang="zh-CN" sz="2400" spc="40" dirty="0"/>
              <a:t>belief that coins could </a:t>
            </a:r>
            <a:r>
              <a:rPr lang="en-US" altLang="zh-CN" sz="2400" dirty="0"/>
              <a:t>protect the owner from evil spirits.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4214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2296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paragon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n.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perfect example </a:t>
            </a:r>
            <a:r>
              <a:rPr lang="zh-CN" altLang="en-US" sz="2400" dirty="0"/>
              <a:t>完人；典范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He wasn’t the </a:t>
            </a:r>
            <a:r>
              <a:rPr lang="en-US" altLang="zh-CN" sz="2400" dirty="0">
                <a:solidFill>
                  <a:srgbClr val="C00000"/>
                </a:solidFill>
              </a:rPr>
              <a:t>paragon</a:t>
            </a:r>
            <a:r>
              <a:rPr lang="en-US" altLang="zh-CN" sz="2400" dirty="0"/>
              <a:t> of virtue she had expected.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他不是她想象中的那种美德典范。</a:t>
            </a:r>
          </a:p>
        </p:txBody>
      </p:sp>
      <p:sp>
        <p:nvSpPr>
          <p:cNvPr id="11" name="虚尾箭头 10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aragon">
            <a:hlinkClick r:id="" action="ppaction://media"/>
            <a:extLst>
              <a:ext uri="{FF2B5EF4-FFF2-40B4-BE49-F238E27FC236}">
                <a16:creationId xmlns:a16="http://schemas.microsoft.com/office/drawing/2014/main" id="{31CB4ADE-0E1E-E340-2EEB-AA38BF5FE5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828375" y="6213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1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2674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perceive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20" dirty="0"/>
              <a:t>o understand</a:t>
            </a:r>
            <a:r>
              <a:rPr lang="en-US" altLang="zh-CN" sz="2400" spc="-10" dirty="0"/>
              <a:t> or think of </a:t>
            </a:r>
            <a:r>
              <a:rPr lang="en-US" altLang="zh-CN" sz="2400" spc="-10" dirty="0" err="1"/>
              <a:t>sth</a:t>
            </a:r>
            <a:r>
              <a:rPr lang="en-US" altLang="zh-CN" sz="2400" spc="-10" dirty="0"/>
              <a:t>. or sb. in a particular way</a:t>
            </a:r>
            <a:r>
              <a:rPr lang="zh-CN" altLang="en-US" sz="2400" dirty="0"/>
              <a:t>认为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9553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70895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/>
              <a:t>This discovery was </a:t>
            </a:r>
            <a:r>
              <a:rPr lang="en-US" altLang="zh-CN" sz="2400" dirty="0">
                <a:solidFill>
                  <a:srgbClr val="C00000"/>
                </a:solidFill>
              </a:rPr>
              <a:t>perceived</a:t>
            </a:r>
            <a:r>
              <a:rPr lang="en-US" altLang="zh-CN" sz="2400" dirty="0"/>
              <a:t> as a major breakthrough.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26123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318335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/>
              <a:t>这一发现被视为一项重大突破。</a:t>
            </a:r>
          </a:p>
        </p:txBody>
      </p:sp>
      <p:sp>
        <p:nvSpPr>
          <p:cNvPr id="2" name="虚尾箭头 10">
            <a:hlinkClick r:id="rId8" action="ppaction://hlinksldjump"/>
            <a:extLst>
              <a:ext uri="{FF2B5EF4-FFF2-40B4-BE49-F238E27FC236}">
                <a16:creationId xmlns:a16="http://schemas.microsoft.com/office/drawing/2014/main" id="{915EC84C-1217-2DE1-F372-590DB3314FA4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erceive">
            <a:hlinkClick r:id="" action="ppaction://media"/>
            <a:extLst>
              <a:ext uri="{FF2B5EF4-FFF2-40B4-BE49-F238E27FC236}">
                <a16:creationId xmlns:a16="http://schemas.microsoft.com/office/drawing/2014/main" id="{41215906-2778-4EB5-561D-F1D48C1157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33888" y="68353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8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2538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appease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40" dirty="0"/>
              <a:t>o conciliate, to pacify </a:t>
            </a:r>
            <a:r>
              <a:rPr lang="zh-CN" altLang="en-US" sz="2400" spc="40" dirty="0"/>
              <a:t>平息；（以满足</a:t>
            </a:r>
            <a:r>
              <a:rPr lang="zh-CN" altLang="en-US" sz="2400" spc="50" dirty="0"/>
              <a:t>对方要求等</a:t>
            </a:r>
            <a:r>
              <a:rPr lang="zh-CN" altLang="en-US" sz="2400" dirty="0"/>
              <a:t>让步方式）抚慰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23525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63694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Nothing could </a:t>
            </a:r>
            <a:r>
              <a:rPr lang="en-US" altLang="zh-CN" sz="2400" dirty="0">
                <a:solidFill>
                  <a:srgbClr val="C00000"/>
                </a:solidFill>
              </a:rPr>
              <a:t>appease</a:t>
            </a:r>
            <a:r>
              <a:rPr lang="en-US" altLang="zh-CN" sz="2400" dirty="0"/>
              <a:t> the crying child.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189229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311134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什么东西都无法使孩子不哭。</a:t>
            </a:r>
          </a:p>
        </p:txBody>
      </p:sp>
      <p:sp>
        <p:nvSpPr>
          <p:cNvPr id="11" name="虚尾箭头 10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appease">
            <a:hlinkClick r:id="" action="ppaction://media"/>
            <a:extLst>
              <a:ext uri="{FF2B5EF4-FFF2-40B4-BE49-F238E27FC236}">
                <a16:creationId xmlns:a16="http://schemas.microsoft.com/office/drawing/2014/main" id="{2E2D5E20-E09F-A52E-C74A-5BF072869A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60835" y="5589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06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01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3410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intercept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20" dirty="0"/>
              <a:t>o stop sb./</a:t>
            </a:r>
            <a:r>
              <a:rPr lang="en-US" altLang="zh-CN" sz="2400" spc="-20" dirty="0" err="1"/>
              <a:t>sth</a:t>
            </a:r>
            <a:r>
              <a:rPr lang="en-US" altLang="zh-CN" sz="2400" spc="-20" dirty="0"/>
              <a:t>. that is going from </a:t>
            </a:r>
            <a:r>
              <a:rPr lang="en-US" altLang="zh-CN" sz="2400" spc="-10" dirty="0"/>
              <a:t>one place to another </a:t>
            </a:r>
            <a:r>
              <a:rPr lang="en-US" altLang="zh-CN" sz="2400" dirty="0"/>
              <a:t>from arriving </a:t>
            </a:r>
            <a:r>
              <a:rPr lang="zh-CN" altLang="en-US" sz="2400" dirty="0"/>
              <a:t>拦截；拦阻；截住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sp>
        <p:nvSpPr>
          <p:cNvPr id="11" name="虚尾箭头 10">
            <a:hlinkClick r:id="rId6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EG.png">
            <a:extLst>
              <a:ext uri="{FF2B5EF4-FFF2-40B4-BE49-F238E27FC236}">
                <a16:creationId xmlns:a16="http://schemas.microsoft.com/office/drawing/2014/main" id="{88937CEA-B66B-6189-1974-5A0F4A6C7B8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23525"/>
            <a:ext cx="269242" cy="25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E897F80-C127-34EE-5E3B-9F26D4173643}"/>
              </a:ext>
            </a:extLst>
          </p:cNvPr>
          <p:cNvSpPr/>
          <p:nvPr/>
        </p:nvSpPr>
        <p:spPr>
          <a:xfrm>
            <a:off x="1132704" y="263694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Reporters </a:t>
            </a:r>
            <a:r>
              <a:rPr lang="en-US" altLang="zh-CN" sz="2400" dirty="0">
                <a:solidFill>
                  <a:srgbClr val="C00000"/>
                </a:solidFill>
              </a:rPr>
              <a:t>intercepted</a:t>
            </a:r>
            <a:r>
              <a:rPr lang="en-US" altLang="zh-CN" sz="2400" dirty="0"/>
              <a:t> him as he tried to leave the hotel.</a:t>
            </a:r>
            <a:endParaRPr lang="zh-CN" altLang="en-US" sz="2400" dirty="0"/>
          </a:p>
        </p:txBody>
      </p:sp>
      <p:pic>
        <p:nvPicPr>
          <p:cNvPr id="5" name="T1">
            <a:extLst>
              <a:ext uri="{FF2B5EF4-FFF2-40B4-BE49-F238E27FC236}">
                <a16:creationId xmlns:a16="http://schemas.microsoft.com/office/drawing/2014/main" id="{20041F85-BDA7-7A80-0888-099DF5ABED9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189229"/>
            <a:ext cx="268800" cy="2877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1A0909B-30C0-603E-BA3C-7FAE456D28DC}"/>
              </a:ext>
            </a:extLst>
          </p:cNvPr>
          <p:cNvSpPr/>
          <p:nvPr/>
        </p:nvSpPr>
        <p:spPr>
          <a:xfrm>
            <a:off x="1132704" y="311134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他正要离开旅馆，记者们把他拦截住了。</a:t>
            </a:r>
          </a:p>
        </p:txBody>
      </p:sp>
      <p:pic>
        <p:nvPicPr>
          <p:cNvPr id="8" name="intercept">
            <a:hlinkClick r:id="" action="ppaction://media"/>
            <a:extLst>
              <a:ext uri="{FF2B5EF4-FFF2-40B4-BE49-F238E27FC236}">
                <a16:creationId xmlns:a16="http://schemas.microsoft.com/office/drawing/2014/main" id="{0E556CA2-DAF6-6429-4DB6-420C7CE798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56370" y="5589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5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24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0935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ascribe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to attribute (</a:t>
            </a:r>
            <a:r>
              <a:rPr lang="en-US" altLang="zh-CN" sz="2400" dirty="0" err="1"/>
              <a:t>sth</a:t>
            </a:r>
            <a:r>
              <a:rPr lang="en-US" altLang="zh-CN" sz="2400" dirty="0"/>
              <a:t>. to) </a:t>
            </a:r>
            <a:r>
              <a:rPr lang="zh-CN" altLang="en-US" sz="2400" dirty="0"/>
              <a:t>把</a:t>
            </a:r>
            <a:r>
              <a:rPr lang="en-US" altLang="zh-CN" sz="2400" dirty="0">
                <a:latin typeface="+mn-ea"/>
                <a:ea typeface="+mn-ea"/>
              </a:rPr>
              <a:t>……</a:t>
            </a:r>
            <a:r>
              <a:rPr lang="zh-CN" altLang="en-US" sz="2400" dirty="0"/>
              <a:t>归因（于）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He </a:t>
            </a:r>
            <a:r>
              <a:rPr lang="en-US" altLang="zh-CN" sz="2400" dirty="0">
                <a:solidFill>
                  <a:srgbClr val="C00000"/>
                </a:solidFill>
              </a:rPr>
              <a:t>ascribed</a:t>
            </a:r>
            <a:r>
              <a:rPr lang="en-US" altLang="zh-CN" sz="2400" dirty="0"/>
              <a:t> his failure to bad luck.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他认为自己失败是因为运气不好。</a:t>
            </a:r>
          </a:p>
        </p:txBody>
      </p:sp>
      <p:sp>
        <p:nvSpPr>
          <p:cNvPr id="11" name="虚尾箭头 10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ascribe">
            <a:hlinkClick r:id="" action="ppaction://media"/>
            <a:extLst>
              <a:ext uri="{FF2B5EF4-FFF2-40B4-BE49-F238E27FC236}">
                <a16:creationId xmlns:a16="http://schemas.microsoft.com/office/drawing/2014/main" id="{ECE18CB1-CC4C-0A2F-1287-AF4D1DDBD0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684365" y="62134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8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95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01822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crucial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extremely important </a:t>
            </a:r>
            <a:r>
              <a:rPr lang="zh-CN" altLang="en-US" sz="2400" dirty="0"/>
              <a:t>至关重要的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It is </a:t>
            </a:r>
            <a:r>
              <a:rPr lang="en-US" altLang="zh-CN" sz="2400" dirty="0">
                <a:solidFill>
                  <a:srgbClr val="C00000"/>
                </a:solidFill>
              </a:rPr>
              <a:t>crucial</a:t>
            </a:r>
            <a:r>
              <a:rPr lang="en-US" altLang="zh-CN" sz="2400" dirty="0"/>
              <a:t> that we get this right.</a:t>
            </a:r>
            <a:endParaRPr lang="zh-CN" altLang="en-US" sz="2400" dirty="0"/>
          </a:p>
        </p:txBody>
      </p:sp>
      <p:sp>
        <p:nvSpPr>
          <p:cNvPr id="17" name="虚尾箭头 16">
            <a:hlinkClick r:id="rId7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T1">
            <a:extLst>
              <a:ext uri="{FF2B5EF4-FFF2-40B4-BE49-F238E27FC236}">
                <a16:creationId xmlns:a16="http://schemas.microsoft.com/office/drawing/2014/main" id="{EE7C12A9-2F83-4D0B-3327-53D40B9A605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D0D73E6-21FE-997D-ECC6-1DA05005CA79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我们把这个问题弄明白是极其重要的。</a:t>
            </a:r>
          </a:p>
        </p:txBody>
      </p:sp>
      <p:pic>
        <p:nvPicPr>
          <p:cNvPr id="2" name="crucial">
            <a:hlinkClick r:id="" action="ppaction://media"/>
            <a:extLst>
              <a:ext uri="{FF2B5EF4-FFF2-40B4-BE49-F238E27FC236}">
                <a16:creationId xmlns:a16="http://schemas.microsoft.com/office/drawing/2014/main" id="{8588F354-DD66-ACC6-9488-9CB8656001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23053" y="78208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6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9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03239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ornate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decorated, elaborate </a:t>
            </a:r>
            <a:r>
              <a:rPr lang="zh-CN" altLang="en-US" sz="2400" dirty="0"/>
              <a:t>装饰复杂华丽的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-20" dirty="0"/>
              <a:t>he gold frame is much too </a:t>
            </a:r>
            <a:r>
              <a:rPr lang="en-US" altLang="zh-CN" sz="2400" spc="-20" dirty="0">
                <a:solidFill>
                  <a:srgbClr val="C00000"/>
                </a:solidFill>
              </a:rPr>
              <a:t>ornate</a:t>
            </a:r>
            <a:r>
              <a:rPr lang="en-US" altLang="zh-CN" sz="2400" spc="-20" dirty="0"/>
              <a:t> for that simple picture.</a:t>
            </a:r>
            <a:endParaRPr lang="zh-CN" altLang="en-US" sz="2400" spc="-2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给那幅简单的图画镶金框是装饰过于华丽了。</a:t>
            </a:r>
          </a:p>
        </p:txBody>
      </p:sp>
      <p:pic>
        <p:nvPicPr>
          <p:cNvPr id="3" name="ornate">
            <a:hlinkClick r:id="" action="ppaction://media"/>
            <a:extLst>
              <a:ext uri="{FF2B5EF4-FFF2-40B4-BE49-F238E27FC236}">
                <a16:creationId xmlns:a16="http://schemas.microsoft.com/office/drawing/2014/main" id="{417B104B-2229-F8EA-728C-076871BA47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684365" y="621344"/>
            <a:ext cx="609600" cy="609600"/>
          </a:xfrm>
          <a:prstGeom prst="rect">
            <a:avLst/>
          </a:prstGeom>
        </p:spPr>
      </p:pic>
      <p:sp>
        <p:nvSpPr>
          <p:cNvPr id="4" name="虚尾箭头 16">
            <a:hlinkClick r:id="rId9" action="ppaction://hlinksldjump"/>
            <a:extLst>
              <a:ext uri="{FF2B5EF4-FFF2-40B4-BE49-F238E27FC236}">
                <a16:creationId xmlns:a16="http://schemas.microsoft.com/office/drawing/2014/main" id="{E89C9B4C-D92B-1CBE-71B5-9D01E2958DAC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41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8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6591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jibe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(~ with </a:t>
            </a:r>
            <a:r>
              <a:rPr lang="en-US" altLang="zh-CN" sz="2400" dirty="0" err="1"/>
              <a:t>sth</a:t>
            </a:r>
            <a:r>
              <a:rPr lang="en-US" altLang="zh-CN" sz="2400" dirty="0"/>
              <a:t>.) to match </a:t>
            </a:r>
            <a:r>
              <a:rPr lang="zh-CN" altLang="en-US" sz="2400" dirty="0"/>
              <a:t>符合；与</a:t>
            </a:r>
            <a:r>
              <a:rPr lang="en-US" altLang="zh-CN" sz="2400" dirty="0">
                <a:latin typeface="+mn-ea"/>
                <a:ea typeface="+mn-ea"/>
              </a:rPr>
              <a:t>……</a:t>
            </a:r>
            <a:r>
              <a:rPr lang="zh-CN" altLang="en-US" sz="2400" dirty="0"/>
              <a:t>一致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report does not </a:t>
            </a:r>
            <a:r>
              <a:rPr lang="en-US" altLang="zh-CN" sz="2400" dirty="0">
                <a:solidFill>
                  <a:srgbClr val="C00000"/>
                </a:solidFill>
              </a:rPr>
              <a:t>jibe</a:t>
            </a:r>
            <a:r>
              <a:rPr lang="en-US" altLang="zh-CN" sz="2400" dirty="0"/>
              <a:t> with the facts.</a:t>
            </a:r>
            <a:endParaRPr lang="zh-CN" altLang="en-US" sz="2400" dirty="0"/>
          </a:p>
        </p:txBody>
      </p:sp>
      <p:pic>
        <p:nvPicPr>
          <p:cNvPr id="3" name="T1">
            <a:extLst>
              <a:ext uri="{FF2B5EF4-FFF2-40B4-BE49-F238E27FC236}">
                <a16:creationId xmlns:a16="http://schemas.microsoft.com/office/drawing/2014/main" id="{F495C90A-9F08-94F9-EAB1-4AEFE6A187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56C1444-3C77-D4F5-A1AC-6EDB49BBD153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报告与事实不符。</a:t>
            </a:r>
          </a:p>
        </p:txBody>
      </p:sp>
      <p:pic>
        <p:nvPicPr>
          <p:cNvPr id="5" name="jibe">
            <a:hlinkClick r:id="" action="ppaction://media"/>
            <a:extLst>
              <a:ext uri="{FF2B5EF4-FFF2-40B4-BE49-F238E27FC236}">
                <a16:creationId xmlns:a16="http://schemas.microsoft.com/office/drawing/2014/main" id="{990302A3-DB60-EEF6-755D-70C9CD73F5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635915" y="547376"/>
            <a:ext cx="609600" cy="609600"/>
          </a:xfrm>
          <a:prstGeom prst="rect">
            <a:avLst/>
          </a:prstGeom>
        </p:spPr>
      </p:pic>
      <p:sp>
        <p:nvSpPr>
          <p:cNvPr id="7" name="虚尾箭头 16">
            <a:hlinkClick r:id="rId9" action="ppaction://hlinksldjump"/>
            <a:extLst>
              <a:ext uri="{FF2B5EF4-FFF2-40B4-BE49-F238E27FC236}">
                <a16:creationId xmlns:a16="http://schemas.microsoft.com/office/drawing/2014/main" id="{E01590A9-64C7-0C4C-0C31-F1F1A3D089CF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57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11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4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61146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encompass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70" dirty="0"/>
              <a:t>o include, to surround </a:t>
            </a:r>
            <a:r>
              <a:rPr lang="zh-CN" altLang="en-US" sz="2400" spc="70" dirty="0"/>
              <a:t>包含，涉及（大量事物）；</a:t>
            </a:r>
            <a:r>
              <a:rPr lang="zh-CN" altLang="en-US" sz="2400" dirty="0"/>
              <a:t>围绕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23525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63694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job </a:t>
            </a:r>
            <a:r>
              <a:rPr lang="en-US" altLang="zh-CN" sz="2400" dirty="0">
                <a:solidFill>
                  <a:srgbClr val="C00000"/>
                </a:solidFill>
              </a:rPr>
              <a:t>encompasses</a:t>
            </a:r>
            <a:r>
              <a:rPr lang="en-US" altLang="zh-CN" sz="2400" dirty="0"/>
              <a:t> a wide range of responsibilities.</a:t>
            </a:r>
            <a:endParaRPr lang="zh-CN" altLang="en-US" sz="2400" dirty="0"/>
          </a:p>
        </p:txBody>
      </p:sp>
      <p:pic>
        <p:nvPicPr>
          <p:cNvPr id="11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218864"/>
            <a:ext cx="268800" cy="28779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314098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这项工作涉及的职责范围很广。</a:t>
            </a:r>
          </a:p>
        </p:txBody>
      </p:sp>
      <p:sp>
        <p:nvSpPr>
          <p:cNvPr id="17" name="虚尾箭头 16">
            <a:hlinkClick r:id="rId8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encompass">
            <a:hlinkClick r:id="" action="ppaction://media"/>
            <a:extLst>
              <a:ext uri="{FF2B5EF4-FFF2-40B4-BE49-F238E27FC236}">
                <a16:creationId xmlns:a16="http://schemas.microsoft.com/office/drawing/2014/main" id="{0337EE55-E351-1410-5582-33FCC55AB3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56370" y="55890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4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4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12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07215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prolific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adj.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p</a:t>
            </a:r>
            <a:r>
              <a:rPr lang="en-US" altLang="zh-CN" sz="2400" spc="-40" dirty="0"/>
              <a:t>roductive, creative </a:t>
            </a:r>
            <a:r>
              <a:rPr lang="zh-CN" altLang="en-US" sz="2400" spc="-40" dirty="0"/>
              <a:t>作品（或成果）丰富的；多产的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composer remained </a:t>
            </a:r>
            <a:r>
              <a:rPr lang="en-US" altLang="zh-CN" sz="2400" dirty="0">
                <a:solidFill>
                  <a:srgbClr val="C00000"/>
                </a:solidFill>
              </a:rPr>
              <a:t>prolific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6" name="虚尾箭头 15">
            <a:hlinkClick r:id="rId7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T1">
            <a:extLst>
              <a:ext uri="{FF2B5EF4-FFF2-40B4-BE49-F238E27FC236}">
                <a16:creationId xmlns:a16="http://schemas.microsoft.com/office/drawing/2014/main" id="{0E0BEC0D-141B-5375-A0F0-2335FFF275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E3B085E-5B09-E172-EB36-7D53767EC75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那位作曲家在创作上依然硕果累累。</a:t>
            </a:r>
          </a:p>
        </p:txBody>
      </p:sp>
      <p:pic>
        <p:nvPicPr>
          <p:cNvPr id="5" name="prolific">
            <a:hlinkClick r:id="" action="ppaction://media"/>
            <a:extLst>
              <a:ext uri="{FF2B5EF4-FFF2-40B4-BE49-F238E27FC236}">
                <a16:creationId xmlns:a16="http://schemas.microsoft.com/office/drawing/2014/main" id="{3C0A70EC-17F5-9F15-8263-D21E93FD6C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756370" y="54737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98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85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4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44911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transcend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v.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</a:t>
            </a:r>
            <a:r>
              <a:rPr lang="en-US" altLang="zh-CN" sz="2400" spc="20" dirty="0"/>
              <a:t>o surpass; to go beyond </a:t>
            </a:r>
            <a:r>
              <a:rPr lang="zh-CN" altLang="en-US" sz="2400" spc="20" dirty="0"/>
              <a:t>超出；超越（经验、理性、</a:t>
            </a:r>
            <a:r>
              <a:rPr lang="zh-CN" altLang="en-US" sz="2400" dirty="0"/>
              <a:t>信念等）的范围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3" name="图片 2" descr="EG.png">
            <a:extLst>
              <a:ext uri="{FF2B5EF4-FFF2-40B4-BE49-F238E27FC236}">
                <a16:creationId xmlns:a16="http://schemas.microsoft.com/office/drawing/2014/main" id="{0D7716CB-FE9E-519B-311A-1ACDC68535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723525"/>
            <a:ext cx="269242" cy="252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9AF291F-3E40-B67D-1590-EE8CDDFA1DB5}"/>
              </a:ext>
            </a:extLst>
          </p:cNvPr>
          <p:cNvSpPr/>
          <p:nvPr/>
        </p:nvSpPr>
        <p:spPr>
          <a:xfrm>
            <a:off x="1132704" y="2636945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kindness that </a:t>
            </a:r>
            <a:r>
              <a:rPr lang="en-US" altLang="zh-CN" sz="2400" dirty="0">
                <a:solidFill>
                  <a:srgbClr val="C00000"/>
                </a:solidFill>
              </a:rPr>
              <a:t>transcends</a:t>
            </a:r>
            <a:r>
              <a:rPr lang="en-US" altLang="zh-CN" sz="2400" dirty="0"/>
              <a:t> mere courtesy</a:t>
            </a:r>
            <a:endParaRPr lang="zh-CN" altLang="en-US" sz="2400" dirty="0"/>
          </a:p>
        </p:txBody>
      </p:sp>
      <p:pic>
        <p:nvPicPr>
          <p:cNvPr id="5" name="T1">
            <a:extLst>
              <a:ext uri="{FF2B5EF4-FFF2-40B4-BE49-F238E27FC236}">
                <a16:creationId xmlns:a16="http://schemas.microsoft.com/office/drawing/2014/main" id="{CB84EA89-67A1-6088-EE48-C4FB3915CF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3218864"/>
            <a:ext cx="268800" cy="2877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08956A4-53EF-0E68-0DAF-FE670395B6C1}"/>
              </a:ext>
            </a:extLst>
          </p:cNvPr>
          <p:cNvSpPr/>
          <p:nvPr/>
        </p:nvSpPr>
        <p:spPr>
          <a:xfrm>
            <a:off x="1132704" y="314098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超乎一般性礼节的深情厚谊</a:t>
            </a:r>
          </a:p>
        </p:txBody>
      </p:sp>
      <p:pic>
        <p:nvPicPr>
          <p:cNvPr id="8" name="transcend">
            <a:hlinkClick r:id="" action="ppaction://media"/>
            <a:extLst>
              <a:ext uri="{FF2B5EF4-FFF2-40B4-BE49-F238E27FC236}">
                <a16:creationId xmlns:a16="http://schemas.microsoft.com/office/drawing/2014/main" id="{1D8CA373-634F-7934-1EE4-51CA566C76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651281" y="621344"/>
            <a:ext cx="609600" cy="609600"/>
          </a:xfrm>
          <a:prstGeom prst="rect">
            <a:avLst/>
          </a:prstGeom>
        </p:spPr>
      </p:pic>
      <p:sp>
        <p:nvSpPr>
          <p:cNvPr id="9" name="虚尾箭头 15">
            <a:hlinkClick r:id="rId9" action="ppaction://hlinksldjump"/>
            <a:extLst>
              <a:ext uri="{FF2B5EF4-FFF2-40B4-BE49-F238E27FC236}">
                <a16:creationId xmlns:a16="http://schemas.microsoft.com/office/drawing/2014/main" id="{090B9653-0B60-A5F4-7987-24FFF43321C8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5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237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42988" y="621344"/>
            <a:ext cx="18360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6383E"/>
                </a:solidFill>
              </a:rPr>
              <a:t>embodiment</a:t>
            </a:r>
          </a:p>
        </p:txBody>
      </p:sp>
      <p:sp>
        <p:nvSpPr>
          <p:cNvPr id="10" name="矩形 9"/>
          <p:cNvSpPr/>
          <p:nvPr/>
        </p:nvSpPr>
        <p:spPr>
          <a:xfrm>
            <a:off x="907366" y="1561140"/>
            <a:ext cx="7200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2400" i="1" dirty="0"/>
              <a:t>n.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1515073" y="1559453"/>
            <a:ext cx="6816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representation; expression </a:t>
            </a:r>
            <a:r>
              <a:rPr lang="zh-CN" altLang="en-US" sz="2400" dirty="0"/>
              <a:t>具体表现；体现</a:t>
            </a:r>
          </a:p>
        </p:txBody>
      </p:sp>
      <p:pic>
        <p:nvPicPr>
          <p:cNvPr id="15" name="播放" descr="未命名-3SSD.png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411" y="739077"/>
            <a:ext cx="252000" cy="249261"/>
          </a:xfrm>
          <a:prstGeom prst="rect">
            <a:avLst/>
          </a:prstGeom>
        </p:spPr>
      </p:pic>
      <p:pic>
        <p:nvPicPr>
          <p:cNvPr id="20" name="图片 19" descr="EG.png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83" y="2333020"/>
            <a:ext cx="269242" cy="252000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132704" y="22464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She seemed to be a living </a:t>
            </a:r>
            <a:r>
              <a:rPr lang="en-US" altLang="zh-CN" sz="2400" dirty="0">
                <a:solidFill>
                  <a:srgbClr val="C00000"/>
                </a:solidFill>
              </a:rPr>
              <a:t>embodiment</a:t>
            </a:r>
            <a:r>
              <a:rPr lang="en-US" altLang="zh-CN" sz="2400" dirty="0"/>
              <a:t> of vitality.</a:t>
            </a:r>
            <a:endParaRPr lang="zh-CN" altLang="en-US" sz="2400" dirty="0"/>
          </a:p>
        </p:txBody>
      </p:sp>
      <p:pic>
        <p:nvPicPr>
          <p:cNvPr id="22" name="T1">
            <a:extLst>
              <a:ext uri="{FF2B5EF4-FFF2-40B4-BE49-F238E27FC236}">
                <a16:creationId xmlns:a16="http://schemas.microsoft.com/office/drawing/2014/main" id="{0E8993D4-E690-DAF3-ED5A-6EA4DC2287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2983" y="2798724"/>
            <a:ext cx="268800" cy="28779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DFD35B5-C03E-0CD3-0449-3CAE1E9F5C4B}"/>
              </a:ext>
            </a:extLst>
          </p:cNvPr>
          <p:cNvSpPr/>
          <p:nvPr/>
        </p:nvSpPr>
        <p:spPr>
          <a:xfrm>
            <a:off x="1132704" y="2720840"/>
            <a:ext cx="7199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她似乎就是活力的化身。</a:t>
            </a:r>
          </a:p>
        </p:txBody>
      </p:sp>
      <p:pic>
        <p:nvPicPr>
          <p:cNvPr id="3" name="embodiment">
            <a:hlinkClick r:id="" action="ppaction://media"/>
            <a:extLst>
              <a:ext uri="{FF2B5EF4-FFF2-40B4-BE49-F238E27FC236}">
                <a16:creationId xmlns:a16="http://schemas.microsoft.com/office/drawing/2014/main" id="{D6259651-C572-AB7D-E284-4CDC03DB23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635915" y="558907"/>
            <a:ext cx="609600" cy="609600"/>
          </a:xfrm>
          <a:prstGeom prst="rect">
            <a:avLst/>
          </a:prstGeom>
        </p:spPr>
      </p:pic>
      <p:sp>
        <p:nvSpPr>
          <p:cNvPr id="4" name="虚尾箭头 15">
            <a:hlinkClick r:id="rId9" action="ppaction://hlinksldjump"/>
            <a:extLst>
              <a:ext uri="{FF2B5EF4-FFF2-40B4-BE49-F238E27FC236}">
                <a16:creationId xmlns:a16="http://schemas.microsoft.com/office/drawing/2014/main" id="{FAE16DA2-3737-3427-7344-DE688B564589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68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72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虚尾箭头 13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0000" y="563655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Q</a:t>
            </a:r>
            <a:r>
              <a:rPr lang="en-US" altLang="zh-CN" sz="2400" spc="-40" dirty="0">
                <a:solidFill>
                  <a:srgbClr val="0070C0"/>
                </a:solidFill>
              </a:rPr>
              <a:t>u Yuan had proposed a strategic alliance with the </a:t>
            </a:r>
            <a:r>
              <a:rPr lang="en-US" altLang="zh-CN" sz="2400" spc="-30" dirty="0">
                <a:solidFill>
                  <a:srgbClr val="0070C0"/>
                </a:solidFill>
              </a:rPr>
              <a:t>state of Qi in order </a:t>
            </a:r>
            <a:r>
              <a:rPr lang="en-US" altLang="zh-CN" sz="2400" dirty="0">
                <a:solidFill>
                  <a:srgbClr val="0070C0"/>
                </a:solidFill>
              </a:rPr>
              <a:t>to fend off the threatening state of Qin, but the emperor</a:t>
            </a:r>
            <a:r>
              <a:rPr lang="en-US" altLang="zh-CN" sz="2400" spc="10" dirty="0">
                <a:solidFill>
                  <a:srgbClr val="0070C0"/>
                </a:solidFill>
              </a:rPr>
              <a:t> didn’t buy </a:t>
            </a:r>
            <a:r>
              <a:rPr lang="en-US" altLang="zh-CN" sz="2400" dirty="0">
                <a:solidFill>
                  <a:srgbClr val="0070C0"/>
                </a:solidFill>
              </a:rPr>
              <a:t>it and sent Qu Yuan off to the wilderness.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C2CAFF-92A2-2972-3BD8-A57F987E36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9" y="2028897"/>
            <a:ext cx="921951" cy="252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F9A9E4-383E-7516-0E6D-0FEB187DE4D8}"/>
              </a:ext>
            </a:extLst>
          </p:cNvPr>
          <p:cNvSpPr txBox="1"/>
          <p:nvPr/>
        </p:nvSpPr>
        <p:spPr>
          <a:xfrm>
            <a:off x="360000" y="2281408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</a:t>
            </a:r>
            <a:r>
              <a:rPr lang="en-US" altLang="zh-CN" sz="2400" spc="30" dirty="0"/>
              <a:t>u Yuan had proposed to unite with Qi as a strategy to defend his </a:t>
            </a:r>
            <a:r>
              <a:rPr lang="en-US" altLang="zh-CN" sz="2400" dirty="0"/>
              <a:t>o</a:t>
            </a:r>
            <a:r>
              <a:rPr lang="en-US" altLang="zh-CN" sz="2400" spc="-20" dirty="0"/>
              <a:t>wn state against the threat of Qin, but the </a:t>
            </a:r>
            <a:r>
              <a:rPr lang="en-US" altLang="zh-CN" sz="2400" spc="-10" dirty="0"/>
              <a:t>emperor didn’t trust him </a:t>
            </a:r>
            <a:r>
              <a:rPr lang="en-US" altLang="zh-CN" sz="2400" dirty="0"/>
              <a:t>and sent him into exile.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855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虚尾箭头 13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0000" y="563655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Q</a:t>
            </a:r>
            <a:r>
              <a:rPr lang="en-US" altLang="zh-CN" sz="2400" spc="-40" dirty="0">
                <a:solidFill>
                  <a:srgbClr val="0070C0"/>
                </a:solidFill>
              </a:rPr>
              <a:t>u Yuan had proposed a strategic alliance with the </a:t>
            </a:r>
            <a:r>
              <a:rPr lang="en-US" altLang="zh-CN" sz="2400" spc="-30" dirty="0">
                <a:solidFill>
                  <a:srgbClr val="0070C0"/>
                </a:solidFill>
              </a:rPr>
              <a:t>state of Qi in order </a:t>
            </a:r>
            <a:r>
              <a:rPr lang="en-US" altLang="zh-CN" sz="2400" dirty="0">
                <a:solidFill>
                  <a:srgbClr val="0070C0"/>
                </a:solidFill>
              </a:rPr>
              <a:t>to fend off the threatening state of Qin, but the emperor</a:t>
            </a:r>
            <a:r>
              <a:rPr lang="en-US" altLang="zh-CN" sz="2400" spc="10" dirty="0">
                <a:solidFill>
                  <a:srgbClr val="0070C0"/>
                </a:solidFill>
              </a:rPr>
              <a:t> didn’t buy </a:t>
            </a:r>
            <a:r>
              <a:rPr lang="en-US" altLang="zh-CN" sz="2400" dirty="0">
                <a:solidFill>
                  <a:srgbClr val="0070C0"/>
                </a:solidFill>
              </a:rPr>
              <a:t>it and sent Qu Yuan off to the wilderness.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AC2CAFF-92A2-2972-3BD8-A57F987E36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9" y="2028897"/>
            <a:ext cx="921951" cy="252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2F9A9E4-383E-7516-0E6D-0FEB187DE4D8}"/>
              </a:ext>
            </a:extLst>
          </p:cNvPr>
          <p:cNvSpPr txBox="1"/>
          <p:nvPr/>
        </p:nvSpPr>
        <p:spPr>
          <a:xfrm>
            <a:off x="360000" y="2281408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</a:t>
            </a:r>
            <a:r>
              <a:rPr lang="en-US" altLang="zh-CN" sz="2400" spc="30" dirty="0"/>
              <a:t>u Yuan had proposed to unite with Qi as a strategy to defend his </a:t>
            </a:r>
            <a:r>
              <a:rPr lang="en-US" altLang="zh-CN" sz="2400" dirty="0"/>
              <a:t>o</a:t>
            </a:r>
            <a:r>
              <a:rPr lang="en-US" altLang="zh-CN" sz="2400" spc="-20" dirty="0"/>
              <a:t>wn state against the threat of Qin, but the </a:t>
            </a:r>
            <a:r>
              <a:rPr lang="en-US" altLang="zh-CN" sz="2400" spc="-10" dirty="0"/>
              <a:t>emperor didn’t trust him </a:t>
            </a:r>
            <a:r>
              <a:rPr lang="en-US" altLang="zh-CN" sz="2400" dirty="0"/>
              <a:t>and sent him into exile.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57864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虚尾箭头 13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60000" y="563655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T</a:t>
            </a:r>
            <a:r>
              <a:rPr lang="en-US" altLang="zh-CN" sz="2400" spc="50" dirty="0">
                <a:solidFill>
                  <a:srgbClr val="0070C0"/>
                </a:solidFill>
              </a:rPr>
              <a:t>hese disparate </a:t>
            </a:r>
            <a:r>
              <a:rPr lang="en-US" altLang="zh-CN" sz="2400" spc="60" dirty="0">
                <a:solidFill>
                  <a:srgbClr val="0070C0"/>
                </a:solidFill>
              </a:rPr>
              <a:t>histories and stories blended over time into the </a:t>
            </a:r>
            <a:r>
              <a:rPr lang="en-US" altLang="zh-CN" sz="2400" dirty="0">
                <a:solidFill>
                  <a:srgbClr val="0070C0"/>
                </a:solidFill>
              </a:rPr>
              <a:t>e</a:t>
            </a:r>
            <a:r>
              <a:rPr lang="en-US" altLang="zh-CN" sz="2400" spc="70" dirty="0">
                <a:solidFill>
                  <a:srgbClr val="0070C0"/>
                </a:solidFill>
              </a:rPr>
              <a:t>ncompassing myth of Qu Yuan, seemingly without issue to the </a:t>
            </a:r>
            <a:r>
              <a:rPr lang="en-US" altLang="zh-CN" sz="2400" dirty="0">
                <a:solidFill>
                  <a:srgbClr val="0070C0"/>
                </a:solidFill>
              </a:rPr>
              <a:t>celebrators.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449" y="2028897"/>
            <a:ext cx="921951" cy="2520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0000" y="2281408"/>
            <a:ext cx="8532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O</a:t>
            </a:r>
            <a:r>
              <a:rPr lang="en-US" altLang="zh-CN" sz="2400" spc="10" dirty="0"/>
              <a:t>ver time, the distinct histories </a:t>
            </a:r>
            <a:r>
              <a:rPr lang="en-US" altLang="zh-CN" sz="2400" spc="20" dirty="0"/>
              <a:t>and narratives merged to form the </a:t>
            </a:r>
            <a:r>
              <a:rPr lang="en-US" altLang="zh-CN" sz="2400" dirty="0"/>
              <a:t>c</a:t>
            </a:r>
            <a:r>
              <a:rPr lang="en-US" altLang="zh-CN" sz="2400" spc="30" dirty="0"/>
              <a:t>omprehensive legend of Qu Yuan, appearing to </a:t>
            </a:r>
            <a:r>
              <a:rPr lang="en-US" altLang="zh-CN" sz="2400" spc="40" dirty="0"/>
              <a:t>cause no conflict </a:t>
            </a:r>
            <a:r>
              <a:rPr lang="en-US" altLang="zh-CN" sz="2400" dirty="0"/>
              <a:t>among those who commemorated him.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98750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217303" y="808245"/>
            <a:ext cx="2709395" cy="1020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ts val="3800"/>
              </a:lnSpc>
            </a:pPr>
            <a:r>
              <a:rPr lang="zh-CN" altLang="en-US" sz="2800" b="1" dirty="0"/>
              <a:t>农历新年的传统</a:t>
            </a:r>
            <a:endParaRPr lang="en-US" altLang="zh-CN" sz="2800" b="1" dirty="0"/>
          </a:p>
          <a:p>
            <a:pPr algn="ctr">
              <a:lnSpc>
                <a:spcPts val="3800"/>
              </a:lnSpc>
            </a:pPr>
            <a:r>
              <a:rPr lang="zh-CN" altLang="en-US" sz="2400" dirty="0"/>
              <a:t>萨曼莎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/>
              <a:t>文森蒂</a:t>
            </a:r>
            <a:endParaRPr lang="zh-CN" altLang="en-US" sz="2400" b="1" dirty="0"/>
          </a:p>
        </p:txBody>
      </p:sp>
      <p:sp>
        <p:nvSpPr>
          <p:cNvPr id="12" name="TextBox 7"/>
          <p:cNvSpPr txBox="1">
            <a:spLocks noChangeArrowheads="1"/>
          </p:cNvSpPr>
          <p:nvPr/>
        </p:nvSpPr>
        <p:spPr bwMode="auto">
          <a:xfrm>
            <a:off x="503238" y="2080455"/>
            <a:ext cx="81375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         当人们说起美国的“假日季”时，他们通常指的是感恩节大餐和元旦之间的那段时间。但在元旦之后不久，一些亚洲国家的人们便会同亲友团聚，庆祝另一个大型节日</a:t>
            </a:r>
            <a:r>
              <a:rPr lang="en-US" altLang="zh-CN" sz="2400" dirty="0">
                <a:latin typeface="+mj-ea"/>
                <a:ea typeface="+mj-ea"/>
              </a:rPr>
              <a:t>——</a:t>
            </a:r>
            <a:r>
              <a:rPr lang="zh-CN" altLang="en-US" sz="2400" dirty="0"/>
              <a:t>农历新年。农历新年，主要指中国新年或春节，通常在每年的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21</a:t>
            </a:r>
            <a:r>
              <a:rPr lang="zh-CN" altLang="en-US" sz="2400" dirty="0"/>
              <a:t>日至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日之间。</a:t>
            </a:r>
            <a:endParaRPr lang="en-US" altLang="zh-CN" sz="2400" dirty="0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7008478" y="3557782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</a:t>
            </a:r>
            <a:r>
              <a:rPr lang="zh-CN" altLang="en-US" sz="2400" dirty="0"/>
              <a:t>）</a:t>
            </a:r>
          </a:p>
        </p:txBody>
      </p:sp>
      <p:sp>
        <p:nvSpPr>
          <p:cNvPr id="9" name="虚尾箭头 8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5"/>
          <p:cNvSpPr txBox="1"/>
          <p:nvPr/>
        </p:nvSpPr>
        <p:spPr>
          <a:xfrm>
            <a:off x="522288" y="1706210"/>
            <a:ext cx="8135937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之所以称为农历新年，是因为它标志着阴阳历中一年里的</a:t>
            </a:r>
            <a:r>
              <a:rPr lang="zh-CN" altLang="en-US" sz="2400" spc="60" dirty="0"/>
              <a:t>第一个新月，阴阳历根据日月运行周期调整，包括中国、</a:t>
            </a:r>
            <a:r>
              <a:rPr lang="zh-CN" altLang="en-US" sz="2400" dirty="0"/>
              <a:t>韩国和越南在内的许多东亚国家传统上都采用这种历法。根据</a:t>
            </a:r>
            <a:r>
              <a:rPr lang="en-US" altLang="zh-CN" sz="2400" dirty="0"/>
              <a:t>《</a:t>
            </a:r>
            <a:r>
              <a:rPr lang="zh-CN" altLang="en-US" sz="2400" dirty="0"/>
              <a:t>纽约时报</a:t>
            </a:r>
            <a:r>
              <a:rPr lang="en-US" altLang="zh-CN" sz="2400" dirty="0"/>
              <a:t>》</a:t>
            </a:r>
            <a:r>
              <a:rPr lang="zh-CN" altLang="en-US" sz="2400" dirty="0"/>
              <a:t>的解释：“一个阳历年，即地球绕太阳公转一</a:t>
            </a:r>
            <a:r>
              <a:rPr lang="zh-CN" altLang="en-US" sz="2400" spc="50" dirty="0"/>
              <a:t>次的时间，大约为</a:t>
            </a:r>
            <a:r>
              <a:rPr lang="en-US" altLang="zh-CN" sz="2400" spc="50" dirty="0"/>
              <a:t>365</a:t>
            </a:r>
            <a:r>
              <a:rPr lang="zh-CN" altLang="en-US" sz="2400" spc="50" dirty="0"/>
              <a:t>天；而一个阴历年，即</a:t>
            </a:r>
            <a:r>
              <a:rPr lang="en-US" altLang="zh-CN" sz="2400" spc="50" dirty="0"/>
              <a:t>12</a:t>
            </a:r>
            <a:r>
              <a:rPr lang="zh-CN" altLang="en-US" sz="2400" spc="50" dirty="0"/>
              <a:t>个完整的</a:t>
            </a:r>
            <a:r>
              <a:rPr lang="zh-CN" altLang="en-US" sz="2400" dirty="0"/>
              <a:t>月</a:t>
            </a:r>
            <a:r>
              <a:rPr lang="zh-CN" altLang="en-US" sz="2400" spc="110" dirty="0"/>
              <a:t>球运行周期，大约为</a:t>
            </a:r>
            <a:r>
              <a:rPr lang="en-US" altLang="zh-CN" sz="2400" spc="110" dirty="0"/>
              <a:t>354</a:t>
            </a:r>
            <a:r>
              <a:rPr lang="zh-CN" altLang="en-US" sz="2400" spc="110" dirty="0"/>
              <a:t>天。”就像犹太阴阳历中一样，</a:t>
            </a:r>
            <a:r>
              <a:rPr lang="zh-CN" altLang="en-US" sz="2400" dirty="0"/>
              <a:t>“</a:t>
            </a:r>
            <a:r>
              <a:rPr lang="zh-CN" altLang="en-US" sz="2400" spc="-30" dirty="0"/>
              <a:t>月份的天数仍由月球周期决定，但会定期插入一个附加月，</a:t>
            </a:r>
            <a:r>
              <a:rPr lang="zh-CN" altLang="en-US" sz="2400" dirty="0"/>
              <a:t>以同阳历年尽量保持一致”。这解释了为何农历新年通常是</a:t>
            </a:r>
          </a:p>
          <a:p>
            <a:r>
              <a:rPr lang="zh-CN" altLang="en-US" sz="2400" dirty="0"/>
              <a:t>在每年的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21</a:t>
            </a:r>
            <a:r>
              <a:rPr lang="zh-CN" altLang="en-US" sz="2400" dirty="0"/>
              <a:t>日至</a:t>
            </a:r>
            <a:r>
              <a:rPr lang="en-US" altLang="zh-CN" sz="2400" dirty="0"/>
              <a:t>2</a:t>
            </a:r>
            <a:r>
              <a:rPr lang="zh-CN" altLang="en-US" sz="2400" dirty="0"/>
              <a:t>月</a:t>
            </a:r>
            <a:r>
              <a:rPr lang="en-US" altLang="zh-CN" sz="2400" dirty="0"/>
              <a:t>20</a:t>
            </a:r>
            <a:r>
              <a:rPr lang="zh-CN" altLang="en-US" sz="2400" dirty="0"/>
              <a:t>日之间的某一天。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4644032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2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F8775A19-4DCA-9EF8-A798-AD7DB14B5D53}"/>
              </a:ext>
            </a:extLst>
          </p:cNvPr>
          <p:cNvSpPr txBox="1"/>
          <p:nvPr/>
        </p:nvSpPr>
        <p:spPr>
          <a:xfrm>
            <a:off x="522288" y="1706210"/>
            <a:ext cx="8135937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在中国，农历新年的庆祝活动从除夕开始，通常到元宵节为止，为期</a:t>
            </a:r>
            <a:r>
              <a:rPr lang="en-US" altLang="zh-CN" sz="2400" dirty="0"/>
              <a:t>15</a:t>
            </a:r>
            <a:r>
              <a:rPr lang="zh-CN" altLang="en-US" sz="2400" dirty="0"/>
              <a:t>天。在除夕夜的晚宴上，一家人会聚在一起吃团圆饭，宴席上有各种传统的节令食物。纽约市美国华人博物馆馆长姚南薰说：“这真是一个辞旧迎新、阖家欢聚的时</a:t>
            </a:r>
            <a:r>
              <a:rPr lang="zh-CN" altLang="en-US" sz="2400" spc="60" dirty="0"/>
              <a:t>刻。”而农历新年的三个首要主题，她说：“就是财富、</a:t>
            </a:r>
            <a:r>
              <a:rPr lang="zh-CN" altLang="en-US" sz="2400" dirty="0"/>
              <a:t>幸福与健康。”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008478" y="3563957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3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8C03EB6D-1C73-7878-D550-49FD30D096B8}"/>
              </a:ext>
            </a:extLst>
          </p:cNvPr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在中国国内，春节有一个为期一周的假期。在春节假期之前有一段交通繁忙的时期，叫做“春运”。春运期间数百万人乘坐飞机、火车和汽车长途跋涉，返回家乡，同自己的大家庭一起庆祝农历新年。“春运”被认为是“地球上规模最大的人口迁徙”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201456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4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“</a:t>
            </a:r>
            <a:r>
              <a:rPr lang="zh-CN" altLang="en-US" sz="2400" spc="-40" dirty="0">
                <a:latin typeface="+mn-ea"/>
                <a:ea typeface="+mn-ea"/>
              </a:rPr>
              <a:t>如果你不了解这些节日习俗，那么当你在逛唐人街时，</a:t>
            </a:r>
            <a:r>
              <a:rPr lang="zh-CN" altLang="en-US" sz="2400" dirty="0">
                <a:latin typeface="+mn-ea"/>
                <a:ea typeface="+mn-ea"/>
              </a:rPr>
              <a:t>可能就无法理解它们的多层含义。”姚南薰说。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085169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5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66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6776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倒贴“福”字</a:t>
            </a:r>
            <a:endParaRPr lang="en-US" altLang="zh-CN" sz="2400" b="1" dirty="0"/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宋体" panose="02010600030101010101" pitchFamily="2" charset="-122"/>
              </a:rPr>
              <a:t>在中国农历新年，你会经常见到一张方形红纸呈菱形悬挂，上面用书法写着一个“福”字。“福”字寓意好运，在农历新年时被倒挂起来。“中文里的‘到了’，意为到达或开始，是‘倒了’这个词的谐音，”姚南薰解释道。通过这小小的图文游戏，倒着的“福”实际上寓意着好运将至，或鸿运当头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939193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6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63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522288" y="1706210"/>
            <a:ext cx="8135937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装满钱的红包</a:t>
            </a:r>
            <a:endParaRPr lang="en-US" altLang="zh-CN" sz="2400" b="1" dirty="0">
              <a:latin typeface="+mj-ea"/>
              <a:ea typeface="+mj-ea"/>
            </a:endParaRPr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j-ea"/>
                <a:ea typeface="+mj-ea"/>
              </a:rPr>
              <a:t>这</a:t>
            </a:r>
            <a:r>
              <a:rPr lang="zh-CN" altLang="en-US" sz="2400" spc="-40" dirty="0">
                <a:latin typeface="+mj-ea"/>
                <a:ea typeface="+mj-ea"/>
              </a:rPr>
              <a:t>种红色信封在普通话中称为“红包”。在中国传统里，</a:t>
            </a:r>
            <a:r>
              <a:rPr lang="zh-CN" altLang="en-US" sz="2400" dirty="0">
                <a:latin typeface="+mj-ea"/>
                <a:ea typeface="+mj-ea"/>
              </a:rPr>
              <a:t>长</a:t>
            </a:r>
            <a:r>
              <a:rPr lang="zh-CN" altLang="en-US" sz="2400" spc="60" dirty="0">
                <a:latin typeface="+mj-ea"/>
                <a:ea typeface="+mj-ea"/>
              </a:rPr>
              <a:t>辈或者父母会给孩子们，或实际上所有未婚的人发红包。</a:t>
            </a:r>
            <a:r>
              <a:rPr lang="zh-CN" altLang="en-US" sz="2400" dirty="0">
                <a:latin typeface="+mj-ea"/>
                <a:ea typeface="+mj-ea"/>
              </a:rPr>
              <a:t>“这十分有趣，因为即使你有一个</a:t>
            </a:r>
            <a:r>
              <a:rPr lang="en-US" altLang="zh-CN" sz="2400" dirty="0">
                <a:latin typeface="+mn-lt"/>
                <a:ea typeface="+mj-ea"/>
              </a:rPr>
              <a:t>40</a:t>
            </a:r>
            <a:r>
              <a:rPr lang="zh-CN" altLang="en-US" sz="2400" dirty="0">
                <a:latin typeface="+mj-ea"/>
                <a:ea typeface="+mj-ea"/>
              </a:rPr>
              <a:t>岁的兄弟，只要他还没结婚，那么他仍会收到红包，”姚南薰说。这一习俗源于用钱币当作贡品以辟邪驱鬼的传统。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563957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7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88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6E8E058D-3A8D-3A69-EE4A-EA1FDD1AD02A}"/>
              </a:ext>
            </a:extLst>
          </p:cNvPr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对</a:t>
            </a:r>
            <a:r>
              <a:rPr lang="zh-CN" altLang="en-US" sz="2400" spc="70" dirty="0">
                <a:latin typeface="+mn-ea"/>
                <a:ea typeface="+mn-ea"/>
              </a:rPr>
              <a:t>孩子们来说，讨红包的过程也挺有趣。在讨红包时，</a:t>
            </a:r>
            <a:r>
              <a:rPr lang="zh-CN" altLang="en-US" sz="2400" dirty="0">
                <a:latin typeface="+mn-ea"/>
                <a:ea typeface="+mn-ea"/>
              </a:rPr>
              <a:t>姚南薰说：“你必须说‘新年快乐’，或‘恭喜发财’，就是‘在新的一年里发大财’的意思。但有时也会押点韵，你会</a:t>
            </a:r>
            <a:r>
              <a:rPr lang="zh-CN" altLang="en-US" sz="2400" spc="-90" dirty="0">
                <a:latin typeface="+mn-ea"/>
                <a:ea typeface="+mn-ea"/>
              </a:rPr>
              <a:t>说‘恭喜发财，红包拿来！’”其意思翻译过来就是：“祝</a:t>
            </a:r>
            <a:r>
              <a:rPr lang="zh-CN" altLang="en-US" sz="2400" dirty="0">
                <a:latin typeface="+mn-ea"/>
                <a:ea typeface="+mn-ea"/>
              </a:rPr>
              <a:t>你新年发大财，现在把红包给我吧！”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194879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8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9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放爆竹</a:t>
            </a:r>
            <a:endParaRPr lang="en-US" altLang="zh-CN" sz="2400" b="1" dirty="0">
              <a:latin typeface="+mn-ea"/>
              <a:ea typeface="+mn-ea"/>
            </a:endParaRPr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在农历新年期间，人们会燃放烟花与爆竹，以驱赶一头叫</a:t>
            </a:r>
            <a:r>
              <a:rPr lang="zh-CN" altLang="en-US" sz="2400" spc="-40" dirty="0">
                <a:latin typeface="+mn-ea"/>
                <a:ea typeface="+mn-ea"/>
              </a:rPr>
              <a:t>做“年”的古代怪兽，并以这种欢腾的方式庆祝新年到来。</a:t>
            </a:r>
            <a:r>
              <a:rPr lang="zh-CN" altLang="en-US" sz="2400" dirty="0">
                <a:latin typeface="+mn-ea"/>
                <a:ea typeface="+mn-ea"/>
              </a:rPr>
              <a:t>新年之际，在美国唐人街的街道上也经常能看到一些家庭喷放礼花筒，以这种同样喜庆却不那么“火爆”的方式庆祝新年到来。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570534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9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242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舞狮与舞龙</a:t>
            </a:r>
            <a:endParaRPr lang="en-US" altLang="zh-CN" sz="2400" b="1" dirty="0"/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传统的舞龙舞狮表演是农历新年游行中的精彩部分。舞狮通常有两名表演者套着舞狮服，一人舞头，一人舞尾。姚南薰说：“人们认为舞狮表演能驱邪避害。舞狮表演时可以把红包喂给狮子。”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852987" y="3201456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10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6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DB319DB4-E5B4-6450-44DE-FE418374F069}"/>
              </a:ext>
            </a:extLst>
          </p:cNvPr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舞龙则是由表演者挥舞着舞龙棍，控制龙身做出各种游动起伏的动作。姚南薰说，尽管舞龙和舞狮最广为人知，但它们只是中国一些特定地区的地方习俗。“中国是一个多元的国家，有着许多不同的习俗。像扇子舞、凤舞和舞狮，这些都是地方习俗，需要极高的技巧。”她补充道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852987" y="3552869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11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09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节令食品</a:t>
            </a:r>
            <a:endParaRPr lang="en-US" altLang="zh-CN" sz="2400" b="1" dirty="0"/>
          </a:p>
          <a:p>
            <a:r>
              <a:rPr lang="zh-CN" altLang="en-US" sz="2400" dirty="0"/>
              <a:t>         在中国，一些农历新年的传统节令食品也带有额外的寓意，因为它们的名字与一些代表好运的词汇谐音。例如，在汉</a:t>
            </a:r>
            <a:r>
              <a:rPr lang="zh-CN" altLang="en-US" sz="2400" spc="-60" dirty="0"/>
              <a:t>语普通话和许多其他方言里，“鱼”的发音与寓意“剩余”</a:t>
            </a:r>
            <a:r>
              <a:rPr lang="zh-CN" altLang="en-US" sz="2400" dirty="0"/>
              <a:t>的“余”相同。有鱼就寓意来年会有充裕的食物与财富，年年有余。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852987" y="3563957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12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5">
            <a:hlinkClick r:id="rId2" action="ppaction://hlinksldjump"/>
            <a:extLst>
              <a:ext uri="{FF2B5EF4-FFF2-40B4-BE49-F238E27FC236}">
                <a16:creationId xmlns:a16="http://schemas.microsoft.com/office/drawing/2014/main" id="{66C48761-513E-951A-BE92-69D1910A5935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396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036966" y="808245"/>
            <a:ext cx="3070071" cy="1020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ts val="3800"/>
              </a:lnSpc>
            </a:pPr>
            <a:r>
              <a:rPr lang="zh-CN" altLang="en-US" sz="2800" b="1" dirty="0"/>
              <a:t>端午节背后的传说</a:t>
            </a:r>
            <a:endParaRPr lang="en-US" altLang="zh-CN" sz="2800" b="1" dirty="0"/>
          </a:p>
          <a:p>
            <a:pPr algn="ctr">
              <a:lnSpc>
                <a:spcPts val="3800"/>
              </a:lnSpc>
            </a:pPr>
            <a:r>
              <a:rPr lang="zh-CN" altLang="en-US" sz="2400" dirty="0"/>
              <a:t>詹宁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/>
              <a:t>李</a:t>
            </a:r>
            <a:r>
              <a:rPr lang="en-US" altLang="zh-CN" sz="2400" dirty="0"/>
              <a:t>-</a:t>
            </a:r>
            <a:r>
              <a:rPr lang="zh-CN" altLang="en-US" sz="2400" dirty="0"/>
              <a:t>圣约翰</a:t>
            </a:r>
            <a:endParaRPr lang="zh-CN" altLang="en-US" sz="2400" b="1" dirty="0"/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503238" y="2080455"/>
            <a:ext cx="813752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关于中国农历五月初五端午节的来源，众说纷纭。但这些说法都离不开龙、灵魂、忠诚、尊敬与食物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这些都是中华文化中最重要的传统。端午节的主要元素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现在也在全世界流行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包括赛龙舟，一种船身修长、装饰着龙形图案的木船，以及吃粽子，一种由竹叶包裹的糯米饭团，在普通话中称为“粽子”，在广东话中称为“粽”。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008478" y="3939612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</a:t>
            </a:r>
            <a:r>
              <a:rPr lang="zh-CN" altLang="en-US" sz="2400" dirty="0"/>
              <a:t>）</a:t>
            </a:r>
          </a:p>
        </p:txBody>
      </p:sp>
      <p:sp>
        <p:nvSpPr>
          <p:cNvPr id="8" name="虚尾箭头 7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051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美</a:t>
            </a:r>
            <a:r>
              <a:rPr lang="zh-CN" altLang="en-US" sz="2400" spc="-100" dirty="0">
                <a:latin typeface="+mn-ea"/>
                <a:ea typeface="+mn-ea"/>
              </a:rPr>
              <a:t>国佛罗里达州埃克德学院东亚人文学科教授安德鲁</a:t>
            </a:r>
            <a:r>
              <a:rPr lang="en-US" altLang="zh-CN" sz="2400" spc="-100" dirty="0">
                <a:latin typeface="+mn-ea"/>
                <a:ea typeface="+mn-ea"/>
              </a:rPr>
              <a:t>·</a:t>
            </a:r>
            <a:r>
              <a:rPr lang="zh-CN" altLang="en-US" sz="2400" spc="-100" dirty="0">
                <a:latin typeface="+mn-ea"/>
                <a:ea typeface="+mn-ea"/>
              </a:rPr>
              <a:t>奇</a:t>
            </a:r>
            <a:r>
              <a:rPr lang="zh-CN" altLang="en-US" sz="2400" dirty="0">
                <a:latin typeface="+mn-ea"/>
                <a:ea typeface="+mn-ea"/>
              </a:rPr>
              <a:t>蒂克说：“中国的节日通常是为了纪念一些已故的伟大的道德典范，背后都有着令人悲伤的故事。”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475248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2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86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6776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宋体" panose="02010600030101010101" pitchFamily="2" charset="-122"/>
              </a:rPr>
              <a:t>而端午节的故事则与屈原有关。屈原是中国古代战国时期楚国的一位谋士，被认为不忠而遭楚王流放。屈原曾提议楚国同齐国结成战略联盟，以抵御秦国的威胁，但楚王并没有接受他的提议，还将他放逐到荒野中。不幸的是，屈原对秦</a:t>
            </a:r>
            <a:r>
              <a:rPr lang="zh-CN" altLang="en-US" sz="2400" spc="60" dirty="0">
                <a:latin typeface="宋体" panose="02010600030101010101" pitchFamily="2" charset="-122"/>
              </a:rPr>
              <a:t>国威胁的判断是正确的，秦国不久便俘虏并囚禁了楚王。</a:t>
            </a:r>
            <a:r>
              <a:rPr lang="zh-CN" altLang="en-US" sz="2400" dirty="0">
                <a:latin typeface="宋体" panose="02010600030101010101" pitchFamily="2" charset="-122"/>
              </a:rPr>
              <a:t>而</a:t>
            </a:r>
            <a:r>
              <a:rPr lang="zh-CN" altLang="en-US" sz="2400" spc="50" dirty="0">
                <a:latin typeface="宋体" panose="02010600030101010101" pitchFamily="2" charset="-122"/>
              </a:rPr>
              <a:t>新楚王很快也向敌国投降。公元前</a:t>
            </a:r>
            <a:r>
              <a:rPr lang="en-US" altLang="zh-CN" sz="2400" spc="50" dirty="0">
                <a:latin typeface="+mn-lt"/>
              </a:rPr>
              <a:t>278</a:t>
            </a:r>
            <a:r>
              <a:rPr lang="zh-CN" altLang="en-US" sz="2400" spc="50" dirty="0">
                <a:latin typeface="宋体" panose="02010600030101010101" pitchFamily="2" charset="-122"/>
              </a:rPr>
              <a:t>年，屈原听到这一</a:t>
            </a:r>
            <a:r>
              <a:rPr lang="zh-CN" altLang="en-US" sz="2400" dirty="0">
                <a:latin typeface="宋体" panose="02010600030101010101" pitchFamily="2" charset="-122"/>
              </a:rPr>
              <a:t>悲痛的消息后，便投入湖南的汨罗江自尽了。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930140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3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7">
            <a:hlinkClick r:id="rId2" action="ppaction://hlinksldjump"/>
            <a:extLst>
              <a:ext uri="{FF2B5EF4-FFF2-40B4-BE49-F238E27FC236}">
                <a16:creationId xmlns:a16="http://schemas.microsoft.com/office/drawing/2014/main" id="{4D2644BE-04EA-3365-8641-CCF728591923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32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22288" y="1706210"/>
            <a:ext cx="8135937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宋体" panose="02010600030101010101" pitchFamily="2" charset="-122"/>
              </a:rPr>
              <a:t>粽子的故事最早起源于汉初年间，在故事中，屈原死后成为水中的神灵。“你可以把它想象成一个必须得到告慰的亡魂。告慰亡魂的方法有很多种，但最有效、最持久的方法就是以食飨之，”奇蒂克解释道。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843907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4</a:t>
            </a:r>
            <a:r>
              <a:rPr lang="zh-CN" altLang="en-US" sz="2400" dirty="0"/>
              <a:t>）</a:t>
            </a:r>
          </a:p>
        </p:txBody>
      </p:sp>
      <p:sp>
        <p:nvSpPr>
          <p:cNvPr id="7" name="虚尾箭头 6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572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22288" y="1706210"/>
            <a:ext cx="8135937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宋体" panose="02010600030101010101" pitchFamily="2" charset="-122"/>
              </a:rPr>
              <a:t>在屈原死后的许多年里，拥戴他的人们会朝江中投入稻米</a:t>
            </a:r>
            <a:r>
              <a:rPr lang="zh-CN" altLang="en-US" sz="2400" spc="60" dirty="0">
                <a:latin typeface="宋体" panose="02010600030101010101" pitchFamily="2" charset="-122"/>
              </a:rPr>
              <a:t>，以飨其灵，但据说这些稻米总会被一条江中蛟龙截获。</a:t>
            </a:r>
            <a:r>
              <a:rPr lang="zh-CN" altLang="en-US" sz="2400" dirty="0">
                <a:latin typeface="宋体" panose="02010600030101010101" pitchFamily="2" charset="-122"/>
              </a:rPr>
              <a:t>（“厨王”甄文达指出，这一传说可能并非空穴来风：“一些淡水鱼，例如鲶鱼，会长得十分硕大，以至于古代的中国人以为它们是龙。”甄文达既是厨师也是作家，同时还主持烹饪节目</a:t>
            </a:r>
            <a:r>
              <a:rPr lang="en-US" altLang="zh-CN" sz="2400" dirty="0">
                <a:latin typeface="宋体" panose="02010600030101010101" pitchFamily="2" charset="-122"/>
              </a:rPr>
              <a:t>《</a:t>
            </a:r>
            <a:r>
              <a:rPr lang="zh-CN" altLang="en-US" sz="2400" dirty="0">
                <a:latin typeface="宋体" panose="02010600030101010101" pitchFamily="2" charset="-122"/>
              </a:rPr>
              <a:t>甄能煮</a:t>
            </a:r>
            <a:r>
              <a:rPr lang="en-US" altLang="zh-CN" sz="2400" dirty="0">
                <a:latin typeface="宋体" panose="02010600030101010101" pitchFamily="2" charset="-122"/>
              </a:rPr>
              <a:t>》</a:t>
            </a:r>
            <a:r>
              <a:rPr lang="zh-CN" altLang="en-US" sz="2400" dirty="0">
                <a:latin typeface="宋体" panose="02010600030101010101" pitchFamily="2" charset="-122"/>
              </a:rPr>
              <a:t>，一档向西方推广中国烹饪的开创性节目。）在经历了几个世纪这样的懊恼之后，屈原托梦回来告诉人们要用叶子把稻米包好，或把稻米塞进竹筒，这样龙就吃不到米了。后来，人们才开始追根溯源地将投粽子这一传统，归因于从前为救屈原而向江中投米的习俗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5030197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5</a:t>
            </a:r>
            <a:r>
              <a:rPr lang="zh-CN" altLang="en-US" sz="2400" dirty="0"/>
              <a:t>）</a:t>
            </a:r>
          </a:p>
        </p:txBody>
      </p:sp>
      <p:sp>
        <p:nvSpPr>
          <p:cNvPr id="7" name="虚尾箭头 6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43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要</a:t>
            </a:r>
            <a:r>
              <a:rPr lang="zh-CN" altLang="en-US" sz="2400" spc="70" dirty="0">
                <a:latin typeface="+mn-ea"/>
                <a:ea typeface="+mn-ea"/>
              </a:rPr>
              <a:t>理解为何端午节的故事里会包含江中蛟龙，或者说，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  <a:r>
              <a:rPr lang="zh-CN" altLang="en-US" sz="2400" spc="-90" dirty="0">
                <a:latin typeface="+mn-ea"/>
                <a:ea typeface="+mn-ea"/>
              </a:rPr>
              <a:t>何龙舟上会雕刻龙形图案，我们需要追溯到更远的过去</a:t>
            </a:r>
            <a:r>
              <a:rPr lang="en-US" altLang="zh-CN" sz="2400" spc="-9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大</a:t>
            </a:r>
            <a:r>
              <a:rPr lang="zh-CN" altLang="en-US" sz="2400" spc="50" dirty="0">
                <a:latin typeface="+mn-ea"/>
                <a:ea typeface="+mn-ea"/>
              </a:rPr>
              <a:t>约</a:t>
            </a:r>
            <a:r>
              <a:rPr lang="en-US" altLang="zh-CN" sz="2400" spc="50" dirty="0">
                <a:latin typeface="+mn-lt"/>
                <a:ea typeface="+mn-ea"/>
              </a:rPr>
              <a:t>6000</a:t>
            </a:r>
            <a:r>
              <a:rPr lang="zh-CN" altLang="en-US" sz="2400" spc="50" dirty="0">
                <a:latin typeface="+mn-lt"/>
                <a:ea typeface="+mn-ea"/>
              </a:rPr>
              <a:t>多</a:t>
            </a:r>
            <a:r>
              <a:rPr lang="zh-CN" altLang="en-US" sz="2400" spc="50" dirty="0">
                <a:latin typeface="+mn-ea"/>
                <a:ea typeface="+mn-ea"/>
              </a:rPr>
              <a:t>年前，中国境内就已经出现了最早的龙形图案。</a:t>
            </a:r>
            <a:r>
              <a:rPr lang="zh-CN" altLang="en-US" sz="2400" dirty="0">
                <a:latin typeface="+mn-ea"/>
                <a:ea typeface="+mn-ea"/>
              </a:rPr>
              <a:t>中</a:t>
            </a:r>
            <a:r>
              <a:rPr lang="zh-CN" altLang="en-US" sz="2400" spc="50" dirty="0">
                <a:latin typeface="+mn-ea"/>
                <a:ea typeface="+mn-ea"/>
              </a:rPr>
              <a:t>国社会科学院文学研究所民俗学教授、</a:t>
            </a:r>
            <a:r>
              <a:rPr lang="en-US" altLang="zh-CN" sz="2400" spc="50" dirty="0">
                <a:latin typeface="+mn-ea"/>
                <a:ea typeface="+mn-ea"/>
              </a:rPr>
              <a:t>《</a:t>
            </a:r>
            <a:r>
              <a:rPr lang="zh-CN" altLang="en-US" sz="2400" spc="50" dirty="0">
                <a:latin typeface="+mn-ea"/>
                <a:ea typeface="+mn-ea"/>
              </a:rPr>
              <a:t>中国神话手册</a:t>
            </a:r>
            <a:r>
              <a:rPr lang="en-US" altLang="zh-CN" sz="2400" spc="50" dirty="0">
                <a:latin typeface="+mn-ea"/>
                <a:ea typeface="+mn-ea"/>
              </a:rPr>
              <a:t>》</a:t>
            </a:r>
            <a:r>
              <a:rPr lang="zh-CN" altLang="en-US" sz="2400" dirty="0">
                <a:latin typeface="+mn-ea"/>
                <a:ea typeface="+mn-ea"/>
              </a:rPr>
              <a:t>的作者之一安德明博士在书中写道：“作为中国神话中最重要的神话生物之一，龙是雨、河、海以及其他各种水源的主宰者，是神力与能量的象征。</a:t>
            </a:r>
            <a:r>
              <a:rPr lang="en-US" altLang="zh-CN" sz="2400" dirty="0">
                <a:latin typeface="+mn-ea"/>
                <a:ea typeface="+mn-ea"/>
              </a:rPr>
              <a:t>……</a:t>
            </a:r>
            <a:r>
              <a:rPr lang="zh-CN" altLang="en-US" sz="2400" dirty="0">
                <a:latin typeface="+mn-ea"/>
                <a:ea typeface="+mn-ea"/>
              </a:rPr>
              <a:t>在帝制时代，龙也被视为皇权的象征。在人们的想象中，龙通常生活在水中，拥有控制雨水的能力。”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4671191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6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6">
            <a:hlinkClick r:id="rId2" action="ppaction://hlinksldjump"/>
            <a:extLst>
              <a:ext uri="{FF2B5EF4-FFF2-40B4-BE49-F238E27FC236}">
                <a16:creationId xmlns:a16="http://schemas.microsoft.com/office/drawing/2014/main" id="{69C5B7CE-5119-3CA5-A419-986ECAB75CE5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50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522288" y="1706400"/>
            <a:ext cx="8135937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人们认为赛龙舟的习俗可追溯至</a:t>
            </a:r>
            <a:r>
              <a:rPr lang="en-US" altLang="zh-CN" sz="2400" dirty="0">
                <a:latin typeface="+mj-lt"/>
                <a:ea typeface="+mn-ea"/>
              </a:rPr>
              <a:t>5</a:t>
            </a:r>
            <a:r>
              <a:rPr lang="zh-CN" altLang="en-US" sz="2400" dirty="0">
                <a:latin typeface="+mj-lt"/>
                <a:ea typeface="+mn-ea"/>
              </a:rPr>
              <a:t>世纪或</a:t>
            </a:r>
            <a:r>
              <a:rPr lang="en-US" altLang="zh-CN" sz="2400" dirty="0">
                <a:latin typeface="+mj-lt"/>
                <a:ea typeface="+mn-ea"/>
              </a:rPr>
              <a:t>6</a:t>
            </a:r>
            <a:r>
              <a:rPr lang="zh-CN" altLang="en-US" sz="2400" dirty="0">
                <a:latin typeface="+mn-ea"/>
                <a:ea typeface="+mn-ea"/>
              </a:rPr>
              <a:t>世纪时为了纪念屈原而组织的庆祝活动。可学者们认为，可能出于各种原因，龙舟在之前的几百年里就已经出现。在农历中，五月是夏至时节，正是移栽水稻幼苗的关键时期。同时，安德明教授指出：“在中国传统观念中，端午节日期中的‘重五’非常</a:t>
            </a:r>
            <a:r>
              <a:rPr lang="zh-CN" altLang="en-US" sz="2400" spc="50" dirty="0">
                <a:latin typeface="+mn-ea"/>
                <a:ea typeface="+mn-ea"/>
              </a:rPr>
              <a:t>不吉利。”印第安纳大学民俗学博士、</a:t>
            </a:r>
            <a:r>
              <a:rPr lang="en-US" altLang="zh-CN" sz="2400" spc="50" dirty="0">
                <a:latin typeface="+mn-ea"/>
                <a:ea typeface="+mn-ea"/>
              </a:rPr>
              <a:t>《</a:t>
            </a:r>
            <a:r>
              <a:rPr lang="zh-CN" altLang="en-US" sz="2400" spc="50" dirty="0">
                <a:latin typeface="+mn-ea"/>
                <a:ea typeface="+mn-ea"/>
              </a:rPr>
              <a:t>中国神话手册</a:t>
            </a:r>
            <a:r>
              <a:rPr lang="en-US" altLang="zh-CN" sz="2400" spc="50" dirty="0">
                <a:latin typeface="+mn-ea"/>
                <a:ea typeface="+mn-ea"/>
              </a:rPr>
              <a:t>》</a:t>
            </a:r>
            <a:r>
              <a:rPr lang="zh-CN" altLang="en-US" sz="2400" dirty="0">
                <a:latin typeface="+mn-ea"/>
                <a:ea typeface="+mn-ea"/>
              </a:rPr>
              <a:t>的编辑杰西卡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>
                <a:latin typeface="+mn-ea"/>
                <a:ea typeface="+mn-ea"/>
              </a:rPr>
              <a:t>安德森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>
                <a:latin typeface="+mn-ea"/>
                <a:ea typeface="+mn-ea"/>
              </a:rPr>
              <a:t>特纳解释说，为了确保能有个好收成</a:t>
            </a:r>
            <a:r>
              <a:rPr lang="zh-CN" altLang="en-US" sz="2400" spc="100" dirty="0">
                <a:latin typeface="+mn-ea"/>
                <a:ea typeface="+mn-ea"/>
              </a:rPr>
              <a:t>，中国南方地区的人们会祈求神龙保佑自己的庄稼。他</a:t>
            </a:r>
          </a:p>
          <a:p>
            <a:r>
              <a:rPr lang="zh-CN" altLang="en-US" sz="2400" dirty="0">
                <a:latin typeface="+mn-ea"/>
                <a:ea typeface="+mn-ea"/>
              </a:rPr>
              <a:t>们会在自己的船上雕刻精美的龙形图案，“而划船的动作则象征着人们在水中插秧时的动作。”这与甄文达对粽子形状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3" descr="C:\Users\senj\Desktop\按钮.png">
            <a:extLst>
              <a:ext uri="{FF2B5EF4-FFF2-40B4-BE49-F238E27FC236}">
                <a16:creationId xmlns:a16="http://schemas.microsoft.com/office/drawing/2014/main" id="{D5E4427B-6FF3-813C-BA1C-7CDCFB8A5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8D270C34-B7F2-47D8-C428-CA5114FD2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972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5"/>
          <p:cNvSpPr txBox="1"/>
          <p:nvPr/>
        </p:nvSpPr>
        <p:spPr>
          <a:xfrm>
            <a:off x="522288" y="1706400"/>
            <a:ext cx="813593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spc="-90" dirty="0">
                <a:latin typeface="+mn-ea"/>
                <a:ea typeface="+mn-ea"/>
              </a:rPr>
              <a:t>象征意义的解释如出一辙。粽子为四面体，甄文达说：“粽</a:t>
            </a:r>
            <a:r>
              <a:rPr lang="zh-CN" altLang="en-US" sz="2400" dirty="0">
                <a:latin typeface="+mn-ea"/>
                <a:ea typeface="+mn-ea"/>
              </a:rPr>
              <a:t>子的四个角象征着牛角，而牛角在古代农耕文化中是风调雨顺、五谷丰登的神圣象征。”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474829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7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3" descr="C:\Users\senj\Desktop\按钮.png">
            <a:extLst>
              <a:ext uri="{FF2B5EF4-FFF2-40B4-BE49-F238E27FC236}">
                <a16:creationId xmlns:a16="http://schemas.microsoft.com/office/drawing/2014/main" id="{7B1270DB-1216-395D-21C3-29E4643A3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726E43FD-C225-C4CD-B954-A7D4BF6D3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452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在关于赛龙舟起源的另一种说法中，奇蒂克认为，在现代的湖北地区，即楚国原来的疆域，赛龙舟“原本是一种军事</a:t>
            </a:r>
            <a:r>
              <a:rPr lang="zh-CN" altLang="en-US" sz="2400" spc="-40" dirty="0">
                <a:latin typeface="+mn-ea"/>
                <a:ea typeface="+mn-ea"/>
              </a:rPr>
              <a:t>训练活动”，在夏至期间举行，因为此时河流的水位最高。</a:t>
            </a:r>
            <a:r>
              <a:rPr lang="zh-CN" altLang="en-US" sz="2400" dirty="0">
                <a:latin typeface="+mn-ea"/>
                <a:ea typeface="+mn-ea"/>
              </a:rPr>
              <a:t>“小舟竞渡是古时战争的重要部分。后来人们将其变成了一种观赏性体育运动。”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203932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8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629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这些说法不一的历史故事一并流传了下来，融合成了包罗</a:t>
            </a:r>
            <a:r>
              <a:rPr lang="zh-CN" altLang="en-US" sz="2400" spc="70" dirty="0">
                <a:latin typeface="+mn-ea"/>
                <a:ea typeface="+mn-ea"/>
              </a:rPr>
              <a:t>万象的关于屈原的传说，而对于庆祝端午节的人们来说，</a:t>
            </a:r>
            <a:r>
              <a:rPr lang="zh-CN" altLang="en-US" sz="2400" dirty="0">
                <a:latin typeface="+mn-ea"/>
                <a:ea typeface="+mn-ea"/>
              </a:rPr>
              <a:t>这些都不是问题。安德森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>
                <a:latin typeface="+mn-ea"/>
                <a:ea typeface="+mn-ea"/>
              </a:rPr>
              <a:t>特纳说：“人们通过把故事组合起来，理解事物的意义。神话的内容总是随着社会需要而不断改变。对许多人来说，历史和文化并不冲突，两者都可以是真实可信的。”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3570534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9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5">
            <a:hlinkClick r:id="rId2" action="ppaction://hlinksldjump"/>
            <a:extLst>
              <a:ext uri="{FF2B5EF4-FFF2-40B4-BE49-F238E27FC236}">
                <a16:creationId xmlns:a16="http://schemas.microsoft.com/office/drawing/2014/main" id="{21890F31-38AD-4586-8DD8-E41F9E3C9C04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93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甚至屈原的故事也不是端午节起源的唯一传说。奇蒂克说，在中国北方的一些地区，人们流传着这样一个故事：一位忠臣在被君王冤枉之后，逃入了树林之中。而这位君王为了把他从树林里赶出来，便放火烧了整个树林，不小心害死了这位忠臣。另一个同样流行的传说来自现今中国南方的福建</a:t>
            </a:r>
            <a:r>
              <a:rPr lang="zh-CN" altLang="en-US" sz="2400" spc="60" dirty="0">
                <a:latin typeface="+mn-ea"/>
                <a:ea typeface="+mn-ea"/>
              </a:rPr>
              <a:t>省，即伍子胥的故事，伍子胥同样也被他的君王所冤枉。</a:t>
            </a:r>
            <a:r>
              <a:rPr lang="zh-CN" altLang="en-US" sz="2400" dirty="0">
                <a:latin typeface="+mn-ea"/>
                <a:ea typeface="+mn-ea"/>
              </a:rPr>
              <a:t>伍子胥的故事里包含了复仇、取得大胜的战役、鞭笞旧敌的尸体以及自杀的情节。在故事的最后，他要求在他死后把他的头颅砍下，挂在城门上，让他能亲眼看着外敌将背叛自己的人赶尽杀绝。伍子胥的遗体被投进江中，据说他的怒火激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Picture 3" descr="C:\Users\senj\Desktop\按钮.png">
            <a:extLst>
              <a:ext uri="{FF2B5EF4-FFF2-40B4-BE49-F238E27FC236}">
                <a16:creationId xmlns:a16="http://schemas.microsoft.com/office/drawing/2014/main" id="{DCC658E8-EF4C-074B-452E-9A6FDD11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>
            <a:off x="8366400" y="6429396"/>
            <a:ext cx="259557" cy="254794"/>
          </a:xfrm>
          <a:prstGeom prst="rect">
            <a:avLst/>
          </a:prstGeom>
          <a:noFill/>
        </p:spPr>
      </p:pic>
      <p:pic>
        <p:nvPicPr>
          <p:cNvPr id="3" name="Picture 3" descr="C:\Users\senj\Desktop\按钮.png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ED4DD1DA-D218-0136-15EE-37AE16EEE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 rot="10800000">
            <a:off x="8722800" y="6438934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675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起了滔天巨浪，而他也因此在中国的部分地区被人们敬奉为河神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这也解释了为何有些人将他和端午节联系起来。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852987" y="2492935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400" dirty="0"/>
              <a:t>（</a:t>
            </a:r>
            <a:r>
              <a:rPr lang="en-US" altLang="zh-CN" sz="2400" dirty="0"/>
              <a:t>Para. 10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5">
            <a:hlinkClick r:id="rId2" action="ppaction://hlinksldjump"/>
            <a:extLst>
              <a:ext uri="{FF2B5EF4-FFF2-40B4-BE49-F238E27FC236}">
                <a16:creationId xmlns:a16="http://schemas.microsoft.com/office/drawing/2014/main" id="{FF99033D-36D6-FF73-AC31-C57A3D0AB02B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3" descr="C:\Users\senj\Desktop\按钮.png">
            <a:extLst>
              <a:ext uri="{FF2B5EF4-FFF2-40B4-BE49-F238E27FC236}">
                <a16:creationId xmlns:a16="http://schemas.microsoft.com/office/drawing/2014/main" id="{1D4EDC35-2F9B-CAED-1DF6-8BC99FD4C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"/>
                    </a14:imgEffect>
                  </a14:imgLayer>
                </a14:imgProps>
              </a:ext>
            </a:extLst>
          </a:blip>
          <a:srcRect l="12911" t="21436" r="39626" b="60503"/>
          <a:stretch>
            <a:fillRect/>
          </a:stretch>
        </p:blipFill>
        <p:spPr bwMode="auto">
          <a:xfrm rot="10800000">
            <a:off x="8721754" y="6429396"/>
            <a:ext cx="259557" cy="254794"/>
          </a:xfrm>
          <a:prstGeom prst="rect">
            <a:avLst/>
          </a:prstGeom>
          <a:noFill/>
        </p:spPr>
      </p:pic>
      <p:pic>
        <p:nvPicPr>
          <p:cNvPr id="4" name="Picture 3" descr="C:\Users\senj\Desktop\按钮.png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C3C40257-F46B-2B60-ADE7-C250F614A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15088" r="38320" b="82614"/>
          <a:stretch>
            <a:fillRect/>
          </a:stretch>
        </p:blipFill>
        <p:spPr bwMode="auto">
          <a:xfrm>
            <a:off x="8364564" y="6438936"/>
            <a:ext cx="254793" cy="2452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543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AF650723-099E-C46C-D935-A63D5D27890F}"/>
              </a:ext>
            </a:extLst>
          </p:cNvPr>
          <p:cNvSpPr txBox="1"/>
          <p:nvPr/>
        </p:nvSpPr>
        <p:spPr>
          <a:xfrm>
            <a:off x="522288" y="1706210"/>
            <a:ext cx="8135937" cy="3046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但屈原最终成为端午节的代表人物，是因为他是一位创作丰富的诗人，而他的作品也被追随他的后世学者们所研究并喜爱。安德森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>
                <a:latin typeface="+mn-ea"/>
                <a:ea typeface="+mn-ea"/>
              </a:rPr>
              <a:t>特纳说：“屈原的故事之所以能够从许多端午节传说中胜出，原因之一就是他的故事被记录在历史文本中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被人们一遍又一遍地传颂。”屈原因其爱国情怀以及对无情的统治阶级的蔑视，被称为“人民诗人”。对中国人</a:t>
            </a:r>
            <a:r>
              <a:rPr lang="zh-CN" altLang="en-US" sz="2400" spc="70" dirty="0">
                <a:latin typeface="+mn-ea"/>
                <a:ea typeface="+mn-ea"/>
              </a:rPr>
              <a:t>民来说，屈原的故事早已超越了他个人层面的自我牺牲，</a:t>
            </a:r>
            <a:r>
              <a:rPr lang="zh-CN" altLang="en-US" sz="2400" dirty="0">
                <a:latin typeface="+mn-ea"/>
                <a:ea typeface="+mn-ea"/>
              </a:rPr>
              <a:t>而成为了爱国精神的集中体现。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6852987" y="4302113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zh-CN" altLang="en-US" sz="2400" dirty="0"/>
              <a:t>（</a:t>
            </a:r>
            <a:r>
              <a:rPr lang="en-US" altLang="zh-CN" sz="2400" dirty="0"/>
              <a:t>Para. 11</a:t>
            </a:r>
            <a:r>
              <a:rPr lang="zh-CN" altLang="en-US" sz="2400" dirty="0"/>
              <a:t>）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79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710226" y="808245"/>
            <a:ext cx="1723550" cy="1020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lnSpc>
                <a:spcPts val="3800"/>
              </a:lnSpc>
            </a:pPr>
            <a:r>
              <a:rPr lang="zh-CN" altLang="en-US" sz="2800" b="1" dirty="0"/>
              <a:t>中国农历</a:t>
            </a:r>
            <a:endParaRPr lang="en-US" altLang="zh-CN" sz="2800" b="1" dirty="0"/>
          </a:p>
          <a:p>
            <a:pPr algn="ctr">
              <a:lnSpc>
                <a:spcPts val="3800"/>
              </a:lnSpc>
            </a:pPr>
            <a:r>
              <a:rPr lang="zh-CN" altLang="en-US" sz="2400" dirty="0"/>
              <a:t>迈克</a:t>
            </a:r>
            <a:r>
              <a:rPr lang="en-US" altLang="zh-CN" sz="2400" dirty="0">
                <a:latin typeface="+mn-ea"/>
                <a:ea typeface="+mn-ea"/>
              </a:rPr>
              <a:t>·</a:t>
            </a:r>
            <a:r>
              <a:rPr lang="zh-CN" altLang="en-US" sz="2400" dirty="0"/>
              <a:t>道林</a:t>
            </a:r>
            <a:endParaRPr lang="zh-CN" altLang="en-US" sz="2400" b="1" dirty="0"/>
          </a:p>
        </p:txBody>
      </p:sp>
      <p:sp>
        <p:nvSpPr>
          <p:cNvPr id="6" name="TextBox 7"/>
          <p:cNvSpPr txBox="1">
            <a:spLocks noChangeArrowheads="1"/>
          </p:cNvSpPr>
          <p:nvPr/>
        </p:nvSpPr>
        <p:spPr bwMode="auto">
          <a:xfrm>
            <a:off x="503238" y="2080455"/>
            <a:ext cx="8137525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中国农历可以追溯到</a:t>
            </a:r>
            <a:r>
              <a:rPr lang="zh-CN" altLang="en-US" sz="2400" dirty="0">
                <a:latin typeface="+mn-lt"/>
                <a:ea typeface="+mn-ea"/>
              </a:rPr>
              <a:t>公元前</a:t>
            </a:r>
            <a:r>
              <a:rPr lang="en-US" altLang="zh-CN" sz="2400" dirty="0">
                <a:latin typeface="+mn-lt"/>
                <a:ea typeface="+mn-ea"/>
              </a:rPr>
              <a:t>14</a:t>
            </a:r>
            <a:r>
              <a:rPr lang="zh-CN" altLang="en-US" sz="2400" dirty="0">
                <a:latin typeface="+mn-ea"/>
                <a:ea typeface="+mn-ea"/>
              </a:rPr>
              <a:t>世纪。又相传黄帝于公元前</a:t>
            </a:r>
            <a:r>
              <a:rPr lang="en-US" altLang="zh-CN" sz="2400" dirty="0">
                <a:latin typeface="+mn-lt"/>
                <a:ea typeface="+mn-ea"/>
              </a:rPr>
              <a:t>2637</a:t>
            </a:r>
            <a:r>
              <a:rPr lang="zh-CN" altLang="en-US" sz="2400" dirty="0">
                <a:latin typeface="+mn-ea"/>
                <a:ea typeface="+mn-ea"/>
              </a:rPr>
              <a:t>年就发明了农历。中国农历根据对太阳黄经以及月相的精确天文观测而制定。这意味着现代科学原理对中国农历产生了一定影响。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7008478" y="3188450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</a:t>
            </a:r>
            <a:r>
              <a:rPr lang="zh-CN" altLang="en-US" sz="2400" dirty="0"/>
              <a:t>）</a:t>
            </a:r>
          </a:p>
        </p:txBody>
      </p:sp>
      <p:sp>
        <p:nvSpPr>
          <p:cNvPr id="8" name="虚尾箭头 7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7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中国农历年是什么样的？</a:t>
            </a:r>
            <a:endParaRPr lang="en-US" altLang="zh-CN" sz="2400" b="1" dirty="0"/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与犹太历类似，中国农历是一种阴阳合历（在汉语中称为“阴阳历”），因为其农历年的长度力求与回归年保持一致，农历月的长度力求与朔望月保持一致。因此，中国农历与犹太历之间自然会存在一些相似之处：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4299218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2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79DA8EB8-E75F-63AF-6AC8-26B2F4F36668}"/>
              </a:ext>
            </a:extLst>
          </p:cNvPr>
          <p:cNvSpPr txBox="1"/>
          <p:nvPr/>
        </p:nvSpPr>
        <p:spPr>
          <a:xfrm>
            <a:off x="1187765" y="1706210"/>
            <a:ext cx="747045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ea typeface="+mn-ea"/>
              </a:rPr>
              <a:t>平年有</a:t>
            </a:r>
            <a:r>
              <a:rPr lang="en-US" altLang="zh-CN" sz="2400" dirty="0">
                <a:latin typeface="+mn-lt"/>
                <a:ea typeface="+mn-ea"/>
              </a:rPr>
              <a:t>12</a:t>
            </a:r>
            <a:r>
              <a:rPr lang="zh-CN" altLang="en-US" sz="2400" dirty="0">
                <a:latin typeface="+mn-lt"/>
                <a:ea typeface="+mn-ea"/>
              </a:rPr>
              <a:t>个月；闰年有</a:t>
            </a:r>
            <a:r>
              <a:rPr lang="en-US" altLang="zh-CN" sz="2400" dirty="0">
                <a:latin typeface="+mn-lt"/>
                <a:ea typeface="+mn-ea"/>
              </a:rPr>
              <a:t>13</a:t>
            </a:r>
            <a:r>
              <a:rPr lang="zh-CN" altLang="en-US" sz="2400" dirty="0">
                <a:latin typeface="+mn-lt"/>
                <a:ea typeface="+mn-ea"/>
              </a:rPr>
              <a:t>个月。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lt"/>
                <a:ea typeface="+mn-ea"/>
              </a:rPr>
              <a:t>平</a:t>
            </a:r>
            <a:r>
              <a:rPr lang="zh-CN" altLang="en-US" sz="2400" spc="10" dirty="0">
                <a:latin typeface="+mn-lt"/>
                <a:ea typeface="+mn-ea"/>
              </a:rPr>
              <a:t>年为</a:t>
            </a:r>
            <a:r>
              <a:rPr lang="en-US" altLang="zh-CN" sz="2400" dirty="0">
                <a:latin typeface="+mn-lt"/>
                <a:ea typeface="+mn-ea"/>
              </a:rPr>
              <a:t>353</a:t>
            </a:r>
            <a:r>
              <a:rPr lang="zh-CN" altLang="en-US" sz="2400" dirty="0">
                <a:latin typeface="+mn-lt"/>
                <a:ea typeface="+mn-ea"/>
              </a:rPr>
              <a:t>天、</a:t>
            </a:r>
            <a:r>
              <a:rPr lang="en-US" altLang="zh-CN" sz="2400" dirty="0">
                <a:latin typeface="+mn-lt"/>
                <a:ea typeface="+mn-ea"/>
              </a:rPr>
              <a:t>354</a:t>
            </a:r>
            <a:r>
              <a:rPr lang="zh-CN" altLang="en-US" sz="2400" dirty="0">
                <a:latin typeface="+mn-lt"/>
                <a:ea typeface="+mn-ea"/>
              </a:rPr>
              <a:t>天或</a:t>
            </a:r>
            <a:r>
              <a:rPr lang="en-US" altLang="zh-CN" sz="2400" dirty="0">
                <a:latin typeface="+mn-lt"/>
                <a:ea typeface="+mn-ea"/>
              </a:rPr>
              <a:t>355</a:t>
            </a:r>
            <a:r>
              <a:rPr lang="zh-CN" altLang="en-US" sz="2400" dirty="0">
                <a:latin typeface="+mn-lt"/>
                <a:ea typeface="+mn-ea"/>
              </a:rPr>
              <a:t>天；闰年为</a:t>
            </a:r>
            <a:r>
              <a:rPr lang="en-US" altLang="zh-CN" sz="2400" dirty="0">
                <a:latin typeface="+mn-lt"/>
                <a:ea typeface="+mn-ea"/>
              </a:rPr>
              <a:t>383</a:t>
            </a:r>
            <a:r>
              <a:rPr lang="zh-CN" altLang="en-US" sz="2400" dirty="0">
                <a:latin typeface="+mn-lt"/>
                <a:ea typeface="+mn-ea"/>
              </a:rPr>
              <a:t>天、</a:t>
            </a:r>
            <a:r>
              <a:rPr lang="en-US" altLang="zh-CN" sz="2400" dirty="0">
                <a:latin typeface="+mn-lt"/>
                <a:ea typeface="+mn-ea"/>
              </a:rPr>
              <a:t>384</a:t>
            </a:r>
            <a:r>
              <a:rPr lang="zh-CN" altLang="en-US" sz="2400" dirty="0">
                <a:latin typeface="+mn-lt"/>
                <a:ea typeface="+mn-ea"/>
              </a:rPr>
              <a:t>天或</a:t>
            </a:r>
            <a:r>
              <a:rPr lang="en-US" altLang="zh-CN" sz="2400" dirty="0">
                <a:latin typeface="+mn-lt"/>
                <a:ea typeface="+mn-ea"/>
              </a:rPr>
              <a:t>385</a:t>
            </a:r>
            <a:r>
              <a:rPr lang="zh-CN" altLang="en-US" sz="2400" dirty="0">
                <a:latin typeface="+mn-lt"/>
                <a:ea typeface="+mn-ea"/>
              </a:rPr>
              <a:t>天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3379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要确定中国历法中的农历年是什么样的，必须要进行一系列的天文计算。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078592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3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990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首先要定朔。在农历中，朔指“全黑”的、正好看不见的新月（即月球正好运行到太阳与地球之间，其暗面对着地球），而不像</a:t>
            </a:r>
            <a:r>
              <a:rPr lang="zh-CN" altLang="en-US" sz="2400" spc="10" dirty="0">
                <a:latin typeface="+mn-ea"/>
                <a:ea typeface="+mn-ea"/>
              </a:rPr>
              <a:t>伊斯兰历或犹太历那样，以第一个可见的新月</a:t>
            </a:r>
            <a:r>
              <a:rPr lang="zh-CN" altLang="en-US" sz="2400" dirty="0">
                <a:latin typeface="+mn-ea"/>
                <a:ea typeface="+mn-ea"/>
              </a:rPr>
              <a:t>作为月份的起始。朔日就是农历每月的第一日。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841431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4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4">
            <a:hlinkClick r:id="rId2" action="ppaction://hlinksldjump"/>
            <a:extLst>
              <a:ext uri="{FF2B5EF4-FFF2-40B4-BE49-F238E27FC236}">
                <a16:creationId xmlns:a16="http://schemas.microsoft.com/office/drawing/2014/main" id="{C9F43DC7-7488-5622-3AEB-DD70AF916980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01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74A33EFF-613E-9FD4-AC03-FF930C3E3D8E}"/>
              </a:ext>
            </a:extLst>
          </p:cNvPr>
          <p:cNvSpPr txBox="1"/>
          <p:nvPr/>
        </p:nvSpPr>
        <p:spPr>
          <a:xfrm>
            <a:off x="1187765" y="1706210"/>
            <a:ext cx="74704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endParaRPr lang="en-US" altLang="zh-CN" sz="2400" dirty="0">
              <a:latin typeface="+mn-ea"/>
              <a:ea typeface="+mn-ea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n-ea"/>
                <a:ea typeface="+mn-ea"/>
              </a:rPr>
              <a:t>当太阳移至黄经</a:t>
            </a:r>
            <a:r>
              <a:rPr lang="en-US" altLang="zh-CN" sz="2400" dirty="0">
                <a:latin typeface="+mj-lt"/>
                <a:ea typeface="+mn-ea"/>
              </a:rPr>
              <a:t>330°</a:t>
            </a:r>
            <a:r>
              <a:rPr lang="zh-CN" altLang="en-US" sz="2400" dirty="0">
                <a:latin typeface="+mj-lt"/>
                <a:ea typeface="+mn-ea"/>
              </a:rPr>
              <a:t>时为正月中气。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j-lt"/>
                <a:ea typeface="+mn-ea"/>
              </a:rPr>
              <a:t>当太阳移至黄经</a:t>
            </a:r>
            <a:r>
              <a:rPr lang="en-US" altLang="zh-CN" sz="2400" dirty="0">
                <a:latin typeface="+mj-lt"/>
                <a:ea typeface="+mn-ea"/>
              </a:rPr>
              <a:t>0°</a:t>
            </a:r>
            <a:r>
              <a:rPr lang="zh-CN" altLang="en-US" sz="2400" dirty="0">
                <a:latin typeface="+mj-lt"/>
                <a:ea typeface="+mn-ea"/>
              </a:rPr>
              <a:t>时为二月中气。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j-lt"/>
                <a:ea typeface="+mn-ea"/>
              </a:rPr>
              <a:t>当太阳移至黄经</a:t>
            </a:r>
            <a:r>
              <a:rPr lang="en-US" altLang="zh-CN" sz="2400" dirty="0">
                <a:latin typeface="+mj-lt"/>
                <a:ea typeface="+mn-ea"/>
              </a:rPr>
              <a:t>30°</a:t>
            </a:r>
            <a:r>
              <a:rPr lang="zh-CN" altLang="en-US" sz="2400" dirty="0">
                <a:latin typeface="+mj-lt"/>
                <a:ea typeface="+mn-ea"/>
              </a:rPr>
              <a:t>时为三月中气。（以此类推）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j-lt"/>
                <a:ea typeface="+mn-ea"/>
              </a:rPr>
              <a:t>当太阳移至黄经</a:t>
            </a:r>
            <a:r>
              <a:rPr lang="en-US" altLang="zh-CN" sz="2400" dirty="0">
                <a:latin typeface="+mj-lt"/>
                <a:ea typeface="+mn-ea"/>
              </a:rPr>
              <a:t>270°</a:t>
            </a:r>
            <a:r>
              <a:rPr lang="zh-CN" altLang="en-US" sz="2400" dirty="0">
                <a:latin typeface="+mj-lt"/>
                <a:ea typeface="+mn-ea"/>
              </a:rPr>
              <a:t>时为十一月中气。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+mj-lt"/>
                <a:ea typeface="+mn-ea"/>
              </a:rPr>
              <a:t>当太阳移至黄经</a:t>
            </a:r>
            <a:r>
              <a:rPr lang="en-US" altLang="zh-CN" sz="2400" dirty="0">
                <a:latin typeface="+mj-lt"/>
                <a:ea typeface="+mn-ea"/>
              </a:rPr>
              <a:t>300°</a:t>
            </a:r>
            <a:r>
              <a:rPr lang="zh-CN" altLang="en-US" sz="2400" dirty="0">
                <a:latin typeface="+mn-ea"/>
                <a:ea typeface="+mn-ea"/>
              </a:rPr>
              <a:t>时为十二月中气。</a:t>
            </a:r>
          </a:p>
        </p:txBody>
      </p:sp>
      <p:sp>
        <p:nvSpPr>
          <p:cNvPr id="10" name="TextBox 5"/>
          <p:cNvSpPr txBox="1"/>
          <p:nvPr/>
        </p:nvSpPr>
        <p:spPr>
          <a:xfrm>
            <a:off x="522288" y="1706210"/>
            <a:ext cx="8135937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其次，确定太阳黄经为</a:t>
            </a:r>
            <a:r>
              <a:rPr lang="en-US" altLang="zh-CN" sz="2400" dirty="0">
                <a:latin typeface="+mn-lt"/>
                <a:ea typeface="+mn-ea"/>
              </a:rPr>
              <a:t>30°</a:t>
            </a:r>
            <a:r>
              <a:rPr lang="zh-CN" altLang="en-US" sz="2400" dirty="0">
                <a:latin typeface="+mn-lt"/>
                <a:ea typeface="+mn-ea"/>
              </a:rPr>
              <a:t>的倍数时的日期。（太阳移至</a:t>
            </a:r>
            <a:r>
              <a:rPr lang="zh-CN" altLang="en-US" sz="2400" spc="40" dirty="0">
                <a:latin typeface="+mn-lt"/>
                <a:ea typeface="+mn-ea"/>
              </a:rPr>
              <a:t>黄经</a:t>
            </a:r>
            <a:r>
              <a:rPr lang="en-US" altLang="zh-CN" sz="2400" spc="40" dirty="0">
                <a:latin typeface="+mn-lt"/>
                <a:ea typeface="+mn-ea"/>
              </a:rPr>
              <a:t>0</a:t>
            </a:r>
            <a:r>
              <a:rPr lang="zh-CN" altLang="en-US" sz="2400" spc="40" dirty="0">
                <a:latin typeface="+mn-lt"/>
                <a:ea typeface="+mn-ea"/>
              </a:rPr>
              <a:t>度时为春分，</a:t>
            </a:r>
            <a:r>
              <a:rPr lang="en-US" altLang="zh-CN" sz="2400" spc="40" dirty="0">
                <a:latin typeface="+mn-lt"/>
                <a:ea typeface="+mn-ea"/>
              </a:rPr>
              <a:t>90</a:t>
            </a:r>
            <a:r>
              <a:rPr lang="zh-CN" altLang="en-US" sz="2400" spc="40" dirty="0">
                <a:latin typeface="+mn-lt"/>
                <a:ea typeface="+mn-ea"/>
              </a:rPr>
              <a:t>度时为夏至，</a:t>
            </a:r>
            <a:r>
              <a:rPr lang="en-US" altLang="zh-CN" sz="2400" spc="40" dirty="0">
                <a:latin typeface="+mn-lt"/>
                <a:ea typeface="+mn-ea"/>
              </a:rPr>
              <a:t>180</a:t>
            </a:r>
            <a:r>
              <a:rPr lang="zh-CN" altLang="en-US" sz="2400" spc="40" dirty="0">
                <a:latin typeface="+mn-lt"/>
                <a:ea typeface="+mn-ea"/>
              </a:rPr>
              <a:t>度时为秋分，</a:t>
            </a:r>
            <a:r>
              <a:rPr lang="en-US" altLang="zh-CN" sz="2400" spc="40" dirty="0">
                <a:latin typeface="+mn-lt"/>
                <a:ea typeface="+mn-ea"/>
              </a:rPr>
              <a:t>270</a:t>
            </a:r>
            <a:r>
              <a:rPr lang="zh-CN" altLang="en-US" sz="2400" dirty="0">
                <a:latin typeface="+mn-lt"/>
                <a:ea typeface="+mn-ea"/>
              </a:rPr>
              <a:t>度时为冬至。）这些日期</a:t>
            </a:r>
            <a:r>
              <a:rPr lang="zh-CN" altLang="en-US" sz="2400" dirty="0">
                <a:latin typeface="+mn-ea"/>
                <a:ea typeface="+mn-ea"/>
              </a:rPr>
              <a:t>叫做“中气”，用来确定历月的顺序：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4653085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5</a:t>
            </a:r>
            <a:r>
              <a:rPr lang="zh-CN" altLang="en-US" sz="2400" dirty="0"/>
              <a:t>）</a:t>
            </a:r>
          </a:p>
        </p:txBody>
      </p:sp>
      <p:sp>
        <p:nvSpPr>
          <p:cNvPr id="3" name="虚尾箭头 4">
            <a:hlinkClick r:id="rId2" action="ppaction://hlinksldjump"/>
            <a:extLst>
              <a:ext uri="{FF2B5EF4-FFF2-40B4-BE49-F238E27FC236}">
                <a16:creationId xmlns:a16="http://schemas.microsoft.com/office/drawing/2014/main" id="{C2E8507D-ADE1-A0A5-EC50-38319F03B019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050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/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每个农历月都有对应的中气。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1706210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6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77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在特殊情况下，一个历月内会包含两个中气，在这种情况下必须改变历月的顺序。而十一月中气（冬至）必须总是在每年的十一月内。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472353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7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4">
            <a:hlinkClick r:id="rId2" action="ppaction://hlinksldjump"/>
            <a:extLst>
              <a:ext uri="{FF2B5EF4-FFF2-40B4-BE49-F238E27FC236}">
                <a16:creationId xmlns:a16="http://schemas.microsoft.com/office/drawing/2014/main" id="{E277D60E-3CFE-3739-9907-DA7EFB77EE89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48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所</a:t>
            </a:r>
            <a:r>
              <a:rPr lang="zh-CN" altLang="en-US" sz="2400" spc="50" dirty="0">
                <a:latin typeface="+mn-ea"/>
                <a:ea typeface="+mn-ea"/>
              </a:rPr>
              <a:t>有的这些天文演算都在格林尼治子午线以东</a:t>
            </a:r>
            <a:r>
              <a:rPr lang="en-US" altLang="zh-CN" sz="2400" spc="50" dirty="0">
                <a:latin typeface="+mn-lt"/>
                <a:ea typeface="+mn-ea"/>
              </a:rPr>
              <a:t>120</a:t>
            </a:r>
            <a:r>
              <a:rPr lang="en-US" altLang="zh-CN" sz="2400" spc="50" dirty="0">
                <a:latin typeface="+mn-ea"/>
                <a:ea typeface="+mn-ea"/>
              </a:rPr>
              <a:t>°</a:t>
            </a:r>
            <a:r>
              <a:rPr lang="zh-CN" altLang="en-US" sz="2400" spc="50" dirty="0">
                <a:latin typeface="+mn-ea"/>
                <a:ea typeface="+mn-ea"/>
              </a:rPr>
              <a:t>上</a:t>
            </a:r>
            <a:r>
              <a:rPr lang="zh-CN" altLang="en-US" sz="2400" dirty="0">
                <a:latin typeface="+mn-ea"/>
                <a:ea typeface="+mn-ea"/>
              </a:rPr>
              <a:t>进行。这大致对应中国东部沿海地区。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2079011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8</a:t>
            </a:r>
            <a:r>
              <a:rPr lang="zh-CN" altLang="en-US" sz="2400" dirty="0"/>
              <a:t>）</a:t>
            </a:r>
          </a:p>
        </p:txBody>
      </p:sp>
      <p:sp>
        <p:nvSpPr>
          <p:cNvPr id="5" name="虚尾箭头 4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95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这些规则在中国的不同地区也有些许差异。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7008478" y="1706210"/>
            <a:ext cx="16497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9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4">
            <a:hlinkClick r:id="rId2" action="ppaction://hlinksldjump"/>
            <a:extLst>
              <a:ext uri="{FF2B5EF4-FFF2-40B4-BE49-F238E27FC236}">
                <a16:creationId xmlns:a16="http://schemas.microsoft.com/office/drawing/2014/main" id="{FEED029C-FF98-3B9D-21C2-BD50924C3C1C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47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什么样的年为闰年？</a:t>
            </a:r>
            <a:endParaRPr lang="en-US" altLang="zh-CN" sz="2400" b="1" dirty="0"/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闰</a:t>
            </a:r>
            <a:r>
              <a:rPr lang="zh-CN" altLang="en-US" sz="2400" spc="110" dirty="0">
                <a:latin typeface="+mn-ea"/>
                <a:ea typeface="+mn-ea"/>
              </a:rPr>
              <a:t>年有</a:t>
            </a:r>
            <a:r>
              <a:rPr lang="en-US" altLang="zh-CN" sz="2400" spc="110" dirty="0">
                <a:latin typeface="+mj-lt"/>
                <a:ea typeface="+mn-ea"/>
              </a:rPr>
              <a:t>13</a:t>
            </a:r>
            <a:r>
              <a:rPr lang="zh-CN" altLang="en-US" sz="2400" spc="110" dirty="0">
                <a:latin typeface="+mj-lt"/>
                <a:ea typeface="+mn-ea"/>
              </a:rPr>
              <a:t>个月。要确定闰年，就要计算一年的十一月</a:t>
            </a:r>
            <a:r>
              <a:rPr lang="zh-CN" altLang="en-US" sz="2400" dirty="0">
                <a:latin typeface="+mj-lt"/>
                <a:ea typeface="+mn-ea"/>
              </a:rPr>
              <a:t>（即包含冬至的月份）和来年的十一月之间朔月的数量。若第一年的十一月初至来年的十一月初之间有</a:t>
            </a:r>
            <a:r>
              <a:rPr lang="en-US" altLang="zh-CN" sz="2400" dirty="0">
                <a:latin typeface="+mj-lt"/>
                <a:ea typeface="+mn-ea"/>
              </a:rPr>
              <a:t>13</a:t>
            </a:r>
            <a:r>
              <a:rPr lang="zh-CN" altLang="en-US" sz="2400" dirty="0">
                <a:latin typeface="+mn-ea"/>
                <a:ea typeface="+mn-ea"/>
              </a:rPr>
              <a:t>个朔月，则需要添置闰月。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3203932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10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4">
            <a:hlinkClick r:id="rId2" action="ppaction://hlinksldjump"/>
            <a:extLst>
              <a:ext uri="{FF2B5EF4-FFF2-40B4-BE49-F238E27FC236}">
                <a16:creationId xmlns:a16="http://schemas.microsoft.com/office/drawing/2014/main" id="{32F87DBE-BDEC-CD71-B620-13CC080AE907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66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在闰年中，至少有一个历月没有中气。而闰年中第一个没</a:t>
            </a:r>
            <a:r>
              <a:rPr lang="zh-CN" altLang="en-US" sz="2400" spc="60" dirty="0">
                <a:latin typeface="+mn-ea"/>
                <a:ea typeface="+mn-ea"/>
              </a:rPr>
              <a:t>有中气的历月就是闰月。闰月的月序与上一个历月相同，</a:t>
            </a:r>
            <a:r>
              <a:rPr lang="zh-CN" altLang="en-US" sz="2400" dirty="0">
                <a:latin typeface="+mn-ea"/>
                <a:ea typeface="+mn-ea"/>
              </a:rPr>
              <a:t>并会在农历中被特别标示为闰月。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2474829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11</a:t>
            </a:r>
            <a:r>
              <a:rPr lang="zh-CN" altLang="en-US" sz="2400" dirty="0"/>
              <a:t>）</a:t>
            </a:r>
          </a:p>
        </p:txBody>
      </p:sp>
      <p:sp>
        <p:nvSpPr>
          <p:cNvPr id="7" name="虚尾箭头 6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669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农历如何纪年？</a:t>
            </a:r>
            <a:endParaRPr lang="en-US" altLang="zh-CN" sz="2400" b="1" dirty="0"/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与其他大多数历法不同，中国的农历纪年并不使用无限序列。相反，农历的每一年都有对应的名称，且以</a:t>
            </a:r>
            <a:r>
              <a:rPr lang="en-US" altLang="zh-CN" sz="2400" dirty="0">
                <a:latin typeface="+mn-lt"/>
                <a:ea typeface="+mn-ea"/>
              </a:rPr>
              <a:t>60</a:t>
            </a:r>
            <a:r>
              <a:rPr lang="zh-CN" altLang="en-US" sz="2400" dirty="0">
                <a:latin typeface="+mn-lt"/>
                <a:ea typeface="+mn-ea"/>
              </a:rPr>
              <a:t>年为一周期反复循环。（历史上，农历的年号纪年会在新帝登基后重新确定，但这种方法在</a:t>
            </a:r>
            <a:r>
              <a:rPr lang="en-US" altLang="zh-CN" sz="2400" dirty="0">
                <a:latin typeface="+mn-lt"/>
                <a:ea typeface="+mn-ea"/>
              </a:rPr>
              <a:t>1911</a:t>
            </a:r>
            <a:r>
              <a:rPr lang="zh-CN" altLang="en-US" sz="2400" dirty="0">
                <a:latin typeface="+mn-ea"/>
                <a:ea typeface="+mn-ea"/>
              </a:rPr>
              <a:t>年辛亥革命后就被废止了。）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3570115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12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6">
            <a:hlinkClick r:id="rId2" action="ppaction://hlinksldjump"/>
            <a:extLst>
              <a:ext uri="{FF2B5EF4-FFF2-40B4-BE49-F238E27FC236}">
                <a16:creationId xmlns:a16="http://schemas.microsoft.com/office/drawing/2014/main" id="{4A6692CE-0B29-0B51-32B8-4619C8975705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88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农历中年份的名称由两部分组成，并以</a:t>
            </a:r>
            <a:r>
              <a:rPr lang="en-US" altLang="zh-CN" sz="2400" dirty="0">
                <a:latin typeface="+mn-lt"/>
                <a:ea typeface="+mn-ea"/>
              </a:rPr>
              <a:t>60</a:t>
            </a:r>
            <a:r>
              <a:rPr lang="zh-CN" altLang="en-US" sz="2400" dirty="0">
                <a:latin typeface="+mn-ea"/>
                <a:ea typeface="+mn-ea"/>
              </a:rPr>
              <a:t>年为一周期循环。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2079011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13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6">
            <a:hlinkClick r:id="rId2" action="ppaction://hlinksldjump"/>
            <a:extLst>
              <a:ext uri="{FF2B5EF4-FFF2-40B4-BE49-F238E27FC236}">
                <a16:creationId xmlns:a16="http://schemas.microsoft.com/office/drawing/2014/main" id="{029BA587-17B1-F254-D9BD-2765C68F8E91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70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226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第</a:t>
            </a:r>
            <a:r>
              <a:rPr lang="zh-CN" altLang="en-US" sz="2400" spc="-40" dirty="0">
                <a:latin typeface="+mn-ea"/>
                <a:ea typeface="+mn-ea"/>
              </a:rPr>
              <a:t>一部分称为“天干”。这些名称在英语中没有对应词：</a:t>
            </a:r>
            <a:r>
              <a:rPr lang="zh-CN" altLang="en-US" sz="2400" dirty="0">
                <a:latin typeface="+mn-ea"/>
                <a:ea typeface="+mn-ea"/>
              </a:rPr>
              <a:t>“</a:t>
            </a:r>
            <a:r>
              <a:rPr lang="zh-CN" altLang="en-US" sz="2400" spc="-60" dirty="0">
                <a:latin typeface="+mn-ea"/>
                <a:ea typeface="+mn-ea"/>
              </a:rPr>
              <a:t>甲”“乙”“丙”“丁”“戊”“已”“庚”“辛”“壬”</a:t>
            </a:r>
            <a:r>
              <a:rPr lang="zh-CN" altLang="en-US" sz="2400" dirty="0">
                <a:latin typeface="+mn-ea"/>
                <a:ea typeface="+mn-ea"/>
              </a:rPr>
              <a:t>“癸”。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2472353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14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6">
            <a:hlinkClick r:id="rId2" action="ppaction://hlinksldjump"/>
            <a:extLst>
              <a:ext uri="{FF2B5EF4-FFF2-40B4-BE49-F238E27FC236}">
                <a16:creationId xmlns:a16="http://schemas.microsoft.com/office/drawing/2014/main" id="{EF1AD54B-C8CB-F029-63FD-8E8C6C1AD5E3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66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93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第二部分称为“地支”。地支对应的十二生肖动物在括号</a:t>
            </a:r>
            <a:r>
              <a:rPr lang="zh-CN" altLang="en-US" sz="2400" spc="60" dirty="0">
                <a:latin typeface="+mn-ea"/>
                <a:ea typeface="+mn-ea"/>
              </a:rPr>
              <a:t>中标出：“子”（鼠）、“丑”（牛）、“寅”（虎）、</a:t>
            </a:r>
            <a:r>
              <a:rPr lang="zh-CN" altLang="en-US" sz="2400" dirty="0">
                <a:latin typeface="+mn-ea"/>
                <a:ea typeface="+mn-ea"/>
              </a:rPr>
              <a:t>“</a:t>
            </a:r>
            <a:r>
              <a:rPr lang="zh-CN" altLang="en-US" sz="2400" spc="-130" dirty="0">
                <a:latin typeface="+mn-ea"/>
                <a:ea typeface="+mn-ea"/>
              </a:rPr>
              <a:t>卯”（兔）、“辰”（龙）、“巳”（蛇）、“午”（马）、</a:t>
            </a:r>
            <a:r>
              <a:rPr lang="zh-CN" altLang="en-US" sz="2400" dirty="0">
                <a:latin typeface="+mn-ea"/>
                <a:ea typeface="+mn-ea"/>
              </a:rPr>
              <a:t>“</a:t>
            </a:r>
            <a:r>
              <a:rPr lang="zh-CN" altLang="en-US" sz="2400" spc="-130" dirty="0">
                <a:latin typeface="+mn-ea"/>
                <a:ea typeface="+mn-ea"/>
              </a:rPr>
              <a:t>未”（羊）、“申”（猴）、“酉”（鸡）、“戌”（狗）、</a:t>
            </a:r>
            <a:r>
              <a:rPr lang="zh-CN" altLang="en-US" sz="2400" dirty="0">
                <a:latin typeface="+mn-ea"/>
                <a:ea typeface="+mn-ea"/>
              </a:rPr>
              <a:t>“亥”（猪）。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3201456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15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0596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3083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每一个天干和地支按照顺序组合。因此，</a:t>
            </a:r>
            <a:r>
              <a:rPr lang="en-US" altLang="zh-CN" sz="2400" dirty="0">
                <a:latin typeface="+mn-lt"/>
                <a:ea typeface="+mn-ea"/>
              </a:rPr>
              <a:t>60</a:t>
            </a:r>
            <a:r>
              <a:rPr lang="zh-CN" altLang="en-US" sz="2400" dirty="0">
                <a:latin typeface="+mn-lt"/>
                <a:ea typeface="+mn-ea"/>
              </a:rPr>
              <a:t>年周期</a:t>
            </a:r>
            <a:r>
              <a:rPr lang="zh-CN" altLang="en-US" sz="2400" dirty="0">
                <a:latin typeface="+mn-ea"/>
                <a:ea typeface="+mn-ea"/>
              </a:rPr>
              <a:t>中的第</a:t>
            </a:r>
            <a:r>
              <a:rPr lang="zh-CN" altLang="en-US" sz="2400" spc="-30" dirty="0">
                <a:latin typeface="+mn-ea"/>
                <a:ea typeface="+mn-ea"/>
              </a:rPr>
              <a:t>一年为“甲子”，第二年为“乙丑”，第三年为“丙寅”，</a:t>
            </a:r>
            <a:r>
              <a:rPr lang="zh-CN" altLang="en-US" sz="2400" dirty="0">
                <a:latin typeface="+mn-ea"/>
                <a:ea typeface="+mn-ea"/>
              </a:rPr>
              <a:t>以</a:t>
            </a:r>
            <a:r>
              <a:rPr lang="zh-CN" altLang="en-US" sz="2400" spc="100" dirty="0">
                <a:latin typeface="+mn-ea"/>
                <a:ea typeface="+mn-ea"/>
              </a:rPr>
              <a:t>此类推。当天干或地支用尽时，则从头开始：第十年为</a:t>
            </a:r>
            <a:r>
              <a:rPr lang="zh-CN" altLang="en-US" sz="2400" dirty="0">
                <a:latin typeface="+mn-ea"/>
                <a:ea typeface="+mn-ea"/>
              </a:rPr>
              <a:t>“</a:t>
            </a:r>
            <a:r>
              <a:rPr lang="zh-CN" altLang="en-US" sz="2400" spc="-30" dirty="0">
                <a:latin typeface="+mn-ea"/>
                <a:ea typeface="+mn-ea"/>
              </a:rPr>
              <a:t>癸酉”，则第十一年为“甲戌”（再从天干第一位开始），</a:t>
            </a:r>
            <a:r>
              <a:rPr lang="zh-CN" altLang="en-US" sz="2400" dirty="0">
                <a:latin typeface="+mn-ea"/>
                <a:ea typeface="+mn-ea"/>
              </a:rPr>
              <a:t>第十二年为“乙亥”，第十三年则为“丙子”（再从地支第一位开始）。最后，第六十年为“癸亥”。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3563957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16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5">
            <a:hlinkClick r:id="rId2" action="ppaction://hlinksldjump"/>
            <a:extLst>
              <a:ext uri="{FF2B5EF4-FFF2-40B4-BE49-F238E27FC236}">
                <a16:creationId xmlns:a16="http://schemas.microsoft.com/office/drawing/2014/main" id="{F7476FD4-1008-A0D6-9CC2-56DF2222D004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03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这种以</a:t>
            </a:r>
            <a:r>
              <a:rPr lang="en-US" altLang="zh-CN" sz="2400" dirty="0">
                <a:latin typeface="+mn-lt"/>
                <a:ea typeface="+mn-ea"/>
              </a:rPr>
              <a:t>60</a:t>
            </a:r>
            <a:r>
              <a:rPr lang="zh-CN" altLang="en-US" sz="2400" dirty="0">
                <a:latin typeface="+mn-ea"/>
                <a:ea typeface="+mn-ea"/>
              </a:rPr>
              <a:t>年为一周期给年份命名的方法可追溯至约</a:t>
            </a:r>
            <a:r>
              <a:rPr lang="en-US" altLang="zh-CN" sz="2400" dirty="0">
                <a:latin typeface="+mn-lt"/>
                <a:ea typeface="+mn-ea"/>
              </a:rPr>
              <a:t>2000</a:t>
            </a:r>
            <a:r>
              <a:rPr lang="zh-CN" altLang="en-US" sz="2400" dirty="0">
                <a:latin typeface="+mn-ea"/>
                <a:ea typeface="+mn-ea"/>
              </a:rPr>
              <a:t>多年前。天干地支也曾用于纪日与纪月，虽然这种方法已不再使用，但是干支纪日的日期名称仍然列在日历上。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2843907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17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5">
            <a:hlinkClick r:id="rId2" action="ppaction://hlinksldjump"/>
            <a:extLst>
              <a:ext uri="{FF2B5EF4-FFF2-40B4-BE49-F238E27FC236}">
                <a16:creationId xmlns:a16="http://schemas.microsoft.com/office/drawing/2014/main" id="{91D324B0-4871-E893-D400-96EC18B321D7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63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2003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中国历法据说是公元前</a:t>
            </a:r>
            <a:r>
              <a:rPr lang="en-US" altLang="zh-CN" sz="2400" dirty="0">
                <a:latin typeface="+mn-lt"/>
                <a:ea typeface="+mn-ea"/>
              </a:rPr>
              <a:t>2637</a:t>
            </a:r>
            <a:r>
              <a:rPr lang="zh-CN" altLang="en-US" sz="2400" dirty="0">
                <a:latin typeface="+mn-lt"/>
                <a:ea typeface="+mn-ea"/>
              </a:rPr>
              <a:t>年发明的，自那时起，人们就一直沿用这种以</a:t>
            </a:r>
            <a:r>
              <a:rPr lang="en-US" altLang="zh-CN" sz="2400" dirty="0">
                <a:latin typeface="+mn-lt"/>
                <a:ea typeface="+mn-ea"/>
              </a:rPr>
              <a:t>60</a:t>
            </a:r>
            <a:r>
              <a:rPr lang="zh-CN" altLang="en-US" sz="2400" dirty="0">
                <a:latin typeface="+mn-lt"/>
                <a:ea typeface="+mn-ea"/>
              </a:rPr>
              <a:t>年</a:t>
            </a:r>
            <a:r>
              <a:rPr lang="zh-CN" altLang="en-US" sz="2400" dirty="0">
                <a:latin typeface="+mn-ea"/>
                <a:ea typeface="+mn-ea"/>
              </a:rPr>
              <a:t>为一周期的纪年方法。</a:t>
            </a:r>
            <a:r>
              <a:rPr lang="zh-CN" altLang="en-US" sz="2400" dirty="0">
                <a:latin typeface="+mn-lt"/>
                <a:ea typeface="+mn-ea"/>
              </a:rPr>
              <a:t>公元前</a:t>
            </a:r>
            <a:r>
              <a:rPr lang="en-US" altLang="zh-CN" sz="2400" dirty="0">
                <a:latin typeface="+mn-lt"/>
                <a:ea typeface="+mn-ea"/>
              </a:rPr>
              <a:t>2637</a:t>
            </a:r>
            <a:r>
              <a:rPr lang="zh-CN" altLang="en-US" sz="2400" dirty="0">
                <a:latin typeface="+mn-ea"/>
                <a:ea typeface="+mn-ea"/>
              </a:rPr>
              <a:t>年就是干支纪年的起始年。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2474829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18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71751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267765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b="1" dirty="0"/>
              <a:t>外国历法何时引入了中国？</a:t>
            </a:r>
            <a:endParaRPr lang="en-US" altLang="zh-CN" sz="2400" b="1" dirty="0"/>
          </a:p>
          <a:p>
            <a:r>
              <a:rPr lang="zh-CN" altLang="en-US" sz="2400" dirty="0"/>
              <a:t>         </a:t>
            </a:r>
            <a:r>
              <a:rPr lang="zh-CN" altLang="en-US" sz="2400" dirty="0">
                <a:latin typeface="+mn-ea"/>
                <a:ea typeface="+mn-ea"/>
              </a:rPr>
              <a:t>虽然中国人一直沿用阴阳历，但外国历法也被引入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例如，唐朝期间中国引进了印度历法</a:t>
            </a:r>
            <a:r>
              <a:rPr lang="en-US" altLang="zh-CN" sz="2400" dirty="0">
                <a:latin typeface="+mn-ea"/>
                <a:ea typeface="+mn-ea"/>
              </a:rPr>
              <a:t>——</a:t>
            </a:r>
            <a:r>
              <a:rPr lang="zh-CN" altLang="en-US" sz="2400" dirty="0">
                <a:latin typeface="+mn-ea"/>
                <a:ea typeface="+mn-ea"/>
              </a:rPr>
              <a:t>并一度与本国历法共</a:t>
            </a:r>
            <a:r>
              <a:rPr lang="zh-CN" altLang="en-US" sz="2400" spc="-40" dirty="0">
                <a:latin typeface="+mn-ea"/>
                <a:ea typeface="+mn-ea"/>
              </a:rPr>
              <a:t>同使用。类似的情况还有回历，回历于元朝时传入了中国。</a:t>
            </a:r>
            <a:r>
              <a:rPr lang="en-US" altLang="zh-CN" sz="2400" dirty="0">
                <a:latin typeface="+mn-lt"/>
                <a:ea typeface="+mn-ea"/>
              </a:rPr>
              <a:t>1582</a:t>
            </a:r>
            <a:r>
              <a:rPr lang="zh-CN" altLang="en-US" sz="2400" dirty="0">
                <a:latin typeface="+mn-lt"/>
                <a:ea typeface="+mn-ea"/>
              </a:rPr>
              <a:t>年，欧洲人首次使用公历，同年，公历也被耶稣会传教士引入中国。直至</a:t>
            </a:r>
            <a:r>
              <a:rPr lang="en-US" altLang="zh-CN" sz="2400" dirty="0">
                <a:latin typeface="+mn-lt"/>
                <a:ea typeface="+mn-ea"/>
              </a:rPr>
              <a:t>1912</a:t>
            </a:r>
            <a:r>
              <a:rPr lang="zh-CN" altLang="en-US" sz="2400" dirty="0">
                <a:latin typeface="+mn-lt"/>
                <a:ea typeface="+mn-ea"/>
              </a:rPr>
              <a:t>年</a:t>
            </a:r>
            <a:r>
              <a:rPr lang="zh-CN" altLang="en-US" sz="2400" dirty="0">
                <a:latin typeface="+mn-ea"/>
                <a:ea typeface="+mn-ea"/>
              </a:rPr>
              <a:t>，公历被正式采用后，阴阳历才失去了其主要地位。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3939193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19</a:t>
            </a:r>
            <a:r>
              <a:rPr lang="zh-CN" altLang="en-US" sz="2400" dirty="0"/>
              <a:t>）</a:t>
            </a:r>
          </a:p>
        </p:txBody>
      </p:sp>
      <p:sp>
        <p:nvSpPr>
          <p:cNvPr id="2" name="虚尾箭头 5">
            <a:hlinkClick r:id="rId2" action="ppaction://hlinksldjump"/>
            <a:extLst>
              <a:ext uri="{FF2B5EF4-FFF2-40B4-BE49-F238E27FC236}">
                <a16:creationId xmlns:a16="http://schemas.microsoft.com/office/drawing/2014/main" id="{7720395E-B892-4C21-074D-5B7B033366D4}"/>
              </a:ext>
            </a:extLst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09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"/>
          <p:cNvSpPr txBox="1"/>
          <p:nvPr/>
        </p:nvSpPr>
        <p:spPr>
          <a:xfrm>
            <a:off x="522288" y="1706210"/>
            <a:ext cx="8135937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r>
              <a:rPr lang="zh-CN" altLang="en-US" sz="2400" dirty="0"/>
              <a:t>         </a:t>
            </a:r>
            <a:r>
              <a:rPr lang="en-US" altLang="zh-CN" sz="2400" dirty="0">
                <a:latin typeface="+mn-lt"/>
                <a:ea typeface="+mn-ea"/>
              </a:rPr>
              <a:t>17</a:t>
            </a:r>
            <a:r>
              <a:rPr lang="zh-CN" altLang="en-US" sz="2400" dirty="0">
                <a:latin typeface="+mn-lt"/>
                <a:ea typeface="+mn-ea"/>
              </a:rPr>
              <a:t>世纪时，（前哥白尼时期的）西方天文学理论由耶稣会传教士引入中国。渐渐地，更多西方现代理念开始为中国人所知。在</a:t>
            </a:r>
            <a:r>
              <a:rPr lang="en-US" altLang="zh-CN" sz="2400" dirty="0">
                <a:latin typeface="+mn-lt"/>
                <a:ea typeface="+mn-ea"/>
              </a:rPr>
              <a:t>1911</a:t>
            </a:r>
            <a:r>
              <a:rPr lang="zh-CN" altLang="en-US" sz="2400" dirty="0">
                <a:latin typeface="+mn-ea"/>
                <a:ea typeface="+mn-ea"/>
              </a:rPr>
              <a:t>年辛亥革命之后，以皇帝即位为起始的传统纪年方式被废除。</a:t>
            </a:r>
          </a:p>
        </p:txBody>
      </p:sp>
      <p:sp>
        <p:nvSpPr>
          <p:cNvPr id="6" name="虚尾箭头 5">
            <a:hlinkClick r:id="rId2" action="ppaction://hlinksldjump"/>
          </p:cNvPr>
          <p:cNvSpPr/>
          <p:nvPr/>
        </p:nvSpPr>
        <p:spPr>
          <a:xfrm rot="10800000">
            <a:off x="114270" y="132137"/>
            <a:ext cx="342902" cy="285752"/>
          </a:xfrm>
          <a:prstGeom prst="striped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852987" y="2843907"/>
            <a:ext cx="180523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Para. 20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6194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24901</TotalTime>
  <Words>13953</Words>
  <Application>Microsoft Office PowerPoint</Application>
  <PresentationFormat>全屏显示(4:3)</PresentationFormat>
  <Paragraphs>1317</Paragraphs>
  <Slides>163</Slides>
  <Notes>5</Notes>
  <HiddenSlides>83</HiddenSlides>
  <MMClips>64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163</vt:i4>
      </vt:variant>
    </vt:vector>
  </HeadingPairs>
  <TitlesOfParts>
    <vt:vector size="172" baseType="lpstr">
      <vt:lpstr>Times New Roman</vt:lpstr>
      <vt:lpstr>Cambria</vt:lpstr>
      <vt:lpstr>微软雅黑</vt:lpstr>
      <vt:lpstr>宋体</vt:lpstr>
      <vt:lpstr>黑体</vt:lpstr>
      <vt:lpstr>Calibri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senj</dc:creator>
  <cp:lastModifiedBy>Administrator</cp:lastModifiedBy>
  <cp:revision>4653</cp:revision>
  <dcterms:created xsi:type="dcterms:W3CDTF">2017-10-20T05:26:00Z</dcterms:created>
  <dcterms:modified xsi:type="dcterms:W3CDTF">2023-11-22T03:50:07Z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2052-11.1.0.8496</vt:lpwstr>
  </property>
</Properties>
</file>